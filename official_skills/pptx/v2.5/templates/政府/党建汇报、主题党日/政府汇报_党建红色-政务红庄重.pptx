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Default Extension="jpg" ContentType="image/jpeg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6256000" cy="9144000"/>
  <p:notesSz cx="9144000" cy="16256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51"/>
    <p:restoredTop sz="94610"/>
  </p:normalViewPr>
  <p:slideViewPr>
    <p:cSldViewPr snapToGrid="0" snapToObjects="1">
      <p:cViewPr>
        <p:scale>
          <a:sx n="91" d="100"/>
          <a:sy n="91" d="100"/>
        </p:scale>
        <p:origin x="832" y="3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地区生产总值（亿元）</c:v>
                </c:pt>
              </c:strCache>
            </c:strRef>
          </c:tx>
          <c:spPr>
            <a:solidFill>
              <a:srgbClr val="8B1A1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2021</c:v>
                </c:pt>
                <c:pt idx="1">
                  <c:v>2022</c:v>
                </c:pt>
                <c:pt idx="2">
                  <c:v>2023</c:v>
                </c:pt>
                <c:pt idx="3">
                  <c:v>2024</c:v>
                </c:pt>
                <c:pt idx="4">
                  <c:v>2025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2480</c:v>
                </c:pt>
                <c:pt idx="1">
                  <c:v>2680</c:v>
                </c:pt>
                <c:pt idx="2">
                  <c:v>2900</c:v>
                </c:pt>
                <c:pt idx="3">
                  <c:v>3050</c:v>
                </c:pt>
                <c:pt idx="4">
                  <c:v>3200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57-934E-97B9-C50B373A1C7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2C2C2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in val="2000"/>
        </c:scaling>
        <c:delete val="0"/>
        <c:axPos val="l"/>
        <c:majorGridlines>
          <c:spPr>
            <a:ln w="12700" cap="flat">
              <a:solidFill>
                <a:srgbClr val="8B1A1A"/>
              </a:solidFill>
              <a:prstDash val="dash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zh-CN" altLang="en-US" b="0" i="0" u="none" strike="noStrike" dirty="0">
                    <a:solidFill>
                      <a:srgbClr val="000000"/>
                    </a:solidFill>
                    <a:latin typeface="Source Han Serif SC" panose="02020400000000000000" pitchFamily="18" charset="-128"/>
                  </a:rPr>
                  <a:t>亿元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5808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>
            <a:extLst>
              <a:ext uri="{FF2B5EF4-FFF2-40B4-BE49-F238E27FC236}">
                <a16:creationId xmlns:a16="http://schemas.microsoft.com/office/drawing/2014/main" id="{08359964-DF97-7A90-D3B0-E489AF3B5A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b="49197"/>
          <a:stretch>
            <a:fillRect/>
          </a:stretch>
        </p:blipFill>
        <p:spPr>
          <a:xfrm>
            <a:off x="0" y="3657599"/>
            <a:ext cx="16256000" cy="5502882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0" y="0"/>
            <a:ext cx="16256000" cy="3657600"/>
          </a:xfrm>
          <a:prstGeom prst="rect">
            <a:avLst/>
          </a:prstGeom>
          <a:gradFill flip="none" rotWithShape="1">
            <a:gsLst>
              <a:gs pos="0">
                <a:srgbClr val="5A0A0A"/>
              </a:gs>
              <a:gs pos="50000">
                <a:srgbClr val="8B1A1A"/>
              </a:gs>
              <a:gs pos="100000">
                <a:srgbClr val="A52020"/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762000" y="381000"/>
            <a:ext cx="685800" cy="685800"/>
          </a:xfrm>
          <a:prstGeom prst="ellipse">
            <a:avLst/>
          </a:prstGeom>
          <a:solidFill>
            <a:srgbClr val="FFFFFF">
              <a:alpha val="14510"/>
            </a:srgbClr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625600" y="431800"/>
            <a:ext cx="138684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dist">
              <a:lnSpc>
                <a:spcPct val="100000"/>
              </a:lnSpc>
            </a:pPr>
            <a:r>
              <a:rPr lang="en-US" sz="2200" dirty="0" err="1">
                <a:solidFill>
                  <a:srgbClr val="FFFFFF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XXX市人民政府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1625600" y="787400"/>
            <a:ext cx="138684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The People's Government of XXX City</a:t>
            </a:r>
            <a:endParaRPr lang="en-US" sz="1600" dirty="0"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6" name="Shape 4"/>
          <p:cNvSpPr/>
          <p:nvPr/>
        </p:nvSpPr>
        <p:spPr>
          <a:xfrm>
            <a:off x="762000" y="1524000"/>
            <a:ext cx="2847278" cy="4572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62000" y="1524000"/>
            <a:ext cx="284727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 err="1">
                <a:solidFill>
                  <a:srgbClr val="FFFFFF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季度工作报告</a:t>
            </a:r>
            <a:endParaRPr lang="en-US" sz="20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761999" y="2133600"/>
            <a:ext cx="15143813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Sans" pitchFamily="34" charset="-120"/>
              </a:rPr>
              <a:t>2025 </a:t>
            </a:r>
            <a:r>
              <a:rPr lang="en-US" sz="4800" b="1" dirty="0" err="1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Sans" pitchFamily="34" charset="-120"/>
              </a:rPr>
              <a:t>季度党建工作报告</a:t>
            </a:r>
            <a:endParaRPr lang="en-US" sz="48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2000" y="3042170"/>
            <a:ext cx="1473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2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GOVERNMENT WORK REPORT 2025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62000" y="3810000"/>
            <a:ext cx="762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762000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报告人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470400"/>
            <a:ext cx="3175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XXX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4000" y="4191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职 务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064000" y="44704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XXX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62000" y="5207000"/>
            <a:ext cx="762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 err="1">
                <a:solidFill>
                  <a:srgbClr val="555555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XXX市人民政府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62000" y="5651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2026年1月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0" y="8890000"/>
            <a:ext cx="1625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444813" y="8432799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8860B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为人民服务 · 对人民负责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26000" cy="9144000"/>
          </a:xfrm>
          <a:prstGeom prst="rect">
            <a:avLst/>
          </a:prstGeom>
          <a:gradFill flip="none" rotWithShape="1">
            <a:gsLst>
              <a:gs pos="0">
                <a:srgbClr val="5A0A0A"/>
              </a:gs>
              <a:gs pos="100000">
                <a:srgbClr val="8B1A1A"/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6FB0E664-BCAB-50CE-2EA4-C21D1A2B113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45312" r="25001" b="15580"/>
          <a:stretch>
            <a:fillRect/>
          </a:stretch>
        </p:blipFill>
        <p:spPr>
          <a:xfrm>
            <a:off x="0" y="0"/>
            <a:ext cx="4826000" cy="9144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000" y="3302000"/>
            <a:ext cx="38100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目录</a:t>
            </a:r>
            <a:endParaRPr lang="en-US" sz="16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4254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kern="0" spc="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8000" y="3149600"/>
            <a:ext cx="101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61000" y="17780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6350000" y="1778000"/>
            <a:ext cx="914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年度工作回顾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50000" y="21844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Annual Work Review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61000" y="26924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461000" y="31496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350000" y="3149600"/>
            <a:ext cx="914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主要工作成效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350000" y="35560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Key Work Achievements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61000" y="40640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5461000" y="45212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350000" y="4521200"/>
            <a:ext cx="914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问题与挑战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0000" y="49276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Problems and Challenges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61000" y="54356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5461000" y="5892800"/>
            <a:ext cx="812800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50000" y="5892800"/>
            <a:ext cx="914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2C2C2C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下年度工作计划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50000" y="6299200"/>
            <a:ext cx="9144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Work Plan for Next Year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461000" y="6807200"/>
            <a:ext cx="10033000" cy="0"/>
          </a:xfrm>
          <a:prstGeom prst="straightConnector1">
            <a:avLst/>
          </a:prstGeom>
          <a:noFill/>
          <a:ln w="12700">
            <a:solidFill>
              <a:srgbClr val="B8860B">
                <a:alpha val="31373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flip="none" rotWithShape="1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3F50B6B-AF46-06D3-355A-96146E4CA3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31250" b="15580"/>
          <a:stretch>
            <a:fillRect/>
          </a:stretch>
        </p:blipFill>
        <p:spPr>
          <a:xfrm>
            <a:off x="5080000" y="0"/>
            <a:ext cx="11176000" cy="9144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0" b="1" dirty="0">
                <a:solidFill>
                  <a:srgbClr val="B8860B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01</a:t>
            </a:r>
            <a:endParaRPr lang="en-US" sz="16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42000" y="3302000"/>
            <a:ext cx="1003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800" b="1" dirty="0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年度工作回顾</a:t>
            </a:r>
            <a:endParaRPr lang="en-US" sz="16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1003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Annual Work Review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35029"/>
            <a:ext cx="9595224" cy="2728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1.1　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经济发展稳中有进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  <a:cs typeface="Quattrocento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1.2　</a:t>
            </a:r>
            <a:r>
              <a:rPr lang="en-US" altLang="zh-CN" sz="20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民生福祉持续改善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600" y="762000"/>
            <a:ext cx="1143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经济发展稳中有进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000" y="1655010"/>
            <a:ext cx="3429000" cy="17780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Text 13"/>
          <p:cNvSpPr/>
          <p:nvPr/>
        </p:nvSpPr>
        <p:spPr>
          <a:xfrm>
            <a:off x="635000" y="191692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b="1" dirty="0">
                <a:solidFill>
                  <a:srgbClr val="FFFFFF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3,200亿</a:t>
            </a:r>
            <a:endParaRPr lang="en-US" sz="16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000" y="280592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地区生产总值（+6.8%）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318000" y="1655010"/>
            <a:ext cx="3429000" cy="17780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18000" y="191692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</a:rPr>
              <a:t>7.2%</a:t>
            </a:r>
          </a:p>
        </p:txBody>
      </p:sp>
      <p:sp>
        <p:nvSpPr>
          <p:cNvPr id="19" name="Text 17"/>
          <p:cNvSpPr/>
          <p:nvPr/>
        </p:nvSpPr>
        <p:spPr>
          <a:xfrm>
            <a:off x="4318000" y="280592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规上工业增加值增长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001000" y="1655010"/>
            <a:ext cx="3429000" cy="17780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001000" y="1916920"/>
            <a:ext cx="3429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/>
            <a:r>
              <a:rPr lang="en-US" sz="4800" b="1" dirty="0">
                <a:solidFill>
                  <a:srgbClr val="FFFFFF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</a:rPr>
              <a:t>8.5%</a:t>
            </a:r>
          </a:p>
        </p:txBody>
      </p:sp>
      <p:sp>
        <p:nvSpPr>
          <p:cNvPr id="22" name="Text 20"/>
          <p:cNvSpPr/>
          <p:nvPr/>
        </p:nvSpPr>
        <p:spPr>
          <a:xfrm>
            <a:off x="8001000" y="2805920"/>
            <a:ext cx="3429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固定资产投资增长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84000" y="1655010"/>
            <a:ext cx="3937000" cy="1778000"/>
          </a:xfrm>
          <a:prstGeom prst="rect">
            <a:avLst/>
          </a:prstGeom>
          <a:solidFill>
            <a:srgbClr val="5A0A0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1684000" y="1916920"/>
            <a:ext cx="3937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4800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680亿$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684000" y="2805920"/>
            <a:ext cx="39370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进出口总额（+4.2%）</a:t>
            </a:r>
            <a:endParaRPr lang="en-US" sz="1600" dirty="0"/>
          </a:p>
        </p:txBody>
      </p:sp>
      <p:graphicFrame>
        <p:nvGraphicFramePr>
          <p:cNvPr id="26" name="Chart 0"/>
          <p:cNvGraphicFramePr/>
          <p:nvPr>
            <p:extLst>
              <p:ext uri="{D42A27DB-BD31-4B8C-83A1-F6EECF244321}">
                <p14:modId xmlns:p14="http://schemas.microsoft.com/office/powerpoint/2010/main" val="1633000315"/>
              </p:ext>
            </p:extLst>
          </p:nvPr>
        </p:nvGraphicFramePr>
        <p:xfrm>
          <a:off x="522706" y="3918470"/>
          <a:ext cx="99060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Text 24"/>
          <p:cNvSpPr/>
          <p:nvPr/>
        </p:nvSpPr>
        <p:spPr>
          <a:xfrm>
            <a:off x="10922000" y="4407824"/>
            <a:ext cx="4699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经济运行亮点</a:t>
            </a:r>
            <a:endParaRPr lang="en-US" sz="16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28" name="Text 25"/>
          <p:cNvSpPr/>
          <p:nvPr/>
        </p:nvSpPr>
        <p:spPr>
          <a:xfrm>
            <a:off x="10922000" y="4839625"/>
            <a:ext cx="4699000" cy="368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增速位居全省前列，高质量发展态势稳固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高新技术产业产值占比达42%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制造业投资增长12.3%，结构持续优化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社零总额1,580亿元，消费活力增强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公共预算收入285亿元，财政运行平稳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外贸结构优化，出口增长5.8%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599" y="762000"/>
            <a:ext cx="14757385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民生福祉持续改善</a:t>
            </a:r>
            <a:endParaRPr lang="en-US" sz="2800" b="1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000" y="1549399"/>
            <a:ext cx="14986000" cy="6832599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2199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19200" y="1945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居民收入增长：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城镇居民人均可支配收入58,600元（+5.8%），农村居民32,400元（+6.5%）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14400" y="3088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1219200" y="2834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就业形势稳定：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新增城镇就业12.8万人，城镇登记失业率控制在3.2%以内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14400" y="3977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19200" y="3723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教育资源扩充：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新建改扩建中小学及幼儿园45所，新增学位3.2万个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14400" y="4866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219200" y="4612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医疗保障提升：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建成社区卫生服务中心8家，每千人床位数达6.8张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14400" y="5755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219200" y="5501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社保覆盖扩大：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基本养老保险参保率98.5%，基本医疗保险参保率稳定在99%以上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14400" y="6644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219200" y="6390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居住条件改善：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完成老旧小区改造156个，惠及居民6.8万户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63600" y="7279104"/>
            <a:ext cx="145288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66800" y="7407440"/>
            <a:ext cx="1412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核心成效：民生支出占一般公共预算支出比重达78%，十项民生实事全部完成，人民群众获得感、幸福感、安全感持续增强。</a:t>
            </a:r>
            <a:endParaRPr lang="en-US" sz="20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3ADD6418-F64A-C531-E349-6FD4039F264F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C4791770-24A9-6729-9CD3-E3AFF38A7A7A}"/>
              </a:ext>
            </a:extLst>
          </p:cNvPr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73D76403-D500-9629-EB67-AC7327BA9024}"/>
              </a:ext>
            </a:extLst>
          </p:cNvPr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AFF8EC12-8B4E-70D1-03AD-02D696E4F605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EAA5D5EB-ABFD-92F3-AADF-A08614C7235A}"/>
              </a:ext>
            </a:extLst>
          </p:cNvPr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D54F2A3E-14FD-BF02-8283-744BDD810FE5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98CFBEC-146A-2273-AF76-443A83578773}"/>
              </a:ext>
            </a:extLst>
          </p:cNvPr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FEC87C52-AED1-B085-4CB0-A2BF82426915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7EF8B92C-3946-D198-6556-A6221B03F419}"/>
              </a:ext>
            </a:extLst>
          </p:cNvPr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flip="none" rotWithShape="1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491EE38-FEBB-EDCB-212B-6C3BD87574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31250" b="15580"/>
          <a:stretch>
            <a:fillRect/>
          </a:stretch>
        </p:blipFill>
        <p:spPr>
          <a:xfrm>
            <a:off x="5080000" y="0"/>
            <a:ext cx="11176000" cy="9144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0" b="1" dirty="0">
                <a:solidFill>
                  <a:srgbClr val="B8860B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02</a:t>
            </a:r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42000" y="3302000"/>
            <a:ext cx="1003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800" b="1" dirty="0" err="1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主要工作成效</a:t>
            </a:r>
            <a:endParaRPr lang="en-US" sz="3800" b="1" dirty="0">
              <a:solidFill>
                <a:srgbClr val="FFFFFF"/>
              </a:solidFill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1003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Key Work Achievements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80000"/>
            <a:ext cx="9906000" cy="2286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2.1　</a:t>
            </a:r>
            <a:r>
              <a:rPr lang="en-US" sz="20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重点项目建设成果丰硕</a:t>
            </a:r>
            <a:endParaRPr lang="en-US" sz="20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2.2　</a:t>
            </a:r>
            <a:r>
              <a:rPr lang="en-US" altLang="zh-CN" sz="20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改革创新深入推进</a:t>
            </a:r>
            <a:endParaRPr lang="en-US" altLang="zh-CN" sz="20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  <a:p>
            <a:pPr>
              <a:lnSpc>
                <a:spcPct val="150000"/>
              </a:lnSpc>
            </a:pPr>
            <a:endParaRPr lang="en-US" sz="20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6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599" y="762000"/>
            <a:ext cx="14757393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重点项目建设成果丰硕</a:t>
            </a:r>
            <a:endParaRPr lang="en-US" sz="2800" b="1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000" y="2088145"/>
            <a:ext cx="7239000" cy="2921000"/>
          </a:xfrm>
          <a:prstGeom prst="rect">
            <a:avLst/>
          </a:prstGeom>
          <a:solidFill>
            <a:srgbClr val="FFF5F5"/>
          </a:solidFill>
          <a:ln w="25400">
            <a:solidFill>
              <a:srgbClr val="8B1A1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35000" y="2088145"/>
            <a:ext cx="660400" cy="6604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35000" y="2088145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01</a:t>
            </a:r>
            <a:endParaRPr lang="en-US" sz="2800" b="1" dirty="0"/>
          </a:p>
        </p:txBody>
      </p:sp>
      <p:sp>
        <p:nvSpPr>
          <p:cNvPr id="17" name="Text 15"/>
          <p:cNvSpPr/>
          <p:nvPr/>
        </p:nvSpPr>
        <p:spPr>
          <a:xfrm>
            <a:off x="1473200" y="2385591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产业项目投资突破</a:t>
            </a:r>
            <a:endParaRPr lang="en-US" sz="2400" b="1" dirty="0"/>
          </a:p>
        </p:txBody>
      </p:sp>
      <p:sp>
        <p:nvSpPr>
          <p:cNvPr id="18" name="Text 16"/>
          <p:cNvSpPr/>
          <p:nvPr/>
        </p:nvSpPr>
        <p:spPr>
          <a:xfrm>
            <a:off x="838200" y="2824745"/>
            <a:ext cx="67818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市级以上重点项目完成投资1,200亿元，完成年度计划的108%。新能源汽车产业园一期建成投产，预计年产值超200亿元。引进亿元以上产业项目186个，实际到位资金超800亿元。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8382000" y="2088145"/>
            <a:ext cx="7239000" cy="2921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8"/>
          <p:cNvSpPr/>
          <p:nvPr/>
        </p:nvSpPr>
        <p:spPr>
          <a:xfrm>
            <a:off x="8382000" y="2088145"/>
            <a:ext cx="660400" cy="6604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382000" y="2088145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02</a:t>
            </a:r>
            <a:endParaRPr lang="en-US" sz="2800" b="1" dirty="0"/>
          </a:p>
        </p:txBody>
      </p:sp>
      <p:sp>
        <p:nvSpPr>
          <p:cNvPr id="22" name="Text 20"/>
          <p:cNvSpPr/>
          <p:nvPr/>
        </p:nvSpPr>
        <p:spPr>
          <a:xfrm>
            <a:off x="9220200" y="2385591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6D4C00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交通基础设施升级</a:t>
            </a:r>
            <a:endParaRPr lang="en-US" sz="2400" b="1" dirty="0"/>
          </a:p>
        </p:txBody>
      </p:sp>
      <p:sp>
        <p:nvSpPr>
          <p:cNvPr id="23" name="Text 21"/>
          <p:cNvSpPr/>
          <p:nvPr/>
        </p:nvSpPr>
        <p:spPr>
          <a:xfrm>
            <a:off x="8585200" y="2824745"/>
            <a:ext cx="67818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高铁枢纽站房主体工程完工，城市轨道交通2号线正式通车运营。新建改建城市道路85公里，打通断头路32条，市民出行更加便捷高效。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35000" y="5263145"/>
            <a:ext cx="7239000" cy="2921000"/>
          </a:xfrm>
          <a:prstGeom prst="rect">
            <a:avLst/>
          </a:prstGeom>
          <a:solidFill>
            <a:srgbClr val="FFF5F5"/>
          </a:solidFill>
          <a:ln w="25400">
            <a:solidFill>
              <a:srgbClr val="6D0E0E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Shape 23"/>
          <p:cNvSpPr/>
          <p:nvPr/>
        </p:nvSpPr>
        <p:spPr>
          <a:xfrm>
            <a:off x="635000" y="5263145"/>
            <a:ext cx="660400" cy="6604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35000" y="5263145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03</a:t>
            </a:r>
            <a:endParaRPr lang="en-US" sz="2800" b="1" dirty="0"/>
          </a:p>
        </p:txBody>
      </p:sp>
      <p:sp>
        <p:nvSpPr>
          <p:cNvPr id="27" name="Text 25"/>
          <p:cNvSpPr/>
          <p:nvPr/>
        </p:nvSpPr>
        <p:spPr>
          <a:xfrm>
            <a:off x="1473200" y="5542545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6D0E0E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新型基础设施布局</a:t>
            </a:r>
            <a:endParaRPr lang="en-US" sz="2400" b="1" dirty="0"/>
          </a:p>
        </p:txBody>
      </p:sp>
      <p:sp>
        <p:nvSpPr>
          <p:cNvPr id="28" name="Text 26"/>
          <p:cNvSpPr/>
          <p:nvPr/>
        </p:nvSpPr>
        <p:spPr>
          <a:xfrm>
            <a:off x="838200" y="5999745"/>
            <a:ext cx="67818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5G基站累计建成1.2万座，实现主城区和重点园区全覆盖。数据中心、工业互联网平台等新型基础设施加快建设，为数字化转型奠定坚实基础。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382000" y="5263145"/>
            <a:ext cx="7239000" cy="2921000"/>
          </a:xfrm>
          <a:prstGeom prst="rect">
            <a:avLst/>
          </a:prstGeom>
          <a:solidFill>
            <a:srgbClr val="FFF8E6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28"/>
          <p:cNvSpPr/>
          <p:nvPr/>
        </p:nvSpPr>
        <p:spPr>
          <a:xfrm>
            <a:off x="8382000" y="5263145"/>
            <a:ext cx="660400" cy="6604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8382000" y="5263145"/>
            <a:ext cx="660400" cy="660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04</a:t>
            </a:r>
            <a:endParaRPr lang="en-US" sz="2800" b="1" dirty="0"/>
          </a:p>
        </p:txBody>
      </p:sp>
      <p:sp>
        <p:nvSpPr>
          <p:cNvPr id="32" name="Text 30"/>
          <p:cNvSpPr/>
          <p:nvPr/>
        </p:nvSpPr>
        <p:spPr>
          <a:xfrm>
            <a:off x="9220200" y="5542545"/>
            <a:ext cx="6096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400" b="1" dirty="0">
                <a:solidFill>
                  <a:srgbClr val="B8860B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生态环境治理工程</a:t>
            </a:r>
            <a:endParaRPr lang="en-US" sz="2400" b="1" dirty="0"/>
          </a:p>
        </p:txBody>
      </p:sp>
      <p:sp>
        <p:nvSpPr>
          <p:cNvPr id="33" name="Text 31"/>
          <p:cNvSpPr/>
          <p:nvPr/>
        </p:nvSpPr>
        <p:spPr>
          <a:xfrm>
            <a:off x="8585200" y="5999745"/>
            <a:ext cx="6781800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6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城市污水处理厂扩建工程竣工，日处理能力提升至80万吨。完成河道整治28公里，新建城市绿地320公顷，生态环境质量持续改善。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599" y="762000"/>
            <a:ext cx="14757399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改革创新深入推进</a:t>
            </a:r>
            <a:endParaRPr lang="en-US" sz="2800" b="1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0">
            <a:extLst>
              <a:ext uri="{FF2B5EF4-FFF2-40B4-BE49-F238E27FC236}">
                <a16:creationId xmlns:a16="http://schemas.microsoft.com/office/drawing/2014/main" id="{9641CD71-E8F5-E63F-EC5D-00A184087B40}"/>
              </a:ext>
            </a:extLst>
          </p:cNvPr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78A2A3A6-89A9-0F6D-9875-6BD7CCFAEB9A}"/>
              </a:ext>
            </a:extLst>
          </p:cNvPr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">
            <a:extLst>
              <a:ext uri="{FF2B5EF4-FFF2-40B4-BE49-F238E27FC236}">
                <a16:creationId xmlns:a16="http://schemas.microsoft.com/office/drawing/2014/main" id="{CFFAC3CE-BC95-7BF5-984F-AB2C38B7A559}"/>
              </a:ext>
            </a:extLst>
          </p:cNvPr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3" name="Shape 3">
            <a:extLst>
              <a:ext uri="{FF2B5EF4-FFF2-40B4-BE49-F238E27FC236}">
                <a16:creationId xmlns:a16="http://schemas.microsoft.com/office/drawing/2014/main" id="{38EC0891-DC7E-52E1-A486-E389E05B8BCB}"/>
              </a:ext>
            </a:extLst>
          </p:cNvPr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4">
            <a:extLst>
              <a:ext uri="{FF2B5EF4-FFF2-40B4-BE49-F238E27FC236}">
                <a16:creationId xmlns:a16="http://schemas.microsoft.com/office/drawing/2014/main" id="{39617A4B-BD3C-8BBF-40AD-B337BB1E8058}"/>
              </a:ext>
            </a:extLst>
          </p:cNvPr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5" name="Shape 5">
            <a:extLst>
              <a:ext uri="{FF2B5EF4-FFF2-40B4-BE49-F238E27FC236}">
                <a16:creationId xmlns:a16="http://schemas.microsoft.com/office/drawing/2014/main" id="{4700F5BA-33CC-FED8-4FC3-714662DA18A0}"/>
              </a:ext>
            </a:extLst>
          </p:cNvPr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6">
            <a:extLst>
              <a:ext uri="{FF2B5EF4-FFF2-40B4-BE49-F238E27FC236}">
                <a16:creationId xmlns:a16="http://schemas.microsoft.com/office/drawing/2014/main" id="{117A5E52-1230-C8DD-CD76-05CD5CEB43D2}"/>
              </a:ext>
            </a:extLst>
          </p:cNvPr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7" name="Shape 7">
            <a:extLst>
              <a:ext uri="{FF2B5EF4-FFF2-40B4-BE49-F238E27FC236}">
                <a16:creationId xmlns:a16="http://schemas.microsoft.com/office/drawing/2014/main" id="{628FD1A4-5087-5B81-1564-BF7EB441D419}"/>
              </a:ext>
            </a:extLst>
          </p:cNvPr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8">
            <a:extLst>
              <a:ext uri="{FF2B5EF4-FFF2-40B4-BE49-F238E27FC236}">
                <a16:creationId xmlns:a16="http://schemas.microsoft.com/office/drawing/2014/main" id="{E48FD900-191D-67F2-DB00-44D00743E9AD}"/>
              </a:ext>
            </a:extLst>
          </p:cNvPr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39" name="Shape 12">
            <a:extLst>
              <a:ext uri="{FF2B5EF4-FFF2-40B4-BE49-F238E27FC236}">
                <a16:creationId xmlns:a16="http://schemas.microsoft.com/office/drawing/2014/main" id="{7538B7BF-7A19-2B65-EF18-BB71BD2A42FD}"/>
              </a:ext>
            </a:extLst>
          </p:cNvPr>
          <p:cNvSpPr/>
          <p:nvPr/>
        </p:nvSpPr>
        <p:spPr>
          <a:xfrm>
            <a:off x="635000" y="1549399"/>
            <a:ext cx="14986000" cy="6832599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Shape 13">
            <a:extLst>
              <a:ext uri="{FF2B5EF4-FFF2-40B4-BE49-F238E27FC236}">
                <a16:creationId xmlns:a16="http://schemas.microsoft.com/office/drawing/2014/main" id="{9FB33138-8EE7-0F1C-BF75-7BF2B366E6DB}"/>
              </a:ext>
            </a:extLst>
          </p:cNvPr>
          <p:cNvSpPr/>
          <p:nvPr/>
        </p:nvSpPr>
        <p:spPr>
          <a:xfrm>
            <a:off x="914400" y="2199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BA8F8CCD-C8D8-EB44-0A8D-8AD53EEA14FF}"/>
              </a:ext>
            </a:extLst>
          </p:cNvPr>
          <p:cNvSpPr/>
          <p:nvPr/>
        </p:nvSpPr>
        <p:spPr>
          <a:xfrm>
            <a:off x="1219200" y="1945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居民收入增长：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城镇居民人均可支配收入58,600元（+5.8%），农村居民32,400元（+6.5%）</a:t>
            </a:r>
            <a:endParaRPr lang="en-US" sz="1600" dirty="0"/>
          </a:p>
        </p:txBody>
      </p:sp>
      <p:sp>
        <p:nvSpPr>
          <p:cNvPr id="42" name="Shape 15">
            <a:extLst>
              <a:ext uri="{FF2B5EF4-FFF2-40B4-BE49-F238E27FC236}">
                <a16:creationId xmlns:a16="http://schemas.microsoft.com/office/drawing/2014/main" id="{D00F4850-C619-4AA9-DB46-55117D5EBF31}"/>
              </a:ext>
            </a:extLst>
          </p:cNvPr>
          <p:cNvSpPr/>
          <p:nvPr/>
        </p:nvSpPr>
        <p:spPr>
          <a:xfrm>
            <a:off x="914400" y="3088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Text 16">
            <a:extLst>
              <a:ext uri="{FF2B5EF4-FFF2-40B4-BE49-F238E27FC236}">
                <a16:creationId xmlns:a16="http://schemas.microsoft.com/office/drawing/2014/main" id="{EB818564-736A-FEC2-824A-F136CFA5E4C8}"/>
              </a:ext>
            </a:extLst>
          </p:cNvPr>
          <p:cNvSpPr/>
          <p:nvPr/>
        </p:nvSpPr>
        <p:spPr>
          <a:xfrm>
            <a:off x="1219200" y="2834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就业形势稳定：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新增城镇就业12.8万人，城镇登记失业率控制在3.2%以内</a:t>
            </a:r>
            <a:endParaRPr lang="en-US" sz="1600" dirty="0"/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D69888F3-34F5-E308-E953-63250FE47448}"/>
              </a:ext>
            </a:extLst>
          </p:cNvPr>
          <p:cNvSpPr/>
          <p:nvPr/>
        </p:nvSpPr>
        <p:spPr>
          <a:xfrm>
            <a:off x="914400" y="3977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4DA9F640-5381-CE66-EF7E-7454937BECB3}"/>
              </a:ext>
            </a:extLst>
          </p:cNvPr>
          <p:cNvSpPr/>
          <p:nvPr/>
        </p:nvSpPr>
        <p:spPr>
          <a:xfrm>
            <a:off x="1219200" y="3723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教育资源扩充：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新建改扩建中小学及幼儿园45所，新增学位3.2万个</a:t>
            </a:r>
            <a:endParaRPr lang="en-US" sz="1600" dirty="0"/>
          </a:p>
        </p:txBody>
      </p:sp>
      <p:sp>
        <p:nvSpPr>
          <p:cNvPr id="46" name="Shape 19">
            <a:extLst>
              <a:ext uri="{FF2B5EF4-FFF2-40B4-BE49-F238E27FC236}">
                <a16:creationId xmlns:a16="http://schemas.microsoft.com/office/drawing/2014/main" id="{FD1DE5B3-8EB3-5AC4-3DBC-3DE09D57C47F}"/>
              </a:ext>
            </a:extLst>
          </p:cNvPr>
          <p:cNvSpPr/>
          <p:nvPr/>
        </p:nvSpPr>
        <p:spPr>
          <a:xfrm>
            <a:off x="914400" y="4866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A06ABF27-EB6E-6990-5803-945C46E5BD38}"/>
              </a:ext>
            </a:extLst>
          </p:cNvPr>
          <p:cNvSpPr/>
          <p:nvPr/>
        </p:nvSpPr>
        <p:spPr>
          <a:xfrm>
            <a:off x="1219200" y="4612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医疗保障提升：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建成社区卫生服务中心8家，每千人床位数达6.8张</a:t>
            </a:r>
            <a:endParaRPr lang="en-US" sz="1600" dirty="0"/>
          </a:p>
        </p:txBody>
      </p:sp>
      <p:sp>
        <p:nvSpPr>
          <p:cNvPr id="48" name="Shape 21">
            <a:extLst>
              <a:ext uri="{FF2B5EF4-FFF2-40B4-BE49-F238E27FC236}">
                <a16:creationId xmlns:a16="http://schemas.microsoft.com/office/drawing/2014/main" id="{C1AD0E5B-A325-F1A5-D612-066E735EDE72}"/>
              </a:ext>
            </a:extLst>
          </p:cNvPr>
          <p:cNvSpPr/>
          <p:nvPr/>
        </p:nvSpPr>
        <p:spPr>
          <a:xfrm>
            <a:off x="914400" y="5755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Text 22">
            <a:extLst>
              <a:ext uri="{FF2B5EF4-FFF2-40B4-BE49-F238E27FC236}">
                <a16:creationId xmlns:a16="http://schemas.microsoft.com/office/drawing/2014/main" id="{BDCD7123-83E6-6CB0-1EC6-849DD91641AE}"/>
              </a:ext>
            </a:extLst>
          </p:cNvPr>
          <p:cNvSpPr/>
          <p:nvPr/>
        </p:nvSpPr>
        <p:spPr>
          <a:xfrm>
            <a:off x="1219200" y="5501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社保覆盖扩大：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基本养老保险参保率98.5%，基本医疗保险参保率稳定在99%以上</a:t>
            </a:r>
            <a:endParaRPr lang="en-US" sz="1600" dirty="0"/>
          </a:p>
        </p:txBody>
      </p:sp>
      <p:sp>
        <p:nvSpPr>
          <p:cNvPr id="50" name="Shape 23">
            <a:extLst>
              <a:ext uri="{FF2B5EF4-FFF2-40B4-BE49-F238E27FC236}">
                <a16:creationId xmlns:a16="http://schemas.microsoft.com/office/drawing/2014/main" id="{66F170AC-7CDA-CAAA-85FA-AB18BD53E65D}"/>
              </a:ext>
            </a:extLst>
          </p:cNvPr>
          <p:cNvSpPr/>
          <p:nvPr/>
        </p:nvSpPr>
        <p:spPr>
          <a:xfrm>
            <a:off x="914400" y="66441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1" name="Text 24">
            <a:extLst>
              <a:ext uri="{FF2B5EF4-FFF2-40B4-BE49-F238E27FC236}">
                <a16:creationId xmlns:a16="http://schemas.microsoft.com/office/drawing/2014/main" id="{5A11A443-63B6-D988-0823-A8B2CF6C1C23}"/>
              </a:ext>
            </a:extLst>
          </p:cNvPr>
          <p:cNvSpPr/>
          <p:nvPr/>
        </p:nvSpPr>
        <p:spPr>
          <a:xfrm>
            <a:off x="1219200" y="63901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居住条件改善：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完成老旧小区改造156个，惠及居民6.8万户</a:t>
            </a:r>
            <a:endParaRPr lang="en-US" sz="1600" dirty="0"/>
          </a:p>
        </p:txBody>
      </p:sp>
      <p:sp>
        <p:nvSpPr>
          <p:cNvPr id="52" name="Shape 25">
            <a:extLst>
              <a:ext uri="{FF2B5EF4-FFF2-40B4-BE49-F238E27FC236}">
                <a16:creationId xmlns:a16="http://schemas.microsoft.com/office/drawing/2014/main" id="{59236551-D010-90EC-729B-ECF024550D4D}"/>
              </a:ext>
            </a:extLst>
          </p:cNvPr>
          <p:cNvSpPr/>
          <p:nvPr/>
        </p:nvSpPr>
        <p:spPr>
          <a:xfrm>
            <a:off x="863600" y="7279104"/>
            <a:ext cx="145288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26">
            <a:extLst>
              <a:ext uri="{FF2B5EF4-FFF2-40B4-BE49-F238E27FC236}">
                <a16:creationId xmlns:a16="http://schemas.microsoft.com/office/drawing/2014/main" id="{073F593E-7F8B-5119-6C59-59705900DEB3}"/>
              </a:ext>
            </a:extLst>
          </p:cNvPr>
          <p:cNvSpPr/>
          <p:nvPr/>
        </p:nvSpPr>
        <p:spPr>
          <a:xfrm>
            <a:off x="1066800" y="7407440"/>
            <a:ext cx="1412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核心成效：民生支出占一般公共预算支出比重达78%，十项民生实事全部完成，人民群众获得感、幸福感、安全感持续增强。</a:t>
            </a:r>
            <a:endParaRPr lang="en-US" sz="20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54" name="Shape 27">
            <a:extLst>
              <a:ext uri="{FF2B5EF4-FFF2-40B4-BE49-F238E27FC236}">
                <a16:creationId xmlns:a16="http://schemas.microsoft.com/office/drawing/2014/main" id="{C6AFAB97-90F2-EFCC-1043-9A739FC91FCA}"/>
              </a:ext>
            </a:extLst>
          </p:cNvPr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flip="none" rotWithShape="1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240C79D6-80E9-D652-9FE4-74A5F8671D68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31250" b="15580"/>
          <a:stretch>
            <a:fillRect/>
          </a:stretch>
        </p:blipFill>
        <p:spPr>
          <a:xfrm>
            <a:off x="5080000" y="0"/>
            <a:ext cx="11176000" cy="9144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0" b="1" dirty="0">
                <a:solidFill>
                  <a:srgbClr val="B8860B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03</a:t>
            </a:r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42000" y="3302000"/>
            <a:ext cx="1003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800" b="1" dirty="0" err="1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问题与挑战</a:t>
            </a:r>
            <a:endParaRPr lang="en-US" sz="3800" b="1" dirty="0">
              <a:solidFill>
                <a:srgbClr val="FFFFFF"/>
              </a:solidFill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1003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Problems and Challenges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79999"/>
            <a:ext cx="9906000" cy="28911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3.1　</a:t>
            </a: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经济下行压力</a:t>
            </a:r>
            <a:endParaRPr lang="en-US" sz="16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  <a:cs typeface="Quattrocento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3.2　</a:t>
            </a:r>
            <a:r>
              <a:rPr lang="en-US" altLang="zh-CN" sz="16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结构性矛盾突出</a:t>
            </a:r>
            <a:endParaRPr lang="en-US" altLang="zh-CN" sz="16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  <a:cs typeface="Quattrocento Sans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3.3　</a:t>
            </a:r>
            <a:r>
              <a:rPr lang="en-US" altLang="zh-CN" sz="16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发展不平衡问题</a:t>
            </a:r>
            <a:endParaRPr lang="en-US" altLang="zh-CN" sz="1600" dirty="0"/>
          </a:p>
        </p:txBody>
      </p:sp>
      <p:sp>
        <p:nvSpPr>
          <p:cNvPr id="10" name="Shape 8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/>
          </a:p>
        </p:txBody>
      </p:sp>
      <p:sp>
        <p:nvSpPr>
          <p:cNvPr id="5" name="Shape 3"/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/>
          </a:p>
        </p:txBody>
      </p:sp>
      <p:sp>
        <p:nvSpPr>
          <p:cNvPr id="7" name="Shape 5"/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/>
          </a:p>
        </p:txBody>
      </p:sp>
      <p:sp>
        <p:nvSpPr>
          <p:cNvPr id="9" name="Shape 7"/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/>
          </a:p>
        </p:txBody>
      </p:sp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599" y="762000"/>
            <a:ext cx="14909797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存在的主要问题</a:t>
            </a:r>
            <a:endParaRPr lang="en-US" sz="2800" b="1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Shape 27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Shape 12">
            <a:extLst>
              <a:ext uri="{FF2B5EF4-FFF2-40B4-BE49-F238E27FC236}">
                <a16:creationId xmlns:a16="http://schemas.microsoft.com/office/drawing/2014/main" id="{9A260988-691D-8987-4F03-CB68ECB605F7}"/>
              </a:ext>
            </a:extLst>
          </p:cNvPr>
          <p:cNvSpPr/>
          <p:nvPr/>
        </p:nvSpPr>
        <p:spPr>
          <a:xfrm>
            <a:off x="787400" y="1701799"/>
            <a:ext cx="14986000" cy="6832599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13">
            <a:extLst>
              <a:ext uri="{FF2B5EF4-FFF2-40B4-BE49-F238E27FC236}">
                <a16:creationId xmlns:a16="http://schemas.microsoft.com/office/drawing/2014/main" id="{3726E336-0120-3801-050A-DA35A76F6964}"/>
              </a:ext>
            </a:extLst>
          </p:cNvPr>
          <p:cNvSpPr/>
          <p:nvPr/>
        </p:nvSpPr>
        <p:spPr>
          <a:xfrm>
            <a:off x="1066800" y="2351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Text 14">
            <a:extLst>
              <a:ext uri="{FF2B5EF4-FFF2-40B4-BE49-F238E27FC236}">
                <a16:creationId xmlns:a16="http://schemas.microsoft.com/office/drawing/2014/main" id="{9694E5C3-BD60-1F14-054E-FABBD37DDDD9}"/>
              </a:ext>
            </a:extLst>
          </p:cNvPr>
          <p:cNvSpPr/>
          <p:nvPr/>
        </p:nvSpPr>
        <p:spPr>
          <a:xfrm>
            <a:off x="1371600" y="2097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居民收入增长：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城镇居民人均可支配收入58,600元（+5.8%），农村居民32,400元（+6.5%）</a:t>
            </a:r>
            <a:endParaRPr lang="en-US" sz="1600" dirty="0"/>
          </a:p>
        </p:txBody>
      </p:sp>
      <p:sp>
        <p:nvSpPr>
          <p:cNvPr id="33" name="Shape 15">
            <a:extLst>
              <a:ext uri="{FF2B5EF4-FFF2-40B4-BE49-F238E27FC236}">
                <a16:creationId xmlns:a16="http://schemas.microsoft.com/office/drawing/2014/main" id="{05A41920-0C4D-9FB3-A3D2-031457220060}"/>
              </a:ext>
            </a:extLst>
          </p:cNvPr>
          <p:cNvSpPr/>
          <p:nvPr/>
        </p:nvSpPr>
        <p:spPr>
          <a:xfrm>
            <a:off x="1066800" y="3240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02653FE3-68B2-A230-E16E-ED2106609592}"/>
              </a:ext>
            </a:extLst>
          </p:cNvPr>
          <p:cNvSpPr/>
          <p:nvPr/>
        </p:nvSpPr>
        <p:spPr>
          <a:xfrm>
            <a:off x="1371600" y="2986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就业形势稳定：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新增城镇就业12.8万人，城镇登记失业率控制在3.2%以内</a:t>
            </a:r>
            <a:endParaRPr lang="en-US" sz="1600" dirty="0"/>
          </a:p>
        </p:txBody>
      </p:sp>
      <p:sp>
        <p:nvSpPr>
          <p:cNvPr id="35" name="Shape 17">
            <a:extLst>
              <a:ext uri="{FF2B5EF4-FFF2-40B4-BE49-F238E27FC236}">
                <a16:creationId xmlns:a16="http://schemas.microsoft.com/office/drawing/2014/main" id="{2D60B5CD-8F87-0B7A-A17C-CAA705D7F9B4}"/>
              </a:ext>
            </a:extLst>
          </p:cNvPr>
          <p:cNvSpPr/>
          <p:nvPr/>
        </p:nvSpPr>
        <p:spPr>
          <a:xfrm>
            <a:off x="1066800" y="4129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6" name="Text 18">
            <a:extLst>
              <a:ext uri="{FF2B5EF4-FFF2-40B4-BE49-F238E27FC236}">
                <a16:creationId xmlns:a16="http://schemas.microsoft.com/office/drawing/2014/main" id="{336ECE04-EF36-4335-9743-E50457743C6D}"/>
              </a:ext>
            </a:extLst>
          </p:cNvPr>
          <p:cNvSpPr/>
          <p:nvPr/>
        </p:nvSpPr>
        <p:spPr>
          <a:xfrm>
            <a:off x="1371600" y="3875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教育资源扩充：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新建改扩建中小学及幼儿园45所，新增学位3.2万个</a:t>
            </a:r>
            <a:endParaRPr lang="en-US" sz="1600" dirty="0"/>
          </a:p>
        </p:txBody>
      </p:sp>
      <p:sp>
        <p:nvSpPr>
          <p:cNvPr id="37" name="Shape 19">
            <a:extLst>
              <a:ext uri="{FF2B5EF4-FFF2-40B4-BE49-F238E27FC236}">
                <a16:creationId xmlns:a16="http://schemas.microsoft.com/office/drawing/2014/main" id="{8D37A608-5DC3-009E-6D3A-CA34F396062D}"/>
              </a:ext>
            </a:extLst>
          </p:cNvPr>
          <p:cNvSpPr/>
          <p:nvPr/>
        </p:nvSpPr>
        <p:spPr>
          <a:xfrm>
            <a:off x="1066800" y="5018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Text 20">
            <a:extLst>
              <a:ext uri="{FF2B5EF4-FFF2-40B4-BE49-F238E27FC236}">
                <a16:creationId xmlns:a16="http://schemas.microsoft.com/office/drawing/2014/main" id="{C2FE9B78-752E-3572-D48F-F9976B9562A5}"/>
              </a:ext>
            </a:extLst>
          </p:cNvPr>
          <p:cNvSpPr/>
          <p:nvPr/>
        </p:nvSpPr>
        <p:spPr>
          <a:xfrm>
            <a:off x="1371600" y="4764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医疗保障提升：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建成社区卫生服务中心8家，每千人床位数达6.8张</a:t>
            </a:r>
            <a:endParaRPr lang="en-US" sz="1600" dirty="0"/>
          </a:p>
        </p:txBody>
      </p:sp>
      <p:sp>
        <p:nvSpPr>
          <p:cNvPr id="39" name="Shape 21">
            <a:extLst>
              <a:ext uri="{FF2B5EF4-FFF2-40B4-BE49-F238E27FC236}">
                <a16:creationId xmlns:a16="http://schemas.microsoft.com/office/drawing/2014/main" id="{EF55539A-309A-CC6F-4184-0660AB5A848E}"/>
              </a:ext>
            </a:extLst>
          </p:cNvPr>
          <p:cNvSpPr/>
          <p:nvPr/>
        </p:nvSpPr>
        <p:spPr>
          <a:xfrm>
            <a:off x="1066800" y="5907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57AF6988-1876-ADD6-F234-DA36E39ECA34}"/>
              </a:ext>
            </a:extLst>
          </p:cNvPr>
          <p:cNvSpPr/>
          <p:nvPr/>
        </p:nvSpPr>
        <p:spPr>
          <a:xfrm>
            <a:off x="1371600" y="5653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社保覆盖扩大：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基本养老保险参保率98.5%，基本医疗保险参保率稳定在99%以上</a:t>
            </a:r>
            <a:endParaRPr lang="en-US" sz="1600" dirty="0"/>
          </a:p>
        </p:txBody>
      </p:sp>
      <p:sp>
        <p:nvSpPr>
          <p:cNvPr id="41" name="Shape 23">
            <a:extLst>
              <a:ext uri="{FF2B5EF4-FFF2-40B4-BE49-F238E27FC236}">
                <a16:creationId xmlns:a16="http://schemas.microsoft.com/office/drawing/2014/main" id="{1CD68A8E-3B7E-7119-2060-4C3B3CEF4DDE}"/>
              </a:ext>
            </a:extLst>
          </p:cNvPr>
          <p:cNvSpPr/>
          <p:nvPr/>
        </p:nvSpPr>
        <p:spPr>
          <a:xfrm>
            <a:off x="1066800" y="6796504"/>
            <a:ext cx="127000" cy="127000"/>
          </a:xfrm>
          <a:prstGeom prst="ellipse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Text 24">
            <a:extLst>
              <a:ext uri="{FF2B5EF4-FFF2-40B4-BE49-F238E27FC236}">
                <a16:creationId xmlns:a16="http://schemas.microsoft.com/office/drawing/2014/main" id="{37DB4075-1AF8-FBEF-D7EA-89B9EED9F5B3}"/>
              </a:ext>
            </a:extLst>
          </p:cNvPr>
          <p:cNvSpPr/>
          <p:nvPr/>
        </p:nvSpPr>
        <p:spPr>
          <a:xfrm>
            <a:off x="1371600" y="6542504"/>
            <a:ext cx="13970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居住条件改善：</a:t>
            </a: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完成老旧小区改造156个，惠及居民6.8万户</a:t>
            </a:r>
            <a:endParaRPr lang="en-US" sz="1600" dirty="0"/>
          </a:p>
        </p:txBody>
      </p:sp>
      <p:sp>
        <p:nvSpPr>
          <p:cNvPr id="43" name="Shape 25">
            <a:extLst>
              <a:ext uri="{FF2B5EF4-FFF2-40B4-BE49-F238E27FC236}">
                <a16:creationId xmlns:a16="http://schemas.microsoft.com/office/drawing/2014/main" id="{F352E6CC-D552-5AC1-175B-A20BD708C689}"/>
              </a:ext>
            </a:extLst>
          </p:cNvPr>
          <p:cNvSpPr/>
          <p:nvPr/>
        </p:nvSpPr>
        <p:spPr>
          <a:xfrm>
            <a:off x="1016000" y="7431504"/>
            <a:ext cx="14528800" cy="711200"/>
          </a:xfrm>
          <a:prstGeom prst="rect">
            <a:avLst/>
          </a:prstGeom>
          <a:solidFill>
            <a:srgbClr val="FFFFFF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26">
            <a:extLst>
              <a:ext uri="{FF2B5EF4-FFF2-40B4-BE49-F238E27FC236}">
                <a16:creationId xmlns:a16="http://schemas.microsoft.com/office/drawing/2014/main" id="{F270EA59-004A-1052-5137-DBD9B09D6B08}"/>
              </a:ext>
            </a:extLst>
          </p:cNvPr>
          <p:cNvSpPr/>
          <p:nvPr/>
        </p:nvSpPr>
        <p:spPr>
          <a:xfrm>
            <a:off x="1219200" y="7559840"/>
            <a:ext cx="1412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核心成效：民生支出占一般公共预算支出比重达78%，十项民生实事全部完成，人民群众获得感、幸福感、安全感持续增强。</a:t>
            </a:r>
            <a:endParaRPr lang="en-US" sz="20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45" name="Shape 27">
            <a:extLst>
              <a:ext uri="{FF2B5EF4-FFF2-40B4-BE49-F238E27FC236}">
                <a16:creationId xmlns:a16="http://schemas.microsoft.com/office/drawing/2014/main" id="{66E62CB6-6211-E4F7-AA7B-0E23C74A3677}"/>
              </a:ext>
            </a:extLst>
          </p:cNvPr>
          <p:cNvSpPr/>
          <p:nvPr/>
        </p:nvSpPr>
        <p:spPr>
          <a:xfrm>
            <a:off x="152400" y="91186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80000" y="0"/>
            <a:ext cx="11176000" cy="9144000"/>
          </a:xfrm>
          <a:prstGeom prst="rect">
            <a:avLst/>
          </a:prstGeom>
          <a:gradFill flip="none" rotWithShape="1">
            <a:gsLst>
              <a:gs pos="0">
                <a:srgbClr val="8B1A1A"/>
              </a:gs>
              <a:gs pos="100000">
                <a:srgbClr val="5A0A0A"/>
              </a:gs>
            </a:gsLst>
            <a:lin ang="5400000" scaled="1"/>
          </a:gra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B4AA584-88EE-933F-E9D9-01C8AB3D434F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31250" b="15580"/>
          <a:stretch>
            <a:fillRect/>
          </a:stretch>
        </p:blipFill>
        <p:spPr>
          <a:xfrm>
            <a:off x="5080000" y="0"/>
            <a:ext cx="11176000" cy="9144000"/>
          </a:xfrm>
          <a:prstGeom prst="rect">
            <a:avLst/>
          </a:prstGeom>
        </p:spPr>
      </p:pic>
      <p:sp>
        <p:nvSpPr>
          <p:cNvPr id="3" name="Text 1"/>
          <p:cNvSpPr/>
          <p:nvPr/>
        </p:nvSpPr>
        <p:spPr>
          <a:xfrm>
            <a:off x="508000" y="2794000"/>
            <a:ext cx="4318000" cy="2540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14000" b="1" dirty="0">
                <a:solidFill>
                  <a:srgbClr val="B8860B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04</a:t>
            </a:r>
          </a:p>
        </p:txBody>
      </p:sp>
      <p:sp>
        <p:nvSpPr>
          <p:cNvPr id="4" name="Shape 2"/>
          <p:cNvSpPr/>
          <p:nvPr/>
        </p:nvSpPr>
        <p:spPr>
          <a:xfrm>
            <a:off x="508000" y="5588000"/>
            <a:ext cx="4064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5842000" y="3302000"/>
            <a:ext cx="10033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r>
              <a:rPr lang="en-US" sz="3800" b="1" dirty="0" err="1">
                <a:solidFill>
                  <a:srgbClr val="FFFFFF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下年度工作计划</a:t>
            </a:r>
            <a:endParaRPr lang="en-US" sz="3800" b="1" dirty="0">
              <a:solidFill>
                <a:srgbClr val="FFFFFF"/>
              </a:solidFill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5842000" y="4191000"/>
            <a:ext cx="10033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kern="0" spc="2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Work Plan for Next Year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842000" y="5079999"/>
            <a:ext cx="9906000" cy="2700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4.1　</a:t>
            </a:r>
            <a:r>
              <a:rPr lang="en-US" sz="16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经济社会发展目标</a:t>
            </a:r>
            <a:endParaRPr lang="en-US" sz="16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4.2　</a:t>
            </a:r>
            <a:r>
              <a:rPr lang="en-US" altLang="zh-CN" sz="1600" dirty="0" err="1">
                <a:solidFill>
                  <a:srgbClr val="FFFFFF">
                    <a:alpha val="80000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</a:rPr>
              <a:t>重点工作任务部署</a:t>
            </a:r>
            <a:endParaRPr lang="en-US" altLang="zh-CN" sz="16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  <a:p>
            <a:pPr>
              <a:lnSpc>
                <a:spcPct val="150000"/>
              </a:lnSpc>
            </a:pPr>
            <a:endParaRPr lang="en-US" sz="1600" dirty="0">
              <a:solidFill>
                <a:srgbClr val="FFFFFF">
                  <a:alpha val="80000"/>
                </a:srgbClr>
              </a:solidFill>
              <a:latin typeface="Source Han Serif SC" panose="02020400000000000000" pitchFamily="18" charset="-128"/>
              <a:ea typeface="Source Han Serif SC" panose="02020400000000000000" pitchFamily="18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42000" y="3149600"/>
            <a:ext cx="2540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5240000" y="8636000"/>
            <a:ext cx="63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11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256000" cy="558800"/>
          </a:xfrm>
          <a:prstGeom prst="rect">
            <a:avLst/>
          </a:prstGeom>
          <a:solidFill>
            <a:srgbClr val="6D0E0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01 年度工作回顾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5" name="Shape 3"/>
          <p:cNvSpPr/>
          <p:nvPr/>
        </p:nvSpPr>
        <p:spPr>
          <a:xfrm>
            <a:off x="4064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064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02 主要工作成效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7" name="Shape 5"/>
          <p:cNvSpPr/>
          <p:nvPr/>
        </p:nvSpPr>
        <p:spPr>
          <a:xfrm>
            <a:off x="8128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8128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>
                    <a:alpha val="80000"/>
                  </a:srgbClr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03 问题与挑战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2192000" y="76200"/>
            <a:ext cx="0" cy="406400"/>
          </a:xfrm>
          <a:prstGeom prst="straightConnector1">
            <a:avLst/>
          </a:prstGeom>
          <a:noFill/>
          <a:ln w="12700">
            <a:solidFill>
              <a:srgbClr val="FFFFFF">
                <a:alpha val="12549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2192000" y="0"/>
            <a:ext cx="4064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8B1A1A"/>
                </a:solidFill>
                <a:latin typeface="Source Han Serif SC SemiBold" panose="02020400000000000000" pitchFamily="18" charset="-128"/>
                <a:ea typeface="Source Han Serif SC SemiBold" panose="02020400000000000000" pitchFamily="18" charset="-128"/>
                <a:cs typeface="Quattrocento Sans" pitchFamily="34" charset="-120"/>
              </a:rPr>
              <a:t>04 下年度工作计划</a:t>
            </a:r>
            <a:endParaRPr lang="en-US" sz="1400" b="1" dirty="0">
              <a:latin typeface="Source Han Serif SC SemiBold" panose="02020400000000000000" pitchFamily="18" charset="-128"/>
              <a:ea typeface="Source Han Serif SC SemiBold" panose="02020400000000000000" pitchFamily="18" charset="-128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635000" y="787400"/>
            <a:ext cx="0" cy="457200"/>
          </a:xfrm>
          <a:prstGeom prst="straightConnector1">
            <a:avLst/>
          </a:prstGeom>
          <a:noFill/>
          <a:ln w="50800">
            <a:solidFill>
              <a:srgbClr val="8B1A1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863599" y="762000"/>
            <a:ext cx="14757391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800" b="1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Sans" pitchFamily="34" charset="-120"/>
              </a:rPr>
              <a:t>2026年工作目标与重点任务</a:t>
            </a:r>
            <a:endParaRPr lang="en-US" sz="2800" b="1" dirty="0"/>
          </a:p>
        </p:txBody>
      </p:sp>
      <p:sp>
        <p:nvSpPr>
          <p:cNvPr id="13" name="Shape 11"/>
          <p:cNvSpPr/>
          <p:nvPr/>
        </p:nvSpPr>
        <p:spPr>
          <a:xfrm>
            <a:off x="635000" y="1371600"/>
            <a:ext cx="14986000" cy="0"/>
          </a:xfrm>
          <a:prstGeom prst="straightConnector1">
            <a:avLst/>
          </a:prstGeom>
          <a:noFill/>
          <a:ln w="12700">
            <a:solidFill>
              <a:srgbClr val="B8860B">
                <a:alpha val="37647"/>
              </a:srgbClr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2"/>
          <p:cNvSpPr/>
          <p:nvPr/>
        </p:nvSpPr>
        <p:spPr>
          <a:xfrm>
            <a:off x="635000" y="1777999"/>
            <a:ext cx="7366000" cy="609600"/>
          </a:xfrm>
          <a:prstGeom prst="rect">
            <a:avLst/>
          </a:prstGeom>
          <a:solidFill>
            <a:srgbClr val="8B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35000" y="1777999"/>
            <a:ext cx="736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经济发展目标</a:t>
            </a:r>
            <a:endParaRPr lang="en-US" sz="1600" b="1" dirty="0"/>
          </a:p>
        </p:txBody>
      </p:sp>
      <p:sp>
        <p:nvSpPr>
          <p:cNvPr id="16" name="Shape 14"/>
          <p:cNvSpPr/>
          <p:nvPr/>
        </p:nvSpPr>
        <p:spPr>
          <a:xfrm>
            <a:off x="635000" y="2387599"/>
            <a:ext cx="7366000" cy="5334000"/>
          </a:xfrm>
          <a:prstGeom prst="rect">
            <a:avLst/>
          </a:prstGeom>
          <a:solidFill>
            <a:srgbClr val="FFF5F5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889000" y="2616199"/>
            <a:ext cx="685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地区生产总值增长6.5%左右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固定资产投资增长8%以上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社会消费品零售总额增长7%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规上工业增加值增长7%以上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高新技术产业产值占比提升至45%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引进亿元以上产业项目200个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实际到位资金900亿元以上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255000" y="1777999"/>
            <a:ext cx="7366000" cy="609600"/>
          </a:xfrm>
          <a:prstGeom prst="rect">
            <a:avLst/>
          </a:prstGeom>
          <a:solidFill>
            <a:srgbClr val="B8860B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255000" y="1777999"/>
            <a:ext cx="7366000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民生发展目标</a:t>
            </a:r>
            <a:endParaRPr lang="en-US" sz="1600" b="1" dirty="0"/>
          </a:p>
        </p:txBody>
      </p:sp>
      <p:sp>
        <p:nvSpPr>
          <p:cNvPr id="20" name="Shape 18"/>
          <p:cNvSpPr/>
          <p:nvPr/>
        </p:nvSpPr>
        <p:spPr>
          <a:xfrm>
            <a:off x="8255000" y="2387599"/>
            <a:ext cx="7366000" cy="5334000"/>
          </a:xfrm>
          <a:prstGeom prst="rect">
            <a:avLst/>
          </a:prstGeom>
          <a:solidFill>
            <a:srgbClr val="FFF8E6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8509000" y="2616199"/>
            <a:ext cx="6858000" cy="495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城镇居民收入增长5.5%以上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农村居民收入增长6%以上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新增城镇就业11万人以上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失业率控制在5.5%以内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新增学位3.5万个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老旧小区改造180个</a:t>
            </a:r>
            <a:endParaRPr lang="en-US" sz="1600" dirty="0"/>
          </a:p>
          <a:p>
            <a:pPr>
              <a:lnSpc>
                <a:spcPct val="200000"/>
              </a:lnSpc>
            </a:pPr>
            <a:r>
              <a:rPr lang="en-US" sz="1800" dirty="0">
                <a:solidFill>
                  <a:srgbClr val="2C2C2C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• 空气质量优良天数比率超82%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35000" y="7899398"/>
            <a:ext cx="14986000" cy="609593"/>
          </a:xfrm>
          <a:prstGeom prst="rect">
            <a:avLst/>
          </a:prstGeom>
          <a:solidFill>
            <a:srgbClr val="FFF5F5"/>
          </a:solidFill>
          <a:ln w="254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89000" y="8026408"/>
            <a:ext cx="14478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b="1" dirty="0" err="1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总体要求：坚持以人民为中心，锚定高质量发展目标，统筹发展与安全，推动经济实现质的有效提升和量的合理增长</a:t>
            </a:r>
            <a:r>
              <a:rPr lang="en-US" sz="20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</a:rPr>
              <a:t>。</a:t>
            </a:r>
          </a:p>
        </p:txBody>
      </p:sp>
      <p:sp>
        <p:nvSpPr>
          <p:cNvPr id="24" name="Shape 22"/>
          <p:cNvSpPr/>
          <p:nvPr/>
        </p:nvSpPr>
        <p:spPr>
          <a:xfrm>
            <a:off x="0" y="8966200"/>
            <a:ext cx="16256000" cy="0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8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图片 16">
            <a:extLst>
              <a:ext uri="{FF2B5EF4-FFF2-40B4-BE49-F238E27FC236}">
                <a16:creationId xmlns:a16="http://schemas.microsoft.com/office/drawing/2014/main" id="{033117B8-A89A-AD71-6DEE-6D9934FC1EF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b="44976"/>
          <a:stretch>
            <a:fillRect/>
          </a:stretch>
        </p:blipFill>
        <p:spPr>
          <a:xfrm>
            <a:off x="0" y="3200400"/>
            <a:ext cx="16256000" cy="5960081"/>
          </a:xfrm>
          <a:prstGeom prst="rect">
            <a:avLst/>
          </a:prstGeom>
        </p:spPr>
      </p:pic>
      <p:sp>
        <p:nvSpPr>
          <p:cNvPr id="18" name="Text 18">
            <a:extLst>
              <a:ext uri="{FF2B5EF4-FFF2-40B4-BE49-F238E27FC236}">
                <a16:creationId xmlns:a16="http://schemas.microsoft.com/office/drawing/2014/main" id="{59468A3E-24CB-C2BA-0097-15B63B994AA1}"/>
              </a:ext>
            </a:extLst>
          </p:cNvPr>
          <p:cNvSpPr/>
          <p:nvPr/>
        </p:nvSpPr>
        <p:spPr>
          <a:xfrm>
            <a:off x="10444813" y="8432799"/>
            <a:ext cx="5461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400" dirty="0">
                <a:solidFill>
                  <a:srgbClr val="B8860B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为人民服务 · 对人民负责</a:t>
            </a:r>
            <a:endParaRPr lang="en-US" sz="1600" dirty="0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6256000" cy="3200400"/>
          </a:xfrm>
          <a:prstGeom prst="rect">
            <a:avLst/>
          </a:prstGeom>
          <a:gradFill flip="none" rotWithShape="1">
            <a:gsLst>
              <a:gs pos="0">
                <a:srgbClr val="5A0A0A"/>
              </a:gs>
              <a:gs pos="50000">
                <a:srgbClr val="8B1A1A"/>
              </a:gs>
              <a:gs pos="100000">
                <a:srgbClr val="A52020"/>
              </a:gs>
            </a:gsLst>
            <a:lin ang="10800000" scaled="1"/>
          </a:gra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1015999" y="762000"/>
            <a:ext cx="14889813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6000" b="1" dirty="0">
                <a:solidFill>
                  <a:srgbClr val="FFFFFF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感谢聆听</a:t>
            </a:r>
            <a:endParaRPr lang="en-US" sz="1600" b="1" dirty="0"/>
          </a:p>
        </p:txBody>
      </p:sp>
      <p:sp>
        <p:nvSpPr>
          <p:cNvPr id="4" name="Text 2"/>
          <p:cNvSpPr/>
          <p:nvPr/>
        </p:nvSpPr>
        <p:spPr>
          <a:xfrm>
            <a:off x="1016000" y="1930400"/>
            <a:ext cx="14889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kern="0" spc="400" dirty="0">
                <a:solidFill>
                  <a:srgbClr val="FFFFFF">
                    <a:alpha val="66667"/>
                  </a:srgbClr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THANK YOU FOR YOUR ATTENTION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flipV="1">
            <a:off x="1015999" y="3378199"/>
            <a:ext cx="7111999" cy="1"/>
          </a:xfrm>
          <a:prstGeom prst="straightConnector1">
            <a:avLst/>
          </a:prstGeom>
          <a:noFill/>
          <a:ln w="254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1016000" y="3606800"/>
            <a:ext cx="7112000" cy="1778000"/>
          </a:xfrm>
          <a:prstGeom prst="rect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270000" y="3810000"/>
            <a:ext cx="152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dirty="0">
                <a:solidFill>
                  <a:srgbClr val="999999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报告单位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70000" y="4089400"/>
            <a:ext cx="660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dirty="0">
                <a:solidFill>
                  <a:srgbClr val="8B1A1A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某市人民政府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70000" y="4546600"/>
            <a:ext cx="6604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555555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2025年度政府工作报告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70000" y="4953000"/>
            <a:ext cx="381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888888"/>
                </a:solidFill>
                <a:latin typeface="Source Han Serif SC" panose="02020400000000000000" pitchFamily="18" charset="-128"/>
                <a:ea typeface="Source Han Serif SC" panose="02020400000000000000" pitchFamily="18" charset="-128"/>
                <a:cs typeface="Quattrocento Sans" pitchFamily="34" charset="-120"/>
              </a:rPr>
              <a:t>2026年1月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16000" y="5715000"/>
            <a:ext cx="14889812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00" b="1" dirty="0">
                <a:solidFill>
                  <a:srgbClr val="8B1A1A"/>
                </a:solidFill>
                <a:latin typeface="Source Han Serif SC Heavy" panose="02020400000000000000" pitchFamily="18" charset="-128"/>
                <a:ea typeface="Source Han Serif SC Heavy" panose="02020400000000000000" pitchFamily="18" charset="-128"/>
                <a:cs typeface="Quattrocento Sans" pitchFamily="34" charset="-120"/>
              </a:rPr>
              <a:t>敬请各位代表审议</a:t>
            </a:r>
            <a:endParaRPr lang="en-US" sz="1600" b="1" dirty="0">
              <a:latin typeface="Source Han Serif SC Heavy" panose="02020400000000000000" pitchFamily="18" charset="-128"/>
              <a:ea typeface="Source Han Serif SC Heavy" panose="02020400000000000000" pitchFamily="18" charset="-128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0" y="8890000"/>
            <a:ext cx="16256000" cy="0"/>
          </a:xfrm>
          <a:prstGeom prst="straightConnector1">
            <a:avLst/>
          </a:prstGeom>
          <a:noFill/>
          <a:ln w="38100">
            <a:solidFill>
              <a:srgbClr val="B8860B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604</Words>
  <Application>Microsoft Macintosh PowerPoint</Application>
  <PresentationFormat>自定义</PresentationFormat>
  <Paragraphs>169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18" baseType="lpstr">
      <vt:lpstr>Source Han Serif SC</vt:lpstr>
      <vt:lpstr>Source Han Serif SC Heavy</vt:lpstr>
      <vt:lpstr>Source Han Serif SC SemiBold</vt:lpstr>
      <vt:lpstr>Arial</vt:lpstr>
      <vt:lpstr>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2025年度政府工作报告</dc:title>
  <dc:subject>2025年度政府工作报告</dc:subject>
  <dc:creator>Kimi</dc:creator>
  <cp:lastModifiedBy>T209833</cp:lastModifiedBy>
  <cp:revision>8</cp:revision>
  <dcterms:created xsi:type="dcterms:W3CDTF">2026-06-02T02:29:34Z</dcterms:created>
  <dcterms:modified xsi:type="dcterms:W3CDTF">2026-06-10T02:48:03Z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2025年度政府工作报告","ContentProducer":"001191110108MACG2KBH8F10000","ProduceID":"19e86292-e692-81fd-8000-00005eba87b2","ReservedCode1":"","ContentPropagator":"001191110108MACG2KBH8F20000","PropagateID":"19e86292-e692-81fd-8000-00005eba87b2","ReservedCode2":""}</vt:lpwstr>
  </property>
</Properties>
</file>