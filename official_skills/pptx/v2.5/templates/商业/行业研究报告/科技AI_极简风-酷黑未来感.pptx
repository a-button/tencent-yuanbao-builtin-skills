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93" d="100"/>
          <a:sy n="93" d="100"/>
        </p:scale>
        <p:origin x="656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B17F-3B44-8945-AAA9602373DF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B17F-3B44-8945-AAA9602373DF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B17F-3B44-8945-AAA9602373DF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B17F-3B44-8945-AAA9602373DF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17F-3B44-8945-AAA9602373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</c:plotArea>
    <c:plotVisOnly val="1"/>
    <c:dispBlanksAs val="zero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>
            <a:extLst>
              <a:ext uri="{FF2B5EF4-FFF2-40B4-BE49-F238E27FC236}">
                <a16:creationId xmlns:a16="http://schemas.microsoft.com/office/drawing/2014/main" id="{FABFD9D8-74B5-2F2F-AAF0-DF5E165B438A}"/>
              </a:ext>
            </a:extLst>
          </p:cNvPr>
          <p:cNvSpPr>
            <a:spLocks noGrp="1"/>
          </p:cNvSpPr>
          <p:nvPr/>
        </p:nvSpPr>
        <p:spPr>
          <a:xfrm>
            <a:off x="6034168" y="4406454"/>
            <a:ext cx="2609140" cy="1405629"/>
          </a:xfrm>
          <a:prstGeom prst="roundRect">
            <a:avLst>
              <a:gd name="adj" fmla="val 21607"/>
            </a:avLst>
          </a:prstGeom>
          <a:gradFill>
            <a:gsLst>
              <a:gs pos="0">
                <a:srgbClr val="DDE7FF"/>
              </a:gs>
              <a:gs pos="100000">
                <a:srgbClr val="8F9BFF"/>
              </a:gs>
            </a:gsLst>
            <a:lin ang="132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8F8603FC-BE5F-33A8-2B4A-7F0A1A2AEBD2}"/>
              </a:ext>
            </a:extLst>
          </p:cNvPr>
          <p:cNvSpPr>
            <a:spLocks noGrp="1"/>
          </p:cNvSpPr>
          <p:nvPr/>
        </p:nvSpPr>
        <p:spPr>
          <a:xfrm>
            <a:off x="8847209" y="5390948"/>
            <a:ext cx="2609683" cy="2148765"/>
          </a:xfrm>
          <a:prstGeom prst="roundRect">
            <a:avLst>
              <a:gd name="adj" fmla="val 19183"/>
            </a:avLst>
          </a:prstGeom>
          <a:gradFill>
            <a:gsLst>
              <a:gs pos="0">
                <a:srgbClr val="111111"/>
              </a:gs>
              <a:gs pos="100000">
                <a:srgbClr val="333333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920D182B-435A-E29B-95A4-D0007088A46F}"/>
              </a:ext>
            </a:extLst>
          </p:cNvPr>
          <p:cNvSpPr>
            <a:spLocks noGrp="1"/>
          </p:cNvSpPr>
          <p:nvPr/>
        </p:nvSpPr>
        <p:spPr>
          <a:xfrm>
            <a:off x="6048403" y="-963106"/>
            <a:ext cx="2609684" cy="2623986"/>
          </a:xfrm>
          <a:prstGeom prst="roundRect">
            <a:avLst>
              <a:gd name="adj" fmla="val 14982"/>
            </a:avLst>
          </a:prstGeom>
          <a:gradFill>
            <a:gsLst>
              <a:gs pos="0">
                <a:srgbClr val="2B2B2F"/>
              </a:gs>
              <a:gs pos="100000">
                <a:srgbClr val="74747A"/>
              </a:gs>
            </a:gsLst>
            <a:lin ang="132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67841C05-1C7E-8A4B-7039-FBD841EA1D29}"/>
              </a:ext>
            </a:extLst>
          </p:cNvPr>
          <p:cNvSpPr>
            <a:spLocks noGrp="1"/>
          </p:cNvSpPr>
          <p:nvPr/>
        </p:nvSpPr>
        <p:spPr>
          <a:xfrm>
            <a:off x="6048402" y="1837765"/>
            <a:ext cx="2594906" cy="2391583"/>
          </a:xfrm>
          <a:prstGeom prst="roundRect">
            <a:avLst>
              <a:gd name="adj" fmla="val 15896"/>
            </a:avLst>
          </a:prstGeom>
          <a:blipFill>
            <a:blip r:embed="rId3"/>
            <a:srcRect/>
            <a:stretch>
              <a:fillRect t="-5477" b="-70017"/>
            </a:stretch>
          </a:blip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4714A72A-D229-D356-5848-076141EE1850}"/>
              </a:ext>
            </a:extLst>
          </p:cNvPr>
          <p:cNvSpPr>
            <a:spLocks noGrp="1"/>
          </p:cNvSpPr>
          <p:nvPr/>
        </p:nvSpPr>
        <p:spPr>
          <a:xfrm>
            <a:off x="8847212" y="2632063"/>
            <a:ext cx="2609682" cy="2567450"/>
          </a:xfrm>
          <a:prstGeom prst="roundRect">
            <a:avLst>
              <a:gd name="adj" fmla="val 15244"/>
            </a:avLst>
          </a:prstGeom>
          <a:blipFill>
            <a:blip r:embed="rId4"/>
            <a:srcRect/>
            <a:stretch>
              <a:fillRect t="-65126" b="-38164"/>
            </a:stretch>
          </a:blip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A0E373B2-7007-CAA9-1ED4-24E150D66FF8}"/>
              </a:ext>
            </a:extLst>
          </p:cNvPr>
          <p:cNvSpPr>
            <a:spLocks noGrp="1"/>
          </p:cNvSpPr>
          <p:nvPr/>
        </p:nvSpPr>
        <p:spPr>
          <a:xfrm>
            <a:off x="8847210" y="913941"/>
            <a:ext cx="2609684" cy="1540685"/>
          </a:xfrm>
          <a:prstGeom prst="roundRect">
            <a:avLst>
              <a:gd name="adj" fmla="val 24181"/>
            </a:avLst>
          </a:prstGeom>
          <a:gradFill>
            <a:gsLst>
              <a:gs pos="0">
                <a:srgbClr val="DBEAFE"/>
              </a:gs>
              <a:gs pos="100000">
                <a:srgbClr val="EEF2FF"/>
              </a:gs>
            </a:gsLst>
            <a:lin ang="90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C38FDD-9B43-A138-3D56-D87269660FEB}"/>
              </a:ext>
            </a:extLst>
          </p:cNvPr>
          <p:cNvSpPr>
            <a:spLocks noGrp="1"/>
          </p:cNvSpPr>
          <p:nvPr/>
        </p:nvSpPr>
        <p:spPr>
          <a:xfrm>
            <a:off x="9075810" y="2129459"/>
            <a:ext cx="2140180" cy="12695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b">
            <a:spAutoFit/>
          </a:bodyPr>
          <a:lstStyle/>
          <a:p>
            <a:pPr algn="l">
              <a:buNone/>
              <a:defRPr sz="825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800">
                <a:solidFill>
                  <a:srgbClr val="6E6E73"/>
                </a:solidFill>
                <a:latin typeface="MISANS VF MEDIUM"/>
                <a:ea typeface="MISANS VF MEDIUM"/>
                <a:cs typeface="MISANS VF MEDIUM"/>
              </a:rPr>
              <a:t>硬件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9A0F2BA-4E17-CC4E-C549-94D51289716F}"/>
              </a:ext>
            </a:extLst>
          </p:cNvPr>
          <p:cNvSpPr>
            <a:spLocks noGrp="1"/>
          </p:cNvSpPr>
          <p:nvPr/>
        </p:nvSpPr>
        <p:spPr>
          <a:xfrm>
            <a:off x="9075809" y="7188040"/>
            <a:ext cx="2140181" cy="12695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b">
            <a:spAutoFit/>
          </a:bodyPr>
          <a:lstStyle/>
          <a:p>
            <a:pPr algn="l">
              <a:buNone/>
              <a:defRPr sz="825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800">
                <a:solidFill>
                  <a:schemeClr val="bg1"/>
                </a:solidFill>
                <a:latin typeface="MISANS VF MEDIUM"/>
                <a:ea typeface="MISANS VF MEDIUM"/>
                <a:cs typeface="MISANS VF MEDIUM"/>
              </a:rPr>
              <a:t>边缘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7EF0DF2-08A2-4381-DFEB-4986CD7A022C}"/>
              </a:ext>
            </a:extLst>
          </p:cNvPr>
          <p:cNvSpPr>
            <a:spLocks noGrp="1"/>
          </p:cNvSpPr>
          <p:nvPr/>
        </p:nvSpPr>
        <p:spPr>
          <a:xfrm>
            <a:off x="6248427" y="1288236"/>
            <a:ext cx="2192973" cy="12311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b">
            <a:spAutoFit/>
          </a:bodyPr>
          <a:lstStyle/>
          <a:p>
            <a:pPr>
              <a:buNone/>
              <a:defRPr sz="825" b="0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800">
                <a:solidFill>
                  <a:srgbClr val="FFFFFF"/>
                </a:solidFill>
                <a:latin typeface="MISANS VF MEDIUM"/>
                <a:ea typeface="MISANS VF MEDIUM"/>
                <a:cs typeface="MISANS VF MEDIUM"/>
              </a:rPr>
              <a:t>芯片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9C753A4-B8F6-6EAA-F666-61CF2B44EF5B}"/>
              </a:ext>
            </a:extLst>
          </p:cNvPr>
          <p:cNvSpPr>
            <a:spLocks noGrp="1"/>
          </p:cNvSpPr>
          <p:nvPr/>
        </p:nvSpPr>
        <p:spPr>
          <a:xfrm>
            <a:off x="6248428" y="5460230"/>
            <a:ext cx="2192972" cy="12695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b">
            <a:spAutoFit/>
          </a:bodyPr>
          <a:lstStyle/>
          <a:p>
            <a:pPr algn="l">
              <a:buNone/>
              <a:defRPr sz="825" b="0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800">
                <a:solidFill>
                  <a:srgbClr val="6E6E73"/>
                </a:solidFill>
                <a:latin typeface="MISANS VF MEDIUM"/>
                <a:ea typeface="MISANS VF MEDIUM"/>
                <a:cs typeface="MISANS VF MEDIUM"/>
              </a:rPr>
              <a:t>系统</a:t>
            </a:r>
          </a:p>
        </p:txBody>
      </p:sp>
      <p:sp>
        <p:nvSpPr>
          <p:cNvPr id="34" name="AutoShape 2">
            <a:extLst>
              <a:ext uri="{FF2B5EF4-FFF2-40B4-BE49-F238E27FC236}">
                <a16:creationId xmlns:a16="http://schemas.microsoft.com/office/drawing/2014/main" id="{4672D6DD-C7D4-7EC0-AD38-133CD442A6ED}"/>
              </a:ext>
            </a:extLst>
          </p:cNvPr>
          <p:cNvSpPr>
            <a:spLocks noGrp="1"/>
          </p:cNvSpPr>
          <p:nvPr/>
        </p:nvSpPr>
        <p:spPr>
          <a:xfrm>
            <a:off x="524797" y="385358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sz="800" dirty="0">
                <a:solidFill>
                  <a:schemeClr val="bg1">
                    <a:alpha val="50000"/>
                  </a:schemeClr>
                </a:solidFill>
                <a:latin typeface="MiSans VF Light"/>
                <a:ea typeface="MiSans VF Light"/>
                <a:cs typeface="MiSans VF Light"/>
              </a:rPr>
              <a:t>Intelligent Hardware System </a:t>
            </a:r>
            <a:endParaRPr sz="800" dirty="0">
              <a:solidFill>
                <a:schemeClr val="bg1">
                  <a:alpha val="50000"/>
                </a:schemeClr>
              </a:solidFill>
              <a:latin typeface="MiSans VF Light"/>
              <a:ea typeface="MiSans VF Light"/>
              <a:cs typeface="MiSans VF Light"/>
            </a:endParaRPr>
          </a:p>
        </p:txBody>
      </p:sp>
      <p:sp>
        <p:nvSpPr>
          <p:cNvPr id="37" name="AutoShape 2">
            <a:extLst>
              <a:ext uri="{FF2B5EF4-FFF2-40B4-BE49-F238E27FC236}">
                <a16:creationId xmlns:a16="http://schemas.microsoft.com/office/drawing/2014/main" id="{3E7E60BC-024C-A056-EDFD-8280E2A2AE4A}"/>
              </a:ext>
            </a:extLst>
          </p:cNvPr>
          <p:cNvSpPr>
            <a:spLocks noGrp="1"/>
          </p:cNvSpPr>
          <p:nvPr/>
        </p:nvSpPr>
        <p:spPr>
          <a:xfrm>
            <a:off x="524797" y="6295670"/>
            <a:ext cx="3077046" cy="152400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sz="800">
                <a:solidFill>
                  <a:schemeClr val="bg1">
                    <a:alpha val="50000"/>
                  </a:schemeClr>
                </a:solidFill>
                <a:latin typeface="MiSans VF Light"/>
                <a:ea typeface="MiSans VF Light"/>
                <a:cs typeface="MiSans VF Light"/>
              </a:rPr>
              <a:t>硬件平台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428CCD-2D0D-E17D-953C-A44E66274736}"/>
              </a:ext>
            </a:extLst>
          </p:cNvPr>
          <p:cNvSpPr>
            <a:spLocks noGrp="1"/>
          </p:cNvSpPr>
          <p:nvPr/>
        </p:nvSpPr>
        <p:spPr>
          <a:xfrm>
            <a:off x="524797" y="1033285"/>
            <a:ext cx="5015391" cy="246221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400"/>
              </a:lnSpc>
              <a:buNone/>
              <a:defRPr sz="42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6000" dirty="0" err="1">
                <a:solidFill>
                  <a:srgbClr val="FFFFFF"/>
                </a:solidFill>
                <a:latin typeface="MiSans VF Semibold"/>
                <a:ea typeface="MiSans VF Semibold"/>
                <a:cs typeface="MiSans VF Semibold"/>
              </a:rPr>
              <a:t>端侧智能硬件</a:t>
            </a:r>
            <a:endParaRPr sz="6000" dirty="0">
              <a:solidFill>
                <a:srgbClr val="FFFFFF"/>
              </a:solidFill>
              <a:latin typeface="MiSans VF Semibold"/>
              <a:ea typeface="MiSans VF Semibold"/>
              <a:cs typeface="MiSans VF Semibold"/>
            </a:endParaRPr>
          </a:p>
          <a:p>
            <a:pPr algn="l">
              <a:lnSpc>
                <a:spcPts val="6400"/>
              </a:lnSpc>
              <a:buNone/>
              <a:defRPr sz="42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6000" dirty="0" err="1">
                <a:solidFill>
                  <a:srgbClr val="FFFFFF"/>
                </a:solidFill>
                <a:latin typeface="MiSans VF Semibold"/>
                <a:ea typeface="MiSans VF Semibold"/>
                <a:cs typeface="MiSans VF Semibold"/>
              </a:rPr>
              <a:t>系统报告</a:t>
            </a:r>
            <a:endParaRPr sz="6000" dirty="0">
              <a:solidFill>
                <a:srgbClr val="FFFFFF"/>
              </a:solidFill>
              <a:latin typeface="MiSans VF Semibold"/>
              <a:ea typeface="MiSans VF Semibold"/>
              <a:cs typeface="MiSans VF Semibold"/>
            </a:endParaRPr>
          </a:p>
          <a:p>
            <a:pPr algn="l">
              <a:lnSpc>
                <a:spcPts val="6400"/>
              </a:lnSpc>
              <a:buNone/>
              <a:defRPr sz="42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6000" dirty="0">
                <a:solidFill>
                  <a:srgbClr val="FFFFFF"/>
                </a:solidFill>
                <a:latin typeface="MiSans VF Semibold"/>
                <a:ea typeface="MiSans VF Semibold"/>
                <a:cs typeface="MiSans VF Semibold"/>
              </a:rPr>
              <a:t>2026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46513E-0882-03D9-3313-5DF7A7152C97}"/>
              </a:ext>
            </a:extLst>
          </p:cNvPr>
          <p:cNvSpPr>
            <a:spLocks noGrp="1"/>
          </p:cNvSpPr>
          <p:nvPr/>
        </p:nvSpPr>
        <p:spPr>
          <a:xfrm>
            <a:off x="524796" y="3628623"/>
            <a:ext cx="5015391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425" b="0">
                <a:solidFill>
                  <a:srgbClr val="BDBDC2"/>
                </a:solidFill>
                <a:latin typeface="MiSans"/>
                <a:ea typeface="MiSans"/>
                <a:cs typeface="MiSans"/>
              </a:defRPr>
            </a:pPr>
            <a:r>
              <a:rPr lang="en-US" sz="1400" dirty="0">
                <a:solidFill>
                  <a:srgbClr val="BDBDC2"/>
                </a:solidFill>
                <a:latin typeface="MiSans VF Light"/>
                <a:ea typeface="MiSans VF Light"/>
                <a:cs typeface="MiSans VF Light"/>
              </a:rPr>
              <a:t>Edge-side Intelligent Hardware System Report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3135621-970A-108C-65C3-5E7BAA842A37}"/>
              </a:ext>
            </a:extLst>
          </p:cNvPr>
          <p:cNvSpPr>
            <a:spLocks noGrp="1"/>
          </p:cNvSpPr>
          <p:nvPr/>
        </p:nvSpPr>
        <p:spPr>
          <a:xfrm>
            <a:off x="524797" y="6233108"/>
            <a:ext cx="900113" cy="2667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buNone/>
            </a:pPr>
            <a:r>
              <a:rPr sz="1000" b="1">
                <a:latin typeface="MiSans VF Bold"/>
                <a:ea typeface="MiSans VF Bold"/>
                <a:cs typeface="MiSans VF Bold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368366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93361C9-858C-4059-9571-8559C01F4A3F}"/>
              </a:ext>
            </a:extLst>
          </p:cNvPr>
          <p:cNvSpPr>
            <a:spLocks noGrp="1"/>
          </p:cNvSpPr>
          <p:nvPr/>
        </p:nvSpPr>
        <p:spPr>
          <a:xfrm>
            <a:off x="524796" y="1761067"/>
            <a:ext cx="1605781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D1D1F"/>
                </a:solidFill>
                <a:latin typeface="MiSans"/>
                <a:ea typeface="MiSans"/>
                <a:cs typeface="MiSans"/>
              </a:defRPr>
            </a:pPr>
            <a:r>
              <a:rPr sz="1400" dirty="0" err="1">
                <a:solidFill>
                  <a:srgbClr val="1D1D1F"/>
                </a:solidFill>
                <a:latin typeface="MiSans VF Semibold"/>
                <a:ea typeface="MiSans VF Semibold"/>
                <a:cs typeface="MiSans VF Semibold"/>
              </a:rPr>
              <a:t>行业信号</a:t>
            </a:r>
            <a:endParaRPr sz="1400" dirty="0">
              <a:solidFill>
                <a:srgbClr val="1D1D1F"/>
              </a:solidFill>
              <a:latin typeface="MiSans VF Semibold"/>
              <a:ea typeface="MiSans VF Semibold"/>
              <a:cs typeface="MiSans VF Semibold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1A6E90-E721-4484-881C-31E0378F3DB5}"/>
              </a:ext>
            </a:extLst>
          </p:cNvPr>
          <p:cNvSpPr>
            <a:spLocks noGrp="1"/>
          </p:cNvSpPr>
          <p:nvPr/>
        </p:nvSpPr>
        <p:spPr>
          <a:xfrm>
            <a:off x="524797" y="2123017"/>
            <a:ext cx="1605782" cy="66749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端侧AI</a:t>
            </a:r>
            <a:endParaRPr lang="en-US" sz="1000" dirty="0">
              <a:solidFill>
                <a:srgbClr val="6E6E73"/>
              </a:solidFill>
              <a:latin typeface="MiSans VF Light"/>
              <a:ea typeface="MiSans VF Light"/>
              <a:cs typeface="MiSans VF Light"/>
            </a:endParaRPr>
          </a:p>
          <a:p>
            <a:pPr algn="l">
              <a:lnSpc>
                <a:spcPct val="150000"/>
              </a:lnSpc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传感融合</a:t>
            </a:r>
            <a:r>
              <a:rPr sz="1000" dirty="0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 </a:t>
            </a:r>
            <a:endParaRPr lang="en-US" sz="1000" dirty="0">
              <a:solidFill>
                <a:srgbClr val="6E6E73"/>
              </a:solidFill>
              <a:latin typeface="MiSans VF Light"/>
              <a:ea typeface="MiSans VF Light"/>
              <a:cs typeface="MiSans VF Light"/>
            </a:endParaRPr>
          </a:p>
          <a:p>
            <a:pPr algn="l">
              <a:lnSpc>
                <a:spcPct val="150000"/>
              </a:lnSpc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算力下沉</a:t>
            </a:r>
            <a:endParaRPr sz="1000" dirty="0">
              <a:solidFill>
                <a:srgbClr val="6E6E73"/>
              </a:solidFill>
              <a:latin typeface="MiSans VF Light"/>
              <a:ea typeface="MiSans VF Light"/>
              <a:cs typeface="MiSans VF Light"/>
            </a:endParaRP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D1387C73-B733-4C99-B81F-5587AF0077C8}"/>
              </a:ext>
            </a:extLst>
          </p:cNvPr>
          <p:cNvSpPr>
            <a:spLocks noGrp="1"/>
          </p:cNvSpPr>
          <p:nvPr/>
        </p:nvSpPr>
        <p:spPr>
          <a:xfrm>
            <a:off x="7658100" y="870613"/>
            <a:ext cx="4075184" cy="5402239"/>
          </a:xfrm>
          <a:prstGeom prst="roundRect">
            <a:avLst>
              <a:gd name="adj" fmla="val 9085"/>
            </a:avLst>
          </a:prstGeom>
          <a:blipFill>
            <a:blip r:embed="rId3"/>
            <a:srcRect/>
            <a:stretch>
              <a:fillRect t="-6362" b="-27724"/>
            </a:stretch>
          </a:blip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C73478-6227-4E9B-9940-8F32E560BEB8}"/>
              </a:ext>
            </a:extLst>
          </p:cNvPr>
          <p:cNvSpPr>
            <a:spLocks noGrp="1"/>
          </p:cNvSpPr>
          <p:nvPr/>
        </p:nvSpPr>
        <p:spPr>
          <a:xfrm>
            <a:off x="7943850" y="5860429"/>
            <a:ext cx="3105150" cy="12695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b">
            <a:spAutoFit/>
          </a:bodyPr>
          <a:lstStyle/>
          <a:p>
            <a:pPr algn="l">
              <a:buNone/>
              <a:defRPr sz="825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800" b="0">
                <a:solidFill>
                  <a:schemeClr val="bg1"/>
                </a:solidFill>
                <a:latin typeface="MiSans"/>
                <a:ea typeface="MiSans"/>
                <a:cs typeface="MiSans"/>
              </a:rPr>
              <a:t>保留原始视觉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70AEDE-9678-C6F6-F779-FF72C5DAD3B2}"/>
              </a:ext>
            </a:extLst>
          </p:cNvPr>
          <p:cNvSpPr>
            <a:spLocks noGrp="1"/>
          </p:cNvSpPr>
          <p:nvPr/>
        </p:nvSpPr>
        <p:spPr>
          <a:xfrm>
            <a:off x="524797" y="886174"/>
            <a:ext cx="4907815" cy="6155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lang="en-US" sz="4000" dirty="0">
                <a:solidFill>
                  <a:srgbClr val="050505"/>
                </a:solidFill>
                <a:latin typeface="MiSans VF Semibold"/>
                <a:ea typeface="MiSans VF Semibold"/>
                <a:cs typeface="MiSans VF Semibold"/>
              </a:rPr>
              <a:t>Contents</a:t>
            </a:r>
            <a:r>
              <a:rPr lang="en-US" altLang="zh-CN" sz="4000" dirty="0">
                <a:solidFill>
                  <a:srgbClr val="050505"/>
                </a:solidFill>
                <a:latin typeface="MiSans VF Semibold"/>
                <a:ea typeface="MiSans VF Semibold"/>
                <a:cs typeface="MiSans VF Semibold"/>
              </a:rPr>
              <a:t>·</a:t>
            </a:r>
            <a:r>
              <a:rPr lang="zh-CN" altLang="en-US" sz="4000" dirty="0">
                <a:solidFill>
                  <a:srgbClr val="050505"/>
                </a:solidFill>
                <a:latin typeface="MiSans VF Semibold"/>
                <a:ea typeface="MiSans VF Semibold"/>
                <a:cs typeface="MiSans VF Semibold"/>
              </a:rPr>
              <a:t>目录</a:t>
            </a:r>
            <a:endParaRPr sz="4000" dirty="0">
              <a:solidFill>
                <a:srgbClr val="050505"/>
              </a:solidFill>
              <a:latin typeface="MiSans VF Semibold"/>
              <a:ea typeface="MiSans VF Semibold"/>
              <a:cs typeface="MiSans VF Semibold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F1DBEB2-1012-629E-D07D-59CEC9509B81}"/>
              </a:ext>
            </a:extLst>
          </p:cNvPr>
          <p:cNvSpPr>
            <a:spLocks noGrp="1"/>
          </p:cNvSpPr>
          <p:nvPr/>
        </p:nvSpPr>
        <p:spPr>
          <a:xfrm>
            <a:off x="2516365" y="1761067"/>
            <a:ext cx="1605781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buNone/>
              <a:defRPr sz="975" b="1">
                <a:solidFill>
                  <a:srgbClr val="1D1D1F"/>
                </a:solidFill>
                <a:latin typeface="MiSans"/>
                <a:ea typeface="MiSans"/>
                <a:cs typeface="MiSans"/>
              </a:defRPr>
            </a:pPr>
            <a:r>
              <a:rPr sz="1400" dirty="0" err="1">
                <a:solidFill>
                  <a:srgbClr val="1D1D1F"/>
                </a:solidFill>
                <a:latin typeface="MiSans VF Semibold"/>
                <a:ea typeface="MiSans VF Semibold"/>
                <a:cs typeface="MiSans VF Semibold"/>
              </a:rPr>
              <a:t>系统能力</a:t>
            </a:r>
            <a:endParaRPr sz="1400" dirty="0">
              <a:solidFill>
                <a:srgbClr val="1D1D1F"/>
              </a:solidFill>
              <a:latin typeface="MiSans VF Semibold"/>
              <a:ea typeface="MiSans VF Semibold"/>
              <a:cs typeface="MiSans VF Semibold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06655FC-25B0-81FA-8522-910898A57C2F}"/>
              </a:ext>
            </a:extLst>
          </p:cNvPr>
          <p:cNvSpPr>
            <a:spLocks noGrp="1"/>
          </p:cNvSpPr>
          <p:nvPr/>
        </p:nvSpPr>
        <p:spPr>
          <a:xfrm>
            <a:off x="2516366" y="2123017"/>
            <a:ext cx="1605782" cy="13599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芯片平台</a:t>
            </a:r>
            <a:r>
              <a:rPr sz="1000" dirty="0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 </a:t>
            </a:r>
            <a:endParaRPr lang="en-US" sz="1000" dirty="0">
              <a:solidFill>
                <a:srgbClr val="6E6E73"/>
              </a:solidFill>
              <a:latin typeface="MiSans VF Light"/>
              <a:ea typeface="MiSans VF Light"/>
              <a:cs typeface="MiSans VF Light"/>
            </a:endParaRPr>
          </a:p>
          <a:p>
            <a:pPr algn="l">
              <a:lnSpc>
                <a:spcPct val="150000"/>
              </a:lnSpc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低功耗推理</a:t>
            </a:r>
            <a:r>
              <a:rPr sz="1000" dirty="0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 </a:t>
            </a:r>
            <a:endParaRPr lang="en-US" sz="1000" dirty="0">
              <a:solidFill>
                <a:srgbClr val="6E6E73"/>
              </a:solidFill>
              <a:latin typeface="MiSans VF Light"/>
              <a:ea typeface="MiSans VF Light"/>
              <a:cs typeface="MiSans VF Light"/>
            </a:endParaRPr>
          </a:p>
          <a:p>
            <a:pPr algn="l">
              <a:lnSpc>
                <a:spcPct val="150000"/>
              </a:lnSpc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连接协议</a:t>
            </a:r>
            <a:r>
              <a:rPr sz="1000" dirty="0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 </a:t>
            </a:r>
            <a:endParaRPr lang="en-US" sz="1000" dirty="0">
              <a:solidFill>
                <a:srgbClr val="6E6E73"/>
              </a:solidFill>
              <a:latin typeface="MiSans VF Light"/>
              <a:ea typeface="MiSans VF Light"/>
              <a:cs typeface="MiSans VF Light"/>
            </a:endParaRPr>
          </a:p>
          <a:p>
            <a:pPr algn="l">
              <a:lnSpc>
                <a:spcPct val="150000"/>
              </a:lnSpc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结构设计</a:t>
            </a:r>
            <a:r>
              <a:rPr sz="1000" dirty="0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 </a:t>
            </a:r>
            <a:endParaRPr lang="en-US" sz="1000" dirty="0">
              <a:solidFill>
                <a:srgbClr val="6E6E73"/>
              </a:solidFill>
              <a:latin typeface="MiSans VF Light"/>
              <a:ea typeface="MiSans VF Light"/>
              <a:cs typeface="MiSans VF Light"/>
            </a:endParaRPr>
          </a:p>
          <a:p>
            <a:pPr algn="l">
              <a:lnSpc>
                <a:spcPct val="150000"/>
              </a:lnSpc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热管理</a:t>
            </a:r>
            <a:r>
              <a:rPr sz="1000" dirty="0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 </a:t>
            </a:r>
            <a:endParaRPr lang="en-US" sz="1000" dirty="0">
              <a:solidFill>
                <a:srgbClr val="6E6E73"/>
              </a:solidFill>
              <a:latin typeface="MiSans VF Light"/>
              <a:ea typeface="MiSans VF Light"/>
              <a:cs typeface="MiSans VF Light"/>
            </a:endParaRPr>
          </a:p>
          <a:p>
            <a:pPr algn="l">
              <a:lnSpc>
                <a:spcPct val="150000"/>
              </a:lnSpc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安全更新</a:t>
            </a:r>
            <a:endParaRPr sz="1000" dirty="0">
              <a:solidFill>
                <a:srgbClr val="6E6E73"/>
              </a:solidFill>
              <a:latin typeface="MiSans VF Light"/>
              <a:ea typeface="MiSans VF Light"/>
              <a:cs typeface="MiSans VF Light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F1AD5A2-696F-9430-8941-64F4BA53054B}"/>
              </a:ext>
            </a:extLst>
          </p:cNvPr>
          <p:cNvSpPr>
            <a:spLocks noGrp="1"/>
          </p:cNvSpPr>
          <p:nvPr/>
        </p:nvSpPr>
        <p:spPr>
          <a:xfrm>
            <a:off x="4507933" y="1761067"/>
            <a:ext cx="1605781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buNone/>
              <a:defRPr sz="975" b="1">
                <a:solidFill>
                  <a:srgbClr val="1D1D1F"/>
                </a:solidFill>
                <a:latin typeface="MiSans"/>
                <a:ea typeface="MiSans"/>
                <a:cs typeface="MiSans"/>
              </a:defRPr>
            </a:pPr>
            <a:r>
              <a:rPr sz="1400">
                <a:solidFill>
                  <a:srgbClr val="1D1D1F"/>
                </a:solidFill>
                <a:latin typeface="MiSans VF Semibold"/>
                <a:ea typeface="MiSans VF Semibold"/>
                <a:cs typeface="MiSans VF Semibold"/>
              </a:rPr>
              <a:t>附录视角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31F2F26-F7CC-92E8-129A-8785EE404527}"/>
              </a:ext>
            </a:extLst>
          </p:cNvPr>
          <p:cNvSpPr>
            <a:spLocks noGrp="1"/>
          </p:cNvSpPr>
          <p:nvPr/>
        </p:nvSpPr>
        <p:spPr>
          <a:xfrm>
            <a:off x="4507934" y="2123017"/>
            <a:ext cx="1605782" cy="11291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术语</a:t>
            </a:r>
            <a:r>
              <a:rPr sz="1000" dirty="0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 </a:t>
            </a:r>
            <a:endParaRPr lang="en-US" sz="1000" dirty="0">
              <a:solidFill>
                <a:srgbClr val="6E6E73"/>
              </a:solidFill>
              <a:latin typeface="MiSans VF Light"/>
              <a:ea typeface="MiSans VF Light"/>
              <a:cs typeface="MiSans VF Light"/>
            </a:endParaRPr>
          </a:p>
          <a:p>
            <a:pPr algn="l">
              <a:lnSpc>
                <a:spcPct val="150000"/>
              </a:lnSpc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来源</a:t>
            </a:r>
            <a:r>
              <a:rPr sz="1000" dirty="0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 </a:t>
            </a:r>
            <a:endParaRPr lang="en-US" sz="1000" dirty="0">
              <a:solidFill>
                <a:srgbClr val="6E6E73"/>
              </a:solidFill>
              <a:latin typeface="MiSans VF Light"/>
              <a:ea typeface="MiSans VF Light"/>
              <a:cs typeface="MiSans VF Light"/>
            </a:endParaRPr>
          </a:p>
          <a:p>
            <a:pPr algn="l">
              <a:lnSpc>
                <a:spcPct val="150000"/>
              </a:lnSpc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组件说明</a:t>
            </a:r>
            <a:r>
              <a:rPr sz="1000" dirty="0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 </a:t>
            </a:r>
            <a:endParaRPr lang="en-US" sz="1000" dirty="0">
              <a:solidFill>
                <a:srgbClr val="6E6E73"/>
              </a:solidFill>
              <a:latin typeface="MiSans VF Light"/>
              <a:ea typeface="MiSans VF Light"/>
              <a:cs typeface="MiSans VF Light"/>
            </a:endParaRPr>
          </a:p>
          <a:p>
            <a:pPr algn="l">
              <a:lnSpc>
                <a:spcPct val="150000"/>
              </a:lnSpc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风险边界</a:t>
            </a:r>
            <a:r>
              <a:rPr sz="1000" dirty="0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 </a:t>
            </a:r>
            <a:endParaRPr lang="en-US" sz="1000" dirty="0">
              <a:solidFill>
                <a:srgbClr val="6E6E73"/>
              </a:solidFill>
              <a:latin typeface="MiSans VF Light"/>
              <a:ea typeface="MiSans VF Light"/>
              <a:cs typeface="MiSans VF Light"/>
            </a:endParaRPr>
          </a:p>
          <a:p>
            <a:pPr algn="l">
              <a:lnSpc>
                <a:spcPct val="150000"/>
              </a:lnSpc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版本记录</a:t>
            </a:r>
            <a:endParaRPr sz="1000" dirty="0">
              <a:solidFill>
                <a:srgbClr val="6E6E73"/>
              </a:solidFill>
              <a:latin typeface="MiSans VF Light"/>
              <a:ea typeface="MiSans VF Light"/>
              <a:cs typeface="MiSans VF Light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5F60FB3-FF59-6CF0-BDC9-20C6EDD681AB}"/>
              </a:ext>
            </a:extLst>
          </p:cNvPr>
          <p:cNvSpPr>
            <a:spLocks noGrp="1"/>
          </p:cNvSpPr>
          <p:nvPr/>
        </p:nvSpPr>
        <p:spPr>
          <a:xfrm>
            <a:off x="524796" y="4010492"/>
            <a:ext cx="1605781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buNone/>
              <a:defRPr sz="975" b="1">
                <a:solidFill>
                  <a:srgbClr val="1D1D1F"/>
                </a:solidFill>
                <a:latin typeface="MiSans"/>
                <a:ea typeface="MiSans"/>
                <a:cs typeface="MiSans"/>
              </a:defRPr>
            </a:pPr>
            <a:r>
              <a:rPr sz="1400" dirty="0" err="1">
                <a:solidFill>
                  <a:srgbClr val="1D1D1F"/>
                </a:solidFill>
                <a:latin typeface="MiSans VF Semibold"/>
                <a:ea typeface="MiSans VF Semibold"/>
                <a:cs typeface="MiSans VF Semibold"/>
              </a:rPr>
              <a:t>数据</a:t>
            </a:r>
            <a:endParaRPr sz="1400" dirty="0">
              <a:solidFill>
                <a:srgbClr val="1D1D1F"/>
              </a:solidFill>
              <a:latin typeface="MiSans VF Semibold"/>
              <a:ea typeface="MiSans VF Semibold"/>
              <a:cs typeface="MiSans VF Semibold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D90EB29-E3D7-60A6-4CAE-A83B5629AB77}"/>
              </a:ext>
            </a:extLst>
          </p:cNvPr>
          <p:cNvSpPr>
            <a:spLocks noGrp="1"/>
          </p:cNvSpPr>
          <p:nvPr/>
        </p:nvSpPr>
        <p:spPr>
          <a:xfrm>
            <a:off x="524797" y="4372442"/>
            <a:ext cx="1605782" cy="89832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性能指标</a:t>
            </a:r>
            <a:r>
              <a:rPr sz="1000" dirty="0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 </a:t>
            </a:r>
            <a:endParaRPr lang="en-US" sz="1000" dirty="0">
              <a:solidFill>
                <a:srgbClr val="6E6E73"/>
              </a:solidFill>
              <a:latin typeface="MiSans VF Light"/>
              <a:ea typeface="MiSans VF Light"/>
              <a:cs typeface="MiSans VF Light"/>
            </a:endParaRPr>
          </a:p>
          <a:p>
            <a:pPr algn="l">
              <a:lnSpc>
                <a:spcPct val="150000"/>
              </a:lnSpc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量产路径</a:t>
            </a:r>
            <a:r>
              <a:rPr sz="1000" dirty="0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 </a:t>
            </a:r>
            <a:endParaRPr lang="en-US" sz="1000" dirty="0">
              <a:solidFill>
                <a:srgbClr val="6E6E73"/>
              </a:solidFill>
              <a:latin typeface="MiSans VF Light"/>
              <a:ea typeface="MiSans VF Light"/>
              <a:cs typeface="MiSans VF Light"/>
            </a:endParaRPr>
          </a:p>
          <a:p>
            <a:pPr algn="l">
              <a:lnSpc>
                <a:spcPct val="150000"/>
              </a:lnSpc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端云协同</a:t>
            </a:r>
            <a:r>
              <a:rPr sz="1000" dirty="0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 </a:t>
            </a:r>
            <a:endParaRPr lang="en-US" sz="1000" dirty="0">
              <a:solidFill>
                <a:srgbClr val="6E6E73"/>
              </a:solidFill>
              <a:latin typeface="MiSans VF Light"/>
              <a:ea typeface="MiSans VF Light"/>
              <a:cs typeface="MiSans VF Light"/>
            </a:endParaRPr>
          </a:p>
          <a:p>
            <a:pPr algn="l">
              <a:lnSpc>
                <a:spcPct val="150000"/>
              </a:lnSpc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6E6E73"/>
                </a:solidFill>
                <a:latin typeface="MiSans VF Light"/>
                <a:ea typeface="MiSans VF Light"/>
                <a:cs typeface="MiSans VF Light"/>
              </a:rPr>
              <a:t>成本结构</a:t>
            </a:r>
            <a:endParaRPr sz="1000" dirty="0">
              <a:solidFill>
                <a:srgbClr val="6E6E73"/>
              </a:solidFill>
              <a:latin typeface="MiSans VF Light"/>
              <a:ea typeface="MiSans VF Light"/>
              <a:cs typeface="MiSans VF Light"/>
            </a:endParaRPr>
          </a:p>
        </p:txBody>
      </p:sp>
      <p:sp>
        <p:nvSpPr>
          <p:cNvPr id="43" name="AutoShape 2">
            <a:extLst>
              <a:ext uri="{FF2B5EF4-FFF2-40B4-BE49-F238E27FC236}">
                <a16:creationId xmlns:a16="http://schemas.microsoft.com/office/drawing/2014/main" id="{ACF8971A-3F07-30D7-DD7D-EF52D070D8FC}"/>
              </a:ext>
            </a:extLst>
          </p:cNvPr>
          <p:cNvSpPr>
            <a:spLocks noGrp="1"/>
          </p:cNvSpPr>
          <p:nvPr/>
        </p:nvSpPr>
        <p:spPr>
          <a:xfrm>
            <a:off x="524797" y="6331065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800" dirty="0">
                <a:solidFill>
                  <a:srgbClr val="050505">
                    <a:alpha val="50000"/>
                  </a:srgbClr>
                </a:solidFill>
                <a:latin typeface="MiSans VF Light"/>
                <a:ea typeface="MiSans VF Light"/>
                <a:cs typeface="MiSans VF Light"/>
              </a:rPr>
              <a:t>YUANBAO</a:t>
            </a:r>
            <a:endParaRPr sz="800" dirty="0">
              <a:solidFill>
                <a:srgbClr val="050505">
                  <a:alpha val="50000"/>
                </a:srgbClr>
              </a:solidFill>
              <a:latin typeface="MiSans VF Light"/>
              <a:ea typeface="MiSans VF Light"/>
              <a:cs typeface="MiSans VF Light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7F98F11-0FA0-BD2F-CB34-988B6955D28E}"/>
              </a:ext>
            </a:extLst>
          </p:cNvPr>
          <p:cNvSpPr>
            <a:spLocks noGrp="1"/>
          </p:cNvSpPr>
          <p:nvPr/>
        </p:nvSpPr>
        <p:spPr>
          <a:xfrm>
            <a:off x="524797" y="385358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800" dirty="0">
                <a:solidFill>
                  <a:srgbClr val="050505">
                    <a:alpha val="50000"/>
                  </a:srgbClr>
                </a:solidFill>
                <a:latin typeface="MiSans VF Light"/>
                <a:ea typeface="MiSans VF Light"/>
                <a:cs typeface="MiSans VF Light"/>
              </a:rPr>
              <a:t>Intelligent Hardware System 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9C7C952B-B225-8B3E-BCEE-0525D763A32F}"/>
              </a:ext>
            </a:extLst>
          </p:cNvPr>
          <p:cNvSpPr>
            <a:spLocks noGrp="1"/>
          </p:cNvSpPr>
          <p:nvPr/>
        </p:nvSpPr>
        <p:spPr>
          <a:xfrm>
            <a:off x="8986185" y="385358"/>
            <a:ext cx="2747099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lang="en-US" altLang="zh-CN" sz="800" dirty="0">
                <a:solidFill>
                  <a:srgbClr val="050505">
                    <a:alpha val="50000"/>
                  </a:srgbClr>
                </a:solidFill>
                <a:latin typeface="MiSans VF Light"/>
                <a:ea typeface="MiSans VF Light"/>
                <a:cs typeface="MiSans VF Light"/>
              </a:rPr>
              <a:t>Pages</a:t>
            </a:r>
            <a:endParaRPr sz="800" dirty="0">
              <a:solidFill>
                <a:srgbClr val="050505">
                  <a:alpha val="50000"/>
                </a:srgbClr>
              </a:solidFill>
              <a:latin typeface="MiSans VF Light"/>
              <a:ea typeface="MiSans VF Light"/>
              <a:cs typeface="MiSans VF Light"/>
            </a:endParaRPr>
          </a:p>
        </p:txBody>
      </p:sp>
    </p:spTree>
    <p:extLst>
      <p:ext uri="{BB962C8B-B14F-4D97-AF65-F5344CB8AC3E}">
        <p14:creationId xmlns:p14="http://schemas.microsoft.com/office/powerpoint/2010/main" val="813110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>
            <a:extLst>
              <a:ext uri="{FF2B5EF4-FFF2-40B4-BE49-F238E27FC236}">
                <a16:creationId xmlns:a16="http://schemas.microsoft.com/office/drawing/2014/main" id="{1394A0F7-EA09-4E99-A19A-B88D125EF954}"/>
              </a:ext>
            </a:extLst>
          </p:cNvPr>
          <p:cNvSpPr>
            <a:spLocks noGrp="1"/>
          </p:cNvSpPr>
          <p:nvPr/>
        </p:nvSpPr>
        <p:spPr>
          <a:xfrm>
            <a:off x="8847210" y="352823"/>
            <a:ext cx="2609684" cy="1540685"/>
          </a:xfrm>
          <a:prstGeom prst="roundRect">
            <a:avLst>
              <a:gd name="adj" fmla="val 24181"/>
            </a:avLst>
          </a:prstGeom>
          <a:blipFill>
            <a:blip r:embed="rId3"/>
            <a:srcRect/>
            <a:stretch>
              <a:fillRect l="-14564" t="-210241" b="-85"/>
            </a:stretch>
          </a:blip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8B8C395F-BE63-4A98-B31F-F674292783F1}"/>
              </a:ext>
            </a:extLst>
          </p:cNvPr>
          <p:cNvSpPr>
            <a:spLocks noGrp="1"/>
          </p:cNvSpPr>
          <p:nvPr/>
        </p:nvSpPr>
        <p:spPr>
          <a:xfrm>
            <a:off x="8847209" y="4322937"/>
            <a:ext cx="2609143" cy="2148765"/>
          </a:xfrm>
          <a:prstGeom prst="roundRect">
            <a:avLst>
              <a:gd name="adj" fmla="val 17359"/>
            </a:avLst>
          </a:prstGeom>
          <a:blipFill>
            <a:blip r:embed="rId4"/>
            <a:srcRect/>
            <a:stretch>
              <a:fillRect t="-98312" b="-44546"/>
            </a:stretch>
          </a:blip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6BEA6AC1-B58D-B107-1E2D-E37956682089}"/>
              </a:ext>
            </a:extLst>
          </p:cNvPr>
          <p:cNvSpPr>
            <a:spLocks noGrp="1"/>
          </p:cNvSpPr>
          <p:nvPr/>
        </p:nvSpPr>
        <p:spPr>
          <a:xfrm>
            <a:off x="6059914" y="-958108"/>
            <a:ext cx="2609142" cy="2623985"/>
          </a:xfrm>
          <a:prstGeom prst="roundRect">
            <a:avLst>
              <a:gd name="adj" fmla="val 14880"/>
            </a:avLst>
          </a:prstGeom>
          <a:gradFill>
            <a:gsLst>
              <a:gs pos="0">
                <a:srgbClr val="F6F7F9"/>
              </a:gs>
              <a:gs pos="100000">
                <a:srgbClr val="D8D8DC"/>
              </a:gs>
            </a:gsLst>
            <a:lin ang="90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F86A987C-4449-43E4-B550-9E69E180788D}"/>
              </a:ext>
            </a:extLst>
          </p:cNvPr>
          <p:cNvSpPr>
            <a:spLocks noGrp="1"/>
          </p:cNvSpPr>
          <p:nvPr/>
        </p:nvSpPr>
        <p:spPr>
          <a:xfrm>
            <a:off x="6059914" y="5060299"/>
            <a:ext cx="2623921" cy="2623986"/>
          </a:xfrm>
          <a:prstGeom prst="roundRect">
            <a:avLst>
              <a:gd name="adj" fmla="val 14484"/>
            </a:avLst>
          </a:prstGeom>
          <a:gradFill>
            <a:gsLst>
              <a:gs pos="0">
                <a:srgbClr val="2B2B2F"/>
              </a:gs>
              <a:gs pos="100000">
                <a:srgbClr val="74747A"/>
              </a:gs>
            </a:gsLst>
            <a:lin ang="132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5944BEFB-F58B-19A5-395B-7B89E239F1E5}"/>
              </a:ext>
            </a:extLst>
          </p:cNvPr>
          <p:cNvSpPr>
            <a:spLocks noGrp="1"/>
          </p:cNvSpPr>
          <p:nvPr/>
        </p:nvSpPr>
        <p:spPr>
          <a:xfrm>
            <a:off x="6074150" y="1829546"/>
            <a:ext cx="2594906" cy="3060522"/>
          </a:xfrm>
          <a:prstGeom prst="roundRect">
            <a:avLst>
              <a:gd name="adj" fmla="val 15896"/>
            </a:avLst>
          </a:prstGeom>
          <a:blipFill>
            <a:blip r:embed="rId5"/>
            <a:stretch>
              <a:fillRect t="-5477" b="-70017"/>
            </a:stretch>
          </a:blip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5BB52C81-E6C9-4487-8F4D-2FAA38787AA7}"/>
              </a:ext>
            </a:extLst>
          </p:cNvPr>
          <p:cNvSpPr>
            <a:spLocks noGrp="1"/>
          </p:cNvSpPr>
          <p:nvPr/>
        </p:nvSpPr>
        <p:spPr>
          <a:xfrm>
            <a:off x="8847212" y="2064470"/>
            <a:ext cx="2609140" cy="2087504"/>
          </a:xfrm>
          <a:prstGeom prst="roundRect">
            <a:avLst>
              <a:gd name="adj" fmla="val 17121"/>
            </a:avLst>
          </a:prstGeom>
          <a:gradFill>
            <a:gsLst>
              <a:gs pos="0">
                <a:srgbClr val="DDE7FF"/>
              </a:gs>
              <a:gs pos="100000">
                <a:srgbClr val="8F9BFF"/>
              </a:gs>
            </a:gsLst>
            <a:lin ang="132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4F8280-2D0F-4759-8105-DAE532D9B0DC}"/>
              </a:ext>
            </a:extLst>
          </p:cNvPr>
          <p:cNvSpPr>
            <a:spLocks noGrp="1"/>
          </p:cNvSpPr>
          <p:nvPr/>
        </p:nvSpPr>
        <p:spPr>
          <a:xfrm>
            <a:off x="9075810" y="3774524"/>
            <a:ext cx="2140180" cy="12695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b">
            <a:spAutoFit/>
          </a:bodyPr>
          <a:lstStyle/>
          <a:p>
            <a:pPr algn="l">
              <a:buNone/>
              <a:defRPr sz="825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800">
                <a:solidFill>
                  <a:srgbClr val="6E6E73"/>
                </a:solidFill>
                <a:latin typeface="MISANS VF MEDIUM"/>
                <a:ea typeface="MISANS VF MEDIUM"/>
                <a:cs typeface="MISANS VF MEDIUM"/>
              </a:rPr>
              <a:t>硬件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CF06A44-077E-4471-8564-5BF9512CC6F8}"/>
              </a:ext>
            </a:extLst>
          </p:cNvPr>
          <p:cNvSpPr>
            <a:spLocks noGrp="1"/>
          </p:cNvSpPr>
          <p:nvPr/>
        </p:nvSpPr>
        <p:spPr>
          <a:xfrm>
            <a:off x="6274175" y="1266729"/>
            <a:ext cx="2192973" cy="12311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b">
            <a:spAutoFit/>
          </a:bodyPr>
          <a:lstStyle/>
          <a:p>
            <a:pPr>
              <a:buNone/>
              <a:defRPr sz="825" b="0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800">
                <a:solidFill>
                  <a:srgbClr val="6E6E73"/>
                </a:solidFill>
                <a:latin typeface="MISANS VF MEDIUM"/>
                <a:ea typeface="MISANS VF MEDIUM"/>
                <a:cs typeface="MISANS VF MEDIUM"/>
              </a:rPr>
              <a:t>端侧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98D31CA-694F-4881-899C-C71EA98ABA2C}"/>
              </a:ext>
            </a:extLst>
          </p:cNvPr>
          <p:cNvSpPr>
            <a:spLocks noGrp="1"/>
          </p:cNvSpPr>
          <p:nvPr/>
        </p:nvSpPr>
        <p:spPr>
          <a:xfrm>
            <a:off x="6274176" y="7301844"/>
            <a:ext cx="2192972" cy="126958"/>
          </a:xfrm>
          <a:prstGeom prst="rect">
            <a:avLst/>
          </a:prstGeom>
          <a:solidFill>
            <a:schemeClr val="bg1">
              <a:alpha val="0"/>
            </a:schemeClr>
          </a:solidFill>
          <a:ln w="0">
            <a:solidFill>
              <a:schemeClr val="bg1">
                <a:alpha val="0"/>
              </a:schemeClr>
            </a:solidFill>
            <a:prstDash val="solid"/>
          </a:ln>
        </p:spPr>
        <p:txBody>
          <a:bodyPr wrap="square" lIns="0" tIns="0" rIns="0" bIns="0" anchor="b">
            <a:spAutoFit/>
          </a:bodyPr>
          <a:lstStyle/>
          <a:p>
            <a:pPr algn="l">
              <a:buNone/>
              <a:defRPr sz="825" b="0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800">
                <a:solidFill>
                  <a:schemeClr val="bg1"/>
                </a:solidFill>
                <a:latin typeface="MISANS VF MEDIUM"/>
                <a:ea typeface="MISANS VF MEDIUM"/>
                <a:cs typeface="MISANS VF MEDIUM"/>
              </a:rPr>
              <a:t>系统</a:t>
            </a:r>
          </a:p>
        </p:txBody>
      </p:sp>
      <p:sp>
        <p:nvSpPr>
          <p:cNvPr id="34" name="AutoShape 2">
            <a:extLst>
              <a:ext uri="{FF2B5EF4-FFF2-40B4-BE49-F238E27FC236}">
                <a16:creationId xmlns:a16="http://schemas.microsoft.com/office/drawing/2014/main" id="{74C56175-2D8F-A1D5-C1F3-A40440F904A6}"/>
              </a:ext>
            </a:extLst>
          </p:cNvPr>
          <p:cNvSpPr>
            <a:spLocks noGrp="1"/>
          </p:cNvSpPr>
          <p:nvPr/>
        </p:nvSpPr>
        <p:spPr>
          <a:xfrm>
            <a:off x="524797" y="385358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800" dirty="0">
                <a:solidFill>
                  <a:schemeClr val="bg1">
                    <a:alpha val="50000"/>
                  </a:schemeClr>
                </a:solidFill>
                <a:latin typeface="MiSans VF Light"/>
                <a:ea typeface="MiSans VF Light"/>
                <a:cs typeface="MiSans VF Light"/>
              </a:rPr>
              <a:t>Intelligent Hardware System 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04911A5-66B1-9A32-17E4-2C633693844F}"/>
              </a:ext>
            </a:extLst>
          </p:cNvPr>
          <p:cNvSpPr>
            <a:spLocks noGrp="1"/>
          </p:cNvSpPr>
          <p:nvPr/>
        </p:nvSpPr>
        <p:spPr>
          <a:xfrm>
            <a:off x="524797" y="1033285"/>
            <a:ext cx="4907815" cy="16414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6400"/>
              </a:lnSpc>
              <a:defRPr sz="42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lang="zh-CN" altLang="en-US" sz="6000" dirty="0">
                <a:solidFill>
                  <a:srgbClr val="FFFFFF"/>
                </a:solidFill>
                <a:latin typeface="MiSans VF Semibold"/>
                <a:ea typeface="MiSans VF Semibold"/>
                <a:cs typeface="MiSans VF Semibold"/>
              </a:rPr>
              <a:t>从单点设备到端侧智能系统</a:t>
            </a:r>
            <a:endParaRPr sz="6000" dirty="0">
              <a:solidFill>
                <a:srgbClr val="FFFFFF"/>
              </a:solidFill>
              <a:latin typeface="MiSans VF Semibold"/>
              <a:ea typeface="MiSans VF Semibold"/>
              <a:cs typeface="MiSans VF Semibold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089DA03-FB95-272A-8339-06FDD1EA5286}"/>
              </a:ext>
            </a:extLst>
          </p:cNvPr>
          <p:cNvSpPr>
            <a:spLocks noGrp="1"/>
          </p:cNvSpPr>
          <p:nvPr/>
        </p:nvSpPr>
        <p:spPr>
          <a:xfrm>
            <a:off x="524797" y="2984726"/>
            <a:ext cx="4907814" cy="24699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buNone/>
              <a:defRPr sz="1425" b="0">
                <a:solidFill>
                  <a:srgbClr val="BDBDC2"/>
                </a:solidFill>
                <a:latin typeface="MiSans"/>
                <a:ea typeface="MiSans"/>
                <a:cs typeface="MiSans"/>
              </a:defRPr>
            </a:pPr>
            <a:r>
              <a:rPr sz="1200" dirty="0" err="1">
                <a:solidFill>
                  <a:srgbClr val="BDBDC2"/>
                </a:solidFill>
                <a:latin typeface="MiSans VF Light"/>
                <a:ea typeface="MiSans VF Light"/>
                <a:cs typeface="MiSans VF Light"/>
              </a:rPr>
              <a:t>市场信号</a:t>
            </a:r>
            <a:r>
              <a:rPr sz="1200" dirty="0">
                <a:solidFill>
                  <a:srgbClr val="BDBDC2"/>
                </a:solidFill>
                <a:latin typeface="MiSans VF Light"/>
                <a:ea typeface="MiSans VF Light"/>
                <a:cs typeface="MiSans VF Light"/>
              </a:rPr>
              <a:t> | </a:t>
            </a:r>
            <a:r>
              <a:rPr sz="1200" dirty="0" err="1">
                <a:solidFill>
                  <a:srgbClr val="BDBDC2"/>
                </a:solidFill>
                <a:latin typeface="MiSans VF Light"/>
                <a:ea typeface="MiSans VF Light"/>
                <a:cs typeface="MiSans VF Light"/>
              </a:rPr>
              <a:t>技术栈</a:t>
            </a:r>
            <a:r>
              <a:rPr sz="1200" dirty="0">
                <a:solidFill>
                  <a:srgbClr val="BDBDC2"/>
                </a:solidFill>
                <a:latin typeface="MiSans VF Light"/>
                <a:ea typeface="MiSans VF Light"/>
                <a:cs typeface="MiSans VF Light"/>
              </a:rPr>
              <a:t> | </a:t>
            </a:r>
            <a:r>
              <a:rPr sz="1200" dirty="0" err="1">
                <a:solidFill>
                  <a:srgbClr val="BDBDC2"/>
                </a:solidFill>
                <a:latin typeface="MiSans VF Light"/>
                <a:ea typeface="MiSans VF Light"/>
                <a:cs typeface="MiSans VF Light"/>
              </a:rPr>
              <a:t>量产节奏</a:t>
            </a:r>
            <a:r>
              <a:rPr sz="1200" dirty="0">
                <a:solidFill>
                  <a:srgbClr val="BDBDC2"/>
                </a:solidFill>
                <a:latin typeface="MiSans VF Light"/>
                <a:ea typeface="MiSans VF Light"/>
                <a:cs typeface="MiSans VF Light"/>
              </a:rPr>
              <a:t> | </a:t>
            </a:r>
            <a:r>
              <a:rPr sz="1200" dirty="0" err="1">
                <a:solidFill>
                  <a:srgbClr val="BDBDC2"/>
                </a:solidFill>
                <a:latin typeface="MiSans VF Light"/>
                <a:ea typeface="MiSans VF Light"/>
                <a:cs typeface="MiSans VF Light"/>
              </a:rPr>
              <a:t>风险边界</a:t>
            </a:r>
            <a:endParaRPr sz="1200" dirty="0">
              <a:solidFill>
                <a:srgbClr val="BDBDC2"/>
              </a:solidFill>
              <a:latin typeface="MiSans VF Light"/>
              <a:ea typeface="MiSans VF Light"/>
              <a:cs typeface="MiSans VF Light"/>
            </a:endParaRPr>
          </a:p>
        </p:txBody>
      </p:sp>
      <p:sp>
        <p:nvSpPr>
          <p:cNvPr id="48" name="AutoShape 2">
            <a:extLst>
              <a:ext uri="{FF2B5EF4-FFF2-40B4-BE49-F238E27FC236}">
                <a16:creationId xmlns:a16="http://schemas.microsoft.com/office/drawing/2014/main" id="{DD145411-4973-04BE-A97F-DB6E0F09ABF9}"/>
              </a:ext>
            </a:extLst>
          </p:cNvPr>
          <p:cNvSpPr>
            <a:spLocks noGrp="1"/>
          </p:cNvSpPr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800" dirty="0">
                <a:solidFill>
                  <a:schemeClr val="bg1">
                    <a:alpha val="50000"/>
                  </a:schemeClr>
                </a:solidFill>
                <a:latin typeface="MiSans VF Light"/>
                <a:ea typeface="MiSans VF Light"/>
                <a:cs typeface="MiSans VF Light"/>
              </a:rPr>
              <a:t>YUANBAO</a:t>
            </a:r>
          </a:p>
        </p:txBody>
      </p:sp>
    </p:spTree>
    <p:extLst>
      <p:ext uri="{BB962C8B-B14F-4D97-AF65-F5344CB8AC3E}">
        <p14:creationId xmlns:p14="http://schemas.microsoft.com/office/powerpoint/2010/main" val="1300571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圆角矩形 63">
            <a:extLst>
              <a:ext uri="{FF2B5EF4-FFF2-40B4-BE49-F238E27FC236}">
                <a16:creationId xmlns:a16="http://schemas.microsoft.com/office/drawing/2014/main" id="{FE5D20AA-199C-1FE3-C102-0EE27CFC7F78}"/>
              </a:ext>
            </a:extLst>
          </p:cNvPr>
          <p:cNvSpPr>
            <a:spLocks noGrp="1"/>
          </p:cNvSpPr>
          <p:nvPr/>
        </p:nvSpPr>
        <p:spPr>
          <a:xfrm>
            <a:off x="8050072" y="1790700"/>
            <a:ext cx="3683212" cy="4181126"/>
          </a:xfrm>
          <a:prstGeom prst="roundRect">
            <a:avLst>
              <a:gd name="adj" fmla="val 9282"/>
            </a:avLst>
          </a:prstGeom>
          <a:solidFill>
            <a:srgbClr val="F5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EA2921AD-A3B0-DC66-4B54-89AC4D4D8FF1}"/>
              </a:ext>
            </a:extLst>
          </p:cNvPr>
          <p:cNvSpPr>
            <a:spLocks noGrp="1"/>
          </p:cNvSpPr>
          <p:nvPr/>
        </p:nvSpPr>
        <p:spPr>
          <a:xfrm>
            <a:off x="4284282" y="1790700"/>
            <a:ext cx="3683212" cy="4181126"/>
          </a:xfrm>
          <a:prstGeom prst="roundRect">
            <a:avLst>
              <a:gd name="adj" fmla="val 9282"/>
            </a:avLst>
          </a:prstGeom>
          <a:solidFill>
            <a:srgbClr val="F2EE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C8451D-822A-43E5-95AB-901786C5F402}"/>
              </a:ext>
            </a:extLst>
          </p:cNvPr>
          <p:cNvSpPr>
            <a:spLocks noGrp="1"/>
          </p:cNvSpPr>
          <p:nvPr/>
        </p:nvSpPr>
        <p:spPr>
          <a:xfrm>
            <a:off x="518491" y="1790700"/>
            <a:ext cx="3683212" cy="4181126"/>
          </a:xfrm>
          <a:prstGeom prst="roundRect">
            <a:avLst>
              <a:gd name="adj" fmla="val 9282"/>
            </a:avLst>
          </a:prstGeom>
          <a:solidFill>
            <a:srgbClr val="F5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D8F160-B515-4D61-ABB0-1B84165EC562}"/>
              </a:ext>
            </a:extLst>
          </p:cNvPr>
          <p:cNvSpPr>
            <a:spLocks noGrp="1"/>
          </p:cNvSpPr>
          <p:nvPr/>
        </p:nvSpPr>
        <p:spPr>
          <a:xfrm>
            <a:off x="802575" y="2132856"/>
            <a:ext cx="2095500" cy="24622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>
              <a:buNone/>
              <a:defRPr sz="900" b="1">
                <a:solidFill>
                  <a:srgbClr val="1D1D1F"/>
                </a:solidFill>
                <a:latin typeface="MiSans"/>
                <a:ea typeface="MiSans"/>
                <a:cs typeface="MiSans"/>
              </a:defRPr>
            </a:pPr>
            <a:r>
              <a:rPr sz="1600" dirty="0" err="1">
                <a:solidFill>
                  <a:srgbClr val="1D1D1F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硬件联网</a:t>
            </a:r>
            <a:endParaRPr sz="1600" dirty="0">
              <a:solidFill>
                <a:srgbClr val="1D1D1F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EAA546A-0D7D-4A69-86E4-8EE6DFC978FA}"/>
              </a:ext>
            </a:extLst>
          </p:cNvPr>
          <p:cNvSpPr>
            <a:spLocks noGrp="1"/>
          </p:cNvSpPr>
          <p:nvPr/>
        </p:nvSpPr>
        <p:spPr>
          <a:xfrm>
            <a:off x="4552950" y="2132856"/>
            <a:ext cx="2095500" cy="13849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>
              <a:buNone/>
              <a:defRPr sz="900" b="1">
                <a:solidFill>
                  <a:srgbClr val="1D1D1F"/>
                </a:solidFill>
                <a:latin typeface="MiSans"/>
                <a:ea typeface="MiSans"/>
                <a:cs typeface="MiSans"/>
              </a:defRPr>
            </a:pPr>
            <a:r>
              <a:rPr dirty="0" err="1">
                <a:solidFill>
                  <a:srgbClr val="1D1D1F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关键动作</a:t>
            </a:r>
            <a:endParaRPr dirty="0">
              <a:solidFill>
                <a:srgbClr val="1D1D1F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4DDF6AB-A9F5-4392-BA36-64BAC900F681}"/>
              </a:ext>
            </a:extLst>
          </p:cNvPr>
          <p:cNvSpPr>
            <a:spLocks noGrp="1"/>
          </p:cNvSpPr>
          <p:nvPr/>
        </p:nvSpPr>
        <p:spPr>
          <a:xfrm>
            <a:off x="8263594" y="2132856"/>
            <a:ext cx="2095500" cy="13849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spAutoFit/>
          </a:bodyPr>
          <a:lstStyle/>
          <a:p>
            <a:pPr algn="l">
              <a:buNone/>
              <a:defRPr sz="900" b="1">
                <a:solidFill>
                  <a:srgbClr val="1D1D1F"/>
                </a:solidFill>
                <a:latin typeface="MiSans"/>
                <a:ea typeface="MiSans"/>
                <a:cs typeface="MiSans"/>
              </a:defRPr>
            </a:pPr>
            <a:r>
              <a:rPr dirty="0" err="1">
                <a:solidFill>
                  <a:srgbClr val="1D1D1F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自适应设备</a:t>
            </a:r>
            <a:endParaRPr dirty="0">
              <a:solidFill>
                <a:srgbClr val="1D1D1F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50F17C8-A524-4135-85CB-BC80BD1C739E}"/>
              </a:ext>
            </a:extLst>
          </p:cNvPr>
          <p:cNvSpPr>
            <a:spLocks noGrp="1"/>
          </p:cNvSpPr>
          <p:nvPr/>
        </p:nvSpPr>
        <p:spPr>
          <a:xfrm>
            <a:off x="802574" y="4833898"/>
            <a:ext cx="501200" cy="153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>
              <a:buNone/>
              <a:defRPr sz="60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>
                <a:solidFill>
                  <a:srgbClr val="050505"/>
                </a:solidFill>
                <a:latin typeface="MISANS VF MEDIUM"/>
                <a:ea typeface="MISANS VF MEDIUM"/>
                <a:cs typeface="MISANS VF MEDIUM"/>
              </a:rPr>
              <a:t>2024.11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ED764A2-B590-4F23-9AAA-4750120AABAE}"/>
              </a:ext>
            </a:extLst>
          </p:cNvPr>
          <p:cNvSpPr>
            <a:spLocks noGrp="1"/>
          </p:cNvSpPr>
          <p:nvPr/>
        </p:nvSpPr>
        <p:spPr>
          <a:xfrm>
            <a:off x="2580799" y="4833898"/>
            <a:ext cx="501200" cy="153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>
              <a:buNone/>
              <a:defRPr sz="60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>
                <a:solidFill>
                  <a:srgbClr val="050505"/>
                </a:solidFill>
                <a:latin typeface="MISANS VF MEDIUM"/>
                <a:ea typeface="MISANS VF MEDIUM"/>
                <a:cs typeface="MISANS VF MEDIUM"/>
              </a:rPr>
              <a:t>2024.12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349F54A-12AE-70B0-7CA4-C96649ADC061}"/>
              </a:ext>
            </a:extLst>
          </p:cNvPr>
          <p:cNvSpPr>
            <a:spLocks noGrp="1"/>
          </p:cNvSpPr>
          <p:nvPr/>
        </p:nvSpPr>
        <p:spPr>
          <a:xfrm>
            <a:off x="524797" y="886174"/>
            <a:ext cx="9523355" cy="6155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>
              <a:buNone/>
              <a:defRPr sz="42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4000" dirty="0" err="1">
                <a:solidFill>
                  <a:srgbClr val="050505"/>
                </a:solidFill>
                <a:latin typeface="MiSans VF Semibold"/>
                <a:ea typeface="MiSans VF Semibold"/>
                <a:cs typeface="MiSans VF Semibold"/>
              </a:rPr>
              <a:t>技术路线图</a:t>
            </a:r>
            <a:endParaRPr sz="4000" dirty="0">
              <a:solidFill>
                <a:srgbClr val="050505"/>
              </a:solidFill>
              <a:latin typeface="MiSans VF Semibold"/>
              <a:ea typeface="MiSans VF Semibold"/>
              <a:cs typeface="MiSans VF Semibold"/>
            </a:endParaRPr>
          </a:p>
        </p:txBody>
      </p:sp>
      <p:sp>
        <p:nvSpPr>
          <p:cNvPr id="62" name="AutoShape 2">
            <a:extLst>
              <a:ext uri="{FF2B5EF4-FFF2-40B4-BE49-F238E27FC236}">
                <a16:creationId xmlns:a16="http://schemas.microsoft.com/office/drawing/2014/main" id="{AEFF6118-1B24-138A-5C12-4D51A60288AB}"/>
              </a:ext>
            </a:extLst>
          </p:cNvPr>
          <p:cNvSpPr>
            <a:spLocks noGrp="1"/>
          </p:cNvSpPr>
          <p:nvPr/>
        </p:nvSpPr>
        <p:spPr>
          <a:xfrm>
            <a:off x="524797" y="6331065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800" dirty="0">
                <a:solidFill>
                  <a:srgbClr val="050505">
                    <a:alpha val="50000"/>
                  </a:srgbClr>
                </a:solidFill>
                <a:latin typeface="MiSans VF Light"/>
                <a:ea typeface="MiSans VF Light"/>
                <a:cs typeface="MiSans VF Light"/>
              </a:rPr>
              <a:t>YUANBAO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1CFABE7-8D75-1A56-2A6B-DDD330F4CFB4}"/>
              </a:ext>
            </a:extLst>
          </p:cNvPr>
          <p:cNvSpPr>
            <a:spLocks noGrp="1"/>
          </p:cNvSpPr>
          <p:nvPr/>
        </p:nvSpPr>
        <p:spPr>
          <a:xfrm>
            <a:off x="802574" y="3659828"/>
            <a:ext cx="1358513" cy="30777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 anchorCtr="0">
            <a:spAutoFit/>
          </a:bodyPr>
          <a:lstStyle/>
          <a:p>
            <a:pPr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050505"/>
                </a:solidFill>
                <a:latin typeface="MiSans VF Light"/>
                <a:ea typeface="MiSans VF Light"/>
                <a:cs typeface="MiSans VF Light"/>
              </a:rPr>
              <a:t>设备完成多传感采集与稳定联网</a:t>
            </a:r>
            <a:endParaRPr sz="1000" dirty="0">
              <a:solidFill>
                <a:srgbClr val="050505"/>
              </a:solidFill>
              <a:latin typeface="MiSans VF Light"/>
              <a:ea typeface="MiSans VF Light"/>
              <a:cs typeface="MiSans VF Light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4622EB5-3F6C-ADB0-3309-5A57C384CACE}"/>
              </a:ext>
            </a:extLst>
          </p:cNvPr>
          <p:cNvSpPr>
            <a:spLocks noGrp="1"/>
          </p:cNvSpPr>
          <p:nvPr/>
        </p:nvSpPr>
        <p:spPr>
          <a:xfrm>
            <a:off x="4552950" y="4833898"/>
            <a:ext cx="501200" cy="153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>
              <a:buNone/>
              <a:defRPr sz="60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>
                <a:solidFill>
                  <a:srgbClr val="050505"/>
                </a:solidFill>
                <a:latin typeface="MISANS VF MEDIUM"/>
                <a:ea typeface="MISANS VF MEDIUM"/>
                <a:cs typeface="MISANS VF MEDIUM"/>
              </a:rPr>
              <a:t>2025.6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52626BCA-DD45-6CFF-3954-BADE91B95DD6}"/>
              </a:ext>
            </a:extLst>
          </p:cNvPr>
          <p:cNvSpPr>
            <a:spLocks noGrp="1"/>
          </p:cNvSpPr>
          <p:nvPr/>
        </p:nvSpPr>
        <p:spPr>
          <a:xfrm>
            <a:off x="6331175" y="4833898"/>
            <a:ext cx="501200" cy="153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>
              <a:buNone/>
              <a:defRPr sz="60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>
                <a:solidFill>
                  <a:srgbClr val="050505"/>
                </a:solidFill>
                <a:latin typeface="MISANS VF MEDIUM"/>
                <a:ea typeface="MISANS VF MEDIUM"/>
                <a:cs typeface="MISANS VF MEDIUM"/>
              </a:rPr>
              <a:t>2025.10</a:t>
            </a:r>
          </a:p>
        </p:txBody>
      </p:sp>
      <p:sp>
        <p:nvSpPr>
          <p:cNvPr id="79" name="直线连接符 78">
            <a:extLst>
              <a:ext uri="{FF2B5EF4-FFF2-40B4-BE49-F238E27FC236}">
                <a16:creationId xmlns:a16="http://schemas.microsoft.com/office/drawing/2014/main" id="{1DC1DB6F-4A9C-426D-99D0-F459CDF067C6}"/>
              </a:ext>
            </a:extLst>
          </p:cNvPr>
          <p:cNvSpPr>
            <a:spLocks noGrp="1"/>
          </p:cNvSpPr>
          <p:nvPr/>
        </p:nvSpPr>
        <p:spPr>
          <a:xfrm>
            <a:off x="869250" y="4561963"/>
            <a:ext cx="10633794" cy="0"/>
          </a:xfrm>
          <a:prstGeom prst="line">
            <a:avLst/>
          </a:prstGeom>
          <a:ln w="19050">
            <a:gradFill>
              <a:gsLst>
                <a:gs pos="0">
                  <a:srgbClr val="F8F8F8"/>
                </a:gs>
                <a:gs pos="7000">
                  <a:schemeClr val="bg1">
                    <a:lumMod val="50000"/>
                  </a:schemeClr>
                </a:gs>
              </a:gsLst>
              <a:lin ang="1080000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E63E028B-ADB5-4698-B4AD-FFAC2CA32838}"/>
              </a:ext>
            </a:extLst>
          </p:cNvPr>
          <p:cNvSpPr>
            <a:spLocks noGrp="1"/>
          </p:cNvSpPr>
          <p:nvPr/>
        </p:nvSpPr>
        <p:spPr>
          <a:xfrm>
            <a:off x="802575" y="4495803"/>
            <a:ext cx="133350" cy="133350"/>
          </a:xfrm>
          <a:prstGeom prst="ellipse">
            <a:avLst/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B987AF34-E886-4A1E-8976-95E05E9EFF00}"/>
              </a:ext>
            </a:extLst>
          </p:cNvPr>
          <p:cNvSpPr>
            <a:spLocks noGrp="1"/>
          </p:cNvSpPr>
          <p:nvPr/>
        </p:nvSpPr>
        <p:spPr>
          <a:xfrm>
            <a:off x="2584406" y="4495803"/>
            <a:ext cx="133350" cy="133350"/>
          </a:xfrm>
          <a:prstGeom prst="ellipse">
            <a:avLst/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E8FABDBB-6F87-A18E-3FB0-4E2E83D2EE5E}"/>
              </a:ext>
            </a:extLst>
          </p:cNvPr>
          <p:cNvSpPr>
            <a:spLocks noGrp="1"/>
          </p:cNvSpPr>
          <p:nvPr/>
        </p:nvSpPr>
        <p:spPr>
          <a:xfrm>
            <a:off x="4552951" y="4495803"/>
            <a:ext cx="133350" cy="133350"/>
          </a:xfrm>
          <a:prstGeom prst="ellipse">
            <a:avLst/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591A6284-046F-C25D-3193-18EF4C13D42B}"/>
              </a:ext>
            </a:extLst>
          </p:cNvPr>
          <p:cNvSpPr>
            <a:spLocks noGrp="1"/>
          </p:cNvSpPr>
          <p:nvPr/>
        </p:nvSpPr>
        <p:spPr>
          <a:xfrm>
            <a:off x="6334782" y="4495803"/>
            <a:ext cx="133350" cy="133350"/>
          </a:xfrm>
          <a:prstGeom prst="ellipse">
            <a:avLst/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8CE5B4EE-4523-EE53-333D-FD746ADC038A}"/>
              </a:ext>
            </a:extLst>
          </p:cNvPr>
          <p:cNvSpPr>
            <a:spLocks noGrp="1"/>
          </p:cNvSpPr>
          <p:nvPr/>
        </p:nvSpPr>
        <p:spPr>
          <a:xfrm>
            <a:off x="8269927" y="4833898"/>
            <a:ext cx="501200" cy="153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>
              <a:buNone/>
              <a:defRPr sz="60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>
                <a:solidFill>
                  <a:srgbClr val="050505"/>
                </a:solidFill>
                <a:latin typeface="MISANS VF MEDIUM"/>
                <a:ea typeface="MISANS VF MEDIUM"/>
                <a:cs typeface="MISANS VF MEDIUM"/>
              </a:rPr>
              <a:t>2026.4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2EE73BC2-6AE8-B08F-A5B2-801E3B949D85}"/>
              </a:ext>
            </a:extLst>
          </p:cNvPr>
          <p:cNvSpPr>
            <a:spLocks noGrp="1"/>
          </p:cNvSpPr>
          <p:nvPr/>
        </p:nvSpPr>
        <p:spPr>
          <a:xfrm>
            <a:off x="10048152" y="4833898"/>
            <a:ext cx="501200" cy="153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>
              <a:buNone/>
              <a:defRPr sz="60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>
                <a:solidFill>
                  <a:srgbClr val="050505"/>
                </a:solidFill>
                <a:latin typeface="MISANS VF MEDIUM"/>
                <a:ea typeface="MISANS VF MEDIUM"/>
                <a:cs typeface="MISANS VF MEDIUM"/>
              </a:rPr>
              <a:t>2026.6</a:t>
            </a: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250ED040-3B38-2B0D-DBF9-930FA0B3E349}"/>
              </a:ext>
            </a:extLst>
          </p:cNvPr>
          <p:cNvSpPr>
            <a:spLocks noGrp="1"/>
          </p:cNvSpPr>
          <p:nvPr/>
        </p:nvSpPr>
        <p:spPr>
          <a:xfrm>
            <a:off x="8269928" y="4495803"/>
            <a:ext cx="133350" cy="133350"/>
          </a:xfrm>
          <a:prstGeom prst="ellipse">
            <a:avLst/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01C56FDB-6B7C-5F2E-98C4-3D44C56C30D2}"/>
              </a:ext>
            </a:extLst>
          </p:cNvPr>
          <p:cNvSpPr>
            <a:spLocks noGrp="1"/>
          </p:cNvSpPr>
          <p:nvPr/>
        </p:nvSpPr>
        <p:spPr>
          <a:xfrm>
            <a:off x="10051759" y="4495803"/>
            <a:ext cx="133350" cy="133350"/>
          </a:xfrm>
          <a:prstGeom prst="ellipse">
            <a:avLst/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DB049B-9E2F-7683-F4BB-838C45369868}"/>
              </a:ext>
            </a:extLst>
          </p:cNvPr>
          <p:cNvSpPr>
            <a:spLocks noGrp="1"/>
          </p:cNvSpPr>
          <p:nvPr/>
        </p:nvSpPr>
        <p:spPr>
          <a:xfrm>
            <a:off x="802574" y="3429000"/>
            <a:ext cx="1358513" cy="153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b">
            <a:spAutoFit/>
          </a:bodyPr>
          <a:lstStyle/>
          <a:p>
            <a:pPr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sz="1000" dirty="0" err="1">
                <a:solidFill>
                  <a:srgbClr val="050505"/>
                </a:solidFill>
                <a:latin typeface="MISANS VF MEDIUM" pitchFamily="2" charset="-122"/>
                <a:ea typeface="MISANS VF MEDIUM" pitchFamily="2" charset="-122"/>
                <a:cs typeface="MISANS VF MEDIUM" pitchFamily="2" charset="-122"/>
              </a:rPr>
              <a:t>感知上线</a:t>
            </a:r>
            <a:endParaRPr sz="1000" dirty="0">
              <a:solidFill>
                <a:srgbClr val="050505"/>
              </a:solidFill>
              <a:latin typeface="MISANS VF MEDIUM" pitchFamily="2" charset="-122"/>
              <a:ea typeface="MISANS VF MEDIUM" pitchFamily="2" charset="-122"/>
              <a:cs typeface="MISANS VF MEDIUM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963F27-1C0A-CFA6-1B14-833EDBBCD898}"/>
              </a:ext>
            </a:extLst>
          </p:cNvPr>
          <p:cNvSpPr>
            <a:spLocks noGrp="1"/>
          </p:cNvSpPr>
          <p:nvPr/>
        </p:nvSpPr>
        <p:spPr>
          <a:xfrm>
            <a:off x="2579123" y="3659828"/>
            <a:ext cx="1358513" cy="30777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 anchorCtr="0">
            <a:spAutoFit/>
          </a:bodyPr>
          <a:lstStyle/>
          <a:p>
            <a:pPr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lang="zh-CN" altLang="en-US" sz="1000" dirty="0">
                <a:solidFill>
                  <a:srgbClr val="050505"/>
                </a:solidFill>
                <a:latin typeface="MiSans VF Light"/>
                <a:ea typeface="MiSans VF Light"/>
                <a:cs typeface="MiSans VF Light"/>
              </a:rPr>
              <a:t>本地规则、云端模型与日志回传形成验证链路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BF894B8-FF1C-0AB7-31A6-870FB7BF05D1}"/>
              </a:ext>
            </a:extLst>
          </p:cNvPr>
          <p:cNvSpPr>
            <a:spLocks noGrp="1"/>
          </p:cNvSpPr>
          <p:nvPr/>
        </p:nvSpPr>
        <p:spPr>
          <a:xfrm>
            <a:off x="2579123" y="3429000"/>
            <a:ext cx="1358513" cy="153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b">
            <a:spAutoFit/>
          </a:bodyPr>
          <a:lstStyle/>
          <a:p>
            <a:pPr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lang="zh-CN" altLang="en-US" sz="1000" dirty="0">
                <a:solidFill>
                  <a:srgbClr val="050505"/>
                </a:solidFill>
                <a:latin typeface="MISANS VF MEDIUM" pitchFamily="2" charset="-122"/>
                <a:ea typeface="MISANS VF MEDIUM" pitchFamily="2" charset="-122"/>
                <a:cs typeface="MISANS VF MEDIUM" pitchFamily="2" charset="-122"/>
              </a:rPr>
              <a:t>边缘闭环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9025DE-5D03-2B79-C541-9E80E964A29C}"/>
              </a:ext>
            </a:extLst>
          </p:cNvPr>
          <p:cNvSpPr>
            <a:spLocks noGrp="1"/>
          </p:cNvSpPr>
          <p:nvPr/>
        </p:nvSpPr>
        <p:spPr>
          <a:xfrm>
            <a:off x="4544558" y="3659828"/>
            <a:ext cx="1358513" cy="30777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 anchorCtr="0">
            <a:spAutoFit/>
          </a:bodyPr>
          <a:lstStyle/>
          <a:p>
            <a:pPr>
              <a:buNone/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lang="zh-CN" altLang="en-US" sz="1000" dirty="0">
                <a:solidFill>
                  <a:srgbClr val="050505"/>
                </a:solidFill>
                <a:latin typeface="MiSans VF Light"/>
                <a:ea typeface="MiSans VF Light"/>
                <a:cs typeface="MiSans VF Light"/>
              </a:rPr>
              <a:t>引入轻量 </a:t>
            </a:r>
            <a:r>
              <a:rPr lang="en-US" altLang="zh-CN" sz="1000" dirty="0">
                <a:solidFill>
                  <a:srgbClr val="050505"/>
                </a:solidFill>
                <a:latin typeface="MiSans VF Light"/>
                <a:ea typeface="MiSans VF Light"/>
                <a:cs typeface="MiSans VF Light"/>
              </a:rPr>
              <a:t>NPU </a:t>
            </a:r>
            <a:r>
              <a:rPr lang="zh-CN" altLang="en-US" sz="1000" dirty="0">
                <a:solidFill>
                  <a:srgbClr val="050505"/>
                </a:solidFill>
                <a:latin typeface="MiSans VF Light"/>
                <a:ea typeface="MiSans VF Light"/>
                <a:cs typeface="MiSans VF Light"/>
              </a:rPr>
              <a:t>与端侧模型，降低云端依赖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73CF8B-B17E-96C2-24A6-678D3BDCF78E}"/>
              </a:ext>
            </a:extLst>
          </p:cNvPr>
          <p:cNvSpPr>
            <a:spLocks noGrp="1"/>
          </p:cNvSpPr>
          <p:nvPr/>
        </p:nvSpPr>
        <p:spPr>
          <a:xfrm>
            <a:off x="4544558" y="3429000"/>
            <a:ext cx="1358513" cy="153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b">
            <a:spAutoFit/>
          </a:bodyPr>
          <a:lstStyle/>
          <a:p>
            <a:pPr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lang="zh-CN" altLang="en-US" sz="1000" dirty="0">
                <a:solidFill>
                  <a:srgbClr val="050505"/>
                </a:solidFill>
                <a:latin typeface="MISANS VF MEDIUM" pitchFamily="2" charset="-122"/>
                <a:ea typeface="MISANS VF MEDIUM" pitchFamily="2" charset="-122"/>
                <a:cs typeface="MISANS VF MEDIUM" pitchFamily="2" charset="-122"/>
              </a:rPr>
              <a:t>算力升级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4B1CFA-119C-C506-1744-C677398F952A}"/>
              </a:ext>
            </a:extLst>
          </p:cNvPr>
          <p:cNvSpPr>
            <a:spLocks noGrp="1"/>
          </p:cNvSpPr>
          <p:nvPr/>
        </p:nvSpPr>
        <p:spPr>
          <a:xfrm>
            <a:off x="6331317" y="3659828"/>
            <a:ext cx="1358513" cy="6155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 anchorCtr="0">
            <a:spAutoFit/>
          </a:bodyPr>
          <a:lstStyle/>
          <a:p>
            <a:pPr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lang="zh-CN" altLang="en-US" sz="1000" dirty="0">
                <a:solidFill>
                  <a:srgbClr val="050505"/>
                </a:solidFill>
                <a:latin typeface="MiSans VF Light"/>
                <a:ea typeface="MiSans VF Light"/>
                <a:cs typeface="MiSans VF Light"/>
              </a:rPr>
              <a:t>本地规则、云端模型与日志回传形成验证链路本地规则、云端模型与日志回传形成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3F1C82-3AF3-21E2-9737-AFACA332358A}"/>
              </a:ext>
            </a:extLst>
          </p:cNvPr>
          <p:cNvSpPr>
            <a:spLocks noGrp="1"/>
          </p:cNvSpPr>
          <p:nvPr/>
        </p:nvSpPr>
        <p:spPr>
          <a:xfrm>
            <a:off x="6331317" y="3429000"/>
            <a:ext cx="1358513" cy="153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b">
            <a:spAutoFit/>
          </a:bodyPr>
          <a:lstStyle/>
          <a:p>
            <a:pPr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lang="zh-CN" altLang="en-US" sz="1000" dirty="0">
                <a:solidFill>
                  <a:srgbClr val="050505"/>
                </a:solidFill>
                <a:latin typeface="MISANS VF MEDIUM" pitchFamily="2" charset="-122"/>
                <a:ea typeface="MISANS VF MEDIUM" pitchFamily="2" charset="-122"/>
                <a:cs typeface="MISANS VF MEDIUM" pitchFamily="2" charset="-122"/>
              </a:rPr>
              <a:t>量产验证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97920C-8C2D-8AB7-ED92-278ED83E98F2}"/>
              </a:ext>
            </a:extLst>
          </p:cNvPr>
          <p:cNvSpPr>
            <a:spLocks noGrp="1"/>
          </p:cNvSpPr>
          <p:nvPr/>
        </p:nvSpPr>
        <p:spPr>
          <a:xfrm>
            <a:off x="8269927" y="3659828"/>
            <a:ext cx="1358513" cy="30777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 anchorCtr="0">
            <a:spAutoFit/>
          </a:bodyPr>
          <a:lstStyle/>
          <a:p>
            <a:pPr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lang="zh-CN" altLang="en-US" sz="1000" dirty="0">
                <a:solidFill>
                  <a:srgbClr val="050505"/>
                </a:solidFill>
                <a:latin typeface="MiSans VF Light"/>
                <a:ea typeface="MiSans VF Light"/>
                <a:cs typeface="MiSans VF Light"/>
              </a:rPr>
              <a:t>设备、网关、云端形成统一升级与监控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2EB4D5-E491-CF65-F2BE-1994C1C829A8}"/>
              </a:ext>
            </a:extLst>
          </p:cNvPr>
          <p:cNvSpPr>
            <a:spLocks noGrp="1"/>
          </p:cNvSpPr>
          <p:nvPr/>
        </p:nvSpPr>
        <p:spPr>
          <a:xfrm>
            <a:off x="8269927" y="3429000"/>
            <a:ext cx="1358513" cy="153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b">
            <a:spAutoFit/>
          </a:bodyPr>
          <a:lstStyle/>
          <a:p>
            <a:pPr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lang="zh-CN" altLang="en-US" sz="1000" dirty="0">
                <a:solidFill>
                  <a:srgbClr val="050505"/>
                </a:solidFill>
                <a:latin typeface="MISANS VF MEDIUM" pitchFamily="2" charset="-122"/>
                <a:ea typeface="MISANS VF MEDIUM" pitchFamily="2" charset="-122"/>
                <a:cs typeface="MISANS VF MEDIUM" pitchFamily="2" charset="-122"/>
              </a:rPr>
              <a:t>系统协同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1E7902-57A1-8EE2-EAAA-ABC3BD445E68}"/>
              </a:ext>
            </a:extLst>
          </p:cNvPr>
          <p:cNvSpPr>
            <a:spLocks noGrp="1"/>
          </p:cNvSpPr>
          <p:nvPr/>
        </p:nvSpPr>
        <p:spPr>
          <a:xfrm>
            <a:off x="10051835" y="3659828"/>
            <a:ext cx="1358513" cy="30777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 anchorCtr="0">
            <a:spAutoFit/>
          </a:bodyPr>
          <a:lstStyle/>
          <a:p>
            <a:pPr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lang="zh-CN" altLang="en-US" sz="1000" dirty="0">
                <a:solidFill>
                  <a:srgbClr val="050505"/>
                </a:solidFill>
                <a:latin typeface="MiSans VF Light"/>
                <a:ea typeface="MiSans VF Light"/>
                <a:cs typeface="MiSans VF Light"/>
              </a:rPr>
              <a:t>标准模组进入机器人、穿戴与工业终端。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737E04-E94E-5E42-EF3B-A7173ABC623D}"/>
              </a:ext>
            </a:extLst>
          </p:cNvPr>
          <p:cNvSpPr>
            <a:spLocks noGrp="1"/>
          </p:cNvSpPr>
          <p:nvPr/>
        </p:nvSpPr>
        <p:spPr>
          <a:xfrm>
            <a:off x="10051835" y="3429000"/>
            <a:ext cx="1358513" cy="15388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b">
            <a:spAutoFit/>
          </a:bodyPr>
          <a:lstStyle/>
          <a:p>
            <a:pPr>
              <a:defRPr sz="750" b="0">
                <a:solidFill>
                  <a:srgbClr val="6E6E73"/>
                </a:solidFill>
                <a:latin typeface="MiSans"/>
                <a:ea typeface="MiSans"/>
                <a:cs typeface="MiSans"/>
              </a:defRPr>
            </a:pPr>
            <a:r>
              <a:rPr lang="zh-CN" altLang="en-US" sz="1000" dirty="0">
                <a:solidFill>
                  <a:srgbClr val="050505"/>
                </a:solidFill>
                <a:latin typeface="MISANS VF MEDIUM" pitchFamily="2" charset="-122"/>
                <a:ea typeface="MISANS VF MEDIUM" pitchFamily="2" charset="-122"/>
                <a:cs typeface="MISANS VF MEDIUM" pitchFamily="2" charset="-122"/>
              </a:rPr>
              <a:t>平台复制</a:t>
            </a:r>
          </a:p>
        </p:txBody>
      </p:sp>
      <p:sp>
        <p:nvSpPr>
          <p:cNvPr id="15" name="AutoShape 2">
            <a:extLst>
              <a:ext uri="{FF2B5EF4-FFF2-40B4-BE49-F238E27FC236}">
                <a16:creationId xmlns:a16="http://schemas.microsoft.com/office/drawing/2014/main" id="{5E47F197-8B5E-A697-D944-7D11A5103A39}"/>
              </a:ext>
            </a:extLst>
          </p:cNvPr>
          <p:cNvSpPr>
            <a:spLocks noGrp="1"/>
          </p:cNvSpPr>
          <p:nvPr/>
        </p:nvSpPr>
        <p:spPr>
          <a:xfrm>
            <a:off x="524797" y="385358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800" dirty="0">
                <a:solidFill>
                  <a:srgbClr val="050505">
                    <a:alpha val="50000"/>
                  </a:srgbClr>
                </a:solidFill>
                <a:latin typeface="MiSans VF Light"/>
                <a:ea typeface="MiSans VF Light"/>
                <a:cs typeface="MiSans VF Light"/>
              </a:rPr>
              <a:t>Intelligent Hardware System </a:t>
            </a:r>
          </a:p>
        </p:txBody>
      </p:sp>
      <p:sp>
        <p:nvSpPr>
          <p:cNvPr id="16" name="AutoShape 2">
            <a:extLst>
              <a:ext uri="{FF2B5EF4-FFF2-40B4-BE49-F238E27FC236}">
                <a16:creationId xmlns:a16="http://schemas.microsoft.com/office/drawing/2014/main" id="{EA9A397D-836C-5E81-47C8-F61A1ECD503E}"/>
              </a:ext>
            </a:extLst>
          </p:cNvPr>
          <p:cNvSpPr>
            <a:spLocks noGrp="1"/>
          </p:cNvSpPr>
          <p:nvPr/>
        </p:nvSpPr>
        <p:spPr>
          <a:xfrm>
            <a:off x="8986185" y="385358"/>
            <a:ext cx="2747099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lang="en-US" altLang="zh-CN" sz="800" dirty="0">
                <a:solidFill>
                  <a:srgbClr val="050505">
                    <a:alpha val="50000"/>
                  </a:srgbClr>
                </a:solidFill>
                <a:latin typeface="MiSans VF Light"/>
                <a:ea typeface="MiSans VF Light"/>
                <a:cs typeface="MiSans VF Light"/>
              </a:rPr>
              <a:t>Pages</a:t>
            </a:r>
            <a:endParaRPr sz="800" dirty="0">
              <a:solidFill>
                <a:srgbClr val="050505">
                  <a:alpha val="50000"/>
                </a:srgbClr>
              </a:solidFill>
              <a:latin typeface="MiSans VF Light"/>
              <a:ea typeface="MiSans VF Light"/>
              <a:cs typeface="MiSans VF Light"/>
            </a:endParaRPr>
          </a:p>
        </p:txBody>
      </p:sp>
    </p:spTree>
    <p:extLst>
      <p:ext uri="{BB962C8B-B14F-4D97-AF65-F5344CB8AC3E}">
        <p14:creationId xmlns:p14="http://schemas.microsoft.com/office/powerpoint/2010/main" val="830074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FA3D5E8E-E8DC-6313-153E-D6B01D13A42E}"/>
              </a:ext>
            </a:extLst>
          </p:cNvPr>
          <p:cNvSpPr>
            <a:spLocks noGrp="1"/>
          </p:cNvSpPr>
          <p:nvPr/>
        </p:nvSpPr>
        <p:spPr>
          <a:xfrm>
            <a:off x="524797" y="886174"/>
            <a:ext cx="4907815" cy="6155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>
              <a:buNone/>
              <a:defRPr sz="42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4000" dirty="0" err="1">
                <a:solidFill>
                  <a:srgbClr val="050505"/>
                </a:solidFill>
                <a:latin typeface="MiSans VF Semibold"/>
                <a:ea typeface="MiSans VF Semibold"/>
                <a:cs typeface="MiSans VF Semibold"/>
              </a:rPr>
              <a:t>关键洞察</a:t>
            </a:r>
            <a:endParaRPr sz="4000" dirty="0">
              <a:solidFill>
                <a:srgbClr val="050505"/>
              </a:solidFill>
              <a:latin typeface="MiSans VF Semibold"/>
              <a:ea typeface="MiSans VF Semibold"/>
              <a:cs typeface="MiSans VF Semibold"/>
            </a:endParaRPr>
          </a:p>
        </p:txBody>
      </p:sp>
      <p:sp>
        <p:nvSpPr>
          <p:cNvPr id="46" name="AutoShape 2">
            <a:extLst>
              <a:ext uri="{FF2B5EF4-FFF2-40B4-BE49-F238E27FC236}">
                <a16:creationId xmlns:a16="http://schemas.microsoft.com/office/drawing/2014/main" id="{9803BC24-3D06-621E-F5CD-27181EDD089F}"/>
              </a:ext>
            </a:extLst>
          </p:cNvPr>
          <p:cNvSpPr>
            <a:spLocks noGrp="1"/>
          </p:cNvSpPr>
          <p:nvPr/>
        </p:nvSpPr>
        <p:spPr>
          <a:xfrm>
            <a:off x="524797" y="6331065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800" dirty="0">
                <a:solidFill>
                  <a:srgbClr val="050505">
                    <a:alpha val="50000"/>
                  </a:srgbClr>
                </a:solidFill>
                <a:latin typeface="MiSans VF Light"/>
                <a:ea typeface="MiSans VF Light"/>
                <a:cs typeface="MiSans VF Light"/>
              </a:rPr>
              <a:t>YUANBAO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ED882F8D-599D-4C55-CCCA-4F1D2DB82D4C}"/>
              </a:ext>
            </a:extLst>
          </p:cNvPr>
          <p:cNvSpPr>
            <a:spLocks noGrp="1"/>
          </p:cNvSpPr>
          <p:nvPr/>
        </p:nvSpPr>
        <p:spPr>
          <a:xfrm>
            <a:off x="518492" y="1790700"/>
            <a:ext cx="2707084" cy="2013656"/>
          </a:xfrm>
          <a:prstGeom prst="roundRect">
            <a:avLst>
              <a:gd name="adj" fmla="val 9282"/>
            </a:avLst>
          </a:prstGeom>
          <a:solidFill>
            <a:srgbClr val="F5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tIns="180000"/>
          <a:lstStyle/>
          <a:p>
            <a:r>
              <a:rPr sz="1600" dirty="0" err="1">
                <a:latin typeface="MISANS VF MEDIUM"/>
                <a:ea typeface="MISANS VF MEDIUM"/>
                <a:cs typeface="MISANS VF MEDIUM"/>
              </a:rPr>
              <a:t>低功耗算力</a:t>
            </a:r>
            <a:endParaRPr lang="en-US" sz="1600" dirty="0">
              <a:latin typeface="MISANS VF MEDIUM"/>
              <a:ea typeface="MISANS VF MEDIUM"/>
              <a:cs typeface="MISANS VF MEDIUM"/>
            </a:endParaRPr>
          </a:p>
          <a:p>
            <a:endParaRPr lang="en-US" sz="12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  <a:p>
            <a:r>
              <a:rPr lang="en-US" sz="12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NPU </a:t>
            </a:r>
            <a:r>
              <a:rPr lang="zh-CN" altLang="en-US" sz="12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不再只服务旗舰芯片，开始进入穿戴、家居与工业节点。</a:t>
            </a: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241FC5C1-3BFC-BFF5-B022-B870703F8C74}"/>
              </a:ext>
            </a:extLst>
          </p:cNvPr>
          <p:cNvSpPr>
            <a:spLocks noGrp="1"/>
          </p:cNvSpPr>
          <p:nvPr/>
        </p:nvSpPr>
        <p:spPr>
          <a:xfrm>
            <a:off x="3354395" y="1790700"/>
            <a:ext cx="2707084" cy="2013656"/>
          </a:xfrm>
          <a:prstGeom prst="roundRect">
            <a:avLst>
              <a:gd name="adj" fmla="val 9282"/>
            </a:avLst>
          </a:prstGeom>
          <a:blipFill>
            <a:blip r:embed="rId3"/>
            <a:stretch>
              <a:fillRect t="-6362" b="-27724"/>
            </a:stretch>
          </a:blip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4C9ED399-668B-1527-04B6-297712531113}"/>
              </a:ext>
            </a:extLst>
          </p:cNvPr>
          <p:cNvSpPr>
            <a:spLocks noGrp="1"/>
          </p:cNvSpPr>
          <p:nvPr/>
        </p:nvSpPr>
        <p:spPr>
          <a:xfrm>
            <a:off x="518492" y="3928537"/>
            <a:ext cx="2707084" cy="2013656"/>
          </a:xfrm>
          <a:prstGeom prst="roundRect">
            <a:avLst>
              <a:gd name="adj" fmla="val 9282"/>
            </a:avLst>
          </a:prstGeom>
          <a:blipFill>
            <a:blip r:embed="rId4"/>
            <a:srcRect/>
            <a:stretch>
              <a:fillRect t="-945" b="-167927"/>
            </a:stretch>
          </a:blip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B95FC5DF-081F-3E3C-C37A-BD48461FC896}"/>
              </a:ext>
            </a:extLst>
          </p:cNvPr>
          <p:cNvSpPr>
            <a:spLocks noGrp="1"/>
          </p:cNvSpPr>
          <p:nvPr/>
        </p:nvSpPr>
        <p:spPr>
          <a:xfrm>
            <a:off x="9026200" y="3928537"/>
            <a:ext cx="2707084" cy="2013656"/>
          </a:xfrm>
          <a:prstGeom prst="roundRect">
            <a:avLst>
              <a:gd name="adj" fmla="val 9282"/>
            </a:avLst>
          </a:prstGeom>
          <a:blipFill>
            <a:blip r:embed="rId5"/>
            <a:srcRect/>
            <a:stretch>
              <a:fillRect l="-19016"/>
            </a:stretch>
          </a:blip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C0C487E6-2139-307B-01CB-A58767736A66}"/>
              </a:ext>
            </a:extLst>
          </p:cNvPr>
          <p:cNvSpPr>
            <a:spLocks noGrp="1"/>
          </p:cNvSpPr>
          <p:nvPr/>
        </p:nvSpPr>
        <p:spPr>
          <a:xfrm>
            <a:off x="6190298" y="1790700"/>
            <a:ext cx="2707084" cy="2013656"/>
          </a:xfrm>
          <a:prstGeom prst="roundRect">
            <a:avLst>
              <a:gd name="adj" fmla="val 9282"/>
            </a:avLst>
          </a:prstGeom>
          <a:solidFill>
            <a:srgbClr val="F5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tIns="180000"/>
          <a:lstStyle/>
          <a:p>
            <a:r>
              <a:rPr sz="1600" dirty="0" err="1">
                <a:latin typeface="MISANS VF MEDIUM"/>
                <a:ea typeface="MISANS VF MEDIUM"/>
                <a:cs typeface="MISANS VF MEDIUM"/>
              </a:rPr>
              <a:t>传感融合</a:t>
            </a:r>
            <a:r>
              <a:rPr sz="1600" dirty="0">
                <a:latin typeface="MISANS VF MEDIUM"/>
                <a:ea typeface="MISANS VF MEDIUM"/>
                <a:cs typeface="MISANS VF MEDIUM"/>
              </a:rPr>
              <a:t> </a:t>
            </a:r>
            <a:endParaRPr lang="en-US" sz="1600" dirty="0">
              <a:latin typeface="MISANS VF MEDIUM"/>
              <a:ea typeface="MISANS VF MEDIUM"/>
              <a:cs typeface="MISANS VF MEDIUM"/>
            </a:endParaRPr>
          </a:p>
          <a:p>
            <a:endParaRPr lang="en-US" sz="1200" dirty="0">
              <a:latin typeface="MISANS VF MEDIUM"/>
              <a:ea typeface="MISANS VF MEDIUM"/>
              <a:cs typeface="MISANS VF MEDIUM"/>
            </a:endParaRPr>
          </a:p>
          <a:p>
            <a:r>
              <a:rPr sz="1200" dirty="0" err="1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摄像头、毫米波、IMU</a:t>
            </a:r>
            <a:r>
              <a:rPr sz="12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</a:t>
            </a:r>
            <a:r>
              <a:rPr sz="1200" dirty="0" err="1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与音频共同构建设备语义</a:t>
            </a:r>
            <a:r>
              <a:rPr sz="12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E5369FC6-134F-4A9A-498A-44AEE9B93546}"/>
              </a:ext>
            </a:extLst>
          </p:cNvPr>
          <p:cNvSpPr>
            <a:spLocks noGrp="1"/>
          </p:cNvSpPr>
          <p:nvPr/>
        </p:nvSpPr>
        <p:spPr>
          <a:xfrm>
            <a:off x="9026200" y="1790700"/>
            <a:ext cx="2707084" cy="2013656"/>
          </a:xfrm>
          <a:prstGeom prst="roundRect">
            <a:avLst>
              <a:gd name="adj" fmla="val 9282"/>
            </a:avLst>
          </a:prstGeom>
          <a:solidFill>
            <a:srgbClr val="F5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tIns="180000"/>
          <a:lstStyle/>
          <a:p>
            <a:r>
              <a:rPr sz="1600" dirty="0" err="1">
                <a:latin typeface="MISANS VF MEDIUM"/>
                <a:ea typeface="MISANS VF MEDIUM"/>
                <a:cs typeface="MISANS VF MEDIUM"/>
              </a:rPr>
              <a:t>端云协同</a:t>
            </a:r>
            <a:r>
              <a:rPr sz="1600" dirty="0">
                <a:latin typeface="MISANS VF MEDIUM"/>
                <a:ea typeface="MISANS VF MEDIUM"/>
                <a:cs typeface="MISANS VF MEDIUM"/>
              </a:rPr>
              <a:t> </a:t>
            </a:r>
            <a:endParaRPr lang="en-US" sz="1600" dirty="0">
              <a:latin typeface="MISANS VF MEDIUM"/>
              <a:ea typeface="MISANS VF MEDIUM"/>
              <a:cs typeface="MISANS VF MEDIUM"/>
            </a:endParaRPr>
          </a:p>
          <a:p>
            <a:endParaRPr lang="en-US" sz="12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  <a:p>
            <a:r>
              <a:rPr sz="1200" dirty="0" err="1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本地完成高频判断，云端负责训练、审计与策略更新</a:t>
            </a:r>
            <a:r>
              <a:rPr sz="12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A71869ED-4EBC-20B1-1839-DDC147A57234}"/>
              </a:ext>
            </a:extLst>
          </p:cNvPr>
          <p:cNvSpPr>
            <a:spLocks noGrp="1"/>
          </p:cNvSpPr>
          <p:nvPr/>
        </p:nvSpPr>
        <p:spPr>
          <a:xfrm>
            <a:off x="6190298" y="3928537"/>
            <a:ext cx="2707084" cy="2013656"/>
          </a:xfrm>
          <a:prstGeom prst="roundRect">
            <a:avLst>
              <a:gd name="adj" fmla="val 9282"/>
            </a:avLst>
          </a:prstGeom>
          <a:solidFill>
            <a:srgbClr val="F5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tIns="180000"/>
          <a:lstStyle/>
          <a:p>
            <a:r>
              <a:rPr sz="1600">
                <a:latin typeface="MISANS VF MEDIUM"/>
                <a:ea typeface="MISANS VF MEDIUM"/>
                <a:cs typeface="MISANS VF MEDIUM"/>
              </a:rPr>
              <a:t>结构设计 | 天线、散热、屏蔽与堆叠决定智能体验上限。</a:t>
            </a:r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27E37A9C-A14D-423A-65AC-8B52BBB80DF5}"/>
              </a:ext>
            </a:extLst>
          </p:cNvPr>
          <p:cNvSpPr>
            <a:spLocks noGrp="1"/>
          </p:cNvSpPr>
          <p:nvPr/>
        </p:nvSpPr>
        <p:spPr>
          <a:xfrm>
            <a:off x="3354394" y="3928537"/>
            <a:ext cx="2707084" cy="2013656"/>
          </a:xfrm>
          <a:prstGeom prst="roundRect">
            <a:avLst>
              <a:gd name="adj" fmla="val 9282"/>
            </a:avLst>
          </a:prstGeom>
          <a:solidFill>
            <a:srgbClr val="F5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tIns="180000"/>
          <a:lstStyle/>
          <a:p>
            <a:r>
              <a:rPr sz="1600">
                <a:latin typeface="MISANS VF MEDIUM"/>
                <a:ea typeface="MISANS VF MEDIUM"/>
                <a:cs typeface="MISANS VF MEDIUM"/>
              </a:rPr>
              <a:t>量产可靠性 | 测试覆盖、固件回滚与日志追踪成为核心护城河。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21C4719-9931-88F1-D4A4-13BDD20D1A2D}"/>
              </a:ext>
            </a:extLst>
          </p:cNvPr>
          <p:cNvSpPr>
            <a:spLocks noGrp="1"/>
          </p:cNvSpPr>
          <p:nvPr/>
        </p:nvSpPr>
        <p:spPr>
          <a:xfrm>
            <a:off x="524797" y="385358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800" dirty="0">
                <a:solidFill>
                  <a:srgbClr val="050505">
                    <a:alpha val="50000"/>
                  </a:srgbClr>
                </a:solidFill>
                <a:latin typeface="MiSans VF Light"/>
                <a:ea typeface="MiSans VF Light"/>
                <a:cs typeface="MiSans VF Light"/>
              </a:rPr>
              <a:t>Intelligent Hardware System 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2B70FFA8-333A-1F88-0B00-2B0315D568A3}"/>
              </a:ext>
            </a:extLst>
          </p:cNvPr>
          <p:cNvSpPr>
            <a:spLocks noGrp="1"/>
          </p:cNvSpPr>
          <p:nvPr/>
        </p:nvSpPr>
        <p:spPr>
          <a:xfrm>
            <a:off x="8986185" y="385358"/>
            <a:ext cx="2747099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lang="en-US" altLang="zh-CN" sz="800" dirty="0">
                <a:solidFill>
                  <a:srgbClr val="050505">
                    <a:alpha val="50000"/>
                  </a:srgbClr>
                </a:solidFill>
                <a:latin typeface="MiSans VF Light"/>
                <a:ea typeface="MiSans VF Light"/>
                <a:cs typeface="MiSans VF Light"/>
              </a:rPr>
              <a:t>Pages</a:t>
            </a:r>
            <a:endParaRPr sz="800" dirty="0">
              <a:solidFill>
                <a:srgbClr val="050505">
                  <a:alpha val="50000"/>
                </a:srgbClr>
              </a:solidFill>
              <a:latin typeface="MiSans VF Light"/>
              <a:ea typeface="MiSans VF Light"/>
              <a:cs typeface="MiSans VF Light"/>
            </a:endParaRPr>
          </a:p>
        </p:txBody>
      </p:sp>
    </p:spTree>
    <p:extLst>
      <p:ext uri="{BB962C8B-B14F-4D97-AF65-F5344CB8AC3E}">
        <p14:creationId xmlns:p14="http://schemas.microsoft.com/office/powerpoint/2010/main" val="1267314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同侧圆角矩形 13">
            <a:extLst>
              <a:ext uri="{FF2B5EF4-FFF2-40B4-BE49-F238E27FC236}">
                <a16:creationId xmlns:a16="http://schemas.microsoft.com/office/drawing/2014/main" id="{513B2697-A6B2-B1DE-6457-AB0BA6B3C4E8}"/>
              </a:ext>
            </a:extLst>
          </p:cNvPr>
          <p:cNvSpPr>
            <a:spLocks noGrp="1"/>
          </p:cNvSpPr>
          <p:nvPr/>
        </p:nvSpPr>
        <p:spPr>
          <a:xfrm rot="10800000">
            <a:off x="6191722" y="3349151"/>
            <a:ext cx="2707084" cy="2593042"/>
          </a:xfrm>
          <a:prstGeom prst="round2SameRect">
            <a:avLst>
              <a:gd name="adj1" fmla="val 11481"/>
              <a:gd name="adj2" fmla="val 0"/>
            </a:avLst>
          </a:prstGeom>
          <a:blipFill>
            <a:blip r:embed="rId3"/>
            <a:srcRect/>
            <a:stretch>
              <a:fillRect t="-94984" b="-13812"/>
            </a:stretch>
          </a:blip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F3562A3-F991-BCDE-503F-30BF15A94102}"/>
              </a:ext>
            </a:extLst>
          </p:cNvPr>
          <p:cNvSpPr>
            <a:spLocks noGrp="1"/>
          </p:cNvSpPr>
          <p:nvPr/>
        </p:nvSpPr>
        <p:spPr>
          <a:xfrm>
            <a:off x="524798" y="886174"/>
            <a:ext cx="2496698" cy="123110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>
              <a:buNone/>
              <a:defRPr sz="42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4000" dirty="0" err="1">
                <a:solidFill>
                  <a:srgbClr val="050505"/>
                </a:solidFill>
                <a:latin typeface="MiSans VF Semibold"/>
                <a:ea typeface="MiSans VF Semibold"/>
                <a:cs typeface="MiSans VF Semibold"/>
              </a:rPr>
              <a:t>硬件方案图文拆解</a:t>
            </a:r>
            <a:endParaRPr sz="4000" dirty="0">
              <a:solidFill>
                <a:srgbClr val="050505"/>
              </a:solidFill>
              <a:latin typeface="MiSans VF Semibold"/>
              <a:ea typeface="MiSans VF Semibold"/>
              <a:cs typeface="MiSans VF Semibold"/>
            </a:endParaRPr>
          </a:p>
        </p:txBody>
      </p:sp>
      <p:sp>
        <p:nvSpPr>
          <p:cNvPr id="46" name="AutoShape 2">
            <a:extLst>
              <a:ext uri="{FF2B5EF4-FFF2-40B4-BE49-F238E27FC236}">
                <a16:creationId xmlns:a16="http://schemas.microsoft.com/office/drawing/2014/main" id="{6AB885D2-B9F1-C6E2-2146-87254FD2FFCD}"/>
              </a:ext>
            </a:extLst>
          </p:cNvPr>
          <p:cNvSpPr>
            <a:spLocks noGrp="1"/>
          </p:cNvSpPr>
          <p:nvPr/>
        </p:nvSpPr>
        <p:spPr>
          <a:xfrm>
            <a:off x="524797" y="6331065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800" dirty="0">
                <a:solidFill>
                  <a:srgbClr val="050505">
                    <a:alpha val="50000"/>
                  </a:srgbClr>
                </a:solidFill>
                <a:latin typeface="MiSans VF Light"/>
                <a:ea typeface="MiSans VF Light"/>
                <a:cs typeface="MiSans VF Light"/>
              </a:rPr>
              <a:t>YUANBAO</a:t>
            </a:r>
          </a:p>
        </p:txBody>
      </p:sp>
      <p:sp>
        <p:nvSpPr>
          <p:cNvPr id="48" name="同侧圆角矩形 47">
            <a:extLst>
              <a:ext uri="{FF2B5EF4-FFF2-40B4-BE49-F238E27FC236}">
                <a16:creationId xmlns:a16="http://schemas.microsoft.com/office/drawing/2014/main" id="{7BC14F10-16CE-4261-8BE4-848EA06E72FB}"/>
              </a:ext>
            </a:extLst>
          </p:cNvPr>
          <p:cNvSpPr>
            <a:spLocks noGrp="1"/>
          </p:cNvSpPr>
          <p:nvPr/>
        </p:nvSpPr>
        <p:spPr>
          <a:xfrm>
            <a:off x="3354395" y="1790699"/>
            <a:ext cx="2707084" cy="2593042"/>
          </a:xfrm>
          <a:prstGeom prst="round2SameRect">
            <a:avLst>
              <a:gd name="adj1" fmla="val 12855"/>
              <a:gd name="adj2" fmla="val 0"/>
            </a:avLst>
          </a:prstGeom>
          <a:blipFill>
            <a:blip r:embed="rId4"/>
            <a:srcRect/>
            <a:stretch>
              <a:fillRect t="-2606" b="-24022"/>
            </a:stretch>
          </a:blip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同侧圆角矩形 57">
            <a:extLst>
              <a:ext uri="{FF2B5EF4-FFF2-40B4-BE49-F238E27FC236}">
                <a16:creationId xmlns:a16="http://schemas.microsoft.com/office/drawing/2014/main" id="{8AFBC93D-A38D-5DA5-0304-3FB0B789094B}"/>
              </a:ext>
            </a:extLst>
          </p:cNvPr>
          <p:cNvSpPr>
            <a:spLocks noGrp="1"/>
          </p:cNvSpPr>
          <p:nvPr/>
        </p:nvSpPr>
        <p:spPr>
          <a:xfrm flipV="1">
            <a:off x="3354394" y="4383741"/>
            <a:ext cx="2707084" cy="1558452"/>
          </a:xfrm>
          <a:prstGeom prst="round2SameRect">
            <a:avLst/>
          </a:prstGeom>
          <a:solidFill>
            <a:srgbClr val="F5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tIns="180000"/>
          <a:lstStyle/>
          <a:p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C83002-36C8-0701-0775-C17C8CEA3B7B}"/>
              </a:ext>
            </a:extLst>
          </p:cNvPr>
          <p:cNvSpPr>
            <a:spLocks noGrp="1"/>
          </p:cNvSpPr>
          <p:nvPr/>
        </p:nvSpPr>
        <p:spPr>
          <a:xfrm>
            <a:off x="524796" y="2404505"/>
            <a:ext cx="249669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sz="1200" dirty="0" err="1">
                <a:latin typeface="MiSans VF Light"/>
                <a:ea typeface="MiSans VF Light"/>
                <a:cs typeface="MiSans VF Light"/>
              </a:rPr>
              <a:t>用这页承接产品结构、关键模组与现场流程</a:t>
            </a:r>
            <a:r>
              <a:rPr lang="zh-CN" altLang="en-US" sz="1200" dirty="0">
                <a:latin typeface="MiSans VF Light"/>
                <a:ea typeface="MiSans VF Light"/>
                <a:cs typeface="MiSans VF Light"/>
              </a:rPr>
              <a:t>，可以替换用于示意图片。</a:t>
            </a:r>
            <a:endParaRPr sz="1200" dirty="0">
              <a:latin typeface="MiSans VF Light"/>
              <a:ea typeface="MiSans VF Light"/>
              <a:cs typeface="MiSans VF Ligh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B463E79-1B43-9925-ABFF-E5F398FDB32E}"/>
              </a:ext>
            </a:extLst>
          </p:cNvPr>
          <p:cNvSpPr>
            <a:spLocks noGrp="1"/>
          </p:cNvSpPr>
          <p:nvPr/>
        </p:nvSpPr>
        <p:spPr>
          <a:xfrm>
            <a:off x="3563471" y="4543886"/>
            <a:ext cx="233588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dirty="0" err="1">
                <a:latin typeface="MISANS VF MEDIUM"/>
                <a:ea typeface="MISANS VF MEDIUM"/>
                <a:cs typeface="MISANS VF MEDIUM"/>
              </a:rPr>
              <a:t>主控</a:t>
            </a:r>
            <a:r>
              <a:rPr lang="zh-CN" altLang="en-US" sz="1600" dirty="0">
                <a:latin typeface="MISANS VF MEDIUM"/>
                <a:ea typeface="MISANS VF MEDIUM"/>
                <a:cs typeface="MISANS VF MEDIUM"/>
              </a:rPr>
              <a:t>板</a:t>
            </a:r>
            <a:endParaRPr sz="1600" dirty="0">
              <a:latin typeface="MISANS VF MEDIUM"/>
              <a:ea typeface="MISANS VF MEDIUM"/>
              <a:cs typeface="MISANS VF MEDIUM"/>
            </a:endParaRPr>
          </a:p>
        </p:txBody>
      </p:sp>
      <p:sp>
        <p:nvSpPr>
          <p:cNvPr id="8" name="同侧圆角矩形 7">
            <a:extLst>
              <a:ext uri="{FF2B5EF4-FFF2-40B4-BE49-F238E27FC236}">
                <a16:creationId xmlns:a16="http://schemas.microsoft.com/office/drawing/2014/main" id="{8E0775EF-747D-3CDC-8DD2-8A333D110D1B}"/>
              </a:ext>
            </a:extLst>
          </p:cNvPr>
          <p:cNvSpPr>
            <a:spLocks noGrp="1"/>
          </p:cNvSpPr>
          <p:nvPr/>
        </p:nvSpPr>
        <p:spPr>
          <a:xfrm rot="10800000" flipV="1">
            <a:off x="6191722" y="1789879"/>
            <a:ext cx="2707084" cy="1551084"/>
          </a:xfrm>
          <a:prstGeom prst="round2SameRect">
            <a:avLst>
              <a:gd name="adj1" fmla="val 20495"/>
              <a:gd name="adj2" fmla="val 0"/>
            </a:avLst>
          </a:prstGeom>
          <a:solidFill>
            <a:srgbClr val="F5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tIns="180000"/>
          <a:lstStyle/>
          <a:p>
            <a:endParaRPr/>
          </a:p>
        </p:txBody>
      </p:sp>
      <p:sp>
        <p:nvSpPr>
          <p:cNvPr id="10" name="同侧圆角矩形 9">
            <a:extLst>
              <a:ext uri="{FF2B5EF4-FFF2-40B4-BE49-F238E27FC236}">
                <a16:creationId xmlns:a16="http://schemas.microsoft.com/office/drawing/2014/main" id="{93379887-73BD-339E-B66D-96F12EBF4857}"/>
              </a:ext>
            </a:extLst>
          </p:cNvPr>
          <p:cNvSpPr>
            <a:spLocks noGrp="1"/>
          </p:cNvSpPr>
          <p:nvPr/>
        </p:nvSpPr>
        <p:spPr>
          <a:xfrm>
            <a:off x="9029054" y="1790699"/>
            <a:ext cx="2707084" cy="2593041"/>
          </a:xfrm>
          <a:prstGeom prst="round2SameRect">
            <a:avLst>
              <a:gd name="adj1" fmla="val 11629"/>
              <a:gd name="adj2" fmla="val 0"/>
            </a:avLst>
          </a:prstGeom>
          <a:blipFill>
            <a:blip r:embed="rId5"/>
            <a:srcRect/>
            <a:stretch>
              <a:fillRect t="-62705" b="-106167"/>
            </a:stretch>
          </a:blip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同侧圆角矩形 10">
            <a:extLst>
              <a:ext uri="{FF2B5EF4-FFF2-40B4-BE49-F238E27FC236}">
                <a16:creationId xmlns:a16="http://schemas.microsoft.com/office/drawing/2014/main" id="{4C9E44E2-BC7C-3A9F-E1F6-EFAD560F9724}"/>
              </a:ext>
            </a:extLst>
          </p:cNvPr>
          <p:cNvSpPr>
            <a:spLocks noGrp="1"/>
          </p:cNvSpPr>
          <p:nvPr/>
        </p:nvSpPr>
        <p:spPr>
          <a:xfrm flipV="1">
            <a:off x="9029053" y="4383739"/>
            <a:ext cx="2707084" cy="1558453"/>
          </a:xfrm>
          <a:prstGeom prst="round2SameRect">
            <a:avLst/>
          </a:prstGeom>
          <a:solidFill>
            <a:srgbClr val="F5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tIns="180000"/>
          <a:lstStyle/>
          <a:p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C9CE4AC-C03F-4431-62FF-4DF781226638}"/>
              </a:ext>
            </a:extLst>
          </p:cNvPr>
          <p:cNvSpPr>
            <a:spLocks noGrp="1"/>
          </p:cNvSpPr>
          <p:nvPr/>
        </p:nvSpPr>
        <p:spPr>
          <a:xfrm>
            <a:off x="6400800" y="2056180"/>
            <a:ext cx="233588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dirty="0" err="1">
                <a:latin typeface="MISANS VF MEDIUM"/>
                <a:ea typeface="MISANS VF MEDIUM"/>
                <a:cs typeface="MISANS VF MEDIUM"/>
              </a:rPr>
              <a:t>传感层</a:t>
            </a:r>
            <a:endParaRPr sz="1600" dirty="0">
              <a:latin typeface="MISANS VF MEDIUM"/>
              <a:ea typeface="MISANS VF MEDIUM"/>
              <a:cs typeface="MISANS VF MEDIUM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93AED59-75AA-D223-3C3E-6F792F620B02}"/>
              </a:ext>
            </a:extLst>
          </p:cNvPr>
          <p:cNvSpPr>
            <a:spLocks noGrp="1"/>
          </p:cNvSpPr>
          <p:nvPr/>
        </p:nvSpPr>
        <p:spPr>
          <a:xfrm>
            <a:off x="524797" y="385358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800" dirty="0">
                <a:solidFill>
                  <a:srgbClr val="050505">
                    <a:alpha val="50000"/>
                  </a:srgbClr>
                </a:solidFill>
                <a:latin typeface="MiSans VF Light"/>
                <a:ea typeface="MiSans VF Light"/>
                <a:cs typeface="MiSans VF Light"/>
              </a:rPr>
              <a:t>Intelligent Hardware System 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E6A66DC6-169C-F490-BE70-9A8045EE9DF2}"/>
              </a:ext>
            </a:extLst>
          </p:cNvPr>
          <p:cNvSpPr>
            <a:spLocks noGrp="1"/>
          </p:cNvSpPr>
          <p:nvPr/>
        </p:nvSpPr>
        <p:spPr>
          <a:xfrm>
            <a:off x="8986185" y="385358"/>
            <a:ext cx="2747099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lang="en-US" altLang="zh-CN" sz="800" dirty="0">
                <a:solidFill>
                  <a:srgbClr val="050505">
                    <a:alpha val="50000"/>
                  </a:srgbClr>
                </a:solidFill>
                <a:latin typeface="MiSans VF Light"/>
                <a:ea typeface="MiSans VF Light"/>
                <a:cs typeface="MiSans VF Light"/>
              </a:rPr>
              <a:t>Pages</a:t>
            </a:r>
            <a:endParaRPr sz="800" dirty="0">
              <a:solidFill>
                <a:srgbClr val="050505">
                  <a:alpha val="50000"/>
                </a:srgbClr>
              </a:solidFill>
              <a:latin typeface="MiSans VF Light"/>
              <a:ea typeface="MiSans VF Light"/>
              <a:cs typeface="MiSans VF Light"/>
            </a:endParaRPr>
          </a:p>
        </p:txBody>
      </p:sp>
      <p:sp>
        <p:nvSpPr>
          <p:cNvPr id="5" name="文本框 5">
            <a:extLst>
              <a:ext uri="{FF2B5EF4-FFF2-40B4-BE49-F238E27FC236}">
                <a16:creationId xmlns:a16="http://schemas.microsoft.com/office/drawing/2014/main" id="{0984A772-8B9C-1060-F7A2-99C85153CF70}"/>
              </a:ext>
            </a:extLst>
          </p:cNvPr>
          <p:cNvSpPr>
            <a:spLocks noGrp="1"/>
          </p:cNvSpPr>
          <p:nvPr/>
        </p:nvSpPr>
        <p:spPr>
          <a:xfrm>
            <a:off x="3563471" y="4876395"/>
            <a:ext cx="233588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2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统一连接传感器、执行器与本地模型。</a:t>
            </a:r>
            <a:endParaRPr sz="12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7" name="文本框 14">
            <a:extLst>
              <a:ext uri="{FF2B5EF4-FFF2-40B4-BE49-F238E27FC236}">
                <a16:creationId xmlns:a16="http://schemas.microsoft.com/office/drawing/2014/main" id="{7767D613-621C-4943-F5D3-C5C32C555943}"/>
              </a:ext>
            </a:extLst>
          </p:cNvPr>
          <p:cNvSpPr>
            <a:spLocks noGrp="1"/>
          </p:cNvSpPr>
          <p:nvPr/>
        </p:nvSpPr>
        <p:spPr>
          <a:xfrm>
            <a:off x="6400800" y="2404505"/>
            <a:ext cx="233588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2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摄像头、毫米波、</a:t>
            </a:r>
            <a:r>
              <a:rPr lang="en-US" altLang="zh-CN" sz="12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IMU </a:t>
            </a:r>
            <a:r>
              <a:rPr lang="zh-CN" altLang="en-US" sz="12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提供实时环境语义。</a:t>
            </a:r>
            <a:endParaRPr sz="12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9" name="文本框 5">
            <a:extLst>
              <a:ext uri="{FF2B5EF4-FFF2-40B4-BE49-F238E27FC236}">
                <a16:creationId xmlns:a16="http://schemas.microsoft.com/office/drawing/2014/main" id="{10814123-8C46-D468-8F73-7C334BE1EB6A}"/>
              </a:ext>
            </a:extLst>
          </p:cNvPr>
          <p:cNvSpPr>
            <a:spLocks noGrp="1"/>
          </p:cNvSpPr>
          <p:nvPr/>
        </p:nvSpPr>
        <p:spPr>
          <a:xfrm>
            <a:off x="9214653" y="4543886"/>
            <a:ext cx="233588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600" dirty="0">
                <a:latin typeface="MISANS VF MEDIUM"/>
                <a:ea typeface="MISANS VF MEDIUM"/>
                <a:cs typeface="MISANS VF MEDIUM"/>
              </a:rPr>
              <a:t>边缘推理</a:t>
            </a:r>
            <a:endParaRPr sz="1600" dirty="0">
              <a:latin typeface="MISANS VF MEDIUM"/>
              <a:ea typeface="MISANS VF MEDIUM"/>
              <a:cs typeface="MISANS VF MEDIUM"/>
            </a:endParaRPr>
          </a:p>
        </p:txBody>
      </p:sp>
      <p:sp>
        <p:nvSpPr>
          <p:cNvPr id="13" name="文本框 5">
            <a:extLst>
              <a:ext uri="{FF2B5EF4-FFF2-40B4-BE49-F238E27FC236}">
                <a16:creationId xmlns:a16="http://schemas.microsoft.com/office/drawing/2014/main" id="{6A419B90-3378-78E1-D469-1270CCCA0F39}"/>
              </a:ext>
            </a:extLst>
          </p:cNvPr>
          <p:cNvSpPr>
            <a:spLocks noGrp="1"/>
          </p:cNvSpPr>
          <p:nvPr/>
        </p:nvSpPr>
        <p:spPr>
          <a:xfrm>
            <a:off x="9214653" y="4876395"/>
            <a:ext cx="233588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2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只上传结果，不上传原始隐私数据，降低延迟与带宽压力。</a:t>
            </a:r>
            <a:endParaRPr sz="12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8984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AutoShape 2">
            <a:extLst>
              <a:ext uri="{FF2B5EF4-FFF2-40B4-BE49-F238E27FC236}">
                <a16:creationId xmlns:a16="http://schemas.microsoft.com/office/drawing/2014/main" id="{2243CE33-7A03-2B53-F5EE-7E5DA32E4787}"/>
              </a:ext>
            </a:extLst>
          </p:cNvPr>
          <p:cNvSpPr>
            <a:spLocks noGrp="1"/>
          </p:cNvSpPr>
          <p:nvPr/>
        </p:nvSpPr>
        <p:spPr>
          <a:xfrm>
            <a:off x="524797" y="6331065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800" dirty="0">
                <a:solidFill>
                  <a:srgbClr val="050505">
                    <a:alpha val="50000"/>
                  </a:srgbClr>
                </a:solidFill>
                <a:latin typeface="MiSans VF Light"/>
                <a:ea typeface="MiSans VF Light"/>
                <a:cs typeface="MiSans VF Light"/>
              </a:rPr>
              <a:t>YUANBAO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47C8A10E-EA1B-29EC-17A2-7CCE215BAD08}"/>
              </a:ext>
            </a:extLst>
          </p:cNvPr>
          <p:cNvSpPr>
            <a:spLocks noGrp="1"/>
          </p:cNvSpPr>
          <p:nvPr/>
        </p:nvSpPr>
        <p:spPr>
          <a:xfrm>
            <a:off x="6190298" y="915808"/>
            <a:ext cx="2707084" cy="1799684"/>
          </a:xfrm>
          <a:prstGeom prst="roundRect">
            <a:avLst>
              <a:gd name="adj" fmla="val 14671"/>
            </a:avLst>
          </a:prstGeom>
          <a:solidFill>
            <a:srgbClr val="C0C5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08000" tIns="180000" rIns="108000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cap="none" dirty="0">
              <a:ln>
                <a:noFill/>
              </a:ln>
              <a:solidFill>
                <a:srgbClr val="000000"/>
              </a:solidFill>
              <a:latin typeface="MISANS VF MEDIUM"/>
              <a:ea typeface="MISANS VF MEDIUM"/>
              <a:cs typeface="MISANS VF MEDIUM"/>
            </a:endParaRPr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96F9D0CC-691E-A1BA-D254-82B3C6C8AB3F}"/>
              </a:ext>
            </a:extLst>
          </p:cNvPr>
          <p:cNvSpPr>
            <a:spLocks noGrp="1"/>
          </p:cNvSpPr>
          <p:nvPr/>
        </p:nvSpPr>
        <p:spPr>
          <a:xfrm>
            <a:off x="6190298" y="2840182"/>
            <a:ext cx="2707084" cy="3102011"/>
          </a:xfrm>
          <a:prstGeom prst="roundRect">
            <a:avLst>
              <a:gd name="adj" fmla="val 9282"/>
            </a:avLst>
          </a:prstGeom>
          <a:solidFill>
            <a:srgbClr val="F5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08000" tIns="180000" rIns="108000"/>
          <a:lstStyle/>
          <a:p>
            <a:endParaRPr sz="2800" dirty="0">
              <a:latin typeface="MISANS VF MEDIUM"/>
              <a:ea typeface="MISANS VF MEDIUM"/>
              <a:cs typeface="MISANS VF MEDIUM"/>
            </a:endParaRPr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F11F060E-F58B-4BCF-1A5C-16059D608B84}"/>
              </a:ext>
            </a:extLst>
          </p:cNvPr>
          <p:cNvSpPr>
            <a:spLocks noGrp="1"/>
          </p:cNvSpPr>
          <p:nvPr/>
        </p:nvSpPr>
        <p:spPr>
          <a:xfrm>
            <a:off x="3354394" y="886174"/>
            <a:ext cx="2707084" cy="5056019"/>
          </a:xfrm>
          <a:prstGeom prst="roundRect">
            <a:avLst>
              <a:gd name="adj" fmla="val 9282"/>
            </a:avLst>
          </a:prstGeom>
          <a:solidFill>
            <a:srgbClr val="F5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08000" tIns="180000" rIns="108000"/>
          <a:lstStyle/>
          <a:p>
            <a:endParaRPr sz="2800" dirty="0">
              <a:latin typeface="MISANS VF MEDIUM"/>
              <a:ea typeface="MISANS VF MEDIUM"/>
              <a:cs typeface="MISANS VF MEDIUM"/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DA429C81-7B85-9A6D-444B-9E8C491385D7}"/>
              </a:ext>
            </a:extLst>
          </p:cNvPr>
          <p:cNvSpPr>
            <a:spLocks noGrp="1"/>
          </p:cNvSpPr>
          <p:nvPr/>
        </p:nvSpPr>
        <p:spPr>
          <a:xfrm>
            <a:off x="9030480" y="3713018"/>
            <a:ext cx="2707084" cy="2229175"/>
          </a:xfrm>
          <a:prstGeom prst="roundRect">
            <a:avLst>
              <a:gd name="adj" fmla="val 14389"/>
            </a:avLst>
          </a:prstGeom>
          <a:solidFill>
            <a:srgbClr val="0074F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08000" tIns="180000" rIns="108000"/>
          <a:lstStyle/>
          <a:p>
            <a:endParaRPr sz="2800" dirty="0">
              <a:solidFill>
                <a:srgbClr val="F5F5F9"/>
              </a:solidFill>
              <a:latin typeface="MISANS VF MEDIUM"/>
              <a:ea typeface="MISANS VF MEDIUM"/>
              <a:cs typeface="MISANS VF MEDIUM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D640963-2540-1451-9D48-70AF617D688B}"/>
              </a:ext>
            </a:extLst>
          </p:cNvPr>
          <p:cNvSpPr>
            <a:spLocks noGrp="1"/>
          </p:cNvSpPr>
          <p:nvPr/>
        </p:nvSpPr>
        <p:spPr>
          <a:xfrm>
            <a:off x="9030480" y="915807"/>
            <a:ext cx="2707084" cy="2686375"/>
          </a:xfrm>
          <a:prstGeom prst="roundRect">
            <a:avLst>
              <a:gd name="adj" fmla="val 9282"/>
            </a:avLst>
          </a:prstGeom>
          <a:solidFill>
            <a:srgbClr val="2D2D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08000" tIns="180000" rIns="108000"/>
          <a:lstStyle/>
          <a:p>
            <a:endParaRPr sz="2800" dirty="0">
              <a:solidFill>
                <a:schemeClr val="bg1"/>
              </a:solidFill>
              <a:latin typeface="MISANS VF MEDIUM"/>
              <a:ea typeface="MISANS VF MEDIUM"/>
              <a:cs typeface="MISANS VF MEDIUM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9F971A-5EFB-72F2-3EAA-E216E6B8C157}"/>
              </a:ext>
            </a:extLst>
          </p:cNvPr>
          <p:cNvSpPr txBox="1"/>
          <p:nvPr/>
        </p:nvSpPr>
        <p:spPr>
          <a:xfrm>
            <a:off x="3584450" y="1843495"/>
            <a:ext cx="2313158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2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主流端侧 </a:t>
            </a:r>
            <a:r>
              <a:rPr lang="en-US" altLang="zh-CN" sz="12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NPU </a:t>
            </a:r>
            <a:r>
              <a:rPr lang="zh-CN" altLang="en-US" sz="12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可覆盖轻量视觉、语音与控制模型。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C6728F-36A4-D697-5BC7-6874AE67127E}"/>
              </a:ext>
            </a:extLst>
          </p:cNvPr>
          <p:cNvSpPr txBox="1"/>
          <p:nvPr/>
        </p:nvSpPr>
        <p:spPr>
          <a:xfrm>
            <a:off x="3584448" y="1181833"/>
            <a:ext cx="231315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800" dirty="0">
                <a:latin typeface="MISANS VF MEDIUM"/>
                <a:ea typeface="MISANS VF MEDIUM"/>
                <a:cs typeface="MISANS VF MEDIUM"/>
              </a:rPr>
              <a:t>8 Tops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6F5769D-EBF6-EC7A-8DFC-B87510ABC3EB}"/>
              </a:ext>
            </a:extLst>
          </p:cNvPr>
          <p:cNvSpPr txBox="1"/>
          <p:nvPr/>
        </p:nvSpPr>
        <p:spPr>
          <a:xfrm>
            <a:off x="6389401" y="1843495"/>
            <a:ext cx="231315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2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本地唤醒到首帧推理响应。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8EAA94-9A41-DD0F-4BF6-1CBEE3F87042}"/>
              </a:ext>
            </a:extLst>
          </p:cNvPr>
          <p:cNvSpPr txBox="1"/>
          <p:nvPr/>
        </p:nvSpPr>
        <p:spPr>
          <a:xfrm>
            <a:off x="6389399" y="1181833"/>
            <a:ext cx="231315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800" dirty="0">
                <a:latin typeface="MISANS VF MEDIUM"/>
                <a:ea typeface="MISANS VF MEDIUM"/>
                <a:cs typeface="MISANS VF MEDIUM"/>
              </a:rPr>
              <a:t>30ms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B907C7F-44FE-235E-02D8-A5A0821E11B7}"/>
              </a:ext>
            </a:extLst>
          </p:cNvPr>
          <p:cNvSpPr txBox="1"/>
          <p:nvPr/>
        </p:nvSpPr>
        <p:spPr>
          <a:xfrm>
            <a:off x="9232189" y="1843495"/>
            <a:ext cx="231315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通过动态功耗策略降低峰值能耗。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BCF07C6-F2ED-D02B-A763-A8899EA9E325}"/>
              </a:ext>
            </a:extLst>
          </p:cNvPr>
          <p:cNvSpPr txBox="1"/>
          <p:nvPr/>
        </p:nvSpPr>
        <p:spPr>
          <a:xfrm>
            <a:off x="9232187" y="1181833"/>
            <a:ext cx="231315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MISANS VF MEDIUM"/>
                <a:ea typeface="MISANS VF MEDIUM"/>
                <a:cs typeface="MISANS VF MEDIUM"/>
              </a:rPr>
              <a:t>40%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ADC09F8-A447-750B-132B-6AFF2B29BE2E}"/>
              </a:ext>
            </a:extLst>
          </p:cNvPr>
          <p:cNvSpPr>
            <a:spLocks noGrp="1"/>
          </p:cNvSpPr>
          <p:nvPr/>
        </p:nvSpPr>
        <p:spPr>
          <a:xfrm>
            <a:off x="524798" y="886174"/>
            <a:ext cx="2417185" cy="123110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>
              <a:buNone/>
              <a:defRPr sz="42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lang="zh-CN" altLang="en-US" sz="4000" dirty="0">
                <a:solidFill>
                  <a:srgbClr val="050505"/>
                </a:solidFill>
                <a:latin typeface="MiSans VF Semibold"/>
                <a:ea typeface="MiSans VF Semibold"/>
                <a:cs typeface="MiSans VF Semibold"/>
              </a:rPr>
              <a:t>核心能力指标拆解</a:t>
            </a:r>
            <a:endParaRPr sz="4000" dirty="0">
              <a:solidFill>
                <a:srgbClr val="050505"/>
              </a:solidFill>
              <a:latin typeface="MiSans VF Semibold"/>
              <a:ea typeface="MiSans VF Semibold"/>
              <a:cs typeface="MiSans VF Semibold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DF7DA1-2A72-28AC-49B6-BD20BC74448C}"/>
              </a:ext>
            </a:extLst>
          </p:cNvPr>
          <p:cNvSpPr txBox="1"/>
          <p:nvPr/>
        </p:nvSpPr>
        <p:spPr>
          <a:xfrm>
            <a:off x="6389401" y="3770266"/>
            <a:ext cx="2313158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12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12</a:t>
            </a:r>
            <a:r>
              <a:rPr lang="zh-CN" altLang="en-US" sz="12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个月，从 </a:t>
            </a:r>
            <a:r>
              <a:rPr lang="en-US" altLang="zh-CN" sz="12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EVT </a:t>
            </a:r>
            <a:r>
              <a:rPr lang="zh-CN" altLang="en-US" sz="12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到小批试产的目标周期。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EFAA03-56DC-548A-14C7-C06EEE8CE468}"/>
              </a:ext>
            </a:extLst>
          </p:cNvPr>
          <p:cNvSpPr txBox="1"/>
          <p:nvPr/>
        </p:nvSpPr>
        <p:spPr>
          <a:xfrm>
            <a:off x="6389399" y="3108604"/>
            <a:ext cx="231315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800" dirty="0">
                <a:latin typeface="MISANS VF MEDIUM"/>
                <a:ea typeface="MISANS VF MEDIUM"/>
                <a:cs typeface="MISANS VF MEDIUM"/>
              </a:rPr>
              <a:t>12</a:t>
            </a:r>
            <a:r>
              <a:rPr lang="zh-CN" altLang="en-US" sz="2800" dirty="0">
                <a:latin typeface="MISANS VF MEDIUM"/>
                <a:ea typeface="MISANS VF MEDIUM"/>
                <a:cs typeface="MISANS VF MEDIUM"/>
              </a:rPr>
              <a:t> </a:t>
            </a:r>
            <a:r>
              <a:rPr lang="en-US" altLang="zh-CN" sz="2800" dirty="0" err="1">
                <a:latin typeface="MISANS VF MEDIUM"/>
                <a:ea typeface="MISANS VF MEDIUM"/>
                <a:cs typeface="MISANS VF MEDIUM"/>
              </a:rPr>
              <a:t>mths</a:t>
            </a:r>
            <a:r>
              <a:rPr lang="en-US" altLang="zh-CN" sz="2800" dirty="0">
                <a:latin typeface="MISANS VF MEDIUM"/>
                <a:ea typeface="MISANS VF MEDIUM"/>
                <a:cs typeface="MISANS VF MEDIUM"/>
              </a:rPr>
              <a:t>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CC06B5-C23B-D4D8-ACE7-3E6EE59FDE66}"/>
              </a:ext>
            </a:extLst>
          </p:cNvPr>
          <p:cNvSpPr txBox="1"/>
          <p:nvPr/>
        </p:nvSpPr>
        <p:spPr>
          <a:xfrm>
            <a:off x="9232189" y="4629726"/>
            <a:ext cx="231315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云端、网关、终端协同更新。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CB9C463-452F-301E-8B04-30E99AE5E18B}"/>
              </a:ext>
            </a:extLst>
          </p:cNvPr>
          <p:cNvSpPr txBox="1"/>
          <p:nvPr/>
        </p:nvSpPr>
        <p:spPr>
          <a:xfrm>
            <a:off x="9232187" y="3968064"/>
            <a:ext cx="231315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MISANS VF MEDIUM"/>
                <a:ea typeface="MISANS VF MEDIUM"/>
                <a:cs typeface="MISANS VF MEDIUM"/>
              </a:rPr>
              <a:t>3</a:t>
            </a:r>
            <a:r>
              <a:rPr lang="zh-CN" altLang="en-US" sz="2800" dirty="0">
                <a:solidFill>
                  <a:schemeClr val="bg1"/>
                </a:solidFill>
                <a:latin typeface="MISANS VF MEDIUM"/>
                <a:ea typeface="MISANS VF MEDIUM"/>
                <a:cs typeface="MISANS VF MEDIUM"/>
              </a:rPr>
              <a:t>层</a:t>
            </a:r>
            <a:endParaRPr lang="en-US" altLang="zh-CN" sz="2800" dirty="0">
              <a:solidFill>
                <a:schemeClr val="bg1"/>
              </a:solidFill>
              <a:latin typeface="MISANS VF MEDIUM"/>
              <a:ea typeface="MISANS VF MEDIUM"/>
              <a:cs typeface="MISANS VF MEDIUM"/>
            </a:endParaRPr>
          </a:p>
        </p:txBody>
      </p:sp>
      <p:sp>
        <p:nvSpPr>
          <p:cNvPr id="17" name="AutoShape 2">
            <a:extLst>
              <a:ext uri="{FF2B5EF4-FFF2-40B4-BE49-F238E27FC236}">
                <a16:creationId xmlns:a16="http://schemas.microsoft.com/office/drawing/2014/main" id="{2AE25D60-6286-CAFB-DF1E-4A4A10DFDD77}"/>
              </a:ext>
            </a:extLst>
          </p:cNvPr>
          <p:cNvSpPr>
            <a:spLocks noGrp="1"/>
          </p:cNvSpPr>
          <p:nvPr/>
        </p:nvSpPr>
        <p:spPr>
          <a:xfrm>
            <a:off x="524797" y="385358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800" dirty="0">
                <a:solidFill>
                  <a:srgbClr val="050505">
                    <a:alpha val="50000"/>
                  </a:srgbClr>
                </a:solidFill>
                <a:latin typeface="MiSans VF Light"/>
                <a:ea typeface="MiSans VF Light"/>
                <a:cs typeface="MiSans VF Light"/>
              </a:rPr>
              <a:t>Intelligent Hardware System </a:t>
            </a:r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67541951-A6F7-5D52-6218-6D6FAB1D537C}"/>
              </a:ext>
            </a:extLst>
          </p:cNvPr>
          <p:cNvSpPr>
            <a:spLocks noGrp="1"/>
          </p:cNvSpPr>
          <p:nvPr/>
        </p:nvSpPr>
        <p:spPr>
          <a:xfrm>
            <a:off x="8986185" y="385358"/>
            <a:ext cx="2747099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lang="en-US" altLang="zh-CN" sz="800" dirty="0">
                <a:solidFill>
                  <a:srgbClr val="050505">
                    <a:alpha val="50000"/>
                  </a:srgbClr>
                </a:solidFill>
                <a:latin typeface="MiSans VF Light"/>
                <a:ea typeface="MiSans VF Light"/>
                <a:cs typeface="MiSans VF Light"/>
              </a:rPr>
              <a:t>Pages</a:t>
            </a:r>
            <a:endParaRPr sz="800" dirty="0">
              <a:solidFill>
                <a:srgbClr val="050505">
                  <a:alpha val="50000"/>
                </a:srgbClr>
              </a:solidFill>
              <a:latin typeface="MiSans VF Light"/>
              <a:ea typeface="MiSans VF Light"/>
              <a:cs typeface="MiSans VF Light"/>
            </a:endParaRPr>
          </a:p>
        </p:txBody>
      </p:sp>
    </p:spTree>
    <p:extLst>
      <p:ext uri="{BB962C8B-B14F-4D97-AF65-F5344CB8AC3E}">
        <p14:creationId xmlns:p14="http://schemas.microsoft.com/office/powerpoint/2010/main" val="1544024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50DE9629-006C-87BD-3F69-13FE760A71F2}"/>
              </a:ext>
            </a:extLst>
          </p:cNvPr>
          <p:cNvSpPr>
            <a:spLocks noGrp="1"/>
          </p:cNvSpPr>
          <p:nvPr/>
        </p:nvSpPr>
        <p:spPr>
          <a:xfrm>
            <a:off x="524797" y="886174"/>
            <a:ext cx="11208487" cy="6155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>
              <a:buNone/>
              <a:defRPr sz="42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4000" dirty="0" err="1">
                <a:solidFill>
                  <a:srgbClr val="050505"/>
                </a:solidFill>
                <a:latin typeface="MiSans VF Semibold"/>
                <a:ea typeface="MiSans VF Semibold"/>
                <a:cs typeface="MiSans VF Semibold"/>
              </a:rPr>
              <a:t>下一代硬件智能方案</a:t>
            </a:r>
            <a:endParaRPr sz="4000" dirty="0">
              <a:solidFill>
                <a:srgbClr val="050505"/>
              </a:solidFill>
              <a:latin typeface="MiSans VF Semibold"/>
              <a:ea typeface="MiSans VF Semibold"/>
              <a:cs typeface="MiSans VF Semibold"/>
            </a:endParaRPr>
          </a:p>
        </p:txBody>
      </p:sp>
      <p:sp>
        <p:nvSpPr>
          <p:cNvPr id="46" name="AutoShape 2">
            <a:extLst>
              <a:ext uri="{FF2B5EF4-FFF2-40B4-BE49-F238E27FC236}">
                <a16:creationId xmlns:a16="http://schemas.microsoft.com/office/drawing/2014/main" id="{E90E70F4-8B72-D1AA-33AD-3366D2201646}"/>
              </a:ext>
            </a:extLst>
          </p:cNvPr>
          <p:cNvSpPr>
            <a:spLocks noGrp="1"/>
          </p:cNvSpPr>
          <p:nvPr/>
        </p:nvSpPr>
        <p:spPr>
          <a:xfrm>
            <a:off x="524797" y="6331065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800" dirty="0">
                <a:solidFill>
                  <a:srgbClr val="050505">
                    <a:alpha val="50000"/>
                  </a:srgbClr>
                </a:solidFill>
                <a:latin typeface="MiSans VF Light"/>
                <a:ea typeface="MiSans VF Light"/>
                <a:cs typeface="MiSans VF Light"/>
              </a:rPr>
              <a:t>YUANBAO</a:t>
            </a:r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176AD792-4205-A6A2-BBA3-ABB88274A2A7}"/>
              </a:ext>
            </a:extLst>
          </p:cNvPr>
          <p:cNvSpPr>
            <a:spLocks noGrp="1"/>
          </p:cNvSpPr>
          <p:nvPr/>
        </p:nvSpPr>
        <p:spPr>
          <a:xfrm>
            <a:off x="4813483" y="1815651"/>
            <a:ext cx="3404016" cy="2008204"/>
          </a:xfrm>
          <a:prstGeom prst="roundRect">
            <a:avLst>
              <a:gd name="adj" fmla="val 13037"/>
            </a:avLst>
          </a:prstGeom>
          <a:solidFill>
            <a:srgbClr val="F5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80000" tIns="180000" rIns="180000"/>
          <a:lstStyle/>
          <a:p>
            <a:endParaRPr sz="2800" dirty="0">
              <a:latin typeface="MISANS VF MEDIUM"/>
              <a:ea typeface="MISANS VF MEDIUM"/>
              <a:cs typeface="MISANS VF MEDIUM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175FF622-FFCA-5618-850C-F467D15DF184}"/>
              </a:ext>
            </a:extLst>
          </p:cNvPr>
          <p:cNvSpPr>
            <a:spLocks noGrp="1"/>
          </p:cNvSpPr>
          <p:nvPr/>
        </p:nvSpPr>
        <p:spPr>
          <a:xfrm>
            <a:off x="524797" y="1815650"/>
            <a:ext cx="4176916" cy="4126543"/>
          </a:xfrm>
          <a:prstGeom prst="roundRect">
            <a:avLst>
              <a:gd name="adj" fmla="val 7603"/>
            </a:avLst>
          </a:prstGeom>
          <a:solidFill>
            <a:srgbClr val="2D2D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80000" tIns="180000" rIns="180000"/>
          <a:lstStyle/>
          <a:p>
            <a:endParaRPr sz="2800" dirty="0">
              <a:solidFill>
                <a:schemeClr val="bg1"/>
              </a:solidFill>
              <a:latin typeface="MISANS VF MEDIUM"/>
              <a:ea typeface="MISANS VF MEDIUM"/>
              <a:cs typeface="MISANS VF MEDIUM"/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562A001-A66C-34A0-A803-2D8C1F382FF4}"/>
              </a:ext>
            </a:extLst>
          </p:cNvPr>
          <p:cNvSpPr>
            <a:spLocks noGrp="1"/>
          </p:cNvSpPr>
          <p:nvPr/>
        </p:nvSpPr>
        <p:spPr>
          <a:xfrm>
            <a:off x="8329268" y="1815651"/>
            <a:ext cx="3404016" cy="2008204"/>
          </a:xfrm>
          <a:prstGeom prst="roundRect">
            <a:avLst>
              <a:gd name="adj" fmla="val 11160"/>
            </a:avLst>
          </a:prstGeom>
          <a:solidFill>
            <a:srgbClr val="F5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80000" tIns="180000" rIns="180000"/>
          <a:lstStyle/>
          <a:p>
            <a:endParaRPr sz="2800" dirty="0">
              <a:latin typeface="MISANS VF MEDIUM"/>
              <a:ea typeface="MISANS VF MEDIUM"/>
              <a:cs typeface="MISANS VF MEDIUM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ACED452-623D-ACA6-71C3-E09FD47EE737}"/>
              </a:ext>
            </a:extLst>
          </p:cNvPr>
          <p:cNvSpPr>
            <a:spLocks noGrp="1"/>
          </p:cNvSpPr>
          <p:nvPr/>
        </p:nvSpPr>
        <p:spPr>
          <a:xfrm>
            <a:off x="4813483" y="3933989"/>
            <a:ext cx="3404016" cy="2008204"/>
          </a:xfrm>
          <a:prstGeom prst="roundRect">
            <a:avLst>
              <a:gd name="adj" fmla="val 9751"/>
            </a:avLst>
          </a:prstGeom>
          <a:solidFill>
            <a:srgbClr val="F5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80000" tIns="180000" rIns="180000"/>
          <a:lstStyle/>
          <a:p>
            <a:endParaRPr sz="2800" dirty="0">
              <a:latin typeface="MISANS VF MEDIUM"/>
              <a:ea typeface="MISANS VF MEDIUM"/>
              <a:cs typeface="MISANS VF MEDIUM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751ABBA5-AE44-A2C7-E9F5-5F3435243085}"/>
              </a:ext>
            </a:extLst>
          </p:cNvPr>
          <p:cNvSpPr>
            <a:spLocks noGrp="1"/>
          </p:cNvSpPr>
          <p:nvPr/>
        </p:nvSpPr>
        <p:spPr>
          <a:xfrm>
            <a:off x="8329268" y="3933989"/>
            <a:ext cx="3404016" cy="2008204"/>
          </a:xfrm>
          <a:prstGeom prst="roundRect">
            <a:avLst>
              <a:gd name="adj" fmla="val 12568"/>
            </a:avLst>
          </a:prstGeom>
          <a:solidFill>
            <a:srgbClr val="F5F5F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80000" tIns="180000" rIns="180000"/>
          <a:lstStyle/>
          <a:p>
            <a:endParaRPr lang="zh-CN" altLang="en-US" sz="2800" dirty="0">
              <a:latin typeface="MISANS VF MEDIUM"/>
              <a:ea typeface="MISANS VF MEDIUM"/>
              <a:cs typeface="MISANS VF MEDIUM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94AEF07-6F22-1C3A-9A55-8AC2CAA6BDC0}"/>
              </a:ext>
            </a:extLst>
          </p:cNvPr>
          <p:cNvSpPr>
            <a:spLocks noGrp="1"/>
          </p:cNvSpPr>
          <p:nvPr/>
        </p:nvSpPr>
        <p:spPr>
          <a:xfrm>
            <a:off x="524797" y="385358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800" dirty="0">
                <a:solidFill>
                  <a:srgbClr val="050505">
                    <a:alpha val="50000"/>
                  </a:srgbClr>
                </a:solidFill>
                <a:latin typeface="MiSans VF Light"/>
                <a:ea typeface="MiSans VF Light"/>
                <a:cs typeface="MiSans VF Light"/>
              </a:rPr>
              <a:t>Intelligent Hardware System 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2409AAF2-F087-F612-DF4B-AD432F451554}"/>
              </a:ext>
            </a:extLst>
          </p:cNvPr>
          <p:cNvSpPr>
            <a:spLocks noGrp="1"/>
          </p:cNvSpPr>
          <p:nvPr/>
        </p:nvSpPr>
        <p:spPr>
          <a:xfrm>
            <a:off x="8986185" y="385358"/>
            <a:ext cx="2747099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lang="en-US" altLang="zh-CN" sz="800" dirty="0">
                <a:solidFill>
                  <a:srgbClr val="050505">
                    <a:alpha val="50000"/>
                  </a:srgbClr>
                </a:solidFill>
                <a:latin typeface="MiSans VF Light"/>
                <a:ea typeface="MiSans VF Light"/>
                <a:cs typeface="MiSans VF Light"/>
              </a:rPr>
              <a:t>Pages</a:t>
            </a:r>
            <a:endParaRPr sz="800" dirty="0">
              <a:solidFill>
                <a:srgbClr val="050505">
                  <a:alpha val="50000"/>
                </a:srgbClr>
              </a:solidFill>
              <a:latin typeface="MiSans VF Light"/>
              <a:ea typeface="MiSans VF Light"/>
              <a:cs typeface="MiSans VF Ligh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B697FD1-3447-B44E-B184-AA8CAD5EB6C5}"/>
              </a:ext>
            </a:extLst>
          </p:cNvPr>
          <p:cNvSpPr txBox="1"/>
          <p:nvPr/>
        </p:nvSpPr>
        <p:spPr>
          <a:xfrm>
            <a:off x="803507" y="2796094"/>
            <a:ext cx="3599528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让设备在本地理解环境、做出决策，并与云端形成可验证闭环。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69A8948-EF4B-4DBE-A6FE-38EE73D53883}"/>
              </a:ext>
            </a:extLst>
          </p:cNvPr>
          <p:cNvSpPr txBox="1"/>
          <p:nvPr/>
        </p:nvSpPr>
        <p:spPr>
          <a:xfrm>
            <a:off x="803505" y="2134432"/>
            <a:ext cx="359953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MISANS VF MEDIUM"/>
                <a:ea typeface="MISANS VF MEDIUM"/>
                <a:cs typeface="MISANS VF MEDIUM"/>
              </a:rPr>
              <a:t>目标</a:t>
            </a:r>
            <a:endParaRPr lang="en-US" altLang="zh-CN" sz="2800" dirty="0">
              <a:solidFill>
                <a:schemeClr val="bg1"/>
              </a:solidFill>
              <a:latin typeface="MISANS VF MEDIUM"/>
              <a:ea typeface="MISANS VF MEDIUM"/>
              <a:cs typeface="MISANS VF MEDIUM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6D6948-D685-09EC-04C2-6272ACC6EA47}"/>
              </a:ext>
            </a:extLst>
          </p:cNvPr>
          <p:cNvSpPr txBox="1"/>
          <p:nvPr/>
        </p:nvSpPr>
        <p:spPr>
          <a:xfrm>
            <a:off x="803507" y="5514582"/>
            <a:ext cx="359952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0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适用于机器人、穿戴、工业终端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FFA368C-C67E-D85B-E04B-3F3BBF929420}"/>
              </a:ext>
            </a:extLst>
          </p:cNvPr>
          <p:cNvSpPr txBox="1"/>
          <p:nvPr/>
        </p:nvSpPr>
        <p:spPr>
          <a:xfrm>
            <a:off x="4992448" y="2796094"/>
            <a:ext cx="300237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4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算力、连接、传感按场景组合。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1FC36D9-E768-B751-C897-EBA3F2375476}"/>
              </a:ext>
            </a:extLst>
          </p:cNvPr>
          <p:cNvSpPr txBox="1"/>
          <p:nvPr/>
        </p:nvSpPr>
        <p:spPr>
          <a:xfrm>
            <a:off x="4992446" y="2134432"/>
            <a:ext cx="3002376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MISANS VF MEDIUM"/>
                <a:ea typeface="MISANS VF MEDIUM"/>
                <a:cs typeface="MISANS VF MEDIUM"/>
              </a:rPr>
              <a:t>模组化</a:t>
            </a:r>
            <a:endParaRPr lang="en-US" altLang="zh-CN" sz="2800" dirty="0">
              <a:solidFill>
                <a:srgbClr val="000000"/>
              </a:solidFill>
              <a:latin typeface="MISANS VF MEDIUM"/>
              <a:ea typeface="MISANS VF MEDIUM"/>
              <a:cs typeface="MISANS VF MEDIUM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4BED3B-00E5-98DF-0497-3DCFBABB345D}"/>
              </a:ext>
            </a:extLst>
          </p:cNvPr>
          <p:cNvSpPr txBox="1"/>
          <p:nvPr/>
        </p:nvSpPr>
        <p:spPr>
          <a:xfrm>
            <a:off x="8514124" y="2796094"/>
            <a:ext cx="300237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4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关键任务留在端侧完成。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8195273-8669-6D2A-5C57-14659102045E}"/>
              </a:ext>
            </a:extLst>
          </p:cNvPr>
          <p:cNvSpPr txBox="1"/>
          <p:nvPr/>
        </p:nvSpPr>
        <p:spPr>
          <a:xfrm>
            <a:off x="8514122" y="2134432"/>
            <a:ext cx="3002376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MISANS VF MEDIUM"/>
                <a:ea typeface="MISANS VF MEDIUM"/>
                <a:cs typeface="MISANS VF MEDIUM"/>
              </a:rPr>
              <a:t>55%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D4C380E-E010-EBE7-D8A7-1EF27A5BEAA5}"/>
              </a:ext>
            </a:extLst>
          </p:cNvPr>
          <p:cNvSpPr txBox="1"/>
          <p:nvPr/>
        </p:nvSpPr>
        <p:spPr>
          <a:xfrm>
            <a:off x="4992448" y="4909100"/>
            <a:ext cx="300237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4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每月</a:t>
            </a:r>
            <a:r>
              <a:rPr lang="en-US" altLang="zh-CN" sz="14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300+</a:t>
            </a:r>
            <a:r>
              <a:rPr lang="zh-CN" altLang="en-US" sz="14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自动化巡检小时。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50304B4-E24E-19DD-A773-B2045778980C}"/>
              </a:ext>
            </a:extLst>
          </p:cNvPr>
          <p:cNvSpPr txBox="1"/>
          <p:nvPr/>
        </p:nvSpPr>
        <p:spPr>
          <a:xfrm>
            <a:off x="4992446" y="4247438"/>
            <a:ext cx="3002376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MISANS VF MEDIUM"/>
                <a:ea typeface="MISANS VF MEDIUM"/>
                <a:cs typeface="MISANS VF MEDIUM"/>
              </a:rPr>
              <a:t>300+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8E37B73-9FD2-BDC9-D4FB-86DB69719337}"/>
              </a:ext>
            </a:extLst>
          </p:cNvPr>
          <p:cNvSpPr txBox="1"/>
          <p:nvPr/>
        </p:nvSpPr>
        <p:spPr>
          <a:xfrm>
            <a:off x="8514124" y="4909100"/>
            <a:ext cx="300237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4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运维响应时间下降。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C12043B-684D-FC64-5B3B-49A0AE2028B2}"/>
              </a:ext>
            </a:extLst>
          </p:cNvPr>
          <p:cNvSpPr txBox="1"/>
          <p:nvPr/>
        </p:nvSpPr>
        <p:spPr>
          <a:xfrm>
            <a:off x="8514122" y="4247438"/>
            <a:ext cx="3002376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MISANS VF MEDIUM"/>
                <a:ea typeface="MISANS VF MEDIUM"/>
                <a:cs typeface="MISANS VF MEDIUM"/>
              </a:rPr>
              <a:t>45%</a:t>
            </a:r>
          </a:p>
        </p:txBody>
      </p:sp>
    </p:spTree>
    <p:extLst>
      <p:ext uri="{BB962C8B-B14F-4D97-AF65-F5344CB8AC3E}">
        <p14:creationId xmlns:p14="http://schemas.microsoft.com/office/powerpoint/2010/main" val="1864728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26C63D03-7A7D-7353-B278-1EDB7B9191A7}"/>
              </a:ext>
            </a:extLst>
          </p:cNvPr>
          <p:cNvSpPr>
            <a:spLocks noGrp="1"/>
          </p:cNvSpPr>
          <p:nvPr/>
        </p:nvSpPr>
        <p:spPr>
          <a:xfrm>
            <a:off x="524797" y="886174"/>
            <a:ext cx="11208487" cy="6155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>
              <a:buNone/>
              <a:defRPr sz="42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4000" dirty="0" err="1">
                <a:solidFill>
                  <a:schemeClr val="bg1"/>
                </a:solidFill>
                <a:latin typeface="MiSans VF Semibold"/>
                <a:ea typeface="MiSans VF Semibold"/>
                <a:cs typeface="MiSans VF Semibold"/>
              </a:rPr>
              <a:t>落地影响</a:t>
            </a:r>
            <a:endParaRPr sz="4000" dirty="0">
              <a:solidFill>
                <a:schemeClr val="bg1"/>
              </a:solidFill>
              <a:latin typeface="MiSans VF Semibold"/>
              <a:ea typeface="MiSans VF Semibold"/>
              <a:cs typeface="MiSans VF Semibold"/>
            </a:endParaRPr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C9706985-0C29-5A77-6C1D-7053880F9647}"/>
              </a:ext>
            </a:extLst>
          </p:cNvPr>
          <p:cNvSpPr>
            <a:spLocks noGrp="1"/>
          </p:cNvSpPr>
          <p:nvPr/>
        </p:nvSpPr>
        <p:spPr>
          <a:xfrm>
            <a:off x="6188437" y="1761068"/>
            <a:ext cx="2707084" cy="4181126"/>
          </a:xfrm>
          <a:prstGeom prst="roundRect">
            <a:avLst>
              <a:gd name="adj" fmla="val 9282"/>
            </a:avLst>
          </a:prstGeom>
          <a:solidFill>
            <a:schemeClr val="bg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08000" tIns="180000" rIns="108000"/>
          <a:lstStyle/>
          <a:p>
            <a:r>
              <a:rPr sz="2800" dirty="0">
                <a:latin typeface="MISANS VF MEDIUM"/>
                <a:ea typeface="MISANS VF MEDIUM"/>
                <a:cs typeface="MISANS VF MEDIUM"/>
              </a:rPr>
              <a:t>85%</a:t>
            </a:r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C36F8AE8-88D6-5092-E765-E54E3FCD5676}"/>
              </a:ext>
            </a:extLst>
          </p:cNvPr>
          <p:cNvSpPr>
            <a:spLocks noGrp="1"/>
          </p:cNvSpPr>
          <p:nvPr/>
        </p:nvSpPr>
        <p:spPr>
          <a:xfrm>
            <a:off x="520517" y="1761067"/>
            <a:ext cx="2707084" cy="4181126"/>
          </a:xfrm>
          <a:prstGeom prst="roundRect">
            <a:avLst>
              <a:gd name="adj" fmla="val 9282"/>
            </a:avLst>
          </a:prstGeom>
          <a:solidFill>
            <a:schemeClr val="bg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08000" tIns="180000" rIns="108000"/>
          <a:lstStyle/>
          <a:p>
            <a:endParaRPr sz="2800" dirty="0">
              <a:latin typeface="MISANS VF MEDIUM"/>
              <a:ea typeface="MISANS VF MEDIUM"/>
              <a:cs typeface="MISANS VF MEDIUM"/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2E0A7765-301C-AAEE-AF49-E204BCCC3D46}"/>
              </a:ext>
            </a:extLst>
          </p:cNvPr>
          <p:cNvSpPr>
            <a:spLocks noGrp="1"/>
          </p:cNvSpPr>
          <p:nvPr/>
        </p:nvSpPr>
        <p:spPr>
          <a:xfrm>
            <a:off x="3354477" y="1761067"/>
            <a:ext cx="2707084" cy="4181126"/>
          </a:xfrm>
          <a:prstGeom prst="roundRect">
            <a:avLst>
              <a:gd name="adj" fmla="val 9282"/>
            </a:avLst>
          </a:prstGeom>
          <a:solidFill>
            <a:srgbClr val="C0C5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08000" tIns="180000" rIns="108000"/>
          <a:lstStyle/>
          <a:p>
            <a:endParaRPr lang="zh-CN" altLang="en-US" sz="2800" dirty="0">
              <a:latin typeface="MISANS VF MEDIUM"/>
              <a:ea typeface="MISANS VF MEDIUM"/>
              <a:cs typeface="MISANS VF MEDIUM"/>
            </a:endParaRPr>
          </a:p>
        </p:txBody>
      </p:sp>
      <p:sp>
        <p:nvSpPr>
          <p:cNvPr id="5" name="同侧圆角矩形 4">
            <a:extLst>
              <a:ext uri="{FF2B5EF4-FFF2-40B4-BE49-F238E27FC236}">
                <a16:creationId xmlns:a16="http://schemas.microsoft.com/office/drawing/2014/main" id="{5EF36D7F-F22A-4EB6-25F7-67E80DEDC797}"/>
              </a:ext>
            </a:extLst>
          </p:cNvPr>
          <p:cNvSpPr>
            <a:spLocks noGrp="1"/>
          </p:cNvSpPr>
          <p:nvPr/>
        </p:nvSpPr>
        <p:spPr>
          <a:xfrm>
            <a:off x="9022398" y="1761068"/>
            <a:ext cx="2707084" cy="1588083"/>
          </a:xfrm>
          <a:prstGeom prst="round2SameRect">
            <a:avLst/>
          </a:prstGeom>
          <a:solidFill>
            <a:schemeClr val="bg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08000" tIns="180000" rIns="108000"/>
          <a:lstStyle/>
          <a:p>
            <a:r>
              <a:rPr sz="2800" dirty="0">
                <a:latin typeface="MISANS VF MEDIUM"/>
                <a:ea typeface="MISANS VF MEDIUM"/>
                <a:cs typeface="MISANS VF MEDIUM"/>
              </a:rPr>
              <a:t>10+</a:t>
            </a:r>
          </a:p>
        </p:txBody>
      </p:sp>
      <p:graphicFrame>
        <p:nvGraphicFramePr>
          <p:cNvPr id="61" name="图表 5"/>
          <p:cNvGraphicFramePr/>
          <p:nvPr/>
        </p:nvGraphicFramePr>
        <p:xfrm>
          <a:off x="6188438" y="3429000"/>
          <a:ext cx="2707084" cy="223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同侧圆角矩形 7">
            <a:extLst>
              <a:ext uri="{FF2B5EF4-FFF2-40B4-BE49-F238E27FC236}">
                <a16:creationId xmlns:a16="http://schemas.microsoft.com/office/drawing/2014/main" id="{94AB0647-040D-4600-0A1C-A36F90A4AAF6}"/>
              </a:ext>
            </a:extLst>
          </p:cNvPr>
          <p:cNvSpPr>
            <a:spLocks noGrp="1"/>
          </p:cNvSpPr>
          <p:nvPr/>
        </p:nvSpPr>
        <p:spPr>
          <a:xfrm rot="10800000">
            <a:off x="9022398" y="3349151"/>
            <a:ext cx="2707084" cy="2593042"/>
          </a:xfrm>
          <a:prstGeom prst="round2SameRect">
            <a:avLst>
              <a:gd name="adj1" fmla="val 11481"/>
              <a:gd name="adj2" fmla="val 0"/>
            </a:avLst>
          </a:prstGeom>
          <a:blipFill>
            <a:blip r:embed="rId4"/>
            <a:srcRect/>
            <a:stretch>
              <a:fillRect t="-94984" b="-13812"/>
            </a:stretch>
          </a:blip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FEC998-6B2A-9B1F-44F5-3E6A9BD99332}"/>
              </a:ext>
            </a:extLst>
          </p:cNvPr>
          <p:cNvSpPr txBox="1"/>
          <p:nvPr/>
        </p:nvSpPr>
        <p:spPr>
          <a:xfrm>
            <a:off x="718863" y="2698090"/>
            <a:ext cx="2309563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4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终端数据点形成持续学习样本。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03684C-C50F-0301-FDA2-99650DA3F9D2}"/>
              </a:ext>
            </a:extLst>
          </p:cNvPr>
          <p:cNvSpPr txBox="1"/>
          <p:nvPr/>
        </p:nvSpPr>
        <p:spPr>
          <a:xfrm>
            <a:off x="718861" y="2036428"/>
            <a:ext cx="230956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MISANS VF MEDIUM"/>
                <a:ea typeface="MISANS VF MEDIUM"/>
                <a:cs typeface="MISANS VF MEDIUM"/>
              </a:rPr>
              <a:t>10M+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BB3446-CDA5-64F9-6C0E-B39A2FF79FA9}"/>
              </a:ext>
            </a:extLst>
          </p:cNvPr>
          <p:cNvSpPr txBox="1"/>
          <p:nvPr/>
        </p:nvSpPr>
        <p:spPr>
          <a:xfrm>
            <a:off x="3554530" y="2698090"/>
            <a:ext cx="2309563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4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设备在线运行小时沉淀可靠性曲线。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5995FD-7D87-37F5-91BB-A9D2FD7EF2C9}"/>
              </a:ext>
            </a:extLst>
          </p:cNvPr>
          <p:cNvSpPr txBox="1"/>
          <p:nvPr/>
        </p:nvSpPr>
        <p:spPr>
          <a:xfrm>
            <a:off x="3554528" y="2036428"/>
            <a:ext cx="230956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MISANS VF MEDIUM"/>
                <a:ea typeface="MISANS VF MEDIUM"/>
                <a:cs typeface="MISANS VF MEDIUM"/>
              </a:rPr>
              <a:t>2M+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4CA88B-6B39-A081-7236-9072BE77D22E}"/>
              </a:ext>
            </a:extLst>
          </p:cNvPr>
          <p:cNvSpPr txBox="1"/>
          <p:nvPr/>
        </p:nvSpPr>
        <p:spPr>
          <a:xfrm>
            <a:off x="9221039" y="2698090"/>
            <a:ext cx="2309563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4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重点硬件场景进入标准化复制阶段。</a:t>
            </a: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3437A6CE-33D1-FEFF-107E-1A759EFAD447}"/>
              </a:ext>
            </a:extLst>
          </p:cNvPr>
          <p:cNvSpPr>
            <a:spLocks noGrp="1"/>
          </p:cNvSpPr>
          <p:nvPr/>
        </p:nvSpPr>
        <p:spPr>
          <a:xfrm>
            <a:off x="524797" y="6331065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800" dirty="0">
                <a:solidFill>
                  <a:schemeClr val="bg1">
                    <a:alpha val="50000"/>
                  </a:schemeClr>
                </a:solidFill>
                <a:latin typeface="MiSans VF Light"/>
                <a:ea typeface="MiSans VF Light"/>
                <a:cs typeface="MiSans VF Light"/>
              </a:rPr>
              <a:t>YUANBAO</a:t>
            </a:r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664BEB8A-560C-5020-B6C2-CD5F337CF34C}"/>
              </a:ext>
            </a:extLst>
          </p:cNvPr>
          <p:cNvSpPr>
            <a:spLocks noGrp="1"/>
          </p:cNvSpPr>
          <p:nvPr/>
        </p:nvSpPr>
        <p:spPr>
          <a:xfrm>
            <a:off x="524797" y="385358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800" dirty="0">
                <a:solidFill>
                  <a:schemeClr val="bg1">
                    <a:alpha val="50000"/>
                  </a:schemeClr>
                </a:solidFill>
                <a:latin typeface="MiSans VF Light"/>
                <a:ea typeface="MiSans VF Light"/>
                <a:cs typeface="MiSans VF Light"/>
              </a:rPr>
              <a:t>Intelligent Hardware System </a:t>
            </a:r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A3D0853F-BE25-4D20-18BF-7689093E1584}"/>
              </a:ext>
            </a:extLst>
          </p:cNvPr>
          <p:cNvSpPr>
            <a:spLocks noGrp="1"/>
          </p:cNvSpPr>
          <p:nvPr/>
        </p:nvSpPr>
        <p:spPr>
          <a:xfrm>
            <a:off x="8986185" y="385358"/>
            <a:ext cx="2747099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lang="en-US" altLang="zh-CN" sz="800" dirty="0">
                <a:solidFill>
                  <a:schemeClr val="bg1">
                    <a:alpha val="50000"/>
                  </a:schemeClr>
                </a:solidFill>
                <a:latin typeface="MiSans VF Light"/>
                <a:ea typeface="MiSans VF Light"/>
                <a:cs typeface="MiSans VF Light"/>
              </a:rPr>
              <a:t>Pages</a:t>
            </a:r>
            <a:endParaRPr sz="800" dirty="0">
              <a:solidFill>
                <a:schemeClr val="bg1">
                  <a:alpha val="50000"/>
                </a:schemeClr>
              </a:solidFill>
              <a:latin typeface="MiSans VF Light"/>
              <a:ea typeface="MiSans VF Light"/>
              <a:cs typeface="MiSans VF Ligh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447D37-9987-C316-F5E5-41949B8C8EC3}"/>
              </a:ext>
            </a:extLst>
          </p:cNvPr>
          <p:cNvSpPr txBox="1"/>
          <p:nvPr/>
        </p:nvSpPr>
        <p:spPr>
          <a:xfrm>
            <a:off x="6394712" y="2698090"/>
            <a:ext cx="2309563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400" dirty="0"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高频交互，无需依赖云端往返。</a:t>
            </a:r>
          </a:p>
        </p:txBody>
      </p:sp>
    </p:spTree>
    <p:extLst>
      <p:ext uri="{BB962C8B-B14F-4D97-AF65-F5344CB8AC3E}">
        <p14:creationId xmlns:p14="http://schemas.microsoft.com/office/powerpoint/2010/main" val="2599922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47E3A332-94ED-4880-CE30-E5EA198188C7}"/>
              </a:ext>
            </a:extLst>
          </p:cNvPr>
          <p:cNvSpPr>
            <a:spLocks noGrp="1"/>
          </p:cNvSpPr>
          <p:nvPr/>
        </p:nvSpPr>
        <p:spPr>
          <a:xfrm>
            <a:off x="5432609" y="870613"/>
            <a:ext cx="6300675" cy="5402239"/>
          </a:xfrm>
          <a:prstGeom prst="roundRect">
            <a:avLst>
              <a:gd name="adj" fmla="val 7910"/>
            </a:avLst>
          </a:prstGeom>
          <a:blipFill>
            <a:blip r:embed="rId3"/>
            <a:srcRect/>
            <a:stretch>
              <a:fillRect t="-78385" b="-54877"/>
            </a:stretch>
          </a:blip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8ED3BDD-FC08-C9B4-07C8-343DCF2C5F44}"/>
              </a:ext>
            </a:extLst>
          </p:cNvPr>
          <p:cNvSpPr>
            <a:spLocks noGrp="1"/>
          </p:cNvSpPr>
          <p:nvPr/>
        </p:nvSpPr>
        <p:spPr>
          <a:xfrm>
            <a:off x="524796" y="2292035"/>
            <a:ext cx="4907813" cy="25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sz="1200" dirty="0" err="1">
                <a:solidFill>
                  <a:schemeClr val="bg1"/>
                </a:solidFill>
                <a:latin typeface="MiSans VF Light"/>
                <a:ea typeface="MiSans VF Light"/>
                <a:cs typeface="MiSans VF Light"/>
              </a:rPr>
              <a:t>而是让硬件在功耗、延迟、隐私与可靠性之间形成新的系统平衡</a:t>
            </a:r>
            <a:r>
              <a:rPr sz="1200" dirty="0">
                <a:solidFill>
                  <a:schemeClr val="bg1"/>
                </a:solidFill>
                <a:latin typeface="MiSans VF Light"/>
                <a:ea typeface="MiSans VF Light"/>
                <a:cs typeface="MiSans VF Light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EF0416-FB82-ABB2-54F3-3C9DD9E7E379}"/>
              </a:ext>
            </a:extLst>
          </p:cNvPr>
          <p:cNvSpPr>
            <a:spLocks noGrp="1"/>
          </p:cNvSpPr>
          <p:nvPr/>
        </p:nvSpPr>
        <p:spPr>
          <a:xfrm>
            <a:off x="524797" y="886174"/>
            <a:ext cx="4907814" cy="123110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>
              <a:buNone/>
              <a:defRPr sz="42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sz="4000" dirty="0" err="1">
                <a:solidFill>
                  <a:schemeClr val="bg1"/>
                </a:solidFill>
                <a:latin typeface="MiSans VF Semibold"/>
                <a:ea typeface="MiSans VF Semibold"/>
                <a:cs typeface="MiSans VF Semibold"/>
              </a:rPr>
              <a:t>端侧智能不是把大模型塞进设备</a:t>
            </a:r>
            <a:endParaRPr sz="4000" dirty="0">
              <a:solidFill>
                <a:schemeClr val="bg1"/>
              </a:solidFill>
              <a:latin typeface="MiSans VF Semibold"/>
              <a:ea typeface="MiSans VF Semibold"/>
              <a:cs typeface="MiSans VF Semibold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E645BF8D-B1FD-3D5E-D562-6A97731AF452}"/>
              </a:ext>
            </a:extLst>
          </p:cNvPr>
          <p:cNvSpPr>
            <a:spLocks noGrp="1"/>
          </p:cNvSpPr>
          <p:nvPr/>
        </p:nvSpPr>
        <p:spPr>
          <a:xfrm>
            <a:off x="524797" y="6331065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800" dirty="0">
                <a:solidFill>
                  <a:schemeClr val="bg1">
                    <a:alpha val="50000"/>
                  </a:schemeClr>
                </a:solidFill>
                <a:latin typeface="MiSans VF Light"/>
                <a:ea typeface="MiSans VF Light"/>
                <a:cs typeface="MiSans VF Light"/>
              </a:rPr>
              <a:t>YUANBAO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085DBA26-B6CD-AF90-55FD-94B1AE3E22E0}"/>
              </a:ext>
            </a:extLst>
          </p:cNvPr>
          <p:cNvSpPr>
            <a:spLocks noGrp="1"/>
          </p:cNvSpPr>
          <p:nvPr/>
        </p:nvSpPr>
        <p:spPr>
          <a:xfrm>
            <a:off x="524797" y="385358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800" dirty="0">
                <a:solidFill>
                  <a:schemeClr val="bg1">
                    <a:alpha val="50000"/>
                  </a:schemeClr>
                </a:solidFill>
                <a:latin typeface="MiSans VF Light"/>
                <a:ea typeface="MiSans VF Light"/>
                <a:cs typeface="MiSans VF Light"/>
              </a:rPr>
              <a:t>Intelligent Hardware System 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BB78CDDF-33AC-8690-D556-ED1198CC469C}"/>
              </a:ext>
            </a:extLst>
          </p:cNvPr>
          <p:cNvSpPr>
            <a:spLocks noGrp="1"/>
          </p:cNvSpPr>
          <p:nvPr/>
        </p:nvSpPr>
        <p:spPr>
          <a:xfrm>
            <a:off x="8986185" y="385358"/>
            <a:ext cx="2747099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lang="en-US" altLang="zh-CN" sz="800" dirty="0">
                <a:solidFill>
                  <a:schemeClr val="bg1">
                    <a:alpha val="50000"/>
                  </a:schemeClr>
                </a:solidFill>
                <a:latin typeface="MiSans VF Light"/>
                <a:ea typeface="MiSans VF Light"/>
                <a:cs typeface="MiSans VF Light"/>
              </a:rPr>
              <a:t>Pages</a:t>
            </a:r>
            <a:endParaRPr sz="800" dirty="0">
              <a:solidFill>
                <a:schemeClr val="bg1">
                  <a:alpha val="50000"/>
                </a:schemeClr>
              </a:solidFill>
              <a:latin typeface="MiSans VF Light"/>
              <a:ea typeface="MiSans VF Light"/>
              <a:cs typeface="MiSans VF Light"/>
            </a:endParaRPr>
          </a:p>
        </p:txBody>
      </p:sp>
    </p:spTree>
    <p:extLst>
      <p:ext uri="{BB962C8B-B14F-4D97-AF65-F5344CB8AC3E}">
        <p14:creationId xmlns:p14="http://schemas.microsoft.com/office/powerpoint/2010/main" val="1588894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03CB6FE4-42DC-3661-8365-6E89331E12F9}"/>
              </a:ext>
            </a:extLst>
          </p:cNvPr>
          <p:cNvSpPr>
            <a:spLocks noGrp="1"/>
          </p:cNvSpPr>
          <p:nvPr/>
        </p:nvSpPr>
        <p:spPr>
          <a:xfrm>
            <a:off x="0" y="1"/>
            <a:ext cx="12192000" cy="6858000"/>
          </a:xfrm>
          <a:prstGeom prst="roundRect">
            <a:avLst>
              <a:gd name="adj" fmla="val 0"/>
            </a:avLst>
          </a:prstGeom>
          <a:blipFill>
            <a:blip r:embed="rId3">
              <a:alphaModFix amt="15000"/>
            </a:blip>
            <a:srcRect/>
            <a:stretch>
              <a:fillRect t="-127778" b="-127778"/>
            </a:stretch>
          </a:blip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AutoShape 2">
            <a:extLst>
              <a:ext uri="{FF2B5EF4-FFF2-40B4-BE49-F238E27FC236}">
                <a16:creationId xmlns:a16="http://schemas.microsoft.com/office/drawing/2014/main" id="{3BC19C98-0894-56A6-A791-E8781D2D4101}"/>
              </a:ext>
            </a:extLst>
          </p:cNvPr>
          <p:cNvSpPr>
            <a:spLocks noGrp="1"/>
          </p:cNvSpPr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800" dirty="0">
                <a:solidFill>
                  <a:schemeClr val="bg1">
                    <a:alpha val="50000"/>
                  </a:schemeClr>
                </a:solidFill>
                <a:latin typeface="MiSans VF Light"/>
                <a:ea typeface="MiSans VF Light"/>
                <a:cs typeface="MiSans VF Light"/>
              </a:rPr>
              <a:t>YUANBAO</a:t>
            </a:r>
          </a:p>
        </p:txBody>
      </p:sp>
      <p:sp>
        <p:nvSpPr>
          <p:cNvPr id="5" name="文本框 12">
            <a:extLst>
              <a:ext uri="{FF2B5EF4-FFF2-40B4-BE49-F238E27FC236}">
                <a16:creationId xmlns:a16="http://schemas.microsoft.com/office/drawing/2014/main" id="{34F8D938-9643-B8E1-8B4F-B4F64AE114A9}"/>
              </a:ext>
            </a:extLst>
          </p:cNvPr>
          <p:cNvSpPr>
            <a:spLocks noGrp="1"/>
          </p:cNvSpPr>
          <p:nvPr/>
        </p:nvSpPr>
        <p:spPr>
          <a:xfrm>
            <a:off x="524796" y="2292035"/>
            <a:ext cx="4907813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1200" dirty="0">
                <a:solidFill>
                  <a:schemeClr val="bg1"/>
                </a:solidFill>
                <a:latin typeface="MiSans VF Light"/>
                <a:ea typeface="MiSans VF Light"/>
                <a:cs typeface="MiSans VF Light"/>
              </a:rPr>
              <a:t>面向智能硬件、边缘计算与产品量产的报告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0388E7-1B62-9A0B-B8CB-9E7C7C1E9033}"/>
              </a:ext>
            </a:extLst>
          </p:cNvPr>
          <p:cNvSpPr>
            <a:spLocks noGrp="1"/>
          </p:cNvSpPr>
          <p:nvPr/>
        </p:nvSpPr>
        <p:spPr>
          <a:xfrm>
            <a:off x="524797" y="886174"/>
            <a:ext cx="4907814" cy="123110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spAutoFit/>
          </a:bodyPr>
          <a:lstStyle/>
          <a:p>
            <a:pPr>
              <a:buNone/>
              <a:defRPr sz="4200" b="1">
                <a:solidFill>
                  <a:srgbClr val="FFFFFF"/>
                </a:solidFill>
                <a:latin typeface="MiSans"/>
                <a:ea typeface="MiSans"/>
                <a:cs typeface="MiSans"/>
              </a:defRPr>
            </a:pPr>
            <a:r>
              <a:rPr lang="en-US" altLang="zh-CN" sz="4000" dirty="0">
                <a:solidFill>
                  <a:schemeClr val="bg1"/>
                </a:solidFill>
                <a:latin typeface="MiSans VF Semibold"/>
                <a:ea typeface="MiSans VF Semibold"/>
                <a:cs typeface="MiSans VF Semibold"/>
              </a:rPr>
              <a:t>Thanks</a:t>
            </a:r>
            <a:r>
              <a:rPr lang="zh-CN" altLang="en-US" sz="4000" dirty="0">
                <a:solidFill>
                  <a:schemeClr val="bg1"/>
                </a:solidFill>
                <a:latin typeface="MiSans VF Semibold"/>
                <a:ea typeface="MiSans VF Semibold"/>
                <a:cs typeface="MiSans VF Semibold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MiSans VF Semibold"/>
                <a:ea typeface="MiSans VF Semibold"/>
                <a:cs typeface="MiSans VF Semibold"/>
              </a:rPr>
              <a:t>For</a:t>
            </a:r>
            <a:r>
              <a:rPr lang="zh-CN" altLang="en-US" sz="4000" dirty="0">
                <a:solidFill>
                  <a:schemeClr val="bg1"/>
                </a:solidFill>
                <a:latin typeface="MiSans VF Semibold"/>
                <a:ea typeface="MiSans VF Semibold"/>
                <a:cs typeface="MiSans VF Semibold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MiSans VF Semibold"/>
                <a:ea typeface="MiSans VF Semibold"/>
                <a:cs typeface="MiSans VF Semibold"/>
              </a:rPr>
              <a:t>Watching</a:t>
            </a:r>
            <a:endParaRPr sz="4000" dirty="0">
              <a:solidFill>
                <a:schemeClr val="bg1"/>
              </a:solidFill>
              <a:latin typeface="MiSans VF Semibold"/>
              <a:ea typeface="MiSans VF Semibold"/>
              <a:cs typeface="MiSans VF Semibold"/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17D16FCC-C2DC-66CD-6159-7434DB637927}"/>
              </a:ext>
            </a:extLst>
          </p:cNvPr>
          <p:cNvSpPr>
            <a:spLocks noGrp="1"/>
          </p:cNvSpPr>
          <p:nvPr/>
        </p:nvSpPr>
        <p:spPr>
          <a:xfrm>
            <a:off x="524797" y="385358"/>
            <a:ext cx="3077046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en-US" altLang="zh-CN" sz="800" dirty="0">
                <a:solidFill>
                  <a:schemeClr val="bg1">
                    <a:alpha val="50000"/>
                  </a:schemeClr>
                </a:solidFill>
                <a:latin typeface="MiSans VF Light"/>
                <a:ea typeface="MiSans VF Light"/>
                <a:cs typeface="MiSans VF Light"/>
              </a:rPr>
              <a:t>Intelligent Hardware System 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F4B04B1F-F9D9-4E50-9B3E-E7AA2AB18029}"/>
              </a:ext>
            </a:extLst>
          </p:cNvPr>
          <p:cNvSpPr>
            <a:spLocks noGrp="1"/>
          </p:cNvSpPr>
          <p:nvPr/>
        </p:nvSpPr>
        <p:spPr>
          <a:xfrm>
            <a:off x="8986185" y="385358"/>
            <a:ext cx="2747099" cy="141577"/>
          </a:xfrm>
          <a:prstGeom prst="rect">
            <a:avLst/>
          </a:prstGeom>
          <a:noFill/>
          <a:ln w="16933" cmpd="sng">
            <a:noFill/>
            <a:prstDash val="solid"/>
          </a:ln>
        </p:spPr>
        <p:txBody>
          <a:bodyPr vert="horz"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buNone/>
            </a:pPr>
            <a:r>
              <a:rPr lang="en-US" altLang="zh-CN" sz="800" dirty="0">
                <a:solidFill>
                  <a:schemeClr val="bg1">
                    <a:alpha val="50000"/>
                  </a:schemeClr>
                </a:solidFill>
                <a:latin typeface="MiSans VF Light"/>
                <a:ea typeface="MiSans VF Light"/>
                <a:cs typeface="MiSans VF Light"/>
              </a:rPr>
              <a:t>Pages</a:t>
            </a:r>
            <a:endParaRPr sz="800" dirty="0">
              <a:solidFill>
                <a:schemeClr val="bg1">
                  <a:alpha val="50000"/>
                </a:schemeClr>
              </a:solidFill>
              <a:latin typeface="MiSans VF Light"/>
              <a:ea typeface="MiSans VF Light"/>
              <a:cs typeface="MiSans VF Light"/>
            </a:endParaRPr>
          </a:p>
        </p:txBody>
      </p:sp>
    </p:spTree>
    <p:extLst>
      <p:ext uri="{BB962C8B-B14F-4D97-AF65-F5344CB8AC3E}">
        <p14:creationId xmlns:p14="http://schemas.microsoft.com/office/powerpoint/2010/main" val="9189126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496</Words>
  <Application>Microsoft Macintosh PowerPoint</Application>
  <DocSecurity>0</DocSecurity>
  <PresentationFormat>宽屏</PresentationFormat>
  <Paragraphs>147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MiSans</vt:lpstr>
      <vt:lpstr>MiSans VF Bold</vt:lpstr>
      <vt:lpstr>MiSans VF Light</vt:lpstr>
      <vt:lpstr>MISANS VF MEDIUM</vt:lpstr>
      <vt:lpstr>MiSans VF Semibold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T209833</cp:lastModifiedBy>
  <cp:revision>3</cp:revision>
  <dcterms:created xsi:type="dcterms:W3CDTF">2026-06-04T11:31:11Z</dcterms:created>
  <dcterms:modified xsi:type="dcterms:W3CDTF">2026-06-04T14:38:01Z</dcterms:modified>
</cp:coreProperties>
</file>