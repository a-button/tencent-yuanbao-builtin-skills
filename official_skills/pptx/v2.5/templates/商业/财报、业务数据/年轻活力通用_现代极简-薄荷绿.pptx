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  <p:sldId id="268" r:id="rId10"/>
    <p:sldId id="263" r:id="rId11"/>
    <p:sldId id="267" r:id="rId12"/>
    <p:sldId id="264" r:id="rId13"/>
    <p:sldId id="265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A6EDD1"/>
    <a:srgbClr val="C9F6E6"/>
    <a:srgbClr val="D7FF59"/>
    <a:srgbClr val="F4F4F4"/>
    <a:srgbClr val="00B878"/>
    <a:srgbClr val="EFF1F7"/>
    <a:srgbClr val="ECECEC"/>
    <a:srgbClr val="7EF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/>
    <p:restoredTop sz="94658"/>
  </p:normalViewPr>
  <p:slideViewPr>
    <p:cSldViewPr snapToGrid="0">
      <p:cViewPr varScale="1">
        <p:scale>
          <a:sx n="107" d="100"/>
          <a:sy n="107" d="100"/>
        </p:scale>
        <p:origin x="200" y="44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00B878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00B878"/>
              </a:solidFill>
              <a:ln w="19050">
                <a:solidFill>
                  <a:srgbClr val="00B878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B87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B87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B87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B87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00B87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MiSans VF Semibold" pitchFamily="2" charset="-122"/>
                    <a:ea typeface="MiSans VF Semibold" pitchFamily="2" charset="-122"/>
                    <a:cs typeface="MiSans VF Semibold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AA14-CF43-61ED-AED3-8803358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>
            <a:extLst>
              <a:ext uri="{FF2B5EF4-FFF2-40B4-BE49-F238E27FC236}">
                <a16:creationId xmlns:a16="http://schemas.microsoft.com/office/drawing/2014/main" id="{0E579B87-452D-64C2-C885-D9E3880855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F8E9928E-ED23-14C3-200F-82EA84EE7A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>
            <a:extLst>
              <a:ext uri="{FF2B5EF4-FFF2-40B4-BE49-F238E27FC236}">
                <a16:creationId xmlns:a16="http://schemas.microsoft.com/office/drawing/2014/main" id="{6FB2A9BC-33E8-612B-B86B-6E437BCF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>
            <a:extLst>
              <a:ext uri="{FF2B5EF4-FFF2-40B4-BE49-F238E27FC236}">
                <a16:creationId xmlns:a16="http://schemas.microsoft.com/office/drawing/2014/main" id="{8FC44803-4F64-48F3-8EC7-55D78888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>
            <a:extLst>
              <a:ext uri="{FF2B5EF4-FFF2-40B4-BE49-F238E27FC236}">
                <a16:creationId xmlns:a16="http://schemas.microsoft.com/office/drawing/2014/main" id="{0DCC4B14-34D5-6FDA-DB21-6C90F161C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>
            <a:extLst>
              <a:ext uri="{FF2B5EF4-FFF2-40B4-BE49-F238E27FC236}">
                <a16:creationId xmlns:a16="http://schemas.microsoft.com/office/drawing/2014/main" id="{4C51974D-95E6-1029-ED23-4E0E1C43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73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BFAD3-398B-E95B-AD7D-ACC75A27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571CB6C2-61DD-C267-EF2D-7B65782E19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6003EA4C-67CD-60CF-7C44-0E54FC0022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6DEC74DF-F7B4-E14F-1DA4-C3AD39E62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DA23800B-63CB-943B-CE69-10261CB41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2FB24754-50AB-C630-5246-AB580E328B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B9D91AB2-5C26-FE6A-64E9-DD3A93662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741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核心叙事</a:t>
            </a:r>
            <a:endParaRPr lang="en-US" sz="16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AI时代的高效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工作方式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255A17-9EC3-3DE9-B63C-30CE21ECDA76}"/>
              </a:ext>
            </a:extLst>
          </p:cNvPr>
          <p:cNvSpPr txBox="1"/>
          <p:nvPr/>
        </p:nvSpPr>
        <p:spPr>
          <a:xfrm>
            <a:off x="524797" y="2623303"/>
            <a:ext cx="39828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从工具使用到流程重构</a:t>
            </a:r>
            <a:endParaRPr lang="en-US" altLang="zh-CN" sz="16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059A95-319D-4A06-A9DF-AB56ECD3F89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DC32426D-14D1-A5DD-82C5-FB4A965C024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59451652-8FF0-85DA-0420-8B356412754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5708E20-5510-1622-7AD8-CAE64B798DA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ACD69D-881A-DAEB-903E-A71E8FB6ABA5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B19FF9-C776-360C-3C03-501BD2BF28B0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6ACDA6-DED4-926E-082B-6EB436F0FA2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990B80F-EAA9-BD51-80DE-180F9E374587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D7FF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17741B5-9D0B-6ADD-8CEE-15548EC7ADB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28D9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497BE0-C280-6404-2AC8-22AC1A4234B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7D567-FEC5-BC25-940F-5445303F36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C73DFA1-E8B3-F360-EB7F-75E9CC319A1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BD65DC0-1421-0FE2-8343-373E541ACDC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A6ED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A18A0FC-E636-5860-93C4-9C9B932EDDE8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80C652-0147-19F7-B101-0B6FC1198481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9C1EF5-6343-B0BE-98F7-7159B189BA5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5126A01-549E-CF40-F561-675032A8B4B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92DABE-07BA-7E0B-F0C7-7B9D6D11D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2235" cy="6858000"/>
          </a:xfrm>
          <a:prstGeom prst="rect">
            <a:avLst/>
          </a:prstGeom>
        </p:spPr>
      </p:pic>
      <p:sp>
        <p:nvSpPr>
          <p:cNvPr id="78" name="AutoShape 3"/>
          <p:cNvSpPr/>
          <p:nvPr/>
        </p:nvSpPr>
        <p:spPr>
          <a:xfrm>
            <a:off x="5637596" y="765374"/>
            <a:ext cx="6095687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所有人的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工作方式升级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231828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3亿岗位面临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重新拆解与重组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6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这并不意味着岗位会消失，而是写作、检索到数据分析这些工作中繁琐重复的部分被大幅度提效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6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Source: Goldman Sachs, 2023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949053" y="4237031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新一代通用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工作基础设施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949052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正在嵌入真实工作流，成为日常客户沟通、知识管理与业务闭环的基础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949052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不再是少数人的工具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4FA379-89CB-4802-81A0-608CDBDC673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4EE3F47C-7922-84F7-05D7-CB1E0F7F426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4A6848FD-C8F4-6912-029A-23DFE43B5BB6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</a:t>
              </a:r>
              <a:r>
                <a:rPr lang="zh-CN" alt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01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53D763B3-B99C-7879-0789-FBAF312D020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2BDA089-9D4D-10D2-B9AA-4301E36FA792}"/>
              </a:ext>
            </a:extLst>
          </p:cNvPr>
          <p:cNvCxnSpPr>
            <a:cxnSpLocks/>
          </p:cNvCxnSpPr>
          <p:nvPr/>
        </p:nvCxnSpPr>
        <p:spPr>
          <a:xfrm>
            <a:off x="5637596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997B16-45B8-C07F-4FC5-D1D04169116B}"/>
              </a:ext>
            </a:extLst>
          </p:cNvPr>
          <p:cNvCxnSpPr>
            <a:cxnSpLocks/>
          </p:cNvCxnSpPr>
          <p:nvPr/>
        </p:nvCxnSpPr>
        <p:spPr>
          <a:xfrm>
            <a:off x="8949052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484456" y="1549677"/>
            <a:ext cx="3540760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影响深远的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关键数据</a:t>
            </a:r>
            <a:endParaRPr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482551" y="3055950"/>
            <a:ext cx="3540760" cy="128176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从高盛到麦肯锡的全球调研数据表明，AI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的影响范围极其广泛，且正在快速渗透到企业的核心工作流中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altLang="zh-CN" sz="1200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37EB6-5668-44DB-0C98-31F83BCD7B56}"/>
              </a:ext>
            </a:extLst>
          </p:cNvPr>
          <p:cNvSpPr/>
          <p:nvPr/>
        </p:nvSpPr>
        <p:spPr>
          <a:xfrm>
            <a:off x="4633595" y="1088272"/>
            <a:ext cx="7558405" cy="1683860"/>
          </a:xfrm>
          <a:prstGeom prst="rect">
            <a:avLst/>
          </a:prstGeom>
          <a:solidFill>
            <a:srgbClr val="C9F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5689B3C-9496-49A6-BFDA-F07DCDDB1F9B}"/>
              </a:ext>
            </a:extLst>
          </p:cNvPr>
          <p:cNvSpPr/>
          <p:nvPr/>
        </p:nvSpPr>
        <p:spPr>
          <a:xfrm>
            <a:off x="8275007" y="1262409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3亿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F195925C-0B01-29D1-F354-2FBA38C42B06}"/>
              </a:ext>
            </a:extLst>
          </p:cNvPr>
          <p:cNvSpPr/>
          <p:nvPr/>
        </p:nvSpPr>
        <p:spPr>
          <a:xfrm>
            <a:off x="4907759" y="1396310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全职岗位内容受影响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F1D880-FA3A-0150-8697-78765C8A8F0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1C5F9F9A-86DB-71A2-CA84-73BC7B3CBD0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F979B29-B999-7062-50BD-F201920FD3D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94714119-2147-2495-328B-C8DFCE3E0E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8C8711-3AC8-6DBD-010B-8633FC49100A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28D99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Global Survey</a:t>
            </a:r>
            <a:endParaRPr lang="en-US" altLang="zh-CN" sz="1100" dirty="0">
              <a:solidFill>
                <a:srgbClr val="28D997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7259FE-3779-84F7-7E68-DCED6B25BAE2}"/>
              </a:ext>
            </a:extLst>
          </p:cNvPr>
          <p:cNvSpPr/>
          <p:nvPr/>
        </p:nvSpPr>
        <p:spPr>
          <a:xfrm>
            <a:off x="4633595" y="2777655"/>
            <a:ext cx="7558405" cy="1683860"/>
          </a:xfrm>
          <a:prstGeom prst="rect">
            <a:avLst/>
          </a:prstGeom>
          <a:solidFill>
            <a:srgbClr val="D7FF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B08F7CBD-0455-18DF-634B-0A058757B9E5}"/>
              </a:ext>
            </a:extLst>
          </p:cNvPr>
          <p:cNvSpPr/>
          <p:nvPr/>
        </p:nvSpPr>
        <p:spPr>
          <a:xfrm>
            <a:off x="8275007" y="3024954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72%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363DAC22-FC13-A050-3CF7-6FB977373B0E}"/>
              </a:ext>
            </a:extLst>
          </p:cNvPr>
          <p:cNvSpPr/>
          <p:nvPr/>
        </p:nvSpPr>
        <p:spPr>
          <a:xfrm>
            <a:off x="4907759" y="3158855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72%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的组织已在职能中使用 </a:t>
            </a:r>
            <a:r>
              <a:rPr 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7C80C-152E-BAED-5673-7B08CEB05C3B}"/>
              </a:ext>
            </a:extLst>
          </p:cNvPr>
          <p:cNvSpPr/>
          <p:nvPr/>
        </p:nvSpPr>
        <p:spPr>
          <a:xfrm>
            <a:off x="4633595" y="4461515"/>
            <a:ext cx="7558405" cy="1683860"/>
          </a:xfrm>
          <a:prstGeom prst="rect">
            <a:avLst/>
          </a:prstGeom>
          <a:solidFill>
            <a:srgbClr val="28D9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A40C39F7-C535-4197-7133-3709D4DCE185}"/>
              </a:ext>
            </a:extLst>
          </p:cNvPr>
          <p:cNvSpPr/>
          <p:nvPr/>
        </p:nvSpPr>
        <p:spPr>
          <a:xfrm>
            <a:off x="8275007" y="4682652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88%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39D2EE10-6215-9BF4-B592-B86A44CA8C45}"/>
              </a:ext>
            </a:extLst>
          </p:cNvPr>
          <p:cNvSpPr/>
          <p:nvPr/>
        </p:nvSpPr>
        <p:spPr>
          <a:xfrm>
            <a:off x="4907759" y="4816553"/>
            <a:ext cx="2758869" cy="48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年公司常规工作中使用</a:t>
            </a: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>
            <a:extLst>
              <a:ext uri="{FF2B5EF4-FFF2-40B4-BE49-F238E27FC236}">
                <a16:creationId xmlns:a16="http://schemas.microsoft.com/office/drawing/2014/main" id="{1177F007-44D0-F35B-D1ED-528856861EC1}"/>
              </a:ext>
            </a:extLst>
          </p:cNvPr>
          <p:cNvSpPr/>
          <p:nvPr/>
        </p:nvSpPr>
        <p:spPr>
          <a:xfrm>
            <a:off x="484455" y="832699"/>
            <a:ext cx="3344969" cy="5356874"/>
          </a:xfrm>
          <a:prstGeom prst="roundRect">
            <a:avLst>
              <a:gd name="adj" fmla="val 10003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214A3B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AF9A17A5-3DD1-A842-C16D-EFF33C73B11D}"/>
              </a:ext>
            </a:extLst>
          </p:cNvPr>
          <p:cNvSpPr/>
          <p:nvPr/>
        </p:nvSpPr>
        <p:spPr>
          <a:xfrm>
            <a:off x="784852" y="2080178"/>
            <a:ext cx="2776649" cy="7386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时代</a:t>
            </a: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的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高效工作方式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45C371-9566-A956-C772-7E939209C4B2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4A74F7C-1A49-EA9C-6629-B4829CC2234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171A62BF-D5DE-9414-EAC5-2F19640CAAE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FA7388F4-2233-83E0-B458-9DC9B15B055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6C8BCE5-EDBE-493A-235D-5458C156B78F}"/>
              </a:ext>
            </a:extLst>
          </p:cNvPr>
          <p:cNvSpPr/>
          <p:nvPr/>
        </p:nvSpPr>
        <p:spPr>
          <a:xfrm>
            <a:off x="784852" y="4752295"/>
            <a:ext cx="2776649" cy="4174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把重复交给模型，把判断留给人；让个人效率、团队知识与业务流程形成闭环。</a:t>
            </a:r>
            <a:endParaRPr lang="en-US" altLang="zh-CN" sz="12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937CEA2-C36E-88F6-D405-F2042C131AC8}"/>
              </a:ext>
            </a:extLst>
          </p:cNvPr>
          <p:cNvSpPr/>
          <p:nvPr/>
        </p:nvSpPr>
        <p:spPr>
          <a:xfrm>
            <a:off x="784853" y="1193486"/>
            <a:ext cx="2776648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rPr>
              <a:t>80%</a:t>
            </a:r>
            <a:endParaRPr lang="zh-CN" altLang="en-US" sz="4000" u="none" strike="noStrike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809A9F-7BE7-B0E7-E32A-22FC2F3B772C}"/>
              </a:ext>
            </a:extLst>
          </p:cNvPr>
          <p:cNvGrpSpPr/>
          <p:nvPr/>
        </p:nvGrpSpPr>
        <p:grpSpPr>
          <a:xfrm>
            <a:off x="3861637" y="832699"/>
            <a:ext cx="2604187" cy="2663875"/>
            <a:chOff x="3861637" y="832699"/>
            <a:chExt cx="2604187" cy="266387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1F1910A4-F271-C9F6-B408-3C77B284137A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14A3B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3288F774-F10C-2D25-22A8-03D9FEC9B496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从搜索到对话</a:t>
              </a:r>
            </a:p>
          </p:txBody>
        </p:sp>
        <p:sp>
          <p:nvSpPr>
            <p:cNvPr id="29" name="AutoShape 2">
              <a:extLst>
                <a:ext uri="{FF2B5EF4-FFF2-40B4-BE49-F238E27FC236}">
                  <a16:creationId xmlns:a16="http://schemas.microsoft.com/office/drawing/2014/main" id="{550FE7EE-97AB-11E9-5107-1B7B02E1E399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3x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3C709B-B03C-5D27-EC6E-13CE881F065F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资料检索、摘要与初稿生成更快，先形成可讨论版本。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DAC5F1-EBEE-23AC-297E-15F852E694F3}"/>
              </a:ext>
            </a:extLst>
          </p:cNvPr>
          <p:cNvGrpSpPr/>
          <p:nvPr/>
        </p:nvGrpSpPr>
        <p:grpSpPr>
          <a:xfrm>
            <a:off x="6495367" y="832699"/>
            <a:ext cx="2604187" cy="2663875"/>
            <a:chOff x="3861637" y="832699"/>
            <a:chExt cx="2604187" cy="2663875"/>
          </a:xfrm>
        </p:grpSpPr>
        <p:sp>
          <p:nvSpPr>
            <p:cNvPr id="34" name="AutoShape 3">
              <a:extLst>
                <a:ext uri="{FF2B5EF4-FFF2-40B4-BE49-F238E27FC236}">
                  <a16:creationId xmlns:a16="http://schemas.microsoft.com/office/drawing/2014/main" id="{E49AA3C8-0D06-526B-999C-78F0C917CBA0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14A3B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35" name="AutoShape 3">
              <a:extLst>
                <a:ext uri="{FF2B5EF4-FFF2-40B4-BE49-F238E27FC236}">
                  <a16:creationId xmlns:a16="http://schemas.microsoft.com/office/drawing/2014/main" id="{021D7344-4229-CA8D-1E95-209AA44AC1D0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从任务到流程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6" name="AutoShape 2">
              <a:extLst>
                <a:ext uri="{FF2B5EF4-FFF2-40B4-BE49-F238E27FC236}">
                  <a16:creationId xmlns:a16="http://schemas.microsoft.com/office/drawing/2014/main" id="{4963067A-AAE6-74A5-8EC9-C9C858FBAB77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9EB38F79-F54E-81D6-76D0-CD7F9E07602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把重复步骤沉淀为模板，让交付质量不依赖临场发挥。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AF7D9B2-9A67-F476-EDC0-FF580821DEA8}"/>
              </a:ext>
            </a:extLst>
          </p:cNvPr>
          <p:cNvGrpSpPr/>
          <p:nvPr/>
        </p:nvGrpSpPr>
        <p:grpSpPr>
          <a:xfrm>
            <a:off x="9129097" y="832699"/>
            <a:ext cx="2604187" cy="2663875"/>
            <a:chOff x="3861637" y="832699"/>
            <a:chExt cx="2604187" cy="2663875"/>
          </a:xfrm>
        </p:grpSpPr>
        <p:sp>
          <p:nvSpPr>
            <p:cNvPr id="39" name="AutoShape 3">
              <a:extLst>
                <a:ext uri="{FF2B5EF4-FFF2-40B4-BE49-F238E27FC236}">
                  <a16:creationId xmlns:a16="http://schemas.microsoft.com/office/drawing/2014/main" id="{98B7ECEC-3316-7088-0F14-A7926D11DC0E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14A3B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5EC0055C-8829-A787-1E87-5E0ABEB3C2F3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从经验到知识库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1" name="AutoShape 2">
              <a:extLst>
                <a:ext uri="{FF2B5EF4-FFF2-40B4-BE49-F238E27FC236}">
                  <a16:creationId xmlns:a16="http://schemas.microsoft.com/office/drawing/2014/main" id="{6A6CC89F-5D72-BB9F-E45C-7B73BC674956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24h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F27348DD-0909-FB22-85B5-5CF95324B86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会议、项目与客户信息即时归档，随时可被检索和复用。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E029C4-67FD-BFD0-2275-A9572FD41727}"/>
              </a:ext>
            </a:extLst>
          </p:cNvPr>
          <p:cNvGrpSpPr/>
          <p:nvPr/>
        </p:nvGrpSpPr>
        <p:grpSpPr>
          <a:xfrm>
            <a:off x="3861637" y="3520480"/>
            <a:ext cx="2604187" cy="2663875"/>
            <a:chOff x="3861637" y="832699"/>
            <a:chExt cx="2604187" cy="2663875"/>
          </a:xfrm>
        </p:grpSpPr>
        <p:sp>
          <p:nvSpPr>
            <p:cNvPr id="44" name="AutoShape 3">
              <a:extLst>
                <a:ext uri="{FF2B5EF4-FFF2-40B4-BE49-F238E27FC236}">
                  <a16:creationId xmlns:a16="http://schemas.microsoft.com/office/drawing/2014/main" id="{E9A4B855-9813-2E38-3634-3FE8A225383B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14A3B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5" name="AutoShape 3">
              <a:extLst>
                <a:ext uri="{FF2B5EF4-FFF2-40B4-BE49-F238E27FC236}">
                  <a16:creationId xmlns:a16="http://schemas.microsoft.com/office/drawing/2014/main" id="{E58A9B70-D8D8-B84F-3161-2A13C2ED198C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从执行到判断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6" name="AutoShape 2">
              <a:extLst>
                <a:ext uri="{FF2B5EF4-FFF2-40B4-BE49-F238E27FC236}">
                  <a16:creationId xmlns:a16="http://schemas.microsoft.com/office/drawing/2014/main" id="{C8856D3E-CDEA-394F-1753-332EBDA3EA9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</a:t>
              </a:r>
              <a:r>
                <a:rPr lang="zh-CN" altLang="en-US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人</a:t>
              </a:r>
            </a:p>
          </p:txBody>
        </p:sp>
        <p:sp>
          <p:nvSpPr>
            <p:cNvPr id="47" name="AutoShape 3">
              <a:extLst>
                <a:ext uri="{FF2B5EF4-FFF2-40B4-BE49-F238E27FC236}">
                  <a16:creationId xmlns:a16="http://schemas.microsoft.com/office/drawing/2014/main" id="{8E962B20-1BE1-AE60-6028-FB63A17427B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个人拥有研究、写作、分析、排版等多角色协作能力。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243F045-4121-2D55-BCF1-C33D51A5FD57}"/>
              </a:ext>
            </a:extLst>
          </p:cNvPr>
          <p:cNvGrpSpPr/>
          <p:nvPr/>
        </p:nvGrpSpPr>
        <p:grpSpPr>
          <a:xfrm>
            <a:off x="6495367" y="3520480"/>
            <a:ext cx="2604187" cy="2663875"/>
            <a:chOff x="3861637" y="832699"/>
            <a:chExt cx="2604187" cy="2663875"/>
          </a:xfrm>
        </p:grpSpPr>
        <p:sp>
          <p:nvSpPr>
            <p:cNvPr id="49" name="AutoShape 3">
              <a:extLst>
                <a:ext uri="{FF2B5EF4-FFF2-40B4-BE49-F238E27FC236}">
                  <a16:creationId xmlns:a16="http://schemas.microsoft.com/office/drawing/2014/main" id="{5F02B0C6-83DA-1343-A59D-AA88568FA853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14A3B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97F5CC76-60F2-B402-5142-72CC3AC1FC9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从单点到协同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1" name="AutoShape 2">
              <a:extLst>
                <a:ext uri="{FF2B5EF4-FFF2-40B4-BE49-F238E27FC236}">
                  <a16:creationId xmlns:a16="http://schemas.microsoft.com/office/drawing/2014/main" id="{4BFB5B3D-29B6-D223-9767-FD595DC18AAF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5</a:t>
              </a:r>
              <a:r>
                <a:rPr lang="zh-CN" altLang="en-US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步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2" name="AutoShape 3">
              <a:extLst>
                <a:ext uri="{FF2B5EF4-FFF2-40B4-BE49-F238E27FC236}">
                  <a16:creationId xmlns:a16="http://schemas.microsoft.com/office/drawing/2014/main" id="{D278D6CA-FA21-3504-6AC0-078FCC442352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提问、生成、校验、改写、发布，形成稳定的人机闭环。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E7DFF8-C9A8-781F-E8F7-85D8D5436E9B}"/>
              </a:ext>
            </a:extLst>
          </p:cNvPr>
          <p:cNvGrpSpPr/>
          <p:nvPr/>
        </p:nvGrpSpPr>
        <p:grpSpPr>
          <a:xfrm>
            <a:off x="9129097" y="3520480"/>
            <a:ext cx="2604187" cy="2663875"/>
            <a:chOff x="3861637" y="832699"/>
            <a:chExt cx="2604187" cy="2663875"/>
          </a:xfrm>
        </p:grpSpPr>
        <p:sp>
          <p:nvSpPr>
            <p:cNvPr id="54" name="AutoShape 3">
              <a:extLst>
                <a:ext uri="{FF2B5EF4-FFF2-40B4-BE49-F238E27FC236}">
                  <a16:creationId xmlns:a16="http://schemas.microsoft.com/office/drawing/2014/main" id="{A29A2691-30E5-D9E0-6203-FD3A49E877A4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14A3B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5" name="AutoShape 3">
              <a:extLst>
                <a:ext uri="{FF2B5EF4-FFF2-40B4-BE49-F238E27FC236}">
                  <a16:creationId xmlns:a16="http://schemas.microsoft.com/office/drawing/2014/main" id="{2C556E03-1564-03C0-72CE-EF6C507E563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从速度到复利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6" name="AutoShape 2">
              <a:extLst>
                <a:ext uri="{FF2B5EF4-FFF2-40B4-BE49-F238E27FC236}">
                  <a16:creationId xmlns:a16="http://schemas.microsoft.com/office/drawing/2014/main" id="{3C9F8BA8-907E-E146-B1DF-3A1DDB2AE46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100%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D72D70D-F056-F04E-84FA-943666E9077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每次产出都回流为案例、提示词和流程资产。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3">
            <a:extLst>
              <a:ext uri="{FF2B5EF4-FFF2-40B4-BE49-F238E27FC236}">
                <a16:creationId xmlns:a16="http://schemas.microsoft.com/office/drawing/2014/main" id="{8E5C18AC-9F4A-C578-F5D3-017CDEDCE815}"/>
              </a:ext>
            </a:extLst>
          </p:cNvPr>
          <p:cNvSpPr/>
          <p:nvPr/>
        </p:nvSpPr>
        <p:spPr>
          <a:xfrm>
            <a:off x="484456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214A3B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5344487-F974-619D-DE2A-55A98953647D}"/>
              </a:ext>
            </a:extLst>
          </p:cNvPr>
          <p:cNvSpPr/>
          <p:nvPr/>
        </p:nvSpPr>
        <p:spPr>
          <a:xfrm>
            <a:off x="3366232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36E74D5-50C3-0B00-199B-60833473DEAE}"/>
              </a:ext>
            </a:extLst>
          </p:cNvPr>
          <p:cNvSpPr/>
          <p:nvPr/>
        </p:nvSpPr>
        <p:spPr>
          <a:xfrm>
            <a:off x="6248008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3F2068E3-C470-407A-CDCB-A93F65CDB27A}"/>
              </a:ext>
            </a:extLst>
          </p:cNvPr>
          <p:cNvSpPr/>
          <p:nvPr/>
        </p:nvSpPr>
        <p:spPr>
          <a:xfrm>
            <a:off x="9129784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484456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C9F6E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214A3B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681306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81306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会议纪要、文档总结、邮件草稿资料初筛。优先落地这些场景以快速见效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366232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28D99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564352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563082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248008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D7FF59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444858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404218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9129784" y="2009408"/>
            <a:ext cx="2603500" cy="238197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326634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282184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过度定制、目标不清的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系统、缺少业务闭环的复杂方案。应尽量避免在此投入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524797" y="829870"/>
            <a:ext cx="10827302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AI </a:t>
            </a:r>
            <a:r>
              <a:rPr lang="zh-CN" alt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落地场景四象限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E1CA0F-EAED-C2CB-F910-373C8696371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FF98D68-8852-5820-8426-F57A040D0B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9A88684E-9F9E-F02D-7E76-BA9CAB0D800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22FD7469-1090-0775-F90A-B21476474B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EF09D72C-AAE4-2248-1A47-BCDB60870ADC}"/>
              </a:ext>
            </a:extLst>
          </p:cNvPr>
          <p:cNvSpPr/>
          <p:nvPr/>
        </p:nvSpPr>
        <p:spPr>
          <a:xfrm>
            <a:off x="2447788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01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25A633A8-FB35-0C2B-845F-61A59FAAF4E0}"/>
              </a:ext>
            </a:extLst>
          </p:cNvPr>
          <p:cNvSpPr/>
          <p:nvPr/>
        </p:nvSpPr>
        <p:spPr>
          <a:xfrm>
            <a:off x="5330834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02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E80C54B-FFD8-5342-0FB5-A233211E5169}"/>
              </a:ext>
            </a:extLst>
          </p:cNvPr>
          <p:cNvSpPr/>
          <p:nvPr/>
        </p:nvSpPr>
        <p:spPr>
          <a:xfrm>
            <a:off x="8211340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03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455AD161-79F1-29E8-CEAA-D803C0259A82}"/>
              </a:ext>
            </a:extLst>
          </p:cNvPr>
          <p:cNvSpPr/>
          <p:nvPr/>
        </p:nvSpPr>
        <p:spPr>
          <a:xfrm>
            <a:off x="11093116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04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532416" y="882124"/>
            <a:ext cx="10530553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工作流重构的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四个核心阶段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cxnSp>
        <p:nvCxnSpPr>
          <p:cNvPr id="132" name="Connector 3"/>
          <p:cNvCxnSpPr>
            <a:cxnSpLocks/>
          </p:cNvCxnSpPr>
          <p:nvPr/>
        </p:nvCxnSpPr>
        <p:spPr>
          <a:xfrm>
            <a:off x="0" y="3036372"/>
            <a:ext cx="12192000" cy="143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022601" y="497861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157342" y="4977671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7292083" y="4977672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537052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01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任务识别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53705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判断哪些工作适合交给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AI：重复性高、规则明确、信息密集、反馈周期短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341962" y="4201792"/>
            <a:ext cx="2219829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02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工具协作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341963" y="5191760"/>
            <a:ext cx="221983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参与搜索、分析、生成、复盘，把工具嵌入真实工作流，而不是停留在尝鲜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50578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03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流程沉淀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50578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把一次性提效变成可复用的标准操作流程 (SOP)，降低跨团队的协作门槛。</a:t>
            </a:r>
            <a:endParaRPr lang="en-US" sz="110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62782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04 持续迭代</a:t>
            </a:r>
            <a:endParaRPr lang="en-US" sz="110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62782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让团队能够复制、训练、优化这套新流程，并基于反馈持续迭代最佳实践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537052" y="3286760"/>
            <a:ext cx="662940" cy="662940"/>
          </a:xfrm>
          <a:prstGeom prst="ellipse">
            <a:avLst/>
          </a:prstGeom>
          <a:solidFill>
            <a:srgbClr val="C9F6E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642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341962" y="3249291"/>
            <a:ext cx="662940" cy="662940"/>
          </a:xfrm>
          <a:prstGeom prst="ellipse">
            <a:avLst/>
          </a:prstGeom>
          <a:solidFill>
            <a:srgbClr val="D7FF59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01982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505782" y="3286760"/>
            <a:ext cx="662940" cy="662940"/>
          </a:xfrm>
          <a:prstGeom prst="ellipse">
            <a:avLst/>
          </a:prstGeom>
          <a:solidFill>
            <a:srgbClr val="28D997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5802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627822" y="3286760"/>
            <a:ext cx="662940" cy="6629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7842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F2C903-C34D-3E4B-B5EF-DA31D1A833C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5F6BB1B8-28CC-8167-EF1D-4C55DB1BBD0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46F088C-FFD8-868F-6BA1-4850BB32FB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06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2B7EDD2B-F9E1-F99A-337D-51BD07A208B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58B670D-E6E2-3ECD-1F74-4F2CE0C96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29" y="878030"/>
            <a:ext cx="3240336" cy="244382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01B8A78-8C7B-81F2-0173-35E69433A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29" y="3749812"/>
            <a:ext cx="3240336" cy="2443828"/>
          </a:xfrm>
          <a:prstGeom prst="rect">
            <a:avLst/>
          </a:prstGeom>
        </p:spPr>
      </p:pic>
      <p:sp>
        <p:nvSpPr>
          <p:cNvPr id="123" name="AutoShape 5"/>
          <p:cNvSpPr/>
          <p:nvPr/>
        </p:nvSpPr>
        <p:spPr>
          <a:xfrm>
            <a:off x="0" y="0"/>
            <a:ext cx="4735773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524797" y="4458970"/>
            <a:ext cx="3665066" cy="1065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不仅是利用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替代个人的单点任务，更重要的是将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嵌入组织的系统流程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个人的启动速度提升，与组织的知识复用能力结合，才能最大化技术带来的红利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124" name="AutoShape 8"/>
          <p:cNvSpPr/>
          <p:nvPr/>
        </p:nvSpPr>
        <p:spPr>
          <a:xfrm>
            <a:off x="8784679" y="2545046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写作、搜索、总结、计划、学习以及时间管理。重点强调个体的启动速度、信息处理速度与输出速度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8784680" y="1298125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个人效率升级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8784679" y="5417670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流程自动化、知识库建设、跨部门协作、数据辅助决策。重点强调团队协同与资产复用能力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8784680" y="4169907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组织效率升级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524797" y="881581"/>
            <a:ext cx="3665066" cy="1446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54C90C-07B9-3F79-82B6-FC157D41A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A2036E2-DDB3-85A9-C907-3B8001CCE1E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B91A9F9-30CC-B20A-89BB-90A992D6AAB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19669C18-5665-8E92-2952-79E25B40309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1" y="1026349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PERSONAL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0" y="3898131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TEAM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438E-A0B9-44F4-95B3-8751A040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extLst>
              <a:ext uri="{FF2B5EF4-FFF2-40B4-BE49-F238E27FC236}">
                <a16:creationId xmlns:a16="http://schemas.microsoft.com/office/drawing/2014/main" id="{32BBD2E5-9CF7-FB2F-4CFE-049A43D640CF}"/>
              </a:ext>
            </a:extLst>
          </p:cNvPr>
          <p:cNvSpPr/>
          <p:nvPr/>
        </p:nvSpPr>
        <p:spPr>
          <a:xfrm>
            <a:off x="0" y="0"/>
            <a:ext cx="12192000" cy="3203157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54" name="Connector 3">
            <a:extLst>
              <a:ext uri="{FF2B5EF4-FFF2-40B4-BE49-F238E27FC236}">
                <a16:creationId xmlns:a16="http://schemas.microsoft.com/office/drawing/2014/main" id="{EDF78A3B-2D85-E733-FB68-7BBEC32EF786}"/>
              </a:ext>
            </a:extLst>
          </p:cNvPr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7" name="AutoShape 6">
            <a:extLst>
              <a:ext uri="{FF2B5EF4-FFF2-40B4-BE49-F238E27FC236}">
                <a16:creationId xmlns:a16="http://schemas.microsoft.com/office/drawing/2014/main" id="{E8B26EDD-5360-10AA-52FE-56D16FEEC9B1}"/>
              </a:ext>
            </a:extLst>
          </p:cNvPr>
          <p:cNvSpPr/>
          <p:nvPr/>
        </p:nvSpPr>
        <p:spPr>
          <a:xfrm>
            <a:off x="524797" y="3795514"/>
            <a:ext cx="42037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28D99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28D99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>
            <a:extLst>
              <a:ext uri="{FF2B5EF4-FFF2-40B4-BE49-F238E27FC236}">
                <a16:creationId xmlns:a16="http://schemas.microsoft.com/office/drawing/2014/main" id="{7B54C457-4391-47D2-9FC6-94513FAC28A0}"/>
              </a:ext>
            </a:extLst>
          </p:cNvPr>
          <p:cNvSpPr/>
          <p:nvPr/>
        </p:nvSpPr>
        <p:spPr>
          <a:xfrm>
            <a:off x="1081056" y="383869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内容生成：降低启动成本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9" name="AutoShape 8">
            <a:extLst>
              <a:ext uri="{FF2B5EF4-FFF2-40B4-BE49-F238E27FC236}">
                <a16:creationId xmlns:a16="http://schemas.microsoft.com/office/drawing/2014/main" id="{7158D3A6-A873-84F4-A45E-94C5818205BD}"/>
              </a:ext>
            </a:extLst>
          </p:cNvPr>
          <p:cNvSpPr/>
          <p:nvPr/>
        </p:nvSpPr>
        <p:spPr>
          <a:xfrm>
            <a:off x="524797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8D99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28D99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>
            <a:extLst>
              <a:ext uri="{FF2B5EF4-FFF2-40B4-BE49-F238E27FC236}">
                <a16:creationId xmlns:a16="http://schemas.microsoft.com/office/drawing/2014/main" id="{9738BC8E-EA4C-060A-FF25-455EEC1BEA24}"/>
              </a:ext>
            </a:extLst>
          </p:cNvPr>
          <p:cNvSpPr/>
          <p:nvPr/>
        </p:nvSpPr>
        <p:spPr>
          <a:xfrm>
            <a:off x="1081056" y="466038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数据分析：提炼趋势异常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78BD3C90-DB32-8988-5C4A-F637549FC906}"/>
              </a:ext>
            </a:extLst>
          </p:cNvPr>
          <p:cNvSpPr/>
          <p:nvPr/>
        </p:nvSpPr>
        <p:spPr>
          <a:xfrm>
            <a:off x="524797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8D99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28D99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>
            <a:extLst>
              <a:ext uri="{FF2B5EF4-FFF2-40B4-BE49-F238E27FC236}">
                <a16:creationId xmlns:a16="http://schemas.microsoft.com/office/drawing/2014/main" id="{C8F251C8-F728-80EC-CADC-E4D919687DAB}"/>
              </a:ext>
            </a:extLst>
          </p:cNvPr>
          <p:cNvSpPr/>
          <p:nvPr/>
        </p:nvSpPr>
        <p:spPr>
          <a:xfrm>
            <a:off x="1081056" y="548334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客户沟通：辅助自动回复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3" name="AutoShape 12">
            <a:extLst>
              <a:ext uri="{FF2B5EF4-FFF2-40B4-BE49-F238E27FC236}">
                <a16:creationId xmlns:a16="http://schemas.microsoft.com/office/drawing/2014/main" id="{7C087657-7085-6F76-485B-F00208BB328A}"/>
              </a:ext>
            </a:extLst>
          </p:cNvPr>
          <p:cNvSpPr/>
          <p:nvPr/>
        </p:nvSpPr>
        <p:spPr>
          <a:xfrm>
            <a:off x="6623050" y="379551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28D99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 dirty="0">
              <a:solidFill>
                <a:srgbClr val="28D99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>
            <a:extLst>
              <a:ext uri="{FF2B5EF4-FFF2-40B4-BE49-F238E27FC236}">
                <a16:creationId xmlns:a16="http://schemas.microsoft.com/office/drawing/2014/main" id="{05234C72-9876-CCAB-8ABE-F965BA0D557C}"/>
              </a:ext>
            </a:extLst>
          </p:cNvPr>
          <p:cNvSpPr/>
          <p:nvPr/>
        </p:nvSpPr>
        <p:spPr>
          <a:xfrm>
            <a:off x="7178040" y="383869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项目管理：拆解追踪风险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5" name="AutoShape 14">
            <a:extLst>
              <a:ext uri="{FF2B5EF4-FFF2-40B4-BE49-F238E27FC236}">
                <a16:creationId xmlns:a16="http://schemas.microsoft.com/office/drawing/2014/main" id="{A6C27EBD-32EF-44EA-73B5-B25817301B72}"/>
              </a:ext>
            </a:extLst>
          </p:cNvPr>
          <p:cNvSpPr/>
          <p:nvPr/>
        </p:nvSpPr>
        <p:spPr>
          <a:xfrm>
            <a:off x="6623050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8D99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28D99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>
            <a:extLst>
              <a:ext uri="{FF2B5EF4-FFF2-40B4-BE49-F238E27FC236}">
                <a16:creationId xmlns:a16="http://schemas.microsoft.com/office/drawing/2014/main" id="{4B79A48E-F14F-4706-DC06-1FF63F912EAE}"/>
              </a:ext>
            </a:extLst>
          </p:cNvPr>
          <p:cNvSpPr/>
          <p:nvPr/>
        </p:nvSpPr>
        <p:spPr>
          <a:xfrm>
            <a:off x="7178040" y="466038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知识沉淀：构建可检索资产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7" name="AutoShape 16">
            <a:extLst>
              <a:ext uri="{FF2B5EF4-FFF2-40B4-BE49-F238E27FC236}">
                <a16:creationId xmlns:a16="http://schemas.microsoft.com/office/drawing/2014/main" id="{C422332C-06A2-10A5-9005-6981B0E9D15F}"/>
              </a:ext>
            </a:extLst>
          </p:cNvPr>
          <p:cNvSpPr/>
          <p:nvPr/>
        </p:nvSpPr>
        <p:spPr>
          <a:xfrm>
            <a:off x="6623050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28D99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28D99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>
            <a:extLst>
              <a:ext uri="{FF2B5EF4-FFF2-40B4-BE49-F238E27FC236}">
                <a16:creationId xmlns:a16="http://schemas.microsoft.com/office/drawing/2014/main" id="{F610EC7F-D4CC-48B6-4517-1A76981E017B}"/>
              </a:ext>
            </a:extLst>
          </p:cNvPr>
          <p:cNvSpPr/>
          <p:nvPr/>
        </p:nvSpPr>
        <p:spPr>
          <a:xfrm>
            <a:off x="7178040" y="548334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个人学习：生成学习路径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8568141-89B9-7509-6547-4795E91D1B43}"/>
              </a:ext>
            </a:extLst>
          </p:cNvPr>
          <p:cNvSpPr/>
          <p:nvPr/>
        </p:nvSpPr>
        <p:spPr>
          <a:xfrm>
            <a:off x="484456" y="1549677"/>
            <a:ext cx="1105349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赋能的六大应用场景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050875-CC99-9441-E29F-0A33BF169198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28D99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Scenarios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751F8F-C126-F42B-EBCA-DED7B0AD210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84ABC4F5-B21F-91D6-673E-D7D6DBDA998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20E6595-821C-508B-956B-8272B2E7CE0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379A1952-917B-25FF-67E3-178220C9963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27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Connector 3"/>
          <p:cNvCxnSpPr/>
          <p:nvPr/>
        </p:nvCxnSpPr>
        <p:spPr>
          <a:xfrm>
            <a:off x="484456" y="297820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484456" y="400309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484456" y="502925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484456" y="605414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6" name="AutoShape 8"/>
          <p:cNvSpPr/>
          <p:nvPr/>
        </p:nvSpPr>
        <p:spPr>
          <a:xfrm>
            <a:off x="1591107" y="2256232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1591107" y="3307758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1591106" y="4307281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1591107" y="5345489"/>
            <a:ext cx="9791208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41FB2E-67E1-0EE9-3D11-A0E4AAD4BF3A}"/>
              </a:ext>
            </a:extLst>
          </p:cNvPr>
          <p:cNvGrpSpPr/>
          <p:nvPr/>
        </p:nvGrpSpPr>
        <p:grpSpPr>
          <a:xfrm>
            <a:off x="865260" y="2347218"/>
            <a:ext cx="248250" cy="248250"/>
            <a:chOff x="1154628" y="2347218"/>
            <a:chExt cx="248250" cy="248250"/>
          </a:xfrm>
        </p:grpSpPr>
        <p:cxnSp>
          <p:nvCxnSpPr>
            <p:cNvPr id="180" name="Connector 12"/>
            <p:cNvCxnSpPr/>
            <p:nvPr/>
          </p:nvCxnSpPr>
          <p:spPr>
            <a:xfrm rot="-176140">
              <a:off x="1155228" y="246513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7FF59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1" name="Connector 13"/>
            <p:cNvCxnSpPr/>
            <p:nvPr/>
          </p:nvCxnSpPr>
          <p:spPr>
            <a:xfrm rot="5223859">
              <a:off x="1155065" y="246529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7FF59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2" name="Connector 14"/>
            <p:cNvCxnSpPr/>
            <p:nvPr/>
          </p:nvCxnSpPr>
          <p:spPr>
            <a:xfrm rot="2524005">
              <a:off x="1154628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7FF59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3" name="Connector 15"/>
            <p:cNvCxnSpPr/>
            <p:nvPr/>
          </p:nvCxnSpPr>
          <p:spPr>
            <a:xfrm rot="7924005">
              <a:off x="1155297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7FF59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DB9B4-82DA-573D-7EE9-4BF939415852}"/>
              </a:ext>
            </a:extLst>
          </p:cNvPr>
          <p:cNvGrpSpPr/>
          <p:nvPr/>
        </p:nvGrpSpPr>
        <p:grpSpPr>
          <a:xfrm>
            <a:off x="865260" y="3372708"/>
            <a:ext cx="248250" cy="248525"/>
            <a:chOff x="1154628" y="3372708"/>
            <a:chExt cx="248250" cy="248525"/>
          </a:xfrm>
        </p:grpSpPr>
        <p:cxnSp>
          <p:nvCxnSpPr>
            <p:cNvPr id="184" name="Connector 16"/>
            <p:cNvCxnSpPr/>
            <p:nvPr/>
          </p:nvCxnSpPr>
          <p:spPr>
            <a:xfrm rot="-176140">
              <a:off x="1155228" y="349129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8D9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5" name="Connector 17"/>
            <p:cNvCxnSpPr/>
            <p:nvPr/>
          </p:nvCxnSpPr>
          <p:spPr>
            <a:xfrm rot="5223859">
              <a:off x="1155065" y="349018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8D9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6" name="Connector 18"/>
            <p:cNvCxnSpPr/>
            <p:nvPr/>
          </p:nvCxnSpPr>
          <p:spPr>
            <a:xfrm rot="2524005">
              <a:off x="1154628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8D9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7" name="Connector 19"/>
            <p:cNvCxnSpPr/>
            <p:nvPr/>
          </p:nvCxnSpPr>
          <p:spPr>
            <a:xfrm rot="7924005">
              <a:off x="1155297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8D99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CC211ED-CE84-1845-A3F6-6F059F96A3D9}"/>
              </a:ext>
            </a:extLst>
          </p:cNvPr>
          <p:cNvGrpSpPr/>
          <p:nvPr/>
        </p:nvGrpSpPr>
        <p:grpSpPr>
          <a:xfrm>
            <a:off x="858940" y="4395054"/>
            <a:ext cx="254566" cy="254209"/>
            <a:chOff x="1148308" y="4395054"/>
            <a:chExt cx="254566" cy="254209"/>
          </a:xfrm>
        </p:grpSpPr>
        <p:cxnSp>
          <p:nvCxnSpPr>
            <p:cNvPr id="188" name="Connector 20"/>
            <p:cNvCxnSpPr/>
            <p:nvPr/>
          </p:nvCxnSpPr>
          <p:spPr>
            <a:xfrm rot="-171744">
              <a:off x="1148874" y="451618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9F6E6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9" name="Connector 21"/>
            <p:cNvCxnSpPr/>
            <p:nvPr/>
          </p:nvCxnSpPr>
          <p:spPr>
            <a:xfrm rot="5228255">
              <a:off x="1148080" y="451570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9F6E6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0" name="Connector 22"/>
            <p:cNvCxnSpPr/>
            <p:nvPr/>
          </p:nvCxnSpPr>
          <p:spPr>
            <a:xfrm rot="2540499">
              <a:off x="1148308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9F6E6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1" name="Connector 23"/>
            <p:cNvCxnSpPr/>
            <p:nvPr/>
          </p:nvCxnSpPr>
          <p:spPr>
            <a:xfrm rot="7916204">
              <a:off x="1148979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9F6E6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310166-D68E-E512-465F-AE9730BFE399}"/>
              </a:ext>
            </a:extLst>
          </p:cNvPr>
          <p:cNvGrpSpPr/>
          <p:nvPr/>
        </p:nvGrpSpPr>
        <p:grpSpPr>
          <a:xfrm>
            <a:off x="864652" y="5419944"/>
            <a:ext cx="255204" cy="254846"/>
            <a:chOff x="1154020" y="5419944"/>
            <a:chExt cx="255204" cy="254846"/>
          </a:xfrm>
        </p:grpSpPr>
        <p:cxnSp>
          <p:nvCxnSpPr>
            <p:cNvPr id="192" name="Connector 24"/>
            <p:cNvCxnSpPr/>
            <p:nvPr/>
          </p:nvCxnSpPr>
          <p:spPr>
            <a:xfrm rot="-171744">
              <a:off x="1155224" y="554107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3" name="Connector 25"/>
            <p:cNvCxnSpPr/>
            <p:nvPr/>
          </p:nvCxnSpPr>
          <p:spPr>
            <a:xfrm rot="5228255">
              <a:off x="1154430" y="554059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4" name="Connector 26"/>
            <p:cNvCxnSpPr/>
            <p:nvPr/>
          </p:nvCxnSpPr>
          <p:spPr>
            <a:xfrm rot="2516204">
              <a:off x="1154020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5" name="Connector 27"/>
            <p:cNvCxnSpPr/>
            <p:nvPr/>
          </p:nvCxnSpPr>
          <p:spPr>
            <a:xfrm rot="7940499">
              <a:off x="1154697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5C4B834D-0274-FF31-C1CA-5A9C53586585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28D99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6594CC-C287-F3EF-7029-4593451571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FD71214-37DF-B21C-6B0C-2390CCF27D4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2A93F5E-CB2C-8E8B-560E-C1D7B63CBF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08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EB5CF4C7-BAEC-EBFF-D62D-07D4268BED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BEB68D0A-F128-FCE8-8211-B8EAACA92A05}"/>
              </a:ext>
            </a:extLst>
          </p:cNvPr>
          <p:cNvCxnSpPr/>
          <p:nvPr/>
        </p:nvCxnSpPr>
        <p:spPr>
          <a:xfrm>
            <a:off x="484456" y="6053662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152276"/>
              </p:ext>
            </p:extLst>
          </p:nvPr>
        </p:nvGraphicFramePr>
        <p:xfrm>
          <a:off x="532416" y="1959051"/>
          <a:ext cx="11200868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8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0699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B87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rgbClr val="00B87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B87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rgbClr val="00B87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B87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rgbClr val="00B87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B87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rgbClr val="00B87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00B87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rgbClr val="00B87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F7247FE-9ED6-6420-740B-6C6D6CC21CE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A8621B6-F922-D072-08BA-E49802961E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FA8D5201-D041-29D5-6489-277052D4758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09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DD9FC945-D8E5-097F-44A7-18D650F6E69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CCC5246-1AF8-00EE-91DE-219440D32BEE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28D99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EF3D96FC-12D1-1BEF-D2C9-BFC6C819805B}"/>
              </a:ext>
            </a:extLst>
          </p:cNvPr>
          <p:cNvSpPr/>
          <p:nvPr/>
        </p:nvSpPr>
        <p:spPr>
          <a:xfrm>
            <a:off x="6842760" y="2627068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842760" y="918583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0AAADEF1-2BF3-4055-0519-65F7A3E04C8E}"/>
              </a:ext>
            </a:extLst>
          </p:cNvPr>
          <p:cNvSpPr/>
          <p:nvPr/>
        </p:nvSpPr>
        <p:spPr>
          <a:xfrm>
            <a:off x="6842760" y="4335552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49" y="1710650"/>
            <a:ext cx="4273551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麦肯锡全球调研显示，72%的受访组织已在至少一个业务职能中使用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AI，标志着初步普及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48" y="1333460"/>
            <a:ext cx="4273551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广泛普及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49" y="3415325"/>
            <a:ext cx="4273548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尽管单点普及率高，但仅有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15%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的组织能够在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4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个及以上的核心职能中深度采用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AI。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49" y="3038135"/>
            <a:ext cx="4273548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深度应用不足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49" y="5102986"/>
            <a:ext cx="4273550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真正深入多职能协同的组织还在少数，跨部门的流程改造将是效率升级的最大难点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48" y="4725796"/>
            <a:ext cx="4273549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协同挑战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484456" y="5656976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*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受访组织在不同数量业务职能中使用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的比例（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%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）</a:t>
            </a: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5238" y="2532068"/>
            <a:ext cx="5669907" cy="2722311"/>
            <a:chOff x="634405" y="1479058"/>
            <a:chExt cx="4344994" cy="2086175"/>
          </a:xfrm>
        </p:grpSpPr>
        <p:sp>
          <p:nvSpPr>
            <p:cNvPr id="21" name="AutoShape 15"/>
            <p:cNvSpPr/>
            <p:nvPr/>
          </p:nvSpPr>
          <p:spPr>
            <a:xfrm>
              <a:off x="634405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634405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634405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634405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C9F6E6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20A7C9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28D997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D7FF59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17093" y="14790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72%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07481" y="21095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 dirty="0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50%</a:t>
              </a:r>
              <a:endParaRPr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10362" y="26627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27%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04968" y="32477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15%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B096-6E8C-7D82-8F3C-D6C81BB4B34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4" name="AutoShape 2">
              <a:extLst>
                <a:ext uri="{FF2B5EF4-FFF2-40B4-BE49-F238E27FC236}">
                  <a16:creationId xmlns:a16="http://schemas.microsoft.com/office/drawing/2014/main" id="{D8778C58-5A9B-5D43-3A53-58A8A26002A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35" name="AutoShape 2">
              <a:extLst>
                <a:ext uri="{FF2B5EF4-FFF2-40B4-BE49-F238E27FC236}">
                  <a16:creationId xmlns:a16="http://schemas.microsoft.com/office/drawing/2014/main" id="{5F2D3A58-11E2-6A93-7742-D9184BEDF33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10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B90E4317-8DFE-77C9-E8A7-38D189F4156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2EEF8B1D-C588-03AA-AC74-15C3EA141A4E}"/>
              </a:ext>
            </a:extLst>
          </p:cNvPr>
          <p:cNvSpPr/>
          <p:nvPr/>
        </p:nvSpPr>
        <p:spPr>
          <a:xfrm>
            <a:off x="532415" y="882124"/>
            <a:ext cx="5461301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2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已进入主流</a:t>
            </a:r>
            <a:r>
              <a:rPr lang="zh-CN" altLang="en-US" sz="4000" u="none" strike="noStrike" dirty="0">
                <a:solidFill>
                  <a:srgbClr val="28D99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8AEFA9AF-035D-4774-02DB-077D02035C7C}"/>
              </a:ext>
            </a:extLst>
          </p:cNvPr>
          <p:cNvSpPr/>
          <p:nvPr/>
        </p:nvSpPr>
        <p:spPr>
          <a:xfrm>
            <a:off x="524797" y="1647304"/>
            <a:ext cx="5571203" cy="6001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正从技术工具扩展至营销、产品、</a:t>
            </a: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IT、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运营等日常业务场景，应用已过尝鲜阶段，但多职能协同的深度整合仍不普遍。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42599"/>
            <a:ext cx="6574334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 </a:t>
            </a:r>
            <a:r>
              <a:rPr lang="en-US" sz="24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使用率加速上升</a:t>
            </a:r>
            <a:endParaRPr lang="en-US" sz="24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824523"/>
            <a:ext cx="6574334" cy="10156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u="none" strike="noStrike" dirty="0">
                <a:solidFill>
                  <a:srgbClr val="00B87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88%</a:t>
            </a:r>
            <a:endParaRPr lang="en-US" sz="6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184814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使用率在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2023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年后明显加速，生成式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正在推动组织采用进入新阶段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27815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37213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463960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2799375"/>
            <a:ext cx="203200" cy="203200"/>
          </a:xfrm>
          <a:prstGeom prst="ellipse">
            <a:avLst/>
          </a:prstGeom>
          <a:solidFill>
            <a:srgbClr val="28D99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3748065"/>
            <a:ext cx="203200" cy="203200"/>
          </a:xfrm>
          <a:prstGeom prst="ellipse">
            <a:avLst/>
          </a:prstGeom>
          <a:solidFill>
            <a:srgbClr val="C9F6E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4659925"/>
            <a:ext cx="203200" cy="2032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702164" y="25893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544577098"/>
              </p:ext>
            </p:extLst>
          </p:nvPr>
        </p:nvGraphicFramePr>
        <p:xfrm>
          <a:off x="370810" y="2645867"/>
          <a:ext cx="6686124" cy="372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00B87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23</a:t>
            </a:r>
            <a:r>
              <a:rPr lang="zh-CN" sz="1200" dirty="0">
                <a:solidFill>
                  <a:srgbClr val="00B87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年后加速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00B87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+33%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DC77A-1FA8-B6FE-5004-6F43CF9F16C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A2A0430E-5F9A-DED7-92E1-A5CD60E30EE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5A487C6-3AB2-0006-85B0-F1A5B1ADAC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11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42596C2F-784F-52C5-C558-C3EB4FD0C78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2942C5F-9BBE-76D0-7176-1897F65217D5}"/>
              </a:ext>
            </a:extLst>
          </p:cNvPr>
          <p:cNvSpPr/>
          <p:nvPr/>
        </p:nvSpPr>
        <p:spPr>
          <a:xfrm>
            <a:off x="8047990" y="1848399"/>
            <a:ext cx="203200" cy="203200"/>
          </a:xfrm>
          <a:prstGeom prst="ellipse">
            <a:avLst/>
          </a:prstGeom>
          <a:solidFill>
            <a:srgbClr val="D7FF59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270DAF-248E-5189-D8F3-D057C58F3D1D}"/>
              </a:ext>
            </a:extLst>
          </p:cNvPr>
          <p:cNvSpPr txBox="1"/>
          <p:nvPr/>
        </p:nvSpPr>
        <p:spPr>
          <a:xfrm>
            <a:off x="8047990" y="920503"/>
            <a:ext cx="1368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b="1" i="0" u="none" strike="noStrike" dirty="0">
                <a:solidFill>
                  <a:srgbClr val="28D99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Trending</a:t>
            </a:r>
            <a:endParaRPr lang="en-US" altLang="zh-CN" sz="1100" dirty="0">
              <a:solidFill>
                <a:srgbClr val="28D99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F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5CE4F-6501-A15E-E17C-BD935038E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>
            <a:extLst>
              <a:ext uri="{FF2B5EF4-FFF2-40B4-BE49-F238E27FC236}">
                <a16:creationId xmlns:a16="http://schemas.microsoft.com/office/drawing/2014/main" id="{254E3AEB-132B-13D4-0113-872DDB296EA6}"/>
              </a:ext>
            </a:extLst>
          </p:cNvPr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67" name="AutoShape 8">
            <a:extLst>
              <a:ext uri="{FF2B5EF4-FFF2-40B4-BE49-F238E27FC236}">
                <a16:creationId xmlns:a16="http://schemas.microsoft.com/office/drawing/2014/main" id="{F40084E4-CBB9-94C3-493F-8C1F2D39C395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14690FC-3CAF-7189-19CB-1D9DA77E35E7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THANKS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60E4B5D-D0BA-5278-0DFA-00DEFCA3B851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BF2B764C-A906-18D7-F97A-CC6A15F244E2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8D8BCAD5-2CEB-46F7-3978-EE01D52A7ED5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CONCLUSION</a:t>
              </a: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EA76C748-A2B0-5DEE-C021-F68BAF4A22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334738E-E2BE-8588-5908-F6B4F7D345A3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813D64B-8F34-2591-9CA4-7A2738AD59D5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90BCDDC-DFB0-D37A-8851-B4864D580954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D261FBE-F02E-C81E-07A5-A571210A7B98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D7FF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E0BF65B1-3094-7A46-0198-7DB560DFD6B0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28D9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16BF6EB-91E8-D934-DB4A-25F2BC902ACF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E6AEEFA-8711-AB5A-EF5E-9124D06FDF61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585FE39-2246-4258-2400-05A70B6AD6C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F7C5F4A-70D7-D48D-D607-72FF490CE7AD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A6ED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85899C3-3EF2-2C37-058B-45DEF6079659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1D9A639-D8EE-54A6-4580-A7FABF067842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A9A36A9-B824-F4F1-809A-EC8308E11BCA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BA6D813-D27D-3453-6DD0-1545AFCD16FF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8861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817</Words>
  <Application>Microsoft Macintosh PowerPoint</Application>
  <PresentationFormat>宽屏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FZLanTingHeiS</vt:lpstr>
      <vt:lpstr>FZLanTingHeiS Bold</vt:lpstr>
      <vt:lpstr>MiSans VF Bold</vt:lpstr>
      <vt:lpstr>MiSans VF Light</vt:lpstr>
      <vt:lpstr>MISANS VF MEDIUM</vt:lpstr>
      <vt:lpstr>MiSans VF Regular</vt:lpstr>
      <vt:lpstr>MiSans VF Semibold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21</cp:revision>
  <dcterms:created xsi:type="dcterms:W3CDTF">2026-05-27T19:33:57Z</dcterms:created>
  <dcterms:modified xsi:type="dcterms:W3CDTF">2026-06-16T07:25:13Z</dcterms:modified>
</cp:coreProperties>
</file>