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碳汇价格</c:v>
                </c:pt>
              </c:strCache>
            </c:strRef>
          </c:tx>
          <c:spPr>
            <a:ln w="25400" cap="flat">
              <a:solidFill>
                <a:srgbClr val="227B6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27B6A"/>
              </a:solidFill>
              <a:ln w="9525" cap="flat">
                <a:solidFill>
                  <a:srgbClr val="227B6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52</c:v>
                </c:pt>
                <c:pt idx="2">
                  <c:v>64</c:v>
                </c:pt>
                <c:pt idx="3">
                  <c:v>126</c:v>
                </c:pt>
                <c:pt idx="4">
                  <c:v>160</c:v>
                </c:pt>
                <c:pt idx="5">
                  <c:v>188</c:v>
                </c:pt>
                <c:pt idx="6">
                  <c:v>240</c:v>
                </c:pt>
                <c:pt idx="7">
                  <c:v>304</c:v>
                </c:pt>
                <c:pt idx="8">
                  <c:v>354</c:v>
                </c:pt>
                <c:pt idx="9">
                  <c:v>368</c:v>
                </c:pt>
                <c:pt idx="10">
                  <c:v>390</c:v>
                </c:pt>
                <c:pt idx="11">
                  <c:v>400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98F-CF4B-837C-23369F356A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6350" cap="flat">
            <a:solidFill>
              <a:srgbClr val="24242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2424"/>
                </a:solidFill>
                <a:latin typeface="Instrument Serif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1D1"/>
              </a:solidFill>
              <a:prstDash val="dash"/>
              <a:round/>
            </a:ln>
          </c:spPr>
        </c:majorGridlines>
        <c:numFmt formatCode="###,###,###,###,###,###,###" sourceLinked="0"/>
        <c:majorTickMark val="out"/>
        <c:minorTickMark val="none"/>
        <c:tickLblPos val="nextTo"/>
        <c:spPr>
          <a:ln w="6350" cap="flat">
            <a:solidFill>
              <a:srgbClr val="24242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2424"/>
                </a:solidFill>
                <a:latin typeface="Instrument Serif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42424"/>
              </a:solidFill>
              <a:latin typeface="思源黑体"/>
              <a:cs typeface="思源黑体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78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C1892FBB-09E5-23F9-0F04-947E8F34E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" y="0"/>
            <a:ext cx="9136481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67278" y="228599"/>
            <a:ext cx="5609890" cy="1674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300" b="1" kern="0" dirty="0">
                <a:solidFill>
                  <a:srgbClr val="F7F3E2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红树林保护与</a:t>
            </a:r>
            <a:endParaRPr lang="en-US" sz="675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ctr"/>
            <a:r>
              <a:rPr lang="en-US" sz="5300" b="1" kern="0" dirty="0">
                <a:solidFill>
                  <a:srgbClr val="F7F3E2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蓝碳交易</a:t>
            </a:r>
            <a:endParaRPr lang="en-US" sz="675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5" name="Text 1"/>
          <p:cNvSpPr/>
          <p:nvPr/>
        </p:nvSpPr>
        <p:spPr>
          <a:xfrm>
            <a:off x="1692284" y="4747767"/>
            <a:ext cx="575942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1316"/>
              </a:lnSpc>
            </a:pPr>
            <a:r>
              <a:rPr lang="en-US" sz="1000" kern="0" spc="-12" dirty="0">
                <a:solidFill>
                  <a:srgbClr val="F7F3E2"/>
                </a:solidFill>
                <a:latin typeface="Source Han Sans CN VF Light" panose="020B0200000000000000" pitchFamily="34" charset="-128"/>
                <a:ea typeface="Source Han Sans CN VF Light" panose="020B0200000000000000" pitchFamily="34" charset="-128"/>
                <a:cs typeface="思源黑体" pitchFamily="34" charset="-120"/>
              </a:rPr>
              <a:t>基于红树林生态修复 × 蓝碳核证 × 社区共管的 ESG 可持续商业模式</a:t>
            </a:r>
            <a:endParaRPr lang="en-US" sz="975" dirty="0">
              <a:latin typeface="Source Han Sans CN VF Light" panose="020B0200000000000000" pitchFamily="34" charset="-128"/>
              <a:ea typeface="Source Han Sans CN VF Light" panose="020B0200000000000000" pitchFamily="34" charset="-128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47446" y="228600"/>
            <a:ext cx="1367954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00" b="1" dirty="0">
                <a:solidFill>
                  <a:srgbClr val="F7F3E2"/>
                </a:solidFill>
                <a:latin typeface="Source Han Sans CN VF" panose="020B0200000000000000" pitchFamily="34" charset="-128"/>
                <a:ea typeface="Source Han Sans CN VF" panose="020B0200000000000000" pitchFamily="34" charset="-128"/>
                <a:cs typeface="Public Sans" pitchFamily="34" charset="-120"/>
              </a:rPr>
              <a:t>日期</a:t>
            </a:r>
            <a:endParaRPr lang="en-US" sz="825" b="1" dirty="0">
              <a:latin typeface="Source Han Sans CN VF" panose="020B0200000000000000" pitchFamily="34" charset="-128"/>
              <a:ea typeface="Source Han Sans CN VF" panose="020B0200000000000000" pitchFamily="34" charset="-128"/>
            </a:endParaRPr>
          </a:p>
        </p:txBody>
      </p:sp>
      <p:sp>
        <p:nvSpPr>
          <p:cNvPr id="7" name="Text 3"/>
          <p:cNvSpPr/>
          <p:nvPr/>
        </p:nvSpPr>
        <p:spPr>
          <a:xfrm>
            <a:off x="7547446" y="376238"/>
            <a:ext cx="1367954" cy="218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721"/>
              </a:lnSpc>
            </a:pPr>
            <a:r>
              <a:rPr lang="en-US" sz="1100" b="1" kern="0" spc="-12" dirty="0">
                <a:solidFill>
                  <a:srgbClr val="F7F3E2"/>
                </a:solidFill>
                <a:latin typeface="Source Han Sans CN VF" panose="020B0200000000000000" pitchFamily="34" charset="-128"/>
                <a:ea typeface="Source Han Sans CN VF" panose="020B0200000000000000" pitchFamily="34" charset="-128"/>
                <a:cs typeface="Instrument Serif" pitchFamily="34" charset="-120"/>
              </a:rPr>
              <a:t>2026, 6, 02</a:t>
            </a:r>
            <a:endParaRPr lang="en-US" sz="1100" b="1" dirty="0">
              <a:latin typeface="Source Han Sans CN VF" panose="020B0200000000000000" pitchFamily="34" charset="-128"/>
              <a:ea typeface="Source Han Sans CN VF" panose="020B0200000000000000" pitchFamily="34" charset="-128"/>
            </a:endParaRPr>
          </a:p>
        </p:txBody>
      </p:sp>
      <p:sp>
        <p:nvSpPr>
          <p:cNvPr id="8" name="Text 4"/>
          <p:cNvSpPr/>
          <p:nvPr/>
        </p:nvSpPr>
        <p:spPr>
          <a:xfrm>
            <a:off x="228600" y="228600"/>
            <a:ext cx="13684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800" b="1" dirty="0">
                <a:solidFill>
                  <a:srgbClr val="F7F3E2"/>
                </a:solidFill>
                <a:latin typeface="Source Han Sans CN VF" panose="020B0200000000000000" pitchFamily="34" charset="-128"/>
                <a:ea typeface="Source Han Sans CN VF" panose="020B0200000000000000" pitchFamily="34" charset="-128"/>
                <a:cs typeface="Public Sans" pitchFamily="34" charset="-120"/>
              </a:rPr>
              <a:t>出品</a:t>
            </a:r>
            <a:endParaRPr lang="en-US" sz="825" b="1" dirty="0">
              <a:latin typeface="Source Han Sans CN VF" panose="020B0200000000000000" pitchFamily="34" charset="-128"/>
              <a:ea typeface="Source Han Sans CN VF" panose="020B0200000000000000" pitchFamily="34" charset="-128"/>
            </a:endParaRPr>
          </a:p>
        </p:txBody>
      </p:sp>
      <p:sp>
        <p:nvSpPr>
          <p:cNvPr id="9" name="Text 5"/>
          <p:cNvSpPr/>
          <p:nvPr/>
        </p:nvSpPr>
        <p:spPr>
          <a:xfrm>
            <a:off x="228600" y="376238"/>
            <a:ext cx="1368400" cy="218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721"/>
              </a:lnSpc>
            </a:pPr>
            <a:r>
              <a:rPr lang="en-US" sz="1300" b="0" kern="0" spc="-12" dirty="0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Instrument Serif" pitchFamily="34" charset="-120"/>
              </a:rPr>
              <a:t>yuanbao</a:t>
            </a:r>
            <a:endParaRPr lang="en-US" sz="1275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625" y="278780"/>
            <a:ext cx="13684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125"/>
              </a:lnSpc>
            </a:pPr>
            <a:r>
              <a:rPr lang="en-US" sz="7500" b="0" kern="0" spc="-24" dirty="0">
                <a:solidFill>
                  <a:srgbClr val="F7F3E2"/>
                </a:solidFill>
                <a:latin typeface="TCloud Number" pitchFamily="2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7500" dirty="0">
              <a:latin typeface="TCloud Number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155987" y="228600"/>
            <a:ext cx="5759388" cy="2804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13"/>
              </a:lnSpc>
            </a:pPr>
            <a:r>
              <a:rPr lang="en-US" sz="6000" b="1" dirty="0">
                <a:solidFill>
                  <a:srgbClr val="F7F3E2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别让后代</a:t>
            </a:r>
            <a:endParaRPr lang="en-US" sz="60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7213"/>
              </a:lnSpc>
            </a:pPr>
            <a:r>
              <a:rPr lang="en-US" sz="6000" b="1" dirty="0">
                <a:solidFill>
                  <a:srgbClr val="F7F3E2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只在课本里看</a:t>
            </a:r>
            <a:endParaRPr lang="en-US" sz="60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7213"/>
              </a:lnSpc>
            </a:pPr>
            <a:r>
              <a:rPr lang="en-US" sz="6000" b="1" dirty="0">
                <a:solidFill>
                  <a:srgbClr val="F7F3E2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红树林</a:t>
            </a:r>
            <a:endParaRPr lang="en-US" sz="60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3155594" y="4739054"/>
            <a:ext cx="3948591" cy="169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6"/>
              </a:lnSpc>
            </a:pPr>
            <a:r>
              <a:rPr lang="en-US" sz="1000" kern="0" spc="-12" dirty="0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Don't let future generations see mangroves only in textbooks.</a:t>
            </a:r>
            <a:endParaRPr lang="en-US" sz="975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8316e94f-50fd-47f5-8c8b-8adbd4bb3e72?pitch-bytes=2340871&amp;pitch-content-type=image%2F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19625" y="228600"/>
            <a:ext cx="4296863" cy="4686300"/>
          </a:xfrm>
          <a:prstGeom prst="roundRect">
            <a:avLst>
              <a:gd name="adj" fmla="val 2394"/>
            </a:avLst>
          </a:prstGeom>
          <a:solidFill>
            <a:srgbClr val="FFFFFF">
              <a:alpha val="94902"/>
            </a:srgbClr>
          </a:solidFill>
          <a:ln/>
        </p:spPr>
        <p:txBody>
          <a:bodyPr wrap="square" lIns="238715" tIns="553244" rIns="238715" bIns="553244" rtlCol="0" anchor="ctr"/>
          <a:lstStyle/>
          <a:p>
            <a:pPr algn="ctr">
              <a:lnSpc>
                <a:spcPts val="1463"/>
              </a:lnSpc>
            </a:pPr>
            <a:endParaRPr lang="en-US" sz="975" dirty="0"/>
          </a:p>
        </p:txBody>
      </p:sp>
      <p:sp>
        <p:nvSpPr>
          <p:cNvPr id="5" name="Text 1"/>
          <p:cNvSpPr/>
          <p:nvPr/>
        </p:nvSpPr>
        <p:spPr>
          <a:xfrm>
            <a:off x="4905756" y="476250"/>
            <a:ext cx="3236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5625"/>
              </a:lnSpc>
            </a:pPr>
            <a:r>
              <a:rPr lang="en-US" sz="4400" b="1" kern="0" spc="-60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红树林    </a:t>
            </a:r>
            <a:endParaRPr lang="en-US" sz="44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5625"/>
              </a:lnSpc>
            </a:pPr>
            <a:r>
              <a:rPr lang="en-US" sz="4400" b="1" kern="0" spc="-60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项目摘要</a:t>
            </a:r>
            <a:endParaRPr lang="en-US" sz="44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6" name="Text 2"/>
          <p:cNvSpPr/>
          <p:nvPr/>
        </p:nvSpPr>
        <p:spPr>
          <a:xfrm>
            <a:off x="4905756" y="3551895"/>
            <a:ext cx="3659795" cy="10400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1365"/>
              </a:lnSpc>
            </a:pPr>
            <a:r>
              <a:rPr lang="en-US" sz="900" dirty="0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核心业务：退化红树林湿地修复 + 蓝碳（Blue Carbon）开发 + 生态文旅/研学，打造"保护—量化—交易—</a:t>
            </a:r>
            <a:r>
              <a:rPr lang="en-US" sz="900" dirty="0" err="1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反哺"闭环</a:t>
            </a:r>
            <a:endParaRPr lang="en-US" sz="9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  <a:p>
            <a:pPr algn="l">
              <a:lnSpc>
                <a:spcPts val="1365"/>
              </a:lnSpc>
            </a:pPr>
            <a:r>
              <a:rPr lang="en-US" sz="900" dirty="0" err="1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关键亮点：对接</a:t>
            </a:r>
            <a:r>
              <a:rPr lang="en-US" sz="900" dirty="0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 CCER </a:t>
            </a:r>
            <a:r>
              <a:rPr lang="en-US" sz="900" dirty="0" err="1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重启及地方红树林碳汇方法学，具备可核证碳资产多元收入：蓝碳信用销售</a:t>
            </a:r>
            <a:r>
              <a:rPr lang="en-US" sz="900" dirty="0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 + </a:t>
            </a:r>
            <a:r>
              <a:rPr lang="en-US" sz="900" dirty="0" err="1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政府生态修复工程</a:t>
            </a:r>
            <a:r>
              <a:rPr lang="en-US" sz="900" dirty="0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 + </a:t>
            </a:r>
            <a:r>
              <a:rPr lang="en-US" sz="900" dirty="0" err="1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生态研学</a:t>
            </a:r>
            <a:r>
              <a:rPr lang="en-US" sz="900" dirty="0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/</a:t>
            </a:r>
            <a:r>
              <a:rPr lang="en-US" sz="900" dirty="0" err="1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文旅</a:t>
            </a:r>
            <a:r>
              <a:rPr lang="en-US" sz="900" dirty="0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 + </a:t>
            </a:r>
            <a:r>
              <a:rPr lang="en-US" sz="900" dirty="0" err="1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企业</a:t>
            </a:r>
            <a:r>
              <a:rPr lang="en-US" sz="900" dirty="0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 ESG 赞助社区共管模式，30%收益反哺在地渔民转岗巡护首期目标：修复12659公顷红树林</a:t>
            </a:r>
            <a:endParaRPr lang="en-US" sz="9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600" y="228600"/>
            <a:ext cx="5759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4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行业背景与</a:t>
            </a: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痛点</a:t>
            </a:r>
            <a:endParaRPr lang="en-US" sz="4400" b="1" dirty="0">
              <a:solidFill>
                <a:schemeClr val="accent6">
                  <a:lumMod val="50000"/>
                </a:schemeClr>
              </a:solidFill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 t="242" b="242"/>
          <a:stretch/>
        </p:blipFill>
        <p:spPr>
          <a:xfrm>
            <a:off x="226795" y="1822512"/>
            <a:ext cx="4295775" cy="3086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78880" y="1841541"/>
            <a:ext cx="133350" cy="1333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7408" tIns="15743" rIns="7408" bIns="15743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  <p:sp>
        <p:nvSpPr>
          <p:cNvPr id="6" name="Text 2"/>
          <p:cNvSpPr/>
          <p:nvPr/>
        </p:nvSpPr>
        <p:spPr>
          <a:xfrm>
            <a:off x="5988025" y="1822512"/>
            <a:ext cx="26215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b="1" dirty="0">
                <a:solidFill>
                  <a:srgbClr val="242424"/>
                </a:solidFill>
                <a:latin typeface="Source Han Sans CN VF" panose="020B0200000000000000" pitchFamily="34" charset="-128"/>
                <a:ea typeface="Source Han Sans CN VF" panose="020B0200000000000000" pitchFamily="34" charset="-128"/>
                <a:cs typeface="思源宋体Google" pitchFamily="34" charset="-120"/>
              </a:rPr>
              <a:t>现状痛点</a:t>
            </a:r>
            <a:endParaRPr lang="en-US" sz="1100" b="1" dirty="0">
              <a:latin typeface="Source Han Sans CN VF" panose="020B0200000000000000" pitchFamily="34" charset="-128"/>
              <a:ea typeface="Source Han Sans CN VF" panose="020B0200000000000000" pitchFamily="34" charset="-128"/>
            </a:endParaRPr>
          </a:p>
        </p:txBody>
      </p:sp>
      <p:sp>
        <p:nvSpPr>
          <p:cNvPr id="7" name="Text 3"/>
          <p:cNvSpPr/>
          <p:nvPr/>
        </p:nvSpPr>
        <p:spPr>
          <a:xfrm>
            <a:off x="5780707" y="2200275"/>
            <a:ext cx="2828888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63"/>
              </a:lnSpc>
            </a:pPr>
            <a:r>
              <a:rPr lang="en-US" sz="1000" kern="0" spc="-12" dirty="0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Public Sans" pitchFamily="34" charset="-120"/>
              </a:rPr>
              <a:t>红树林固碳能力是热带雨林的 3～5 倍，是全球最高效的滨海碳汇之一；我国部分沿海红树林退化、围塘侵占严重；蓝碳市场刚起步，优质核证碳汇产品供给不足</a:t>
            </a:r>
            <a:endParaRPr lang="en-US" sz="975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8" name="Text 4"/>
          <p:cNvSpPr/>
          <p:nvPr/>
        </p:nvSpPr>
        <p:spPr>
          <a:xfrm>
            <a:off x="5782077" y="3373598"/>
            <a:ext cx="133350" cy="1333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7408" tIns="15743" rIns="7408" bIns="15743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  <p:sp>
        <p:nvSpPr>
          <p:cNvPr id="9" name="Text 5"/>
          <p:cNvSpPr/>
          <p:nvPr/>
        </p:nvSpPr>
        <p:spPr>
          <a:xfrm>
            <a:off x="5988025" y="3365562"/>
            <a:ext cx="26215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b="1" dirty="0">
                <a:solidFill>
                  <a:srgbClr val="242424"/>
                </a:solidFill>
                <a:latin typeface="Source Han Sans CN VF" panose="020B0200000000000000" pitchFamily="34" charset="-128"/>
                <a:ea typeface="Source Han Sans CN VF" panose="020B0200000000000000" pitchFamily="34" charset="-128"/>
                <a:cs typeface="思源宋体Google" pitchFamily="34" charset="-120"/>
              </a:rPr>
              <a:t>政策机遇</a:t>
            </a:r>
            <a:endParaRPr lang="en-US" sz="1100" b="1" dirty="0">
              <a:latin typeface="Source Han Sans CN VF" panose="020B0200000000000000" pitchFamily="34" charset="-128"/>
              <a:ea typeface="Source Han Sans CN VF" panose="020B0200000000000000" pitchFamily="34" charset="-12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780707" y="3791366"/>
            <a:ext cx="28288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63"/>
              </a:lnSpc>
            </a:pPr>
            <a:r>
              <a:rPr lang="en-US" sz="1000" kern="0" spc="-12" dirty="0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Public Sans" pitchFamily="34" charset="-120"/>
              </a:rPr>
              <a:t>双碳目标、CCER </a:t>
            </a:r>
            <a:r>
              <a:rPr lang="en-US" sz="1000" kern="0" spc="-12" dirty="0" err="1">
                <a:solidFill>
                  <a:srgbClr val="242424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Public Sans" pitchFamily="34" charset="-120"/>
              </a:rPr>
              <a:t>重启、自然资源部鼓励蓝碳交易国际红树林中心落户深圳</a:t>
            </a:r>
            <a:endParaRPr lang="en-US" sz="975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600" y="228600"/>
            <a:ext cx="429570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5625"/>
              </a:lnSpc>
            </a:pPr>
            <a:r>
              <a:rPr lang="en-US" sz="44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未来已来</a:t>
            </a:r>
            <a:endParaRPr lang="en-US" sz="44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228600" y="2750634"/>
            <a:ext cx="3845533" cy="2164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lang="en-US" sz="1000" kern="0" spc="-12" dirty="0">
                <a:solidFill>
                  <a:srgbClr val="242424"/>
                </a:solidFill>
                <a:latin typeface="Source Han Sans CN VF Light" panose="020B0200000000000000" pitchFamily="34" charset="-128"/>
                <a:ea typeface="Source Han Sans CN VF Light" panose="020B0200000000000000" pitchFamily="34" charset="-128"/>
                <a:cs typeface="思源黑体" pitchFamily="34" charset="-120"/>
              </a:rPr>
              <a:t>中国是全球少数红树林面积净增长的国家，目前已达约 3.03 万公顷。"十五五"期间沿海各省将持续推进退塘还湿、新营造与修复，并将红树林纳入生态红线与保护地严格管控，政策红利明确。未来趋势是社区共管 + 多元营收：退塘还湿修复 → 核证蓝碳交易 + 生态研学/文旅 + 企业 ESG 冠名 + 适度生态养殖，让保护项目具备自我造血能力而非单纯依赖补贴。</a:t>
            </a:r>
            <a:endParaRPr lang="en-US" sz="975" dirty="0">
              <a:latin typeface="Source Han Sans CN VF Light" panose="020B0200000000000000" pitchFamily="34" charset="-128"/>
              <a:ea typeface="Source Han Sans CN VF Light" panose="020B0200000000000000" pitchFamily="34" charset="-128"/>
            </a:endParaRP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t="9035" b="9035"/>
          <a:stretch/>
        </p:blipFill>
        <p:spPr>
          <a:xfrm>
            <a:off x="4619625" y="228600"/>
            <a:ext cx="4295775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600" y="228600"/>
            <a:ext cx="4295701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5625"/>
              </a:lnSpc>
            </a:pPr>
            <a:r>
              <a:rPr lang="en-US" sz="44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环保</a:t>
            </a: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市场分析</a:t>
            </a:r>
            <a:endParaRPr lang="en-US" sz="4400" b="1" dirty="0">
              <a:solidFill>
                <a:schemeClr val="accent6">
                  <a:lumMod val="50000"/>
                </a:schemeClr>
              </a:solidFill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5625"/>
              </a:lnSpc>
            </a:pPr>
            <a:r>
              <a:rPr lang="en-US" sz="44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与竞品</a:t>
            </a:r>
            <a:endParaRPr lang="en-US" sz="44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228600" y="3416300"/>
            <a:ext cx="133350" cy="133350"/>
          </a:xfrm>
          <a:prstGeom prst="ellipse">
            <a:avLst/>
          </a:prstGeom>
          <a:solidFill>
            <a:srgbClr val="005920"/>
          </a:solidFill>
          <a:ln/>
        </p:spPr>
        <p:txBody>
          <a:bodyPr wrap="square" lIns="7408" tIns="15743" rIns="7408" bIns="15743" rtlCol="0" anchor="ctr"/>
          <a:lstStyle/>
          <a:p>
            <a:pPr algn="ctr">
              <a:lnSpc>
                <a:spcPts val="1463"/>
              </a:lnSpc>
            </a:pP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437998" y="3403406"/>
            <a:ext cx="4086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00" b="1" dirty="0">
                <a:solidFill>
                  <a:srgbClr val="005920"/>
                </a:solidFill>
                <a:latin typeface="Source Han Sans CN VF" panose="020B0200000000000000" pitchFamily="34" charset="-128"/>
                <a:ea typeface="Source Han Sans CN VF" panose="020B0200000000000000" pitchFamily="34" charset="-128"/>
                <a:cs typeface="思源黑体" pitchFamily="34" charset="-120"/>
              </a:rPr>
              <a:t>01 目标市场</a:t>
            </a:r>
            <a:endParaRPr lang="en-US" sz="1000" b="1" dirty="0">
              <a:latin typeface="Source Han Sans CN VF" panose="020B0200000000000000" pitchFamily="34" charset="-128"/>
              <a:ea typeface="Source Han Sans CN VF" panose="020B0200000000000000" pitchFamily="34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" y="3835400"/>
            <a:ext cx="374779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63"/>
              </a:lnSpc>
            </a:pPr>
            <a:r>
              <a:rPr lang="en-US" sz="1000" kern="0" spc="-12" dirty="0">
                <a:solidFill>
                  <a:srgbClr val="242424"/>
                </a:solidFill>
                <a:latin typeface="Source Han Sans CN VF Light" panose="020B0200000000000000" pitchFamily="34" charset="-128"/>
                <a:ea typeface="Source Han Sans CN VF Light" panose="020B0200000000000000" pitchFamily="34" charset="-128"/>
                <a:cs typeface="思源黑体" pitchFamily="34" charset="-120"/>
              </a:rPr>
              <a:t>企业买家：需完成 ESG/碳中和目标的央企、上市公司（购买蓝碳抵消）；政府/GONGO：海岸带修复工程发包、生态补偿资金；B端/C端：研学旅行、生态体验、碳足迹中和个人认购研学旅行、生态体验、碳足迹中和个人认购</a:t>
            </a:r>
            <a:endParaRPr lang="en-US" sz="975" dirty="0">
              <a:latin typeface="Source Han Sans CN VF Light" panose="020B0200000000000000" pitchFamily="34" charset="-128"/>
              <a:ea typeface="Source Han Sans CN VF Light" panose="020B0200000000000000" pitchFamily="34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19625" y="3416300"/>
            <a:ext cx="133350" cy="133350"/>
          </a:xfrm>
          <a:prstGeom prst="ellipse">
            <a:avLst/>
          </a:prstGeom>
          <a:solidFill>
            <a:srgbClr val="005920"/>
          </a:solidFill>
          <a:ln/>
        </p:spPr>
        <p:txBody>
          <a:bodyPr wrap="square" lIns="7408" tIns="15743" rIns="7408" bIns="15743" rtlCol="0" anchor="ctr"/>
          <a:lstStyle/>
          <a:p>
            <a:pPr algn="ctr">
              <a:lnSpc>
                <a:spcPts val="1463"/>
              </a:lnSpc>
            </a:pP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838774" y="3403454"/>
            <a:ext cx="40766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00" b="1" dirty="0">
                <a:solidFill>
                  <a:srgbClr val="005920"/>
                </a:solidFill>
                <a:latin typeface="Source Han Sans CN VF" panose="020B0200000000000000" pitchFamily="34" charset="-128"/>
                <a:ea typeface="Source Han Sans CN VF" panose="020B0200000000000000" pitchFamily="34" charset="-128"/>
                <a:cs typeface="思源黑体" pitchFamily="34" charset="-120"/>
              </a:rPr>
              <a:t>03 竞争优势</a:t>
            </a:r>
            <a:endParaRPr lang="en-US" sz="1000" b="1" dirty="0">
              <a:latin typeface="Source Han Sans CN VF" panose="020B0200000000000000" pitchFamily="34" charset="-128"/>
              <a:ea typeface="Source Han Sans CN VF" panose="020B0200000000000000" pitchFamily="34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29150" y="3835399"/>
            <a:ext cx="4286176" cy="10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63"/>
              </a:lnSpc>
            </a:pPr>
            <a:r>
              <a:rPr lang="en-US" sz="1000" kern="0" spc="-12" dirty="0">
                <a:solidFill>
                  <a:srgbClr val="242424"/>
                </a:solidFill>
                <a:latin typeface="Source Han Sans CN VF Light" panose="020B0200000000000000" pitchFamily="34" charset="-128"/>
                <a:ea typeface="Source Han Sans CN VF Light" panose="020B0200000000000000" pitchFamily="34" charset="-128"/>
                <a:cs typeface="思源黑体" pitchFamily="34" charset="-120"/>
              </a:rPr>
              <a:t>自有苗圃+空天地一体化监测+第三方核证+VCS/CCER兼容方法学自有苗圃+空天地一体化监测+第三方核证+VCS/CCER兼容方法学自有苗圃+空天地一体化监测+第三方核证+VCS/CCER兼容方法学自有苗圃+空天地一体化监测+第三方核证+VCS/CCER兼容方法学</a:t>
            </a:r>
            <a:endParaRPr lang="en-US" sz="975" dirty="0">
              <a:latin typeface="Source Han Sans CN VF Light" panose="020B0200000000000000" pitchFamily="34" charset="-128"/>
              <a:ea typeface="Source Han Sans CN VF Light" panose="020B0200000000000000" pitchFamily="34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29607" y="1689100"/>
            <a:ext cx="133350" cy="133350"/>
          </a:xfrm>
          <a:prstGeom prst="ellipse">
            <a:avLst/>
          </a:prstGeom>
          <a:solidFill>
            <a:srgbClr val="005920"/>
          </a:solidFill>
          <a:ln/>
        </p:spPr>
        <p:txBody>
          <a:bodyPr wrap="square" lIns="7408" tIns="15743" rIns="7408" bIns="15743" rtlCol="0" anchor="ctr"/>
          <a:lstStyle/>
          <a:p>
            <a:pPr algn="ctr">
              <a:lnSpc>
                <a:spcPts val="1463"/>
              </a:lnSpc>
            </a:pP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4839005" y="1688992"/>
            <a:ext cx="4076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00" b="1" dirty="0">
                <a:solidFill>
                  <a:srgbClr val="005920"/>
                </a:solidFill>
                <a:latin typeface="Source Han Sans CN VF" panose="020B0200000000000000" pitchFamily="34" charset="-128"/>
                <a:ea typeface="Source Han Sans CN VF" panose="020B0200000000000000" pitchFamily="34" charset="-128"/>
                <a:cs typeface="思源黑体" pitchFamily="34" charset="-120"/>
              </a:rPr>
              <a:t>02 市场规模</a:t>
            </a:r>
            <a:endParaRPr lang="en-US" sz="1000" b="1" dirty="0">
              <a:latin typeface="Source Han Sans CN VF" panose="020B0200000000000000" pitchFamily="34" charset="-128"/>
              <a:ea typeface="Source Han Sans CN VF" panose="020B0200000000000000" pitchFamily="34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39132" y="2108200"/>
            <a:ext cx="4286213" cy="87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63"/>
              </a:lnSpc>
            </a:pPr>
            <a:r>
              <a:rPr lang="en-US" sz="1000" kern="0" spc="-12" dirty="0">
                <a:solidFill>
                  <a:srgbClr val="242424"/>
                </a:solidFill>
                <a:latin typeface="Source Han Sans CN VF Light" panose="020B0200000000000000" pitchFamily="34" charset="-128"/>
                <a:ea typeface="Source Han Sans CN VF Light" panose="020B0200000000000000" pitchFamily="34" charset="-128"/>
                <a:cs typeface="思源黑体" pitchFamily="34" charset="-120"/>
              </a:rPr>
              <a:t>国内蓝碳潜在市值数十亿级，广东、海南、福建已启动试点交易国内蓝碳潜在市值数十亿级，广东、海南、福建已启动试点交易国内蓝碳潜在市值数十亿级广东、海南、福建已启动试点交易</a:t>
            </a:r>
            <a:endParaRPr lang="en-US" sz="975" dirty="0">
              <a:latin typeface="Source Han Sans CN VF Light" panose="020B0200000000000000" pitchFamily="34" charset="-128"/>
              <a:ea typeface="Source Han Sans CN VF Light" panose="020B0200000000000000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6609" y="364798"/>
            <a:ext cx="8690781" cy="2500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6563"/>
              </a:lnSpc>
            </a:pPr>
            <a:r>
              <a:rPr lang="en-US" sz="4800" b="1" kern="0" spc="-24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“</a:t>
            </a:r>
            <a:r>
              <a:rPr lang="en-US" sz="4800" b="1" kern="0" spc="-24" dirty="0" err="1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让每一片</a:t>
            </a:r>
            <a:r>
              <a:rPr lang="zh-CN" altLang="en-US" sz="4800" b="1" kern="0" spc="-24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 </a:t>
            </a:r>
            <a:endParaRPr lang="en-US" sz="4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ctr">
              <a:lnSpc>
                <a:spcPts val="6563"/>
              </a:lnSpc>
            </a:pPr>
            <a:r>
              <a:rPr lang="en-US" sz="4800" b="1" kern="0" spc="-24" dirty="0" err="1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红树林都成为可计量</a:t>
            </a:r>
            <a:endParaRPr lang="en-US" sz="4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ctr">
              <a:lnSpc>
                <a:spcPts val="6563"/>
              </a:lnSpc>
            </a:pPr>
            <a:r>
              <a:rPr lang="en-US" sz="4800" b="1" kern="0" spc="-24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     </a:t>
            </a:r>
            <a:r>
              <a:rPr lang="en-US" sz="4800" b="1" kern="0" spc="-24" dirty="0" err="1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的</a:t>
            </a:r>
            <a:r>
              <a:rPr lang="en-US" sz="4800" b="1" kern="0" spc="-24" dirty="0" err="1">
                <a:solidFill>
                  <a:srgbClr val="005920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绿色资产</a:t>
            </a:r>
            <a:r>
              <a:rPr lang="en-US" sz="4800" b="1" kern="0" spc="-24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”</a:t>
            </a:r>
            <a:endParaRPr lang="en-US" sz="4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1484656" y="4798219"/>
            <a:ext cx="61746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00" dirty="0">
                <a:solidFill>
                  <a:srgbClr val="242424"/>
                </a:solidFill>
                <a:latin typeface="Source Han Sans CN VF Heavy" panose="020B0200000000000000" pitchFamily="34" charset="-128"/>
                <a:ea typeface="Source Han Sans CN VF Heavy" panose="020B0200000000000000" pitchFamily="34" charset="-128"/>
                <a:cs typeface="Public Sans" pitchFamily="34" charset="-120"/>
              </a:rPr>
              <a:t>GREEN ASSET-BACKED SECURITIES</a:t>
            </a:r>
            <a:endParaRPr lang="en-US" sz="825" dirty="0">
              <a:latin typeface="Source Han Sans CN VF Heavy" panose="020B0200000000000000" pitchFamily="34" charset="-128"/>
              <a:ea typeface="Source Han Sans CN VF Heavy" panose="020B0200000000000000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0864" y="396060"/>
            <a:ext cx="57594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5625"/>
              </a:lnSpc>
            </a:pPr>
            <a:r>
              <a:rPr lang="en-US" sz="44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红树林项目</a:t>
            </a:r>
            <a:endParaRPr lang="en-US" sz="44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5625"/>
              </a:lnSpc>
            </a:pPr>
            <a:r>
              <a:rPr lang="en-US" sz="44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两大</a:t>
            </a: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核心亮点</a:t>
            </a:r>
            <a:endParaRPr lang="en-US" sz="4400" b="1" dirty="0">
              <a:solidFill>
                <a:schemeClr val="accent6">
                  <a:lumMod val="50000"/>
                </a:schemeClr>
              </a:solidFill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360864" y="3417000"/>
            <a:ext cx="142936" cy="15240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8467" tIns="17992" rIns="8467" bIns="17992" rtlCol="0" anchor="ctr"/>
          <a:lstStyle/>
          <a:p>
            <a:pPr algn="ctr">
              <a:lnSpc>
                <a:spcPts val="1463"/>
              </a:lnSpc>
            </a:pP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89476" y="3318690"/>
            <a:ext cx="3570237" cy="34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100" kern="0" spc="-24" dirty="0">
                <a:solidFill>
                  <a:srgbClr val="242424"/>
                </a:solidFill>
                <a:latin typeface="MiSans Demibold" pitchFamily="2" charset="-122"/>
                <a:ea typeface="MiSans Demibold" pitchFamily="2" charset="-122"/>
                <a:cs typeface="Instrument Serif" pitchFamily="34" charset="-120"/>
              </a:rPr>
              <a:t>Idea 1 </a:t>
            </a:r>
            <a:endParaRPr lang="en-US" sz="21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0865" y="3912096"/>
            <a:ext cx="3784642" cy="1002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3"/>
              </a:lnSpc>
            </a:pPr>
            <a:r>
              <a:rPr lang="en-US" sz="10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政策 + </a:t>
            </a:r>
            <a:r>
              <a:rPr lang="en-US" sz="1000" dirty="0" err="1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金融双风口：国内蓝碳交易刚起步，CCER重启+红树林方法学落地</a:t>
            </a:r>
            <a:r>
              <a:rPr lang="en-US" sz="10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，</a:t>
            </a:r>
            <a:r>
              <a:rPr lang="en-US" altLang="zh-CN" sz="10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 </a:t>
            </a:r>
            <a:r>
              <a:rPr lang="en-US" altLang="zh-CN" sz="1000" dirty="0" err="1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我们是第一批能把“红树林”变成“可交易碳资产”的项目，先发优势明显</a:t>
            </a:r>
            <a:r>
              <a:rPr lang="en-US" altLang="zh-CN" sz="10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。</a:t>
            </a:r>
            <a:endParaRPr lang="en-US" sz="975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0126" y="3417000"/>
            <a:ext cx="152400" cy="15240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8467" tIns="17992" rIns="8467" bIns="17992" rtlCol="0" anchor="ctr"/>
          <a:lstStyle/>
          <a:p>
            <a:pPr algn="ctr">
              <a:lnSpc>
                <a:spcPts val="1463"/>
              </a:lnSpc>
            </a:pP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888738" y="3318690"/>
            <a:ext cx="3665786" cy="34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100" kern="0" spc="-24" dirty="0">
                <a:solidFill>
                  <a:srgbClr val="242424"/>
                </a:solidFill>
                <a:latin typeface="MiSans Demibold" pitchFamily="2" charset="-122"/>
                <a:ea typeface="MiSans Demibold" pitchFamily="2" charset="-122"/>
                <a:cs typeface="Instrument Serif" pitchFamily="34" charset="-120"/>
              </a:rPr>
              <a:t>Idea 2</a:t>
            </a:r>
            <a:endParaRPr lang="en-US" sz="21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53776" y="3912096"/>
            <a:ext cx="3900748" cy="1002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3"/>
              </a:lnSpc>
            </a:pPr>
            <a:r>
              <a:rPr lang="en-US" sz="10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造血式保护，拒绝纯烧钱：不只靠捐款和政府补贴，通过“卖碳汇 + 接工程 + 搞文旅”，不只靠捐款和政府补贴，通过“卖碳汇 + 接工程 + 搞文旅”，让红树林自己养活自己，做到保护越久，赚得越多。</a:t>
            </a:r>
            <a:endParaRPr lang="en-US" sz="975" dirty="0">
              <a:latin typeface="MiSans" pitchFamily="2" charset="-122"/>
              <a:ea typeface="MiSans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6225" y="263447"/>
            <a:ext cx="4295775" cy="72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400" b="1" kern="0" spc="-24" dirty="0">
                <a:solidFill>
                  <a:srgbClr val="F7F3E2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未来趋势分析</a:t>
            </a:r>
            <a:endParaRPr lang="en-US" sz="44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0" y="2571750"/>
            <a:ext cx="4224114" cy="1722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706"/>
              </a:lnSpc>
            </a:pPr>
            <a:r>
              <a:rPr lang="en-US" sz="1000" dirty="0">
                <a:solidFill>
                  <a:srgbClr val="F7F3E2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红树林修复的投资效益成本比（BCR）可达 6～15 倍，未来 20 年全球恢复投入约 400～520 亿美元，预期生态服务价值净收益可达数千亿美元。对中国沿海而言，抢先布局科学修复+蓝碳核证+社区运营的项目，将在政策与市场双轮驱动下获得先发优势。</a:t>
            </a:r>
            <a:endParaRPr lang="en-US" sz="975" dirty="0">
              <a:latin typeface="MiSans" pitchFamily="2" charset="-122"/>
              <a:ea typeface="MiSans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1938" y="226936"/>
            <a:ext cx="5759202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6563"/>
              </a:lnSpc>
            </a:pPr>
            <a:r>
              <a:rPr lang="en-US" sz="4400" b="1" kern="0" spc="-24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红树林保护商业</a:t>
            </a:r>
            <a:endParaRPr lang="en-US" sz="4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6563"/>
              </a:lnSpc>
            </a:pPr>
            <a:r>
              <a:rPr lang="en-US" sz="4400" b="1" kern="0" spc="-24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规划</a:t>
            </a:r>
            <a:r>
              <a:rPr lang="en-US" sz="4400" b="1" kern="0" spc="-24" dirty="0">
                <a:solidFill>
                  <a:schemeClr val="accent6">
                    <a:lumMod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时间线</a:t>
            </a:r>
            <a:endParaRPr lang="en-US" sz="4800" b="1" dirty="0">
              <a:solidFill>
                <a:schemeClr val="accent6">
                  <a:lumMod val="50000"/>
                </a:schemeClr>
              </a:solidFill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228600" y="2571750"/>
            <a:ext cx="21001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250"/>
              </a:lnSpc>
            </a:pPr>
            <a:r>
              <a:rPr lang="en-US" sz="18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First</a:t>
            </a:r>
            <a:endParaRPr lang="en-US" sz="1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2250"/>
              </a:lnSpc>
            </a:pPr>
            <a:r>
              <a:rPr lang="en-US" sz="18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启动期</a:t>
            </a:r>
            <a:endParaRPr lang="en-US" sz="1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2424112" y="2571750"/>
            <a:ext cx="21001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250"/>
              </a:lnSpc>
            </a:pPr>
            <a:r>
              <a:rPr lang="en-US" sz="18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Second </a:t>
            </a:r>
            <a:endParaRPr lang="en-US" sz="1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2250"/>
              </a:lnSpc>
            </a:pPr>
            <a:r>
              <a:rPr lang="en-US" sz="18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成长期</a:t>
            </a:r>
            <a:endParaRPr lang="en-US" sz="1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19625" y="2571750"/>
            <a:ext cx="21001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250"/>
              </a:lnSpc>
            </a:pPr>
            <a:r>
              <a:rPr lang="en-US" sz="18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Third</a:t>
            </a:r>
            <a:endParaRPr lang="en-US" sz="1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2250"/>
              </a:lnSpc>
            </a:pPr>
            <a:r>
              <a:rPr lang="en-US" sz="18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爆发期</a:t>
            </a:r>
            <a:endParaRPr lang="en-US" sz="1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15137" y="2571750"/>
            <a:ext cx="21001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250"/>
              </a:lnSpc>
            </a:pPr>
            <a:r>
              <a:rPr lang="en-US" sz="18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Last</a:t>
            </a:r>
            <a:endParaRPr lang="en-US" sz="1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2250"/>
              </a:lnSpc>
            </a:pPr>
            <a:r>
              <a:rPr lang="en-US" sz="18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稳定期</a:t>
            </a:r>
            <a:endParaRPr lang="en-US" sz="18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265759" y="4073577"/>
            <a:ext cx="2095463" cy="69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完成首期红树林种植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与基线调查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拿到合规入场券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2458121" y="4073577"/>
            <a:ext cx="2100188" cy="69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启动生态研学/文旅试点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企业 ESG 合作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树在长，模式跑通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55209" y="4073577"/>
            <a:ext cx="2100188" cy="69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碳信用上市交易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第一笔碳汇收入到账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项目实现盈亏平衡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15138" y="4073578"/>
            <a:ext cx="2100188" cy="694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从单一项目升级为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516"/>
              </a:lnSpc>
            </a:pPr>
            <a:r>
              <a:rPr lang="en-US" sz="9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宋体Google" pitchFamily="34" charset="-120"/>
              </a:rPr>
              <a:t>可复制的生态资产平台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2" name="Image 0" descr="https://pitch-assets-ccb95893-de3f-4266-973c-20049231b248.s3.eu-west-1.amazonaws.com/ec834bde-07bb-42e7-8246-cffa8700785e?pitch-bytes=176&amp;pitch-content-type=image%2Fpng"/>
          <p:cNvPicPr>
            <a:picLocks noChangeAspect="1"/>
          </p:cNvPicPr>
          <p:nvPr/>
        </p:nvPicPr>
        <p:blipFill>
          <a:blip r:embed="rId3"/>
          <a:srcRect t="1279" b="1289"/>
          <a:stretch/>
        </p:blipFill>
        <p:spPr>
          <a:xfrm>
            <a:off x="257366" y="3277896"/>
            <a:ext cx="8915400" cy="9525"/>
          </a:xfrm>
          <a:prstGeom prst="rect">
            <a:avLst/>
          </a:prstGeom>
        </p:spPr>
      </p:pic>
      <p:pic>
        <p:nvPicPr>
          <p:cNvPr id="13" name="Image 1" descr="https://pitch-assets-ccb95893-de3f-4266-973c-20049231b248.s3.eu-west-1.amazonaws.com/fee4ad40-6908-4273-a4fb-2f326e812a68?pitch-bytes=167&amp;pitch-content-type=image%2F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413" y="3277648"/>
            <a:ext cx="9525" cy="5667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8600" y="3815810"/>
            <a:ext cx="57150" cy="571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3175" tIns="6747" rIns="3175" bIns="6747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  <p:pic>
        <p:nvPicPr>
          <p:cNvPr id="15" name="Image 2" descr="https://pitch-assets-ccb95893-de3f-4266-973c-20049231b248.s3.eu-west-1.amazonaws.com/cad25b96-8b22-4aa4-87f3-82e73a6b8238?pitch-bytes=167&amp;pitch-content-type=image%2F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48116" y="3277896"/>
            <a:ext cx="9525" cy="5667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24304" y="3816058"/>
            <a:ext cx="57150" cy="571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3175" tIns="6747" rIns="3175" bIns="6747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  <p:pic>
        <p:nvPicPr>
          <p:cNvPr id="17" name="Image 3" descr="https://pitch-assets-ccb95893-de3f-4266-973c-20049231b248.s3.eu-west-1.amazonaws.com/b479093a-abee-4d2b-9c61-e0eb726c6010?pitch-bytes=167&amp;pitch-content-type=image%2F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45684" y="3277896"/>
            <a:ext cx="9525" cy="5667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21872" y="3816058"/>
            <a:ext cx="57150" cy="571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3175" tIns="6747" rIns="3175" bIns="6747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  <p:pic>
        <p:nvPicPr>
          <p:cNvPr id="19" name="Image 4" descr="https://pitch-assets-ccb95893-de3f-4266-973c-20049231b248.s3.eu-west-1.amazonaws.com/918bec7a-e644-42fa-a9fc-37bf33e31eaa?pitch-bytes=167&amp;pitch-content-type=image%2F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39141" y="3277896"/>
            <a:ext cx="9525" cy="56673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15328" y="3816058"/>
            <a:ext cx="57150" cy="571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3175" tIns="6747" rIns="3175" bIns="6747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600" y="228600"/>
            <a:ext cx="1368363" cy="15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00" dirty="0">
                <a:solidFill>
                  <a:srgbClr val="F7F3E2"/>
                </a:solidFill>
                <a:latin typeface="MiSans Demibold" pitchFamily="2" charset="-122"/>
                <a:ea typeface="MiSans Demibold" pitchFamily="2" charset="-122"/>
                <a:cs typeface="Public Sans" pitchFamily="34" charset="-120"/>
              </a:rPr>
              <a:t>产品与服务</a:t>
            </a:r>
            <a:endParaRPr lang="en-US" sz="10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5" name="Text 1"/>
          <p:cNvSpPr/>
          <p:nvPr/>
        </p:nvSpPr>
        <p:spPr>
          <a:xfrm>
            <a:off x="228600" y="412015"/>
            <a:ext cx="2453054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23"/>
              </a:lnSpc>
            </a:pPr>
            <a:r>
              <a:rPr lang="en-US" sz="1000" kern="0" spc="60" dirty="0">
                <a:solidFill>
                  <a:srgbClr val="F7F3E2"/>
                </a:solidFill>
                <a:latin typeface="MiSans Demibold" pitchFamily="2" charset="-122"/>
                <a:ea typeface="MiSans Demibold" pitchFamily="2" charset="-122"/>
                <a:cs typeface="Instrument Serif" pitchFamily="34" charset="-120"/>
              </a:rPr>
              <a:t>Products and Services</a:t>
            </a:r>
            <a:endParaRPr lang="en-US" sz="1000" dirty="0">
              <a:latin typeface="MiSans Demibold" pitchFamily="2" charset="-122"/>
              <a:ea typeface="MiSans Demibold" pitchFamily="2" charset="-122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737967"/>
              </p:ext>
            </p:extLst>
          </p:nvPr>
        </p:nvGraphicFramePr>
        <p:xfrm>
          <a:off x="960537" y="1367677"/>
          <a:ext cx="7194388" cy="2514600"/>
        </p:xfrm>
        <a:graphic>
          <a:graphicData uri="http://schemas.openxmlformats.org/drawingml/2006/table">
            <a:tbl>
              <a:tblPr/>
              <a:tblGrid>
                <a:gridCol w="2131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2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FFFFFF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产品线</a:t>
                      </a:r>
                      <a:endParaRPr lang="en-US" sz="975" b="0" i="0" dirty="0">
                        <a:solidFill>
                          <a:srgbClr val="FFFFFF"/>
                        </a:solidFill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FFFFFF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内容说明</a:t>
                      </a:r>
                      <a:endParaRPr lang="en-US" sz="975" b="0" i="0" dirty="0">
                        <a:solidFill>
                          <a:srgbClr val="FFFFFF"/>
                        </a:solidFill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FFFFFF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红树林修复工程</a:t>
                      </a:r>
                      <a:endParaRPr lang="en-US" sz="975" b="0" i="0" dirty="0"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FFFFFF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退塘还湿、乡土树种种植、互花米草治理、成活率≥80%</a:t>
                      </a:r>
                      <a:endParaRPr lang="en-US" sz="975" b="0" i="0" dirty="0"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蓝碳产品开发</a:t>
                      </a:r>
                      <a:endParaRPr lang="en-US" sz="975" b="0" i="0" dirty="0">
                        <a:solidFill>
                          <a:schemeClr val="bg1"/>
                        </a:solidFill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基线调查→碳储量监测→第三方核证→签发 VCU 或 CCER 碳信用</a:t>
                      </a:r>
                      <a:endParaRPr lang="en-US" sz="975" b="0" i="0" dirty="0">
                        <a:solidFill>
                          <a:schemeClr val="bg1"/>
                        </a:solidFill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生态研学/文旅</a:t>
                      </a:r>
                      <a:endParaRPr lang="en-US" sz="975" b="0" i="0" dirty="0">
                        <a:solidFill>
                          <a:schemeClr val="bg1"/>
                        </a:solidFill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红树林栈道导览、自然教育课程、企业 CSR 团建活动</a:t>
                      </a:r>
                      <a:endParaRPr lang="en-US" sz="975" b="0" i="0" dirty="0">
                        <a:solidFill>
                          <a:schemeClr val="bg1"/>
                        </a:solidFill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ESG 定制方案</a:t>
                      </a:r>
                      <a:endParaRPr lang="en-US" sz="975" b="0" i="0" dirty="0">
                        <a:solidFill>
                          <a:schemeClr val="bg1"/>
                        </a:solidFill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为企业提供"命名冠名修复区 + 碳抵消证书 + 品牌传播"打包服务</a:t>
                      </a:r>
                      <a:endParaRPr lang="en-US" sz="975" b="0" i="0" dirty="0">
                        <a:solidFill>
                          <a:schemeClr val="bg1"/>
                        </a:solidFill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FFFFFF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生态研学/文旅</a:t>
                      </a:r>
                      <a:endParaRPr lang="en-US" sz="975" b="0" i="0" dirty="0"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FFFFFF"/>
                          </a:solidFill>
                          <a:latin typeface="MiSans Medium" pitchFamily="2" charset="-122"/>
                          <a:ea typeface="MiSans Medium" pitchFamily="2" charset="-122"/>
                          <a:cs typeface="思源黑体" pitchFamily="34" charset="-120"/>
                        </a:rPr>
                        <a:t>红树林栈道导览、自然教育课程、企业 CSR 团建活动</a:t>
                      </a:r>
                      <a:endParaRPr lang="en-US" sz="975" b="0" i="0" dirty="0">
                        <a:latin typeface="MiSans Medium" pitchFamily="2" charset="-122"/>
                        <a:ea typeface="MiSans Medium" pitchFamily="2" charset="-122"/>
                        <a:cs typeface="思源黑体" charset="0"/>
                      </a:endParaRPr>
                    </a:p>
                  </a:txBody>
                  <a:tcPr marL="61913" marR="61913" marT="61913" marB="61913" anchor="ctr">
                    <a:lnL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alpha val="1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600" y="228600"/>
            <a:ext cx="4295775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5625"/>
              </a:lnSpc>
            </a:pPr>
            <a:r>
              <a:rPr lang="en-US" sz="44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红树林蓝碳</a:t>
            </a:r>
            <a:endParaRPr lang="en-US" sz="44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5625"/>
              </a:lnSpc>
            </a:pPr>
            <a:r>
              <a:rPr lang="en-US" sz="4400" b="1" dirty="0">
                <a:solidFill>
                  <a:srgbClr val="242424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价格交易</a:t>
            </a:r>
            <a:endParaRPr lang="en-US" sz="44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l">
              <a:lnSpc>
                <a:spcPts val="5625"/>
              </a:lnSpc>
            </a:pP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Source Han SerifCN" pitchFamily="34" charset="-120"/>
              </a:rPr>
              <a:t>预测</a:t>
            </a:r>
            <a:endParaRPr lang="en-US" sz="4400" b="1" dirty="0">
              <a:solidFill>
                <a:schemeClr val="accent6">
                  <a:lumMod val="50000"/>
                </a:schemeClr>
              </a:solidFill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228600" y="3080191"/>
            <a:ext cx="3557550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just">
              <a:lnSpc>
                <a:spcPct val="150000"/>
              </a:lnSpc>
            </a:pPr>
            <a:r>
              <a:rPr lang="en-US" sz="1000" kern="0" spc="-12" dirty="0">
                <a:solidFill>
                  <a:srgbClr val="242424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展示近 10 年红树林面积持续净增长，从 2.5 万公顷增至 3.03 万公顷，特别标注了 CCER 重启关键节点，体现政策风口。展示蓝碳价格从 80 元/吨到 450 元/吨的上行趋势，标注了 CCER 全面重启和蓝碳爆发期两个关键阶段</a:t>
            </a:r>
            <a:endParaRPr lang="en-US" sz="975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619625" y="228600"/>
            <a:ext cx="4295775" cy="4686300"/>
          </a:xfrm>
          <a:prstGeom prst="roundRect">
            <a:avLst>
              <a:gd name="adj" fmla="val 2395"/>
            </a:avLst>
          </a:prstGeom>
          <a:solidFill>
            <a:srgbClr val="F7F3E2"/>
          </a:solidFill>
          <a:ln/>
        </p:spPr>
        <p:txBody>
          <a:bodyPr wrap="square" lIns="238654" tIns="553244" rIns="238654" bIns="553244" rtlCol="0" anchor="ctr"/>
          <a:lstStyle/>
          <a:p>
            <a:pPr algn="ctr">
              <a:lnSpc>
                <a:spcPts val="1463"/>
              </a:lnSpc>
            </a:pPr>
            <a:endParaRPr lang="en-US" sz="975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15293" y="1152993"/>
          <a:ext cx="3724275" cy="2704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19625" y="853701"/>
            <a:ext cx="246497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7125"/>
              </a:lnSpc>
            </a:pPr>
            <a:r>
              <a:rPr lang="en-US" sz="5200" b="0" kern="0" spc="-24" dirty="0">
                <a:solidFill>
                  <a:srgbClr val="F7F3E2"/>
                </a:solidFill>
                <a:latin typeface="TCloud Number" pitchFamily="2" charset="0"/>
                <a:ea typeface="Instrument Serif" pitchFamily="34" charset="-122"/>
                <a:cs typeface="Instrument Serif" pitchFamily="34" charset="-120"/>
              </a:rPr>
              <a:t>+60%</a:t>
            </a:r>
            <a:endParaRPr lang="en-US" sz="5200" dirty="0">
              <a:latin typeface="TCloud Number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19625" y="2447551"/>
            <a:ext cx="246497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7125"/>
              </a:lnSpc>
            </a:pPr>
            <a:r>
              <a:rPr lang="en-US" sz="5200" b="0" kern="0" spc="-24" dirty="0">
                <a:solidFill>
                  <a:srgbClr val="F7F3E2"/>
                </a:solidFill>
                <a:latin typeface="TCloud Number" pitchFamily="2" charset="0"/>
                <a:ea typeface="Instrument Serif" pitchFamily="34" charset="-122"/>
                <a:cs typeface="Instrument Serif" pitchFamily="34" charset="-120"/>
              </a:rPr>
              <a:t>1,500T </a:t>
            </a:r>
            <a:endParaRPr lang="en-US" sz="5200" dirty="0">
              <a:latin typeface="TCloud Number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619549" y="3945960"/>
            <a:ext cx="246497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7125"/>
              </a:lnSpc>
            </a:pPr>
            <a:r>
              <a:rPr lang="en-US" sz="5200" b="0" kern="0" spc="-24" dirty="0">
                <a:solidFill>
                  <a:srgbClr val="F7F3E2"/>
                </a:solidFill>
                <a:latin typeface="TCloud Number" pitchFamily="2" charset="0"/>
                <a:ea typeface="Instrument Serif" pitchFamily="34" charset="-122"/>
                <a:cs typeface="Instrument Serif" pitchFamily="34" charset="-120"/>
              </a:rPr>
              <a:t>3.03W</a:t>
            </a:r>
            <a:endParaRPr lang="en-US" sz="5200" dirty="0">
              <a:latin typeface="TCloud Number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84523" y="1364940"/>
            <a:ext cx="1369871" cy="2983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800" b="0" dirty="0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五年ROI</a:t>
            </a:r>
            <a:endParaRPr lang="en-US" sz="18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7084845" y="2958790"/>
            <a:ext cx="1371942" cy="2983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800" b="0" dirty="0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年碳储</a:t>
            </a:r>
            <a:endParaRPr lang="en-US" sz="18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7084672" y="4456829"/>
            <a:ext cx="1371942" cy="2983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800" b="0" dirty="0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红树林面积</a:t>
            </a:r>
            <a:endParaRPr lang="en-US" sz="18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228600" y="2476130"/>
            <a:ext cx="2693020" cy="22790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7F3E2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这不仅是一门年回报率可达15%–20%的好生意更是一次抢占蓝碳风口的战略布局——我们用成熟的红树林修复+碳汇交易模式，把生态价值转化为实实在在的资产，用3年时间实现盈亏平衡可以用5年撬动百亿级的蓝色经济。</a:t>
            </a:r>
            <a:endParaRPr lang="en-US" sz="975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28600" y="228600"/>
            <a:ext cx="2830674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800" spc="300" dirty="0">
                <a:solidFill>
                  <a:srgbClr val="F7F3E2"/>
                </a:solidFill>
                <a:latin typeface="MiSans Normal" pitchFamily="2" charset="-122"/>
                <a:ea typeface="MiSans Normal" pitchFamily="2" charset="-122"/>
                <a:cs typeface="Public Sans" pitchFamily="34" charset="-120"/>
              </a:rPr>
              <a:t>红树林羡慕投资回报率</a:t>
            </a:r>
            <a:endParaRPr lang="en-US" sz="825" spc="300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57538" y="336784"/>
            <a:ext cx="133350" cy="1333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7408" tIns="15743" rIns="7408" bIns="15743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3405226" y="228371"/>
            <a:ext cx="551013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75"/>
              </a:lnSpc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Phase 1（0–12月）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  <a:p>
            <a:pPr algn="l">
              <a:lnSpc>
                <a:spcPts val="2475"/>
              </a:lnSpc>
            </a:pPr>
            <a:r>
              <a:rPr lang="en-US" sz="14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完成示范基地选址、苗圃、首期种植、基线调查</a:t>
            </a:r>
            <a:endParaRPr lang="en-US" sz="14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3157538" y="1188829"/>
            <a:ext cx="133350" cy="1333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7408" tIns="15743" rIns="7408" bIns="15743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3157538" y="2055884"/>
            <a:ext cx="133350" cy="1333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7408" tIns="15743" rIns="7408" bIns="15743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405226" y="1943100"/>
            <a:ext cx="551013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75"/>
              </a:lnSpc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Phase 3（3–5年）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  <a:p>
            <a:pPr algn="l">
              <a:lnSpc>
                <a:spcPts val="2475"/>
              </a:lnSpc>
            </a:pPr>
            <a:r>
              <a:rPr lang="en-US" sz="14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跨区域复制模式、探索蓝碳债券/蓝色金融</a:t>
            </a:r>
            <a:endParaRPr lang="en-US" sz="14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3157538" y="2953872"/>
            <a:ext cx="133350" cy="133350"/>
          </a:xfrm>
          <a:prstGeom prst="ellipse">
            <a:avLst/>
          </a:prstGeom>
          <a:solidFill>
            <a:srgbClr val="242424"/>
          </a:solidFill>
          <a:ln/>
        </p:spPr>
        <p:txBody>
          <a:bodyPr wrap="square" lIns="7408" tIns="15743" rIns="7408" bIns="15743" rtlCol="0" anchor="ctr"/>
          <a:lstStyle/>
          <a:p>
            <a:pPr algn="ctr">
              <a:lnSpc>
                <a:spcPts val="1316"/>
              </a:lnSpc>
            </a:pP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228600" y="228600"/>
            <a:ext cx="2832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8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Public Sans" pitchFamily="34" charset="-120"/>
              </a:rPr>
              <a:t>发展规划 &amp; 融资需求</a:t>
            </a:r>
            <a:endParaRPr lang="en-US" sz="825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05226" y="1088145"/>
            <a:ext cx="551013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75"/>
              </a:lnSpc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Phase 2（1–3年）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  <a:p>
            <a:pPr algn="l">
              <a:lnSpc>
                <a:spcPts val="2475"/>
              </a:lnSpc>
            </a:pPr>
            <a:r>
              <a:rPr lang="en-US" sz="14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扩大修复规模、完成首期碳汇核证与交易、启动研学</a:t>
            </a:r>
            <a:endParaRPr lang="en-US" sz="14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05188" y="2854934"/>
            <a:ext cx="5510138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75"/>
              </a:lnSpc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本轮融资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  <a:p>
            <a:pPr algn="l">
              <a:lnSpc>
                <a:spcPts val="2475"/>
              </a:lnSpc>
            </a:pPr>
            <a:r>
              <a:rPr lang="en-US" sz="1400" dirty="0">
                <a:solidFill>
                  <a:srgbClr val="242424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拟融资 2000万元，用于 Capex（苗圃/设备/前期人工）及运营垫资，出让 20% 股权或收益分成</a:t>
            </a:r>
            <a:endParaRPr lang="en-US" sz="1400" dirty="0">
              <a:latin typeface="MiSans" pitchFamily="2" charset="-122"/>
              <a:ea typeface="MiSans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2275" y="2688684"/>
            <a:ext cx="57593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88"/>
              </a:lnSpc>
            </a:pPr>
            <a:r>
              <a:rPr lang="en-US" sz="1200" kern="0" spc="-72" dirty="0" err="1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</a:rPr>
              <a:t>邮箱</a:t>
            </a:r>
            <a:endParaRPr lang="en-US" sz="12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5" name="Text 1"/>
          <p:cNvSpPr/>
          <p:nvPr/>
        </p:nvSpPr>
        <p:spPr>
          <a:xfrm>
            <a:off x="1692299" y="3012534"/>
            <a:ext cx="57593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200" b="0" kern="0" spc="-24" dirty="0" err="1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ABCDEFGHIHKJH.email</a:t>
            </a:r>
            <a:endParaRPr lang="en-US" sz="12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6" name="Text 2"/>
          <p:cNvSpPr/>
          <p:nvPr/>
        </p:nvSpPr>
        <p:spPr>
          <a:xfrm>
            <a:off x="1692302" y="3488784"/>
            <a:ext cx="5759388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88"/>
              </a:lnSpc>
            </a:pPr>
            <a:r>
              <a:rPr lang="en-US" sz="1200" b="0" kern="0" spc="-72" dirty="0" err="1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电话</a:t>
            </a:r>
            <a:endParaRPr lang="en-US" sz="12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7" name="Text 3"/>
          <p:cNvSpPr/>
          <p:nvPr/>
        </p:nvSpPr>
        <p:spPr>
          <a:xfrm>
            <a:off x="1692334" y="3812634"/>
            <a:ext cx="57593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200" b="0" kern="0" spc="-24" dirty="0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 +473 314 159 265</a:t>
            </a:r>
            <a:endParaRPr lang="en-US" sz="12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92338" y="4288883"/>
            <a:ext cx="5759351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88"/>
              </a:lnSpc>
            </a:pPr>
            <a:r>
              <a:rPr lang="en-US" sz="1200" b="0" kern="0" spc="-72" dirty="0" err="1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地址</a:t>
            </a:r>
            <a:endParaRPr lang="en-US" sz="12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9" name="Text 5"/>
          <p:cNvSpPr/>
          <p:nvPr/>
        </p:nvSpPr>
        <p:spPr>
          <a:xfrm>
            <a:off x="1692389" y="4612734"/>
            <a:ext cx="5759276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200" b="0" kern="0" spc="-24" dirty="0" err="1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xx省xx市xx区</a:t>
            </a:r>
            <a:r>
              <a:rPr lang="en-US" sz="1200" b="0" kern="0" spc="-24" dirty="0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 xxxx大道</a:t>
            </a:r>
            <a:r>
              <a:rPr lang="en-US" altLang="zh-CN" sz="1200" b="0" kern="0" spc="-24" dirty="0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123456</a:t>
            </a:r>
            <a:r>
              <a:rPr lang="en-US" sz="1200" b="0" kern="0" spc="-24" dirty="0">
                <a:solidFill>
                  <a:srgbClr val="F7F3E2"/>
                </a:solidFill>
                <a:latin typeface="Source Han Sans CN VF Normal" panose="020B0200000000000000" pitchFamily="34" charset="-128"/>
                <a:ea typeface="Source Han Sans CN VF Normal" panose="020B0200000000000000" pitchFamily="34" charset="-128"/>
                <a:cs typeface="思源黑体" pitchFamily="34" charset="-120"/>
              </a:rPr>
              <a:t>号</a:t>
            </a:r>
            <a:endParaRPr lang="en-US" sz="1200" dirty="0">
              <a:latin typeface="Source Han Sans CN VF Normal" panose="020B0200000000000000" pitchFamily="34" charset="-128"/>
              <a:ea typeface="Source Han Sans CN VF Normal" panose="020B0200000000000000" pitchFamily="34" charset="-12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692309" y="169113"/>
            <a:ext cx="5759388" cy="116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600" b="1" kern="0" spc="-24" dirty="0">
                <a:solidFill>
                  <a:srgbClr val="F7F3E2"/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  <a:cs typeface="Instrument Serif" pitchFamily="34" charset="-120"/>
              </a:rPr>
              <a:t>THANKS</a:t>
            </a:r>
            <a:endParaRPr lang="en-US" sz="75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595</Words>
  <Application>Microsoft Macintosh PowerPoint</Application>
  <PresentationFormat>全屏显示(16:9)</PresentationFormat>
  <Paragraphs>136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MiSans</vt:lpstr>
      <vt:lpstr>MiSans Demibold</vt:lpstr>
      <vt:lpstr>MiSans Medium</vt:lpstr>
      <vt:lpstr>MiSans Normal</vt:lpstr>
      <vt:lpstr>Source Han Sans CN VF</vt:lpstr>
      <vt:lpstr>Source Han Sans CN VF Heavy</vt:lpstr>
      <vt:lpstr>Source Han Sans CN VF Light</vt:lpstr>
      <vt:lpstr>Source Han Sans CN VF Normal</vt:lpstr>
      <vt:lpstr>Source Han Serif CN</vt:lpstr>
      <vt:lpstr>Arial</vt:lpstr>
      <vt:lpstr>TCloud Number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红树林保护与 蓝碳交易</dc:title>
  <dc:subject>PptxGenJS Presentation</dc:subject>
  <dc:creator>Pitch Software GmbH</dc:creator>
  <cp:lastModifiedBy>T171376</cp:lastModifiedBy>
  <cp:revision>12</cp:revision>
  <dcterms:created xsi:type="dcterms:W3CDTF">2026-06-02T09:37:27Z</dcterms:created>
  <dcterms:modified xsi:type="dcterms:W3CDTF">2026-06-16T02:22:26Z</dcterms:modified>
</cp:coreProperties>
</file>