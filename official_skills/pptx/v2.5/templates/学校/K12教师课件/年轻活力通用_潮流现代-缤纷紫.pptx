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jp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6"/>
  </p:notesMasterIdLst>
  <p:sldIdLst>
    <p:sldId id="256" r:id="rId3"/>
    <p:sldId id="257" r:id="rId4"/>
    <p:sldId id="258" r:id="rId5"/>
    <p:sldId id="262" r:id="rId6"/>
    <p:sldId id="259" r:id="rId7"/>
    <p:sldId id="261" r:id="rId8"/>
    <p:sldId id="260" r:id="rId9"/>
    <p:sldId id="268" r:id="rId10"/>
    <p:sldId id="263" r:id="rId11"/>
    <p:sldId id="267" r:id="rId12"/>
    <p:sldId id="264" r:id="rId13"/>
    <p:sldId id="265" r:id="rId14"/>
    <p:sldId id="270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880">
          <p15:clr>
            <a:srgbClr val="747775">
              <a:alpha val="100000"/>
            </a:srgbClr>
          </p15:clr>
        </p15:guide>
        <p15:guide id="2" orient="horz" pos="4320">
          <p15:clr>
            <a:srgbClr val="747775">
              <a:alpha val="100000"/>
            </a:srgbClr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ED97"/>
    <a:srgbClr val="FFF043"/>
    <a:srgbClr val="BA7DFF"/>
    <a:srgbClr val="F6F6F6"/>
    <a:srgbClr val="7C3AED"/>
    <a:srgbClr val="FF8ADE"/>
    <a:srgbClr val="C07FFF"/>
    <a:srgbClr val="FF82CF"/>
    <a:srgbClr val="FFB6F2"/>
    <a:srgbClr val="A855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27F97BB-C833-4FB7-BDE5-3F7075034690}" styleName="主题样式 2 - 强调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76"/>
    <p:restoredTop sz="94658"/>
  </p:normalViewPr>
  <p:slideViewPr>
    <p:cSldViewPr snapToGrid="0">
      <p:cViewPr varScale="1">
        <p:scale>
          <a:sx n="107" d="100"/>
          <a:sy n="107" d="100"/>
        </p:scale>
        <p:origin x="200" y="448"/>
      </p:cViewPr>
      <p:guideLst>
        <p:guide pos="2880"/>
        <p:guide orient="horz" pos="432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AI使用率</c:v>
          </c:tx>
          <c:spPr>
            <a:ln w="19050" cap="rnd" cmpd="sng">
              <a:solidFill>
                <a:srgbClr val="7C3AED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7C3AED"/>
              </a:solidFill>
              <a:ln w="19050">
                <a:solidFill>
                  <a:srgbClr val="7C3AED"/>
                </a:solidFill>
              </a:ln>
            </c:spPr>
          </c:marker>
          <c:dLbls>
            <c:dLbl>
              <c:idx val="0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0" i="0" strike="noStrike">
                      <a:solidFill>
                        <a:srgbClr val="7C3AED">
                          <a:alpha val="100000"/>
                        </a:srgbClr>
                      </a:solidFill>
                      <a:latin typeface="MiSans VF Semibold" pitchFamily="2" charset="-122"/>
                      <a:ea typeface="MiSans VF Semibold" pitchFamily="2" charset="-122"/>
                      <a:cs typeface="MiSans VF Semibold" pitchFamily="2" charset="-122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5A9C-ED49-BA69-850680F178B0}"/>
                </c:ext>
              </c:extLst>
            </c:dLbl>
            <c:dLbl>
              <c:idx val="1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0" i="0" strike="noStrike">
                      <a:solidFill>
                        <a:srgbClr val="7C3AED">
                          <a:alpha val="100000"/>
                        </a:srgbClr>
                      </a:solidFill>
                      <a:latin typeface="MiSans VF Semibold" pitchFamily="2" charset="-122"/>
                      <a:ea typeface="MiSans VF Semibold" pitchFamily="2" charset="-122"/>
                      <a:cs typeface="MiSans VF Semibold" pitchFamily="2" charset="-122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5A9C-ED49-BA69-850680F178B0}"/>
                </c:ext>
              </c:extLst>
            </c:dLbl>
            <c:dLbl>
              <c:idx val="2"/>
              <c:layout>
                <c:manualLayout>
                  <c:x val="-1.6022600000000001E-3"/>
                  <c:y val="-8.3170499999999994E-3"/>
                </c:manualLayout>
              </c:layout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0" i="0" strike="noStrike">
                      <a:solidFill>
                        <a:srgbClr val="7C3AED">
                          <a:alpha val="100000"/>
                        </a:srgbClr>
                      </a:solidFill>
                      <a:latin typeface="MiSans VF Semibold" pitchFamily="2" charset="-122"/>
                      <a:ea typeface="MiSans VF Semibold" pitchFamily="2" charset="-122"/>
                      <a:cs typeface="MiSans VF Semibold" pitchFamily="2" charset="-122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A9C-ED49-BA69-850680F178B0}"/>
                </c:ext>
              </c:extLst>
            </c:dLbl>
            <c:dLbl>
              <c:idx val="3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0" i="0" strike="noStrike">
                      <a:solidFill>
                        <a:srgbClr val="7C3AED">
                          <a:alpha val="100000"/>
                        </a:srgbClr>
                      </a:solidFill>
                      <a:latin typeface="MiSans VF Semibold" pitchFamily="2" charset="-122"/>
                      <a:ea typeface="MiSans VF Semibold" pitchFamily="2" charset="-122"/>
                      <a:cs typeface="MiSans VF Semibold" pitchFamily="2" charset="-122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5A9C-ED49-BA69-850680F178B0}"/>
                </c:ext>
              </c:extLst>
            </c:dLbl>
            <c:dLbl>
              <c:idx val="4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0" i="0" strike="noStrike">
                      <a:solidFill>
                        <a:srgbClr val="7C3AED">
                          <a:alpha val="100000"/>
                        </a:srgbClr>
                      </a:solidFill>
                      <a:latin typeface="MiSans VF Semibold" pitchFamily="2" charset="-122"/>
                      <a:ea typeface="MiSans VF Semibold" pitchFamily="2" charset="-122"/>
                      <a:cs typeface="MiSans VF Semibold" pitchFamily="2" charset="-122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5A9C-ED49-BA69-850680F178B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vert="horz" wrap="square" anchor="ctr" anchorCtr="1"/>
              <a:lstStyle/>
              <a:p>
                <a:pPr>
                  <a:defRPr sz="1197" b="0" i="0" strike="noStrike">
                    <a:solidFill>
                      <a:schemeClr val="tx1">
                        <a:lumMod val="65000"/>
                        <a:lumOff val="35000"/>
                        <a:alpha val="100000"/>
                      </a:schemeClr>
                    </a:solidFill>
                    <a:latin typeface="MiSans VF Semibold" pitchFamily="2" charset="-122"/>
                    <a:ea typeface="MiSans VF Semibold" pitchFamily="2" charset="-122"/>
                    <a:cs typeface="MiSans VF Semibold" pitchFamily="2" charset="-122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2021</c:v>
              </c:pt>
              <c:pt idx="1">
                <c:v>2022</c:v>
              </c:pt>
              <c:pt idx="2">
                <c:v>2023</c:v>
              </c:pt>
              <c:pt idx="3">
                <c:v>2024</c:v>
              </c:pt>
              <c:pt idx="4">
                <c:v>2025</c:v>
              </c:pt>
            </c:strLit>
          </c:cat>
          <c:val>
            <c:numLit>
              <c:formatCode>General</c:formatCode>
              <c:ptCount val="5"/>
              <c:pt idx="0">
                <c:v>0.56000000000000005</c:v>
              </c:pt>
              <c:pt idx="1">
                <c:v>0.5</c:v>
              </c:pt>
              <c:pt idx="2">
                <c:v>0.55000000000000004</c:v>
              </c:pt>
              <c:pt idx="3">
                <c:v>0.78</c:v>
              </c:pt>
              <c:pt idx="4">
                <c:v>0.88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5-5A9C-ED49-BA69-850680F178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199473"/>
        <c:axId val="7199474"/>
      </c:lineChart>
      <c:catAx>
        <c:axId val="719947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>
                <a:alpha val="100000"/>
              </a:srgbClr>
            </a:solidFill>
            <a:round/>
          </a:ln>
          <a:effectLst/>
        </c:spPr>
        <c:txPr>
          <a:bodyPr/>
          <a:lstStyle/>
          <a:p>
            <a:pPr>
              <a:defRPr sz="1197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defRPr>
            </a:pPr>
            <a:endParaRPr lang="zh-CN"/>
          </a:p>
        </c:txPr>
        <c:crossAx val="7199474"/>
        <c:crosses val="autoZero"/>
        <c:auto val="1"/>
        <c:lblAlgn val="ctr"/>
        <c:lblOffset val="100"/>
        <c:noMultiLvlLbl val="1"/>
      </c:catAx>
      <c:valAx>
        <c:axId val="7199474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719947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lstStyle/>
        <a:p>
          <a:pPr>
            <a:defRPr sz="1197" b="0" i="0" strike="noStrike">
              <a:solidFill>
                <a:schemeClr val="tx1">
                  <a:lumMod val="65000"/>
                  <a:lumOff val="35000"/>
                  <a:alpha val="10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defRPr>
          </a:pPr>
          <a:endParaRPr lang="zh-CN"/>
        </a:p>
      </c:txPr>
    </c:legend>
    <c:plotVisOnly val="1"/>
    <c:dispBlanksAs val="gap"/>
    <c:showDLblsOverMax val="1"/>
  </c:chart>
  <c:spPr>
    <a:noFill/>
    <a:ln>
      <a:noFill/>
    </a:ln>
    <a:effectLst/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16.06.2026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4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25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2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2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1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3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3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3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8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39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4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4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66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67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68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9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0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5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4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4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4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9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6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6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 dirty="0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2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53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FAA14-CF43-61ED-AED3-88033587F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Header Placeholder 1">
            <a:extLst>
              <a:ext uri="{FF2B5EF4-FFF2-40B4-BE49-F238E27FC236}">
                <a16:creationId xmlns:a16="http://schemas.microsoft.com/office/drawing/2014/main" id="{0E579B87-452D-64C2-C885-D9E38808555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66" name="Date Placeholder 2">
            <a:extLst>
              <a:ext uri="{FF2B5EF4-FFF2-40B4-BE49-F238E27FC236}">
                <a16:creationId xmlns:a16="http://schemas.microsoft.com/office/drawing/2014/main" id="{F8E9928E-ED23-14C3-200F-82EA84EE7AF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67" name="Slide Image Placeholder 3">
            <a:extLst>
              <a:ext uri="{FF2B5EF4-FFF2-40B4-BE49-F238E27FC236}">
                <a16:creationId xmlns:a16="http://schemas.microsoft.com/office/drawing/2014/main" id="{6FB2A9BC-33E8-612B-B86B-6E437BCFE9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68" name="Notes Placeholder 4">
            <a:extLst>
              <a:ext uri="{FF2B5EF4-FFF2-40B4-BE49-F238E27FC236}">
                <a16:creationId xmlns:a16="http://schemas.microsoft.com/office/drawing/2014/main" id="{8FC44803-4F64-48F3-8EC7-55D78888D1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9" name="Footer Placeholder 5">
            <a:extLst>
              <a:ext uri="{FF2B5EF4-FFF2-40B4-BE49-F238E27FC236}">
                <a16:creationId xmlns:a16="http://schemas.microsoft.com/office/drawing/2014/main" id="{0DCC4B14-34D5-6FDA-DB21-6C90F161C8D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0" name="Slide Number Placeholder 6">
            <a:extLst>
              <a:ext uri="{FF2B5EF4-FFF2-40B4-BE49-F238E27FC236}">
                <a16:creationId xmlns:a16="http://schemas.microsoft.com/office/drawing/2014/main" id="{4C51974D-95E6-1029-ED23-4E0E1C4345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37308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7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7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7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FA427-4250-8650-A141-44BFB74F7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2FF2AEF-09D6-2BBE-C539-73064C733CC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BAAB6D-C81A-606A-E0E9-BE1ED7FB9C4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59E4E1D-C2EC-AA15-A8D3-386F9414B0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A533075-4534-CD38-F38C-271EBDCF93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2161E1-DD22-E7AF-19C6-858EF6A76BF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39716E-616E-D966-23B3-099CD432E4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113429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0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11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1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E9125-3A73-4494-6D74-86B30ACC1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Header Placeholder 1">
            <a:extLst>
              <a:ext uri="{FF2B5EF4-FFF2-40B4-BE49-F238E27FC236}">
                <a16:creationId xmlns:a16="http://schemas.microsoft.com/office/drawing/2014/main" id="{38665082-D980-7BDA-B26C-BC9335D4A5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4" name="Date Placeholder 2">
            <a:extLst>
              <a:ext uri="{FF2B5EF4-FFF2-40B4-BE49-F238E27FC236}">
                <a16:creationId xmlns:a16="http://schemas.microsoft.com/office/drawing/2014/main" id="{128EB6AD-DBD7-21A4-B3C8-B598A2D0F35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25" name="Slide Image Placeholder 3">
            <a:extLst>
              <a:ext uri="{FF2B5EF4-FFF2-40B4-BE49-F238E27FC236}">
                <a16:creationId xmlns:a16="http://schemas.microsoft.com/office/drawing/2014/main" id="{67D50D87-651B-9A73-990C-EFF49CF5E2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26" name="Notes Placeholder 4">
            <a:extLst>
              <a:ext uri="{FF2B5EF4-FFF2-40B4-BE49-F238E27FC236}">
                <a16:creationId xmlns:a16="http://schemas.microsoft.com/office/drawing/2014/main" id="{362C1B88-C4CF-01F1-2AE3-C140E4F9F0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27" name="Footer Placeholder 5">
            <a:extLst>
              <a:ext uri="{FF2B5EF4-FFF2-40B4-BE49-F238E27FC236}">
                <a16:creationId xmlns:a16="http://schemas.microsoft.com/office/drawing/2014/main" id="{9BDA0690-5376-A202-B44A-AB02A0926D2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8" name="Slide Number Placeholder 6">
            <a:extLst>
              <a:ext uri="{FF2B5EF4-FFF2-40B4-BE49-F238E27FC236}">
                <a16:creationId xmlns:a16="http://schemas.microsoft.com/office/drawing/2014/main" id="{7404F04D-3225-2C96-03DC-897DE972B2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715336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5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7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9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0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5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3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4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5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1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7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3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7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AutoShape 7"/>
          <p:cNvSpPr/>
          <p:nvPr/>
        </p:nvSpPr>
        <p:spPr>
          <a:xfrm>
            <a:off x="484456" y="5212773"/>
            <a:ext cx="4784892" cy="24622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u="none" strike="noStrike" dirty="0" err="1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核心叙事</a:t>
            </a:r>
            <a:endParaRPr lang="en-US" sz="16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67" name="AutoShape 8"/>
          <p:cNvSpPr/>
          <p:nvPr/>
        </p:nvSpPr>
        <p:spPr>
          <a:xfrm>
            <a:off x="484456" y="5581651"/>
            <a:ext cx="402315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 </a:t>
            </a:r>
            <a:r>
              <a:rPr lang="en-US" sz="1200" u="none" strike="noStrike" dirty="0" err="1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不只是提高单点任务效率，而是在改变个人、团队与组织的工作方式。效率提升是系统升级</a:t>
            </a:r>
            <a:r>
              <a:rPr lang="en-US" sz="1200" u="none" strike="noStrike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A9206F4-1D97-8D6B-82CF-1468944B65CC}"/>
              </a:ext>
            </a:extLst>
          </p:cNvPr>
          <p:cNvSpPr/>
          <p:nvPr/>
        </p:nvSpPr>
        <p:spPr>
          <a:xfrm>
            <a:off x="524797" y="1046355"/>
            <a:ext cx="3982809" cy="149271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800" u="none" strike="noStrike" dirty="0" err="1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AI时代的高效</a:t>
            </a:r>
            <a:endParaRPr lang="zh-CN" altLang="en-US" sz="48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  <a:p>
            <a:pPr indent="0" algn="l">
              <a:buClr>
                <a:srgbClr val="000000">
                  <a:alpha val="100000"/>
                </a:srgbClr>
              </a:buClr>
              <a:buFont typeface="Arial"/>
            </a:pPr>
            <a:r>
              <a:rPr lang="zh-CN" altLang="en-US" sz="48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工作方式</a:t>
            </a:r>
            <a:endParaRPr lang="zh-CN" altLang="en-US" sz="48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4255A17-9EC3-3DE9-B63C-30CE21ECDA76}"/>
              </a:ext>
            </a:extLst>
          </p:cNvPr>
          <p:cNvSpPr txBox="1"/>
          <p:nvPr/>
        </p:nvSpPr>
        <p:spPr>
          <a:xfrm>
            <a:off x="524797" y="2623303"/>
            <a:ext cx="3982809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16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从工具使用到流程重构</a:t>
            </a:r>
            <a:endParaRPr lang="en-US" altLang="zh-CN" sz="1600" u="none" strike="noStrike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Arial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62059A95-319D-4A06-A9DF-AB56ECD3F899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21" name="AutoShape 2">
              <a:extLst>
                <a:ext uri="{FF2B5EF4-FFF2-40B4-BE49-F238E27FC236}">
                  <a16:creationId xmlns:a16="http://schemas.microsoft.com/office/drawing/2014/main" id="{DC32426D-14D1-A5DD-82C5-FB4A965C0249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23" name="AutoShape 2">
              <a:extLst>
                <a:ext uri="{FF2B5EF4-FFF2-40B4-BE49-F238E27FC236}">
                  <a16:creationId xmlns:a16="http://schemas.microsoft.com/office/drawing/2014/main" id="{59451652-8FF0-85DA-0420-8B3564127542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COVER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24" name="AutoShape 2">
            <a:extLst>
              <a:ext uri="{FF2B5EF4-FFF2-40B4-BE49-F238E27FC236}">
                <a16:creationId xmlns:a16="http://schemas.microsoft.com/office/drawing/2014/main" id="{65708E20-5510-1622-7AD8-CAE64B798DA6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0FACD69D-881A-DAEB-903E-A71E8FB6ABA5}"/>
              </a:ext>
            </a:extLst>
          </p:cNvPr>
          <p:cNvGrpSpPr/>
          <p:nvPr/>
        </p:nvGrpSpPr>
        <p:grpSpPr>
          <a:xfrm>
            <a:off x="6217553" y="708538"/>
            <a:ext cx="5583488" cy="5583490"/>
            <a:chOff x="6217553" y="708538"/>
            <a:chExt cx="5583488" cy="5583490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0AB19FF9-C776-360C-3C03-501BD2BF28B0}"/>
                </a:ext>
              </a:extLst>
            </p:cNvPr>
            <p:cNvSpPr/>
            <p:nvPr/>
          </p:nvSpPr>
          <p:spPr>
            <a:xfrm>
              <a:off x="6217553" y="708538"/>
              <a:ext cx="1860574" cy="18605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E36ACDA6-DED4-926E-082B-6EB436F0FA22}"/>
                </a:ext>
              </a:extLst>
            </p:cNvPr>
            <p:cNvSpPr/>
            <p:nvPr/>
          </p:nvSpPr>
          <p:spPr>
            <a:xfrm>
              <a:off x="8079010" y="708538"/>
              <a:ext cx="1860574" cy="18605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2990B80F-EAA9-BD51-80DE-180F9E374587}"/>
                </a:ext>
              </a:extLst>
            </p:cNvPr>
            <p:cNvSpPr/>
            <p:nvPr/>
          </p:nvSpPr>
          <p:spPr>
            <a:xfrm>
              <a:off x="9940467" y="708538"/>
              <a:ext cx="1860574" cy="1860574"/>
            </a:xfrm>
            <a:prstGeom prst="ellipse">
              <a:avLst/>
            </a:prstGeom>
            <a:solidFill>
              <a:srgbClr val="2DED9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017741B5-9D0B-6ADD-8CEE-15548EC7ADB6}"/>
                </a:ext>
              </a:extLst>
            </p:cNvPr>
            <p:cNvSpPr/>
            <p:nvPr/>
          </p:nvSpPr>
          <p:spPr>
            <a:xfrm>
              <a:off x="6217553" y="2569996"/>
              <a:ext cx="1860574" cy="1860574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0A497BE0-C280-6404-2AC8-22AC1A4234B4}"/>
                </a:ext>
              </a:extLst>
            </p:cNvPr>
            <p:cNvSpPr/>
            <p:nvPr/>
          </p:nvSpPr>
          <p:spPr>
            <a:xfrm>
              <a:off x="8079010" y="2569996"/>
              <a:ext cx="1860574" cy="18605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CF57D567-FEC5-BC25-940F-5445303F36BD}"/>
                </a:ext>
              </a:extLst>
            </p:cNvPr>
            <p:cNvSpPr/>
            <p:nvPr/>
          </p:nvSpPr>
          <p:spPr>
            <a:xfrm>
              <a:off x="9940467" y="2569996"/>
              <a:ext cx="1860574" cy="18605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8C73DFA1-E8B3-F360-EB7F-75E9CC319A1B}"/>
                </a:ext>
              </a:extLst>
            </p:cNvPr>
            <p:cNvSpPr/>
            <p:nvPr/>
          </p:nvSpPr>
          <p:spPr>
            <a:xfrm>
              <a:off x="6217553" y="4431454"/>
              <a:ext cx="1860574" cy="18605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EBD65DC0-1421-0FE2-8343-373E541ACDC0}"/>
                </a:ext>
              </a:extLst>
            </p:cNvPr>
            <p:cNvSpPr/>
            <p:nvPr/>
          </p:nvSpPr>
          <p:spPr>
            <a:xfrm>
              <a:off x="8079010" y="4431454"/>
              <a:ext cx="1860574" cy="1860574"/>
            </a:xfrm>
            <a:prstGeom prst="ellipse">
              <a:avLst/>
            </a:prstGeom>
            <a:solidFill>
              <a:srgbClr val="FFF04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1A18A0FC-E636-5860-93C4-9C9B932EDDE8}"/>
                </a:ext>
              </a:extLst>
            </p:cNvPr>
            <p:cNvSpPr/>
            <p:nvPr/>
          </p:nvSpPr>
          <p:spPr>
            <a:xfrm>
              <a:off x="9940467" y="4431454"/>
              <a:ext cx="1860574" cy="18605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DD80C652-0147-19F7-B101-0B6FC1198481}"/>
                </a:ext>
              </a:extLst>
            </p:cNvPr>
            <p:cNvSpPr txBox="1"/>
            <p:nvPr/>
          </p:nvSpPr>
          <p:spPr>
            <a:xfrm>
              <a:off x="10089215" y="1484936"/>
              <a:ext cx="156307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r>
                <a:rPr lang="en-US" altLang="zh-CN" sz="1200" b="1" strike="noStrike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Sans VF Bold" pitchFamily="2" charset="-122"/>
                  <a:ea typeface="MiSans VF Bold" pitchFamily="2" charset="-122"/>
                  <a:cs typeface="MiSans VF Bold" pitchFamily="2" charset="-122"/>
                  <a:sym typeface="Arial"/>
                </a:rPr>
                <a:t>WORKFLOW</a:t>
              </a:r>
              <a:endPara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E49C1EF5-6343-B0BE-98F7-7159B189BA5B}"/>
                </a:ext>
              </a:extLst>
            </p:cNvPr>
            <p:cNvSpPr txBox="1"/>
            <p:nvPr/>
          </p:nvSpPr>
          <p:spPr>
            <a:xfrm>
              <a:off x="6345633" y="3346395"/>
              <a:ext cx="160441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r>
                <a:rPr lang="en-US" altLang="zh-CN" sz="1200" b="1" strike="noStrike" dirty="0">
                  <a:solidFill>
                    <a:schemeClr val="bg1"/>
                  </a:solidFill>
                  <a:latin typeface="MiSans VF Bold" pitchFamily="2" charset="-122"/>
                  <a:ea typeface="MiSans VF Bold" pitchFamily="2" charset="-122"/>
                  <a:cs typeface="MiSans VF Bold" pitchFamily="2" charset="-122"/>
                  <a:sym typeface="Arial"/>
                </a:rPr>
                <a:t>EFFICIENCY</a:t>
              </a:r>
              <a:endParaRPr lang="en-US" altLang="zh-CN" sz="1200" b="1" dirty="0">
                <a:solidFill>
                  <a:schemeClr val="bg1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65126A01-549E-CF40-F561-675032A8B4BC}"/>
                </a:ext>
              </a:extLst>
            </p:cNvPr>
            <p:cNvSpPr txBox="1"/>
            <p:nvPr/>
          </p:nvSpPr>
          <p:spPr>
            <a:xfrm>
              <a:off x="8212011" y="5212773"/>
              <a:ext cx="160441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r>
                <a:rPr lang="en-US" altLang="zh-CN" sz="1200" b="1" strike="noStrike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Sans VF Bold" pitchFamily="2" charset="-122"/>
                  <a:ea typeface="MiSans VF Bold" pitchFamily="2" charset="-122"/>
                  <a:cs typeface="MiSans VF Bold" pitchFamily="2" charset="-122"/>
                  <a:sym typeface="Arial"/>
                </a:rPr>
                <a:t>AUTOMATION</a:t>
              </a:r>
              <a:endPara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xmlns:a16="http://schemas.microsoft.com/office/drawing/2014/main" id="{1323E6C2-2AB2-E279-ED13-21D00CC535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72235" cy="6858000"/>
          </a:xfrm>
          <a:prstGeom prst="rect">
            <a:avLst/>
          </a:prstGeom>
        </p:spPr>
      </p:pic>
      <p:sp>
        <p:nvSpPr>
          <p:cNvPr id="78" name="AutoShape 3"/>
          <p:cNvSpPr/>
          <p:nvPr/>
        </p:nvSpPr>
        <p:spPr>
          <a:xfrm>
            <a:off x="5637596" y="765374"/>
            <a:ext cx="6095687" cy="123110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所有人的</a:t>
            </a:r>
            <a:endParaRPr lang="en-US" sz="4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工作方式升级</a:t>
            </a:r>
            <a:endParaRPr sz="4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79" name="AutoShape 4"/>
          <p:cNvSpPr/>
          <p:nvPr/>
        </p:nvSpPr>
        <p:spPr>
          <a:xfrm>
            <a:off x="5637597" y="4231828"/>
            <a:ext cx="2784230" cy="49244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3亿岗位面临</a:t>
            </a:r>
            <a:endParaRPr lang="en-US" sz="16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6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重新拆解与重组</a:t>
            </a:r>
            <a:endParaRPr sz="16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80" name="AutoShape 5"/>
          <p:cNvSpPr/>
          <p:nvPr/>
        </p:nvSpPr>
        <p:spPr>
          <a:xfrm>
            <a:off x="5637596" y="4986929"/>
            <a:ext cx="2784231" cy="64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这并不意味着岗位会消失，而是写作、检索到数据分析这些工作中繁琐重复的部分被大幅度提效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81" name="AutoShape 6"/>
          <p:cNvSpPr/>
          <p:nvPr/>
        </p:nvSpPr>
        <p:spPr>
          <a:xfrm>
            <a:off x="5637596" y="6068969"/>
            <a:ext cx="2784231" cy="18466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Source: Goldman Sachs, 2023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82" name="AutoShape 7"/>
          <p:cNvSpPr/>
          <p:nvPr/>
        </p:nvSpPr>
        <p:spPr>
          <a:xfrm>
            <a:off x="8949053" y="4237031"/>
            <a:ext cx="2784230" cy="49244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新一代通用</a:t>
            </a:r>
            <a:endParaRPr lang="en-US" sz="16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6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工作基础设施</a:t>
            </a:r>
            <a:endParaRPr sz="16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83" name="AutoShape 8"/>
          <p:cNvSpPr/>
          <p:nvPr/>
        </p:nvSpPr>
        <p:spPr>
          <a:xfrm>
            <a:off x="8949052" y="4986929"/>
            <a:ext cx="2784231" cy="64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 </a:t>
            </a: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正在嵌入真实工作流，成为日常客户沟通、知识管理与业务闭环的基础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84" name="AutoShape 9"/>
          <p:cNvSpPr/>
          <p:nvPr/>
        </p:nvSpPr>
        <p:spPr>
          <a:xfrm>
            <a:off x="8949052" y="6068969"/>
            <a:ext cx="2784231" cy="18466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不再是少数人的工具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84FA379-89CB-4802-81A0-608CDBDC673F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>
              <a:extLst>
                <a:ext uri="{FF2B5EF4-FFF2-40B4-BE49-F238E27FC236}">
                  <a16:creationId xmlns:a16="http://schemas.microsoft.com/office/drawing/2014/main" id="{4EE3F47C-7922-84F7-05D7-CB1E0F7F426C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6" name="AutoShape 2">
              <a:extLst>
                <a:ext uri="{FF2B5EF4-FFF2-40B4-BE49-F238E27FC236}">
                  <a16:creationId xmlns:a16="http://schemas.microsoft.com/office/drawing/2014/main" id="{4A6848FD-C8F4-6912-029A-23DFE43B5BB6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</a:t>
              </a:r>
              <a:r>
                <a:rPr lang="zh-CN" alt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 </a:t>
              </a: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01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7" name="AutoShape 2">
            <a:extLst>
              <a:ext uri="{FF2B5EF4-FFF2-40B4-BE49-F238E27FC236}">
                <a16:creationId xmlns:a16="http://schemas.microsoft.com/office/drawing/2014/main" id="{53D763B3-B99C-7879-0789-FBAF312D020E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82BDA089-9D4D-10D2-B9AA-4301E36FA792}"/>
              </a:ext>
            </a:extLst>
          </p:cNvPr>
          <p:cNvCxnSpPr>
            <a:cxnSpLocks/>
          </p:cNvCxnSpPr>
          <p:nvPr/>
        </p:nvCxnSpPr>
        <p:spPr>
          <a:xfrm>
            <a:off x="5637596" y="5830529"/>
            <a:ext cx="2784231" cy="0"/>
          </a:xfrm>
          <a:prstGeom prst="line">
            <a:avLst/>
          </a:prstGeom>
          <a:ln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4D997B16-45B8-C07F-4FC5-D1D04169116B}"/>
              </a:ext>
            </a:extLst>
          </p:cNvPr>
          <p:cNvCxnSpPr>
            <a:cxnSpLocks/>
          </p:cNvCxnSpPr>
          <p:nvPr/>
        </p:nvCxnSpPr>
        <p:spPr>
          <a:xfrm>
            <a:off x="8949052" y="5830529"/>
            <a:ext cx="2784231" cy="0"/>
          </a:xfrm>
          <a:prstGeom prst="line">
            <a:avLst/>
          </a:prstGeom>
          <a:ln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utoShape 2"/>
          <p:cNvSpPr/>
          <p:nvPr/>
        </p:nvSpPr>
        <p:spPr>
          <a:xfrm>
            <a:off x="484456" y="1549677"/>
            <a:ext cx="3540760" cy="123110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u="none" strike="noStrike" dirty="0" err="1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影响深远的</a:t>
            </a:r>
            <a:endParaRPr lang="en-US" sz="11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u="none" strike="noStrike" dirty="0" err="1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关键数据</a:t>
            </a:r>
            <a:endParaRPr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89" name="AutoShape 3"/>
          <p:cNvSpPr/>
          <p:nvPr/>
        </p:nvSpPr>
        <p:spPr>
          <a:xfrm>
            <a:off x="482551" y="3055950"/>
            <a:ext cx="3540760" cy="128176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从高盛到麦肯锡的全球调研数据表明，AI</a:t>
            </a:r>
            <a:r>
              <a:rPr lang="en-US" sz="12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</a:t>
            </a:r>
            <a:r>
              <a:rPr lang="en-US" sz="12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的影响范围极其广泛，且正在快速渗透到企业的核心工作流中</a:t>
            </a:r>
            <a:r>
              <a:rPr lang="en-US" sz="12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</a:p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200" u="none" strike="noStrike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  <a:p>
            <a:pPr>
              <a:lnSpc>
                <a:spcPct val="116666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200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 </a:t>
            </a:r>
            <a:r>
              <a:rPr lang="en-US" altLang="zh-CN" sz="1200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采用已经过了尝鲜期，正在进入主流。下一阶段的竞争重点，不是谁先使用，而是谁能更快完成规模化落地与系统集成</a:t>
            </a:r>
            <a:r>
              <a:rPr lang="en-US" altLang="zh-CN" sz="1200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AF37EB6-5668-44DB-0C98-31F83BCD7B56}"/>
              </a:ext>
            </a:extLst>
          </p:cNvPr>
          <p:cNvSpPr/>
          <p:nvPr/>
        </p:nvSpPr>
        <p:spPr>
          <a:xfrm>
            <a:off x="4633595" y="1088272"/>
            <a:ext cx="7558405" cy="1683860"/>
          </a:xfrm>
          <a:prstGeom prst="rect">
            <a:avLst/>
          </a:prstGeom>
          <a:solidFill>
            <a:srgbClr val="BA7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25689B3C-9496-49A6-BFDA-F07DCDDB1F9B}"/>
              </a:ext>
            </a:extLst>
          </p:cNvPr>
          <p:cNvSpPr/>
          <p:nvPr/>
        </p:nvSpPr>
        <p:spPr>
          <a:xfrm>
            <a:off x="8275007" y="1262409"/>
            <a:ext cx="3536628" cy="123110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80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Arial"/>
              </a:rPr>
              <a:t>3亿</a:t>
            </a:r>
            <a:endParaRPr lang="en-US" sz="8000" dirty="0">
              <a:solidFill>
                <a:schemeClr val="tx1">
                  <a:lumMod val="95000"/>
                  <a:lumOff val="5000"/>
                </a:schemeClr>
              </a:solidFill>
              <a:latin typeface="MiSans VF Regular" pitchFamily="2" charset="-122"/>
              <a:ea typeface="MiSans VF Regular" pitchFamily="2" charset="-122"/>
              <a:cs typeface="MiSans VF Regular" pitchFamily="2" charset="-122"/>
            </a:endParaRPr>
          </a:p>
        </p:txBody>
      </p:sp>
      <p:sp>
        <p:nvSpPr>
          <p:cNvPr id="15" name="AutoShape 10">
            <a:extLst>
              <a:ext uri="{FF2B5EF4-FFF2-40B4-BE49-F238E27FC236}">
                <a16:creationId xmlns:a16="http://schemas.microsoft.com/office/drawing/2014/main" id="{F195925C-0B01-29D1-F354-2FBA38C42B06}"/>
              </a:ext>
            </a:extLst>
          </p:cNvPr>
          <p:cNvSpPr/>
          <p:nvPr/>
        </p:nvSpPr>
        <p:spPr>
          <a:xfrm>
            <a:off x="4907759" y="1396310"/>
            <a:ext cx="2758869" cy="23487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全职岗位内容受影响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5F1D880-FA3A-0150-8697-78765C8A8F0B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19" name="AutoShape 2">
              <a:extLst>
                <a:ext uri="{FF2B5EF4-FFF2-40B4-BE49-F238E27FC236}">
                  <a16:creationId xmlns:a16="http://schemas.microsoft.com/office/drawing/2014/main" id="{1C5F9F9A-86DB-71A2-CA84-73BC7B3CBD05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20" name="AutoShape 2">
              <a:extLst>
                <a:ext uri="{FF2B5EF4-FFF2-40B4-BE49-F238E27FC236}">
                  <a16:creationId xmlns:a16="http://schemas.microsoft.com/office/drawing/2014/main" id="{0F979B29-B999-7062-50BD-F201920FD3D2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</a:t>
              </a: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</p:grpSp>
      <p:sp>
        <p:nvSpPr>
          <p:cNvPr id="21" name="AutoShape 2">
            <a:extLst>
              <a:ext uri="{FF2B5EF4-FFF2-40B4-BE49-F238E27FC236}">
                <a16:creationId xmlns:a16="http://schemas.microsoft.com/office/drawing/2014/main" id="{94714119-2147-2495-328B-C8DFCE3E0EF3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78C8711-3AC8-6DBD-010B-8633FC49100A}"/>
              </a:ext>
            </a:extLst>
          </p:cNvPr>
          <p:cNvSpPr txBox="1"/>
          <p:nvPr/>
        </p:nvSpPr>
        <p:spPr>
          <a:xfrm>
            <a:off x="482551" y="1054293"/>
            <a:ext cx="354076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indent="0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400" u="none" strike="noStrike" dirty="0">
                <a:solidFill>
                  <a:srgbClr val="A855F7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Global Survey</a:t>
            </a:r>
            <a:endParaRPr lang="en-US" altLang="zh-CN" sz="1100" dirty="0">
              <a:solidFill>
                <a:srgbClr val="A855F7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57259FE-3779-84F7-7E68-DCED6B25BAE2}"/>
              </a:ext>
            </a:extLst>
          </p:cNvPr>
          <p:cNvSpPr/>
          <p:nvPr/>
        </p:nvSpPr>
        <p:spPr>
          <a:xfrm>
            <a:off x="4633595" y="2777655"/>
            <a:ext cx="7558405" cy="1683860"/>
          </a:xfrm>
          <a:prstGeom prst="rect">
            <a:avLst/>
          </a:prstGeom>
          <a:solidFill>
            <a:srgbClr val="2DED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AutoShape 4">
            <a:extLst>
              <a:ext uri="{FF2B5EF4-FFF2-40B4-BE49-F238E27FC236}">
                <a16:creationId xmlns:a16="http://schemas.microsoft.com/office/drawing/2014/main" id="{B08F7CBD-0455-18DF-634B-0A058757B9E5}"/>
              </a:ext>
            </a:extLst>
          </p:cNvPr>
          <p:cNvSpPr/>
          <p:nvPr/>
        </p:nvSpPr>
        <p:spPr>
          <a:xfrm>
            <a:off x="8275007" y="3024954"/>
            <a:ext cx="3536628" cy="123110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80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Arial"/>
              </a:rPr>
              <a:t>72%</a:t>
            </a:r>
            <a:endParaRPr lang="en-US" sz="8000" dirty="0">
              <a:solidFill>
                <a:schemeClr val="tx1">
                  <a:lumMod val="95000"/>
                  <a:lumOff val="5000"/>
                </a:schemeClr>
              </a:solidFill>
              <a:latin typeface="MiSans VF Regular" pitchFamily="2" charset="-122"/>
              <a:ea typeface="MiSans VF Regular" pitchFamily="2" charset="-122"/>
              <a:cs typeface="MiSans VF Regular" pitchFamily="2" charset="-122"/>
            </a:endParaRPr>
          </a:p>
        </p:txBody>
      </p:sp>
      <p:sp>
        <p:nvSpPr>
          <p:cNvPr id="26" name="AutoShape 10">
            <a:extLst>
              <a:ext uri="{FF2B5EF4-FFF2-40B4-BE49-F238E27FC236}">
                <a16:creationId xmlns:a16="http://schemas.microsoft.com/office/drawing/2014/main" id="{363DAC22-FC13-A050-3CF7-6FB977373B0E}"/>
              </a:ext>
            </a:extLst>
          </p:cNvPr>
          <p:cNvSpPr/>
          <p:nvPr/>
        </p:nvSpPr>
        <p:spPr>
          <a:xfrm>
            <a:off x="4907759" y="3158855"/>
            <a:ext cx="2758869" cy="23487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16666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4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72% </a:t>
            </a:r>
            <a:r>
              <a:rPr lang="zh-CN" altLang="en-US" sz="14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的组织已在职能中使用 </a:t>
            </a:r>
            <a:r>
              <a:rPr lang="en-US" sz="14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 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677C80C-152E-BAED-5673-7B08CEB05C3B}"/>
              </a:ext>
            </a:extLst>
          </p:cNvPr>
          <p:cNvSpPr/>
          <p:nvPr/>
        </p:nvSpPr>
        <p:spPr>
          <a:xfrm>
            <a:off x="4633595" y="4461515"/>
            <a:ext cx="7558405" cy="1683860"/>
          </a:xfrm>
          <a:prstGeom prst="rect">
            <a:avLst/>
          </a:prstGeom>
          <a:solidFill>
            <a:srgbClr val="FFF0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AutoShape 4">
            <a:extLst>
              <a:ext uri="{FF2B5EF4-FFF2-40B4-BE49-F238E27FC236}">
                <a16:creationId xmlns:a16="http://schemas.microsoft.com/office/drawing/2014/main" id="{A40C39F7-C535-4197-7133-3709D4DCE185}"/>
              </a:ext>
            </a:extLst>
          </p:cNvPr>
          <p:cNvSpPr/>
          <p:nvPr/>
        </p:nvSpPr>
        <p:spPr>
          <a:xfrm>
            <a:off x="8275007" y="4682652"/>
            <a:ext cx="3536628" cy="123110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80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Arial"/>
              </a:rPr>
              <a:t>88%</a:t>
            </a:r>
            <a:endParaRPr lang="en-US" sz="8000" dirty="0">
              <a:solidFill>
                <a:schemeClr val="tx1">
                  <a:lumMod val="95000"/>
                  <a:lumOff val="5000"/>
                </a:schemeClr>
              </a:solidFill>
              <a:latin typeface="MiSans VF Regular" pitchFamily="2" charset="-122"/>
              <a:ea typeface="MiSans VF Regular" pitchFamily="2" charset="-122"/>
              <a:cs typeface="MiSans VF Regular" pitchFamily="2" charset="-122"/>
            </a:endParaRPr>
          </a:p>
        </p:txBody>
      </p:sp>
      <p:sp>
        <p:nvSpPr>
          <p:cNvPr id="29" name="AutoShape 10">
            <a:extLst>
              <a:ext uri="{FF2B5EF4-FFF2-40B4-BE49-F238E27FC236}">
                <a16:creationId xmlns:a16="http://schemas.microsoft.com/office/drawing/2014/main" id="{39D2EE10-6215-9BF4-B592-B86A44CA8C45}"/>
              </a:ext>
            </a:extLst>
          </p:cNvPr>
          <p:cNvSpPr/>
          <p:nvPr/>
        </p:nvSpPr>
        <p:spPr>
          <a:xfrm>
            <a:off x="4907759" y="4816553"/>
            <a:ext cx="2758869" cy="48692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16666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4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2025</a:t>
            </a:r>
            <a:r>
              <a:rPr lang="zh-CN" altLang="en-US" sz="14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年公司常规工作中使用</a:t>
            </a:r>
            <a:r>
              <a:rPr lang="en-US" altLang="zh-CN" sz="14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AI </a:t>
            </a:r>
            <a:r>
              <a:rPr lang="zh-CN" altLang="en-US" sz="14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的比例预测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7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3">
            <a:extLst>
              <a:ext uri="{FF2B5EF4-FFF2-40B4-BE49-F238E27FC236}">
                <a16:creationId xmlns:a16="http://schemas.microsoft.com/office/drawing/2014/main" id="{1177F007-44D0-F35B-D1ED-528856861EC1}"/>
              </a:ext>
            </a:extLst>
          </p:cNvPr>
          <p:cNvSpPr/>
          <p:nvPr/>
        </p:nvSpPr>
        <p:spPr>
          <a:xfrm>
            <a:off x="484455" y="832699"/>
            <a:ext cx="3344969" cy="5356874"/>
          </a:xfrm>
          <a:prstGeom prst="roundRect">
            <a:avLst>
              <a:gd name="adj" fmla="val 10003"/>
            </a:avLst>
          </a:prstGeom>
          <a:solidFill>
            <a:schemeClr val="tx1">
              <a:lumMod val="85000"/>
              <a:lumOff val="1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400" u="none" strike="noStrike" dirty="0">
              <a:solidFill>
                <a:srgbClr val="000000">
                  <a:alpha val="100000"/>
                </a:srgbClr>
              </a:solidFill>
              <a:highlight>
                <a:srgbClr val="3B2559">
                  <a:alpha val="100000"/>
                </a:srgbClr>
              </a:highlight>
              <a:latin typeface="MiSans VF Semibold" pitchFamily="2" charset="-122"/>
              <a:ea typeface="MiSans VF Semibold" pitchFamily="2" charset="-122"/>
              <a:cs typeface="MiSans VF Semibold" pitchFamily="2" charset="-122"/>
              <a:sym typeface="Arial"/>
            </a:endParaRPr>
          </a:p>
        </p:txBody>
      </p:sp>
      <p:cxnSp>
        <p:nvCxnSpPr>
          <p:cNvPr id="154" name="Connector 3"/>
          <p:cNvCxnSpPr/>
          <p:nvPr/>
        </p:nvCxnSpPr>
        <p:spPr>
          <a:xfrm rot="869462">
            <a:off x="6093619" y="3351035"/>
            <a:ext cx="2155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2" name="AutoShape 2">
            <a:extLst>
              <a:ext uri="{FF2B5EF4-FFF2-40B4-BE49-F238E27FC236}">
                <a16:creationId xmlns:a16="http://schemas.microsoft.com/office/drawing/2014/main" id="{AF9A17A5-3DD1-A842-C16D-EFF33C73B11D}"/>
              </a:ext>
            </a:extLst>
          </p:cNvPr>
          <p:cNvSpPr/>
          <p:nvPr/>
        </p:nvSpPr>
        <p:spPr>
          <a:xfrm>
            <a:off x="784852" y="2080178"/>
            <a:ext cx="2776649" cy="738664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AI </a:t>
            </a:r>
            <a:r>
              <a:rPr lang="zh-CN" altLang="en-US" sz="2400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时代</a:t>
            </a:r>
            <a:r>
              <a:rPr lang="zh-CN" altLang="en-US" sz="24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的</a:t>
            </a:r>
          </a:p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24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高效工作方式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545C371-9566-A956-C772-7E939209C4B2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5" name="AutoShape 2">
              <a:extLst>
                <a:ext uri="{FF2B5EF4-FFF2-40B4-BE49-F238E27FC236}">
                  <a16:creationId xmlns:a16="http://schemas.microsoft.com/office/drawing/2014/main" id="{F4A74F7C-1A49-EA9C-6629-B4829CC2234A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6" name="AutoShape 2">
              <a:extLst>
                <a:ext uri="{FF2B5EF4-FFF2-40B4-BE49-F238E27FC236}">
                  <a16:creationId xmlns:a16="http://schemas.microsoft.com/office/drawing/2014/main" id="{171A62BF-D5DE-9414-EAC5-2F19640CAAEF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05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7" name="AutoShape 2">
            <a:extLst>
              <a:ext uri="{FF2B5EF4-FFF2-40B4-BE49-F238E27FC236}">
                <a16:creationId xmlns:a16="http://schemas.microsoft.com/office/drawing/2014/main" id="{FA7388F4-2233-83E0-B458-9DC9B15B055A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2" name="AutoShape 3">
            <a:extLst>
              <a:ext uri="{FF2B5EF4-FFF2-40B4-BE49-F238E27FC236}">
                <a16:creationId xmlns:a16="http://schemas.microsoft.com/office/drawing/2014/main" id="{B6C8BCE5-EDBE-493A-235D-5458C156B78F}"/>
              </a:ext>
            </a:extLst>
          </p:cNvPr>
          <p:cNvSpPr/>
          <p:nvPr/>
        </p:nvSpPr>
        <p:spPr>
          <a:xfrm>
            <a:off x="784852" y="4752295"/>
            <a:ext cx="2776649" cy="41742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16666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1200" dirty="0">
                <a:solidFill>
                  <a:schemeClr val="bg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把重复交给模型，把判断留给人；让个人效率、团队知识与业务流程形成闭环。</a:t>
            </a:r>
            <a:endParaRPr lang="en-US" altLang="zh-CN" sz="1200" dirty="0">
              <a:solidFill>
                <a:schemeClr val="bg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4" name="AutoShape 2">
            <a:extLst>
              <a:ext uri="{FF2B5EF4-FFF2-40B4-BE49-F238E27FC236}">
                <a16:creationId xmlns:a16="http://schemas.microsoft.com/office/drawing/2014/main" id="{7937CEA2-C36E-88F6-D405-F2042C131AC8}"/>
              </a:ext>
            </a:extLst>
          </p:cNvPr>
          <p:cNvSpPr/>
          <p:nvPr/>
        </p:nvSpPr>
        <p:spPr>
          <a:xfrm>
            <a:off x="784853" y="1193486"/>
            <a:ext cx="2776648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4000" u="none" strike="noStrike" dirty="0">
                <a:solidFill>
                  <a:schemeClr val="bg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</a:rPr>
              <a:t>80%</a:t>
            </a:r>
            <a:endParaRPr lang="zh-CN" altLang="en-US" sz="4000" u="none" strike="noStrike" dirty="0">
              <a:solidFill>
                <a:schemeClr val="bg1"/>
              </a:solidFill>
              <a:latin typeface="MiSans VF Regular" pitchFamily="2" charset="-122"/>
              <a:ea typeface="MiSans VF Regular" pitchFamily="2" charset="-122"/>
              <a:cs typeface="MiSans VF Regular" pitchFamily="2" charset="-122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0809A9F-7BE7-B0E7-E32A-22FC2F3B772C}"/>
              </a:ext>
            </a:extLst>
          </p:cNvPr>
          <p:cNvGrpSpPr/>
          <p:nvPr/>
        </p:nvGrpSpPr>
        <p:grpSpPr>
          <a:xfrm>
            <a:off x="3861637" y="832699"/>
            <a:ext cx="2604187" cy="2663875"/>
            <a:chOff x="3861637" y="832699"/>
            <a:chExt cx="2604187" cy="2663875"/>
          </a:xfrm>
        </p:grpSpPr>
        <p:sp>
          <p:nvSpPr>
            <p:cNvPr id="15" name="AutoShape 3">
              <a:extLst>
                <a:ext uri="{FF2B5EF4-FFF2-40B4-BE49-F238E27FC236}">
                  <a16:creationId xmlns:a16="http://schemas.microsoft.com/office/drawing/2014/main" id="{1F1910A4-F271-C9F6-B408-3C77B284137A}"/>
                </a:ext>
              </a:extLst>
            </p:cNvPr>
            <p:cNvSpPr/>
            <p:nvPr/>
          </p:nvSpPr>
          <p:spPr>
            <a:xfrm>
              <a:off x="3861637" y="832699"/>
              <a:ext cx="2604187" cy="2663875"/>
            </a:xfrm>
            <a:prstGeom prst="roundRect">
              <a:avLst>
                <a:gd name="adj" fmla="val 11489"/>
              </a:avLst>
            </a:prstGeom>
            <a:solidFill>
              <a:schemeClr val="bg1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101600" tIns="101600" rIns="101600" bIns="101600" rtlCol="0" anchor="ctr" anchorCtr="0"/>
            <a:lstStyle/>
            <a:p>
              <a:pPr indent="0" algn="ctr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lang="en-US" sz="1400" u="none" strike="noStrike" dirty="0">
                <a:solidFill>
                  <a:srgbClr val="000000">
                    <a:alpha val="100000"/>
                  </a:srgbClr>
                </a:solidFill>
                <a:highlight>
                  <a:srgbClr val="3B2559">
                    <a:alpha val="10000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endParaRPr>
            </a:p>
          </p:txBody>
        </p:sp>
        <p:sp>
          <p:nvSpPr>
            <p:cNvPr id="27" name="AutoShape 3">
              <a:extLst>
                <a:ext uri="{FF2B5EF4-FFF2-40B4-BE49-F238E27FC236}">
                  <a16:creationId xmlns:a16="http://schemas.microsoft.com/office/drawing/2014/main" id="{3288F774-F10C-2D25-22A8-03D9FEC9B496}"/>
                </a:ext>
              </a:extLst>
            </p:cNvPr>
            <p:cNvSpPr/>
            <p:nvPr/>
          </p:nvSpPr>
          <p:spPr>
            <a:xfrm>
              <a:off x="4129822" y="1193486"/>
              <a:ext cx="1986597" cy="201337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/>
                  </a:solidFill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</a:rPr>
                <a:t>从搜索到对话</a:t>
              </a:r>
            </a:p>
          </p:txBody>
        </p:sp>
        <p:sp>
          <p:nvSpPr>
            <p:cNvPr id="29" name="AutoShape 2">
              <a:extLst>
                <a:ext uri="{FF2B5EF4-FFF2-40B4-BE49-F238E27FC236}">
                  <a16:creationId xmlns:a16="http://schemas.microsoft.com/office/drawing/2014/main" id="{550FE7EE-97AB-11E9-5107-1B7B02E1E399}"/>
                </a:ext>
              </a:extLst>
            </p:cNvPr>
            <p:cNvSpPr/>
            <p:nvPr/>
          </p:nvSpPr>
          <p:spPr>
            <a:xfrm>
              <a:off x="4129821" y="2024758"/>
              <a:ext cx="1986597" cy="615553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indent="0" algn="l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altLang="zh-CN" sz="4000" u="none" strike="noStrike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3x</a:t>
              </a:r>
              <a:endParaRPr lang="zh-CN" altLang="en-US" sz="4000" u="none" strike="noStrike" dirty="0">
                <a:solidFill>
                  <a:schemeClr val="tx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</a:endParaRPr>
            </a:p>
          </p:txBody>
        </p:sp>
        <p:sp>
          <p:nvSpPr>
            <p:cNvPr id="31" name="AutoShape 3">
              <a:extLst>
                <a:ext uri="{FF2B5EF4-FFF2-40B4-BE49-F238E27FC236}">
                  <a16:creationId xmlns:a16="http://schemas.microsoft.com/office/drawing/2014/main" id="{983C709B-B03C-5D27-EC6E-13CE881F065F}"/>
                </a:ext>
              </a:extLst>
            </p:cNvPr>
            <p:cNvSpPr/>
            <p:nvPr/>
          </p:nvSpPr>
          <p:spPr>
            <a:xfrm>
              <a:off x="4129822" y="2767159"/>
              <a:ext cx="2016140" cy="417422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>
                      <a:alpha val="6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</a:rPr>
                <a:t>资料检索、摘要与初稿生成更快，先形成可讨论版本。</a:t>
              </a:r>
              <a:endParaRPr lang="en-US" altLang="zh-CN" sz="1200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EDAC5F1-EBEE-23AC-297E-15F852E694F3}"/>
              </a:ext>
            </a:extLst>
          </p:cNvPr>
          <p:cNvGrpSpPr/>
          <p:nvPr/>
        </p:nvGrpSpPr>
        <p:grpSpPr>
          <a:xfrm>
            <a:off x="6495367" y="832699"/>
            <a:ext cx="2604187" cy="2663875"/>
            <a:chOff x="3861637" y="832699"/>
            <a:chExt cx="2604187" cy="2663875"/>
          </a:xfrm>
        </p:grpSpPr>
        <p:sp>
          <p:nvSpPr>
            <p:cNvPr id="34" name="AutoShape 3">
              <a:extLst>
                <a:ext uri="{FF2B5EF4-FFF2-40B4-BE49-F238E27FC236}">
                  <a16:creationId xmlns:a16="http://schemas.microsoft.com/office/drawing/2014/main" id="{E49AA3C8-0D06-526B-999C-78F0C917CBA0}"/>
                </a:ext>
              </a:extLst>
            </p:cNvPr>
            <p:cNvSpPr/>
            <p:nvPr/>
          </p:nvSpPr>
          <p:spPr>
            <a:xfrm>
              <a:off x="3861637" y="832699"/>
              <a:ext cx="2604187" cy="2663875"/>
            </a:xfrm>
            <a:prstGeom prst="roundRect">
              <a:avLst>
                <a:gd name="adj" fmla="val 11489"/>
              </a:avLst>
            </a:prstGeom>
            <a:solidFill>
              <a:schemeClr val="bg1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101600" tIns="101600" rIns="101600" bIns="101600" rtlCol="0" anchor="ctr" anchorCtr="0"/>
            <a:lstStyle/>
            <a:p>
              <a:pPr indent="0" algn="ctr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lang="en-US" sz="1400" u="none" strike="noStrike" dirty="0">
                <a:solidFill>
                  <a:srgbClr val="000000">
                    <a:alpha val="100000"/>
                  </a:srgbClr>
                </a:solidFill>
                <a:highlight>
                  <a:srgbClr val="3B2559">
                    <a:alpha val="10000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endParaRPr>
            </a:p>
          </p:txBody>
        </p:sp>
        <p:sp>
          <p:nvSpPr>
            <p:cNvPr id="35" name="AutoShape 3">
              <a:extLst>
                <a:ext uri="{FF2B5EF4-FFF2-40B4-BE49-F238E27FC236}">
                  <a16:creationId xmlns:a16="http://schemas.microsoft.com/office/drawing/2014/main" id="{021D7344-4229-CA8D-1E95-209AA44AC1D0}"/>
                </a:ext>
              </a:extLst>
            </p:cNvPr>
            <p:cNvSpPr/>
            <p:nvPr/>
          </p:nvSpPr>
          <p:spPr>
            <a:xfrm>
              <a:off x="4129822" y="1193486"/>
              <a:ext cx="1986597" cy="201337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/>
                  </a:solidFill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</a:rPr>
                <a:t>从任务到流程</a:t>
              </a:r>
              <a:endParaRPr lang="en-US" altLang="zh-CN" sz="1200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36" name="AutoShape 2">
              <a:extLst>
                <a:ext uri="{FF2B5EF4-FFF2-40B4-BE49-F238E27FC236}">
                  <a16:creationId xmlns:a16="http://schemas.microsoft.com/office/drawing/2014/main" id="{4963067A-AAE6-74A5-8EC9-C9C858FBAB77}"/>
                </a:ext>
              </a:extLst>
            </p:cNvPr>
            <p:cNvSpPr/>
            <p:nvPr/>
          </p:nvSpPr>
          <p:spPr>
            <a:xfrm>
              <a:off x="4129821" y="2024758"/>
              <a:ext cx="1986597" cy="615553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indent="0" algn="l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altLang="zh-CN" sz="4000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30%</a:t>
              </a:r>
              <a:endParaRPr lang="zh-CN" altLang="en-US" sz="4000" u="none" strike="noStrike" dirty="0">
                <a:solidFill>
                  <a:schemeClr val="tx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</a:endParaRPr>
            </a:p>
          </p:txBody>
        </p:sp>
        <p:sp>
          <p:nvSpPr>
            <p:cNvPr id="37" name="AutoShape 3">
              <a:extLst>
                <a:ext uri="{FF2B5EF4-FFF2-40B4-BE49-F238E27FC236}">
                  <a16:creationId xmlns:a16="http://schemas.microsoft.com/office/drawing/2014/main" id="{9EB38F79-F54E-81D6-76D0-CD7F9E07602D}"/>
                </a:ext>
              </a:extLst>
            </p:cNvPr>
            <p:cNvSpPr/>
            <p:nvPr/>
          </p:nvSpPr>
          <p:spPr>
            <a:xfrm>
              <a:off x="4129822" y="2767159"/>
              <a:ext cx="2016140" cy="417422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>
                      <a:alpha val="6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</a:rPr>
                <a:t>把重复步骤沉淀为模板，让交付质量不依赖临场发挥。</a:t>
              </a:r>
              <a:endParaRPr lang="en-US" altLang="zh-CN" sz="1200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5AF7D9B2-9A67-F476-EDC0-FF580821DEA8}"/>
              </a:ext>
            </a:extLst>
          </p:cNvPr>
          <p:cNvGrpSpPr/>
          <p:nvPr/>
        </p:nvGrpSpPr>
        <p:grpSpPr>
          <a:xfrm>
            <a:off x="9129097" y="832699"/>
            <a:ext cx="2604187" cy="2663875"/>
            <a:chOff x="3861637" y="832699"/>
            <a:chExt cx="2604187" cy="2663875"/>
          </a:xfrm>
        </p:grpSpPr>
        <p:sp>
          <p:nvSpPr>
            <p:cNvPr id="39" name="AutoShape 3">
              <a:extLst>
                <a:ext uri="{FF2B5EF4-FFF2-40B4-BE49-F238E27FC236}">
                  <a16:creationId xmlns:a16="http://schemas.microsoft.com/office/drawing/2014/main" id="{98B7ECEC-3316-7088-0F14-A7926D11DC0E}"/>
                </a:ext>
              </a:extLst>
            </p:cNvPr>
            <p:cNvSpPr/>
            <p:nvPr/>
          </p:nvSpPr>
          <p:spPr>
            <a:xfrm>
              <a:off x="3861637" y="832699"/>
              <a:ext cx="2604187" cy="2663875"/>
            </a:xfrm>
            <a:prstGeom prst="roundRect">
              <a:avLst>
                <a:gd name="adj" fmla="val 11489"/>
              </a:avLst>
            </a:prstGeom>
            <a:solidFill>
              <a:schemeClr val="bg1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101600" tIns="101600" rIns="101600" bIns="101600" rtlCol="0" anchor="ctr" anchorCtr="0"/>
            <a:lstStyle/>
            <a:p>
              <a:pPr indent="0" algn="ctr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lang="en-US" sz="1400" u="none" strike="noStrike" dirty="0">
                <a:solidFill>
                  <a:srgbClr val="000000">
                    <a:alpha val="100000"/>
                  </a:srgbClr>
                </a:solidFill>
                <a:highlight>
                  <a:srgbClr val="3B2559">
                    <a:alpha val="10000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endParaRPr>
            </a:p>
          </p:txBody>
        </p:sp>
        <p:sp>
          <p:nvSpPr>
            <p:cNvPr id="40" name="AutoShape 3">
              <a:extLst>
                <a:ext uri="{FF2B5EF4-FFF2-40B4-BE49-F238E27FC236}">
                  <a16:creationId xmlns:a16="http://schemas.microsoft.com/office/drawing/2014/main" id="{5EC0055C-8829-A787-1E87-5E0ABEB3C2F3}"/>
                </a:ext>
              </a:extLst>
            </p:cNvPr>
            <p:cNvSpPr/>
            <p:nvPr/>
          </p:nvSpPr>
          <p:spPr>
            <a:xfrm>
              <a:off x="4129822" y="1193486"/>
              <a:ext cx="1986597" cy="201337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/>
                  </a:solidFill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</a:rPr>
                <a:t>从经验到知识库</a:t>
              </a:r>
              <a:endParaRPr lang="en-US" altLang="zh-CN" sz="1200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41" name="AutoShape 2">
              <a:extLst>
                <a:ext uri="{FF2B5EF4-FFF2-40B4-BE49-F238E27FC236}">
                  <a16:creationId xmlns:a16="http://schemas.microsoft.com/office/drawing/2014/main" id="{6A6CC89F-5D72-BB9F-E45C-7B73BC674956}"/>
                </a:ext>
              </a:extLst>
            </p:cNvPr>
            <p:cNvSpPr/>
            <p:nvPr/>
          </p:nvSpPr>
          <p:spPr>
            <a:xfrm>
              <a:off x="4129821" y="2024758"/>
              <a:ext cx="1986597" cy="615553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indent="0" algn="l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altLang="zh-CN" sz="4000" u="none" strike="noStrike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24h</a:t>
              </a:r>
              <a:endParaRPr lang="zh-CN" altLang="en-US" sz="4000" u="none" strike="noStrike" dirty="0">
                <a:solidFill>
                  <a:schemeClr val="tx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</a:endParaRPr>
            </a:p>
          </p:txBody>
        </p:sp>
        <p:sp>
          <p:nvSpPr>
            <p:cNvPr id="42" name="AutoShape 3">
              <a:extLst>
                <a:ext uri="{FF2B5EF4-FFF2-40B4-BE49-F238E27FC236}">
                  <a16:creationId xmlns:a16="http://schemas.microsoft.com/office/drawing/2014/main" id="{F27348DD-0909-FB22-85B5-5CF95324B86D}"/>
                </a:ext>
              </a:extLst>
            </p:cNvPr>
            <p:cNvSpPr/>
            <p:nvPr/>
          </p:nvSpPr>
          <p:spPr>
            <a:xfrm>
              <a:off x="4129822" y="2767159"/>
              <a:ext cx="2016140" cy="417422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>
                      <a:alpha val="6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</a:rPr>
                <a:t>会议、项目与客户信息即时归档，随时可被检索和复用。</a:t>
              </a:r>
              <a:endParaRPr lang="en-US" altLang="zh-CN" sz="1200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22E029C4-67FD-BFD0-2275-A9572FD41727}"/>
              </a:ext>
            </a:extLst>
          </p:cNvPr>
          <p:cNvGrpSpPr/>
          <p:nvPr/>
        </p:nvGrpSpPr>
        <p:grpSpPr>
          <a:xfrm>
            <a:off x="3861637" y="3520480"/>
            <a:ext cx="2604187" cy="2663875"/>
            <a:chOff x="3861637" y="832699"/>
            <a:chExt cx="2604187" cy="2663875"/>
          </a:xfrm>
        </p:grpSpPr>
        <p:sp>
          <p:nvSpPr>
            <p:cNvPr id="44" name="AutoShape 3">
              <a:extLst>
                <a:ext uri="{FF2B5EF4-FFF2-40B4-BE49-F238E27FC236}">
                  <a16:creationId xmlns:a16="http://schemas.microsoft.com/office/drawing/2014/main" id="{E9A4B855-9813-2E38-3634-3FE8A225383B}"/>
                </a:ext>
              </a:extLst>
            </p:cNvPr>
            <p:cNvSpPr/>
            <p:nvPr/>
          </p:nvSpPr>
          <p:spPr>
            <a:xfrm>
              <a:off x="3861637" y="832699"/>
              <a:ext cx="2604187" cy="2663875"/>
            </a:xfrm>
            <a:prstGeom prst="roundRect">
              <a:avLst>
                <a:gd name="adj" fmla="val 11489"/>
              </a:avLst>
            </a:prstGeom>
            <a:solidFill>
              <a:schemeClr val="bg1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101600" tIns="101600" rIns="101600" bIns="101600" rtlCol="0" anchor="ctr" anchorCtr="0"/>
            <a:lstStyle/>
            <a:p>
              <a:pPr indent="0" algn="ctr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lang="en-US" sz="1400" u="none" strike="noStrike" dirty="0">
                <a:solidFill>
                  <a:srgbClr val="000000">
                    <a:alpha val="100000"/>
                  </a:srgbClr>
                </a:solidFill>
                <a:highlight>
                  <a:srgbClr val="3B2559">
                    <a:alpha val="10000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endParaRPr>
            </a:p>
          </p:txBody>
        </p:sp>
        <p:sp>
          <p:nvSpPr>
            <p:cNvPr id="45" name="AutoShape 3">
              <a:extLst>
                <a:ext uri="{FF2B5EF4-FFF2-40B4-BE49-F238E27FC236}">
                  <a16:creationId xmlns:a16="http://schemas.microsoft.com/office/drawing/2014/main" id="{E58A9B70-D8D8-B84F-3161-2A13C2ED198C}"/>
                </a:ext>
              </a:extLst>
            </p:cNvPr>
            <p:cNvSpPr/>
            <p:nvPr/>
          </p:nvSpPr>
          <p:spPr>
            <a:xfrm>
              <a:off x="4129822" y="1193486"/>
              <a:ext cx="1986597" cy="201337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/>
                  </a:solidFill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</a:rPr>
                <a:t>从执行到判断</a:t>
              </a:r>
              <a:endParaRPr lang="en-US" altLang="zh-CN" sz="1200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46" name="AutoShape 2">
              <a:extLst>
                <a:ext uri="{FF2B5EF4-FFF2-40B4-BE49-F238E27FC236}">
                  <a16:creationId xmlns:a16="http://schemas.microsoft.com/office/drawing/2014/main" id="{C8856D3E-CDEA-394F-1753-332EBDA3EA9C}"/>
                </a:ext>
              </a:extLst>
            </p:cNvPr>
            <p:cNvSpPr/>
            <p:nvPr/>
          </p:nvSpPr>
          <p:spPr>
            <a:xfrm>
              <a:off x="4129821" y="2024758"/>
              <a:ext cx="1986597" cy="615553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indent="0" algn="l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altLang="zh-CN" sz="4000" u="none" strike="noStrike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1</a:t>
              </a:r>
              <a:r>
                <a:rPr lang="zh-CN" altLang="en-US" sz="4000" u="none" strike="noStrike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人</a:t>
              </a:r>
            </a:p>
          </p:txBody>
        </p:sp>
        <p:sp>
          <p:nvSpPr>
            <p:cNvPr id="47" name="AutoShape 3">
              <a:extLst>
                <a:ext uri="{FF2B5EF4-FFF2-40B4-BE49-F238E27FC236}">
                  <a16:creationId xmlns:a16="http://schemas.microsoft.com/office/drawing/2014/main" id="{8E962B20-1BE1-AE60-6028-FB63A17427B7}"/>
                </a:ext>
              </a:extLst>
            </p:cNvPr>
            <p:cNvSpPr/>
            <p:nvPr/>
          </p:nvSpPr>
          <p:spPr>
            <a:xfrm>
              <a:off x="4129822" y="2767159"/>
              <a:ext cx="2016140" cy="417422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>
                      <a:alpha val="6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</a:rPr>
                <a:t>个人拥有研究、写作、分析、排版等多角色协作能力。</a:t>
              </a:r>
              <a:endParaRPr lang="en-US" altLang="zh-CN" sz="1200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6243F045-4121-2D55-BCF1-C33D51A5FD57}"/>
              </a:ext>
            </a:extLst>
          </p:cNvPr>
          <p:cNvGrpSpPr/>
          <p:nvPr/>
        </p:nvGrpSpPr>
        <p:grpSpPr>
          <a:xfrm>
            <a:off x="6495367" y="3520480"/>
            <a:ext cx="2604187" cy="2663875"/>
            <a:chOff x="3861637" y="832699"/>
            <a:chExt cx="2604187" cy="2663875"/>
          </a:xfrm>
        </p:grpSpPr>
        <p:sp>
          <p:nvSpPr>
            <p:cNvPr id="49" name="AutoShape 3">
              <a:extLst>
                <a:ext uri="{FF2B5EF4-FFF2-40B4-BE49-F238E27FC236}">
                  <a16:creationId xmlns:a16="http://schemas.microsoft.com/office/drawing/2014/main" id="{5F02B0C6-83DA-1343-A59D-AA88568FA853}"/>
                </a:ext>
              </a:extLst>
            </p:cNvPr>
            <p:cNvSpPr/>
            <p:nvPr/>
          </p:nvSpPr>
          <p:spPr>
            <a:xfrm>
              <a:off x="3861637" y="832699"/>
              <a:ext cx="2604187" cy="2663875"/>
            </a:xfrm>
            <a:prstGeom prst="roundRect">
              <a:avLst>
                <a:gd name="adj" fmla="val 11489"/>
              </a:avLst>
            </a:prstGeom>
            <a:solidFill>
              <a:schemeClr val="bg1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101600" tIns="101600" rIns="101600" bIns="101600" rtlCol="0" anchor="ctr" anchorCtr="0"/>
            <a:lstStyle/>
            <a:p>
              <a:pPr indent="0" algn="ctr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lang="en-US" sz="1400" u="none" strike="noStrike" dirty="0">
                <a:solidFill>
                  <a:srgbClr val="000000">
                    <a:alpha val="100000"/>
                  </a:srgbClr>
                </a:solidFill>
                <a:highlight>
                  <a:srgbClr val="3B2559">
                    <a:alpha val="10000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endParaRPr>
            </a:p>
          </p:txBody>
        </p:sp>
        <p:sp>
          <p:nvSpPr>
            <p:cNvPr id="50" name="AutoShape 3">
              <a:extLst>
                <a:ext uri="{FF2B5EF4-FFF2-40B4-BE49-F238E27FC236}">
                  <a16:creationId xmlns:a16="http://schemas.microsoft.com/office/drawing/2014/main" id="{97F5CC76-60F2-B402-5142-72CC3AC1FC92}"/>
                </a:ext>
              </a:extLst>
            </p:cNvPr>
            <p:cNvSpPr/>
            <p:nvPr/>
          </p:nvSpPr>
          <p:spPr>
            <a:xfrm>
              <a:off x="4129822" y="1193486"/>
              <a:ext cx="1986597" cy="201337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/>
                  </a:solidFill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</a:rPr>
                <a:t>从单点到协同</a:t>
              </a:r>
              <a:endParaRPr lang="en-US" altLang="zh-CN" sz="1200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51" name="AutoShape 2">
              <a:extLst>
                <a:ext uri="{FF2B5EF4-FFF2-40B4-BE49-F238E27FC236}">
                  <a16:creationId xmlns:a16="http://schemas.microsoft.com/office/drawing/2014/main" id="{4BFB5B3D-29B6-D223-9767-FD595DC18AAF}"/>
                </a:ext>
              </a:extLst>
            </p:cNvPr>
            <p:cNvSpPr/>
            <p:nvPr/>
          </p:nvSpPr>
          <p:spPr>
            <a:xfrm>
              <a:off x="4129821" y="2024758"/>
              <a:ext cx="1986597" cy="615553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indent="0" algn="l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altLang="zh-CN" sz="4000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5</a:t>
              </a:r>
              <a:r>
                <a:rPr lang="zh-CN" altLang="en-US" sz="4000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步</a:t>
              </a:r>
              <a:endParaRPr lang="zh-CN" altLang="en-US" sz="4000" u="none" strike="noStrike" dirty="0">
                <a:solidFill>
                  <a:schemeClr val="tx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</a:endParaRPr>
            </a:p>
          </p:txBody>
        </p:sp>
        <p:sp>
          <p:nvSpPr>
            <p:cNvPr id="52" name="AutoShape 3">
              <a:extLst>
                <a:ext uri="{FF2B5EF4-FFF2-40B4-BE49-F238E27FC236}">
                  <a16:creationId xmlns:a16="http://schemas.microsoft.com/office/drawing/2014/main" id="{D278D6CA-FA21-3504-6AC0-078FCC442352}"/>
                </a:ext>
              </a:extLst>
            </p:cNvPr>
            <p:cNvSpPr/>
            <p:nvPr/>
          </p:nvSpPr>
          <p:spPr>
            <a:xfrm>
              <a:off x="4129822" y="2767159"/>
              <a:ext cx="2016140" cy="417422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>
                      <a:alpha val="6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</a:rPr>
                <a:t>提问、生成、校验、改写、发布，形成稳定的人机闭环。</a:t>
              </a:r>
              <a:endParaRPr lang="en-US" altLang="zh-CN" sz="1200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2FE7DFF8-C9A8-781F-E8F7-85D8D5436E9B}"/>
              </a:ext>
            </a:extLst>
          </p:cNvPr>
          <p:cNvGrpSpPr/>
          <p:nvPr/>
        </p:nvGrpSpPr>
        <p:grpSpPr>
          <a:xfrm>
            <a:off x="9129097" y="3520480"/>
            <a:ext cx="2604187" cy="2663875"/>
            <a:chOff x="3861637" y="832699"/>
            <a:chExt cx="2604187" cy="2663875"/>
          </a:xfrm>
        </p:grpSpPr>
        <p:sp>
          <p:nvSpPr>
            <p:cNvPr id="54" name="AutoShape 3">
              <a:extLst>
                <a:ext uri="{FF2B5EF4-FFF2-40B4-BE49-F238E27FC236}">
                  <a16:creationId xmlns:a16="http://schemas.microsoft.com/office/drawing/2014/main" id="{A29A2691-30E5-D9E0-6203-FD3A49E877A4}"/>
                </a:ext>
              </a:extLst>
            </p:cNvPr>
            <p:cNvSpPr/>
            <p:nvPr/>
          </p:nvSpPr>
          <p:spPr>
            <a:xfrm>
              <a:off x="3861637" y="832699"/>
              <a:ext cx="2604187" cy="2663875"/>
            </a:xfrm>
            <a:prstGeom prst="roundRect">
              <a:avLst>
                <a:gd name="adj" fmla="val 11489"/>
              </a:avLst>
            </a:prstGeom>
            <a:solidFill>
              <a:schemeClr val="bg1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101600" tIns="101600" rIns="101600" bIns="101600" rtlCol="0" anchor="ctr" anchorCtr="0"/>
            <a:lstStyle/>
            <a:p>
              <a:pPr indent="0" algn="ctr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lang="en-US" sz="1400" u="none" strike="noStrike" dirty="0">
                <a:solidFill>
                  <a:srgbClr val="000000">
                    <a:alpha val="100000"/>
                  </a:srgbClr>
                </a:solidFill>
                <a:highlight>
                  <a:srgbClr val="3B2559">
                    <a:alpha val="10000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endParaRPr>
            </a:p>
          </p:txBody>
        </p:sp>
        <p:sp>
          <p:nvSpPr>
            <p:cNvPr id="55" name="AutoShape 3">
              <a:extLst>
                <a:ext uri="{FF2B5EF4-FFF2-40B4-BE49-F238E27FC236}">
                  <a16:creationId xmlns:a16="http://schemas.microsoft.com/office/drawing/2014/main" id="{2C556E03-1564-03C0-72CE-EF6C507E5632}"/>
                </a:ext>
              </a:extLst>
            </p:cNvPr>
            <p:cNvSpPr/>
            <p:nvPr/>
          </p:nvSpPr>
          <p:spPr>
            <a:xfrm>
              <a:off x="4129822" y="1193486"/>
              <a:ext cx="1986597" cy="201337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/>
                  </a:solidFill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</a:rPr>
                <a:t>从速度到复利</a:t>
              </a:r>
              <a:endParaRPr lang="en-US" altLang="zh-CN" sz="1200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56" name="AutoShape 2">
              <a:extLst>
                <a:ext uri="{FF2B5EF4-FFF2-40B4-BE49-F238E27FC236}">
                  <a16:creationId xmlns:a16="http://schemas.microsoft.com/office/drawing/2014/main" id="{3C9F8BA8-907E-E146-B1DF-3A1DDB2AE46C}"/>
                </a:ext>
              </a:extLst>
            </p:cNvPr>
            <p:cNvSpPr/>
            <p:nvPr/>
          </p:nvSpPr>
          <p:spPr>
            <a:xfrm>
              <a:off x="4129821" y="2024758"/>
              <a:ext cx="1986597" cy="615553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indent="0" algn="l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altLang="zh-CN" sz="4000" u="none" strike="noStrike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100%</a:t>
              </a:r>
              <a:endParaRPr lang="zh-CN" altLang="en-US" sz="4000" u="none" strike="noStrike" dirty="0">
                <a:solidFill>
                  <a:schemeClr val="tx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</a:endParaRPr>
            </a:p>
          </p:txBody>
        </p:sp>
        <p:sp>
          <p:nvSpPr>
            <p:cNvPr id="57" name="AutoShape 3">
              <a:extLst>
                <a:ext uri="{FF2B5EF4-FFF2-40B4-BE49-F238E27FC236}">
                  <a16:creationId xmlns:a16="http://schemas.microsoft.com/office/drawing/2014/main" id="{0D72D70D-F056-F04E-84FA-943666E90777}"/>
                </a:ext>
              </a:extLst>
            </p:cNvPr>
            <p:cNvSpPr/>
            <p:nvPr/>
          </p:nvSpPr>
          <p:spPr>
            <a:xfrm>
              <a:off x="4129822" y="2767159"/>
              <a:ext cx="2016140" cy="417422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>
                      <a:alpha val="6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</a:rPr>
                <a:t>每次产出都回流为案例、提示词和流程资产。</a:t>
              </a:r>
              <a:endParaRPr lang="en-US" altLang="zh-CN" sz="1200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3">
            <a:extLst>
              <a:ext uri="{FF2B5EF4-FFF2-40B4-BE49-F238E27FC236}">
                <a16:creationId xmlns:a16="http://schemas.microsoft.com/office/drawing/2014/main" id="{8E5C18AC-9F4A-C578-F5D3-017CDEDCE815}"/>
              </a:ext>
            </a:extLst>
          </p:cNvPr>
          <p:cNvSpPr/>
          <p:nvPr/>
        </p:nvSpPr>
        <p:spPr>
          <a:xfrm>
            <a:off x="484456" y="4391387"/>
            <a:ext cx="2603500" cy="1543779"/>
          </a:xfrm>
          <a:prstGeom prst="roundRect">
            <a:avLst>
              <a:gd name="adj" fmla="val 0"/>
            </a:avLst>
          </a:prstGeom>
          <a:solidFill>
            <a:srgbClr val="F6F6F6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400" u="none" strike="noStrike" dirty="0">
              <a:solidFill>
                <a:srgbClr val="000000">
                  <a:alpha val="100000"/>
                </a:srgbClr>
              </a:solidFill>
              <a:highlight>
                <a:srgbClr val="3B2559">
                  <a:alpha val="100000"/>
                </a:srgbClr>
              </a:highlight>
              <a:latin typeface="MiSans VF Semibold" pitchFamily="2" charset="-122"/>
              <a:ea typeface="MiSans VF Semibold" pitchFamily="2" charset="-122"/>
              <a:cs typeface="MiSans VF Semibold" pitchFamily="2" charset="-122"/>
              <a:sym typeface="Arial"/>
            </a:endParaRPr>
          </a:p>
        </p:txBody>
      </p:sp>
      <p:sp>
        <p:nvSpPr>
          <p:cNvPr id="17" name="AutoShape 7">
            <a:extLst>
              <a:ext uri="{FF2B5EF4-FFF2-40B4-BE49-F238E27FC236}">
                <a16:creationId xmlns:a16="http://schemas.microsoft.com/office/drawing/2014/main" id="{95344487-F974-619D-DE2A-55A98953647D}"/>
              </a:ext>
            </a:extLst>
          </p:cNvPr>
          <p:cNvSpPr/>
          <p:nvPr/>
        </p:nvSpPr>
        <p:spPr>
          <a:xfrm>
            <a:off x="3366232" y="4391387"/>
            <a:ext cx="2603500" cy="1543779"/>
          </a:xfrm>
          <a:prstGeom prst="roundRect">
            <a:avLst>
              <a:gd name="adj" fmla="val 0"/>
            </a:avLst>
          </a:prstGeom>
          <a:solidFill>
            <a:srgbClr val="F6F6F6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8" name="AutoShape 11">
            <a:extLst>
              <a:ext uri="{FF2B5EF4-FFF2-40B4-BE49-F238E27FC236}">
                <a16:creationId xmlns:a16="http://schemas.microsoft.com/office/drawing/2014/main" id="{E36E74D5-50C3-0B00-199B-60833473DEAE}"/>
              </a:ext>
            </a:extLst>
          </p:cNvPr>
          <p:cNvSpPr/>
          <p:nvPr/>
        </p:nvSpPr>
        <p:spPr>
          <a:xfrm>
            <a:off x="6248008" y="4391387"/>
            <a:ext cx="2603500" cy="1543779"/>
          </a:xfrm>
          <a:prstGeom prst="roundRect">
            <a:avLst>
              <a:gd name="adj" fmla="val 0"/>
            </a:avLst>
          </a:prstGeom>
          <a:solidFill>
            <a:srgbClr val="F6F6F6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9" name="AutoShape 15">
            <a:extLst>
              <a:ext uri="{FF2B5EF4-FFF2-40B4-BE49-F238E27FC236}">
                <a16:creationId xmlns:a16="http://schemas.microsoft.com/office/drawing/2014/main" id="{3F2068E3-C470-407A-CDCB-A93F65CDB27A}"/>
              </a:ext>
            </a:extLst>
          </p:cNvPr>
          <p:cNvSpPr/>
          <p:nvPr/>
        </p:nvSpPr>
        <p:spPr>
          <a:xfrm>
            <a:off x="9129784" y="4391387"/>
            <a:ext cx="2603500" cy="1543779"/>
          </a:xfrm>
          <a:prstGeom prst="roundRect">
            <a:avLst>
              <a:gd name="adj" fmla="val 0"/>
            </a:avLst>
          </a:prstGeom>
          <a:solidFill>
            <a:srgbClr val="F6F6F6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</a:t>
            </a:r>
            <a:endParaRPr lang="en-US" sz="110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03" name="AutoShape 3"/>
          <p:cNvSpPr/>
          <p:nvPr/>
        </p:nvSpPr>
        <p:spPr>
          <a:xfrm>
            <a:off x="484456" y="2009408"/>
            <a:ext cx="2603500" cy="2381979"/>
          </a:xfrm>
          <a:prstGeom prst="roundRect">
            <a:avLst>
              <a:gd name="adj" fmla="val 0"/>
            </a:avLst>
          </a:prstGeom>
          <a:solidFill>
            <a:srgbClr val="2DED97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400" u="none" strike="noStrike" dirty="0">
              <a:solidFill>
                <a:srgbClr val="000000">
                  <a:alpha val="100000"/>
                </a:srgbClr>
              </a:solidFill>
              <a:highlight>
                <a:srgbClr val="3B2559">
                  <a:alpha val="100000"/>
                </a:srgbClr>
              </a:highlight>
              <a:latin typeface="MiSans VF Semibold" pitchFamily="2" charset="-122"/>
              <a:ea typeface="MiSans VF Semibold" pitchFamily="2" charset="-122"/>
              <a:cs typeface="MiSans VF Semibold" pitchFamily="2" charset="-122"/>
              <a:sym typeface="Arial"/>
            </a:endParaRPr>
          </a:p>
        </p:txBody>
      </p:sp>
      <p:sp>
        <p:nvSpPr>
          <p:cNvPr id="105" name="AutoShape 5"/>
          <p:cNvSpPr/>
          <p:nvPr/>
        </p:nvSpPr>
        <p:spPr>
          <a:xfrm>
            <a:off x="681306" y="2312343"/>
            <a:ext cx="1099368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低难度</a:t>
            </a:r>
            <a:r>
              <a:rPr lang="en-US" sz="18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/ </a:t>
            </a:r>
            <a:r>
              <a:rPr lang="en-US" sz="18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高收益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06" name="AutoShape 6"/>
          <p:cNvSpPr/>
          <p:nvPr/>
        </p:nvSpPr>
        <p:spPr>
          <a:xfrm>
            <a:off x="681306" y="4595585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会议纪要、文档总结、邮件草稿资料初筛。优先落地这些场景以快速见效</a:t>
            </a:r>
            <a:r>
              <a:rPr lang="en-US" sz="1200" u="none" strike="noStrike" dirty="0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07" name="AutoShape 7"/>
          <p:cNvSpPr/>
          <p:nvPr/>
        </p:nvSpPr>
        <p:spPr>
          <a:xfrm>
            <a:off x="3366232" y="2009408"/>
            <a:ext cx="2603500" cy="2381979"/>
          </a:xfrm>
          <a:prstGeom prst="roundRect">
            <a:avLst>
              <a:gd name="adj" fmla="val 0"/>
            </a:avLst>
          </a:prstGeom>
          <a:solidFill>
            <a:srgbClr val="FFF043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09" name="AutoShape 9"/>
          <p:cNvSpPr/>
          <p:nvPr/>
        </p:nvSpPr>
        <p:spPr>
          <a:xfrm>
            <a:off x="3564352" y="2312343"/>
            <a:ext cx="1099368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高难度</a:t>
            </a:r>
            <a:r>
              <a:rPr lang="en-US" sz="18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/ </a:t>
            </a:r>
            <a:r>
              <a:rPr lang="en-US" sz="18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高收益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10" name="AutoShape 10"/>
          <p:cNvSpPr/>
          <p:nvPr/>
        </p:nvSpPr>
        <p:spPr>
          <a:xfrm>
            <a:off x="3563082" y="4595585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自动化工作流、智能客服、数据分析助手、知识库问答。需要逐步推进系统化能力。</a:t>
            </a:r>
            <a:endParaRPr lang="en-US" sz="110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11" name="AutoShape 11"/>
          <p:cNvSpPr/>
          <p:nvPr/>
        </p:nvSpPr>
        <p:spPr>
          <a:xfrm>
            <a:off x="6248008" y="2009408"/>
            <a:ext cx="2603500" cy="2381979"/>
          </a:xfrm>
          <a:prstGeom prst="roundRect">
            <a:avLst>
              <a:gd name="adj" fmla="val 0"/>
            </a:avLst>
          </a:prstGeom>
          <a:solidFill>
            <a:srgbClr val="BA7DFF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13" name="AutoShape 13"/>
          <p:cNvSpPr/>
          <p:nvPr/>
        </p:nvSpPr>
        <p:spPr>
          <a:xfrm>
            <a:off x="6444858" y="2312343"/>
            <a:ext cx="1056619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7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低难度</a:t>
            </a:r>
            <a:r>
              <a:rPr lang="en-US" sz="17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/ </a:t>
            </a:r>
            <a:r>
              <a:rPr lang="en-US" sz="17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低收益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14" name="AutoShape 14"/>
          <p:cNvSpPr/>
          <p:nvPr/>
        </p:nvSpPr>
        <p:spPr>
          <a:xfrm>
            <a:off x="6404218" y="4595586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简单润色、格式整理、低价值摘要。这些任务适合偶尔辅助，但不具备规模价值。</a:t>
            </a:r>
            <a:endParaRPr lang="en-US" sz="110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15" name="AutoShape 15"/>
          <p:cNvSpPr/>
          <p:nvPr/>
        </p:nvSpPr>
        <p:spPr>
          <a:xfrm>
            <a:off x="9129784" y="2009408"/>
            <a:ext cx="2603500" cy="2381979"/>
          </a:xfrm>
          <a:prstGeom prst="roundRect">
            <a:avLst>
              <a:gd name="adj" fmla="val 0"/>
            </a:avLst>
          </a:prstGeom>
          <a:solidFill>
            <a:schemeClr val="tx1">
              <a:lumMod val="75000"/>
              <a:lumOff val="2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</a:t>
            </a:r>
            <a:endParaRPr lang="en-US" sz="110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17" name="AutoShape 17"/>
          <p:cNvSpPr/>
          <p:nvPr/>
        </p:nvSpPr>
        <p:spPr>
          <a:xfrm>
            <a:off x="9326634" y="2312343"/>
            <a:ext cx="1056619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u="none" strike="noStrike" dirty="0" err="1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高难度</a:t>
            </a:r>
            <a:r>
              <a:rPr lang="en-US" sz="18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/ </a:t>
            </a:r>
            <a:r>
              <a:rPr lang="en-US" sz="1800" u="none" strike="noStrike" dirty="0" err="1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低收益</a:t>
            </a:r>
            <a:endParaRPr lang="en-US" sz="1100" dirty="0">
              <a:solidFill>
                <a:schemeClr val="bg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18" name="AutoShape 18"/>
          <p:cNvSpPr/>
          <p:nvPr/>
        </p:nvSpPr>
        <p:spPr>
          <a:xfrm>
            <a:off x="9282184" y="4595586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过度定制、目标不清的</a:t>
            </a:r>
            <a:r>
              <a:rPr lang="en-US" sz="1200" u="none" strike="noStrike" dirty="0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AI </a:t>
            </a:r>
            <a:r>
              <a:rPr lang="en-US" sz="1200" u="none" strike="noStrike" dirty="0" err="1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系统、缺少业务闭环的复杂方案。应尽量避免在此投入</a:t>
            </a:r>
            <a:r>
              <a:rPr lang="en-US" sz="1200" u="none" strike="noStrike" dirty="0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2" name="AutoShape 7">
            <a:extLst>
              <a:ext uri="{FF2B5EF4-FFF2-40B4-BE49-F238E27FC236}">
                <a16:creationId xmlns:a16="http://schemas.microsoft.com/office/drawing/2014/main" id="{0AC9BB3D-5268-9A9D-535E-E42A89090525}"/>
              </a:ext>
            </a:extLst>
          </p:cNvPr>
          <p:cNvSpPr/>
          <p:nvPr/>
        </p:nvSpPr>
        <p:spPr>
          <a:xfrm>
            <a:off x="524797" y="829870"/>
            <a:ext cx="10827302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sz="40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SimHei"/>
              </a:rPr>
              <a:t>AI </a:t>
            </a:r>
            <a:r>
              <a:rPr lang="zh-CN" altLang="en-US" sz="40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SimHei"/>
              </a:rPr>
              <a:t>落地场景四象限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5E1CA0F-EAED-C2CB-F910-373C8696371D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4" name="AutoShape 2">
              <a:extLst>
                <a:ext uri="{FF2B5EF4-FFF2-40B4-BE49-F238E27FC236}">
                  <a16:creationId xmlns:a16="http://schemas.microsoft.com/office/drawing/2014/main" id="{8FF98D68-8852-5820-8426-F57A040D0B29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5" name="AutoShape 2">
              <a:extLst>
                <a:ext uri="{FF2B5EF4-FFF2-40B4-BE49-F238E27FC236}">
                  <a16:creationId xmlns:a16="http://schemas.microsoft.com/office/drawing/2014/main" id="{9A88684E-9F9E-F02D-7E76-BA9CAB0D800B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03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6" name="AutoShape 2">
            <a:extLst>
              <a:ext uri="{FF2B5EF4-FFF2-40B4-BE49-F238E27FC236}">
                <a16:creationId xmlns:a16="http://schemas.microsoft.com/office/drawing/2014/main" id="{22FD7469-1090-0775-F90A-B21476474B8F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2" name="AutoShape 5">
            <a:extLst>
              <a:ext uri="{FF2B5EF4-FFF2-40B4-BE49-F238E27FC236}">
                <a16:creationId xmlns:a16="http://schemas.microsoft.com/office/drawing/2014/main" id="{EF09D72C-AAE4-2248-1A47-BCDB60870ADC}"/>
              </a:ext>
            </a:extLst>
          </p:cNvPr>
          <p:cNvSpPr/>
          <p:nvPr/>
        </p:nvSpPr>
        <p:spPr>
          <a:xfrm>
            <a:off x="2447788" y="2312343"/>
            <a:ext cx="417578" cy="33460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8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01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3" name="AutoShape 9">
            <a:extLst>
              <a:ext uri="{FF2B5EF4-FFF2-40B4-BE49-F238E27FC236}">
                <a16:creationId xmlns:a16="http://schemas.microsoft.com/office/drawing/2014/main" id="{25A633A8-FB35-0C2B-845F-61A59FAAF4E0}"/>
              </a:ext>
            </a:extLst>
          </p:cNvPr>
          <p:cNvSpPr/>
          <p:nvPr/>
        </p:nvSpPr>
        <p:spPr>
          <a:xfrm>
            <a:off x="5330834" y="2312343"/>
            <a:ext cx="417578" cy="33460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8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02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4" name="AutoShape 13">
            <a:extLst>
              <a:ext uri="{FF2B5EF4-FFF2-40B4-BE49-F238E27FC236}">
                <a16:creationId xmlns:a16="http://schemas.microsoft.com/office/drawing/2014/main" id="{9E80C54B-FFD8-5342-0FB5-A233211E5169}"/>
              </a:ext>
            </a:extLst>
          </p:cNvPr>
          <p:cNvSpPr/>
          <p:nvPr/>
        </p:nvSpPr>
        <p:spPr>
          <a:xfrm>
            <a:off x="8211340" y="2312343"/>
            <a:ext cx="417578" cy="33460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7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03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5" name="AutoShape 17">
            <a:extLst>
              <a:ext uri="{FF2B5EF4-FFF2-40B4-BE49-F238E27FC236}">
                <a16:creationId xmlns:a16="http://schemas.microsoft.com/office/drawing/2014/main" id="{455AD161-79F1-29E8-CEAA-D803C0259A82}"/>
              </a:ext>
            </a:extLst>
          </p:cNvPr>
          <p:cNvSpPr/>
          <p:nvPr/>
        </p:nvSpPr>
        <p:spPr>
          <a:xfrm>
            <a:off x="11093116" y="2312343"/>
            <a:ext cx="417578" cy="33460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8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04</a:t>
            </a:r>
            <a:endParaRPr lang="en-US" sz="1100" dirty="0">
              <a:solidFill>
                <a:schemeClr val="bg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AutoShape 2"/>
          <p:cNvSpPr/>
          <p:nvPr/>
        </p:nvSpPr>
        <p:spPr>
          <a:xfrm>
            <a:off x="532416" y="882124"/>
            <a:ext cx="10530553" cy="134874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工作流重构的</a:t>
            </a:r>
            <a:endParaRPr lang="en-US" sz="4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四个核心阶段</a:t>
            </a:r>
            <a:endParaRPr sz="4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cxnSp>
        <p:nvCxnSpPr>
          <p:cNvPr id="132" name="Connector 3"/>
          <p:cNvCxnSpPr>
            <a:cxnSpLocks/>
          </p:cNvCxnSpPr>
          <p:nvPr/>
        </p:nvCxnSpPr>
        <p:spPr>
          <a:xfrm>
            <a:off x="0" y="3036372"/>
            <a:ext cx="12192000" cy="1439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33" name="Connector 4"/>
          <p:cNvCxnSpPr/>
          <p:nvPr/>
        </p:nvCxnSpPr>
        <p:spPr>
          <a:xfrm rot="5400000">
            <a:off x="1022601" y="4978618"/>
            <a:ext cx="387731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34" name="Connector 5"/>
          <p:cNvCxnSpPr/>
          <p:nvPr/>
        </p:nvCxnSpPr>
        <p:spPr>
          <a:xfrm rot="5400000">
            <a:off x="4157342" y="4977671"/>
            <a:ext cx="387731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35" name="Connector 6"/>
          <p:cNvCxnSpPr/>
          <p:nvPr/>
        </p:nvCxnSpPr>
        <p:spPr>
          <a:xfrm rot="5400000">
            <a:off x="7292083" y="4977672"/>
            <a:ext cx="387731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136" name="AutoShape 7"/>
          <p:cNvSpPr/>
          <p:nvPr/>
        </p:nvSpPr>
        <p:spPr>
          <a:xfrm>
            <a:off x="537052" y="4201792"/>
            <a:ext cx="2033382" cy="66293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01 </a:t>
            </a:r>
            <a:r>
              <a:rPr lang="en-US" sz="1800" u="none" strike="noStrike" dirty="0" err="1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任务识别</a:t>
            </a:r>
            <a:endParaRPr lang="en-US" sz="11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37" name="AutoShape 8"/>
          <p:cNvSpPr/>
          <p:nvPr/>
        </p:nvSpPr>
        <p:spPr>
          <a:xfrm>
            <a:off x="537052" y="5191760"/>
            <a:ext cx="2133600" cy="55399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判断哪些工作适合交给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</a:t>
            </a: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AI：重复性高、规则明确、信息密集、反馈周期短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38" name="AutoShape 9"/>
          <p:cNvSpPr/>
          <p:nvPr/>
        </p:nvSpPr>
        <p:spPr>
          <a:xfrm>
            <a:off x="3341962" y="4201792"/>
            <a:ext cx="2219829" cy="689617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02 </a:t>
            </a:r>
            <a:r>
              <a:rPr lang="en-US" sz="1800" u="none" strike="noStrike" dirty="0" err="1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工具协作</a:t>
            </a:r>
            <a:endParaRPr lang="en-US" sz="11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39" name="AutoShape 10"/>
          <p:cNvSpPr/>
          <p:nvPr/>
        </p:nvSpPr>
        <p:spPr>
          <a:xfrm>
            <a:off x="3341963" y="5191760"/>
            <a:ext cx="2219830" cy="55399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让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AI </a:t>
            </a: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参与搜索、分析、生成、复盘，把工具嵌入真实工作流，而不是停留在尝鲜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40" name="AutoShape 11"/>
          <p:cNvSpPr/>
          <p:nvPr/>
        </p:nvSpPr>
        <p:spPr>
          <a:xfrm>
            <a:off x="6505782" y="4201792"/>
            <a:ext cx="1859280" cy="7124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03 </a:t>
            </a:r>
            <a:r>
              <a:rPr lang="en-US" sz="1800" u="none" strike="noStrike" dirty="0" err="1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流程沉淀</a:t>
            </a:r>
            <a:endParaRPr lang="en-US" sz="11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41" name="AutoShape 12"/>
          <p:cNvSpPr/>
          <p:nvPr/>
        </p:nvSpPr>
        <p:spPr>
          <a:xfrm>
            <a:off x="6505782" y="5191760"/>
            <a:ext cx="2133600" cy="55399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把一次性提效变成可复用的标准操作流程 (SOP)，降低跨团队的协作门槛。</a:t>
            </a:r>
            <a:endParaRPr lang="en-US" sz="110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42" name="AutoShape 13"/>
          <p:cNvSpPr/>
          <p:nvPr/>
        </p:nvSpPr>
        <p:spPr>
          <a:xfrm>
            <a:off x="9627822" y="4201792"/>
            <a:ext cx="1859280" cy="7124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u="none" strike="noStrike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04 持续迭代</a:t>
            </a:r>
            <a:endParaRPr lang="en-US" sz="110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43" name="AutoShape 14"/>
          <p:cNvSpPr/>
          <p:nvPr/>
        </p:nvSpPr>
        <p:spPr>
          <a:xfrm>
            <a:off x="9627822" y="5191760"/>
            <a:ext cx="2133600" cy="55399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让团队能够复制、训练、优化这套新流程，并基于反馈持续迭代最佳实践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44" name="AutoShape 15"/>
          <p:cNvSpPr/>
          <p:nvPr/>
        </p:nvSpPr>
        <p:spPr>
          <a:xfrm>
            <a:off x="537052" y="3286760"/>
            <a:ext cx="662940" cy="662940"/>
          </a:xfrm>
          <a:prstGeom prst="ellipse">
            <a:avLst/>
          </a:prstGeom>
          <a:solidFill>
            <a:srgbClr val="2DED97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 </a:t>
            </a:r>
            <a:endParaRPr lang="en-US" sz="1100"/>
          </a:p>
        </p:txBody>
      </p:sp>
      <p:pic>
        <p:nvPicPr>
          <p:cNvPr id="145" name="Picture 1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5642" y="3456940"/>
            <a:ext cx="347980" cy="34798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6" name="AutoShape 17"/>
          <p:cNvSpPr/>
          <p:nvPr/>
        </p:nvSpPr>
        <p:spPr>
          <a:xfrm>
            <a:off x="3341962" y="3249291"/>
            <a:ext cx="662940" cy="66294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</a:rPr>
              <a:t> </a:t>
            </a:r>
            <a:endParaRPr lang="en-US" sz="1100"/>
          </a:p>
        </p:txBody>
      </p:sp>
      <p:pic>
        <p:nvPicPr>
          <p:cNvPr id="147" name="Picture 1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501982" y="3420741"/>
            <a:ext cx="3429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8" name="AutoShape 19"/>
          <p:cNvSpPr/>
          <p:nvPr/>
        </p:nvSpPr>
        <p:spPr>
          <a:xfrm>
            <a:off x="6505782" y="3286760"/>
            <a:ext cx="662940" cy="662940"/>
          </a:xfrm>
          <a:prstGeom prst="ellipse">
            <a:avLst/>
          </a:prstGeom>
          <a:solidFill>
            <a:srgbClr val="A855F7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</a:rPr>
              <a:t> </a:t>
            </a:r>
            <a:endParaRPr lang="en-US" sz="1100"/>
          </a:p>
        </p:txBody>
      </p:sp>
      <p:pic>
        <p:nvPicPr>
          <p:cNvPr id="149" name="Picture 2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665802" y="3445510"/>
            <a:ext cx="3429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0" name="AutoShape 21"/>
          <p:cNvSpPr/>
          <p:nvPr/>
        </p:nvSpPr>
        <p:spPr>
          <a:xfrm>
            <a:off x="9627822" y="3286760"/>
            <a:ext cx="662940" cy="66294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 </a:t>
            </a:r>
            <a:endParaRPr lang="en-US" sz="1100"/>
          </a:p>
        </p:txBody>
      </p:sp>
      <p:pic>
        <p:nvPicPr>
          <p:cNvPr id="151" name="Picture 22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787842" y="3458210"/>
            <a:ext cx="3429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91F2C903-C34D-3E4B-B5EF-DA31D1A833CE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>
              <a:extLst>
                <a:ext uri="{FF2B5EF4-FFF2-40B4-BE49-F238E27FC236}">
                  <a16:creationId xmlns:a16="http://schemas.microsoft.com/office/drawing/2014/main" id="{5F6BB1B8-28CC-8167-EF1D-4C55DB1BBD01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4" name="AutoShape 2">
              <a:extLst>
                <a:ext uri="{FF2B5EF4-FFF2-40B4-BE49-F238E27FC236}">
                  <a16:creationId xmlns:a16="http://schemas.microsoft.com/office/drawing/2014/main" id="{D46F088C-FFD8-868F-6BA1-4850BB32FB1E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06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5" name="AutoShape 2">
            <a:extLst>
              <a:ext uri="{FF2B5EF4-FFF2-40B4-BE49-F238E27FC236}">
                <a16:creationId xmlns:a16="http://schemas.microsoft.com/office/drawing/2014/main" id="{2B7EDD2B-F9E1-F99A-337D-51BD07A208BB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AutoShape 5"/>
          <p:cNvSpPr/>
          <p:nvPr/>
        </p:nvSpPr>
        <p:spPr>
          <a:xfrm>
            <a:off x="0" y="0"/>
            <a:ext cx="4735773" cy="6858000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1" name="AutoShape 3"/>
          <p:cNvSpPr/>
          <p:nvPr/>
        </p:nvSpPr>
        <p:spPr>
          <a:xfrm>
            <a:off x="524797" y="4458970"/>
            <a:ext cx="3665066" cy="106567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16666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不仅是利用</a:t>
            </a:r>
            <a:r>
              <a:rPr lang="en-US" sz="1200" u="none" strike="noStrike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AI </a:t>
            </a:r>
            <a:r>
              <a:rPr lang="en-US" sz="1200" u="none" strike="noStrike" dirty="0" err="1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替代个人的单点任务，更重要的是将</a:t>
            </a:r>
            <a:r>
              <a:rPr lang="en-US" sz="1200" u="none" strike="noStrike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AI </a:t>
            </a:r>
            <a:r>
              <a:rPr lang="en-US" sz="1200" u="none" strike="noStrike" dirty="0" err="1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嵌入组织的系统流程</a:t>
            </a:r>
            <a:r>
              <a:rPr lang="en-US" sz="1200" u="none" strike="noStrike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</a:p>
          <a:p>
            <a:pPr>
              <a:lnSpc>
                <a:spcPct val="116666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200" u="none" strike="noStrike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  <a:p>
            <a:pPr>
              <a:lnSpc>
                <a:spcPct val="116666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200" dirty="0" err="1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个人的启动速度提升，与组织的知识复用能力结合，才能最大化技术带来的红利</a:t>
            </a:r>
            <a:r>
              <a:rPr lang="en-US" altLang="zh-CN" sz="12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</a:p>
        </p:txBody>
      </p:sp>
      <p:sp>
        <p:nvSpPr>
          <p:cNvPr id="124" name="AutoShape 8"/>
          <p:cNvSpPr/>
          <p:nvPr/>
        </p:nvSpPr>
        <p:spPr>
          <a:xfrm>
            <a:off x="8784679" y="2545046"/>
            <a:ext cx="2948603" cy="7759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写作、搜索、总结、计划、学习以及时间管理。重点强调个体的启动速度、信息处理速度与输出速度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25" name="AutoShape 9"/>
          <p:cNvSpPr/>
          <p:nvPr/>
        </p:nvSpPr>
        <p:spPr>
          <a:xfrm>
            <a:off x="8784680" y="1298125"/>
            <a:ext cx="2948604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u="none" strike="noStrike" dirty="0" err="1">
                <a:solidFill>
                  <a:srgbClr val="000000">
                    <a:alpha val="100000"/>
                  </a:srgb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rPr>
              <a:t>个人效率升级</a:t>
            </a:r>
            <a:endParaRPr lang="en-US" sz="1100" b="1" dirty="0">
              <a:latin typeface="MiSans VF Bold" pitchFamily="2" charset="-122"/>
              <a:ea typeface="MiSans VF Bold" pitchFamily="2" charset="-122"/>
              <a:cs typeface="MiSans VF Bold" pitchFamily="2" charset="-122"/>
            </a:endParaRPr>
          </a:p>
        </p:txBody>
      </p:sp>
      <p:sp>
        <p:nvSpPr>
          <p:cNvPr id="126" name="AutoShape 10"/>
          <p:cNvSpPr/>
          <p:nvPr/>
        </p:nvSpPr>
        <p:spPr>
          <a:xfrm>
            <a:off x="8784679" y="5417670"/>
            <a:ext cx="2948603" cy="7759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流程自动化、知识库建设、跨部门协作、数据辅助决策。重点强调团队协同与资产复用能力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27" name="AutoShape 11"/>
          <p:cNvSpPr/>
          <p:nvPr/>
        </p:nvSpPr>
        <p:spPr>
          <a:xfrm>
            <a:off x="8784680" y="4169907"/>
            <a:ext cx="2948604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u="none" strike="noStrike" dirty="0" err="1">
                <a:solidFill>
                  <a:srgbClr val="000000">
                    <a:alpha val="100000"/>
                  </a:srgb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rPr>
              <a:t>组织效率升级</a:t>
            </a:r>
            <a:endParaRPr lang="en-US" sz="1100" b="1" dirty="0">
              <a:latin typeface="MiSans VF Bold" pitchFamily="2" charset="-122"/>
              <a:ea typeface="MiSans VF Bold" pitchFamily="2" charset="-122"/>
              <a:cs typeface="MiSans VF Bold" pitchFamily="2" charset="-122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B7F54F61-221F-B431-E18D-B40078B9BDE2}"/>
              </a:ext>
            </a:extLst>
          </p:cNvPr>
          <p:cNvSpPr/>
          <p:nvPr/>
        </p:nvSpPr>
        <p:spPr>
          <a:xfrm>
            <a:off x="524797" y="881581"/>
            <a:ext cx="3665066" cy="14465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40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个人与组织的</a:t>
            </a:r>
          </a:p>
          <a:p>
            <a:pPr>
              <a:buClr>
                <a:srgbClr val="000000">
                  <a:alpha val="100000"/>
                </a:srgbClr>
              </a:buClr>
            </a:pPr>
            <a:r>
              <a:rPr lang="zh-CN" altLang="en-US" sz="40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效率双升级</a:t>
            </a:r>
          </a:p>
          <a:p>
            <a:pPr>
              <a:buClr>
                <a:srgbClr val="000000">
                  <a:alpha val="100000"/>
                </a:srgbClr>
              </a:buClr>
            </a:pPr>
            <a:endParaRPr dirty="0">
              <a:solidFill>
                <a:schemeClr val="bg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B54C90C-07B9-3F79-82B6-FC157D41AFA7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4" name="AutoShape 2">
              <a:extLst>
                <a:ext uri="{FF2B5EF4-FFF2-40B4-BE49-F238E27FC236}">
                  <a16:creationId xmlns:a16="http://schemas.microsoft.com/office/drawing/2014/main" id="{CA2036E2-DDB3-85A9-C907-3B8001CCE1EA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bg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bg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5" name="AutoShape 2">
              <a:extLst>
                <a:ext uri="{FF2B5EF4-FFF2-40B4-BE49-F238E27FC236}">
                  <a16:creationId xmlns:a16="http://schemas.microsoft.com/office/drawing/2014/main" id="{2B91A9F9-30CC-B20A-89BB-90A992D6AAB3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04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6" name="AutoShape 2">
            <a:extLst>
              <a:ext uri="{FF2B5EF4-FFF2-40B4-BE49-F238E27FC236}">
                <a16:creationId xmlns:a16="http://schemas.microsoft.com/office/drawing/2014/main" id="{19669C18-5665-8E92-2952-79E25B40309B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B4F2B23-2673-3534-B32B-E603C3EF2F32}"/>
              </a:ext>
            </a:extLst>
          </p:cNvPr>
          <p:cNvSpPr txBox="1"/>
          <p:nvPr/>
        </p:nvSpPr>
        <p:spPr>
          <a:xfrm>
            <a:off x="8784681" y="1026349"/>
            <a:ext cx="2948604" cy="2308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buFont typeface="Arial"/>
            </a:pPr>
            <a:r>
              <a:rPr lang="en-US" altLang="zh-CN" sz="1200" b="1" strike="noStrike" dirty="0"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Arial"/>
              </a:rPr>
              <a:t>PERSONAL</a:t>
            </a:r>
            <a:endParaRPr lang="en-US" altLang="zh-CN" sz="1200" b="1" dirty="0">
              <a:latin typeface="MiSans VF Bold" pitchFamily="2" charset="-122"/>
              <a:ea typeface="MiSans VF Bold" pitchFamily="2" charset="-122"/>
              <a:cs typeface="MiSans VF Bold" pitchFamily="2" charset="-122"/>
            </a:endParaRPr>
          </a:p>
        </p:txBody>
      </p:sp>
      <p:sp>
        <p:nvSpPr>
          <p:cNvPr id="9" name="文本框 7">
            <a:extLst>
              <a:ext uri="{FF2B5EF4-FFF2-40B4-BE49-F238E27FC236}">
                <a16:creationId xmlns:a16="http://schemas.microsoft.com/office/drawing/2014/main" id="{9B4F2B23-2673-3534-B32B-E603C3EF2F32}"/>
              </a:ext>
            </a:extLst>
          </p:cNvPr>
          <p:cNvSpPr txBox="1"/>
          <p:nvPr/>
        </p:nvSpPr>
        <p:spPr>
          <a:xfrm>
            <a:off x="8784680" y="3898131"/>
            <a:ext cx="2948604" cy="2308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>
                  <a:alpha val="100000"/>
                </a:srgbClr>
              </a:buClr>
              <a:buFont typeface="Arial"/>
            </a:pPr>
            <a:r>
              <a:rPr lang="en-US" altLang="zh-CN" sz="1200" b="1" strike="noStrike" dirty="0"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Arial"/>
              </a:rPr>
              <a:t>TEAM</a:t>
            </a:r>
            <a:endParaRPr lang="en-US" altLang="zh-CN" sz="1200" b="1" dirty="0">
              <a:latin typeface="MiSans VF Bold" pitchFamily="2" charset="-122"/>
              <a:ea typeface="MiSans VF Bold" pitchFamily="2" charset="-122"/>
              <a:cs typeface="MiSans VF Bold" pitchFamily="2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AEDCC92-6F6F-0FAF-6A70-B87C0A90A6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9730" y="878030"/>
            <a:ext cx="3240335" cy="244382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6BC71A3-D241-A9DE-7BDF-0CD4EAAD5E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9730" y="3749812"/>
            <a:ext cx="3240335" cy="24438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B7438E-A0B9-44F4-95B3-8751A0402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extLst>
              <a:ext uri="{FF2B5EF4-FFF2-40B4-BE49-F238E27FC236}">
                <a16:creationId xmlns:a16="http://schemas.microsoft.com/office/drawing/2014/main" id="{32BBD2E5-9CF7-FB2F-4CFE-049A43D640CF}"/>
              </a:ext>
            </a:extLst>
          </p:cNvPr>
          <p:cNvSpPr/>
          <p:nvPr/>
        </p:nvSpPr>
        <p:spPr>
          <a:xfrm>
            <a:off x="0" y="0"/>
            <a:ext cx="12192000" cy="3203157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cxnSp>
        <p:nvCxnSpPr>
          <p:cNvPr id="154" name="Connector 3">
            <a:extLst>
              <a:ext uri="{FF2B5EF4-FFF2-40B4-BE49-F238E27FC236}">
                <a16:creationId xmlns:a16="http://schemas.microsoft.com/office/drawing/2014/main" id="{EDF78A3B-2D85-E733-FB68-7BBEC32EF786}"/>
              </a:ext>
            </a:extLst>
          </p:cNvPr>
          <p:cNvCxnSpPr/>
          <p:nvPr/>
        </p:nvCxnSpPr>
        <p:spPr>
          <a:xfrm rot="869462">
            <a:off x="6093619" y="3351035"/>
            <a:ext cx="2155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157" name="AutoShape 6">
            <a:extLst>
              <a:ext uri="{FF2B5EF4-FFF2-40B4-BE49-F238E27FC236}">
                <a16:creationId xmlns:a16="http://schemas.microsoft.com/office/drawing/2014/main" id="{E8B26EDD-5360-10AA-52FE-56D16FEEC9B1}"/>
              </a:ext>
            </a:extLst>
          </p:cNvPr>
          <p:cNvSpPr/>
          <p:nvPr/>
        </p:nvSpPr>
        <p:spPr>
          <a:xfrm>
            <a:off x="524797" y="3795514"/>
            <a:ext cx="42037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 dirty="0">
                <a:solidFill>
                  <a:srgbClr val="A855F7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1</a:t>
            </a:r>
            <a:endParaRPr lang="en-US" sz="1100" dirty="0">
              <a:solidFill>
                <a:srgbClr val="A855F7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58" name="AutoShape 7">
            <a:extLst>
              <a:ext uri="{FF2B5EF4-FFF2-40B4-BE49-F238E27FC236}">
                <a16:creationId xmlns:a16="http://schemas.microsoft.com/office/drawing/2014/main" id="{7B54C457-4391-47D2-9FC6-94513FAC28A0}"/>
              </a:ext>
            </a:extLst>
          </p:cNvPr>
          <p:cNvSpPr/>
          <p:nvPr/>
        </p:nvSpPr>
        <p:spPr>
          <a:xfrm>
            <a:off x="1081056" y="3838696"/>
            <a:ext cx="4820979" cy="27699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内容生成：降低启动成本</a:t>
            </a:r>
            <a:endParaRPr lang="en-US" sz="2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59" name="AutoShape 8">
            <a:extLst>
              <a:ext uri="{FF2B5EF4-FFF2-40B4-BE49-F238E27FC236}">
                <a16:creationId xmlns:a16="http://schemas.microsoft.com/office/drawing/2014/main" id="{7158D3A6-A873-84F4-A45E-94C5818205BD}"/>
              </a:ext>
            </a:extLst>
          </p:cNvPr>
          <p:cNvSpPr/>
          <p:nvPr/>
        </p:nvSpPr>
        <p:spPr>
          <a:xfrm>
            <a:off x="524797" y="4617204"/>
            <a:ext cx="43180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A855F7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2</a:t>
            </a:r>
            <a:endParaRPr lang="en-US" sz="1100">
              <a:solidFill>
                <a:srgbClr val="A855F7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0" name="AutoShape 9">
            <a:extLst>
              <a:ext uri="{FF2B5EF4-FFF2-40B4-BE49-F238E27FC236}">
                <a16:creationId xmlns:a16="http://schemas.microsoft.com/office/drawing/2014/main" id="{9738BC8E-EA4C-060A-FF25-455EEC1BEA24}"/>
              </a:ext>
            </a:extLst>
          </p:cNvPr>
          <p:cNvSpPr/>
          <p:nvPr/>
        </p:nvSpPr>
        <p:spPr>
          <a:xfrm>
            <a:off x="1081056" y="4660386"/>
            <a:ext cx="4820979" cy="27699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数据分析：提炼趋势异常</a:t>
            </a:r>
            <a:endParaRPr lang="en-US" sz="2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61" name="AutoShape 10">
            <a:extLst>
              <a:ext uri="{FF2B5EF4-FFF2-40B4-BE49-F238E27FC236}">
                <a16:creationId xmlns:a16="http://schemas.microsoft.com/office/drawing/2014/main" id="{78BD3C90-DB32-8988-5C4A-F637549FC906}"/>
              </a:ext>
            </a:extLst>
          </p:cNvPr>
          <p:cNvSpPr/>
          <p:nvPr/>
        </p:nvSpPr>
        <p:spPr>
          <a:xfrm>
            <a:off x="524797" y="5440164"/>
            <a:ext cx="43180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A855F7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3</a:t>
            </a:r>
            <a:endParaRPr lang="en-US" sz="1100">
              <a:solidFill>
                <a:srgbClr val="A855F7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2" name="AutoShape 11">
            <a:extLst>
              <a:ext uri="{FF2B5EF4-FFF2-40B4-BE49-F238E27FC236}">
                <a16:creationId xmlns:a16="http://schemas.microsoft.com/office/drawing/2014/main" id="{C8F251C8-F728-80EC-CADC-E4D919687DAB}"/>
              </a:ext>
            </a:extLst>
          </p:cNvPr>
          <p:cNvSpPr/>
          <p:nvPr/>
        </p:nvSpPr>
        <p:spPr>
          <a:xfrm>
            <a:off x="1081056" y="5483346"/>
            <a:ext cx="4820979" cy="27699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客户沟通：辅助自动回复</a:t>
            </a:r>
            <a:endParaRPr lang="en-US" sz="200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63" name="AutoShape 12">
            <a:extLst>
              <a:ext uri="{FF2B5EF4-FFF2-40B4-BE49-F238E27FC236}">
                <a16:creationId xmlns:a16="http://schemas.microsoft.com/office/drawing/2014/main" id="{7C087657-7085-6F76-485B-F00208BB328A}"/>
              </a:ext>
            </a:extLst>
          </p:cNvPr>
          <p:cNvSpPr/>
          <p:nvPr/>
        </p:nvSpPr>
        <p:spPr>
          <a:xfrm>
            <a:off x="6623050" y="3795514"/>
            <a:ext cx="43180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 dirty="0">
                <a:solidFill>
                  <a:srgbClr val="A855F7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4</a:t>
            </a:r>
            <a:endParaRPr lang="en-US" sz="1100" dirty="0">
              <a:solidFill>
                <a:srgbClr val="A855F7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4" name="AutoShape 13">
            <a:extLst>
              <a:ext uri="{FF2B5EF4-FFF2-40B4-BE49-F238E27FC236}">
                <a16:creationId xmlns:a16="http://schemas.microsoft.com/office/drawing/2014/main" id="{05234C72-9876-CCAB-8ABE-F965BA0D557C}"/>
              </a:ext>
            </a:extLst>
          </p:cNvPr>
          <p:cNvSpPr/>
          <p:nvPr/>
        </p:nvSpPr>
        <p:spPr>
          <a:xfrm>
            <a:off x="7178040" y="3838696"/>
            <a:ext cx="4555244" cy="27699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项目管理：拆解追踪风险</a:t>
            </a:r>
            <a:endParaRPr lang="en-US" sz="2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65" name="AutoShape 14">
            <a:extLst>
              <a:ext uri="{FF2B5EF4-FFF2-40B4-BE49-F238E27FC236}">
                <a16:creationId xmlns:a16="http://schemas.microsoft.com/office/drawing/2014/main" id="{A6C27EBD-32EF-44EA-73B5-B25817301B72}"/>
              </a:ext>
            </a:extLst>
          </p:cNvPr>
          <p:cNvSpPr/>
          <p:nvPr/>
        </p:nvSpPr>
        <p:spPr>
          <a:xfrm>
            <a:off x="6623050" y="4617204"/>
            <a:ext cx="43180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A855F7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5</a:t>
            </a:r>
            <a:endParaRPr lang="en-US" sz="1100">
              <a:solidFill>
                <a:srgbClr val="A855F7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6" name="AutoShape 15">
            <a:extLst>
              <a:ext uri="{FF2B5EF4-FFF2-40B4-BE49-F238E27FC236}">
                <a16:creationId xmlns:a16="http://schemas.microsoft.com/office/drawing/2014/main" id="{4B79A48E-F14F-4706-DC06-1FF63F912EAE}"/>
              </a:ext>
            </a:extLst>
          </p:cNvPr>
          <p:cNvSpPr/>
          <p:nvPr/>
        </p:nvSpPr>
        <p:spPr>
          <a:xfrm>
            <a:off x="7178040" y="4660386"/>
            <a:ext cx="4555244" cy="27699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知识沉淀：构建可检索资产</a:t>
            </a:r>
            <a:endParaRPr lang="en-US" sz="2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67" name="AutoShape 16">
            <a:extLst>
              <a:ext uri="{FF2B5EF4-FFF2-40B4-BE49-F238E27FC236}">
                <a16:creationId xmlns:a16="http://schemas.microsoft.com/office/drawing/2014/main" id="{C422332C-06A2-10A5-9005-6981B0E9D15F}"/>
              </a:ext>
            </a:extLst>
          </p:cNvPr>
          <p:cNvSpPr/>
          <p:nvPr/>
        </p:nvSpPr>
        <p:spPr>
          <a:xfrm>
            <a:off x="6623050" y="5440164"/>
            <a:ext cx="43180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A855F7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6</a:t>
            </a:r>
            <a:endParaRPr lang="en-US" sz="1100">
              <a:solidFill>
                <a:srgbClr val="A855F7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8" name="AutoShape 17">
            <a:extLst>
              <a:ext uri="{FF2B5EF4-FFF2-40B4-BE49-F238E27FC236}">
                <a16:creationId xmlns:a16="http://schemas.microsoft.com/office/drawing/2014/main" id="{F610EC7F-D4CC-48B6-4517-1A76981E017B}"/>
              </a:ext>
            </a:extLst>
          </p:cNvPr>
          <p:cNvSpPr/>
          <p:nvPr/>
        </p:nvSpPr>
        <p:spPr>
          <a:xfrm>
            <a:off x="7178040" y="5483346"/>
            <a:ext cx="4555244" cy="27699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个人学习：生成学习路径</a:t>
            </a:r>
            <a:endParaRPr lang="en-US" sz="200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8568141-89B9-7509-6547-4795E91D1B43}"/>
              </a:ext>
            </a:extLst>
          </p:cNvPr>
          <p:cNvSpPr/>
          <p:nvPr/>
        </p:nvSpPr>
        <p:spPr>
          <a:xfrm>
            <a:off x="484456" y="1549677"/>
            <a:ext cx="11053494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AI </a:t>
            </a:r>
            <a:r>
              <a:rPr lang="zh-CN" altLang="en-US" sz="40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赋能的六大应用场景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C050875-CC99-9441-E29F-0A33BF169198}"/>
              </a:ext>
            </a:extLst>
          </p:cNvPr>
          <p:cNvSpPr txBox="1"/>
          <p:nvPr/>
        </p:nvSpPr>
        <p:spPr>
          <a:xfrm>
            <a:off x="482551" y="1054293"/>
            <a:ext cx="354076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400" u="none" strike="noStrike" dirty="0">
                <a:solidFill>
                  <a:srgbClr val="FFF043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Scenarios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7751F8F-C126-F42B-EBCA-DED7B0AD210E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5" name="AutoShape 2">
              <a:extLst>
                <a:ext uri="{FF2B5EF4-FFF2-40B4-BE49-F238E27FC236}">
                  <a16:creationId xmlns:a16="http://schemas.microsoft.com/office/drawing/2014/main" id="{84ABC4F5-B21F-91D6-673E-D7D6DBDA9987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bg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bg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6" name="AutoShape 2">
              <a:extLst>
                <a:ext uri="{FF2B5EF4-FFF2-40B4-BE49-F238E27FC236}">
                  <a16:creationId xmlns:a16="http://schemas.microsoft.com/office/drawing/2014/main" id="{D20E6595-821C-508B-956B-8272B2E7CE09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bg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</a:t>
              </a:r>
              <a:r>
                <a:rPr lang="en-US" altLang="zh-CN" sz="800" dirty="0">
                  <a:solidFill>
                    <a:schemeClr val="bg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7</a:t>
              </a:r>
              <a:endParaRPr lang="en-US" sz="800" dirty="0">
                <a:solidFill>
                  <a:schemeClr val="bg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7" name="AutoShape 2">
            <a:extLst>
              <a:ext uri="{FF2B5EF4-FFF2-40B4-BE49-F238E27FC236}">
                <a16:creationId xmlns:a16="http://schemas.microsoft.com/office/drawing/2014/main" id="{379A1952-917B-25FF-67E3-178220C99639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6276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1" name="Connector 3"/>
          <p:cNvCxnSpPr/>
          <p:nvPr/>
        </p:nvCxnSpPr>
        <p:spPr>
          <a:xfrm>
            <a:off x="484456" y="2978209"/>
            <a:ext cx="1124882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72" name="Connector 4"/>
          <p:cNvCxnSpPr/>
          <p:nvPr/>
        </p:nvCxnSpPr>
        <p:spPr>
          <a:xfrm>
            <a:off x="484456" y="4003099"/>
            <a:ext cx="1124882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73" name="Connector 5"/>
          <p:cNvCxnSpPr/>
          <p:nvPr/>
        </p:nvCxnSpPr>
        <p:spPr>
          <a:xfrm>
            <a:off x="484456" y="5029259"/>
            <a:ext cx="1124882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74" name="Connector 6"/>
          <p:cNvCxnSpPr/>
          <p:nvPr/>
        </p:nvCxnSpPr>
        <p:spPr>
          <a:xfrm>
            <a:off x="484456" y="6054149"/>
            <a:ext cx="1124882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4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176" name="AutoShape 8"/>
          <p:cNvSpPr/>
          <p:nvPr/>
        </p:nvSpPr>
        <p:spPr>
          <a:xfrm>
            <a:off x="1591107" y="2256232"/>
            <a:ext cx="9791209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会议纪要：从“人工记录整理”升级为“自动转写与摘要</a:t>
            </a:r>
            <a:r>
              <a:rPr lang="en-US" sz="20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”。</a:t>
            </a:r>
            <a:endParaRPr lang="en-US" sz="1100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77" name="AutoShape 9"/>
          <p:cNvSpPr/>
          <p:nvPr/>
        </p:nvSpPr>
        <p:spPr>
          <a:xfrm>
            <a:off x="1591107" y="3307758"/>
            <a:ext cx="9791209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市场调研：从“手动搜索资料”升级为“快速汇总多来源信息</a:t>
            </a:r>
            <a:r>
              <a:rPr lang="en-US" sz="20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”。</a:t>
            </a:r>
            <a:endParaRPr lang="en-US" sz="1100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78" name="AutoShape 10"/>
          <p:cNvSpPr/>
          <p:nvPr/>
        </p:nvSpPr>
        <p:spPr>
          <a:xfrm>
            <a:off x="1591106" y="4307281"/>
            <a:ext cx="9791209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文案撰写：从“从零起草”升级为“先生成初稿再修改</a:t>
            </a:r>
            <a:r>
              <a:rPr lang="en-US" sz="20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”。</a:t>
            </a:r>
            <a:endParaRPr lang="en-US" sz="1100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79" name="AutoShape 11"/>
          <p:cNvSpPr/>
          <p:nvPr/>
        </p:nvSpPr>
        <p:spPr>
          <a:xfrm>
            <a:off x="1591107" y="5345489"/>
            <a:ext cx="9791208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知识管理：从“依赖个人经验”升级为“自动归档与智能问答</a:t>
            </a:r>
            <a:r>
              <a:rPr lang="en-US" sz="20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”。</a:t>
            </a:r>
            <a:endParaRPr lang="en-US" sz="1100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141FB2E-67E1-0EE9-3D11-A0E4AAD4BF3A}"/>
              </a:ext>
            </a:extLst>
          </p:cNvPr>
          <p:cNvGrpSpPr/>
          <p:nvPr/>
        </p:nvGrpSpPr>
        <p:grpSpPr>
          <a:xfrm>
            <a:off x="865260" y="2347218"/>
            <a:ext cx="248250" cy="248250"/>
            <a:chOff x="1154628" y="2347218"/>
            <a:chExt cx="248250" cy="248250"/>
          </a:xfrm>
        </p:grpSpPr>
        <p:cxnSp>
          <p:nvCxnSpPr>
            <p:cNvPr id="180" name="Connector 12"/>
            <p:cNvCxnSpPr/>
            <p:nvPr/>
          </p:nvCxnSpPr>
          <p:spPr>
            <a:xfrm rot="-176140">
              <a:off x="1155228" y="2465130"/>
              <a:ext cx="24765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chemeClr val="accent4">
                  <a:lumMod val="60000"/>
                  <a:lumOff val="40000"/>
                </a:schemeClr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81" name="Connector 13"/>
            <p:cNvCxnSpPr/>
            <p:nvPr/>
          </p:nvCxnSpPr>
          <p:spPr>
            <a:xfrm rot="5223859">
              <a:off x="1155065" y="2465293"/>
              <a:ext cx="24765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chemeClr val="accent4">
                  <a:lumMod val="60000"/>
                  <a:lumOff val="40000"/>
                </a:schemeClr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82" name="Connector 14"/>
            <p:cNvCxnSpPr/>
            <p:nvPr/>
          </p:nvCxnSpPr>
          <p:spPr>
            <a:xfrm rot="2524005">
              <a:off x="1154628" y="2464796"/>
              <a:ext cx="247855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chemeClr val="accent4">
                  <a:lumMod val="60000"/>
                  <a:lumOff val="40000"/>
                </a:schemeClr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83" name="Connector 15"/>
            <p:cNvCxnSpPr/>
            <p:nvPr/>
          </p:nvCxnSpPr>
          <p:spPr>
            <a:xfrm rot="7924005">
              <a:off x="1155297" y="2464796"/>
              <a:ext cx="247855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chemeClr val="accent4">
                  <a:lumMod val="60000"/>
                  <a:lumOff val="40000"/>
                </a:schemeClr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CD1DB9B4-82DA-573D-7EE9-4BF939415852}"/>
              </a:ext>
            </a:extLst>
          </p:cNvPr>
          <p:cNvGrpSpPr/>
          <p:nvPr/>
        </p:nvGrpSpPr>
        <p:grpSpPr>
          <a:xfrm>
            <a:off x="865260" y="3372708"/>
            <a:ext cx="248250" cy="248525"/>
            <a:chOff x="1154628" y="3372708"/>
            <a:chExt cx="248250" cy="248525"/>
          </a:xfrm>
        </p:grpSpPr>
        <p:cxnSp>
          <p:nvCxnSpPr>
            <p:cNvPr id="184" name="Connector 16"/>
            <p:cNvCxnSpPr/>
            <p:nvPr/>
          </p:nvCxnSpPr>
          <p:spPr>
            <a:xfrm rot="-176140">
              <a:off x="1155228" y="3491290"/>
              <a:ext cx="24765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7C3AED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85" name="Connector 17"/>
            <p:cNvCxnSpPr/>
            <p:nvPr/>
          </p:nvCxnSpPr>
          <p:spPr>
            <a:xfrm rot="5223859">
              <a:off x="1155065" y="3490183"/>
              <a:ext cx="24765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7C3AED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86" name="Connector 18"/>
            <p:cNvCxnSpPr/>
            <p:nvPr/>
          </p:nvCxnSpPr>
          <p:spPr>
            <a:xfrm rot="2524005">
              <a:off x="1154628" y="3490956"/>
              <a:ext cx="247855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7C3AED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87" name="Connector 19"/>
            <p:cNvCxnSpPr/>
            <p:nvPr/>
          </p:nvCxnSpPr>
          <p:spPr>
            <a:xfrm rot="7924005">
              <a:off x="1155297" y="3490956"/>
              <a:ext cx="247855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7C3AED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9CC211ED-CE84-1845-A3F6-6F059F96A3D9}"/>
              </a:ext>
            </a:extLst>
          </p:cNvPr>
          <p:cNvGrpSpPr/>
          <p:nvPr/>
        </p:nvGrpSpPr>
        <p:grpSpPr>
          <a:xfrm>
            <a:off x="858940" y="4395054"/>
            <a:ext cx="254566" cy="254209"/>
            <a:chOff x="1148308" y="4395054"/>
            <a:chExt cx="254566" cy="254209"/>
          </a:xfrm>
        </p:grpSpPr>
        <p:cxnSp>
          <p:nvCxnSpPr>
            <p:cNvPr id="188" name="Connector 20"/>
            <p:cNvCxnSpPr/>
            <p:nvPr/>
          </p:nvCxnSpPr>
          <p:spPr>
            <a:xfrm rot="-171744">
              <a:off x="1148874" y="4516180"/>
              <a:ext cx="2540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2DED97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89" name="Connector 21"/>
            <p:cNvCxnSpPr/>
            <p:nvPr/>
          </p:nvCxnSpPr>
          <p:spPr>
            <a:xfrm rot="5228255">
              <a:off x="1148080" y="4515704"/>
              <a:ext cx="2540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2DED97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90" name="Connector 22"/>
            <p:cNvCxnSpPr/>
            <p:nvPr/>
          </p:nvCxnSpPr>
          <p:spPr>
            <a:xfrm rot="2540499">
              <a:off x="1148308" y="4515842"/>
              <a:ext cx="254143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2DED97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91" name="Connector 23"/>
            <p:cNvCxnSpPr/>
            <p:nvPr/>
          </p:nvCxnSpPr>
          <p:spPr>
            <a:xfrm rot="7916204">
              <a:off x="1148979" y="4515842"/>
              <a:ext cx="254143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2DED97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D310166-D68E-E512-465F-AE9730BFE399}"/>
              </a:ext>
            </a:extLst>
          </p:cNvPr>
          <p:cNvGrpSpPr/>
          <p:nvPr/>
        </p:nvGrpSpPr>
        <p:grpSpPr>
          <a:xfrm>
            <a:off x="864652" y="5419944"/>
            <a:ext cx="255204" cy="254846"/>
            <a:chOff x="1154020" y="5419944"/>
            <a:chExt cx="255204" cy="254846"/>
          </a:xfrm>
        </p:grpSpPr>
        <p:cxnSp>
          <p:nvCxnSpPr>
            <p:cNvPr id="192" name="Connector 24"/>
            <p:cNvCxnSpPr/>
            <p:nvPr/>
          </p:nvCxnSpPr>
          <p:spPr>
            <a:xfrm rot="-171744">
              <a:off x="1155224" y="5541070"/>
              <a:ext cx="2540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93" name="Connector 25"/>
            <p:cNvCxnSpPr/>
            <p:nvPr/>
          </p:nvCxnSpPr>
          <p:spPr>
            <a:xfrm rot="5228255">
              <a:off x="1154430" y="5540594"/>
              <a:ext cx="2540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94" name="Connector 26"/>
            <p:cNvCxnSpPr/>
            <p:nvPr/>
          </p:nvCxnSpPr>
          <p:spPr>
            <a:xfrm rot="2516204">
              <a:off x="1154020" y="5541369"/>
              <a:ext cx="254143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95" name="Connector 27"/>
            <p:cNvCxnSpPr/>
            <p:nvPr/>
          </p:nvCxnSpPr>
          <p:spPr>
            <a:xfrm rot="7940499">
              <a:off x="1154697" y="5541369"/>
              <a:ext cx="254143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</p:grpSp>
      <p:sp>
        <p:nvSpPr>
          <p:cNvPr id="2" name="AutoShape 2">
            <a:extLst>
              <a:ext uri="{FF2B5EF4-FFF2-40B4-BE49-F238E27FC236}">
                <a16:creationId xmlns:a16="http://schemas.microsoft.com/office/drawing/2014/main" id="{5C4B834D-0274-FF31-C1CA-5A9C53586585}"/>
              </a:ext>
            </a:extLst>
          </p:cNvPr>
          <p:cNvSpPr/>
          <p:nvPr/>
        </p:nvSpPr>
        <p:spPr>
          <a:xfrm>
            <a:off x="532416" y="882124"/>
            <a:ext cx="11200868" cy="62953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传统方式 </a:t>
            </a:r>
            <a:r>
              <a:rPr lang="en-US" sz="4000" u="none" strike="noStrike" dirty="0">
                <a:solidFill>
                  <a:srgbClr val="A855F7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VS</a:t>
            </a:r>
            <a:r>
              <a:rPr lang="en-US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AI </a:t>
            </a:r>
            <a:r>
              <a:rPr lang="zh-CN" altLang="en-US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辅助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86594CC-C287-F3EF-7029-4593451571FF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4" name="AutoShape 2">
              <a:extLst>
                <a:ext uri="{FF2B5EF4-FFF2-40B4-BE49-F238E27FC236}">
                  <a16:creationId xmlns:a16="http://schemas.microsoft.com/office/drawing/2014/main" id="{CFD71214-37DF-B21C-6B0C-2390CCF27D45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5" name="AutoShape 2">
              <a:extLst>
                <a:ext uri="{FF2B5EF4-FFF2-40B4-BE49-F238E27FC236}">
                  <a16:creationId xmlns:a16="http://schemas.microsoft.com/office/drawing/2014/main" id="{F2A93F5E-CB2C-8E8B-560E-C1D7B63CBFFA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08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6" name="AutoShape 2">
            <a:extLst>
              <a:ext uri="{FF2B5EF4-FFF2-40B4-BE49-F238E27FC236}">
                <a16:creationId xmlns:a16="http://schemas.microsoft.com/office/drawing/2014/main" id="{EB5CF4C7-BAEC-EBFF-D62D-07D4268BED91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cxnSp>
        <p:nvCxnSpPr>
          <p:cNvPr id="9" name="Connector 5">
            <a:extLst>
              <a:ext uri="{FF2B5EF4-FFF2-40B4-BE49-F238E27FC236}">
                <a16:creationId xmlns:a16="http://schemas.microsoft.com/office/drawing/2014/main" id="{BEB68D0A-F128-FCE8-8211-B8EAACA92A05}"/>
              </a:ext>
            </a:extLst>
          </p:cNvPr>
          <p:cNvCxnSpPr/>
          <p:nvPr/>
        </p:nvCxnSpPr>
        <p:spPr>
          <a:xfrm>
            <a:off x="484456" y="6053662"/>
            <a:ext cx="1124882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322B3C-9DFE-0F79-C04B-4DBA6AC11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Connector 3">
            <a:extLst>
              <a:ext uri="{FF2B5EF4-FFF2-40B4-BE49-F238E27FC236}">
                <a16:creationId xmlns:a16="http://schemas.microsoft.com/office/drawing/2014/main" id="{6A117459-82C7-AB4E-44A5-8737EB80BCA1}"/>
              </a:ext>
            </a:extLst>
          </p:cNvPr>
          <p:cNvCxnSpPr>
            <a:cxnSpLocks/>
          </p:cNvCxnSpPr>
          <p:nvPr/>
        </p:nvCxnSpPr>
        <p:spPr>
          <a:xfrm flipV="1">
            <a:off x="475003" y="1410971"/>
            <a:ext cx="11080742" cy="19233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graphicFrame>
        <p:nvGraphicFramePr>
          <p:cNvPr id="38" name="Table 4">
            <a:extLst>
              <a:ext uri="{FF2B5EF4-FFF2-40B4-BE49-F238E27FC236}">
                <a16:creationId xmlns:a16="http://schemas.microsoft.com/office/drawing/2014/main" id="{C550D3E3-B4EB-71EE-A578-7C9C8FD09D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1635342"/>
              </p:ext>
            </p:extLst>
          </p:nvPr>
        </p:nvGraphicFramePr>
        <p:xfrm>
          <a:off x="532416" y="1959051"/>
          <a:ext cx="11200868" cy="406448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09184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2917371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3367315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  <a:gridCol w="2806998">
                  <a:extLst>
                    <a:ext uri="{9D8B030D-6E8A-4147-A177-3AD203B41FA5}">
                      <a16:colId xmlns:a16="http://schemas.microsoft.com/office/drawing/2014/main" val="4"/>
                    </a:ext>
                  </a:extLst>
                </a:gridCol>
              </a:tblGrid>
              <a:tr h="571982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chemeClr val="tx1"/>
                          </a:solidFill>
                          <a:latin typeface="MiSans VF Semibold" pitchFamily="2" charset="-122"/>
                          <a:ea typeface="MiSans VF Semibold" pitchFamily="2" charset="-122"/>
                          <a:cs typeface="MiSans VF Semibold" pitchFamily="2" charset="-122"/>
                          <a:sym typeface="SimHei"/>
                        </a:rPr>
                        <a:t>场景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Semibold" pitchFamily="2" charset="-122"/>
                        <a:ea typeface="MiSans VF Semibold" pitchFamily="2" charset="-122"/>
                        <a:cs typeface="MiSans VF Semibold" pitchFamily="2" charset="-122"/>
                      </a:endParaRPr>
                    </a:p>
                  </a:txBody>
                  <a:tcPr marL="101600" marR="101600" marT="101600" marB="10160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chemeClr val="tx1"/>
                          </a:solidFill>
                          <a:latin typeface="MiSans VF Semibold" pitchFamily="2" charset="-122"/>
                          <a:ea typeface="MiSans VF Semibold" pitchFamily="2" charset="-122"/>
                          <a:cs typeface="MiSans VF Semibold" pitchFamily="2" charset="-122"/>
                          <a:sym typeface="SimHei"/>
                        </a:rPr>
                        <a:t>传统方式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Semibold" pitchFamily="2" charset="-122"/>
                        <a:ea typeface="MiSans VF Semibold" pitchFamily="2" charset="-122"/>
                        <a:cs typeface="MiSans VF Semibold" pitchFamily="2" charset="-122"/>
                      </a:endParaRPr>
                    </a:p>
                  </a:txBody>
                  <a:tcPr marL="101600" marR="101600" marT="101600" marB="10160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latin typeface="MiSans VF Semibold" pitchFamily="2" charset="-122"/>
                          <a:ea typeface="MiSans VF Semibold" pitchFamily="2" charset="-122"/>
                          <a:cs typeface="MiSans VF Semibold" pitchFamily="2" charset="-122"/>
                          <a:sym typeface="SimHei"/>
                        </a:rPr>
                        <a:t>AI </a:t>
                      </a:r>
                      <a:r>
                        <a:rPr lang="en-US" sz="1600" b="0" i="0" u="none" strike="noStrike" dirty="0" err="1">
                          <a:solidFill>
                            <a:schemeClr val="tx1"/>
                          </a:solidFill>
                          <a:latin typeface="MiSans VF Semibold" pitchFamily="2" charset="-122"/>
                          <a:ea typeface="MiSans VF Semibold" pitchFamily="2" charset="-122"/>
                          <a:cs typeface="MiSans VF Semibold" pitchFamily="2" charset="-122"/>
                          <a:sym typeface="SimHei"/>
                        </a:rPr>
                        <a:t>辅助方式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Semibold" pitchFamily="2" charset="-122"/>
                        <a:ea typeface="MiSans VF Semibold" pitchFamily="2" charset="-122"/>
                        <a:cs typeface="MiSans VF Semibold" pitchFamily="2" charset="-122"/>
                      </a:endParaRPr>
                    </a:p>
                  </a:txBody>
                  <a:tcPr marL="101600" marR="101600" marT="101600" marB="10160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chemeClr val="tx1"/>
                          </a:solidFill>
                          <a:latin typeface="MiSans VF Semibold" pitchFamily="2" charset="-122"/>
                          <a:ea typeface="MiSans VF Semibold" pitchFamily="2" charset="-122"/>
                          <a:cs typeface="MiSans VF Semibold" pitchFamily="2" charset="-122"/>
                          <a:sym typeface="SimHei"/>
                        </a:rPr>
                        <a:t>提效价值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Semibold" pitchFamily="2" charset="-122"/>
                        <a:ea typeface="MiSans VF Semibold" pitchFamily="2" charset="-122"/>
                        <a:cs typeface="MiSans VF Semibold" pitchFamily="2" charset="-122"/>
                      </a:endParaRPr>
                    </a:p>
                  </a:txBody>
                  <a:tcPr marL="101600" marR="101600" marT="101600" marB="10160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会议纪要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人工记录整理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自动转写与摘要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7C3AED"/>
                          </a:solidFill>
                          <a:latin typeface="MISANS VF MEDIUM" pitchFamily="2" charset="-122"/>
                          <a:ea typeface="MISANS VF MEDIUM" pitchFamily="2" charset="-122"/>
                          <a:cs typeface="MISANS VF MEDIUM" pitchFamily="2" charset="-122"/>
                          <a:sym typeface="SimHei"/>
                        </a:rPr>
                        <a:t>节省整理时间</a:t>
                      </a:r>
                      <a:endParaRPr lang="en-US" sz="1100" b="0" i="0" dirty="0">
                        <a:solidFill>
                          <a:srgbClr val="7C3AED"/>
                        </a:solidFill>
                        <a:latin typeface="MISANS VF MEDIUM" pitchFamily="2" charset="-122"/>
                        <a:ea typeface="MISANS VF MEDIUM" pitchFamily="2" charset="-122"/>
                        <a:cs typeface="MISANS VF MEDIUM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市场调研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手动搜索资料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快速汇总多来源信息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7C3AED"/>
                          </a:solidFill>
                          <a:latin typeface="MISANS VF MEDIUM" pitchFamily="2" charset="-122"/>
                          <a:ea typeface="MISANS VF MEDIUM" pitchFamily="2" charset="-122"/>
                          <a:cs typeface="MISANS VF MEDIUM" pitchFamily="2" charset="-122"/>
                          <a:sym typeface="SimHei"/>
                        </a:rPr>
                        <a:t>提升信息密度</a:t>
                      </a:r>
                      <a:endParaRPr lang="en-US" sz="1100" b="0" i="0" dirty="0">
                        <a:solidFill>
                          <a:srgbClr val="7C3AED"/>
                        </a:solidFill>
                        <a:latin typeface="MISANS VF MEDIUM" pitchFamily="2" charset="-122"/>
                        <a:ea typeface="MISANS VF MEDIUM" pitchFamily="2" charset="-122"/>
                        <a:cs typeface="MISANS VF MEDIUM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文案撰写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从零起草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先生成初稿再修改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7C3AED"/>
                          </a:solidFill>
                          <a:latin typeface="MISANS VF MEDIUM" pitchFamily="2" charset="-122"/>
                          <a:ea typeface="MISANS VF MEDIUM" pitchFamily="2" charset="-122"/>
                          <a:cs typeface="MISANS VF MEDIUM" pitchFamily="2" charset="-122"/>
                          <a:sym typeface="SimHei"/>
                        </a:rPr>
                        <a:t>降低启动成本</a:t>
                      </a:r>
                      <a:endParaRPr lang="en-US" sz="1100" b="0" i="0" dirty="0">
                        <a:solidFill>
                          <a:srgbClr val="7C3AED"/>
                        </a:solidFill>
                        <a:latin typeface="MISANS VF MEDIUM" pitchFamily="2" charset="-122"/>
                        <a:ea typeface="MISANS VF MEDIUM" pitchFamily="2" charset="-122"/>
                        <a:cs typeface="MISANS VF MEDIUM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数据分析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手动筛选图表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自动提炼趋势与异常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7C3AED"/>
                          </a:solidFill>
                          <a:latin typeface="MISANS VF MEDIUM" pitchFamily="2" charset="-122"/>
                          <a:ea typeface="MISANS VF MEDIUM" pitchFamily="2" charset="-122"/>
                          <a:cs typeface="MISANS VF MEDIUM" pitchFamily="2" charset="-122"/>
                          <a:sym typeface="SimHei"/>
                        </a:rPr>
                        <a:t>辅助判断</a:t>
                      </a:r>
                      <a:endParaRPr lang="en-US" sz="1100" b="0" i="0" dirty="0">
                        <a:solidFill>
                          <a:srgbClr val="7C3AED"/>
                        </a:solidFill>
                        <a:latin typeface="MISANS VF MEDIUM" pitchFamily="2" charset="-122"/>
                        <a:ea typeface="MISANS VF MEDIUM" pitchFamily="2" charset="-122"/>
                        <a:cs typeface="MISANS VF MEDIUM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知识管理</a:t>
                      </a:r>
                      <a:endParaRPr lang="en-US" sz="1100" b="0" i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依赖个人经验查找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知识库问答与自动归档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7C3AED"/>
                          </a:solidFill>
                          <a:latin typeface="MISANS VF MEDIUM" pitchFamily="2" charset="-122"/>
                          <a:ea typeface="MISANS VF MEDIUM" pitchFamily="2" charset="-122"/>
                          <a:cs typeface="MISANS VF MEDIUM" pitchFamily="2" charset="-122"/>
                          <a:sym typeface="SimHei"/>
                        </a:rPr>
                        <a:t>提高复用率</a:t>
                      </a:r>
                      <a:endParaRPr lang="en-US" sz="1100" b="0" i="0" dirty="0">
                        <a:solidFill>
                          <a:srgbClr val="7C3AED"/>
                        </a:solidFill>
                        <a:latin typeface="MISANS VF MEDIUM" pitchFamily="2" charset="-122"/>
                        <a:ea typeface="MISANS VF MEDIUM" pitchFamily="2" charset="-122"/>
                        <a:cs typeface="MISANS VF MEDIUM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"/>
                  </a:ext>
                </a:extLst>
              </a:tr>
            </a:tbl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3F7247FE-9ED6-6420-740B-6C6D6CC21CE9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>
              <a:extLst>
                <a:ext uri="{FF2B5EF4-FFF2-40B4-BE49-F238E27FC236}">
                  <a16:creationId xmlns:a16="http://schemas.microsoft.com/office/drawing/2014/main" id="{2A8621B6-F922-D072-08BA-E49802961EF9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4" name="AutoShape 2">
              <a:extLst>
                <a:ext uri="{FF2B5EF4-FFF2-40B4-BE49-F238E27FC236}">
                  <a16:creationId xmlns:a16="http://schemas.microsoft.com/office/drawing/2014/main" id="{FA8D5201-D041-29D5-6489-277052D47582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09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5" name="AutoShape 2">
            <a:extLst>
              <a:ext uri="{FF2B5EF4-FFF2-40B4-BE49-F238E27FC236}">
                <a16:creationId xmlns:a16="http://schemas.microsoft.com/office/drawing/2014/main" id="{DD9FC945-D8E5-097F-44A7-18D650F6E693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7CCC5246-1AF8-00EE-91DE-219440D32BEE}"/>
              </a:ext>
            </a:extLst>
          </p:cNvPr>
          <p:cNvSpPr/>
          <p:nvPr/>
        </p:nvSpPr>
        <p:spPr>
          <a:xfrm>
            <a:off x="532416" y="882124"/>
            <a:ext cx="11200868" cy="62953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传统方式 </a:t>
            </a:r>
            <a:r>
              <a:rPr lang="en-US" sz="4000" u="none" strike="noStrike" dirty="0">
                <a:solidFill>
                  <a:srgbClr val="A855F7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VS</a:t>
            </a:r>
            <a:r>
              <a:rPr lang="en-US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AI </a:t>
            </a:r>
            <a:r>
              <a:rPr lang="zh-CN" altLang="en-US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辅助</a:t>
            </a:r>
          </a:p>
        </p:txBody>
      </p:sp>
    </p:spTree>
    <p:extLst>
      <p:ext uri="{BB962C8B-B14F-4D97-AF65-F5344CB8AC3E}">
        <p14:creationId xmlns:p14="http://schemas.microsoft.com/office/powerpoint/2010/main" val="1809502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AutoShape 2">
            <a:extLst>
              <a:ext uri="{FF2B5EF4-FFF2-40B4-BE49-F238E27FC236}">
                <a16:creationId xmlns:a16="http://schemas.microsoft.com/office/drawing/2014/main" id="{EF3D96FC-12D1-1BEF-D2C9-BFC6C819805B}"/>
              </a:ext>
            </a:extLst>
          </p:cNvPr>
          <p:cNvSpPr/>
          <p:nvPr/>
        </p:nvSpPr>
        <p:spPr>
          <a:xfrm>
            <a:off x="6842760" y="2627068"/>
            <a:ext cx="4890524" cy="1681295"/>
          </a:xfrm>
          <a:prstGeom prst="roundRect">
            <a:avLst>
              <a:gd name="adj" fmla="val 15331"/>
            </a:avLst>
          </a:prstGeom>
          <a:solidFill>
            <a:srgbClr val="F6F6F6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2" name="AutoShape 2"/>
          <p:cNvSpPr/>
          <p:nvPr/>
        </p:nvSpPr>
        <p:spPr>
          <a:xfrm>
            <a:off x="6842760" y="918583"/>
            <a:ext cx="4890524" cy="1681295"/>
          </a:xfrm>
          <a:prstGeom prst="roundRect">
            <a:avLst>
              <a:gd name="adj" fmla="val 15331"/>
            </a:avLst>
          </a:prstGeom>
          <a:solidFill>
            <a:srgbClr val="F6F6F6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9" name="AutoShape 2">
            <a:extLst>
              <a:ext uri="{FF2B5EF4-FFF2-40B4-BE49-F238E27FC236}">
                <a16:creationId xmlns:a16="http://schemas.microsoft.com/office/drawing/2014/main" id="{0AAADEF1-2BF3-4055-0519-65F7A3E04C8E}"/>
              </a:ext>
            </a:extLst>
          </p:cNvPr>
          <p:cNvSpPr/>
          <p:nvPr/>
        </p:nvSpPr>
        <p:spPr>
          <a:xfrm>
            <a:off x="6842760" y="4335552"/>
            <a:ext cx="4890524" cy="1681295"/>
          </a:xfrm>
          <a:prstGeom prst="roundRect">
            <a:avLst>
              <a:gd name="adj" fmla="val 15331"/>
            </a:avLst>
          </a:prstGeom>
          <a:solidFill>
            <a:srgbClr val="F6F6F6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156449" y="1710650"/>
            <a:ext cx="4273551" cy="430887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麦肯锡全球调研显示，72%的受访组织已在至少一个业务职能中使用 </a:t>
            </a:r>
            <a:r>
              <a:rPr lang="en-US" sz="1400" u="none" strike="noStrike" dirty="0" err="1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AI，标志着初步普及</a:t>
            </a:r>
            <a:r>
              <a:rPr lang="en-US" sz="14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156448" y="1333460"/>
            <a:ext cx="4273551" cy="24622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u="none" strike="noStrike" dirty="0" err="1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广泛普及</a:t>
            </a:r>
            <a:endParaRPr lang="en-US" sz="11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8" name="AutoShape 9"/>
          <p:cNvSpPr/>
          <p:nvPr/>
        </p:nvSpPr>
        <p:spPr>
          <a:xfrm>
            <a:off x="7156449" y="3415325"/>
            <a:ext cx="4273548" cy="430887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 err="1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尽管单点普及率高，但仅有</a:t>
            </a:r>
            <a:r>
              <a:rPr lang="en-US" sz="14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 15% </a:t>
            </a:r>
            <a:r>
              <a:rPr lang="en-US" sz="1400" u="none" strike="noStrike" dirty="0" err="1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的组织能够在</a:t>
            </a:r>
            <a:r>
              <a:rPr lang="en-US" sz="14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 4 </a:t>
            </a:r>
            <a:r>
              <a:rPr lang="en-US" sz="1400" u="none" strike="noStrike" dirty="0" err="1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个及以上的核心职能中深度采用</a:t>
            </a:r>
            <a:r>
              <a:rPr lang="en-US" sz="14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 AI。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9" name="AutoShape 10"/>
          <p:cNvSpPr/>
          <p:nvPr/>
        </p:nvSpPr>
        <p:spPr>
          <a:xfrm>
            <a:off x="7156449" y="3038135"/>
            <a:ext cx="4273548" cy="24622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u="none" strike="noStrike" dirty="0" err="1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深度应用不足</a:t>
            </a:r>
            <a:endParaRPr lang="en-US" sz="11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1" name="AutoShape 12"/>
          <p:cNvSpPr/>
          <p:nvPr/>
        </p:nvSpPr>
        <p:spPr>
          <a:xfrm>
            <a:off x="7156449" y="5102986"/>
            <a:ext cx="4273550" cy="430887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 err="1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真正深入多职能协同的组织还在少数，跨部门的流程改造将是效率升级的最大难点</a:t>
            </a:r>
            <a:r>
              <a:rPr lang="en-US" sz="14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2" name="AutoShape 13"/>
          <p:cNvSpPr/>
          <p:nvPr/>
        </p:nvSpPr>
        <p:spPr>
          <a:xfrm>
            <a:off x="7156448" y="4725796"/>
            <a:ext cx="4273549" cy="24622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u="none" strike="noStrike" dirty="0" err="1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协同挑战</a:t>
            </a:r>
            <a:endParaRPr lang="en-US" sz="11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9" name="AutoShape 15"/>
          <p:cNvSpPr/>
          <p:nvPr/>
        </p:nvSpPr>
        <p:spPr>
          <a:xfrm>
            <a:off x="484456" y="5656976"/>
            <a:ext cx="550926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>
                <a:solidFill>
                  <a:srgbClr val="80808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*</a:t>
            </a:r>
            <a:r>
              <a:rPr lang="zh-CN" sz="1200" u="none" strike="noStrike" dirty="0">
                <a:solidFill>
                  <a:srgbClr val="80808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受访组织在不同数量业务职能中使用</a:t>
            </a:r>
            <a:r>
              <a:rPr lang="en-US" sz="1200" u="none" strike="noStrike" dirty="0">
                <a:solidFill>
                  <a:srgbClr val="80808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</a:t>
            </a:r>
            <a:r>
              <a:rPr lang="zh-CN" sz="1200" u="none" strike="noStrike" dirty="0">
                <a:solidFill>
                  <a:srgbClr val="80808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的比例（</a:t>
            </a:r>
            <a:r>
              <a:rPr lang="en-US" sz="1200" u="none" strike="noStrike" dirty="0">
                <a:solidFill>
                  <a:srgbClr val="80808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%</a:t>
            </a:r>
            <a:r>
              <a:rPr lang="zh-CN" sz="1200" u="none" strike="noStrike" dirty="0">
                <a:solidFill>
                  <a:srgbClr val="80808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）</a:t>
            </a:r>
            <a:endParaRPr dirty="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05238" y="2532068"/>
            <a:ext cx="5669907" cy="2722311"/>
            <a:chOff x="634405" y="1479058"/>
            <a:chExt cx="4344994" cy="2086175"/>
          </a:xfrm>
        </p:grpSpPr>
        <p:sp>
          <p:nvSpPr>
            <p:cNvPr id="21" name="AutoShape 15"/>
            <p:cNvSpPr/>
            <p:nvPr/>
          </p:nvSpPr>
          <p:spPr>
            <a:xfrm>
              <a:off x="634405" y="1485833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 dirty="0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1</a:t>
              </a:r>
              <a:r>
                <a:rPr lang="zh-CN" sz="1200" b="0" i="0" u="none" strike="noStrike" dirty="0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2" name="AutoShape 15"/>
            <p:cNvSpPr/>
            <p:nvPr/>
          </p:nvSpPr>
          <p:spPr>
            <a:xfrm>
              <a:off x="634405" y="2100446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2</a:t>
              </a:r>
              <a:r>
                <a:rPr lang="zh-CN" sz="1200" b="0" i="0" u="none" strike="noStrike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>
                <a:solidFill>
                  <a:schemeClr val="tx1">
                    <a:lumMod val="50000"/>
                    <a:lumOff val="50000"/>
                  </a:schemeClr>
                </a:solidFill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3" name="AutoShape 15"/>
            <p:cNvSpPr/>
            <p:nvPr/>
          </p:nvSpPr>
          <p:spPr>
            <a:xfrm>
              <a:off x="634405" y="2669540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3</a:t>
              </a:r>
              <a:r>
                <a:rPr lang="zh-CN" sz="1200" b="0" i="0" u="none" strike="noStrike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>
                <a:solidFill>
                  <a:schemeClr val="tx1">
                    <a:lumMod val="50000"/>
                    <a:lumOff val="50000"/>
                  </a:schemeClr>
                </a:solidFill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4" name="AutoShape 15"/>
            <p:cNvSpPr/>
            <p:nvPr/>
          </p:nvSpPr>
          <p:spPr>
            <a:xfrm>
              <a:off x="634405" y="3238634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4</a:t>
              </a:r>
              <a:r>
                <a:rPr lang="zh-CN" sz="1200" b="0" i="0" u="none" strike="noStrike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>
                <a:solidFill>
                  <a:schemeClr val="tx1">
                    <a:lumMod val="50000"/>
                    <a:lumOff val="50000"/>
                  </a:schemeClr>
                </a:solidFill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314709" y="1501709"/>
              <a:ext cx="3008312" cy="285749"/>
            </a:xfrm>
            <a:prstGeom prst="rect">
              <a:avLst/>
            </a:prstGeom>
            <a:solidFill>
              <a:srgbClr val="2DED97"/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 dirty="0">
                <a:highlight>
                  <a:srgbClr val="6366F1">
                    <a:alpha val="10000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314709" y="2132197"/>
              <a:ext cx="2298700" cy="285749"/>
            </a:xfrm>
            <a:prstGeom prst="rect">
              <a:avLst/>
            </a:prstGeom>
            <a:solidFill>
              <a:srgbClr val="A855F7"/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310105" y="2685416"/>
              <a:ext cx="1210789" cy="285749"/>
            </a:xfrm>
            <a:prstGeom prst="rect">
              <a:avLst/>
            </a:prstGeom>
            <a:solidFill>
              <a:srgbClr val="FFF043"/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1310106" y="3254510"/>
              <a:ext cx="605393" cy="2857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9" name="AutoShape 15"/>
            <p:cNvSpPr/>
            <p:nvPr/>
          </p:nvSpPr>
          <p:spPr>
            <a:xfrm>
              <a:off x="4417093" y="1479058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u="none" strike="noStrike">
                  <a:solidFill>
                    <a:schemeClr val="tx1"/>
                  </a:solidFill>
                  <a:highlight>
                    <a:srgbClr val="FFFFFF">
                      <a:alpha val="0"/>
                    </a:srgbClr>
                  </a:highlight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  <a:sym typeface="Arial"/>
                </a:rPr>
                <a:t>72%</a:t>
              </a:r>
              <a:endParaRPr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30" name="AutoShape 15"/>
            <p:cNvSpPr/>
            <p:nvPr/>
          </p:nvSpPr>
          <p:spPr>
            <a:xfrm>
              <a:off x="3707481" y="2109546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u="none" strike="noStrike" dirty="0">
                  <a:solidFill>
                    <a:schemeClr val="tx1"/>
                  </a:solidFill>
                  <a:highlight>
                    <a:srgbClr val="FFFFFF">
                      <a:alpha val="0"/>
                    </a:srgbClr>
                  </a:highlight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  <a:sym typeface="Arial"/>
                </a:rPr>
                <a:t>50%</a:t>
              </a:r>
              <a:endParaRPr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31" name="AutoShape 15"/>
            <p:cNvSpPr/>
            <p:nvPr/>
          </p:nvSpPr>
          <p:spPr>
            <a:xfrm>
              <a:off x="2610362" y="2662765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u="none" strike="noStrike">
                  <a:solidFill>
                    <a:schemeClr val="tx1"/>
                  </a:solidFill>
                  <a:highlight>
                    <a:srgbClr val="FFFFFF">
                      <a:alpha val="0"/>
                    </a:srgbClr>
                  </a:highlight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  <a:sym typeface="Arial"/>
                </a:rPr>
                <a:t>27%</a:t>
              </a:r>
              <a:endParaRPr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32" name="AutoShape 15"/>
            <p:cNvSpPr/>
            <p:nvPr/>
          </p:nvSpPr>
          <p:spPr>
            <a:xfrm>
              <a:off x="2004968" y="3247734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u="none" strike="noStrike">
                  <a:solidFill>
                    <a:schemeClr val="tx1"/>
                  </a:solidFill>
                  <a:highlight>
                    <a:srgbClr val="FFFFFF">
                      <a:alpha val="0"/>
                    </a:srgbClr>
                  </a:highlight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  <a:sym typeface="Arial"/>
                </a:rPr>
                <a:t>15%</a:t>
              </a:r>
              <a:endParaRPr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9DB4B096-6E8C-7D82-8F3C-D6C81BB4B343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4" name="AutoShape 2">
              <a:extLst>
                <a:ext uri="{FF2B5EF4-FFF2-40B4-BE49-F238E27FC236}">
                  <a16:creationId xmlns:a16="http://schemas.microsoft.com/office/drawing/2014/main" id="{D8778C58-5A9B-5D43-3A53-58A8A26002A0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35" name="AutoShape 2">
              <a:extLst>
                <a:ext uri="{FF2B5EF4-FFF2-40B4-BE49-F238E27FC236}">
                  <a16:creationId xmlns:a16="http://schemas.microsoft.com/office/drawing/2014/main" id="{5F2D3A58-11E2-6A93-7742-D9184BEDF331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10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36" name="AutoShape 2">
            <a:extLst>
              <a:ext uri="{FF2B5EF4-FFF2-40B4-BE49-F238E27FC236}">
                <a16:creationId xmlns:a16="http://schemas.microsoft.com/office/drawing/2014/main" id="{B90E4317-8DFE-77C9-E8A7-38D189F41567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37" name="AutoShape 2">
            <a:extLst>
              <a:ext uri="{FF2B5EF4-FFF2-40B4-BE49-F238E27FC236}">
                <a16:creationId xmlns:a16="http://schemas.microsoft.com/office/drawing/2014/main" id="{2EEF8B1D-C588-03AA-AC74-15C3EA141A4E}"/>
              </a:ext>
            </a:extLst>
          </p:cNvPr>
          <p:cNvSpPr/>
          <p:nvPr/>
        </p:nvSpPr>
        <p:spPr>
          <a:xfrm>
            <a:off x="532415" y="882124"/>
            <a:ext cx="5461301" cy="62953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8332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AI </a:t>
            </a:r>
            <a:r>
              <a:rPr lang="zh-CN" altLang="en-US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已进入主流</a:t>
            </a:r>
            <a:r>
              <a:rPr lang="zh-CN" altLang="en-US" sz="4000" u="none" strike="noStrike" dirty="0">
                <a:solidFill>
                  <a:srgbClr val="A855F7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工作流</a:t>
            </a:r>
          </a:p>
        </p:txBody>
      </p:sp>
      <p:sp>
        <p:nvSpPr>
          <p:cNvPr id="40" name="AutoShape 3">
            <a:extLst>
              <a:ext uri="{FF2B5EF4-FFF2-40B4-BE49-F238E27FC236}">
                <a16:creationId xmlns:a16="http://schemas.microsoft.com/office/drawing/2014/main" id="{8AEFA9AF-035D-4774-02DB-077D02035C7C}"/>
              </a:ext>
            </a:extLst>
          </p:cNvPr>
          <p:cNvSpPr/>
          <p:nvPr/>
        </p:nvSpPr>
        <p:spPr>
          <a:xfrm>
            <a:off x="524797" y="1647304"/>
            <a:ext cx="5571203" cy="600164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AI</a:t>
            </a:r>
            <a:r>
              <a:rPr lang="zh-CN" altLang="en-US" sz="1400" u="none" strike="noStrike" dirty="0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正从技术工具扩展至营销、产品、</a:t>
            </a:r>
            <a:r>
              <a:rPr lang="en-US" sz="1400" u="none" strike="noStrike" dirty="0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IT、</a:t>
            </a:r>
            <a:r>
              <a:rPr lang="zh-CN" altLang="en-US" sz="1400" u="none" strike="noStrike" dirty="0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运营等日常业务场景，应用已过尝鲜阶段，但多职能协同的深度整合仍不普遍。</a:t>
            </a:r>
          </a:p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100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utoShape 2"/>
          <p:cNvSpPr/>
          <p:nvPr/>
        </p:nvSpPr>
        <p:spPr>
          <a:xfrm>
            <a:off x="7448550" y="0"/>
            <a:ext cx="4743450" cy="6858000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 dirty="0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5" name="AutoShape 3"/>
          <p:cNvSpPr/>
          <p:nvPr/>
        </p:nvSpPr>
        <p:spPr>
          <a:xfrm>
            <a:off x="482600" y="1842599"/>
            <a:ext cx="6574334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AI </a:t>
            </a:r>
            <a:r>
              <a:rPr lang="en-US" sz="24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使用率加速上升</a:t>
            </a:r>
            <a:endParaRPr lang="en-US" sz="24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36" name="AutoShape 4"/>
          <p:cNvSpPr/>
          <p:nvPr/>
        </p:nvSpPr>
        <p:spPr>
          <a:xfrm>
            <a:off x="482600" y="824523"/>
            <a:ext cx="6574334" cy="101566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6600" u="none" strike="noStrike" dirty="0">
                <a:solidFill>
                  <a:srgbClr val="7C3AED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88%</a:t>
            </a:r>
            <a:endParaRPr lang="en-US" sz="66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37" name="AutoShape 5"/>
          <p:cNvSpPr/>
          <p:nvPr/>
        </p:nvSpPr>
        <p:spPr>
          <a:xfrm>
            <a:off x="8473440" y="1848145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 </a:t>
            </a:r>
            <a:r>
              <a:rPr lang="en-US" sz="1200" u="none" strike="noStrike" dirty="0" err="1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使用率在</a:t>
            </a:r>
            <a:r>
              <a:rPr lang="en-US" sz="1200" u="none" strike="noStrike" dirty="0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2023 </a:t>
            </a:r>
            <a:r>
              <a:rPr lang="en-US" sz="1200" u="none" strike="noStrike" dirty="0" err="1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年后明显加速，生成式</a:t>
            </a:r>
            <a:r>
              <a:rPr lang="en-US" sz="1200" u="none" strike="noStrike" dirty="0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AI </a:t>
            </a:r>
            <a:r>
              <a:rPr lang="en-US" sz="1200" u="none" strike="noStrike" dirty="0" err="1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正在推动组织采用进入新阶段</a:t>
            </a:r>
            <a:r>
              <a:rPr lang="en-US" sz="1200" u="none" strike="noStrike" dirty="0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38" name="AutoShape 6"/>
          <p:cNvSpPr/>
          <p:nvPr/>
        </p:nvSpPr>
        <p:spPr>
          <a:xfrm>
            <a:off x="8473440" y="2781595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采用率提升不等于价值兑现，真正的差距在于是否把 AI 嵌入核心工作流。</a:t>
            </a:r>
            <a:endParaRPr lang="en-US" sz="110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39" name="AutoShape 7"/>
          <p:cNvSpPr/>
          <p:nvPr/>
        </p:nvSpPr>
        <p:spPr>
          <a:xfrm>
            <a:off x="8473440" y="3721395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从单点工具到跨职能协作，AI 的价值正在从"个人提效"转向"流程重构"。</a:t>
            </a:r>
            <a:endParaRPr lang="en-US" sz="110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40" name="AutoShape 8"/>
          <p:cNvSpPr/>
          <p:nvPr/>
        </p:nvSpPr>
        <p:spPr>
          <a:xfrm>
            <a:off x="8473440" y="4639605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下一阶段的竞争重点，不是谁先使用 AI，而是谁能更快完成规模化落地。</a:t>
            </a:r>
            <a:endParaRPr lang="en-US" sz="110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42" name="AutoShape 10"/>
          <p:cNvSpPr/>
          <p:nvPr/>
        </p:nvSpPr>
        <p:spPr>
          <a:xfrm>
            <a:off x="8047990" y="2799375"/>
            <a:ext cx="203200" cy="203200"/>
          </a:xfrm>
          <a:prstGeom prst="ellipse">
            <a:avLst/>
          </a:prstGeom>
          <a:solidFill>
            <a:srgbClr val="A855F7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3" name="AutoShape 11"/>
          <p:cNvSpPr/>
          <p:nvPr/>
        </p:nvSpPr>
        <p:spPr>
          <a:xfrm>
            <a:off x="8047990" y="3748065"/>
            <a:ext cx="203200" cy="203200"/>
          </a:xfrm>
          <a:prstGeom prst="ellipse">
            <a:avLst/>
          </a:prstGeom>
          <a:solidFill>
            <a:srgbClr val="2DED97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4" name="AutoShape 12"/>
          <p:cNvSpPr/>
          <p:nvPr/>
        </p:nvSpPr>
        <p:spPr>
          <a:xfrm>
            <a:off x="8047990" y="4659925"/>
            <a:ext cx="203200" cy="2032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cxnSp>
        <p:nvCxnSpPr>
          <p:cNvPr id="49" name="直线箭头连接符 48"/>
          <p:cNvCxnSpPr/>
          <p:nvPr/>
        </p:nvCxnSpPr>
        <p:spPr>
          <a:xfrm>
            <a:off x="3702164" y="2589381"/>
            <a:ext cx="21166" cy="3048073"/>
          </a:xfrm>
          <a:prstGeom prst="straightConnector1">
            <a:avLst/>
          </a:prstGeom>
          <a:ln w="12700">
            <a:solidFill>
              <a:schemeClr val="bg1">
                <a:lumMod val="75000"/>
                <a:alpha val="100000"/>
              </a:schemeClr>
            </a:solidFill>
            <a:prstDash val="sysDot"/>
          </a:ln>
        </p:spPr>
      </p:cxnSp>
      <p:graphicFrame>
        <p:nvGraphicFramePr>
          <p:cNvPr id="50" name="50"/>
          <p:cNvGraphicFramePr/>
          <p:nvPr>
            <p:extLst>
              <p:ext uri="{D42A27DB-BD31-4B8C-83A1-F6EECF244321}">
                <p14:modId xmlns:p14="http://schemas.microsoft.com/office/powerpoint/2010/main" val="4120065021"/>
              </p:ext>
            </p:extLst>
          </p:nvPr>
        </p:nvGraphicFramePr>
        <p:xfrm>
          <a:off x="370810" y="2645867"/>
          <a:ext cx="6686124" cy="37250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1" name="文本框 50"/>
          <p:cNvSpPr txBox="1"/>
          <p:nvPr/>
        </p:nvSpPr>
        <p:spPr>
          <a:xfrm>
            <a:off x="3690589" y="2706370"/>
            <a:ext cx="1052861" cy="45720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pPr algn="l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dirty="0">
                <a:solidFill>
                  <a:srgbClr val="7C3AED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23</a:t>
            </a:r>
            <a:r>
              <a:rPr lang="zh-CN" sz="1200" dirty="0">
                <a:solidFill>
                  <a:srgbClr val="7C3AED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年后加速</a:t>
            </a:r>
            <a:endParaRPr sz="12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  <a:p>
            <a:pPr algn="l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dirty="0">
                <a:solidFill>
                  <a:srgbClr val="7C3AED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+33%</a:t>
            </a:r>
            <a:endParaRPr sz="12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CDDC77A-1FA8-B6FE-5004-6F43CF9F16CF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>
              <a:extLst>
                <a:ext uri="{FF2B5EF4-FFF2-40B4-BE49-F238E27FC236}">
                  <a16:creationId xmlns:a16="http://schemas.microsoft.com/office/drawing/2014/main" id="{A2A0430E-5F9A-DED7-92E1-A5CD60E30EE0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4" name="AutoShape 2">
              <a:extLst>
                <a:ext uri="{FF2B5EF4-FFF2-40B4-BE49-F238E27FC236}">
                  <a16:creationId xmlns:a16="http://schemas.microsoft.com/office/drawing/2014/main" id="{D5A487C6-3AB2-0006-85B0-F1A5B1ADACD0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bg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11</a:t>
              </a:r>
              <a:endParaRPr lang="en-US" sz="800" dirty="0">
                <a:solidFill>
                  <a:schemeClr val="bg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5" name="AutoShape 2">
            <a:extLst>
              <a:ext uri="{FF2B5EF4-FFF2-40B4-BE49-F238E27FC236}">
                <a16:creationId xmlns:a16="http://schemas.microsoft.com/office/drawing/2014/main" id="{42596C2F-784F-52C5-C558-C3EB4FD0C789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6" name="AutoShape 10">
            <a:extLst>
              <a:ext uri="{FF2B5EF4-FFF2-40B4-BE49-F238E27FC236}">
                <a16:creationId xmlns:a16="http://schemas.microsoft.com/office/drawing/2014/main" id="{72942C5F-9BBE-76D0-7176-1897F65217D5}"/>
              </a:ext>
            </a:extLst>
          </p:cNvPr>
          <p:cNvSpPr/>
          <p:nvPr/>
        </p:nvSpPr>
        <p:spPr>
          <a:xfrm>
            <a:off x="8047990" y="1848399"/>
            <a:ext cx="203200" cy="203200"/>
          </a:xfrm>
          <a:prstGeom prst="ellipse">
            <a:avLst/>
          </a:prstGeom>
          <a:solidFill>
            <a:srgbClr val="FFFF00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B270DAF-248E-5189-D8F3-D057C58F3D1D}"/>
              </a:ext>
            </a:extLst>
          </p:cNvPr>
          <p:cNvSpPr txBox="1"/>
          <p:nvPr/>
        </p:nvSpPr>
        <p:spPr>
          <a:xfrm>
            <a:off x="8047990" y="920503"/>
            <a:ext cx="13689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400" b="1" i="0" u="none" strike="noStrike" dirty="0">
                <a:solidFill>
                  <a:srgbClr val="A855F7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Trending</a:t>
            </a:r>
            <a:endParaRPr lang="en-US" altLang="zh-CN" sz="1100" dirty="0">
              <a:solidFill>
                <a:srgbClr val="A855F7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7D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C34D93-094B-81AF-0172-7C328A616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>
            <a:extLst>
              <a:ext uri="{FF2B5EF4-FFF2-40B4-BE49-F238E27FC236}">
                <a16:creationId xmlns:a16="http://schemas.microsoft.com/office/drawing/2014/main" id="{A4E6133C-DDA4-801F-46D0-BC77ACC0FBBB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21" name="AutoShape 2">
              <a:extLst>
                <a:ext uri="{FF2B5EF4-FFF2-40B4-BE49-F238E27FC236}">
                  <a16:creationId xmlns:a16="http://schemas.microsoft.com/office/drawing/2014/main" id="{CB03CFB2-5CDA-0DE4-0FB5-E0044E51BCB1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23" name="AutoShape 2">
              <a:extLst>
                <a:ext uri="{FF2B5EF4-FFF2-40B4-BE49-F238E27FC236}">
                  <a16:creationId xmlns:a16="http://schemas.microsoft.com/office/drawing/2014/main" id="{4F0B1861-0E7F-AE0A-DF20-EF3A65E68DDE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COVER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24" name="AutoShape 2">
            <a:extLst>
              <a:ext uri="{FF2B5EF4-FFF2-40B4-BE49-F238E27FC236}">
                <a16:creationId xmlns:a16="http://schemas.microsoft.com/office/drawing/2014/main" id="{6AEF0C9D-702D-CA9C-EF94-CB281C9887D8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4A1965C3-E4CD-17D6-100D-434D972A31D4}"/>
              </a:ext>
            </a:extLst>
          </p:cNvPr>
          <p:cNvGrpSpPr/>
          <p:nvPr/>
        </p:nvGrpSpPr>
        <p:grpSpPr>
          <a:xfrm>
            <a:off x="6217553" y="708538"/>
            <a:ext cx="5583488" cy="5583490"/>
            <a:chOff x="6217553" y="708538"/>
            <a:chExt cx="5583488" cy="5583490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B2D83A8B-B5A1-3188-4950-F6C5F7B71D0E}"/>
                </a:ext>
              </a:extLst>
            </p:cNvPr>
            <p:cNvSpPr/>
            <p:nvPr/>
          </p:nvSpPr>
          <p:spPr>
            <a:xfrm>
              <a:off x="6217553" y="708538"/>
              <a:ext cx="1860574" cy="18605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F5AE123D-D515-72BB-2ACA-2192C4ABDF88}"/>
                </a:ext>
              </a:extLst>
            </p:cNvPr>
            <p:cNvSpPr/>
            <p:nvPr/>
          </p:nvSpPr>
          <p:spPr>
            <a:xfrm>
              <a:off x="8079010" y="708538"/>
              <a:ext cx="1860574" cy="18605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F47C3377-5BB8-968A-06FC-838BEC2EE7EF}"/>
                </a:ext>
              </a:extLst>
            </p:cNvPr>
            <p:cNvSpPr/>
            <p:nvPr/>
          </p:nvSpPr>
          <p:spPr>
            <a:xfrm>
              <a:off x="9940467" y="708538"/>
              <a:ext cx="1860574" cy="1860574"/>
            </a:xfrm>
            <a:prstGeom prst="ellipse">
              <a:avLst/>
            </a:prstGeom>
            <a:solidFill>
              <a:srgbClr val="2DED9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B05426B2-5EBB-5963-AAF4-607FDD40D4A6}"/>
                </a:ext>
              </a:extLst>
            </p:cNvPr>
            <p:cNvSpPr/>
            <p:nvPr/>
          </p:nvSpPr>
          <p:spPr>
            <a:xfrm>
              <a:off x="6217553" y="2569996"/>
              <a:ext cx="1860574" cy="1860574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0CEEBF2B-38E7-34DE-2B1B-C76473589A14}"/>
                </a:ext>
              </a:extLst>
            </p:cNvPr>
            <p:cNvSpPr/>
            <p:nvPr/>
          </p:nvSpPr>
          <p:spPr>
            <a:xfrm>
              <a:off x="8079010" y="2569996"/>
              <a:ext cx="1860574" cy="18605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B726B264-9879-071C-13FB-560C22686F19}"/>
                </a:ext>
              </a:extLst>
            </p:cNvPr>
            <p:cNvSpPr/>
            <p:nvPr/>
          </p:nvSpPr>
          <p:spPr>
            <a:xfrm>
              <a:off x="9940467" y="2569996"/>
              <a:ext cx="1860574" cy="18605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B5140B2D-B57A-AB18-85F0-A3628C1C0909}"/>
                </a:ext>
              </a:extLst>
            </p:cNvPr>
            <p:cNvSpPr/>
            <p:nvPr/>
          </p:nvSpPr>
          <p:spPr>
            <a:xfrm>
              <a:off x="6217553" y="4431454"/>
              <a:ext cx="1860574" cy="18605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5CB4DC02-4DD0-3B96-6462-3FA1878E861F}"/>
                </a:ext>
              </a:extLst>
            </p:cNvPr>
            <p:cNvSpPr/>
            <p:nvPr/>
          </p:nvSpPr>
          <p:spPr>
            <a:xfrm>
              <a:off x="8079010" y="4431454"/>
              <a:ext cx="1860574" cy="1860574"/>
            </a:xfrm>
            <a:prstGeom prst="ellipse">
              <a:avLst/>
            </a:prstGeom>
            <a:solidFill>
              <a:srgbClr val="FFF04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FEB8E9D0-3682-354B-A134-5F24FE33E23A}"/>
                </a:ext>
              </a:extLst>
            </p:cNvPr>
            <p:cNvSpPr/>
            <p:nvPr/>
          </p:nvSpPr>
          <p:spPr>
            <a:xfrm>
              <a:off x="9940467" y="4431454"/>
              <a:ext cx="1860574" cy="18605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3AF5779E-5D86-2004-6945-02BEEEE6F1D6}"/>
                </a:ext>
              </a:extLst>
            </p:cNvPr>
            <p:cNvSpPr txBox="1"/>
            <p:nvPr/>
          </p:nvSpPr>
          <p:spPr>
            <a:xfrm>
              <a:off x="10089215" y="1484936"/>
              <a:ext cx="156307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r>
                <a:rPr lang="en-US" altLang="zh-CN" sz="1200" b="1" strike="noStrike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Sans VF Bold" pitchFamily="2" charset="-122"/>
                  <a:ea typeface="MiSans VF Bold" pitchFamily="2" charset="-122"/>
                  <a:cs typeface="MiSans VF Bold" pitchFamily="2" charset="-122"/>
                  <a:sym typeface="Arial"/>
                </a:rPr>
                <a:t>WORKFLOW</a:t>
              </a:r>
              <a:endPara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971B21AA-CEDE-6D17-2090-BFC060568376}"/>
                </a:ext>
              </a:extLst>
            </p:cNvPr>
            <p:cNvSpPr txBox="1"/>
            <p:nvPr/>
          </p:nvSpPr>
          <p:spPr>
            <a:xfrm>
              <a:off x="6345633" y="3346395"/>
              <a:ext cx="160441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r>
                <a:rPr lang="en-US" altLang="zh-CN" sz="1200" b="1" strike="noStrike" dirty="0">
                  <a:solidFill>
                    <a:schemeClr val="bg1"/>
                  </a:solidFill>
                  <a:latin typeface="MiSans VF Bold" pitchFamily="2" charset="-122"/>
                  <a:ea typeface="MiSans VF Bold" pitchFamily="2" charset="-122"/>
                  <a:cs typeface="MiSans VF Bold" pitchFamily="2" charset="-122"/>
                  <a:sym typeface="Arial"/>
                </a:rPr>
                <a:t>EFFICIENCY</a:t>
              </a:r>
              <a:endParaRPr lang="en-US" altLang="zh-CN" sz="1200" b="1" dirty="0">
                <a:solidFill>
                  <a:schemeClr val="bg1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9D1E5341-4DB5-6129-0FC7-673B61916816}"/>
                </a:ext>
              </a:extLst>
            </p:cNvPr>
            <p:cNvSpPr txBox="1"/>
            <p:nvPr/>
          </p:nvSpPr>
          <p:spPr>
            <a:xfrm>
              <a:off x="8212011" y="5212773"/>
              <a:ext cx="160441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r>
                <a:rPr lang="en-US" altLang="zh-CN" sz="1200" b="1" strike="noStrike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Sans VF Bold" pitchFamily="2" charset="-122"/>
                  <a:ea typeface="MiSans VF Bold" pitchFamily="2" charset="-122"/>
                  <a:cs typeface="MiSans VF Bold" pitchFamily="2" charset="-122"/>
                  <a:sym typeface="Arial"/>
                </a:rPr>
                <a:t>AUTOMATION</a:t>
              </a:r>
              <a:endPara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endParaRPr>
            </a:p>
          </p:txBody>
        </p:sp>
      </p:grpSp>
      <p:sp>
        <p:nvSpPr>
          <p:cNvPr id="3" name="AutoShape 2">
            <a:extLst>
              <a:ext uri="{FF2B5EF4-FFF2-40B4-BE49-F238E27FC236}">
                <a16:creationId xmlns:a16="http://schemas.microsoft.com/office/drawing/2014/main" id="{D5ABDDC9-0B3D-C06B-2031-8B9487C6CBB4}"/>
              </a:ext>
            </a:extLst>
          </p:cNvPr>
          <p:cNvSpPr/>
          <p:nvPr/>
        </p:nvSpPr>
        <p:spPr>
          <a:xfrm>
            <a:off x="524797" y="1046355"/>
            <a:ext cx="3982809" cy="147732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48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感谢聆听</a:t>
            </a:r>
            <a:endParaRPr lang="en-US" altLang="zh-CN" sz="4800" u="none" strike="noStrike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  <a:sym typeface="Arial"/>
            </a:endParaRPr>
          </a:p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4800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THANKS</a:t>
            </a:r>
            <a:endParaRPr lang="zh-CN" altLang="en-US" sz="4800" u="none" strike="noStrike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  <a:sym typeface="Arial"/>
            </a:endParaRPr>
          </a:p>
        </p:txBody>
      </p:sp>
      <p:sp>
        <p:nvSpPr>
          <p:cNvPr id="4" name="AutoShape 7">
            <a:extLst>
              <a:ext uri="{FF2B5EF4-FFF2-40B4-BE49-F238E27FC236}">
                <a16:creationId xmlns:a16="http://schemas.microsoft.com/office/drawing/2014/main" id="{A0097F33-EF2A-805D-991B-80FA4A38FAEC}"/>
              </a:ext>
            </a:extLst>
          </p:cNvPr>
          <p:cNvSpPr/>
          <p:nvPr/>
        </p:nvSpPr>
        <p:spPr>
          <a:xfrm>
            <a:off x="484456" y="5212773"/>
            <a:ext cx="4784892" cy="24622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16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重新定义效率标准</a:t>
            </a:r>
          </a:p>
        </p:txBody>
      </p:sp>
      <p:sp>
        <p:nvSpPr>
          <p:cNvPr id="5" name="AutoShape 8">
            <a:extLst>
              <a:ext uri="{FF2B5EF4-FFF2-40B4-BE49-F238E27FC236}">
                <a16:creationId xmlns:a16="http://schemas.microsoft.com/office/drawing/2014/main" id="{F36EF785-736C-02C2-0175-C88CE96AAEA1}"/>
              </a:ext>
            </a:extLst>
          </p:cNvPr>
          <p:cNvSpPr/>
          <p:nvPr/>
        </p:nvSpPr>
        <p:spPr>
          <a:xfrm>
            <a:off x="484456" y="5581651"/>
            <a:ext cx="402315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1200" u="none" strike="noStrike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期待与您在 </a:t>
            </a:r>
            <a:r>
              <a:rPr lang="en-US" sz="1200" u="none" strike="noStrike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 </a:t>
            </a:r>
            <a:r>
              <a:rPr lang="zh-CN" altLang="en-US" sz="1200" u="none" strike="noStrike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时代，</a:t>
            </a:r>
          </a:p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1200" u="none" strike="noStrike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共同重构更高效的工作方式。</a:t>
            </a:r>
          </a:p>
        </p:txBody>
      </p:sp>
    </p:spTree>
    <p:extLst>
      <p:ext uri="{BB962C8B-B14F-4D97-AF65-F5344CB8AC3E}">
        <p14:creationId xmlns:p14="http://schemas.microsoft.com/office/powerpoint/2010/main" val="3507153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817</Words>
  <Application>Microsoft Macintosh PowerPoint</Application>
  <PresentationFormat>宽屏</PresentationFormat>
  <Paragraphs>254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FZLanTingHeiS</vt:lpstr>
      <vt:lpstr>FZLanTingHeiS Bold</vt:lpstr>
      <vt:lpstr>MiSans VF Bold</vt:lpstr>
      <vt:lpstr>MiSans VF Light</vt:lpstr>
      <vt:lpstr>MISANS VF MEDIUM</vt:lpstr>
      <vt:lpstr>MiSans VF Regular</vt:lpstr>
      <vt:lpstr>MiSans VF Semibold</vt:lpstr>
      <vt:lpstr>PingFang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T209833</cp:lastModifiedBy>
  <cp:revision>18</cp:revision>
  <dcterms:created xsi:type="dcterms:W3CDTF">2026-05-27T19:33:57Z</dcterms:created>
  <dcterms:modified xsi:type="dcterms:W3CDTF">2026-06-16T08:23:11Z</dcterms:modified>
</cp:coreProperties>
</file>