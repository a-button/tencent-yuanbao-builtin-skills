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62" r:id="rId6"/>
    <p:sldId id="259" r:id="rId7"/>
    <p:sldId id="261" r:id="rId8"/>
    <p:sldId id="260" r:id="rId9"/>
    <p:sldId id="268" r:id="rId10"/>
    <p:sldId id="263" r:id="rId11"/>
    <p:sldId id="267" r:id="rId12"/>
    <p:sldId id="264" r:id="rId13"/>
    <p:sldId id="265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C15"/>
    <a:srgbClr val="F6F6F6"/>
    <a:srgbClr val="FFA4EB"/>
    <a:srgbClr val="FEF5B2"/>
    <a:srgbClr val="FFF5C0"/>
    <a:srgbClr val="FFECAE"/>
    <a:srgbClr val="FEF3C7"/>
    <a:srgbClr val="ECECEC"/>
    <a:srgbClr val="22C55E"/>
    <a:srgbClr val="EAB3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6"/>
    <p:restoredTop sz="94658"/>
  </p:normalViewPr>
  <p:slideViewPr>
    <p:cSldViewPr snapToGrid="0">
      <p:cViewPr varScale="1">
        <p:scale>
          <a:sx n="107" d="100"/>
          <a:sy n="107" d="100"/>
        </p:scale>
        <p:origin x="200" y="448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FACC1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ACC15"/>
              </a:solidFill>
              <a:ln w="19050">
                <a:solidFill>
                  <a:srgbClr val="FACC15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EAB30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EAB30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EAB30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EAB30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EAB308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MiSans VF Semibold" pitchFamily="2" charset="-122"/>
                    <a:ea typeface="MiSans VF Semibold" pitchFamily="2" charset="-122"/>
                    <a:cs typeface="MiSans VF Semibold" pitchFamily="2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AA14-CF43-61ED-AED3-88033587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>
            <a:extLst>
              <a:ext uri="{FF2B5EF4-FFF2-40B4-BE49-F238E27FC236}">
                <a16:creationId xmlns:a16="http://schemas.microsoft.com/office/drawing/2014/main" id="{0E579B87-452D-64C2-C885-D9E3880855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>
            <a:extLst>
              <a:ext uri="{FF2B5EF4-FFF2-40B4-BE49-F238E27FC236}">
                <a16:creationId xmlns:a16="http://schemas.microsoft.com/office/drawing/2014/main" id="{F8E9928E-ED23-14C3-200F-82EA84EE7A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>
            <a:extLst>
              <a:ext uri="{FF2B5EF4-FFF2-40B4-BE49-F238E27FC236}">
                <a16:creationId xmlns:a16="http://schemas.microsoft.com/office/drawing/2014/main" id="{6FB2A9BC-33E8-612B-B86B-6E437BCFE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>
            <a:extLst>
              <a:ext uri="{FF2B5EF4-FFF2-40B4-BE49-F238E27FC236}">
                <a16:creationId xmlns:a16="http://schemas.microsoft.com/office/drawing/2014/main" id="{8FC44803-4F64-48F3-8EC7-55D78888D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>
            <a:extLst>
              <a:ext uri="{FF2B5EF4-FFF2-40B4-BE49-F238E27FC236}">
                <a16:creationId xmlns:a16="http://schemas.microsoft.com/office/drawing/2014/main" id="{0DCC4B14-34D5-6FDA-DB21-6C90F161C8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>
            <a:extLst>
              <a:ext uri="{FF2B5EF4-FFF2-40B4-BE49-F238E27FC236}">
                <a16:creationId xmlns:a16="http://schemas.microsoft.com/office/drawing/2014/main" id="{4C51974D-95E6-1029-ED23-4E0E1C434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730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A427-4250-8650-A141-44BFB74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FF2AEF-09D6-2BBE-C539-73064C733C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AAB6D-C81A-606A-E0E9-BE1ED7FB9C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E4E1D-C2EC-AA15-A8D3-386F9414B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533075-4534-CD38-F38C-271EBDCF9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61E1-DD22-E7AF-19C6-858EF6A76B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716E-616E-D966-23B3-099CD432E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134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FFC8C-2817-7CC7-4445-CD4994591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>
            <a:extLst>
              <a:ext uri="{FF2B5EF4-FFF2-40B4-BE49-F238E27FC236}">
                <a16:creationId xmlns:a16="http://schemas.microsoft.com/office/drawing/2014/main" id="{A203D1E1-F470-474E-D8BB-4E3610F3DC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F9067404-550C-F87E-82AD-573EBCF980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>
            <a:extLst>
              <a:ext uri="{FF2B5EF4-FFF2-40B4-BE49-F238E27FC236}">
                <a16:creationId xmlns:a16="http://schemas.microsoft.com/office/drawing/2014/main" id="{F3931A0C-F3CA-E021-9205-427325A58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>
            <a:extLst>
              <a:ext uri="{FF2B5EF4-FFF2-40B4-BE49-F238E27FC236}">
                <a16:creationId xmlns:a16="http://schemas.microsoft.com/office/drawing/2014/main" id="{C329FAAC-9C63-657F-23AF-0EB5D2FEC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>
            <a:extLst>
              <a:ext uri="{FF2B5EF4-FFF2-40B4-BE49-F238E27FC236}">
                <a16:creationId xmlns:a16="http://schemas.microsoft.com/office/drawing/2014/main" id="{594EC7B9-7FC5-2B3E-A084-1F937612CF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091F72C8-9D33-D424-2B87-4749C336F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398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AutoShape 7"/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核心叙事</a:t>
            </a:r>
            <a:endParaRPr lang="en-US" sz="16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A9206F4-1D97-8D6B-82CF-1468944B65CC}"/>
              </a:ext>
            </a:extLst>
          </p:cNvPr>
          <p:cNvSpPr/>
          <p:nvPr/>
        </p:nvSpPr>
        <p:spPr>
          <a:xfrm>
            <a:off x="524797" y="1046355"/>
            <a:ext cx="3982809" cy="149271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AI时代的高效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工作方式</a:t>
            </a:r>
            <a:endParaRPr lang="zh-CN" altLang="en-US" sz="48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255A17-9EC3-3DE9-B63C-30CE21ECDA76}"/>
              </a:ext>
            </a:extLst>
          </p:cNvPr>
          <p:cNvSpPr txBox="1"/>
          <p:nvPr/>
        </p:nvSpPr>
        <p:spPr>
          <a:xfrm>
            <a:off x="524797" y="2623303"/>
            <a:ext cx="398280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从工具使用到流程重构</a:t>
            </a:r>
            <a:endParaRPr lang="en-US" altLang="zh-CN" sz="16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059A95-319D-4A06-A9DF-AB56ECD3F89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DC32426D-14D1-A5DD-82C5-FB4A965C024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59451652-8FF0-85DA-0420-8B356412754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65708E20-5510-1622-7AD8-CAE64B798DA6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FACD69D-881A-DAEB-903E-A71E8FB6ABA5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AB19FF9-C776-360C-3C03-501BD2BF28B0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6ACDA6-DED4-926E-082B-6EB436F0FA22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990B80F-EAA9-BD51-80DE-180F9E374587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17741B5-9D0B-6ADD-8CEE-15548EC7ADB6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FAC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A497BE0-C280-6404-2AC8-22AC1A4234B4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57D567-FEC5-BC25-940F-5445303F36BD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C73DFA1-E8B3-F360-EB7F-75E9CC319A1B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BD65DC0-1421-0FE2-8343-373E541ACDC0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FFA4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A18A0FC-E636-5860-93C4-9C9B932EDDE8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D80C652-0147-19F7-B101-0B6FC1198481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9C1EF5-6343-B0BE-98F7-7159B189BA5B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5126A01-549E-CF40-F561-675032A8B4BC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4F80476-F850-DD33-A425-7C0D01098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2235" cy="6858000"/>
          </a:xfrm>
          <a:prstGeom prst="rect">
            <a:avLst/>
          </a:prstGeom>
        </p:spPr>
      </p:pic>
      <p:sp>
        <p:nvSpPr>
          <p:cNvPr id="78" name="AutoShape 3"/>
          <p:cNvSpPr/>
          <p:nvPr/>
        </p:nvSpPr>
        <p:spPr>
          <a:xfrm>
            <a:off x="5637596" y="765374"/>
            <a:ext cx="6095687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所有人的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工作方式升级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231828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3亿岗位面临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重新拆解与重组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6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这并不意味着岗位会消失，而是写作、检索到数据分析这些工作中繁琐重复的部分被大幅度提效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6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Source: Goldman Sachs, 2023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949053" y="4237031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新一代通用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工作基础设施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949052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正在嵌入真实工作流，成为日常客户沟通、知识管理与业务闭环的基础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949052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不再是少数人的工具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4FA379-89CB-4802-81A0-608CDBDC673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4EE3F47C-7922-84F7-05D7-CB1E0F7F426C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4A6848FD-C8F4-6912-029A-23DFE43B5BB6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</a:t>
              </a:r>
              <a:r>
                <a:rPr lang="zh-CN" alt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 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01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53D763B3-B99C-7879-0789-FBAF312D020E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82BDA089-9D4D-10D2-B9AA-4301E36FA792}"/>
              </a:ext>
            </a:extLst>
          </p:cNvPr>
          <p:cNvCxnSpPr>
            <a:cxnSpLocks/>
          </p:cNvCxnSpPr>
          <p:nvPr/>
        </p:nvCxnSpPr>
        <p:spPr>
          <a:xfrm>
            <a:off x="5637596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D997B16-45B8-C07F-4FC5-D1D04169116B}"/>
              </a:ext>
            </a:extLst>
          </p:cNvPr>
          <p:cNvCxnSpPr>
            <a:cxnSpLocks/>
          </p:cNvCxnSpPr>
          <p:nvPr/>
        </p:nvCxnSpPr>
        <p:spPr>
          <a:xfrm>
            <a:off x="8949052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484456" y="1549677"/>
            <a:ext cx="3540760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影响深远的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关键数据</a:t>
            </a:r>
            <a:endParaRPr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482551" y="3055950"/>
            <a:ext cx="3540760" cy="128176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从高盛到麦肯锡的全球调研数据表明，AI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的影响范围极其广泛，且正在快速渗透到企业的核心工作流中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altLang="zh-CN" sz="1200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37EB6-5668-44DB-0C98-31F83BCD7B56}"/>
              </a:ext>
            </a:extLst>
          </p:cNvPr>
          <p:cNvSpPr/>
          <p:nvPr/>
        </p:nvSpPr>
        <p:spPr>
          <a:xfrm>
            <a:off x="4633595" y="1088272"/>
            <a:ext cx="7558405" cy="1683860"/>
          </a:xfrm>
          <a:prstGeom prst="rect">
            <a:avLst/>
          </a:prstGeom>
          <a:solidFill>
            <a:srgbClr val="FEF5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5689B3C-9496-49A6-BFDA-F07DCDDB1F9B}"/>
              </a:ext>
            </a:extLst>
          </p:cNvPr>
          <p:cNvSpPr/>
          <p:nvPr/>
        </p:nvSpPr>
        <p:spPr>
          <a:xfrm>
            <a:off x="8275007" y="1262409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3亿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F195925C-0B01-29D1-F354-2FBA38C42B06}"/>
              </a:ext>
            </a:extLst>
          </p:cNvPr>
          <p:cNvSpPr/>
          <p:nvPr/>
        </p:nvSpPr>
        <p:spPr>
          <a:xfrm>
            <a:off x="4907759" y="1396310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全职岗位内容受影响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5F1D880-FA3A-0150-8697-78765C8A8F0B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1C5F9F9A-86DB-71A2-CA84-73BC7B3CBD0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0" name="AutoShape 2">
              <a:extLst>
                <a:ext uri="{FF2B5EF4-FFF2-40B4-BE49-F238E27FC236}">
                  <a16:creationId xmlns:a16="http://schemas.microsoft.com/office/drawing/2014/main" id="{0F979B29-B999-7062-50BD-F201920FD3D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</p:grpSp>
      <p:sp>
        <p:nvSpPr>
          <p:cNvPr id="21" name="AutoShape 2">
            <a:extLst>
              <a:ext uri="{FF2B5EF4-FFF2-40B4-BE49-F238E27FC236}">
                <a16:creationId xmlns:a16="http://schemas.microsoft.com/office/drawing/2014/main" id="{94714119-2147-2495-328B-C8DFCE3E0EF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8C8711-3AC8-6DBD-010B-8633FC49100A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FACC15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Global Survey</a:t>
            </a:r>
            <a:endParaRPr lang="en-US" altLang="zh-CN" sz="1100" dirty="0">
              <a:solidFill>
                <a:srgbClr val="FACC15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7259FE-3779-84F7-7E68-DCED6B25BAE2}"/>
              </a:ext>
            </a:extLst>
          </p:cNvPr>
          <p:cNvSpPr/>
          <p:nvPr/>
        </p:nvSpPr>
        <p:spPr>
          <a:xfrm>
            <a:off x="4633595" y="2777655"/>
            <a:ext cx="7558405" cy="16838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B08F7CBD-0455-18DF-634B-0A058757B9E5}"/>
              </a:ext>
            </a:extLst>
          </p:cNvPr>
          <p:cNvSpPr/>
          <p:nvPr/>
        </p:nvSpPr>
        <p:spPr>
          <a:xfrm>
            <a:off x="8275007" y="3024954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72%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363DAC22-FC13-A050-3CF7-6FB977373B0E}"/>
              </a:ext>
            </a:extLst>
          </p:cNvPr>
          <p:cNvSpPr/>
          <p:nvPr/>
        </p:nvSpPr>
        <p:spPr>
          <a:xfrm>
            <a:off x="4907759" y="3158855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72%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的组织已在职能中使用 </a:t>
            </a:r>
            <a:r>
              <a:rPr 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77C80C-152E-BAED-5673-7B08CEB05C3B}"/>
              </a:ext>
            </a:extLst>
          </p:cNvPr>
          <p:cNvSpPr/>
          <p:nvPr/>
        </p:nvSpPr>
        <p:spPr>
          <a:xfrm>
            <a:off x="4633595" y="4461515"/>
            <a:ext cx="7558405" cy="16838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A40C39F7-C535-4197-7133-3709D4DCE185}"/>
              </a:ext>
            </a:extLst>
          </p:cNvPr>
          <p:cNvSpPr/>
          <p:nvPr/>
        </p:nvSpPr>
        <p:spPr>
          <a:xfrm>
            <a:off x="8275007" y="4682652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88%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39D2EE10-6215-9BF4-B592-B86A44CA8C45}"/>
              </a:ext>
            </a:extLst>
          </p:cNvPr>
          <p:cNvSpPr/>
          <p:nvPr/>
        </p:nvSpPr>
        <p:spPr>
          <a:xfrm>
            <a:off x="4907759" y="4816553"/>
            <a:ext cx="2758869" cy="48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2025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年公司常规工作中使用</a:t>
            </a: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>
            <a:extLst>
              <a:ext uri="{FF2B5EF4-FFF2-40B4-BE49-F238E27FC236}">
                <a16:creationId xmlns:a16="http://schemas.microsoft.com/office/drawing/2014/main" id="{1177F007-44D0-F35B-D1ED-528856861EC1}"/>
              </a:ext>
            </a:extLst>
          </p:cNvPr>
          <p:cNvSpPr/>
          <p:nvPr/>
        </p:nvSpPr>
        <p:spPr>
          <a:xfrm>
            <a:off x="484455" y="832699"/>
            <a:ext cx="3344969" cy="5356874"/>
          </a:xfrm>
          <a:prstGeom prst="roundRect">
            <a:avLst>
              <a:gd name="adj" fmla="val 10003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4A3B12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AF9A17A5-3DD1-A842-C16D-EFF33C73B11D}"/>
              </a:ext>
            </a:extLst>
          </p:cNvPr>
          <p:cNvSpPr/>
          <p:nvPr/>
        </p:nvSpPr>
        <p:spPr>
          <a:xfrm>
            <a:off x="784852" y="2080178"/>
            <a:ext cx="2776649" cy="7386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24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时代</a:t>
            </a: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的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高效工作方式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45C371-9566-A956-C772-7E939209C4B2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4A74F7C-1A49-EA9C-6629-B4829CC2234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171A62BF-D5DE-9414-EAC5-2F19640CAAEF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05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FA7388F4-2233-83E0-B458-9DC9B15B055A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6C8BCE5-EDBE-493A-235D-5458C156B78F}"/>
              </a:ext>
            </a:extLst>
          </p:cNvPr>
          <p:cNvSpPr/>
          <p:nvPr/>
        </p:nvSpPr>
        <p:spPr>
          <a:xfrm>
            <a:off x="784852" y="4752295"/>
            <a:ext cx="2776649" cy="41742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把重复交给模型，把判断留给人；让个人效率、团队知识与业务流程形成闭环。</a:t>
            </a:r>
            <a:endParaRPr lang="en-US" altLang="zh-CN" sz="1200" dirty="0">
              <a:solidFill>
                <a:schemeClr val="bg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7937CEA2-C36E-88F6-D405-F2042C131AC8}"/>
              </a:ext>
            </a:extLst>
          </p:cNvPr>
          <p:cNvSpPr/>
          <p:nvPr/>
        </p:nvSpPr>
        <p:spPr>
          <a:xfrm>
            <a:off x="784853" y="1193486"/>
            <a:ext cx="2776648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rPr>
              <a:t>80%</a:t>
            </a:r>
            <a:endParaRPr lang="zh-CN" altLang="en-US" sz="4000" u="none" strike="noStrike" dirty="0">
              <a:solidFill>
                <a:schemeClr val="bg1"/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0809A9F-7BE7-B0E7-E32A-22FC2F3B772C}"/>
              </a:ext>
            </a:extLst>
          </p:cNvPr>
          <p:cNvGrpSpPr/>
          <p:nvPr/>
        </p:nvGrpSpPr>
        <p:grpSpPr>
          <a:xfrm>
            <a:off x="3861637" y="832699"/>
            <a:ext cx="2604187" cy="2663875"/>
            <a:chOff x="3861637" y="832699"/>
            <a:chExt cx="2604187" cy="2663875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1F1910A4-F271-C9F6-B408-3C77B284137A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A3B12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27" name="AutoShape 3">
              <a:extLst>
                <a:ext uri="{FF2B5EF4-FFF2-40B4-BE49-F238E27FC236}">
                  <a16:creationId xmlns:a16="http://schemas.microsoft.com/office/drawing/2014/main" id="{3288F774-F10C-2D25-22A8-03D9FEC9B496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从搜索到对话</a:t>
              </a:r>
            </a:p>
          </p:txBody>
        </p:sp>
        <p:sp>
          <p:nvSpPr>
            <p:cNvPr id="29" name="AutoShape 2">
              <a:extLst>
                <a:ext uri="{FF2B5EF4-FFF2-40B4-BE49-F238E27FC236}">
                  <a16:creationId xmlns:a16="http://schemas.microsoft.com/office/drawing/2014/main" id="{550FE7EE-97AB-11E9-5107-1B7B02E1E399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3x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983C709B-B03C-5D27-EC6E-13CE881F065F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资料检索、摘要与初稿生成更快，先形成可讨论版本。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DAC5F1-EBEE-23AC-297E-15F852E694F3}"/>
              </a:ext>
            </a:extLst>
          </p:cNvPr>
          <p:cNvGrpSpPr/>
          <p:nvPr/>
        </p:nvGrpSpPr>
        <p:grpSpPr>
          <a:xfrm>
            <a:off x="6495367" y="832699"/>
            <a:ext cx="2604187" cy="2663875"/>
            <a:chOff x="3861637" y="832699"/>
            <a:chExt cx="2604187" cy="2663875"/>
          </a:xfrm>
        </p:grpSpPr>
        <p:sp>
          <p:nvSpPr>
            <p:cNvPr id="34" name="AutoShape 3">
              <a:extLst>
                <a:ext uri="{FF2B5EF4-FFF2-40B4-BE49-F238E27FC236}">
                  <a16:creationId xmlns:a16="http://schemas.microsoft.com/office/drawing/2014/main" id="{E49AA3C8-0D06-526B-999C-78F0C917CBA0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A3B12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35" name="AutoShape 3">
              <a:extLst>
                <a:ext uri="{FF2B5EF4-FFF2-40B4-BE49-F238E27FC236}">
                  <a16:creationId xmlns:a16="http://schemas.microsoft.com/office/drawing/2014/main" id="{021D7344-4229-CA8D-1E95-209AA44AC1D0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从任务到流程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6" name="AutoShape 2">
              <a:extLst>
                <a:ext uri="{FF2B5EF4-FFF2-40B4-BE49-F238E27FC236}">
                  <a16:creationId xmlns:a16="http://schemas.microsoft.com/office/drawing/2014/main" id="{4963067A-AAE6-74A5-8EC9-C9C858FBAB77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7" name="AutoShape 3">
              <a:extLst>
                <a:ext uri="{FF2B5EF4-FFF2-40B4-BE49-F238E27FC236}">
                  <a16:creationId xmlns:a16="http://schemas.microsoft.com/office/drawing/2014/main" id="{9EB38F79-F54E-81D6-76D0-CD7F9E07602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把重复步骤沉淀为模板，让交付质量不依赖临场发挥。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AF7D9B2-9A67-F476-EDC0-FF580821DEA8}"/>
              </a:ext>
            </a:extLst>
          </p:cNvPr>
          <p:cNvGrpSpPr/>
          <p:nvPr/>
        </p:nvGrpSpPr>
        <p:grpSpPr>
          <a:xfrm>
            <a:off x="9129097" y="832699"/>
            <a:ext cx="2604187" cy="2663875"/>
            <a:chOff x="3861637" y="832699"/>
            <a:chExt cx="2604187" cy="2663875"/>
          </a:xfrm>
        </p:grpSpPr>
        <p:sp>
          <p:nvSpPr>
            <p:cNvPr id="39" name="AutoShape 3">
              <a:extLst>
                <a:ext uri="{FF2B5EF4-FFF2-40B4-BE49-F238E27FC236}">
                  <a16:creationId xmlns:a16="http://schemas.microsoft.com/office/drawing/2014/main" id="{98B7ECEC-3316-7088-0F14-A7926D11DC0E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A3B12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0" name="AutoShape 3">
              <a:extLst>
                <a:ext uri="{FF2B5EF4-FFF2-40B4-BE49-F238E27FC236}">
                  <a16:creationId xmlns:a16="http://schemas.microsoft.com/office/drawing/2014/main" id="{5EC0055C-8829-A787-1E87-5E0ABEB3C2F3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从经验到知识库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1" name="AutoShape 2">
              <a:extLst>
                <a:ext uri="{FF2B5EF4-FFF2-40B4-BE49-F238E27FC236}">
                  <a16:creationId xmlns:a16="http://schemas.microsoft.com/office/drawing/2014/main" id="{6A6CC89F-5D72-BB9F-E45C-7B73BC674956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24h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42" name="AutoShape 3">
              <a:extLst>
                <a:ext uri="{FF2B5EF4-FFF2-40B4-BE49-F238E27FC236}">
                  <a16:creationId xmlns:a16="http://schemas.microsoft.com/office/drawing/2014/main" id="{F27348DD-0909-FB22-85B5-5CF95324B86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会议、项目与客户信息即时归档，随时可被检索和复用。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2E029C4-67FD-BFD0-2275-A9572FD41727}"/>
              </a:ext>
            </a:extLst>
          </p:cNvPr>
          <p:cNvGrpSpPr/>
          <p:nvPr/>
        </p:nvGrpSpPr>
        <p:grpSpPr>
          <a:xfrm>
            <a:off x="3861637" y="3520480"/>
            <a:ext cx="2604187" cy="2663875"/>
            <a:chOff x="3861637" y="832699"/>
            <a:chExt cx="2604187" cy="2663875"/>
          </a:xfrm>
        </p:grpSpPr>
        <p:sp>
          <p:nvSpPr>
            <p:cNvPr id="44" name="AutoShape 3">
              <a:extLst>
                <a:ext uri="{FF2B5EF4-FFF2-40B4-BE49-F238E27FC236}">
                  <a16:creationId xmlns:a16="http://schemas.microsoft.com/office/drawing/2014/main" id="{E9A4B855-9813-2E38-3634-3FE8A225383B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A3B12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5" name="AutoShape 3">
              <a:extLst>
                <a:ext uri="{FF2B5EF4-FFF2-40B4-BE49-F238E27FC236}">
                  <a16:creationId xmlns:a16="http://schemas.microsoft.com/office/drawing/2014/main" id="{E58A9B70-D8D8-B84F-3161-2A13C2ED198C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从执行到判断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6" name="AutoShape 2">
              <a:extLst>
                <a:ext uri="{FF2B5EF4-FFF2-40B4-BE49-F238E27FC236}">
                  <a16:creationId xmlns:a16="http://schemas.microsoft.com/office/drawing/2014/main" id="{C8856D3E-CDEA-394F-1753-332EBDA3EA9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</a:t>
              </a:r>
              <a:r>
                <a:rPr lang="zh-CN" altLang="en-US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人</a:t>
              </a:r>
            </a:p>
          </p:txBody>
        </p:sp>
        <p:sp>
          <p:nvSpPr>
            <p:cNvPr id="47" name="AutoShape 3">
              <a:extLst>
                <a:ext uri="{FF2B5EF4-FFF2-40B4-BE49-F238E27FC236}">
                  <a16:creationId xmlns:a16="http://schemas.microsoft.com/office/drawing/2014/main" id="{8E962B20-1BE1-AE60-6028-FB63A17427B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个人拥有研究、写作、分析、排版等多角色协作能力。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243F045-4121-2D55-BCF1-C33D51A5FD57}"/>
              </a:ext>
            </a:extLst>
          </p:cNvPr>
          <p:cNvGrpSpPr/>
          <p:nvPr/>
        </p:nvGrpSpPr>
        <p:grpSpPr>
          <a:xfrm>
            <a:off x="6495367" y="3520480"/>
            <a:ext cx="2604187" cy="2663875"/>
            <a:chOff x="3861637" y="832699"/>
            <a:chExt cx="2604187" cy="2663875"/>
          </a:xfrm>
        </p:grpSpPr>
        <p:sp>
          <p:nvSpPr>
            <p:cNvPr id="49" name="AutoShape 3">
              <a:extLst>
                <a:ext uri="{FF2B5EF4-FFF2-40B4-BE49-F238E27FC236}">
                  <a16:creationId xmlns:a16="http://schemas.microsoft.com/office/drawing/2014/main" id="{5F02B0C6-83DA-1343-A59D-AA88568FA853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A3B12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0" name="AutoShape 3">
              <a:extLst>
                <a:ext uri="{FF2B5EF4-FFF2-40B4-BE49-F238E27FC236}">
                  <a16:creationId xmlns:a16="http://schemas.microsoft.com/office/drawing/2014/main" id="{97F5CC76-60F2-B402-5142-72CC3AC1FC9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从单点到协同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1" name="AutoShape 2">
              <a:extLst>
                <a:ext uri="{FF2B5EF4-FFF2-40B4-BE49-F238E27FC236}">
                  <a16:creationId xmlns:a16="http://schemas.microsoft.com/office/drawing/2014/main" id="{4BFB5B3D-29B6-D223-9767-FD595DC18AAF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5</a:t>
              </a:r>
              <a:r>
                <a:rPr lang="zh-CN" altLang="en-US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步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2" name="AutoShape 3">
              <a:extLst>
                <a:ext uri="{FF2B5EF4-FFF2-40B4-BE49-F238E27FC236}">
                  <a16:creationId xmlns:a16="http://schemas.microsoft.com/office/drawing/2014/main" id="{D278D6CA-FA21-3504-6AC0-078FCC442352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提问、生成、校验、改写、发布，形成稳定的人机闭环。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FE7DFF8-C9A8-781F-E8F7-85D8D5436E9B}"/>
              </a:ext>
            </a:extLst>
          </p:cNvPr>
          <p:cNvGrpSpPr/>
          <p:nvPr/>
        </p:nvGrpSpPr>
        <p:grpSpPr>
          <a:xfrm>
            <a:off x="9129097" y="3520480"/>
            <a:ext cx="2604187" cy="2663875"/>
            <a:chOff x="3861637" y="832699"/>
            <a:chExt cx="2604187" cy="2663875"/>
          </a:xfrm>
        </p:grpSpPr>
        <p:sp>
          <p:nvSpPr>
            <p:cNvPr id="54" name="AutoShape 3">
              <a:extLst>
                <a:ext uri="{FF2B5EF4-FFF2-40B4-BE49-F238E27FC236}">
                  <a16:creationId xmlns:a16="http://schemas.microsoft.com/office/drawing/2014/main" id="{A29A2691-30E5-D9E0-6203-FD3A49E877A4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A3B12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5" name="AutoShape 3">
              <a:extLst>
                <a:ext uri="{FF2B5EF4-FFF2-40B4-BE49-F238E27FC236}">
                  <a16:creationId xmlns:a16="http://schemas.microsoft.com/office/drawing/2014/main" id="{2C556E03-1564-03C0-72CE-EF6C507E563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从速度到复利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6" name="AutoShape 2">
              <a:extLst>
                <a:ext uri="{FF2B5EF4-FFF2-40B4-BE49-F238E27FC236}">
                  <a16:creationId xmlns:a16="http://schemas.microsoft.com/office/drawing/2014/main" id="{3C9F8BA8-907E-E146-B1DF-3A1DDB2AE46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100%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D72D70D-F056-F04E-84FA-943666E9077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每次产出都回流为案例、提示词和流程资产。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3">
            <a:extLst>
              <a:ext uri="{FF2B5EF4-FFF2-40B4-BE49-F238E27FC236}">
                <a16:creationId xmlns:a16="http://schemas.microsoft.com/office/drawing/2014/main" id="{8E5C18AC-9F4A-C578-F5D3-017CDEDCE815}"/>
              </a:ext>
            </a:extLst>
          </p:cNvPr>
          <p:cNvSpPr/>
          <p:nvPr/>
        </p:nvSpPr>
        <p:spPr>
          <a:xfrm>
            <a:off x="484456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4A3B12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95344487-F974-619D-DE2A-55A98953647D}"/>
              </a:ext>
            </a:extLst>
          </p:cNvPr>
          <p:cNvSpPr/>
          <p:nvPr/>
        </p:nvSpPr>
        <p:spPr>
          <a:xfrm>
            <a:off x="3366232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E36E74D5-50C3-0B00-199B-60833473DEAE}"/>
              </a:ext>
            </a:extLst>
          </p:cNvPr>
          <p:cNvSpPr/>
          <p:nvPr/>
        </p:nvSpPr>
        <p:spPr>
          <a:xfrm>
            <a:off x="6248008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3F2068E3-C470-407A-CDCB-A93F65CDB27A}"/>
              </a:ext>
            </a:extLst>
          </p:cNvPr>
          <p:cNvSpPr/>
          <p:nvPr/>
        </p:nvSpPr>
        <p:spPr>
          <a:xfrm>
            <a:off x="9129784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484456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FEF3C7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4A3B12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681306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681306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会议纪要、文档总结、邮件草稿资料初筛。优先落地这些场景以快速见效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366232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FACC15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564352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563082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248008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22C55E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444858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404218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9129784" y="2009408"/>
            <a:ext cx="2603500" cy="238197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326634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282184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过度定制、目标不清的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系统、缺少业务闭环的复杂方案。应尽量避免在此投入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0AC9BB3D-5268-9A9D-535E-E42A89090525}"/>
              </a:ext>
            </a:extLst>
          </p:cNvPr>
          <p:cNvSpPr/>
          <p:nvPr/>
        </p:nvSpPr>
        <p:spPr>
          <a:xfrm>
            <a:off x="524797" y="829870"/>
            <a:ext cx="10827302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AI </a:t>
            </a:r>
            <a:r>
              <a:rPr lang="zh-CN" alt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落地场景四象限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E1CA0F-EAED-C2CB-F910-373C8696371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8FF98D68-8852-5820-8426-F57A040D0B2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9A88684E-9F9E-F02D-7E76-BA9CAB0D800B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03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22FD7469-1090-0775-F90A-B21476474B8F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EF09D72C-AAE4-2248-1A47-BCDB60870ADC}"/>
              </a:ext>
            </a:extLst>
          </p:cNvPr>
          <p:cNvSpPr/>
          <p:nvPr/>
        </p:nvSpPr>
        <p:spPr>
          <a:xfrm>
            <a:off x="2447788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01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25A633A8-FB35-0C2B-845F-61A59FAAF4E0}"/>
              </a:ext>
            </a:extLst>
          </p:cNvPr>
          <p:cNvSpPr/>
          <p:nvPr/>
        </p:nvSpPr>
        <p:spPr>
          <a:xfrm>
            <a:off x="5330834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02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9E80C54B-FFD8-5342-0FB5-A233211E5169}"/>
              </a:ext>
            </a:extLst>
          </p:cNvPr>
          <p:cNvSpPr/>
          <p:nvPr/>
        </p:nvSpPr>
        <p:spPr>
          <a:xfrm>
            <a:off x="8211340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03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" name="AutoShape 17">
            <a:extLst>
              <a:ext uri="{FF2B5EF4-FFF2-40B4-BE49-F238E27FC236}">
                <a16:creationId xmlns:a16="http://schemas.microsoft.com/office/drawing/2014/main" id="{455AD161-79F1-29E8-CEAA-D803C0259A82}"/>
              </a:ext>
            </a:extLst>
          </p:cNvPr>
          <p:cNvSpPr/>
          <p:nvPr/>
        </p:nvSpPr>
        <p:spPr>
          <a:xfrm>
            <a:off x="11093116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04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532416" y="882124"/>
            <a:ext cx="10530553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工作流重构的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四个核心阶段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cxnSp>
        <p:nvCxnSpPr>
          <p:cNvPr id="132" name="Connector 3"/>
          <p:cNvCxnSpPr>
            <a:cxnSpLocks/>
          </p:cNvCxnSpPr>
          <p:nvPr/>
        </p:nvCxnSpPr>
        <p:spPr>
          <a:xfrm>
            <a:off x="0" y="3036372"/>
            <a:ext cx="12192000" cy="143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022601" y="497861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157342" y="4977671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7292083" y="4977672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537052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01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任务识别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53705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判断哪些工作适合交给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AI：重复性高、规则明确、信息密集、反馈周期短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341962" y="4201792"/>
            <a:ext cx="2219829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02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工具协作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341963" y="5191760"/>
            <a:ext cx="221983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参与搜索、分析、生成、复盘，把工具嵌入真实工作流，而不是停留在尝鲜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50578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03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流程沉淀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50578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把一次性提效变成可复用的标准操作流程 (SOP)，降低跨团队的协作门槛。</a:t>
            </a:r>
            <a:endParaRPr lang="en-US" sz="110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62782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04 持续迭代</a:t>
            </a:r>
            <a:endParaRPr lang="en-US" sz="110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62782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让团队能够复制、训练、优化这套新流程，并基于反馈持续迭代最佳实践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537052" y="3286760"/>
            <a:ext cx="662940" cy="662940"/>
          </a:xfrm>
          <a:prstGeom prst="ellipse">
            <a:avLst/>
          </a:prstGeom>
          <a:solidFill>
            <a:srgbClr val="FFA4EB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642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341962" y="3249291"/>
            <a:ext cx="662940" cy="662940"/>
          </a:xfrm>
          <a:prstGeom prst="ellipse">
            <a:avLst/>
          </a:prstGeom>
          <a:solidFill>
            <a:srgbClr val="22C55E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01982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505782" y="3286760"/>
            <a:ext cx="662940" cy="662940"/>
          </a:xfrm>
          <a:prstGeom prst="ellipse">
            <a:avLst/>
          </a:prstGeom>
          <a:solidFill>
            <a:srgbClr val="FACC15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5802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627822" y="3286760"/>
            <a:ext cx="662940" cy="6629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7842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1F2C903-C34D-3E4B-B5EF-DA31D1A833C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5F6BB1B8-28CC-8167-EF1D-4C55DB1BBD01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46F088C-FFD8-868F-6BA1-4850BB32FB1E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06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2B7EDD2B-F9E1-F99A-337D-51BD07A208B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utoShape 5"/>
          <p:cNvSpPr/>
          <p:nvPr/>
        </p:nvSpPr>
        <p:spPr>
          <a:xfrm>
            <a:off x="0" y="0"/>
            <a:ext cx="4735773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1" name="AutoShape 3"/>
          <p:cNvSpPr/>
          <p:nvPr/>
        </p:nvSpPr>
        <p:spPr>
          <a:xfrm>
            <a:off x="524797" y="4458970"/>
            <a:ext cx="3665066" cy="10656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不仅是利用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替代个人的单点任务，更重要的是将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嵌入组织的系统流程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个人的启动速度提升，与组织的知识复用能力结合，才能最大化技术带来的红利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124" name="AutoShape 8"/>
          <p:cNvSpPr/>
          <p:nvPr/>
        </p:nvSpPr>
        <p:spPr>
          <a:xfrm>
            <a:off x="8784679" y="2545046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写作、搜索、总结、计划、学习以及时间管理。重点强调个体的启动速度、信息处理速度与输出速度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8784680" y="1298125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个人效率升级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8784679" y="5417670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流程自动化、知识库建设、跨部门协作、数据辅助决策。重点强调团队协同与资产复用能力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8784680" y="4169907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组织效率升级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524797" y="881581"/>
            <a:ext cx="3665066" cy="14465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54C90C-07B9-3F79-82B6-FC157D41AFA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A2036E2-DDB3-85A9-C907-3B8001CCE1E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2B91A9F9-30CC-B20A-89BB-90A992D6AAB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04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19669C18-5665-8E92-2952-79E25B40309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1" y="1026349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PERSONAL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0" y="3898131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TEAM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AEDCC92-6F6F-0FAF-6A70-B87C0A90A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878030"/>
            <a:ext cx="3240335" cy="24438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6BC71A3-D241-A9DE-7BDF-0CD4EAAD5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3749812"/>
            <a:ext cx="3240335" cy="2443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438E-A0B9-44F4-95B3-8751A040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extLst>
              <a:ext uri="{FF2B5EF4-FFF2-40B4-BE49-F238E27FC236}">
                <a16:creationId xmlns:a16="http://schemas.microsoft.com/office/drawing/2014/main" id="{32BBD2E5-9CF7-FB2F-4CFE-049A43D640CF}"/>
              </a:ext>
            </a:extLst>
          </p:cNvPr>
          <p:cNvSpPr/>
          <p:nvPr/>
        </p:nvSpPr>
        <p:spPr>
          <a:xfrm>
            <a:off x="0" y="0"/>
            <a:ext cx="12192000" cy="3203157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54" name="Connector 3">
            <a:extLst>
              <a:ext uri="{FF2B5EF4-FFF2-40B4-BE49-F238E27FC236}">
                <a16:creationId xmlns:a16="http://schemas.microsoft.com/office/drawing/2014/main" id="{EDF78A3B-2D85-E733-FB68-7BBEC32EF786}"/>
              </a:ext>
            </a:extLst>
          </p:cNvPr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7" name="AutoShape 6">
            <a:extLst>
              <a:ext uri="{FF2B5EF4-FFF2-40B4-BE49-F238E27FC236}">
                <a16:creationId xmlns:a16="http://schemas.microsoft.com/office/drawing/2014/main" id="{E8B26EDD-5360-10AA-52FE-56D16FEEC9B1}"/>
              </a:ext>
            </a:extLst>
          </p:cNvPr>
          <p:cNvSpPr/>
          <p:nvPr/>
        </p:nvSpPr>
        <p:spPr>
          <a:xfrm>
            <a:off x="524797" y="3795514"/>
            <a:ext cx="42037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FACC1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FACC1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>
            <a:extLst>
              <a:ext uri="{FF2B5EF4-FFF2-40B4-BE49-F238E27FC236}">
                <a16:creationId xmlns:a16="http://schemas.microsoft.com/office/drawing/2014/main" id="{7B54C457-4391-47D2-9FC6-94513FAC28A0}"/>
              </a:ext>
            </a:extLst>
          </p:cNvPr>
          <p:cNvSpPr/>
          <p:nvPr/>
        </p:nvSpPr>
        <p:spPr>
          <a:xfrm>
            <a:off x="1081056" y="383869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内容生成：降低启动成本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9" name="AutoShape 8">
            <a:extLst>
              <a:ext uri="{FF2B5EF4-FFF2-40B4-BE49-F238E27FC236}">
                <a16:creationId xmlns:a16="http://schemas.microsoft.com/office/drawing/2014/main" id="{7158D3A6-A873-84F4-A45E-94C5818205BD}"/>
              </a:ext>
            </a:extLst>
          </p:cNvPr>
          <p:cNvSpPr/>
          <p:nvPr/>
        </p:nvSpPr>
        <p:spPr>
          <a:xfrm>
            <a:off x="524797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ACC1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FACC1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>
            <a:extLst>
              <a:ext uri="{FF2B5EF4-FFF2-40B4-BE49-F238E27FC236}">
                <a16:creationId xmlns:a16="http://schemas.microsoft.com/office/drawing/2014/main" id="{9738BC8E-EA4C-060A-FF25-455EEC1BEA24}"/>
              </a:ext>
            </a:extLst>
          </p:cNvPr>
          <p:cNvSpPr/>
          <p:nvPr/>
        </p:nvSpPr>
        <p:spPr>
          <a:xfrm>
            <a:off x="1081056" y="466038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数据分析：提炼趋势异常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1" name="AutoShape 10">
            <a:extLst>
              <a:ext uri="{FF2B5EF4-FFF2-40B4-BE49-F238E27FC236}">
                <a16:creationId xmlns:a16="http://schemas.microsoft.com/office/drawing/2014/main" id="{78BD3C90-DB32-8988-5C4A-F637549FC906}"/>
              </a:ext>
            </a:extLst>
          </p:cNvPr>
          <p:cNvSpPr/>
          <p:nvPr/>
        </p:nvSpPr>
        <p:spPr>
          <a:xfrm>
            <a:off x="524797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ACC1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FACC1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>
            <a:extLst>
              <a:ext uri="{FF2B5EF4-FFF2-40B4-BE49-F238E27FC236}">
                <a16:creationId xmlns:a16="http://schemas.microsoft.com/office/drawing/2014/main" id="{C8F251C8-F728-80EC-CADC-E4D919687DAB}"/>
              </a:ext>
            </a:extLst>
          </p:cNvPr>
          <p:cNvSpPr/>
          <p:nvPr/>
        </p:nvSpPr>
        <p:spPr>
          <a:xfrm>
            <a:off x="1081056" y="548334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客户沟通：辅助自动回复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3" name="AutoShape 12">
            <a:extLst>
              <a:ext uri="{FF2B5EF4-FFF2-40B4-BE49-F238E27FC236}">
                <a16:creationId xmlns:a16="http://schemas.microsoft.com/office/drawing/2014/main" id="{7C087657-7085-6F76-485B-F00208BB328A}"/>
              </a:ext>
            </a:extLst>
          </p:cNvPr>
          <p:cNvSpPr/>
          <p:nvPr/>
        </p:nvSpPr>
        <p:spPr>
          <a:xfrm>
            <a:off x="6623050" y="379551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FACC1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 dirty="0">
              <a:solidFill>
                <a:srgbClr val="FACC1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>
            <a:extLst>
              <a:ext uri="{FF2B5EF4-FFF2-40B4-BE49-F238E27FC236}">
                <a16:creationId xmlns:a16="http://schemas.microsoft.com/office/drawing/2014/main" id="{05234C72-9876-CCAB-8ABE-F965BA0D557C}"/>
              </a:ext>
            </a:extLst>
          </p:cNvPr>
          <p:cNvSpPr/>
          <p:nvPr/>
        </p:nvSpPr>
        <p:spPr>
          <a:xfrm>
            <a:off x="7178040" y="383869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项目管理：拆解追踪风险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5" name="AutoShape 14">
            <a:extLst>
              <a:ext uri="{FF2B5EF4-FFF2-40B4-BE49-F238E27FC236}">
                <a16:creationId xmlns:a16="http://schemas.microsoft.com/office/drawing/2014/main" id="{A6C27EBD-32EF-44EA-73B5-B25817301B72}"/>
              </a:ext>
            </a:extLst>
          </p:cNvPr>
          <p:cNvSpPr/>
          <p:nvPr/>
        </p:nvSpPr>
        <p:spPr>
          <a:xfrm>
            <a:off x="6623050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ACC1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FACC1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>
            <a:extLst>
              <a:ext uri="{FF2B5EF4-FFF2-40B4-BE49-F238E27FC236}">
                <a16:creationId xmlns:a16="http://schemas.microsoft.com/office/drawing/2014/main" id="{4B79A48E-F14F-4706-DC06-1FF63F912EAE}"/>
              </a:ext>
            </a:extLst>
          </p:cNvPr>
          <p:cNvSpPr/>
          <p:nvPr/>
        </p:nvSpPr>
        <p:spPr>
          <a:xfrm>
            <a:off x="7178040" y="466038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知识沉淀：构建可检索资产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7" name="AutoShape 16">
            <a:extLst>
              <a:ext uri="{FF2B5EF4-FFF2-40B4-BE49-F238E27FC236}">
                <a16:creationId xmlns:a16="http://schemas.microsoft.com/office/drawing/2014/main" id="{C422332C-06A2-10A5-9005-6981B0E9D15F}"/>
              </a:ext>
            </a:extLst>
          </p:cNvPr>
          <p:cNvSpPr/>
          <p:nvPr/>
        </p:nvSpPr>
        <p:spPr>
          <a:xfrm>
            <a:off x="6623050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ACC1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FACC1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>
            <a:extLst>
              <a:ext uri="{FF2B5EF4-FFF2-40B4-BE49-F238E27FC236}">
                <a16:creationId xmlns:a16="http://schemas.microsoft.com/office/drawing/2014/main" id="{F610EC7F-D4CC-48B6-4517-1A76981E017B}"/>
              </a:ext>
            </a:extLst>
          </p:cNvPr>
          <p:cNvSpPr/>
          <p:nvPr/>
        </p:nvSpPr>
        <p:spPr>
          <a:xfrm>
            <a:off x="7178040" y="548334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个人学习：生成学习路径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8568141-89B9-7509-6547-4795E91D1B43}"/>
              </a:ext>
            </a:extLst>
          </p:cNvPr>
          <p:cNvSpPr/>
          <p:nvPr/>
        </p:nvSpPr>
        <p:spPr>
          <a:xfrm>
            <a:off x="484456" y="1549677"/>
            <a:ext cx="1105349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赋能的六大应用场景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050875-CC99-9441-E29F-0A33BF169198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FACC15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Scenarios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751F8F-C126-F42B-EBCA-DED7B0AD210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84ABC4F5-B21F-91D6-673E-D7D6DBDA998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D20E6595-821C-508B-956B-8272B2E7CE09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7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379A1952-917B-25FF-67E3-178220C9963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27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Connector 3"/>
          <p:cNvCxnSpPr/>
          <p:nvPr/>
        </p:nvCxnSpPr>
        <p:spPr>
          <a:xfrm>
            <a:off x="484456" y="297820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484456" y="400309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484456" y="502925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484456" y="605414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6" name="AutoShape 8"/>
          <p:cNvSpPr/>
          <p:nvPr/>
        </p:nvSpPr>
        <p:spPr>
          <a:xfrm>
            <a:off x="1591107" y="2256232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1591107" y="3307758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市场调研：从“手动搜索资料”升级为“快速汇总多来源信息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1591106" y="4307281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文案撰写：从“从零起草”升级为“先生成初稿再修改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1591107" y="5345489"/>
            <a:ext cx="9791208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知识管理：从“依赖个人经验”升级为“自动归档与智能问答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41FB2E-67E1-0EE9-3D11-A0E4AAD4BF3A}"/>
              </a:ext>
            </a:extLst>
          </p:cNvPr>
          <p:cNvGrpSpPr/>
          <p:nvPr/>
        </p:nvGrpSpPr>
        <p:grpSpPr>
          <a:xfrm>
            <a:off x="865260" y="2347218"/>
            <a:ext cx="248250" cy="248250"/>
            <a:chOff x="1154628" y="2347218"/>
            <a:chExt cx="248250" cy="248250"/>
          </a:xfrm>
        </p:grpSpPr>
        <p:cxnSp>
          <p:nvCxnSpPr>
            <p:cNvPr id="180" name="Connector 12"/>
            <p:cNvCxnSpPr/>
            <p:nvPr/>
          </p:nvCxnSpPr>
          <p:spPr>
            <a:xfrm rot="-176140">
              <a:off x="1155228" y="246513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2C55E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1" name="Connector 13"/>
            <p:cNvCxnSpPr/>
            <p:nvPr/>
          </p:nvCxnSpPr>
          <p:spPr>
            <a:xfrm rot="5223859">
              <a:off x="1155065" y="246529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2C55E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2" name="Connector 14"/>
            <p:cNvCxnSpPr/>
            <p:nvPr/>
          </p:nvCxnSpPr>
          <p:spPr>
            <a:xfrm rot="2524005">
              <a:off x="1154628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2C55E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3" name="Connector 15"/>
            <p:cNvCxnSpPr/>
            <p:nvPr/>
          </p:nvCxnSpPr>
          <p:spPr>
            <a:xfrm rot="7924005">
              <a:off x="1155297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22C55E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1DB9B4-82DA-573D-7EE9-4BF939415852}"/>
              </a:ext>
            </a:extLst>
          </p:cNvPr>
          <p:cNvGrpSpPr/>
          <p:nvPr/>
        </p:nvGrpSpPr>
        <p:grpSpPr>
          <a:xfrm>
            <a:off x="865260" y="3372708"/>
            <a:ext cx="248250" cy="248525"/>
            <a:chOff x="1154628" y="3372708"/>
            <a:chExt cx="248250" cy="248525"/>
          </a:xfrm>
        </p:grpSpPr>
        <p:cxnSp>
          <p:nvCxnSpPr>
            <p:cNvPr id="184" name="Connector 16"/>
            <p:cNvCxnSpPr/>
            <p:nvPr/>
          </p:nvCxnSpPr>
          <p:spPr>
            <a:xfrm rot="-176140">
              <a:off x="1155228" y="349129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ACC15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5" name="Connector 17"/>
            <p:cNvCxnSpPr/>
            <p:nvPr/>
          </p:nvCxnSpPr>
          <p:spPr>
            <a:xfrm rot="5223859">
              <a:off x="1155065" y="349018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ACC15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6" name="Connector 18"/>
            <p:cNvCxnSpPr/>
            <p:nvPr/>
          </p:nvCxnSpPr>
          <p:spPr>
            <a:xfrm rot="2524005">
              <a:off x="1154628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ACC15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7" name="Connector 19"/>
            <p:cNvCxnSpPr/>
            <p:nvPr/>
          </p:nvCxnSpPr>
          <p:spPr>
            <a:xfrm rot="7924005">
              <a:off x="1155297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ACC15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CC211ED-CE84-1845-A3F6-6F059F96A3D9}"/>
              </a:ext>
            </a:extLst>
          </p:cNvPr>
          <p:cNvGrpSpPr/>
          <p:nvPr/>
        </p:nvGrpSpPr>
        <p:grpSpPr>
          <a:xfrm>
            <a:off x="858940" y="4395054"/>
            <a:ext cx="254566" cy="254209"/>
            <a:chOff x="1148308" y="4395054"/>
            <a:chExt cx="254566" cy="254209"/>
          </a:xfrm>
        </p:grpSpPr>
        <p:cxnSp>
          <p:nvCxnSpPr>
            <p:cNvPr id="188" name="Connector 20"/>
            <p:cNvCxnSpPr/>
            <p:nvPr/>
          </p:nvCxnSpPr>
          <p:spPr>
            <a:xfrm rot="-171744">
              <a:off x="1148874" y="451618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A4E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9" name="Connector 21"/>
            <p:cNvCxnSpPr/>
            <p:nvPr/>
          </p:nvCxnSpPr>
          <p:spPr>
            <a:xfrm rot="5228255">
              <a:off x="1148080" y="451570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A4E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0" name="Connector 22"/>
            <p:cNvCxnSpPr/>
            <p:nvPr/>
          </p:nvCxnSpPr>
          <p:spPr>
            <a:xfrm rot="2540499">
              <a:off x="1148308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A4E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1" name="Connector 23"/>
            <p:cNvCxnSpPr/>
            <p:nvPr/>
          </p:nvCxnSpPr>
          <p:spPr>
            <a:xfrm rot="7916204">
              <a:off x="1148979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A4E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310166-D68E-E512-465F-AE9730BFE399}"/>
              </a:ext>
            </a:extLst>
          </p:cNvPr>
          <p:cNvGrpSpPr/>
          <p:nvPr/>
        </p:nvGrpSpPr>
        <p:grpSpPr>
          <a:xfrm>
            <a:off x="864652" y="5419944"/>
            <a:ext cx="255204" cy="254846"/>
            <a:chOff x="1154020" y="5419944"/>
            <a:chExt cx="255204" cy="254846"/>
          </a:xfrm>
        </p:grpSpPr>
        <p:cxnSp>
          <p:nvCxnSpPr>
            <p:cNvPr id="192" name="Connector 24"/>
            <p:cNvCxnSpPr/>
            <p:nvPr/>
          </p:nvCxnSpPr>
          <p:spPr>
            <a:xfrm rot="-171744">
              <a:off x="1155224" y="554107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3" name="Connector 25"/>
            <p:cNvCxnSpPr/>
            <p:nvPr/>
          </p:nvCxnSpPr>
          <p:spPr>
            <a:xfrm rot="5228255">
              <a:off x="1154430" y="554059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4" name="Connector 26"/>
            <p:cNvCxnSpPr/>
            <p:nvPr/>
          </p:nvCxnSpPr>
          <p:spPr>
            <a:xfrm rot="2516204">
              <a:off x="1154020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5" name="Connector 27"/>
            <p:cNvCxnSpPr/>
            <p:nvPr/>
          </p:nvCxnSpPr>
          <p:spPr>
            <a:xfrm rot="7940499">
              <a:off x="1154697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5C4B834D-0274-FF31-C1CA-5A9C53586585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FACC15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6594CC-C287-F3EF-7029-4593451571F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FD71214-37DF-B21C-6B0C-2390CCF27D4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2A93F5E-CB2C-8E8B-560E-C1D7B63CBFF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08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EB5CF4C7-BAEC-EBFF-D62D-07D4268BED9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BEB68D0A-F128-FCE8-8211-B8EAACA92A05}"/>
              </a:ext>
            </a:extLst>
          </p:cNvPr>
          <p:cNvCxnSpPr/>
          <p:nvPr/>
        </p:nvCxnSpPr>
        <p:spPr>
          <a:xfrm>
            <a:off x="484456" y="6053662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22B3C-9DFE-0F79-C04B-4DBA6AC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 3">
            <a:extLst>
              <a:ext uri="{FF2B5EF4-FFF2-40B4-BE49-F238E27FC236}">
                <a16:creationId xmlns:a16="http://schemas.microsoft.com/office/drawing/2014/main" id="{6A117459-82C7-AB4E-44A5-8737EB80BCA1}"/>
              </a:ext>
            </a:extLst>
          </p:cNvPr>
          <p:cNvCxnSpPr>
            <a:cxnSpLocks/>
          </p:cNvCxnSpPr>
          <p:nvPr/>
        </p:nvCxnSpPr>
        <p:spPr>
          <a:xfrm flipV="1">
            <a:off x="475003" y="1410971"/>
            <a:ext cx="11080742" cy="192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C550D3E3-B4EB-71EE-A578-7C9C8FD09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3063602"/>
              </p:ext>
            </p:extLst>
          </p:nvPr>
        </p:nvGraphicFramePr>
        <p:xfrm>
          <a:off x="532416" y="1959051"/>
          <a:ext cx="11200868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9184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367315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806998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场景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传统方式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AI </a:t>
                      </a: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辅助方式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提效价值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会议纪要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人工记录整理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自动转写与摘要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AB30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节省整理时间</a:t>
                      </a:r>
                      <a:endParaRPr lang="en-US" sz="1100" b="0" i="0" dirty="0">
                        <a:solidFill>
                          <a:srgbClr val="EAB30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市场调研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手动搜索资料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快速汇总多来源信息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AB30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提升信息密度</a:t>
                      </a:r>
                      <a:endParaRPr lang="en-US" sz="1100" b="0" i="0" dirty="0">
                        <a:solidFill>
                          <a:srgbClr val="EAB30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文案撰写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从零起草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先生成初稿再修改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AB30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降低启动成本</a:t>
                      </a:r>
                      <a:endParaRPr lang="en-US" sz="1100" b="0" i="0" dirty="0">
                        <a:solidFill>
                          <a:srgbClr val="EAB30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数据分析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手动筛选图表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自动提炼趋势与异常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AB30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辅助判断</a:t>
                      </a:r>
                      <a:endParaRPr lang="en-US" sz="1100" b="0" i="0" dirty="0">
                        <a:solidFill>
                          <a:srgbClr val="EAB30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知识管理</a:t>
                      </a:r>
                      <a:endParaRPr lang="en-US" sz="1100" b="0" i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依赖个人经验查找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EAB308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提高复用率</a:t>
                      </a:r>
                      <a:endParaRPr lang="en-US" sz="1100" b="0" i="0" dirty="0">
                        <a:solidFill>
                          <a:srgbClr val="EAB308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3F7247FE-9ED6-6420-740B-6C6D6CC21CE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2A8621B6-F922-D072-08BA-E49802961EF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FA8D5201-D041-29D5-6489-277052D4758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09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DD9FC945-D8E5-097F-44A7-18D650F6E69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CCC5246-1AF8-00EE-91DE-219440D32BEE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FACC15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</p:spTree>
    <p:extLst>
      <p:ext uri="{BB962C8B-B14F-4D97-AF65-F5344CB8AC3E}">
        <p14:creationId xmlns:p14="http://schemas.microsoft.com/office/powerpoint/2010/main" val="180950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EF3D96FC-12D1-1BEF-D2C9-BFC6C819805B}"/>
              </a:ext>
            </a:extLst>
          </p:cNvPr>
          <p:cNvSpPr/>
          <p:nvPr/>
        </p:nvSpPr>
        <p:spPr>
          <a:xfrm>
            <a:off x="6842760" y="2627068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842760" y="918583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2">
            <a:extLst>
              <a:ext uri="{FF2B5EF4-FFF2-40B4-BE49-F238E27FC236}">
                <a16:creationId xmlns:a16="http://schemas.microsoft.com/office/drawing/2014/main" id="{0AAADEF1-2BF3-4055-0519-65F7A3E04C8E}"/>
              </a:ext>
            </a:extLst>
          </p:cNvPr>
          <p:cNvSpPr/>
          <p:nvPr/>
        </p:nvSpPr>
        <p:spPr>
          <a:xfrm>
            <a:off x="6842760" y="4335552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6F6F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49" y="1710650"/>
            <a:ext cx="4273551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麦肯锡全球调研显示，72%的受访组织已在至少一个业务职能中使用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AI，标志着初步普及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48" y="1333460"/>
            <a:ext cx="4273551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广泛普及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49" y="3415325"/>
            <a:ext cx="4273548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尽管单点普及率高，但仅有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15%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的组织能够在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4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个及以上的核心职能中深度采用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AI。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49" y="3038135"/>
            <a:ext cx="4273548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深度应用不足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49" y="5102986"/>
            <a:ext cx="4273550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真正深入多职能协同的组织还在少数，跨部门的流程改造将是效率升级的最大难点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48" y="4725796"/>
            <a:ext cx="4273549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协同挑战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484456" y="5656976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*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受访组织在不同数量业务职能中使用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的比例（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%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）</a:t>
            </a:r>
            <a:endParaRPr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05238" y="2532068"/>
            <a:ext cx="5669907" cy="2722311"/>
            <a:chOff x="634405" y="1479058"/>
            <a:chExt cx="4344994" cy="2086175"/>
          </a:xfrm>
        </p:grpSpPr>
        <p:sp>
          <p:nvSpPr>
            <p:cNvPr id="21" name="AutoShape 15"/>
            <p:cNvSpPr/>
            <p:nvPr/>
          </p:nvSpPr>
          <p:spPr>
            <a:xfrm>
              <a:off x="634405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634405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634405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634405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FFA4EB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0EA5E9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FACC15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22C55E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17093" y="14790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72%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07481" y="21095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 dirty="0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50%</a:t>
              </a:r>
              <a:endParaRPr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10362" y="26627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27%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04968" y="32477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15%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DB4B096-6E8C-7D82-8F3C-D6C81BB4B343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4" name="AutoShape 2">
              <a:extLst>
                <a:ext uri="{FF2B5EF4-FFF2-40B4-BE49-F238E27FC236}">
                  <a16:creationId xmlns:a16="http://schemas.microsoft.com/office/drawing/2014/main" id="{D8778C58-5A9B-5D43-3A53-58A8A26002A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35" name="AutoShape 2">
              <a:extLst>
                <a:ext uri="{FF2B5EF4-FFF2-40B4-BE49-F238E27FC236}">
                  <a16:creationId xmlns:a16="http://schemas.microsoft.com/office/drawing/2014/main" id="{5F2D3A58-11E2-6A93-7742-D9184BEDF331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10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36" name="AutoShape 2">
            <a:extLst>
              <a:ext uri="{FF2B5EF4-FFF2-40B4-BE49-F238E27FC236}">
                <a16:creationId xmlns:a16="http://schemas.microsoft.com/office/drawing/2014/main" id="{B90E4317-8DFE-77C9-E8A7-38D189F41567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2EEF8B1D-C588-03AA-AC74-15C3EA141A4E}"/>
              </a:ext>
            </a:extLst>
          </p:cNvPr>
          <p:cNvSpPr/>
          <p:nvPr/>
        </p:nvSpPr>
        <p:spPr>
          <a:xfrm>
            <a:off x="532415" y="882124"/>
            <a:ext cx="5461301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2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已进入主流</a:t>
            </a:r>
            <a:r>
              <a:rPr lang="zh-CN" altLang="en-US" sz="4000" u="none" strike="noStrike" dirty="0">
                <a:solidFill>
                  <a:srgbClr val="FACC15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</a:t>
            </a:r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8AEFA9AF-035D-4774-02DB-077D02035C7C}"/>
              </a:ext>
            </a:extLst>
          </p:cNvPr>
          <p:cNvSpPr/>
          <p:nvPr/>
        </p:nvSpPr>
        <p:spPr>
          <a:xfrm>
            <a:off x="524797" y="1647304"/>
            <a:ext cx="5571203" cy="6001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正从技术工具扩展至营销、产品、</a:t>
            </a: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IT、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运营等日常业务场景，应用已过尝鲜阶段，但多职能协同的深度整合仍不普遍。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42599"/>
            <a:ext cx="6574334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 </a:t>
            </a:r>
            <a:r>
              <a:rPr lang="en-US" sz="24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使用率加速上升</a:t>
            </a:r>
            <a:endParaRPr lang="en-US" sz="24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824523"/>
            <a:ext cx="6574334" cy="10156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u="none" strike="noStrike" dirty="0">
                <a:solidFill>
                  <a:srgbClr val="EAB308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88%</a:t>
            </a:r>
            <a:endParaRPr lang="en-US" sz="6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184814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使用率在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2023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年后明显加速，生成式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正在推动组织采用进入新阶段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27815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采用率提升不等于价值兑现，真正的差距在于是否把 AI 嵌入核心工作流。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37213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463960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2799375"/>
            <a:ext cx="203200" cy="203200"/>
          </a:xfrm>
          <a:prstGeom prst="ellipse">
            <a:avLst/>
          </a:prstGeom>
          <a:solidFill>
            <a:srgbClr val="FACC15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3748065"/>
            <a:ext cx="203200" cy="203200"/>
          </a:xfrm>
          <a:prstGeom prst="ellipse">
            <a:avLst/>
          </a:prstGeom>
          <a:solidFill>
            <a:srgbClr val="FEF3C7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4659925"/>
            <a:ext cx="203200" cy="2032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702164" y="25893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1996570973"/>
              </p:ext>
            </p:extLst>
          </p:nvPr>
        </p:nvGraphicFramePr>
        <p:xfrm>
          <a:off x="370810" y="2645867"/>
          <a:ext cx="6686124" cy="3725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EAB308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23</a:t>
            </a:r>
            <a:r>
              <a:rPr lang="zh-CN" sz="1200" dirty="0">
                <a:solidFill>
                  <a:srgbClr val="EAB308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年后加速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EAB308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+33%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DDC77A-1FA8-B6FE-5004-6F43CF9F16C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A2A0430E-5F9A-DED7-92E1-A5CD60E30EE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5A487C6-3AB2-0006-85B0-F1A5B1ADACD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11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42596C2F-784F-52C5-C558-C3EB4FD0C78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72942C5F-9BBE-76D0-7176-1897F65217D5}"/>
              </a:ext>
            </a:extLst>
          </p:cNvPr>
          <p:cNvSpPr/>
          <p:nvPr/>
        </p:nvSpPr>
        <p:spPr>
          <a:xfrm>
            <a:off x="8047990" y="1848399"/>
            <a:ext cx="203200" cy="203200"/>
          </a:xfrm>
          <a:prstGeom prst="ellipse">
            <a:avLst/>
          </a:prstGeom>
          <a:solidFill>
            <a:srgbClr val="22C55E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270DAF-248E-5189-D8F3-D057C58F3D1D}"/>
              </a:ext>
            </a:extLst>
          </p:cNvPr>
          <p:cNvSpPr txBox="1"/>
          <p:nvPr/>
        </p:nvSpPr>
        <p:spPr>
          <a:xfrm>
            <a:off x="8047990" y="920503"/>
            <a:ext cx="1368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b="1" i="0" u="none" strike="noStrike" dirty="0">
                <a:solidFill>
                  <a:srgbClr val="FACC15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Trending</a:t>
            </a:r>
            <a:endParaRPr lang="en-US" altLang="zh-CN" sz="1100" dirty="0">
              <a:solidFill>
                <a:srgbClr val="FACC15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C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836A5-795E-E7F6-23EE-50EFF3019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D850D047-C7A7-373B-B7ED-530FCE21CDD0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F5CC7956-2243-F7D3-CC3A-90F5CDED4E8C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312F5E7F-C0F6-63DF-B867-13502635BC2D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B6855266-C1D3-F20A-1C28-9ED0048E69C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B83EC70-FC84-08A6-0AF1-C7563E414177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9F8C4A3-8B62-4CB3-0A98-A5DC95932F4A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6F62929-EC41-F0FF-02AF-F673122A8EE2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76BCD35-C5FF-D5A1-59BB-B7F7E4BA4934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80E76AD-69FE-47F9-5E88-B0045DE0F7D3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FACC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442424A-9AE4-0A7E-BA8D-CB1A2DEA76B0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67AB983-FA0F-1416-BCDC-40BC9A419BDE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E687874F-F320-6547-357C-FFF66CB66652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0FCD15F-A534-E558-2ECE-3030F329C940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FFA4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2180386-D2F0-668E-D681-599B6390AB95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F3C4B97-E1BE-0BD1-9CC8-0DF4C4F61ADF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FF9E1E4-48D5-A338-DBF9-D18AA801371C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7FF0ED2-D10C-AE74-719B-0B0581C096F1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  <p:sp>
        <p:nvSpPr>
          <p:cNvPr id="3" name="AutoShape 2">
            <a:extLst>
              <a:ext uri="{FF2B5EF4-FFF2-40B4-BE49-F238E27FC236}">
                <a16:creationId xmlns:a16="http://schemas.microsoft.com/office/drawing/2014/main" id="{D90B4E3E-058E-4372-1C2C-45DE64BC3415}"/>
              </a:ext>
            </a:extLst>
          </p:cNvPr>
          <p:cNvSpPr/>
          <p:nvPr/>
        </p:nvSpPr>
        <p:spPr>
          <a:xfrm>
            <a:off x="524797" y="1046355"/>
            <a:ext cx="3982809" cy="14773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感谢聆听</a:t>
            </a:r>
            <a:endParaRPr lang="en-US" altLang="zh-CN" sz="4800" u="none" strike="noStrike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8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THANKS</a:t>
            </a:r>
            <a:endParaRPr lang="zh-CN" altLang="en-US" sz="4800" u="none" strike="noStrike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A2BE0F21-D5A8-636A-7D1C-222E0229D57E}"/>
              </a:ext>
            </a:extLst>
          </p:cNvPr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6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重新定义效率标准</a:t>
            </a: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A33509A0-3B46-F480-6A06-86B5F39DE7EE}"/>
              </a:ext>
            </a:extLst>
          </p:cNvPr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期待与您在 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zh-CN" alt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时代，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共同重构更高效的工作方式。</a:t>
            </a:r>
          </a:p>
        </p:txBody>
      </p:sp>
    </p:spTree>
    <p:extLst>
      <p:ext uri="{BB962C8B-B14F-4D97-AF65-F5344CB8AC3E}">
        <p14:creationId xmlns:p14="http://schemas.microsoft.com/office/powerpoint/2010/main" val="3650372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817</Words>
  <Application>Microsoft Macintosh PowerPoint</Application>
  <PresentationFormat>宽屏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FZLanTingHeiS</vt:lpstr>
      <vt:lpstr>FZLanTingHeiS Bold</vt:lpstr>
      <vt:lpstr>MiSans VF Bold</vt:lpstr>
      <vt:lpstr>MiSans VF Light</vt:lpstr>
      <vt:lpstr>MISANS VF MEDIUM</vt:lpstr>
      <vt:lpstr>MiSans VF Regular</vt:lpstr>
      <vt:lpstr>MiSans VF Semibold</vt:lpstr>
      <vt:lpstr>PingFang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19</cp:revision>
  <dcterms:created xsi:type="dcterms:W3CDTF">2026-05-27T19:33:57Z</dcterms:created>
  <dcterms:modified xsi:type="dcterms:W3CDTF">2026-06-16T08:31:21Z</dcterms:modified>
</cp:coreProperties>
</file>