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A7FF"/>
    <a:srgbClr val="030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6120"/>
  </p:normalViewPr>
  <p:slideViewPr>
    <p:cSldViewPr snapToGrid="0">
      <p:cViewPr>
        <p:scale>
          <a:sx n="130" d="100"/>
          <a:sy n="130" d="100"/>
        </p:scale>
        <p:origin x="1600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MiSans Medium" pitchFamily="2" charset="-128"/>
                <a:ea typeface="MiSans Medium" pitchFamily="2" charset="-128"/>
              </a:defRPr>
            </a:lvl1pPr>
          </a:lstStyle>
          <a:p>
            <a:endParaRPr lang="zh-CN" altLang="en-US" dirty="0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MiSans Medium" pitchFamily="2" charset="-128"/>
                <a:ea typeface="MiSans Medium" pitchFamily="2" charset="-128"/>
              </a:defRPr>
            </a:lvl1pPr>
          </a:lstStyle>
          <a:p>
            <a:endParaRPr lang="zh-CN" altLang="en-US"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MiSans Medium" pitchFamily="2" charset="-128"/>
                <a:ea typeface="MiSans Medium" pitchFamily="2" charset="-128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MiSans Medium" pitchFamily="2" charset="-128"/>
                <a:ea typeface="MiSans Medium" pitchFamily="2" charset="-128"/>
              </a:defRPr>
            </a:lvl1pPr>
          </a:lstStyle>
          <a:p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F9A3645-7134-41B0-A781-A60D9A9A1D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7C76C36-06C4-47BF-8DA4-5F1817357F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35AF110-321A-42A2-B334-587552A878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>
              <a:alpha val="2500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86415C-0FA6-4CB3-A0F7-1F485D78E87E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4000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8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YuanPhone</a:t>
            </a:r>
            <a:r>
              <a:rPr sz="18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16 Pro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703DD4-AD9E-48DF-9EEA-E6404027E6C1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4953000" cy="123110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>
            <a:spAutoFit/>
          </a:bodyPr>
          <a:lstStyle/>
          <a:p>
            <a:pPr algn="l">
              <a:defRPr sz="57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80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新起点</a:t>
            </a:r>
            <a:endParaRPr sz="80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5E3C29-7F8D-4DE2-939B-775EBECC85B4}"/>
              </a:ext>
            </a:extLst>
          </p:cNvPr>
          <p:cNvSpPr>
            <a:spLocks noGrp="1"/>
          </p:cNvSpPr>
          <p:nvPr/>
        </p:nvSpPr>
        <p:spPr>
          <a:xfrm>
            <a:off x="723900" y="2987919"/>
            <a:ext cx="495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21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手机新品发布会</a:t>
            </a:r>
            <a:endParaRPr sz="21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9A82ED-64CF-4FB5-9ECC-E01D8A6FC991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旗舰影像</a:t>
            </a:r>
            <a:r>
              <a:rPr sz="13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| </a:t>
            </a:r>
            <a:r>
              <a:rPr sz="135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澎湃性能</a:t>
            </a:r>
            <a:r>
              <a:rPr sz="13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| </a:t>
            </a:r>
            <a:r>
              <a:rPr sz="135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全场景智能</a:t>
            </a:r>
            <a:endParaRPr sz="135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A86F55-4318-4CC2-B399-006DFCFF6D3F}"/>
              </a:ext>
            </a:extLst>
          </p:cNvPr>
          <p:cNvSpPr>
            <a:spLocks noGrp="1"/>
          </p:cNvSpPr>
          <p:nvPr/>
        </p:nvSpPr>
        <p:spPr>
          <a:xfrm>
            <a:off x="762000" y="5181600"/>
            <a:ext cx="1524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3600" dirty="0">
                <a:solidFill>
                  <a:srgbClr val="67E8F9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3nm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418B56-743C-4CA9-9125-D887D63B7E85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新一代旗舰平台</a:t>
            </a:r>
            <a:endParaRPr sz="120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DD35A7-BF92-46DA-80D5-62C7B2BFA517}"/>
              </a:ext>
            </a:extLst>
          </p:cNvPr>
          <p:cNvSpPr>
            <a:spLocks noGrp="1"/>
          </p:cNvSpPr>
          <p:nvPr/>
        </p:nvSpPr>
        <p:spPr>
          <a:xfrm>
            <a:off x="2952750" y="5181600"/>
            <a:ext cx="1619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4C277"/>
                </a:solidFill>
                <a:latin typeface="PingFang SC"/>
                <a:ea typeface="PingFang SC"/>
                <a:cs typeface="PingFang SC"/>
              </a:defRPr>
            </a:pPr>
            <a:r>
              <a:rPr sz="3600" dirty="0">
                <a:solidFill>
                  <a:srgbClr val="F4C277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2K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49CD15-3ACE-4DCD-8BA7-D7F2A73DC9C9}"/>
              </a:ext>
            </a:extLst>
          </p:cNvPr>
          <p:cNvSpPr>
            <a:spLocks noGrp="1"/>
          </p:cNvSpPr>
          <p:nvPr/>
        </p:nvSpPr>
        <p:spPr>
          <a:xfrm>
            <a:off x="2952750" y="58293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Pro XDR LTPO </a:t>
            </a: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屏</a:t>
            </a:r>
            <a:endParaRPr sz="120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7C6847-2C1C-435A-A288-5205A3BC71AA}"/>
              </a:ext>
            </a:extLst>
          </p:cNvPr>
          <p:cNvSpPr>
            <a:spLocks noGrp="1"/>
          </p:cNvSpPr>
          <p:nvPr/>
        </p:nvSpPr>
        <p:spPr>
          <a:xfrm>
            <a:off x="5095875" y="5181600"/>
            <a:ext cx="1714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3600" dirty="0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120W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BDB893-B233-43F8-A1C1-E384BAE72611}"/>
              </a:ext>
            </a:extLst>
          </p:cNvPr>
          <p:cNvSpPr>
            <a:spLocks noGrp="1"/>
          </p:cNvSpPr>
          <p:nvPr/>
        </p:nvSpPr>
        <p:spPr>
          <a:xfrm>
            <a:off x="5095875" y="58293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有线闪充</a:t>
            </a:r>
            <a:endParaRPr sz="120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050032E8-1A07-9E52-21B2-D1B7C773F6DA}"/>
              </a:ext>
            </a:extLst>
          </p:cNvPr>
          <p:cNvSpPr/>
          <p:nvPr/>
        </p:nvSpPr>
        <p:spPr>
          <a:xfrm>
            <a:off x="742950" y="3335032"/>
            <a:ext cx="1809749" cy="285750"/>
          </a:xfrm>
          <a:prstGeom prst="roundRect">
            <a:avLst>
              <a:gd name="adj" fmla="val 14122"/>
            </a:avLst>
          </a:prstGeom>
          <a:solidFill>
            <a:srgbClr val="071426"/>
          </a:solidFill>
          <a:ln w="9525">
            <a:solidFill>
              <a:srgbClr val="25A7FF"/>
            </a:solidFill>
          </a:ln>
        </p:spPr>
        <p:txBody>
          <a:bodyPr/>
          <a:lstStyle/>
          <a:p>
            <a:endParaRPr lang="zh-CN" altLang="en-US" dirty="0">
              <a:solidFill>
                <a:schemeClr val="tx1"/>
              </a:solidFill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C81EED-38B5-4CF4-A2E2-6A6CD5557469}"/>
              </a:ext>
            </a:extLst>
          </p:cNvPr>
          <p:cNvSpPr>
            <a:spLocks noGrp="1"/>
          </p:cNvSpPr>
          <p:nvPr/>
        </p:nvSpPr>
        <p:spPr>
          <a:xfrm>
            <a:off x="857250" y="3392182"/>
            <a:ext cx="1581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Concept Launch Deck</a:t>
            </a:r>
          </a:p>
        </p:txBody>
      </p:sp>
    </p:spTree>
    <p:extLst>
      <p:ext uri="{BB962C8B-B14F-4D97-AF65-F5344CB8AC3E}">
        <p14:creationId xmlns:p14="http://schemas.microsoft.com/office/powerpoint/2010/main" val="1496077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B812B59-745B-490F-B798-87117BB983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5C8289D-5B66-475A-99F5-D3D64C83C0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AA4746-F744-4AA0-8EDD-DC33CDE52F0C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defRPr sz="10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05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Yuanbao</a:t>
            </a:r>
            <a:r>
              <a:rPr lang="en-US" altLang="zh-CN" sz="10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New Phone Launch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F7A4E8-1228-489F-AC68-04234D7B0332}"/>
              </a:ext>
            </a:extLst>
          </p:cNvPr>
          <p:cNvSpPr>
            <a:spLocks noGrp="1"/>
          </p:cNvSpPr>
          <p:nvPr/>
        </p:nvSpPr>
        <p:spPr>
          <a:xfrm>
            <a:off x="495300" y="49530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Brand Opening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994134-765B-4889-A776-FF77C70F8A4A}"/>
              </a:ext>
            </a:extLst>
          </p:cNvPr>
          <p:cNvSpPr>
            <a:spLocks noGrp="1"/>
          </p:cNvSpPr>
          <p:nvPr/>
        </p:nvSpPr>
        <p:spPr>
          <a:xfrm>
            <a:off x="11382375" y="323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A8971A-1F4A-4C85-B69C-80F62236E32A}"/>
              </a:ext>
            </a:extLst>
          </p:cNvPr>
          <p:cNvSpPr>
            <a:spLocks noGrp="1"/>
          </p:cNvSpPr>
          <p:nvPr/>
        </p:nvSpPr>
        <p:spPr>
          <a:xfrm>
            <a:off x="495300" y="781050"/>
            <a:ext cx="11201400" cy="9525"/>
          </a:xfrm>
          <a:prstGeom prst="rect">
            <a:avLst/>
          </a:prstGeom>
          <a:solidFill>
            <a:srgbClr val="12345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A00500-F6BF-4342-A187-F9BF2637F67C}"/>
              </a:ext>
            </a:extLst>
          </p:cNvPr>
          <p:cNvSpPr>
            <a:spLocks noGrp="1"/>
          </p:cNvSpPr>
          <p:nvPr/>
        </p:nvSpPr>
        <p:spPr>
          <a:xfrm>
            <a:off x="838200" y="1371600"/>
            <a:ext cx="723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3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从参数领先，走向体验领先</a:t>
            </a:r>
            <a:endParaRPr sz="33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4DB21A-823D-4B04-AA95-93C09A9596B7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65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这一次，手机不只是更快、更清晰、更能拍；它要成为人、车、家的核心入口</a:t>
            </a:r>
            <a:r>
              <a:rPr sz="16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4CDB84-C4D0-485E-9295-2EB7F3F1F9F3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2095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4C277"/>
                </a:solidFill>
                <a:latin typeface="PingFang SC"/>
                <a:ea typeface="PingFang SC"/>
                <a:cs typeface="PingFang SC"/>
              </a:defRPr>
            </a:pPr>
            <a:r>
              <a:rPr sz="3600" dirty="0">
                <a:solidFill>
                  <a:srgbClr val="F4C277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#87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C0B6C1-556D-42E7-B3D0-C64A9254B99F}"/>
              </a:ext>
            </a:extLst>
          </p:cNvPr>
          <p:cNvSpPr>
            <a:spLocks noGrp="1"/>
          </p:cNvSpPr>
          <p:nvPr/>
        </p:nvSpPr>
        <p:spPr>
          <a:xfrm>
            <a:off x="876300" y="40386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全球品牌价值榜概念位次</a:t>
            </a:r>
            <a:endParaRPr sz="120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727F93-ADBA-4958-BEB1-6DBFF9C9A8C2}"/>
              </a:ext>
            </a:extLst>
          </p:cNvPr>
          <p:cNvSpPr>
            <a:spLocks noGrp="1"/>
          </p:cNvSpPr>
          <p:nvPr/>
        </p:nvSpPr>
        <p:spPr>
          <a:xfrm>
            <a:off x="3390900" y="3390900"/>
            <a:ext cx="2095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600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27%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F478F8-B4F6-4FEE-AA7C-185B13129D65}"/>
              </a:ext>
            </a:extLst>
          </p:cNvPr>
          <p:cNvSpPr>
            <a:spLocks noGrp="1"/>
          </p:cNvSpPr>
          <p:nvPr/>
        </p:nvSpPr>
        <p:spPr>
          <a:xfrm>
            <a:off x="3390900" y="40386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季度增长叙事示意</a:t>
            </a:r>
            <a:endParaRPr sz="120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E6477B-5967-4925-B961-F148124BC16F}"/>
              </a:ext>
            </a:extLst>
          </p:cNvPr>
          <p:cNvSpPr>
            <a:spLocks noGrp="1"/>
          </p:cNvSpPr>
          <p:nvPr/>
        </p:nvSpPr>
        <p:spPr>
          <a:xfrm>
            <a:off x="5924550" y="3390900"/>
            <a:ext cx="2095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3600" dirty="0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32%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D2C87FA-18EF-47A5-9821-9123FF5AE2FE}"/>
              </a:ext>
            </a:extLst>
          </p:cNvPr>
          <p:cNvSpPr>
            <a:spLocks noGrp="1"/>
          </p:cNvSpPr>
          <p:nvPr/>
        </p:nvSpPr>
        <p:spPr>
          <a:xfrm>
            <a:off x="5924550" y="40386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旗舰用户渗透提升</a:t>
            </a:r>
            <a:endParaRPr sz="120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3345A1-8B54-463D-9638-6BA9D0D3A2ED}"/>
              </a:ext>
            </a:extLst>
          </p:cNvPr>
          <p:cNvSpPr>
            <a:spLocks noGrp="1"/>
          </p:cNvSpPr>
          <p:nvPr/>
        </p:nvSpPr>
        <p:spPr>
          <a:xfrm>
            <a:off x="876300" y="54483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 err="1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发布会主线</a:t>
            </a:r>
            <a:endParaRPr sz="1350" dirty="0">
              <a:solidFill>
                <a:srgbClr val="25A7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C1BD613-2276-4943-922A-69F4C3AB00DE}"/>
              </a:ext>
            </a:extLst>
          </p:cNvPr>
          <p:cNvSpPr>
            <a:spLocks noGrp="1"/>
          </p:cNvSpPr>
          <p:nvPr/>
        </p:nvSpPr>
        <p:spPr>
          <a:xfrm>
            <a:off x="2152650" y="5438775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设计质感</a:t>
            </a:r>
            <a:r>
              <a:rPr sz="1500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 /  </a:t>
            </a:r>
            <a:r>
              <a:rPr sz="15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影像跃迁</a:t>
            </a:r>
            <a:r>
              <a:rPr sz="1500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 /  AI </a:t>
            </a:r>
            <a:r>
              <a:rPr sz="15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原生</a:t>
            </a:r>
            <a:r>
              <a:rPr sz="1500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 /  </a:t>
            </a:r>
            <a:r>
              <a:rPr sz="15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生态互联</a:t>
            </a:r>
            <a:endParaRPr sz="15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59028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10D7B70-D7DF-400A-AC52-2D12869F8C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D74638-A385-46B6-A8BA-0F1327B464B8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defRPr sz="10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05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Yuanbao</a:t>
            </a:r>
            <a:r>
              <a:rPr lang="en-US" altLang="zh-CN" sz="10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New Phone Launch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3374D8-8FB7-42A0-B9B8-A50F4CE5BDE0}"/>
              </a:ext>
            </a:extLst>
          </p:cNvPr>
          <p:cNvSpPr>
            <a:spLocks noGrp="1"/>
          </p:cNvSpPr>
          <p:nvPr/>
        </p:nvSpPr>
        <p:spPr>
          <a:xfrm>
            <a:off x="495300" y="49530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Product Overview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2B3364F-D5BB-B918-D1A3-4A9BC6327B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895" r="28895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384AEDA1-5B2F-CE05-ACFA-5C56630FA878}"/>
              </a:ext>
            </a:extLst>
          </p:cNvPr>
          <p:cNvSpPr>
            <a:spLocks noGrp="1"/>
          </p:cNvSpPr>
          <p:nvPr/>
        </p:nvSpPr>
        <p:spPr>
          <a:xfrm>
            <a:off x="7006300" y="0"/>
            <a:ext cx="3646004" cy="6858000"/>
          </a:xfrm>
          <a:prstGeom prst="rect">
            <a:avLst/>
          </a:prstGeom>
          <a:gradFill>
            <a:gsLst>
              <a:gs pos="0">
                <a:srgbClr val="030611"/>
              </a:gs>
              <a:gs pos="100000">
                <a:srgbClr val="030611">
                  <a:alpha val="0"/>
                </a:srgbClr>
              </a:gs>
            </a:gsLst>
            <a:lin ang="0" scaled="0"/>
          </a:gra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49713B-E86D-40A4-883C-9C8B465244F3}"/>
              </a:ext>
            </a:extLst>
          </p:cNvPr>
          <p:cNvSpPr>
            <a:spLocks noGrp="1"/>
          </p:cNvSpPr>
          <p:nvPr/>
        </p:nvSpPr>
        <p:spPr>
          <a:xfrm>
            <a:off x="11382375" y="323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3BB0AB-6B92-4E67-9F10-9426F9A11EF5}"/>
              </a:ext>
            </a:extLst>
          </p:cNvPr>
          <p:cNvSpPr>
            <a:spLocks noGrp="1"/>
          </p:cNvSpPr>
          <p:nvPr/>
        </p:nvSpPr>
        <p:spPr>
          <a:xfrm>
            <a:off x="495300" y="781050"/>
            <a:ext cx="11201400" cy="9525"/>
          </a:xfrm>
          <a:prstGeom prst="rect">
            <a:avLst/>
          </a:prstGeom>
          <a:solidFill>
            <a:srgbClr val="12345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E31C5C-1166-462E-9A83-48449B102D29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48577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3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旗舰标准，重新定义一块手机</a:t>
            </a:r>
            <a:endParaRPr sz="33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A80BBF-63E6-4045-BC78-23B5C70B9F82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476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5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YuanPhone</a:t>
            </a:r>
            <a:r>
              <a:rPr sz="15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16 Pro </a:t>
            </a:r>
            <a:r>
              <a:rPr sz="15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以影像、屏幕、性能和续航四条主线，服务真实高频使用场景</a:t>
            </a:r>
            <a:r>
              <a:rPr sz="15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FE54A7-25F1-4BC6-9835-228C36050321}"/>
              </a:ext>
            </a:extLst>
          </p:cNvPr>
          <p:cNvSpPr>
            <a:spLocks noGrp="1"/>
          </p:cNvSpPr>
          <p:nvPr/>
        </p:nvSpPr>
        <p:spPr>
          <a:xfrm>
            <a:off x="742950" y="3467100"/>
            <a:ext cx="57150" cy="514350"/>
          </a:xfrm>
          <a:prstGeom prst="rect">
            <a:avLst/>
          </a:prstGeom>
          <a:solidFill>
            <a:srgbClr val="F4C27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1F6F49-6826-4679-A8AD-C7CD78E0958D}"/>
              </a:ext>
            </a:extLst>
          </p:cNvPr>
          <p:cNvSpPr>
            <a:spLocks noGrp="1"/>
          </p:cNvSpPr>
          <p:nvPr/>
        </p:nvSpPr>
        <p:spPr>
          <a:xfrm>
            <a:off x="914400" y="3507656"/>
            <a:ext cx="3829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全天候影像</a:t>
            </a:r>
            <a:endParaRPr sz="15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639B68-29DB-4DA6-976C-B155F56BECB1}"/>
              </a:ext>
            </a:extLst>
          </p:cNvPr>
          <p:cNvSpPr>
            <a:spLocks noGrp="1"/>
          </p:cNvSpPr>
          <p:nvPr/>
        </p:nvSpPr>
        <p:spPr>
          <a:xfrm>
            <a:off x="914400" y="3793406"/>
            <a:ext cx="3829050" cy="17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>
            <a:spAutoFit/>
          </a:bodyPr>
          <a:lstStyle/>
          <a:p>
            <a:pPr algn="l">
              <a:defRPr sz="1125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12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主摄、长焦、夜景与人像统一调校</a:t>
            </a:r>
            <a:endParaRPr sz="1125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5A5390-FA47-412E-A5E9-0CAFA3EA542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57150" cy="514350"/>
          </a:xfrm>
          <a:prstGeom prst="rect">
            <a:avLst/>
          </a:prstGeom>
          <a:solidFill>
            <a:srgbClr val="25A7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8807D9-178B-4009-A590-732892E1EF2D}"/>
              </a:ext>
            </a:extLst>
          </p:cNvPr>
          <p:cNvSpPr>
            <a:spLocks noGrp="1"/>
          </p:cNvSpPr>
          <p:nvPr/>
        </p:nvSpPr>
        <p:spPr>
          <a:xfrm>
            <a:off x="914400" y="4336025"/>
            <a:ext cx="3829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AI </a:t>
            </a:r>
            <a:r>
              <a:rPr sz="15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原生交互</a:t>
            </a:r>
            <a:endParaRPr sz="15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DCE863-0D44-4DA3-A423-988CC888A5E4}"/>
              </a:ext>
            </a:extLst>
          </p:cNvPr>
          <p:cNvSpPr>
            <a:spLocks noGrp="1"/>
          </p:cNvSpPr>
          <p:nvPr/>
        </p:nvSpPr>
        <p:spPr>
          <a:xfrm>
            <a:off x="914400" y="4621775"/>
            <a:ext cx="3829050" cy="17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>
            <a:spAutoFit/>
          </a:bodyPr>
          <a:lstStyle/>
          <a:p>
            <a:pPr algn="l">
              <a:defRPr sz="1125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12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会议、翻译、搜索、创作直接进入系统层</a:t>
            </a:r>
            <a:endParaRPr sz="1125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E6F93F-5F3E-4FCB-A537-7BCAAD85BC4F}"/>
              </a:ext>
            </a:extLst>
          </p:cNvPr>
          <p:cNvSpPr>
            <a:spLocks noGrp="1"/>
          </p:cNvSpPr>
          <p:nvPr/>
        </p:nvSpPr>
        <p:spPr>
          <a:xfrm>
            <a:off x="742950" y="5143500"/>
            <a:ext cx="57150" cy="514350"/>
          </a:xfrm>
          <a:prstGeom prst="rect">
            <a:avLst/>
          </a:prstGeom>
          <a:solidFill>
            <a:srgbClr val="67E8F9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0A2D30-2483-4926-B2FD-F4B837029B37}"/>
              </a:ext>
            </a:extLst>
          </p:cNvPr>
          <p:cNvSpPr>
            <a:spLocks noGrp="1"/>
          </p:cNvSpPr>
          <p:nvPr/>
        </p:nvSpPr>
        <p:spPr>
          <a:xfrm>
            <a:off x="914400" y="5184056"/>
            <a:ext cx="430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车家互联</a:t>
            </a:r>
            <a:endParaRPr sz="15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D7A3CA9-0DB1-4B92-AF8A-DE5F18604AEC}"/>
              </a:ext>
            </a:extLst>
          </p:cNvPr>
          <p:cNvSpPr>
            <a:spLocks noGrp="1"/>
          </p:cNvSpPr>
          <p:nvPr/>
        </p:nvSpPr>
        <p:spPr>
          <a:xfrm>
            <a:off x="914400" y="5469806"/>
            <a:ext cx="4305300" cy="17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>
            <a:spAutoFit/>
          </a:bodyPr>
          <a:lstStyle/>
          <a:p>
            <a:pPr algn="l">
              <a:defRPr sz="1125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12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手机成为</a:t>
            </a:r>
            <a:r>
              <a:rPr sz="1125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SU7 Ultra </a:t>
            </a:r>
            <a:r>
              <a:rPr sz="112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与智能家居的个人钥匙</a:t>
            </a:r>
            <a:endParaRPr sz="1125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2E917F8-60CD-07B2-96E6-69E4DD739BE3}"/>
              </a:ext>
            </a:extLst>
          </p:cNvPr>
          <p:cNvSpPr/>
          <p:nvPr/>
        </p:nvSpPr>
        <p:spPr>
          <a:xfrm>
            <a:off x="742950" y="5934075"/>
            <a:ext cx="2476500" cy="285750"/>
          </a:xfrm>
          <a:prstGeom prst="roundRect">
            <a:avLst>
              <a:gd name="adj" fmla="val 14122"/>
            </a:avLst>
          </a:prstGeom>
          <a:solidFill>
            <a:srgbClr val="071B31"/>
          </a:solidFill>
          <a:ln w="9525">
            <a:solidFill>
              <a:srgbClr val="7C3CFF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F48A88-CACD-444F-BC1C-97DA4DB1864E}"/>
              </a:ext>
            </a:extLst>
          </p:cNvPr>
          <p:cNvSpPr>
            <a:spLocks noGrp="1"/>
          </p:cNvSpPr>
          <p:nvPr/>
        </p:nvSpPr>
        <p:spPr>
          <a:xfrm>
            <a:off x="857250" y="5991225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旗舰</a:t>
            </a:r>
            <a:r>
              <a:rPr sz="1050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/ Pro / Ultra </a:t>
            </a:r>
            <a:r>
              <a:rPr sz="10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三版本节奏</a:t>
            </a:r>
            <a:endParaRPr sz="10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233149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76AACE7-DEC4-4B58-AAB2-488C2FAC1C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A0B405-423A-4614-AA5D-C4E32FEB8E7C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defRPr sz="10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05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Yuanbao</a:t>
            </a:r>
            <a:r>
              <a:rPr lang="en-US" altLang="zh-CN" sz="10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New Phone Launch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D0CEB0-B1B9-4A1F-B513-D5D075943D39}"/>
              </a:ext>
            </a:extLst>
          </p:cNvPr>
          <p:cNvSpPr>
            <a:spLocks noGrp="1"/>
          </p:cNvSpPr>
          <p:nvPr/>
        </p:nvSpPr>
        <p:spPr>
          <a:xfrm>
            <a:off x="495300" y="49530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Display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2B4C9D-7A98-49C7-8266-56FF510CDA6D}"/>
              </a:ext>
            </a:extLst>
          </p:cNvPr>
          <p:cNvSpPr>
            <a:spLocks noGrp="1"/>
          </p:cNvSpPr>
          <p:nvPr/>
        </p:nvSpPr>
        <p:spPr>
          <a:xfrm>
            <a:off x="11382375" y="323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0176D5-C274-4B24-B9E1-576A931276D5}"/>
              </a:ext>
            </a:extLst>
          </p:cNvPr>
          <p:cNvSpPr>
            <a:spLocks noGrp="1"/>
          </p:cNvSpPr>
          <p:nvPr/>
        </p:nvSpPr>
        <p:spPr>
          <a:xfrm>
            <a:off x="495300" y="781050"/>
            <a:ext cx="11201400" cy="9525"/>
          </a:xfrm>
          <a:prstGeom prst="rect">
            <a:avLst/>
          </a:prstGeom>
          <a:solidFill>
            <a:srgbClr val="12345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F592F9-6C1F-4528-9092-4E4DDF32AB31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5905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一块让内容自己发光的屏幕</a:t>
            </a:r>
            <a:endParaRPr sz="31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2B5DF1-1D66-4403-953A-37F2B0EF14A6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609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2K Pro XDR </a:t>
            </a:r>
            <a:r>
              <a:rPr sz="15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LTPO，低亮护眼、高亮通透、游戏触控稳定</a:t>
            </a:r>
            <a:r>
              <a:rPr sz="15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A3D26D-3661-4E27-A23B-DCDFDC85B60E}"/>
              </a:ext>
            </a:extLst>
          </p:cNvPr>
          <p:cNvSpPr>
            <a:spLocks noGrp="1"/>
          </p:cNvSpPr>
          <p:nvPr/>
        </p:nvSpPr>
        <p:spPr>
          <a:xfrm>
            <a:off x="7467600" y="1162050"/>
            <a:ext cx="3143250" cy="4857750"/>
          </a:xfrm>
          <a:prstGeom prst="rect">
            <a:avLst/>
          </a:prstGeom>
          <a:solidFill>
            <a:srgbClr val="050B18"/>
          </a:solidFill>
          <a:ln w="19050">
            <a:solidFill>
              <a:srgbClr val="2D5D93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C27464-967C-4812-B6B0-086D9D3C0177}"/>
              </a:ext>
            </a:extLst>
          </p:cNvPr>
          <p:cNvSpPr>
            <a:spLocks noGrp="1"/>
          </p:cNvSpPr>
          <p:nvPr/>
        </p:nvSpPr>
        <p:spPr>
          <a:xfrm>
            <a:off x="7696200" y="1466850"/>
            <a:ext cx="2686050" cy="4267200"/>
          </a:xfrm>
          <a:prstGeom prst="rect">
            <a:avLst/>
          </a:prstGeom>
          <a:solidFill>
            <a:srgbClr val="071426"/>
          </a:solidFill>
          <a:ln w="9525">
            <a:solidFill>
              <a:srgbClr val="1D3557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3BCD2E-0FD6-42D5-99F0-260914C836D4}"/>
              </a:ext>
            </a:extLst>
          </p:cNvPr>
          <p:cNvSpPr>
            <a:spLocks noGrp="1"/>
          </p:cNvSpPr>
          <p:nvPr/>
        </p:nvSpPr>
        <p:spPr>
          <a:xfrm>
            <a:off x="8077200" y="2000250"/>
            <a:ext cx="1943100" cy="2952750"/>
          </a:xfrm>
          <a:prstGeom prst="rect">
            <a:avLst/>
          </a:prstGeom>
          <a:solidFill>
            <a:srgbClr val="25A7FF">
              <a:alpha val="25000"/>
            </a:srgbClr>
          </a:solidFill>
          <a:ln w="9525">
            <a:solidFill>
              <a:srgbClr val="25A7FF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BD6677-E3DE-4DAF-8A26-5FC14E893113}"/>
              </a:ext>
            </a:extLst>
          </p:cNvPr>
          <p:cNvSpPr>
            <a:spLocks noGrp="1"/>
          </p:cNvSpPr>
          <p:nvPr/>
        </p:nvSpPr>
        <p:spPr>
          <a:xfrm>
            <a:off x="8382000" y="2381250"/>
            <a:ext cx="1333500" cy="2095500"/>
          </a:xfrm>
          <a:prstGeom prst="rect">
            <a:avLst/>
          </a:prstGeom>
          <a:solidFill>
            <a:srgbClr val="F4C277">
              <a:alpha val="14000"/>
            </a:srgbClr>
          </a:solidFill>
          <a:ln w="9525">
            <a:solidFill>
              <a:srgbClr val="F4C277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23DA2E-E1C5-472A-A61B-9BEFCFF2A7C1}"/>
              </a:ext>
            </a:extLst>
          </p:cNvPr>
          <p:cNvSpPr>
            <a:spLocks noGrp="1"/>
          </p:cNvSpPr>
          <p:nvPr/>
        </p:nvSpPr>
        <p:spPr>
          <a:xfrm>
            <a:off x="838200" y="2895600"/>
            <a:ext cx="1714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3600" dirty="0">
                <a:solidFill>
                  <a:srgbClr val="67E8F9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2K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54DBA6-EDCB-48B4-BA84-05707E93D6EC}"/>
              </a:ext>
            </a:extLst>
          </p:cNvPr>
          <p:cNvSpPr>
            <a:spLocks noGrp="1"/>
          </p:cNvSpPr>
          <p:nvPr/>
        </p:nvSpPr>
        <p:spPr>
          <a:xfrm>
            <a:off x="838200" y="35433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旗舰分辨率</a:t>
            </a:r>
            <a:endParaRPr sz="120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24A97C-A1EE-42DF-9F26-CDC3382E785E}"/>
              </a:ext>
            </a:extLst>
          </p:cNvPr>
          <p:cNvSpPr>
            <a:spLocks noGrp="1"/>
          </p:cNvSpPr>
          <p:nvPr/>
        </p:nvSpPr>
        <p:spPr>
          <a:xfrm>
            <a:off x="3162300" y="2895600"/>
            <a:ext cx="2190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4C277"/>
                </a:solidFill>
                <a:latin typeface="PingFang SC"/>
                <a:ea typeface="PingFang SC"/>
                <a:cs typeface="PingFang SC"/>
              </a:defRPr>
            </a:pPr>
            <a:r>
              <a:rPr sz="3600" dirty="0">
                <a:solidFill>
                  <a:srgbClr val="F4C277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1-120Hz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A08458-3587-46DF-B689-9B78BB5A5DB3}"/>
              </a:ext>
            </a:extLst>
          </p:cNvPr>
          <p:cNvSpPr>
            <a:spLocks noGrp="1"/>
          </p:cNvSpPr>
          <p:nvPr/>
        </p:nvSpPr>
        <p:spPr>
          <a:xfrm>
            <a:off x="3162300" y="3543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自适应刷新率</a:t>
            </a:r>
            <a:endParaRPr sz="120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3B7B08-3AA4-4A12-9419-20E2DBBC5465}"/>
              </a:ext>
            </a:extLst>
          </p:cNvPr>
          <p:cNvSpPr>
            <a:spLocks noGrp="1"/>
          </p:cNvSpPr>
          <p:nvPr/>
        </p:nvSpPr>
        <p:spPr>
          <a:xfrm>
            <a:off x="838200" y="4400550"/>
            <a:ext cx="2190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3600" dirty="0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3000nit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892990-DCED-4067-884A-95C81A5EC4D0}"/>
              </a:ext>
            </a:extLst>
          </p:cNvPr>
          <p:cNvSpPr>
            <a:spLocks noGrp="1"/>
          </p:cNvSpPr>
          <p:nvPr/>
        </p:nvSpPr>
        <p:spPr>
          <a:xfrm>
            <a:off x="838200" y="50482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峰值亮度概念</a:t>
            </a:r>
            <a:endParaRPr sz="120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DE529A8-C727-4DC6-B688-7EB7E856D658}"/>
              </a:ext>
            </a:extLst>
          </p:cNvPr>
          <p:cNvSpPr>
            <a:spLocks noGrp="1"/>
          </p:cNvSpPr>
          <p:nvPr/>
        </p:nvSpPr>
        <p:spPr>
          <a:xfrm>
            <a:off x="3162300" y="4400550"/>
            <a:ext cx="2190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600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2160Hz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87E6972-63F1-4E96-82C4-D82FD0128DA8}"/>
              </a:ext>
            </a:extLst>
          </p:cNvPr>
          <p:cNvSpPr>
            <a:spLocks noGrp="1"/>
          </p:cNvSpPr>
          <p:nvPr/>
        </p:nvSpPr>
        <p:spPr>
          <a:xfrm>
            <a:off x="3162300" y="50482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高频</a:t>
            </a:r>
            <a:r>
              <a:rPr sz="12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PWM </a:t>
            </a: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调光</a:t>
            </a:r>
            <a:endParaRPr sz="120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550866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F0DFCA1A-AE18-46ED-9DF2-21DB1B442B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20297" r="20297"/>
          <a:stretch>
            <a:fillRect/>
          </a:stretch>
        </p:blipFill>
        <p:spPr>
          <a:xfrm>
            <a:off x="4953000" y="0"/>
            <a:ext cx="7239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C0916E8-CDE8-4A6C-B9CB-18AE5D6D0C2F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defRPr sz="10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05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Yuanbao</a:t>
            </a:r>
            <a:r>
              <a:rPr lang="en-US" altLang="zh-CN" sz="10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New Phone Launch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A19209-A48C-4E5C-B8EA-58EB047D7726}"/>
              </a:ext>
            </a:extLst>
          </p:cNvPr>
          <p:cNvSpPr>
            <a:spLocks noGrp="1"/>
          </p:cNvSpPr>
          <p:nvPr/>
        </p:nvSpPr>
        <p:spPr>
          <a:xfrm>
            <a:off x="495300" y="49530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Imaging System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84CDD6-E66C-47AA-8E0A-7F0AE88B772F}"/>
              </a:ext>
            </a:extLst>
          </p:cNvPr>
          <p:cNvSpPr>
            <a:spLocks noGrp="1"/>
          </p:cNvSpPr>
          <p:nvPr/>
        </p:nvSpPr>
        <p:spPr>
          <a:xfrm>
            <a:off x="11382375" y="323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05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F135D56-CE33-07F1-F42C-D9D334B96FDA}"/>
              </a:ext>
            </a:extLst>
          </p:cNvPr>
          <p:cNvSpPr>
            <a:spLocks noGrp="1"/>
          </p:cNvSpPr>
          <p:nvPr/>
        </p:nvSpPr>
        <p:spPr>
          <a:xfrm>
            <a:off x="4875144" y="0"/>
            <a:ext cx="3646004" cy="6858000"/>
          </a:xfrm>
          <a:prstGeom prst="rect">
            <a:avLst/>
          </a:prstGeom>
          <a:gradFill>
            <a:gsLst>
              <a:gs pos="0">
                <a:srgbClr val="030611"/>
              </a:gs>
              <a:gs pos="100000">
                <a:srgbClr val="030611">
                  <a:alpha val="0"/>
                </a:srgbClr>
              </a:gs>
            </a:gsLst>
            <a:lin ang="0" scaled="0"/>
          </a:gra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E7B678-04A6-47C1-B845-AFD8AE04D55E}"/>
              </a:ext>
            </a:extLst>
          </p:cNvPr>
          <p:cNvSpPr>
            <a:spLocks noGrp="1"/>
          </p:cNvSpPr>
          <p:nvPr/>
        </p:nvSpPr>
        <p:spPr>
          <a:xfrm>
            <a:off x="495300" y="781050"/>
            <a:ext cx="11201400" cy="9525"/>
          </a:xfrm>
          <a:prstGeom prst="rect">
            <a:avLst/>
          </a:prstGeom>
          <a:solidFill>
            <a:srgbClr val="12345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BE28C0-C5EE-4B33-9D59-70D4CF6C52EF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457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6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把现场带回现场</a:t>
            </a:r>
            <a:endParaRPr sz="36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1FEFAF-6E2B-4D65-A1E0-3B08EA878997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457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从发布会大屏到夜景街拍，影像系统围绕“真实光感”重新组织</a:t>
            </a:r>
            <a:r>
              <a:rPr sz="15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CB2094-2C6A-4E38-A203-E0DEC519CE4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57150" cy="514350"/>
          </a:xfrm>
          <a:prstGeom prst="rect">
            <a:avLst/>
          </a:prstGeom>
          <a:solidFill>
            <a:srgbClr val="F4C27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A73EF00-92F4-4172-B685-B3EBA9AC31C7}"/>
              </a:ext>
            </a:extLst>
          </p:cNvPr>
          <p:cNvSpPr>
            <a:spLocks noGrp="1"/>
          </p:cNvSpPr>
          <p:nvPr/>
        </p:nvSpPr>
        <p:spPr>
          <a:xfrm>
            <a:off x="914400" y="3183806"/>
            <a:ext cx="3829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1 </a:t>
            </a:r>
            <a:r>
              <a:rPr sz="15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英寸级主摄概念</a:t>
            </a:r>
            <a:endParaRPr sz="15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35A49E-FD9B-4ACD-A056-7053418D4F08}"/>
              </a:ext>
            </a:extLst>
          </p:cNvPr>
          <p:cNvSpPr>
            <a:spLocks noGrp="1"/>
          </p:cNvSpPr>
          <p:nvPr/>
        </p:nvSpPr>
        <p:spPr>
          <a:xfrm>
            <a:off x="914400" y="3469556"/>
            <a:ext cx="3829050" cy="17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>
            <a:spAutoFit/>
          </a:bodyPr>
          <a:lstStyle/>
          <a:p>
            <a:pPr algn="l">
              <a:defRPr sz="1125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12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更高进光量，暗光下保留层次和肤色</a:t>
            </a:r>
            <a:endParaRPr sz="1125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760B8F-D4F4-426D-9990-CD0D6412A9B1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57150" cy="514350"/>
          </a:xfrm>
          <a:prstGeom prst="rect">
            <a:avLst/>
          </a:prstGeom>
          <a:solidFill>
            <a:srgbClr val="25A7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CD3A8E-FFFA-4344-9BA1-1E93C062F831}"/>
              </a:ext>
            </a:extLst>
          </p:cNvPr>
          <p:cNvSpPr>
            <a:spLocks noGrp="1"/>
          </p:cNvSpPr>
          <p:nvPr/>
        </p:nvSpPr>
        <p:spPr>
          <a:xfrm>
            <a:off x="914400" y="4079159"/>
            <a:ext cx="3829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潜望长焦</a:t>
            </a:r>
            <a:endParaRPr sz="15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609C6D-C5AA-4F8D-97AC-5C7548765F61}"/>
              </a:ext>
            </a:extLst>
          </p:cNvPr>
          <p:cNvSpPr>
            <a:spLocks noGrp="1"/>
          </p:cNvSpPr>
          <p:nvPr/>
        </p:nvSpPr>
        <p:spPr>
          <a:xfrm>
            <a:off x="914400" y="4364909"/>
            <a:ext cx="3829050" cy="17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>
            <a:spAutoFit/>
          </a:bodyPr>
          <a:lstStyle/>
          <a:p>
            <a:pPr algn="l">
              <a:defRPr sz="1125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12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舞台、人像、城市远景保持稳定解析</a:t>
            </a:r>
            <a:endParaRPr sz="1125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69DAC0-4453-4722-BCDA-A42B9EBC1F38}"/>
              </a:ext>
            </a:extLst>
          </p:cNvPr>
          <p:cNvSpPr>
            <a:spLocks noGrp="1"/>
          </p:cNvSpPr>
          <p:nvPr/>
        </p:nvSpPr>
        <p:spPr>
          <a:xfrm>
            <a:off x="742950" y="4933950"/>
            <a:ext cx="57150" cy="514350"/>
          </a:xfrm>
          <a:prstGeom prst="rect">
            <a:avLst/>
          </a:prstGeom>
          <a:solidFill>
            <a:srgbClr val="67E8F9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3A4C1F-D20A-4D81-981C-14C7A02DC733}"/>
              </a:ext>
            </a:extLst>
          </p:cNvPr>
          <p:cNvSpPr>
            <a:spLocks noGrp="1"/>
          </p:cNvSpPr>
          <p:nvPr/>
        </p:nvSpPr>
        <p:spPr>
          <a:xfrm>
            <a:off x="914400" y="4974506"/>
            <a:ext cx="3924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AI </a:t>
            </a:r>
            <a:r>
              <a:rPr sz="15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影像引擎</a:t>
            </a:r>
            <a:endParaRPr sz="15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D77A672-D5FD-4861-974D-024ABCF61A51}"/>
              </a:ext>
            </a:extLst>
          </p:cNvPr>
          <p:cNvSpPr>
            <a:spLocks noGrp="1"/>
          </p:cNvSpPr>
          <p:nvPr/>
        </p:nvSpPr>
        <p:spPr>
          <a:xfrm>
            <a:off x="914400" y="5260256"/>
            <a:ext cx="3924300" cy="17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>
            <a:spAutoFit/>
          </a:bodyPr>
          <a:lstStyle/>
          <a:p>
            <a:pPr algn="l">
              <a:defRPr sz="1125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12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识别场景并统一曝光、色彩和降噪策略</a:t>
            </a:r>
            <a:endParaRPr sz="1125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988386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5779A6E6-BFA1-42E8-ADCD-A07436DBE1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497429-7954-45E9-B1F7-EA4159CA24FE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defRPr sz="10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05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Yuanbao</a:t>
            </a:r>
            <a:r>
              <a:rPr lang="en-US" altLang="zh-CN" sz="10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New Phone Launch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9E0F03-A7CA-4695-AEC8-3C534BC827FB}"/>
              </a:ext>
            </a:extLst>
          </p:cNvPr>
          <p:cNvSpPr>
            <a:spLocks noGrp="1"/>
          </p:cNvSpPr>
          <p:nvPr/>
        </p:nvSpPr>
        <p:spPr>
          <a:xfrm>
            <a:off x="495300" y="49530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Performance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A08F13-35A6-49AA-8A7F-AEF00052BE2C}"/>
              </a:ext>
            </a:extLst>
          </p:cNvPr>
          <p:cNvSpPr>
            <a:spLocks noGrp="1"/>
          </p:cNvSpPr>
          <p:nvPr/>
        </p:nvSpPr>
        <p:spPr>
          <a:xfrm>
            <a:off x="11382375" y="323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C0B52D-C2DB-4BF3-9B69-E5B8DAD787BF}"/>
              </a:ext>
            </a:extLst>
          </p:cNvPr>
          <p:cNvSpPr>
            <a:spLocks noGrp="1"/>
          </p:cNvSpPr>
          <p:nvPr/>
        </p:nvSpPr>
        <p:spPr>
          <a:xfrm>
            <a:off x="495300" y="781050"/>
            <a:ext cx="11201400" cy="9525"/>
          </a:xfrm>
          <a:prstGeom prst="rect">
            <a:avLst/>
          </a:prstGeom>
          <a:solidFill>
            <a:srgbClr val="12345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FC74EB-0067-41EE-9129-A86C10D7ABAD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5905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澎湃性能，不止跑分漂亮</a:t>
            </a:r>
            <a:endParaRPr sz="31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05053F-F36E-4E6D-AD72-965A68EA2433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新一代旗舰平台、环形冷泵散热和系统级调度，让高负载持续更稳</a:t>
            </a:r>
            <a:r>
              <a:rPr sz="15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89A50A-887B-429A-932C-38DE2E2087BF}"/>
              </a:ext>
            </a:extLst>
          </p:cNvPr>
          <p:cNvSpPr>
            <a:spLocks noGrp="1"/>
          </p:cNvSpPr>
          <p:nvPr/>
        </p:nvSpPr>
        <p:spPr>
          <a:xfrm>
            <a:off x="742950" y="2819399"/>
            <a:ext cx="4267200" cy="2480187"/>
          </a:xfrm>
          <a:prstGeom prst="rect">
            <a:avLst/>
          </a:prstGeom>
          <a:solidFill>
            <a:srgbClr val="071426"/>
          </a:solidFill>
          <a:ln w="28575">
            <a:solidFill>
              <a:srgbClr val="25547E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041D4A-A262-45FA-B0E5-CD06693D74BB}"/>
              </a:ext>
            </a:extLst>
          </p:cNvPr>
          <p:cNvSpPr>
            <a:spLocks noGrp="1"/>
          </p:cNvSpPr>
          <p:nvPr/>
        </p:nvSpPr>
        <p:spPr>
          <a:xfrm>
            <a:off x="1557338" y="3287660"/>
            <a:ext cx="2571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5400" b="1">
                <a:solidFill>
                  <a:srgbClr val="F4C277"/>
                </a:solidFill>
                <a:latin typeface="PingFang SC"/>
                <a:ea typeface="PingFang SC"/>
                <a:cs typeface="PingFang SC"/>
              </a:defRPr>
            </a:pPr>
            <a:r>
              <a:rPr sz="5400" dirty="0">
                <a:solidFill>
                  <a:srgbClr val="F4C277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3nm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D362E0-E51B-41E1-8778-A75BC1AA2A24}"/>
              </a:ext>
            </a:extLst>
          </p:cNvPr>
          <p:cNvSpPr>
            <a:spLocks noGrp="1"/>
          </p:cNvSpPr>
          <p:nvPr/>
        </p:nvSpPr>
        <p:spPr>
          <a:xfrm>
            <a:off x="1557338" y="4183010"/>
            <a:ext cx="2571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6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旗舰移动平台</a:t>
            </a:r>
            <a:endParaRPr sz="16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D19EDC-786D-44DA-BB04-7476B10849D6}"/>
              </a:ext>
            </a:extLst>
          </p:cNvPr>
          <p:cNvSpPr>
            <a:spLocks noGrp="1"/>
          </p:cNvSpPr>
          <p:nvPr/>
        </p:nvSpPr>
        <p:spPr>
          <a:xfrm>
            <a:off x="1557338" y="454496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芯片</a:t>
            </a:r>
            <a:r>
              <a:rPr sz="12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/ </a:t>
            </a: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内存</a:t>
            </a:r>
            <a:r>
              <a:rPr sz="12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/ </a:t>
            </a: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存储协同调度</a:t>
            </a:r>
            <a:endParaRPr sz="120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E4F3D1-DDC8-4F1B-BB42-8F50185A62B8}"/>
              </a:ext>
            </a:extLst>
          </p:cNvPr>
          <p:cNvSpPr>
            <a:spLocks noGrp="1"/>
          </p:cNvSpPr>
          <p:nvPr/>
        </p:nvSpPr>
        <p:spPr>
          <a:xfrm>
            <a:off x="5953125" y="28765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125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CPU </a:t>
            </a:r>
            <a:r>
              <a:rPr sz="112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持续性能</a:t>
            </a:r>
            <a:endParaRPr sz="1125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C1DB03-7A5D-4A86-B5C8-E475A263DFFA}"/>
              </a:ext>
            </a:extLst>
          </p:cNvPr>
          <p:cNvSpPr>
            <a:spLocks noGrp="1"/>
          </p:cNvSpPr>
          <p:nvPr/>
        </p:nvSpPr>
        <p:spPr>
          <a:xfrm>
            <a:off x="7381875" y="2895600"/>
            <a:ext cx="3143250" cy="133350"/>
          </a:xfrm>
          <a:prstGeom prst="rect">
            <a:avLst/>
          </a:prstGeom>
          <a:solidFill>
            <a:srgbClr val="13203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303FDF-6CCF-46D0-94EC-4888BFB65E87}"/>
              </a:ext>
            </a:extLst>
          </p:cNvPr>
          <p:cNvSpPr>
            <a:spLocks noGrp="1"/>
          </p:cNvSpPr>
          <p:nvPr/>
        </p:nvSpPr>
        <p:spPr>
          <a:xfrm>
            <a:off x="7381875" y="2895600"/>
            <a:ext cx="2600325" cy="133350"/>
          </a:xfrm>
          <a:prstGeom prst="rect">
            <a:avLst/>
          </a:prstGeom>
          <a:solidFill>
            <a:srgbClr val="25A7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D1581A-923E-4E4D-B6E3-246398E85B70}"/>
              </a:ext>
            </a:extLst>
          </p:cNvPr>
          <p:cNvSpPr>
            <a:spLocks noGrp="1"/>
          </p:cNvSpPr>
          <p:nvPr/>
        </p:nvSpPr>
        <p:spPr>
          <a:xfrm>
            <a:off x="10677525" y="284797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275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58%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D3A506-6EA6-4AC6-B432-F3D4F187FE02}"/>
              </a:ext>
            </a:extLst>
          </p:cNvPr>
          <p:cNvSpPr>
            <a:spLocks noGrp="1"/>
          </p:cNvSpPr>
          <p:nvPr/>
        </p:nvSpPr>
        <p:spPr>
          <a:xfrm>
            <a:off x="5953125" y="34861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125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GPU </a:t>
            </a:r>
            <a:r>
              <a:rPr sz="112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峰值性能</a:t>
            </a:r>
            <a:endParaRPr sz="1125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7E8C22C-47CD-49D7-AF6E-6F6DC6097DFE}"/>
              </a:ext>
            </a:extLst>
          </p:cNvPr>
          <p:cNvSpPr>
            <a:spLocks noGrp="1"/>
          </p:cNvSpPr>
          <p:nvPr/>
        </p:nvSpPr>
        <p:spPr>
          <a:xfrm>
            <a:off x="7381875" y="3505200"/>
            <a:ext cx="3143250" cy="133350"/>
          </a:xfrm>
          <a:prstGeom prst="rect">
            <a:avLst/>
          </a:prstGeom>
          <a:solidFill>
            <a:srgbClr val="13203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E84EC4-8902-412D-95D7-65A43E2E650C}"/>
              </a:ext>
            </a:extLst>
          </p:cNvPr>
          <p:cNvSpPr>
            <a:spLocks noGrp="1"/>
          </p:cNvSpPr>
          <p:nvPr/>
        </p:nvSpPr>
        <p:spPr>
          <a:xfrm>
            <a:off x="7381875" y="3505200"/>
            <a:ext cx="2876550" cy="133350"/>
          </a:xfrm>
          <a:prstGeom prst="rect">
            <a:avLst/>
          </a:prstGeom>
          <a:solidFill>
            <a:srgbClr val="7C3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506F03F-B103-4225-881C-BBF3821B63C9}"/>
              </a:ext>
            </a:extLst>
          </p:cNvPr>
          <p:cNvSpPr>
            <a:spLocks noGrp="1"/>
          </p:cNvSpPr>
          <p:nvPr/>
        </p:nvSpPr>
        <p:spPr>
          <a:xfrm>
            <a:off x="10677525" y="345757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275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64%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3F20FD2-C1B0-4D53-8952-E4515B016F54}"/>
              </a:ext>
            </a:extLst>
          </p:cNvPr>
          <p:cNvSpPr>
            <a:spLocks noGrp="1"/>
          </p:cNvSpPr>
          <p:nvPr/>
        </p:nvSpPr>
        <p:spPr>
          <a:xfrm>
            <a:off x="5953125" y="40957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125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AI </a:t>
            </a:r>
            <a:r>
              <a:rPr sz="112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端侧算力</a:t>
            </a:r>
            <a:endParaRPr sz="1125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CEA22F7-968F-4D83-BE41-BE2992A4723B}"/>
              </a:ext>
            </a:extLst>
          </p:cNvPr>
          <p:cNvSpPr>
            <a:spLocks noGrp="1"/>
          </p:cNvSpPr>
          <p:nvPr/>
        </p:nvSpPr>
        <p:spPr>
          <a:xfrm>
            <a:off x="7381875" y="4114800"/>
            <a:ext cx="3143250" cy="133350"/>
          </a:xfrm>
          <a:prstGeom prst="rect">
            <a:avLst/>
          </a:prstGeom>
          <a:solidFill>
            <a:srgbClr val="13203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7FB341C-6E1F-4F20-BC9D-C88AD42339E0}"/>
              </a:ext>
            </a:extLst>
          </p:cNvPr>
          <p:cNvSpPr>
            <a:spLocks noGrp="1"/>
          </p:cNvSpPr>
          <p:nvPr/>
        </p:nvSpPr>
        <p:spPr>
          <a:xfrm>
            <a:off x="7381875" y="4114800"/>
            <a:ext cx="3143250" cy="133350"/>
          </a:xfrm>
          <a:prstGeom prst="rect">
            <a:avLst/>
          </a:prstGeom>
          <a:solidFill>
            <a:srgbClr val="F4C27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824D178-B1D0-419E-89FB-38390EE421E1}"/>
              </a:ext>
            </a:extLst>
          </p:cNvPr>
          <p:cNvSpPr>
            <a:spLocks noGrp="1"/>
          </p:cNvSpPr>
          <p:nvPr/>
        </p:nvSpPr>
        <p:spPr>
          <a:xfrm>
            <a:off x="10677525" y="406717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275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70%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1DEABBF-61B3-4870-8DFF-A8E0F28BDE30}"/>
              </a:ext>
            </a:extLst>
          </p:cNvPr>
          <p:cNvSpPr>
            <a:spLocks noGrp="1"/>
          </p:cNvSpPr>
          <p:nvPr/>
        </p:nvSpPr>
        <p:spPr>
          <a:xfrm>
            <a:off x="5953125" y="47053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12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散热效率</a:t>
            </a:r>
            <a:endParaRPr sz="1125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7B36A7C-E942-41FB-88DF-E970EBA04015}"/>
              </a:ext>
            </a:extLst>
          </p:cNvPr>
          <p:cNvSpPr>
            <a:spLocks noGrp="1"/>
          </p:cNvSpPr>
          <p:nvPr/>
        </p:nvSpPr>
        <p:spPr>
          <a:xfrm>
            <a:off x="7381875" y="4724400"/>
            <a:ext cx="3143250" cy="133350"/>
          </a:xfrm>
          <a:prstGeom prst="rect">
            <a:avLst/>
          </a:prstGeom>
          <a:solidFill>
            <a:srgbClr val="13203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1909D14-DB91-4355-B3BE-818F5361A8EC}"/>
              </a:ext>
            </a:extLst>
          </p:cNvPr>
          <p:cNvSpPr>
            <a:spLocks noGrp="1"/>
          </p:cNvSpPr>
          <p:nvPr/>
        </p:nvSpPr>
        <p:spPr>
          <a:xfrm>
            <a:off x="7381875" y="4724400"/>
            <a:ext cx="2333625" cy="133350"/>
          </a:xfrm>
          <a:prstGeom prst="rect">
            <a:avLst/>
          </a:prstGeom>
          <a:solidFill>
            <a:srgbClr val="67E8F9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435B9E5-0E0A-4C09-B224-F79448607F32}"/>
              </a:ext>
            </a:extLst>
          </p:cNvPr>
          <p:cNvSpPr>
            <a:spLocks noGrp="1"/>
          </p:cNvSpPr>
          <p:nvPr/>
        </p:nvSpPr>
        <p:spPr>
          <a:xfrm>
            <a:off x="10677525" y="467677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275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52%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C5D782D-FE3E-4269-BE2F-5841C3B97D8A}"/>
              </a:ext>
            </a:extLst>
          </p:cNvPr>
          <p:cNvSpPr>
            <a:spLocks noGrp="1"/>
          </p:cNvSpPr>
          <p:nvPr/>
        </p:nvSpPr>
        <p:spPr>
          <a:xfrm>
            <a:off x="5953125" y="54292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B82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 err="1">
                <a:solidFill>
                  <a:srgbClr val="5B6B82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数据为发布会叙事示意，可替换为正式参数</a:t>
            </a:r>
            <a:r>
              <a:rPr sz="1050" dirty="0">
                <a:solidFill>
                  <a:srgbClr val="5B6B82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06169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FD10510C-1616-4EB9-8A22-5BC613E7E7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2689EF-F808-433E-84F3-707896BAE58A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defRPr sz="10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05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Yuanbao</a:t>
            </a:r>
            <a:r>
              <a:rPr lang="en-US" altLang="zh-CN" sz="10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New Phone Launch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7CA295-C2A1-495D-B613-3605E13DB9B5}"/>
              </a:ext>
            </a:extLst>
          </p:cNvPr>
          <p:cNvSpPr>
            <a:spLocks noGrp="1"/>
          </p:cNvSpPr>
          <p:nvPr/>
        </p:nvSpPr>
        <p:spPr>
          <a:xfrm>
            <a:off x="495300" y="49530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AI Native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B29A8D-87DB-4B3D-91A5-01F209923FBA}"/>
              </a:ext>
            </a:extLst>
          </p:cNvPr>
          <p:cNvSpPr>
            <a:spLocks noGrp="1"/>
          </p:cNvSpPr>
          <p:nvPr/>
        </p:nvSpPr>
        <p:spPr>
          <a:xfrm>
            <a:off x="11382375" y="323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96DD02-4499-4232-8515-113CB945464E}"/>
              </a:ext>
            </a:extLst>
          </p:cNvPr>
          <p:cNvSpPr>
            <a:spLocks noGrp="1"/>
          </p:cNvSpPr>
          <p:nvPr/>
        </p:nvSpPr>
        <p:spPr>
          <a:xfrm>
            <a:off x="495300" y="781050"/>
            <a:ext cx="11201400" cy="9525"/>
          </a:xfrm>
          <a:prstGeom prst="rect">
            <a:avLst/>
          </a:prstGeom>
          <a:solidFill>
            <a:srgbClr val="12345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FFFB25-234C-439D-956B-78F442A269F3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6667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AI </a:t>
            </a:r>
            <a:r>
              <a:rPr sz="31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进入系统，不再只是一个入口</a:t>
            </a:r>
            <a:endParaRPr sz="31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372EC1-0DB3-441F-AE31-D509556CB18E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围绕用户每天真正发生的任务，把</a:t>
            </a:r>
            <a:r>
              <a:rPr sz="15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AI </a:t>
            </a:r>
            <a:r>
              <a:rPr sz="15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放进相机、会议、搜索、创作和驾驶前的准备</a:t>
            </a:r>
            <a:r>
              <a:rPr sz="15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6E84AF-2E12-4F73-B4EC-0B6816ECB7BB}"/>
              </a:ext>
            </a:extLst>
          </p:cNvPr>
          <p:cNvSpPr>
            <a:spLocks noGrp="1"/>
          </p:cNvSpPr>
          <p:nvPr/>
        </p:nvSpPr>
        <p:spPr>
          <a:xfrm>
            <a:off x="1500033" y="4562475"/>
            <a:ext cx="8705850" cy="28575"/>
          </a:xfrm>
          <a:prstGeom prst="rect">
            <a:avLst/>
          </a:prstGeom>
          <a:solidFill>
            <a:srgbClr val="25A7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715E00-768F-4969-BE7D-9F791AF0A39B}"/>
              </a:ext>
            </a:extLst>
          </p:cNvPr>
          <p:cNvSpPr>
            <a:spLocks noGrp="1"/>
          </p:cNvSpPr>
          <p:nvPr/>
        </p:nvSpPr>
        <p:spPr>
          <a:xfrm>
            <a:off x="4967133" y="4905375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21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YuanBao</a:t>
            </a:r>
            <a:r>
              <a:rPr sz="2100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OS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3075D43-F324-4CF2-85F3-06D218609DD3}"/>
              </a:ext>
            </a:extLst>
          </p:cNvPr>
          <p:cNvSpPr>
            <a:spLocks noGrp="1"/>
          </p:cNvSpPr>
          <p:nvPr/>
        </p:nvSpPr>
        <p:spPr>
          <a:xfrm>
            <a:off x="4490883" y="5343525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7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端侧模型优先，云端能力按需增强</a:t>
            </a:r>
            <a:endParaRPr sz="1275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7D58831D-6EBA-762B-4D54-CEEC9287EC50}"/>
              </a:ext>
            </a:extLst>
          </p:cNvPr>
          <p:cNvSpPr/>
          <p:nvPr/>
        </p:nvSpPr>
        <p:spPr>
          <a:xfrm>
            <a:off x="1595283" y="3086100"/>
            <a:ext cx="1619250" cy="1123950"/>
          </a:xfrm>
          <a:prstGeom prst="roundRect">
            <a:avLst>
              <a:gd name="adj" fmla="val 14122"/>
            </a:avLst>
          </a:prstGeom>
          <a:solidFill>
            <a:srgbClr val="071426"/>
          </a:solidFill>
          <a:ln w="9525">
            <a:solidFill>
              <a:srgbClr val="25A7FF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BB5ACC-B56A-4786-8AFB-06A2A4C2CFB5}"/>
              </a:ext>
            </a:extLst>
          </p:cNvPr>
          <p:cNvSpPr>
            <a:spLocks noGrp="1"/>
          </p:cNvSpPr>
          <p:nvPr/>
        </p:nvSpPr>
        <p:spPr>
          <a:xfrm>
            <a:off x="1652433" y="3514725"/>
            <a:ext cx="1504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6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会议纪要</a:t>
            </a:r>
            <a:endParaRPr sz="16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810A53F-DA5F-7AAE-9439-1255E739B639}"/>
              </a:ext>
            </a:extLst>
          </p:cNvPr>
          <p:cNvSpPr/>
          <p:nvPr/>
        </p:nvSpPr>
        <p:spPr>
          <a:xfrm>
            <a:off x="3881283" y="3086100"/>
            <a:ext cx="1619250" cy="1123950"/>
          </a:xfrm>
          <a:prstGeom prst="roundRect">
            <a:avLst>
              <a:gd name="adj" fmla="val 14122"/>
            </a:avLst>
          </a:prstGeom>
          <a:solidFill>
            <a:srgbClr val="071426"/>
          </a:solidFill>
          <a:ln w="9525">
            <a:solidFill>
              <a:srgbClr val="67E8F9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EF8712-E5C8-4343-B97A-393FCA700EE8}"/>
              </a:ext>
            </a:extLst>
          </p:cNvPr>
          <p:cNvSpPr>
            <a:spLocks noGrp="1"/>
          </p:cNvSpPr>
          <p:nvPr/>
        </p:nvSpPr>
        <p:spPr>
          <a:xfrm>
            <a:off x="3938433" y="3514725"/>
            <a:ext cx="1504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6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实时翻译</a:t>
            </a:r>
            <a:endParaRPr sz="16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6FA43351-CD0B-9728-2A5D-76A0EB9BCD16}"/>
              </a:ext>
            </a:extLst>
          </p:cNvPr>
          <p:cNvSpPr/>
          <p:nvPr/>
        </p:nvSpPr>
        <p:spPr>
          <a:xfrm>
            <a:off x="6157758" y="3086100"/>
            <a:ext cx="1619250" cy="1123950"/>
          </a:xfrm>
          <a:prstGeom prst="roundRect">
            <a:avLst>
              <a:gd name="adj" fmla="val 14122"/>
            </a:avLst>
          </a:prstGeom>
          <a:solidFill>
            <a:srgbClr val="071426"/>
          </a:solidFill>
          <a:ln w="9525">
            <a:solidFill>
              <a:srgbClr val="7C3CFF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ED9D59-B5CA-464A-82DE-923BE3BC4B0D}"/>
              </a:ext>
            </a:extLst>
          </p:cNvPr>
          <p:cNvSpPr>
            <a:spLocks noGrp="1"/>
          </p:cNvSpPr>
          <p:nvPr/>
        </p:nvSpPr>
        <p:spPr>
          <a:xfrm>
            <a:off x="6224433" y="3514725"/>
            <a:ext cx="1504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6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图像创作</a:t>
            </a:r>
            <a:endParaRPr sz="16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F3590A8A-C80B-970A-D393-BDAE63B9FD7F}"/>
              </a:ext>
            </a:extLst>
          </p:cNvPr>
          <p:cNvSpPr/>
          <p:nvPr/>
        </p:nvSpPr>
        <p:spPr>
          <a:xfrm>
            <a:off x="8453283" y="3086100"/>
            <a:ext cx="1619250" cy="1123950"/>
          </a:xfrm>
          <a:prstGeom prst="roundRect">
            <a:avLst>
              <a:gd name="adj" fmla="val 14122"/>
            </a:avLst>
          </a:prstGeom>
          <a:solidFill>
            <a:srgbClr val="071426"/>
          </a:solidFill>
          <a:ln w="9525">
            <a:solidFill>
              <a:srgbClr val="F4C277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1D7BF9-D74C-4C13-A385-37393984EEDC}"/>
              </a:ext>
            </a:extLst>
          </p:cNvPr>
          <p:cNvSpPr>
            <a:spLocks noGrp="1"/>
          </p:cNvSpPr>
          <p:nvPr/>
        </p:nvSpPr>
        <p:spPr>
          <a:xfrm>
            <a:off x="8510433" y="3514725"/>
            <a:ext cx="1504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6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本地搜索</a:t>
            </a:r>
            <a:endParaRPr sz="16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862114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4AF8ADAD-9848-4E2F-908C-22D550AC98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5BC038-234B-43F3-AD58-9D4ACE2389FB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defRPr sz="10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05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Yuanbao</a:t>
            </a:r>
            <a:r>
              <a:rPr lang="en-US" altLang="zh-CN" sz="10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New Phone Launch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97131F-1FAC-4232-B172-B577BDCAA497}"/>
              </a:ext>
            </a:extLst>
          </p:cNvPr>
          <p:cNvSpPr>
            <a:spLocks noGrp="1"/>
          </p:cNvSpPr>
          <p:nvPr/>
        </p:nvSpPr>
        <p:spPr>
          <a:xfrm>
            <a:off x="495300" y="49530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Battery &amp; Charging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7670A9-BDBF-497C-B25D-27867B5D20E2}"/>
              </a:ext>
            </a:extLst>
          </p:cNvPr>
          <p:cNvSpPr>
            <a:spLocks noGrp="1"/>
          </p:cNvSpPr>
          <p:nvPr/>
        </p:nvSpPr>
        <p:spPr>
          <a:xfrm>
            <a:off x="11382375" y="323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52746B-725C-43D9-8F60-477FAF8D5688}"/>
              </a:ext>
            </a:extLst>
          </p:cNvPr>
          <p:cNvSpPr>
            <a:spLocks noGrp="1"/>
          </p:cNvSpPr>
          <p:nvPr/>
        </p:nvSpPr>
        <p:spPr>
          <a:xfrm>
            <a:off x="495300" y="781050"/>
            <a:ext cx="11201400" cy="9525"/>
          </a:xfrm>
          <a:prstGeom prst="rect">
            <a:avLst/>
          </a:prstGeom>
          <a:solidFill>
            <a:srgbClr val="12345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FF4A2F-4A80-4727-A762-38959953F768}"/>
              </a:ext>
            </a:extLst>
          </p:cNvPr>
          <p:cNvSpPr>
            <a:spLocks noGrp="1"/>
          </p:cNvSpPr>
          <p:nvPr/>
        </p:nvSpPr>
        <p:spPr>
          <a:xfrm>
            <a:off x="494517" y="1200150"/>
            <a:ext cx="5905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从早到晚，不被电量打断</a:t>
            </a:r>
            <a:endParaRPr sz="31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B61F87-47E1-4B47-9517-DED4C4EBABFF}"/>
              </a:ext>
            </a:extLst>
          </p:cNvPr>
          <p:cNvSpPr>
            <a:spLocks noGrp="1"/>
          </p:cNvSpPr>
          <p:nvPr/>
        </p:nvSpPr>
        <p:spPr>
          <a:xfrm>
            <a:off x="504042" y="1857582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大容量电池</a:t>
            </a:r>
            <a:r>
              <a:rPr sz="15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+ 120W </a:t>
            </a:r>
            <a:r>
              <a:rPr sz="15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有线闪充</a:t>
            </a:r>
            <a:r>
              <a:rPr sz="15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+ </a:t>
            </a:r>
            <a:r>
              <a:rPr sz="15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智能充电策略，覆盖通勤、拍摄、游戏和夜间使用</a:t>
            </a:r>
            <a:r>
              <a:rPr sz="15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3B4F00-692B-4684-BDA3-10327EED8090}"/>
              </a:ext>
            </a:extLst>
          </p:cNvPr>
          <p:cNvSpPr>
            <a:spLocks noGrp="1"/>
          </p:cNvSpPr>
          <p:nvPr/>
        </p:nvSpPr>
        <p:spPr>
          <a:xfrm>
            <a:off x="492319" y="2552700"/>
            <a:ext cx="2381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4C277"/>
                </a:solidFill>
                <a:latin typeface="PingFang SC"/>
                <a:ea typeface="PingFang SC"/>
                <a:cs typeface="PingFang SC"/>
              </a:defRPr>
            </a:pPr>
            <a:r>
              <a:rPr sz="3600" dirty="0">
                <a:solidFill>
                  <a:srgbClr val="F4C277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5600mAh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06CA5B-71B0-436F-8EE9-77AC778A6A4E}"/>
              </a:ext>
            </a:extLst>
          </p:cNvPr>
          <p:cNvSpPr>
            <a:spLocks noGrp="1"/>
          </p:cNvSpPr>
          <p:nvPr/>
        </p:nvSpPr>
        <p:spPr>
          <a:xfrm>
            <a:off x="492319" y="32004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高密度电池概念</a:t>
            </a:r>
            <a:endParaRPr sz="120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C0B6A8-A3D1-4DA0-A5AA-50BD5F5E7D20}"/>
              </a:ext>
            </a:extLst>
          </p:cNvPr>
          <p:cNvSpPr>
            <a:spLocks noGrp="1"/>
          </p:cNvSpPr>
          <p:nvPr/>
        </p:nvSpPr>
        <p:spPr>
          <a:xfrm>
            <a:off x="3235519" y="2552700"/>
            <a:ext cx="1905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3600" dirty="0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120W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8E7A16-7BD7-4633-8444-77030DE9034C}"/>
              </a:ext>
            </a:extLst>
          </p:cNvPr>
          <p:cNvSpPr>
            <a:spLocks noGrp="1"/>
          </p:cNvSpPr>
          <p:nvPr/>
        </p:nvSpPr>
        <p:spPr>
          <a:xfrm>
            <a:off x="3235519" y="32004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有线闪充</a:t>
            </a:r>
            <a:endParaRPr sz="120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3A1CDB-7F21-4954-A4BE-579A11505F7D}"/>
              </a:ext>
            </a:extLst>
          </p:cNvPr>
          <p:cNvSpPr>
            <a:spLocks noGrp="1"/>
          </p:cNvSpPr>
          <p:nvPr/>
        </p:nvSpPr>
        <p:spPr>
          <a:xfrm>
            <a:off x="5712019" y="2552700"/>
            <a:ext cx="1714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3600" dirty="0">
                <a:solidFill>
                  <a:srgbClr val="67E8F9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50W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49F38E-16A4-4874-B675-DF2E0FECCB71}"/>
              </a:ext>
            </a:extLst>
          </p:cNvPr>
          <p:cNvSpPr>
            <a:spLocks noGrp="1"/>
          </p:cNvSpPr>
          <p:nvPr/>
        </p:nvSpPr>
        <p:spPr>
          <a:xfrm>
            <a:off x="5712019" y="32004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无线闪充</a:t>
            </a:r>
            <a:endParaRPr sz="120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C103DF2-721E-4B79-81A5-F66A9ABE1F47}"/>
              </a:ext>
            </a:extLst>
          </p:cNvPr>
          <p:cNvSpPr>
            <a:spLocks noGrp="1"/>
          </p:cNvSpPr>
          <p:nvPr/>
        </p:nvSpPr>
        <p:spPr>
          <a:xfrm flipV="1">
            <a:off x="1254167" y="5184528"/>
            <a:ext cx="9217187" cy="45719"/>
          </a:xfrm>
          <a:prstGeom prst="rect">
            <a:avLst/>
          </a:prstGeom>
          <a:solidFill>
            <a:srgbClr val="1A3351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CAB9DBF-9D48-4500-B936-63737298B95B}"/>
              </a:ext>
            </a:extLst>
          </p:cNvPr>
          <p:cNvSpPr>
            <a:spLocks noGrp="1"/>
          </p:cNvSpPr>
          <p:nvPr/>
        </p:nvSpPr>
        <p:spPr>
          <a:xfrm>
            <a:off x="1139868" y="5206189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0%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1B67197-8E30-4684-AAAD-1CC1C9C36584}"/>
              </a:ext>
            </a:extLst>
          </p:cNvPr>
          <p:cNvSpPr>
            <a:spLocks noGrp="1"/>
          </p:cNvSpPr>
          <p:nvPr/>
        </p:nvSpPr>
        <p:spPr>
          <a:xfrm>
            <a:off x="9598068" y="3625039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100%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2FE1FFC-42FE-40FA-A552-2CCB237AE140}"/>
              </a:ext>
            </a:extLst>
          </p:cNvPr>
          <p:cNvSpPr>
            <a:spLocks noGrp="1"/>
          </p:cNvSpPr>
          <p:nvPr/>
        </p:nvSpPr>
        <p:spPr>
          <a:xfrm>
            <a:off x="1028700" y="6022729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智能温控：快充阶段提速，满电阶段保护电池寿命</a:t>
            </a:r>
            <a:r>
              <a:rPr sz="13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。</a:t>
            </a:r>
          </a:p>
        </p:txBody>
      </p:sp>
      <p:sp>
        <p:nvSpPr>
          <p:cNvPr id="26" name="任意形状 25">
            <a:extLst>
              <a:ext uri="{FF2B5EF4-FFF2-40B4-BE49-F238E27FC236}">
                <a16:creationId xmlns:a16="http://schemas.microsoft.com/office/drawing/2014/main" id="{67A44BE6-4E71-C3A6-7DEA-664D5D5BBBCB}"/>
              </a:ext>
            </a:extLst>
          </p:cNvPr>
          <p:cNvSpPr/>
          <p:nvPr/>
        </p:nvSpPr>
        <p:spPr>
          <a:xfrm>
            <a:off x="1301913" y="3542153"/>
            <a:ext cx="8565265" cy="1609297"/>
          </a:xfrm>
          <a:custGeom>
            <a:avLst/>
            <a:gdLst>
              <a:gd name="csX0" fmla="*/ 0 w 12060820"/>
              <a:gd name="csY0" fmla="*/ 1783005 h 1783005"/>
              <a:gd name="csX1" fmla="*/ 8495818 w 12060820"/>
              <a:gd name="csY1" fmla="*/ 504 h 1783005"/>
              <a:gd name="csX2" fmla="*/ 12060820 w 12060820"/>
              <a:gd name="csY2" fmla="*/ 1609385 h 1783005"/>
              <a:gd name="csX0" fmla="*/ 0 w 12060820"/>
              <a:gd name="csY0" fmla="*/ 1389698 h 1389698"/>
              <a:gd name="csX1" fmla="*/ 4965539 w 12060820"/>
              <a:gd name="csY1" fmla="*/ 737 h 1389698"/>
              <a:gd name="csX2" fmla="*/ 12060820 w 12060820"/>
              <a:gd name="csY2" fmla="*/ 1216078 h 1389698"/>
              <a:gd name="csX0" fmla="*/ 0 w 8542116"/>
              <a:gd name="csY0" fmla="*/ 1913352 h 1913352"/>
              <a:gd name="csX1" fmla="*/ 4965539 w 8542116"/>
              <a:gd name="csY1" fmla="*/ 524391 h 1913352"/>
              <a:gd name="csX2" fmla="*/ 8542116 w 8542116"/>
              <a:gd name="csY2" fmla="*/ 119276 h 1913352"/>
              <a:gd name="csX0" fmla="*/ 0 w 8542116"/>
              <a:gd name="csY0" fmla="*/ 1794076 h 1794076"/>
              <a:gd name="csX1" fmla="*/ 8542116 w 8542116"/>
              <a:gd name="csY1" fmla="*/ 0 h 1794076"/>
              <a:gd name="csX0" fmla="*/ 0 w 8565265"/>
              <a:gd name="csY0" fmla="*/ 1608881 h 1608881"/>
              <a:gd name="csX1" fmla="*/ 8565265 w 8565265"/>
              <a:gd name="csY1" fmla="*/ 0 h 1608881"/>
              <a:gd name="csX0" fmla="*/ 0 w 8565265"/>
              <a:gd name="csY0" fmla="*/ 1608881 h 1608881"/>
              <a:gd name="csX1" fmla="*/ 8565265 w 8565265"/>
              <a:gd name="csY1" fmla="*/ 0 h 1608881"/>
              <a:gd name="csX0" fmla="*/ 0 w 8565265"/>
              <a:gd name="csY0" fmla="*/ 1609297 h 1609297"/>
              <a:gd name="csX1" fmla="*/ 8565265 w 8565265"/>
              <a:gd name="csY1" fmla="*/ 416 h 16092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65265" h="1609297">
                <a:moveTo>
                  <a:pt x="0" y="1609297"/>
                </a:moveTo>
                <a:cubicBezTo>
                  <a:pt x="3318075" y="633165"/>
                  <a:pt x="6184739" y="-18875"/>
                  <a:pt x="8565265" y="416"/>
                </a:cubicBezTo>
              </a:path>
            </a:pathLst>
          </a:custGeom>
          <a:ln w="57150">
            <a:solidFill>
              <a:srgbClr val="25A7F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9621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421C4D0B-10CD-4EE6-A0CB-733DDE19EA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A870048-0BD3-A5AC-1CEC-9680553EB9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895" r="28895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36F44C89-219D-67C3-9750-BDEBFC86A541}"/>
              </a:ext>
            </a:extLst>
          </p:cNvPr>
          <p:cNvSpPr>
            <a:spLocks noGrp="1"/>
          </p:cNvSpPr>
          <p:nvPr/>
        </p:nvSpPr>
        <p:spPr>
          <a:xfrm>
            <a:off x="7006300" y="0"/>
            <a:ext cx="3646004" cy="6858000"/>
          </a:xfrm>
          <a:prstGeom prst="rect">
            <a:avLst/>
          </a:prstGeom>
          <a:gradFill>
            <a:gsLst>
              <a:gs pos="0">
                <a:srgbClr val="030611"/>
              </a:gs>
              <a:gs pos="100000">
                <a:srgbClr val="030611">
                  <a:alpha val="0"/>
                </a:srgbClr>
              </a:gs>
            </a:gsLst>
            <a:lin ang="0" scaled="0"/>
          </a:gra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4A4FA8-B064-433C-BA15-AF5E3AC4C134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defRPr sz="10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05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Yuanbao</a:t>
            </a:r>
            <a:r>
              <a:rPr lang="en-US" altLang="zh-CN" sz="10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New Phone Launch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75092E-C7FA-4E6C-A3A5-33C209DCF3C5}"/>
              </a:ext>
            </a:extLst>
          </p:cNvPr>
          <p:cNvSpPr>
            <a:spLocks noGrp="1"/>
          </p:cNvSpPr>
          <p:nvPr/>
        </p:nvSpPr>
        <p:spPr>
          <a:xfrm>
            <a:off x="495300" y="49530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Design &amp; Materials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53A8FD-298D-4B28-93EB-0AFA611CCDBB}"/>
              </a:ext>
            </a:extLst>
          </p:cNvPr>
          <p:cNvSpPr>
            <a:spLocks noGrp="1"/>
          </p:cNvSpPr>
          <p:nvPr/>
        </p:nvSpPr>
        <p:spPr>
          <a:xfrm>
            <a:off x="11382375" y="323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09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6A9B47-4EAA-416E-BC67-77C46B417E3C}"/>
              </a:ext>
            </a:extLst>
          </p:cNvPr>
          <p:cNvSpPr>
            <a:spLocks noGrp="1"/>
          </p:cNvSpPr>
          <p:nvPr/>
        </p:nvSpPr>
        <p:spPr>
          <a:xfrm>
            <a:off x="495300" y="781050"/>
            <a:ext cx="11201400" cy="9525"/>
          </a:xfrm>
          <a:prstGeom prst="rect">
            <a:avLst/>
          </a:prstGeom>
          <a:solidFill>
            <a:srgbClr val="12345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FCF9E1-C6EE-4B1C-8603-1C52912E69DA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5715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冷峻，但有温度的旗舰质感</a:t>
            </a:r>
            <a:endParaRPr sz="31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E75B2F-B53C-4BA3-BE67-4FB44CDF2F7B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5715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直边金属中框、微曲玻璃、陶瓷质感背板，让专业设备也有日常手感</a:t>
            </a:r>
            <a:r>
              <a:rPr sz="15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87D270-9F17-4A95-89E1-4ABD1CF4CB10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1143000" cy="1943100"/>
          </a:xfrm>
          <a:prstGeom prst="rect">
            <a:avLst/>
          </a:prstGeom>
          <a:solidFill>
            <a:srgbClr val="111827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12CE84-AD9B-48F7-B067-94F826C67B40}"/>
              </a:ext>
            </a:extLst>
          </p:cNvPr>
          <p:cNvSpPr>
            <a:spLocks noGrp="1"/>
          </p:cNvSpPr>
          <p:nvPr/>
        </p:nvSpPr>
        <p:spPr>
          <a:xfrm>
            <a:off x="819150" y="49149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玄黑</a:t>
            </a:r>
            <a:endParaRPr sz="13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42A6CE-B6DA-4BC9-9225-E8DA099F7A10}"/>
              </a:ext>
            </a:extLst>
          </p:cNvPr>
          <p:cNvSpPr>
            <a:spLocks noGrp="1"/>
          </p:cNvSpPr>
          <p:nvPr/>
        </p:nvSpPr>
        <p:spPr>
          <a:xfrm>
            <a:off x="2343150" y="2781300"/>
            <a:ext cx="1143000" cy="1943100"/>
          </a:xfrm>
          <a:prstGeom prst="rect">
            <a:avLst/>
          </a:prstGeom>
          <a:solidFill>
            <a:srgbClr val="CBD5E1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4474E42-D0CB-4500-B0EF-F51B9FCBD6D6}"/>
              </a:ext>
            </a:extLst>
          </p:cNvPr>
          <p:cNvSpPr>
            <a:spLocks noGrp="1"/>
          </p:cNvSpPr>
          <p:nvPr/>
        </p:nvSpPr>
        <p:spPr>
          <a:xfrm>
            <a:off x="2343150" y="49149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月银</a:t>
            </a:r>
            <a:endParaRPr sz="13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DF5EBE-3E71-49ED-9800-1CDCCF577BAD}"/>
              </a:ext>
            </a:extLst>
          </p:cNvPr>
          <p:cNvSpPr>
            <a:spLocks noGrp="1"/>
          </p:cNvSpPr>
          <p:nvPr/>
        </p:nvSpPr>
        <p:spPr>
          <a:xfrm>
            <a:off x="3867150" y="2781300"/>
            <a:ext cx="1143000" cy="1943100"/>
          </a:xfrm>
          <a:prstGeom prst="rect">
            <a:avLst/>
          </a:prstGeom>
          <a:solidFill>
            <a:srgbClr val="64748B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CDD93D-50E0-4898-9E4E-FF47A3519E10}"/>
              </a:ext>
            </a:extLst>
          </p:cNvPr>
          <p:cNvSpPr>
            <a:spLocks noGrp="1"/>
          </p:cNvSpPr>
          <p:nvPr/>
        </p:nvSpPr>
        <p:spPr>
          <a:xfrm>
            <a:off x="3867150" y="49149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钛灰</a:t>
            </a:r>
            <a:endParaRPr sz="13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A9ABD1-9A9D-408F-8090-44B70CEC38D2}"/>
              </a:ext>
            </a:extLst>
          </p:cNvPr>
          <p:cNvSpPr>
            <a:spLocks noGrp="1"/>
          </p:cNvSpPr>
          <p:nvPr/>
        </p:nvSpPr>
        <p:spPr>
          <a:xfrm>
            <a:off x="819150" y="55626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4C277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>
                <a:solidFill>
                  <a:srgbClr val="F4C277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8.6mm </a:t>
            </a:r>
            <a:r>
              <a:rPr sz="1500" dirty="0" err="1">
                <a:solidFill>
                  <a:srgbClr val="F4C277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机身</a:t>
            </a:r>
            <a:r>
              <a:rPr sz="1500" dirty="0">
                <a:solidFill>
                  <a:srgbClr val="F4C277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 /  IP68  /  </a:t>
            </a:r>
            <a:r>
              <a:rPr sz="1500" dirty="0" err="1">
                <a:solidFill>
                  <a:srgbClr val="F4C277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第二代龙晶玻璃</a:t>
            </a:r>
            <a:endParaRPr sz="1500" dirty="0">
              <a:solidFill>
                <a:srgbClr val="F4C277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046605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3D2BB5AA-840D-4A24-B508-77BC12EFD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83470-F09F-4155-9281-1C8FF933C720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defRPr sz="10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05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Yuanbao</a:t>
            </a:r>
            <a:r>
              <a:rPr lang="en-US" altLang="zh-CN" sz="10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New Phone Launch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255EED-F77A-4661-9211-C67EF81DAE84}"/>
              </a:ext>
            </a:extLst>
          </p:cNvPr>
          <p:cNvSpPr>
            <a:spLocks noGrp="1"/>
          </p:cNvSpPr>
          <p:nvPr/>
        </p:nvSpPr>
        <p:spPr>
          <a:xfrm>
            <a:off x="495300" y="49530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Human x Car x Home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DDB589-45A5-44BD-939F-8D0CECEBC3DB}"/>
              </a:ext>
            </a:extLst>
          </p:cNvPr>
          <p:cNvSpPr>
            <a:spLocks noGrp="1"/>
          </p:cNvSpPr>
          <p:nvPr/>
        </p:nvSpPr>
        <p:spPr>
          <a:xfrm>
            <a:off x="11382375" y="323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B25627-DA1F-4414-B713-7C3A5DA7DDC5}"/>
              </a:ext>
            </a:extLst>
          </p:cNvPr>
          <p:cNvSpPr>
            <a:spLocks noGrp="1"/>
          </p:cNvSpPr>
          <p:nvPr/>
        </p:nvSpPr>
        <p:spPr>
          <a:xfrm>
            <a:off x="495300" y="781050"/>
            <a:ext cx="11201400" cy="9525"/>
          </a:xfrm>
          <a:prstGeom prst="rect">
            <a:avLst/>
          </a:prstGeom>
          <a:solidFill>
            <a:srgbClr val="12345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86B6E4-16C5-45EF-8871-23194E248EF0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11029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手机，是全场景的个人钥匙</a:t>
            </a:r>
            <a:endParaRPr sz="31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6C1719-D557-480E-8FBA-1456E884EFE0}"/>
              </a:ext>
            </a:extLst>
          </p:cNvPr>
          <p:cNvSpPr>
            <a:spLocks noGrp="1"/>
          </p:cNvSpPr>
          <p:nvPr/>
        </p:nvSpPr>
        <p:spPr>
          <a:xfrm>
            <a:off x="666750" y="1862137"/>
            <a:ext cx="11029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从出门前到车内，再到回家，系统把设备切换变成自然连续的体验</a:t>
            </a:r>
            <a:r>
              <a:rPr sz="15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41E4CC-AB1A-4583-AAE6-B883E70BFD16}"/>
              </a:ext>
            </a:extLst>
          </p:cNvPr>
          <p:cNvSpPr>
            <a:spLocks noGrp="1"/>
          </p:cNvSpPr>
          <p:nvPr/>
        </p:nvSpPr>
        <p:spPr>
          <a:xfrm>
            <a:off x="3419475" y="3750468"/>
            <a:ext cx="552450" cy="28575"/>
          </a:xfrm>
          <a:prstGeom prst="rect">
            <a:avLst/>
          </a:prstGeom>
          <a:solidFill>
            <a:srgbClr val="25A7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A2F05A-00C0-43DB-AE18-3715422AAC2C}"/>
              </a:ext>
            </a:extLst>
          </p:cNvPr>
          <p:cNvSpPr>
            <a:spLocks noGrp="1"/>
          </p:cNvSpPr>
          <p:nvPr/>
        </p:nvSpPr>
        <p:spPr>
          <a:xfrm>
            <a:off x="5800725" y="3750468"/>
            <a:ext cx="552450" cy="28575"/>
          </a:xfrm>
          <a:prstGeom prst="rect">
            <a:avLst/>
          </a:prstGeom>
          <a:solidFill>
            <a:srgbClr val="7C3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FE0032D-4B5D-4492-9F9C-92DCFEDDC4CC}"/>
              </a:ext>
            </a:extLst>
          </p:cNvPr>
          <p:cNvSpPr>
            <a:spLocks noGrp="1"/>
          </p:cNvSpPr>
          <p:nvPr/>
        </p:nvSpPr>
        <p:spPr>
          <a:xfrm>
            <a:off x="8181975" y="3750468"/>
            <a:ext cx="552450" cy="28575"/>
          </a:xfrm>
          <a:prstGeom prst="rect">
            <a:avLst/>
          </a:prstGeom>
          <a:solidFill>
            <a:srgbClr val="67E8F9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E107C2-40A5-462C-9B40-E406F321FBED}"/>
              </a:ext>
            </a:extLst>
          </p:cNvPr>
          <p:cNvSpPr>
            <a:spLocks noGrp="1"/>
          </p:cNvSpPr>
          <p:nvPr/>
        </p:nvSpPr>
        <p:spPr>
          <a:xfrm>
            <a:off x="2000250" y="5334000"/>
            <a:ext cx="819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用一个“下班回家”的连续场景串起手机、汽车、家居和健康设备</a:t>
            </a:r>
            <a:r>
              <a:rPr sz="1500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5680BA56-9666-FCB2-3083-F5BE67BFB3C3}"/>
              </a:ext>
            </a:extLst>
          </p:cNvPr>
          <p:cNvSpPr/>
          <p:nvPr/>
        </p:nvSpPr>
        <p:spPr>
          <a:xfrm>
            <a:off x="1685925" y="3198018"/>
            <a:ext cx="1619250" cy="1123950"/>
          </a:xfrm>
          <a:prstGeom prst="roundRect">
            <a:avLst>
              <a:gd name="adj" fmla="val 14122"/>
            </a:avLst>
          </a:prstGeom>
          <a:solidFill>
            <a:srgbClr val="071426"/>
          </a:solidFill>
          <a:ln w="9525">
            <a:solidFill>
              <a:srgbClr val="25A7FF"/>
            </a:solidFill>
          </a:ln>
        </p:spPr>
        <p:txBody>
          <a:bodyPr/>
          <a:lstStyle/>
          <a:p>
            <a:endParaRPr lang="zh-CN" altLang="en-US" dirty="0">
              <a:solidFill>
                <a:schemeClr val="tx1"/>
              </a:solidFill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ECEEC0-A166-45DA-813F-5F3B541DCD2E}"/>
              </a:ext>
            </a:extLst>
          </p:cNvPr>
          <p:cNvSpPr>
            <a:spLocks noGrp="1"/>
          </p:cNvSpPr>
          <p:nvPr/>
        </p:nvSpPr>
        <p:spPr>
          <a:xfrm>
            <a:off x="1685925" y="3445668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8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手机</a:t>
            </a:r>
            <a:endParaRPr sz="18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F0F28D-403E-46CD-8079-759952E717C4}"/>
              </a:ext>
            </a:extLst>
          </p:cNvPr>
          <p:cNvSpPr>
            <a:spLocks noGrp="1"/>
          </p:cNvSpPr>
          <p:nvPr/>
        </p:nvSpPr>
        <p:spPr>
          <a:xfrm>
            <a:off x="1857375" y="3826668"/>
            <a:ext cx="127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12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日程、导航、拍摄</a:t>
            </a:r>
            <a:endParaRPr sz="1125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28E0243E-930B-20DB-2A0E-FFE0D98A8721}"/>
              </a:ext>
            </a:extLst>
          </p:cNvPr>
          <p:cNvSpPr/>
          <p:nvPr/>
        </p:nvSpPr>
        <p:spPr>
          <a:xfrm>
            <a:off x="4067175" y="3198018"/>
            <a:ext cx="1619250" cy="1123950"/>
          </a:xfrm>
          <a:prstGeom prst="roundRect">
            <a:avLst>
              <a:gd name="adj" fmla="val 14122"/>
            </a:avLst>
          </a:prstGeom>
          <a:solidFill>
            <a:srgbClr val="071426"/>
          </a:solidFill>
          <a:ln w="9525">
            <a:solidFill>
              <a:srgbClr val="7C3CFF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A4F8A3-331B-450D-A563-E1B9C2F74531}"/>
              </a:ext>
            </a:extLst>
          </p:cNvPr>
          <p:cNvSpPr>
            <a:spLocks noGrp="1"/>
          </p:cNvSpPr>
          <p:nvPr/>
        </p:nvSpPr>
        <p:spPr>
          <a:xfrm>
            <a:off x="4067175" y="3445668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800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SU7 Ultra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CCA93B-B7E0-442E-BCB8-5E0B296BE28B}"/>
              </a:ext>
            </a:extLst>
          </p:cNvPr>
          <p:cNvSpPr>
            <a:spLocks noGrp="1"/>
          </p:cNvSpPr>
          <p:nvPr/>
        </p:nvSpPr>
        <p:spPr>
          <a:xfrm>
            <a:off x="4238625" y="3826668"/>
            <a:ext cx="127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12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座舱、驾驶偏好</a:t>
            </a:r>
            <a:endParaRPr sz="1125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BA88D4B0-A65D-691E-4D95-41D2F86F1C89}"/>
              </a:ext>
            </a:extLst>
          </p:cNvPr>
          <p:cNvSpPr/>
          <p:nvPr/>
        </p:nvSpPr>
        <p:spPr>
          <a:xfrm>
            <a:off x="6448425" y="3198018"/>
            <a:ext cx="1619250" cy="1123950"/>
          </a:xfrm>
          <a:prstGeom prst="roundRect">
            <a:avLst>
              <a:gd name="adj" fmla="val 14122"/>
            </a:avLst>
          </a:prstGeom>
          <a:solidFill>
            <a:srgbClr val="071426"/>
          </a:solidFill>
          <a:ln w="9525">
            <a:solidFill>
              <a:srgbClr val="67E8F9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ECA1A1E7-FB12-BB09-0513-10B27B572CB3}"/>
              </a:ext>
            </a:extLst>
          </p:cNvPr>
          <p:cNvSpPr/>
          <p:nvPr/>
        </p:nvSpPr>
        <p:spPr>
          <a:xfrm>
            <a:off x="8829675" y="3198018"/>
            <a:ext cx="1619250" cy="1123950"/>
          </a:xfrm>
          <a:prstGeom prst="roundRect">
            <a:avLst>
              <a:gd name="adj" fmla="val 14122"/>
            </a:avLst>
          </a:prstGeom>
          <a:solidFill>
            <a:srgbClr val="071426"/>
          </a:solidFill>
          <a:ln w="9525">
            <a:solidFill>
              <a:srgbClr val="F4C277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59657E-170F-4590-BA54-4F6B5A88C071}"/>
              </a:ext>
            </a:extLst>
          </p:cNvPr>
          <p:cNvSpPr>
            <a:spLocks noGrp="1"/>
          </p:cNvSpPr>
          <p:nvPr/>
        </p:nvSpPr>
        <p:spPr>
          <a:xfrm>
            <a:off x="6448425" y="3445668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8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智能家居</a:t>
            </a:r>
            <a:endParaRPr sz="18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888E8DB-4501-431B-B795-0638FBB42DE6}"/>
              </a:ext>
            </a:extLst>
          </p:cNvPr>
          <p:cNvSpPr>
            <a:spLocks noGrp="1"/>
          </p:cNvSpPr>
          <p:nvPr/>
        </p:nvSpPr>
        <p:spPr>
          <a:xfrm>
            <a:off x="6619875" y="3826668"/>
            <a:ext cx="127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12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灯光、空调、安防</a:t>
            </a:r>
            <a:endParaRPr sz="1125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1ECEEDB-B487-4339-9662-3467F828A0DD}"/>
              </a:ext>
            </a:extLst>
          </p:cNvPr>
          <p:cNvSpPr>
            <a:spLocks noGrp="1"/>
          </p:cNvSpPr>
          <p:nvPr/>
        </p:nvSpPr>
        <p:spPr>
          <a:xfrm>
            <a:off x="8829675" y="3445668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8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可穿戴</a:t>
            </a:r>
            <a:endParaRPr sz="18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F98D10A-25AC-4F01-972E-1218B45AACB7}"/>
              </a:ext>
            </a:extLst>
          </p:cNvPr>
          <p:cNvSpPr>
            <a:spLocks noGrp="1"/>
          </p:cNvSpPr>
          <p:nvPr/>
        </p:nvSpPr>
        <p:spPr>
          <a:xfrm>
            <a:off x="9001125" y="3826668"/>
            <a:ext cx="127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125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健康、支付、提醒</a:t>
            </a:r>
            <a:endParaRPr sz="1125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672619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5E1EAF6A-F925-4D9B-8DA1-3C256042AF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28895" r="28895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0B0FA99-4429-460E-B1BD-DB3E013D2708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05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Yuanbao</a:t>
            </a:r>
            <a:r>
              <a:rPr sz="10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New Phone Launch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78BE59-AC19-4470-AC65-CDC45CB2DB61}"/>
              </a:ext>
            </a:extLst>
          </p:cNvPr>
          <p:cNvSpPr>
            <a:spLocks noGrp="1"/>
          </p:cNvSpPr>
          <p:nvPr/>
        </p:nvSpPr>
        <p:spPr>
          <a:xfrm>
            <a:off x="495300" y="49530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Price &amp; Lineup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8081ED5-06B5-9AA2-6C0E-954CD8CF519A}"/>
              </a:ext>
            </a:extLst>
          </p:cNvPr>
          <p:cNvSpPr>
            <a:spLocks noGrp="1"/>
          </p:cNvSpPr>
          <p:nvPr/>
        </p:nvSpPr>
        <p:spPr>
          <a:xfrm>
            <a:off x="7006300" y="0"/>
            <a:ext cx="3646004" cy="6858000"/>
          </a:xfrm>
          <a:prstGeom prst="rect">
            <a:avLst/>
          </a:prstGeom>
          <a:gradFill>
            <a:gsLst>
              <a:gs pos="0">
                <a:srgbClr val="030611"/>
              </a:gs>
              <a:gs pos="100000">
                <a:srgbClr val="030611">
                  <a:alpha val="0"/>
                </a:srgbClr>
              </a:gs>
            </a:gsLst>
            <a:lin ang="0" scaled="0"/>
          </a:gra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0A4271-7DAF-4EF0-94B6-EAD1215D04C8}"/>
              </a:ext>
            </a:extLst>
          </p:cNvPr>
          <p:cNvSpPr>
            <a:spLocks noGrp="1"/>
          </p:cNvSpPr>
          <p:nvPr/>
        </p:nvSpPr>
        <p:spPr>
          <a:xfrm>
            <a:off x="11382375" y="323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35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9FA2B2-852A-4D00-9CAE-6CBD957B498C}"/>
              </a:ext>
            </a:extLst>
          </p:cNvPr>
          <p:cNvSpPr>
            <a:spLocks noGrp="1"/>
          </p:cNvSpPr>
          <p:nvPr/>
        </p:nvSpPr>
        <p:spPr>
          <a:xfrm>
            <a:off x="495300" y="781050"/>
            <a:ext cx="11201400" cy="9525"/>
          </a:xfrm>
          <a:prstGeom prst="rect">
            <a:avLst/>
          </a:prstGeom>
          <a:solidFill>
            <a:srgbClr val="12345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6339D8-8329-427F-BC0D-C4C46DFC404F}"/>
              </a:ext>
            </a:extLst>
          </p:cNvPr>
          <p:cNvSpPr>
            <a:spLocks noGrp="1"/>
          </p:cNvSpPr>
          <p:nvPr/>
        </p:nvSpPr>
        <p:spPr>
          <a:xfrm>
            <a:off x="495300" y="1200150"/>
            <a:ext cx="6667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00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三档版本，覆盖旗舰用户的三种需求</a:t>
            </a:r>
            <a:endParaRPr sz="300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9A356F-0229-4428-8F77-F600245E22A5}"/>
              </a:ext>
            </a:extLst>
          </p:cNvPr>
          <p:cNvSpPr>
            <a:spLocks noGrp="1"/>
          </p:cNvSpPr>
          <p:nvPr/>
        </p:nvSpPr>
        <p:spPr>
          <a:xfrm>
            <a:off x="533400" y="59245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首销权益：碎屏保障</a:t>
            </a:r>
            <a:r>
              <a:rPr sz="12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/ </a:t>
            </a: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以旧换新补贴</a:t>
            </a:r>
            <a:r>
              <a:rPr sz="12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/ </a:t>
            </a:r>
            <a:r>
              <a:rPr sz="12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生态配件套装</a:t>
            </a:r>
            <a:endParaRPr sz="1200" dirty="0">
              <a:solidFill>
                <a:srgbClr val="A7B7CC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D8CA67D3-5D00-5C2B-FD4D-5F8600EEFB81}"/>
              </a:ext>
            </a:extLst>
          </p:cNvPr>
          <p:cNvSpPr/>
          <p:nvPr/>
        </p:nvSpPr>
        <p:spPr>
          <a:xfrm>
            <a:off x="495300" y="2474014"/>
            <a:ext cx="6191250" cy="781049"/>
          </a:xfrm>
          <a:prstGeom prst="roundRect">
            <a:avLst>
              <a:gd name="adj" fmla="val 14122"/>
            </a:avLst>
          </a:prstGeom>
          <a:solidFill>
            <a:srgbClr val="071426"/>
          </a:solidFill>
          <a:ln w="9525">
            <a:solidFill>
              <a:srgbClr val="25A7FF"/>
            </a:solidFill>
          </a:ln>
        </p:spPr>
        <p:txBody>
          <a:bodyPr/>
          <a:lstStyle/>
          <a:p>
            <a:endParaRPr lang="zh-CN" altLang="en-US" dirty="0">
              <a:solidFill>
                <a:schemeClr val="tx1"/>
              </a:solidFill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145B53-DB2F-44E8-9F2F-3886F22D8980}"/>
              </a:ext>
            </a:extLst>
          </p:cNvPr>
          <p:cNvSpPr>
            <a:spLocks noGrp="1"/>
          </p:cNvSpPr>
          <p:nvPr/>
        </p:nvSpPr>
        <p:spPr>
          <a:xfrm>
            <a:off x="781050" y="2733675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725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YuanPhone</a:t>
            </a:r>
            <a:r>
              <a:rPr sz="1725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16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502BE1-2C5D-4849-A11C-E36FCB5B22C6}"/>
              </a:ext>
            </a:extLst>
          </p:cNvPr>
          <p:cNvSpPr>
            <a:spLocks noGrp="1"/>
          </p:cNvSpPr>
          <p:nvPr/>
        </p:nvSpPr>
        <p:spPr>
          <a:xfrm>
            <a:off x="3371850" y="27622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12GB + 256GB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CBFD2B-FCDE-4077-B8DB-1B075DE37447}"/>
              </a:ext>
            </a:extLst>
          </p:cNvPr>
          <p:cNvSpPr>
            <a:spLocks noGrp="1"/>
          </p:cNvSpPr>
          <p:nvPr/>
        </p:nvSpPr>
        <p:spPr>
          <a:xfrm>
            <a:off x="5257800" y="27051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950" b="1">
                <a:solidFill>
                  <a:srgbClr val="25A7FF"/>
                </a:solidFill>
                <a:latin typeface="PingFang SC"/>
                <a:ea typeface="PingFang SC"/>
                <a:cs typeface="PingFang SC"/>
              </a:defRPr>
            </a:pPr>
            <a:r>
              <a:rPr sz="1950" dirty="0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¥3999 </a:t>
            </a:r>
            <a:r>
              <a:rPr sz="1950" dirty="0" err="1">
                <a:solidFill>
                  <a:srgbClr val="25A7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起</a:t>
            </a:r>
            <a:endParaRPr sz="1950" dirty="0">
              <a:solidFill>
                <a:srgbClr val="25A7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751E72D-DA43-1227-E153-E6F65440B456}"/>
              </a:ext>
            </a:extLst>
          </p:cNvPr>
          <p:cNvSpPr/>
          <p:nvPr/>
        </p:nvSpPr>
        <p:spPr>
          <a:xfrm>
            <a:off x="495300" y="3600450"/>
            <a:ext cx="6191250" cy="781049"/>
          </a:xfrm>
          <a:prstGeom prst="roundRect">
            <a:avLst>
              <a:gd name="adj" fmla="val 14122"/>
            </a:avLst>
          </a:prstGeom>
          <a:solidFill>
            <a:srgbClr val="071426"/>
          </a:solidFill>
          <a:ln w="9525">
            <a:solidFill>
              <a:srgbClr val="F4C277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7255E1D-6245-4FC1-96AF-3226F9529528}"/>
              </a:ext>
            </a:extLst>
          </p:cNvPr>
          <p:cNvSpPr>
            <a:spLocks noGrp="1"/>
          </p:cNvSpPr>
          <p:nvPr/>
        </p:nvSpPr>
        <p:spPr>
          <a:xfrm>
            <a:off x="781050" y="3857625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defRPr sz="1725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725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YuanPhone</a:t>
            </a:r>
            <a:r>
              <a:rPr sz="1725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16 Pro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BB2E75-C4B8-4475-8611-D989E8B23B2E}"/>
              </a:ext>
            </a:extLst>
          </p:cNvPr>
          <p:cNvSpPr>
            <a:spLocks noGrp="1"/>
          </p:cNvSpPr>
          <p:nvPr/>
        </p:nvSpPr>
        <p:spPr>
          <a:xfrm>
            <a:off x="3371850" y="38862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16GB + 512GB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79F1A0-A9F4-4233-9960-18E4C705A7DD}"/>
              </a:ext>
            </a:extLst>
          </p:cNvPr>
          <p:cNvSpPr>
            <a:spLocks noGrp="1"/>
          </p:cNvSpPr>
          <p:nvPr/>
        </p:nvSpPr>
        <p:spPr>
          <a:xfrm>
            <a:off x="5257800" y="382905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950" b="1">
                <a:solidFill>
                  <a:srgbClr val="F4C277"/>
                </a:solidFill>
                <a:latin typeface="PingFang SC"/>
                <a:ea typeface="PingFang SC"/>
                <a:cs typeface="PingFang SC"/>
              </a:defRPr>
            </a:pPr>
            <a:r>
              <a:rPr sz="1950" dirty="0">
                <a:solidFill>
                  <a:srgbClr val="F4C277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¥4999 </a:t>
            </a:r>
            <a:r>
              <a:rPr sz="1950" dirty="0" err="1">
                <a:solidFill>
                  <a:srgbClr val="F4C277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起</a:t>
            </a:r>
            <a:endParaRPr sz="1950" dirty="0">
              <a:solidFill>
                <a:srgbClr val="F4C277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C2B0662B-E7A2-DCE3-E140-1AE890910376}"/>
              </a:ext>
            </a:extLst>
          </p:cNvPr>
          <p:cNvSpPr/>
          <p:nvPr/>
        </p:nvSpPr>
        <p:spPr>
          <a:xfrm>
            <a:off x="495300" y="4726886"/>
            <a:ext cx="6191250" cy="781049"/>
          </a:xfrm>
          <a:prstGeom prst="roundRect">
            <a:avLst>
              <a:gd name="adj" fmla="val 14122"/>
            </a:avLst>
          </a:prstGeom>
          <a:solidFill>
            <a:srgbClr val="071426"/>
          </a:solidFill>
          <a:ln w="9525">
            <a:solidFill>
              <a:srgbClr val="7C3CFF"/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9BDC65-7790-4439-AF66-7093083C1A5F}"/>
              </a:ext>
            </a:extLst>
          </p:cNvPr>
          <p:cNvSpPr>
            <a:spLocks noGrp="1"/>
          </p:cNvSpPr>
          <p:nvPr/>
        </p:nvSpPr>
        <p:spPr>
          <a:xfrm>
            <a:off x="781050" y="4981575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defRPr sz="1725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725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YuanPhone</a:t>
            </a:r>
            <a:r>
              <a:rPr sz="1725" dirty="0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16 Ultra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E061E23-2083-4810-8C4E-3E34C1A0A2DD}"/>
              </a:ext>
            </a:extLst>
          </p:cNvPr>
          <p:cNvSpPr>
            <a:spLocks noGrp="1"/>
          </p:cNvSpPr>
          <p:nvPr/>
        </p:nvSpPr>
        <p:spPr>
          <a:xfrm>
            <a:off x="3371850" y="50101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2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16GB + 1TB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6A9C4DE-D328-4289-A26E-358144B3CDD2}"/>
              </a:ext>
            </a:extLst>
          </p:cNvPr>
          <p:cNvSpPr>
            <a:spLocks noGrp="1"/>
          </p:cNvSpPr>
          <p:nvPr/>
        </p:nvSpPr>
        <p:spPr>
          <a:xfrm>
            <a:off x="5257800" y="49530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950" b="1">
                <a:solidFill>
                  <a:srgbClr val="7C3CFF"/>
                </a:solidFill>
                <a:latin typeface="PingFang SC"/>
                <a:ea typeface="PingFang SC"/>
                <a:cs typeface="PingFang SC"/>
              </a:defRPr>
            </a:pPr>
            <a:r>
              <a:rPr sz="1950" dirty="0">
                <a:solidFill>
                  <a:srgbClr val="7C3C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¥6499 </a:t>
            </a:r>
            <a:r>
              <a:rPr sz="1950" dirty="0" err="1">
                <a:solidFill>
                  <a:srgbClr val="7C3C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起</a:t>
            </a:r>
            <a:endParaRPr sz="1950" dirty="0">
              <a:solidFill>
                <a:srgbClr val="7C3C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545973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08DC74E-80A3-42D0-AA8A-BC0A40C416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C86E717-28D8-495B-BCDE-446FF47CBE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E69B64-BC84-4EF7-90F1-44A3FB7390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>
              <a:alpha val="2000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zh-CN" altLang="en-US" dirty="0"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871726-DDF6-475F-A658-D806DFB9CB81}"/>
              </a:ext>
            </a:extLst>
          </p:cNvPr>
          <p:cNvSpPr>
            <a:spLocks noGrp="1"/>
          </p:cNvSpPr>
          <p:nvPr/>
        </p:nvSpPr>
        <p:spPr>
          <a:xfrm>
            <a:off x="723900" y="8382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8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YuanPhone</a:t>
            </a:r>
            <a:r>
              <a:rPr sz="18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16 Pro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53FFFC-4B69-457F-8C23-733E6BFAB668}"/>
              </a:ext>
            </a:extLst>
          </p:cNvPr>
          <p:cNvSpPr>
            <a:spLocks noGrp="1"/>
          </p:cNvSpPr>
          <p:nvPr/>
        </p:nvSpPr>
        <p:spPr>
          <a:xfrm>
            <a:off x="723900" y="4819650"/>
            <a:ext cx="9841396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40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为下一次跃迁而来</a:t>
            </a:r>
            <a:endParaRPr sz="40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AF8B9E-F0F2-4F1E-8A7D-F6E7B406C4F8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7CC"/>
                </a:solidFill>
                <a:latin typeface="PingFang SC"/>
                <a:ea typeface="PingFang SC"/>
                <a:cs typeface="PingFang SC"/>
              </a:defRPr>
            </a:pPr>
            <a:r>
              <a:rPr sz="1500" dirty="0" err="1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手机新品发布会</a:t>
            </a:r>
            <a:r>
              <a:rPr sz="1500" dirty="0">
                <a:solidFill>
                  <a:srgbClr val="A7B7CC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  /  Thank you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06EE819-692F-673A-578D-3D171DDF660B}"/>
              </a:ext>
            </a:extLst>
          </p:cNvPr>
          <p:cNvSpPr/>
          <p:nvPr/>
        </p:nvSpPr>
        <p:spPr>
          <a:xfrm>
            <a:off x="762000" y="6057901"/>
            <a:ext cx="1028700" cy="285750"/>
          </a:xfrm>
          <a:prstGeom prst="roundRect">
            <a:avLst>
              <a:gd name="adj" fmla="val 14122"/>
            </a:avLst>
          </a:prstGeom>
          <a:solidFill>
            <a:srgbClr val="071426"/>
          </a:solidFill>
          <a:ln w="9525">
            <a:solidFill>
              <a:srgbClr val="25A7FF"/>
            </a:solidFill>
          </a:ln>
        </p:spPr>
        <p:txBody>
          <a:bodyPr/>
          <a:lstStyle/>
          <a:p>
            <a:endParaRPr lang="zh-CN" altLang="en-US" dirty="0">
              <a:solidFill>
                <a:schemeClr val="tx1"/>
              </a:solidFill>
              <a:latin typeface="MiSans Medium" pitchFamily="2" charset="-128"/>
              <a:ea typeface="MiSans Medium" pitchFamily="2" charset="-128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962AF2-EC92-463A-A00A-C22F4F74AB39}"/>
              </a:ext>
            </a:extLst>
          </p:cNvPr>
          <p:cNvSpPr>
            <a:spLocks noGrp="1"/>
          </p:cNvSpPr>
          <p:nvPr/>
        </p:nvSpPr>
        <p:spPr>
          <a:xfrm>
            <a:off x="876300" y="6115051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050" dirty="0" err="1">
                <a:solidFill>
                  <a:srgbClr val="F8FBFF"/>
                </a:solidFill>
                <a:latin typeface="MiSans Medium" pitchFamily="2" charset="-128"/>
                <a:ea typeface="MiSans Medium" pitchFamily="2" charset="-128"/>
                <a:cs typeface="PingFang SC"/>
              </a:rPr>
              <a:t>新起点</a:t>
            </a:r>
            <a:endParaRPr sz="1050" dirty="0">
              <a:solidFill>
                <a:srgbClr val="F8FBFF"/>
              </a:solidFill>
              <a:latin typeface="MiSans Medium" pitchFamily="2" charset="-128"/>
              <a:ea typeface="MiSans Medium" pitchFamily="2" charset="-128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9236535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417</Words>
  <Application>Microsoft Macintosh PowerPoint</Application>
  <DocSecurity>0</DocSecurity>
  <PresentationFormat>宽屏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4" baseType="lpstr">
      <vt:lpstr>MiSans Medium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Wu Peter</cp:lastModifiedBy>
  <cp:revision>3</cp:revision>
  <dcterms:created xsi:type="dcterms:W3CDTF">2026-06-02T07:21:48Z</dcterms:created>
  <dcterms:modified xsi:type="dcterms:W3CDTF">2026-06-02T08:27:33Z</dcterms:modified>
</cp:coreProperties>
</file>