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60" r:id="rId5"/>
    <p:sldId id="261" r:id="rId6"/>
    <p:sldId id="263" r:id="rId7"/>
    <p:sldId id="264" r:id="rId8"/>
    <p:sldId id="265" r:id="rId9"/>
    <p:sldId id="266" r:id="rId10"/>
    <p:sldId id="267" r:id="rId11"/>
    <p:sldId id="270" r:id="rId12"/>
    <p:sldId id="271" r:id="rId13"/>
    <p:sldId id="273" r:id="rId14"/>
    <p:sldId id="275" r:id="rId15"/>
    <p:sldId id="280" r:id="rId16"/>
    <p:sldId id="281" r:id="rId17"/>
    <p:sldId id="282" r:id="rId18"/>
    <p:sldId id="284" r:id="rId19"/>
    <p:sldId id="285" r:id="rId20"/>
    <p:sldId id="287" r:id="rId21"/>
    <p:sldId id="288" r:id="rId22"/>
    <p:sldId id="289" r:id="rId23"/>
    <p:sldId id="290" r:id="rId24"/>
    <p:sldId id="295" r:id="rId2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666666"/>
    <a:srgbClr val="F6EFFF"/>
    <a:srgbClr val="E9C7FF"/>
    <a:srgbClr val="DC55FF"/>
    <a:srgbClr val="A32CC4"/>
    <a:srgbClr val="C336E5"/>
    <a:srgbClr val="B632D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03"/>
    <p:restoredTop sz="94610"/>
  </p:normalViewPr>
  <p:slideViewPr>
    <p:cSldViewPr snapToGrid="0" snapToObjects="1">
      <p:cViewPr varScale="1">
        <p:scale>
          <a:sx n="135" d="100"/>
          <a:sy n="135" d="100"/>
        </p:scale>
        <p:origin x="176" y="7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Values</c:v>
                </c:pt>
              </c:strCache>
            </c:strRef>
          </c:tx>
          <c:spPr>
            <a:solidFill>
              <a:srgbClr val="FFFFFF"/>
            </a:solidFill>
            <a:effectLst/>
          </c:spPr>
          <c:invertIfNegative val="0"/>
          <c:dPt>
            <c:idx val="0"/>
            <c:invertIfNegative val="0"/>
            <c:bubble3D val="0"/>
            <c:spPr>
              <a:solidFill>
                <a:srgbClr val="FFFFFF">
                  <a:alpha val="80000"/>
                </a:srgbClr>
              </a:solidFill>
              <a:effectLst/>
            </c:spPr>
            <c:extLst>
              <c:ext xmlns:c16="http://schemas.microsoft.com/office/drawing/2014/chart" uri="{C3380CC4-5D6E-409C-BE32-E72D297353CC}">
                <c16:uniqueId val="{00000001-5CDE-4444-8850-F84D26A5827D}"/>
              </c:ext>
            </c:extLst>
          </c:dPt>
          <c:dPt>
            <c:idx val="1"/>
            <c:invertIfNegative val="0"/>
            <c:bubble3D val="0"/>
            <c:spPr>
              <a:solidFill>
                <a:srgbClr val="FFFFFF">
                  <a:alpha val="80000"/>
                </a:srgbClr>
              </a:solidFill>
              <a:effectLst/>
            </c:spPr>
            <c:extLst>
              <c:ext xmlns:c16="http://schemas.microsoft.com/office/drawing/2014/chart" uri="{C3380CC4-5D6E-409C-BE32-E72D297353CC}">
                <c16:uniqueId val="{00000003-5CDE-4444-8850-F84D26A5827D}"/>
              </c:ext>
            </c:extLst>
          </c:dPt>
          <c:dPt>
            <c:idx val="2"/>
            <c:invertIfNegative val="0"/>
            <c:bubble3D val="0"/>
            <c:spPr>
              <a:solidFill>
                <a:srgbClr val="FFFFFF">
                  <a:alpha val="80000"/>
                </a:srgbClr>
              </a:solidFill>
              <a:effectLst/>
            </c:spPr>
            <c:extLst>
              <c:ext xmlns:c16="http://schemas.microsoft.com/office/drawing/2014/chart" uri="{C3380CC4-5D6E-409C-BE32-E72D297353CC}">
                <c16:uniqueId val="{00000005-5CDE-4444-8850-F84D26A5827D}"/>
              </c:ext>
            </c:extLst>
          </c:dPt>
          <c:dPt>
            <c:idx val="3"/>
            <c:invertIfNegative val="0"/>
            <c:bubble3D val="0"/>
            <c:spPr>
              <a:solidFill>
                <a:srgbClr val="FFFFFF">
                  <a:alpha val="80000"/>
                </a:srgbClr>
              </a:solidFill>
              <a:effectLst/>
            </c:spPr>
            <c:extLst>
              <c:ext xmlns:c16="http://schemas.microsoft.com/office/drawing/2014/chart" uri="{C3380CC4-5D6E-409C-BE32-E72D297353CC}">
                <c16:uniqueId val="{00000007-5CDE-4444-8850-F84D26A5827D}"/>
              </c:ext>
            </c:extLst>
          </c:dPt>
          <c:dPt>
            <c:idx val="4"/>
            <c:invertIfNegative val="0"/>
            <c:bubble3D val="0"/>
            <c:spPr>
              <a:solidFill>
                <a:srgbClr val="FFFFFF">
                  <a:alpha val="80000"/>
                </a:srgbClr>
              </a:solidFill>
              <a:effectLst/>
            </c:spPr>
            <c:extLst>
              <c:ext xmlns:c16="http://schemas.microsoft.com/office/drawing/2014/chart" uri="{C3380CC4-5D6E-409C-BE32-E72D297353CC}">
                <c16:uniqueId val="{00000009-5CDE-4444-8850-F84D26A5827D}"/>
              </c:ext>
            </c:extLst>
          </c:dPt>
          <c:dPt>
            <c:idx val="5"/>
            <c:invertIfNegative val="0"/>
            <c:bubble3D val="0"/>
            <c:spPr>
              <a:solidFill>
                <a:srgbClr val="FFFFFF">
                  <a:alpha val="80000"/>
                </a:srgbClr>
              </a:solidFill>
              <a:effectLst/>
            </c:spPr>
            <c:extLst>
              <c:ext xmlns:c16="http://schemas.microsoft.com/office/drawing/2014/chart" uri="{C3380CC4-5D6E-409C-BE32-E72D297353CC}">
                <c16:uniqueId val="{0000000B-5CDE-4444-8850-F84D26A5827D}"/>
              </c:ext>
            </c:extLst>
          </c:dPt>
          <c:dLbls>
            <c:numFmt formatCode="#####################,\k" sourceLinked="0"/>
            <c:spPr>
              <a:noFill/>
              <a:ln>
                <a:noFill/>
              </a:ln>
              <a:effectLst/>
            </c:spPr>
            <c:txPr>
              <a:bodyPr/>
              <a:lstStyle/>
              <a:p>
                <a:pPr>
                  <a:defRPr sz="900" b="0" i="0" u="none" strike="noStrike">
                    <a:solidFill>
                      <a:srgbClr val="FFFFFF"/>
                    </a:solidFill>
                    <a:latin typeface="Manrope"/>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2032</c:v>
                </c:pt>
                <c:pt idx="1">
                  <c:v>2033</c:v>
                </c:pt>
                <c:pt idx="2">
                  <c:v>2034</c:v>
                </c:pt>
                <c:pt idx="3">
                  <c:v>2035</c:v>
                </c:pt>
                <c:pt idx="4">
                  <c:v>2036</c:v>
                </c:pt>
                <c:pt idx="5">
                  <c:v>2037</c:v>
                </c:pt>
              </c:strCache>
            </c:strRef>
          </c:cat>
          <c:val>
            <c:numRef>
              <c:f>Sheet1!$B$2:$B$7</c:f>
              <c:numCache>
                <c:formatCode>General</c:formatCode>
                <c:ptCount val="6"/>
                <c:pt idx="0">
                  <c:v>1800000</c:v>
                </c:pt>
                <c:pt idx="1">
                  <c:v>3000000</c:v>
                </c:pt>
                <c:pt idx="2">
                  <c:v>9000000</c:v>
                </c:pt>
                <c:pt idx="3">
                  <c:v>18000000</c:v>
                </c:pt>
                <c:pt idx="4">
                  <c:v>32000000</c:v>
                </c:pt>
                <c:pt idx="5">
                  <c:v>36000000</c:v>
                </c:pt>
              </c:numCache>
            </c:numRef>
          </c:val>
          <c:extLst>
            <c:ext xmlns:c16="http://schemas.microsoft.com/office/drawing/2014/chart" uri="{C3380CC4-5D6E-409C-BE32-E72D297353CC}">
              <c16:uniqueId val="{0000000C-5CDE-4444-8850-F84D26A5827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none"/>
        <c:minorTickMark val="none"/>
        <c:tickLblPos val="low"/>
        <c:spPr>
          <a:ln w="6350" cap="flat">
            <a:solidFill>
              <a:srgbClr val="FFFFFF"/>
            </a:solidFill>
            <a:prstDash val="solid"/>
            <a:round/>
          </a:ln>
        </c:spPr>
        <c:txPr>
          <a:bodyPr/>
          <a:lstStyle/>
          <a:p>
            <a:pPr>
              <a:defRPr sz="900" b="0" i="0" u="none" strike="noStrike">
                <a:solidFill>
                  <a:srgbClr val="FFFFFF"/>
                </a:solidFill>
                <a:latin typeface="Manrope"/>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FFFFFF"/>
              </a:solidFill>
              <a:prstDash val="dash"/>
              <a:round/>
            </a:ln>
          </c:spPr>
        </c:majorGridlines>
        <c:numFmt formatCode="#####################,\k" sourceLinked="0"/>
        <c:majorTickMark val="out"/>
        <c:minorTickMark val="none"/>
        <c:tickLblPos val="nextTo"/>
        <c:spPr>
          <a:ln w="6350" cap="flat">
            <a:solidFill>
              <a:srgbClr val="FFFFFF"/>
            </a:solidFill>
            <a:prstDash val="solid"/>
            <a:round/>
          </a:ln>
        </c:spPr>
        <c:txPr>
          <a:bodyPr/>
          <a:lstStyle/>
          <a:p>
            <a:pPr>
              <a:defRPr sz="900" b="0" i="0" u="none" strike="noStrike">
                <a:solidFill>
                  <a:srgbClr val="FFFFFF"/>
                </a:solidFill>
                <a:latin typeface="Manrope"/>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lineChart>
        <c:grouping val="standard"/>
        <c:varyColors val="0"/>
        <c:ser>
          <c:idx val="0"/>
          <c:order val="0"/>
          <c:tx>
            <c:strRef>
              <c:f>Sheet1!$B$1</c:f>
              <c:strCache>
                <c:ptCount val="1"/>
                <c:pt idx="0">
                  <c:v>Values</c:v>
                </c:pt>
              </c:strCache>
            </c:strRef>
          </c:tx>
          <c:spPr>
            <a:ln w="25400" cap="flat">
              <a:solidFill>
                <a:srgbClr val="DC3DFF"/>
              </a:solidFill>
              <a:prstDash val="solid"/>
              <a:round/>
            </a:ln>
            <a:effectLst/>
          </c:spPr>
          <c:marker>
            <c:symbol val="none"/>
          </c:marker>
          <c:dLbls>
            <c:dLbl>
              <c:idx val="1"/>
              <c:layout>
                <c:manualLayout>
                  <c:x val="-2.1739130434783407E-3"/>
                  <c:y val="-3.9506172839506172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64E-3C40-B703-9FA5B0832D80}"/>
                </c:ext>
              </c:extLst>
            </c:dLbl>
            <c:dLbl>
              <c:idx val="2"/>
              <c:layout>
                <c:manualLayout>
                  <c:x val="-2.6086956521739209E-2"/>
                  <c:y val="6.419753086419753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64E-3C40-B703-9FA5B0832D80}"/>
                </c:ext>
              </c:extLst>
            </c:dLbl>
            <c:numFmt formatCode="###,###,###,###,###,###,###" sourceLinked="0"/>
            <c:spPr>
              <a:noFill/>
              <a:ln>
                <a:noFill/>
              </a:ln>
              <a:effectLst/>
            </c:spPr>
            <c:txPr>
              <a:bodyPr/>
              <a:lstStyle/>
              <a:p>
                <a:pPr>
                  <a:defRPr sz="900" b="1" i="0" u="none" strike="noStrike">
                    <a:solidFill>
                      <a:srgbClr val="DC3DFF"/>
                    </a:solidFill>
                    <a:latin typeface="Manrope"/>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January</c:v>
                </c:pt>
                <c:pt idx="1">
                  <c:v>February</c:v>
                </c:pt>
                <c:pt idx="2">
                  <c:v>March</c:v>
                </c:pt>
                <c:pt idx="3">
                  <c:v>April</c:v>
                </c:pt>
              </c:strCache>
            </c:strRef>
          </c:cat>
          <c:val>
            <c:numRef>
              <c:f>Sheet1!$B$2:$B$5</c:f>
              <c:numCache>
                <c:formatCode>General</c:formatCode>
                <c:ptCount val="4"/>
                <c:pt idx="0">
                  <c:v>129</c:v>
                </c:pt>
                <c:pt idx="1">
                  <c:v>1258</c:v>
                </c:pt>
                <c:pt idx="2">
                  <c:v>281</c:v>
                </c:pt>
                <c:pt idx="3">
                  <c:v>927</c:v>
                </c:pt>
              </c:numCache>
            </c:numRef>
          </c:val>
          <c:smooth val="1"/>
          <c:extLst>
            <c:ext xmlns:c16="http://schemas.microsoft.com/office/drawing/2014/chart" uri="{C3380CC4-5D6E-409C-BE32-E72D297353CC}">
              <c16:uniqueId val="{00000000-31C5-0F44-859B-0933DD9DAE5B}"/>
            </c:ext>
          </c:extLst>
        </c:ser>
        <c:dLbls>
          <c:showLegendKey val="0"/>
          <c:showVal val="1"/>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none"/>
        <c:minorTickMark val="none"/>
        <c:tickLblPos val="low"/>
        <c:spPr>
          <a:ln w="6350" cap="flat">
            <a:solidFill>
              <a:srgbClr val="070707"/>
            </a:solidFill>
            <a:prstDash val="solid"/>
            <a:round/>
          </a:ln>
        </c:spPr>
        <c:txPr>
          <a:bodyPr/>
          <a:lstStyle/>
          <a:p>
            <a:pPr>
              <a:defRPr sz="900" b="1" i="0" u="none" strike="noStrike">
                <a:solidFill>
                  <a:srgbClr val="070707"/>
                </a:solidFill>
                <a:latin typeface="Manrope"/>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C9C9C9"/>
              </a:solidFill>
              <a:prstDash val="dash"/>
              <a:round/>
            </a:ln>
          </c:spPr>
        </c:majorGridlines>
        <c:numFmt formatCode="###,###,###,###,###,###,###" sourceLinked="0"/>
        <c:majorTickMark val="none"/>
        <c:minorTickMark val="none"/>
        <c:tickLblPos val="nextTo"/>
        <c:spPr>
          <a:ln w="6350" cap="flat">
            <a:solidFill>
              <a:srgbClr val="070707"/>
            </a:solidFill>
            <a:prstDash val="solid"/>
            <a:round/>
          </a:ln>
        </c:spPr>
        <c:txPr>
          <a:bodyPr/>
          <a:lstStyle/>
          <a:p>
            <a:pPr>
              <a:defRPr sz="900" b="1" i="0" u="none" strike="noStrike">
                <a:solidFill>
                  <a:srgbClr val="070707"/>
                </a:solidFill>
                <a:latin typeface="Manrope"/>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6796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9.jp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45A94C59-1F94-7263-728A-CD85E893DDE7}"/>
              </a:ext>
            </a:extLst>
          </p:cNvPr>
          <p:cNvPicPr>
            <a:picLocks noChangeAspect="1"/>
          </p:cNvPicPr>
          <p:nvPr/>
        </p:nvPicPr>
        <p:blipFill>
          <a:blip r:embed="rId3"/>
          <a:stretch>
            <a:fillRect/>
          </a:stretch>
        </p:blipFill>
        <p:spPr>
          <a:xfrm>
            <a:off x="-1" y="0"/>
            <a:ext cx="9136481" cy="5143500"/>
          </a:xfrm>
          <a:prstGeom prst="rect">
            <a:avLst/>
          </a:prstGeom>
        </p:spPr>
      </p:pic>
      <p:sp>
        <p:nvSpPr>
          <p:cNvPr id="4" name="Text 0"/>
          <p:cNvSpPr/>
          <p:nvPr/>
        </p:nvSpPr>
        <p:spPr>
          <a:xfrm>
            <a:off x="261956" y="2103760"/>
            <a:ext cx="8615325" cy="676574"/>
          </a:xfrm>
          <a:prstGeom prst="rect">
            <a:avLst/>
          </a:prstGeom>
          <a:noFill/>
          <a:ln/>
        </p:spPr>
        <p:txBody>
          <a:bodyPr wrap="square" lIns="0" tIns="0" rIns="0" bIns="0" rtlCol="0" anchor="ctr"/>
          <a:lstStyle/>
          <a:p>
            <a:pPr algn="ctr">
              <a:lnSpc>
                <a:spcPts val="3780"/>
              </a:lnSpc>
            </a:pPr>
            <a:r>
              <a:rPr lang="en-US" sz="3600" kern="0" spc="-36" dirty="0">
                <a:solidFill>
                  <a:srgbClr val="FFFFFF"/>
                </a:solidFill>
                <a:latin typeface="MiSans Demibold" pitchFamily="2" charset="-122"/>
                <a:ea typeface="MiSans Demibold" pitchFamily="2" charset="-122"/>
                <a:cs typeface="Manrope" pitchFamily="34" charset="-120"/>
              </a:rPr>
              <a:t>AI </a:t>
            </a:r>
            <a:r>
              <a:rPr lang="en-US" sz="3600" kern="0" spc="-36" dirty="0" err="1">
                <a:solidFill>
                  <a:srgbClr val="FFFFFF"/>
                </a:solidFill>
                <a:latin typeface="MiSans Demibold" pitchFamily="2" charset="-122"/>
                <a:ea typeface="MiSans Demibold" pitchFamily="2" charset="-122"/>
                <a:cs typeface="Manrope" pitchFamily="34" charset="-120"/>
              </a:rPr>
              <a:t>设计商业计划书</a:t>
            </a:r>
            <a:endParaRPr lang="en-US" sz="3600" dirty="0">
              <a:latin typeface="MiSans Demibold" pitchFamily="2" charset="-122"/>
              <a:ea typeface="MiSans Demibold" pitchFamily="2" charset="-122"/>
            </a:endParaRPr>
          </a:p>
        </p:txBody>
      </p:sp>
      <p:sp>
        <p:nvSpPr>
          <p:cNvPr id="5" name="Text 1"/>
          <p:cNvSpPr/>
          <p:nvPr/>
        </p:nvSpPr>
        <p:spPr>
          <a:xfrm>
            <a:off x="2201091" y="4629150"/>
            <a:ext cx="5009605" cy="247650"/>
          </a:xfrm>
          <a:prstGeom prst="rect">
            <a:avLst/>
          </a:prstGeom>
          <a:noFill/>
          <a:ln/>
        </p:spPr>
        <p:txBody>
          <a:bodyPr wrap="square" lIns="0" tIns="0" rIns="0" bIns="0" rtlCol="0" anchor="b"/>
          <a:lstStyle/>
          <a:p>
            <a:pPr algn="ctr">
              <a:lnSpc>
                <a:spcPts val="975"/>
              </a:lnSpc>
            </a:pPr>
            <a:r>
              <a:rPr lang="en-US" sz="800" spc="300" dirty="0" err="1">
                <a:solidFill>
                  <a:srgbClr val="FFFFFF"/>
                </a:solidFill>
                <a:latin typeface="MiSans Light" pitchFamily="2" charset="-122"/>
                <a:ea typeface="MiSans Light" pitchFamily="2" charset="-122"/>
                <a:cs typeface="Space Mono" pitchFamily="34" charset="-120"/>
              </a:rPr>
              <a:t>以AI智能体自动化知识工作</a:t>
            </a:r>
            <a:endParaRPr lang="en-US" sz="750" spc="300" dirty="0">
              <a:latin typeface="MiSans Light" pitchFamily="2" charset="-122"/>
              <a:ea typeface="MiSans Light"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sp>
        <p:nvSpPr>
          <p:cNvPr id="4" name="Text 0"/>
          <p:cNvSpPr/>
          <p:nvPr/>
        </p:nvSpPr>
        <p:spPr>
          <a:xfrm>
            <a:off x="8421973" y="446563"/>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5" name="Text 1"/>
          <p:cNvSpPr/>
          <p:nvPr/>
        </p:nvSpPr>
        <p:spPr>
          <a:xfrm>
            <a:off x="8410550" y="472292"/>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02</a:t>
            </a:r>
            <a:endParaRPr lang="en-US" sz="900" dirty="0">
              <a:latin typeface="MiSans" pitchFamily="2" charset="-122"/>
              <a:ea typeface="MiSans" pitchFamily="2" charset="-122"/>
            </a:endParaRPr>
          </a:p>
        </p:txBody>
      </p:sp>
      <p:sp>
        <p:nvSpPr>
          <p:cNvPr id="6" name="Text 2"/>
          <p:cNvSpPr/>
          <p:nvPr/>
        </p:nvSpPr>
        <p:spPr>
          <a:xfrm>
            <a:off x="8421973" y="932452"/>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7" name="Text 3"/>
          <p:cNvSpPr/>
          <p:nvPr/>
        </p:nvSpPr>
        <p:spPr>
          <a:xfrm>
            <a:off x="8410551" y="958181"/>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06</a:t>
            </a:r>
            <a:endParaRPr lang="en-US" sz="900" dirty="0">
              <a:latin typeface="MiSans" pitchFamily="2" charset="-122"/>
              <a:ea typeface="MiSans" pitchFamily="2" charset="-122"/>
            </a:endParaRPr>
          </a:p>
        </p:txBody>
      </p:sp>
      <p:sp>
        <p:nvSpPr>
          <p:cNvPr id="8" name="Text 4"/>
          <p:cNvSpPr/>
          <p:nvPr/>
        </p:nvSpPr>
        <p:spPr>
          <a:xfrm>
            <a:off x="8421973" y="1418513"/>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9" name="Text 5"/>
          <p:cNvSpPr/>
          <p:nvPr/>
        </p:nvSpPr>
        <p:spPr>
          <a:xfrm>
            <a:off x="8410551" y="1444242"/>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11</a:t>
            </a:r>
            <a:endParaRPr lang="en-US" sz="900" dirty="0">
              <a:latin typeface="MiSans" pitchFamily="2" charset="-122"/>
              <a:ea typeface="MiSans" pitchFamily="2" charset="-122"/>
            </a:endParaRPr>
          </a:p>
        </p:txBody>
      </p:sp>
      <p:sp>
        <p:nvSpPr>
          <p:cNvPr id="10" name="Text 6"/>
          <p:cNvSpPr/>
          <p:nvPr/>
        </p:nvSpPr>
        <p:spPr>
          <a:xfrm>
            <a:off x="8421973" y="1904574"/>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1" name="Text 7"/>
          <p:cNvSpPr/>
          <p:nvPr/>
        </p:nvSpPr>
        <p:spPr>
          <a:xfrm>
            <a:off x="8410551" y="1930302"/>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15</a:t>
            </a:r>
            <a:endParaRPr lang="en-US" sz="900" dirty="0">
              <a:latin typeface="MiSans" pitchFamily="2" charset="-122"/>
              <a:ea typeface="MiSans" pitchFamily="2" charset="-122"/>
            </a:endParaRPr>
          </a:p>
        </p:txBody>
      </p:sp>
      <p:sp>
        <p:nvSpPr>
          <p:cNvPr id="12" name="Text 8"/>
          <p:cNvSpPr/>
          <p:nvPr/>
        </p:nvSpPr>
        <p:spPr>
          <a:xfrm>
            <a:off x="8421973" y="239063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3" name="Text 9"/>
          <p:cNvSpPr/>
          <p:nvPr/>
        </p:nvSpPr>
        <p:spPr>
          <a:xfrm>
            <a:off x="8410551" y="2416363"/>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19</a:t>
            </a:r>
            <a:endParaRPr lang="en-US" sz="900" dirty="0">
              <a:latin typeface="MiSans" pitchFamily="2" charset="-122"/>
              <a:ea typeface="MiSans" pitchFamily="2" charset="-122"/>
            </a:endParaRPr>
          </a:p>
        </p:txBody>
      </p:sp>
      <p:sp>
        <p:nvSpPr>
          <p:cNvPr id="14" name="Text 10"/>
          <p:cNvSpPr/>
          <p:nvPr/>
        </p:nvSpPr>
        <p:spPr>
          <a:xfrm>
            <a:off x="8421973" y="2865894"/>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5" name="Text 11"/>
          <p:cNvSpPr/>
          <p:nvPr/>
        </p:nvSpPr>
        <p:spPr>
          <a:xfrm>
            <a:off x="8410551" y="2891623"/>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22</a:t>
            </a:r>
            <a:endParaRPr lang="en-US" sz="900" dirty="0">
              <a:latin typeface="MiSans" pitchFamily="2" charset="-122"/>
              <a:ea typeface="MiSans" pitchFamily="2" charset="-122"/>
            </a:endParaRPr>
          </a:p>
        </p:txBody>
      </p:sp>
      <p:sp>
        <p:nvSpPr>
          <p:cNvPr id="16" name="Text 12"/>
          <p:cNvSpPr/>
          <p:nvPr/>
        </p:nvSpPr>
        <p:spPr>
          <a:xfrm>
            <a:off x="8421973" y="335195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7" name="Text 13"/>
          <p:cNvSpPr/>
          <p:nvPr/>
        </p:nvSpPr>
        <p:spPr>
          <a:xfrm>
            <a:off x="8410551" y="3377683"/>
            <a:ext cx="365745"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25</a:t>
            </a:r>
            <a:endParaRPr lang="en-US" sz="900" dirty="0">
              <a:latin typeface="MiSans" pitchFamily="2" charset="-122"/>
              <a:ea typeface="MiSans" pitchFamily="2" charset="-122"/>
            </a:endParaRPr>
          </a:p>
        </p:txBody>
      </p:sp>
      <p:sp>
        <p:nvSpPr>
          <p:cNvPr id="18" name="Text 14"/>
          <p:cNvSpPr/>
          <p:nvPr/>
        </p:nvSpPr>
        <p:spPr>
          <a:xfrm>
            <a:off x="3075273" y="414193"/>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简介</a:t>
            </a:r>
            <a:endParaRPr lang="en-US" sz="1800" dirty="0">
              <a:latin typeface="MiSans Semibold" pitchFamily="2" charset="-122"/>
              <a:ea typeface="MiSans Semibold" pitchFamily="2" charset="-122"/>
            </a:endParaRPr>
          </a:p>
        </p:txBody>
      </p:sp>
      <p:sp>
        <p:nvSpPr>
          <p:cNvPr id="19" name="Text 15"/>
          <p:cNvSpPr/>
          <p:nvPr/>
        </p:nvSpPr>
        <p:spPr>
          <a:xfrm>
            <a:off x="3075273" y="789425"/>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0" name="Text 16"/>
          <p:cNvSpPr/>
          <p:nvPr/>
        </p:nvSpPr>
        <p:spPr>
          <a:xfrm>
            <a:off x="3075273" y="1275486"/>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1" name="Text 17"/>
          <p:cNvSpPr/>
          <p:nvPr/>
        </p:nvSpPr>
        <p:spPr>
          <a:xfrm>
            <a:off x="3075273" y="1761546"/>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2" name="Text 18"/>
          <p:cNvSpPr/>
          <p:nvPr/>
        </p:nvSpPr>
        <p:spPr>
          <a:xfrm>
            <a:off x="3075273" y="2247607"/>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3" name="Text 19"/>
          <p:cNvSpPr/>
          <p:nvPr/>
        </p:nvSpPr>
        <p:spPr>
          <a:xfrm>
            <a:off x="3075273" y="2723038"/>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4" name="Text 20"/>
          <p:cNvSpPr/>
          <p:nvPr/>
        </p:nvSpPr>
        <p:spPr>
          <a:xfrm>
            <a:off x="3075273" y="3208927"/>
            <a:ext cx="5689600" cy="9525"/>
          </a:xfrm>
          <a:prstGeom prst="roundRect">
            <a:avLst>
              <a:gd name="adj" fmla="val -9600000"/>
            </a:avLst>
          </a:prstGeom>
          <a:solidFill>
            <a:srgbClr val="070707">
              <a:alpha val="10000"/>
            </a:srgbClr>
          </a:solidFill>
          <a:ln/>
        </p:spPr>
        <p:txBody>
          <a:bodyPr wrap="square" lIns="316089" tIns="1124" rIns="316089" bIns="1124" rtlCol="0" anchor="ctr"/>
          <a:lstStyle/>
          <a:p>
            <a:pPr algn="ctr">
              <a:lnSpc>
                <a:spcPts val="1170"/>
              </a:lnSpc>
            </a:pPr>
            <a:endParaRPr lang="en-US" sz="900" dirty="0"/>
          </a:p>
        </p:txBody>
      </p:sp>
      <p:sp>
        <p:nvSpPr>
          <p:cNvPr id="25" name="Text 21"/>
          <p:cNvSpPr/>
          <p:nvPr/>
        </p:nvSpPr>
        <p:spPr>
          <a:xfrm>
            <a:off x="3075273" y="900082"/>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产品 + 解决方案</a:t>
            </a:r>
            <a:endParaRPr lang="en-US" sz="1800" dirty="0">
              <a:latin typeface="MiSans Semibold" pitchFamily="2" charset="-122"/>
              <a:ea typeface="MiSans Semibold" pitchFamily="2" charset="-122"/>
            </a:endParaRPr>
          </a:p>
        </p:txBody>
      </p:sp>
      <p:sp>
        <p:nvSpPr>
          <p:cNvPr id="26" name="Text 22"/>
          <p:cNvSpPr/>
          <p:nvPr/>
        </p:nvSpPr>
        <p:spPr>
          <a:xfrm>
            <a:off x="3075273" y="1386143"/>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商业模式 + 市场</a:t>
            </a:r>
            <a:endParaRPr lang="en-US" sz="1800" dirty="0">
              <a:latin typeface="MiSans Semibold" pitchFamily="2" charset="-122"/>
              <a:ea typeface="MiSans Semibold" pitchFamily="2" charset="-122"/>
            </a:endParaRPr>
          </a:p>
        </p:txBody>
      </p:sp>
      <p:sp>
        <p:nvSpPr>
          <p:cNvPr id="27" name="Text 23"/>
          <p:cNvSpPr/>
          <p:nvPr/>
        </p:nvSpPr>
        <p:spPr>
          <a:xfrm>
            <a:off x="3075273" y="1872204"/>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增长 + 验证</a:t>
            </a:r>
            <a:endParaRPr lang="en-US" sz="1800" dirty="0">
              <a:latin typeface="MiSans Semibold" pitchFamily="2" charset="-122"/>
              <a:ea typeface="MiSans Semibold" pitchFamily="2" charset="-122"/>
            </a:endParaRPr>
          </a:p>
        </p:txBody>
      </p:sp>
      <p:sp>
        <p:nvSpPr>
          <p:cNvPr id="28" name="Text 24"/>
          <p:cNvSpPr/>
          <p:nvPr/>
        </p:nvSpPr>
        <p:spPr>
          <a:xfrm>
            <a:off x="3075273" y="2358264"/>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竞争 + 策略</a:t>
            </a:r>
            <a:endParaRPr lang="en-US" sz="1800" dirty="0">
              <a:latin typeface="MiSans Semibold" pitchFamily="2" charset="-122"/>
              <a:ea typeface="MiSans Semibold" pitchFamily="2" charset="-122"/>
            </a:endParaRPr>
          </a:p>
        </p:txBody>
      </p:sp>
      <p:sp>
        <p:nvSpPr>
          <p:cNvPr id="29" name="Text 25"/>
          <p:cNvSpPr/>
          <p:nvPr/>
        </p:nvSpPr>
        <p:spPr>
          <a:xfrm>
            <a:off x="3075273" y="2833524"/>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财务 + 公司</a:t>
            </a:r>
            <a:endParaRPr lang="en-US" sz="1800" dirty="0">
              <a:latin typeface="MiSans Semibold" pitchFamily="2" charset="-122"/>
              <a:ea typeface="MiSans Semibold" pitchFamily="2" charset="-122"/>
            </a:endParaRPr>
          </a:p>
        </p:txBody>
      </p:sp>
      <p:sp>
        <p:nvSpPr>
          <p:cNvPr id="30" name="Text 26"/>
          <p:cNvSpPr/>
          <p:nvPr/>
        </p:nvSpPr>
        <p:spPr>
          <a:xfrm>
            <a:off x="3075273" y="3319585"/>
            <a:ext cx="4876800" cy="274290"/>
          </a:xfrm>
          <a:prstGeom prst="rect">
            <a:avLst/>
          </a:prstGeom>
          <a:noFill/>
          <a:ln/>
        </p:spPr>
        <p:txBody>
          <a:bodyPr wrap="square" lIns="0" tIns="0" rIns="0" bIns="0" rtlCol="0" anchor="ctr"/>
          <a:lstStyle/>
          <a:p>
            <a:pPr algn="l">
              <a:lnSpc>
                <a:spcPts val="2160"/>
              </a:lnSpc>
            </a:pPr>
            <a:r>
              <a:rPr lang="en-US" sz="1800" dirty="0">
                <a:solidFill>
                  <a:srgbClr val="070707"/>
                </a:solidFill>
                <a:latin typeface="MiSans Semibold" pitchFamily="2" charset="-122"/>
                <a:ea typeface="MiSans Semibold" pitchFamily="2" charset="-122"/>
                <a:cs typeface="Manrope" pitchFamily="34" charset="-120"/>
              </a:rPr>
              <a:t>融资</a:t>
            </a:r>
            <a:endParaRPr lang="en-US" sz="1800" dirty="0">
              <a:latin typeface="MiSans Semibold" pitchFamily="2" charset="-122"/>
              <a:ea typeface="MiSans Semibold"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213e7c20-d96d-4433-be11-fe9d94b8ec11?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9" y="487489"/>
            <a:ext cx="8610563" cy="1672972"/>
          </a:xfrm>
          <a:prstGeom prst="rect">
            <a:avLst/>
          </a:prstGeom>
          <a:noFill/>
          <a:ln/>
        </p:spPr>
        <p:txBody>
          <a:bodyPr wrap="square" lIns="0" tIns="0" rIns="0" bIns="0" rtlCol="0" anchor="t"/>
          <a:lstStyle/>
          <a:p>
            <a:pPr algn="ctr"/>
            <a:r>
              <a:rPr lang="en-US" sz="3200" kern="0" spc="-36" dirty="0" err="1">
                <a:solidFill>
                  <a:srgbClr val="070707"/>
                </a:solidFill>
                <a:latin typeface="MiSans Medium" pitchFamily="2" charset="-122"/>
                <a:ea typeface="MiSans Medium" pitchFamily="2" charset="-122"/>
                <a:cs typeface="Manrope" pitchFamily="34" charset="-120"/>
              </a:rPr>
              <a:t>从您的品牌标语开始为您接下来</a:t>
            </a:r>
            <a:endParaRPr lang="en-US" sz="3200" kern="0" spc="-36" dirty="0">
              <a:solidFill>
                <a:srgbClr val="070707"/>
              </a:solidFill>
              <a:latin typeface="MiSans Medium" pitchFamily="2" charset="-122"/>
              <a:ea typeface="MiSans Medium" pitchFamily="2" charset="-122"/>
              <a:cs typeface="Manrope" pitchFamily="34" charset="-120"/>
            </a:endParaRPr>
          </a:p>
          <a:p>
            <a:pPr algn="ctr"/>
            <a:r>
              <a:rPr lang="en-US" sz="3200" kern="0" spc="-36" dirty="0" err="1">
                <a:solidFill>
                  <a:srgbClr val="070707"/>
                </a:solidFill>
                <a:latin typeface="MiSans Medium" pitchFamily="2" charset="-122"/>
                <a:ea typeface="MiSans Medium" pitchFamily="2" charset="-122"/>
                <a:cs typeface="Manrope" pitchFamily="34" charset="-120"/>
              </a:rPr>
              <a:t>的演示建立上下文</a:t>
            </a:r>
            <a:endParaRPr lang="en-US" sz="3200" dirty="0">
              <a:latin typeface="MiSans Medium" pitchFamily="2" charset="-122"/>
              <a:ea typeface="MiSans Medium" pitchFamily="2" charset="-122"/>
            </a:endParaRPr>
          </a:p>
        </p:txBody>
      </p:sp>
      <p:pic>
        <p:nvPicPr>
          <p:cNvPr id="5" name="Image 1"/>
          <p:cNvPicPr>
            <a:picLocks noChangeAspect="1"/>
          </p:cNvPicPr>
          <p:nvPr/>
        </p:nvPicPr>
        <p:blipFill>
          <a:blip r:embed="rId4"/>
          <a:srcRect t="27343" b="27343"/>
          <a:stretch/>
        </p:blipFill>
        <p:spPr>
          <a:xfrm>
            <a:off x="2289327" y="2537555"/>
            <a:ext cx="4565326" cy="2228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0bd69306-0662-4c06-a0f6-6fa5c3b59e2f?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3186113" y="1747838"/>
            <a:ext cx="1152525" cy="366713"/>
          </a:xfrm>
          <a:prstGeom prst="roundRect">
            <a:avLst>
              <a:gd name="adj" fmla="val 50000"/>
            </a:avLst>
          </a:prstGeom>
          <a:solidFill>
            <a:srgbClr val="070707"/>
          </a:solidFill>
          <a:ln/>
        </p:spPr>
        <p:txBody>
          <a:bodyPr wrap="square" lIns="64029" tIns="43293" rIns="64029" bIns="43293" rtlCol="0" anchor="ctr"/>
          <a:lstStyle/>
          <a:p>
            <a:pPr algn="ctr">
              <a:lnSpc>
                <a:spcPts val="1170"/>
              </a:lnSpc>
            </a:pPr>
            <a:endParaRPr lang="en-US" sz="900" dirty="0"/>
          </a:p>
        </p:txBody>
      </p:sp>
      <p:sp>
        <p:nvSpPr>
          <p:cNvPr id="5" name="Text 1"/>
          <p:cNvSpPr/>
          <p:nvPr/>
        </p:nvSpPr>
        <p:spPr>
          <a:xfrm>
            <a:off x="3184085" y="1873522"/>
            <a:ext cx="1154534" cy="123825"/>
          </a:xfrm>
          <a:prstGeom prst="rect">
            <a:avLst/>
          </a:prstGeom>
          <a:noFill/>
          <a:ln/>
        </p:spPr>
        <p:txBody>
          <a:bodyPr wrap="square" lIns="0" tIns="0" rIns="0" bIns="0" rtlCol="0" anchor="t"/>
          <a:lstStyle/>
          <a:p>
            <a:pPr algn="ctr">
              <a:lnSpc>
                <a:spcPts val="975"/>
              </a:lnSpc>
            </a:pPr>
            <a:r>
              <a:rPr lang="en-US" sz="900" dirty="0">
                <a:solidFill>
                  <a:srgbClr val="FFFFFF"/>
                </a:solidFill>
                <a:latin typeface="MiSans" pitchFamily="2" charset="-122"/>
                <a:ea typeface="MiSans" pitchFamily="2" charset="-122"/>
                <a:cs typeface="Space Mono" pitchFamily="34" charset="-120"/>
              </a:rPr>
              <a:t>机遇</a:t>
            </a:r>
            <a:endParaRPr lang="en-US" sz="900" dirty="0">
              <a:latin typeface="MiSans" pitchFamily="2" charset="-122"/>
              <a:ea typeface="MiSans" pitchFamily="2" charset="-122"/>
            </a:endParaRPr>
          </a:p>
        </p:txBody>
      </p:sp>
      <p:sp>
        <p:nvSpPr>
          <p:cNvPr id="6" name="Text 2"/>
          <p:cNvSpPr/>
          <p:nvPr/>
        </p:nvSpPr>
        <p:spPr>
          <a:xfrm>
            <a:off x="3190875" y="266700"/>
            <a:ext cx="5691188" cy="1214438"/>
          </a:xfrm>
          <a:prstGeom prst="rect">
            <a:avLst/>
          </a:prstGeom>
          <a:noFill/>
          <a:ln/>
        </p:spPr>
        <p:txBody>
          <a:bodyPr wrap="square" lIns="0" tIns="0" rIns="0" bIns="0" rtlCol="0" anchor="t"/>
          <a:lstStyle/>
          <a:p>
            <a:pPr algn="l">
              <a:lnSpc>
                <a:spcPts val="2880"/>
              </a:lnSpc>
            </a:pPr>
            <a:r>
              <a:rPr lang="en-US" sz="2400" dirty="0">
                <a:solidFill>
                  <a:srgbClr val="070707"/>
                </a:solidFill>
                <a:latin typeface="MiSans Medium" pitchFamily="2" charset="-122"/>
                <a:ea typeface="MiSans Medium" pitchFamily="2" charset="-122"/>
                <a:cs typeface="Manrope" pitchFamily="34" charset="-120"/>
              </a:rPr>
              <a:t>定义您正在解决的问题， </a:t>
            </a:r>
            <a:endParaRPr lang="en-US" sz="2400" dirty="0">
              <a:latin typeface="MiSans Medium" pitchFamily="2" charset="-122"/>
              <a:ea typeface="MiSans Medium" pitchFamily="2" charset="-122"/>
            </a:endParaRPr>
          </a:p>
          <a:p>
            <a:pPr algn="l">
              <a:lnSpc>
                <a:spcPts val="2880"/>
              </a:lnSpc>
            </a:pPr>
            <a:r>
              <a:rPr lang="en-US" sz="2400" dirty="0">
                <a:solidFill>
                  <a:srgbClr val="070707"/>
                </a:solidFill>
                <a:latin typeface="MiSans Medium" pitchFamily="2" charset="-122"/>
                <a:ea typeface="MiSans Medium" pitchFamily="2" charset="-122"/>
                <a:cs typeface="Manrope" pitchFamily="34" charset="-120"/>
              </a:rPr>
              <a:t>保持简短精炼——最多几句话</a:t>
            </a:r>
            <a:endParaRPr lang="en-US" sz="2400" dirty="0">
              <a:latin typeface="MiSans Medium" pitchFamily="2" charset="-122"/>
              <a:ea typeface="MiSans Medium" pitchFamily="2" charset="-122"/>
            </a:endParaRPr>
          </a:p>
        </p:txBody>
      </p:sp>
      <p:pic>
        <p:nvPicPr>
          <p:cNvPr id="7" name="Image 1"/>
          <p:cNvPicPr>
            <a:picLocks noChangeAspect="1"/>
          </p:cNvPicPr>
          <p:nvPr/>
        </p:nvPicPr>
        <p:blipFill>
          <a:blip r:embed="rId4"/>
          <a:srcRect t="33540" b="33540"/>
          <a:stretch/>
        </p:blipFill>
        <p:spPr>
          <a:xfrm>
            <a:off x="3187700" y="3257550"/>
            <a:ext cx="2768600" cy="16192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bd2f061c-d8b6-4a0a-ba73-07bc240a7165?pitch-bytes=988652&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47950"/>
            <a:ext cx="2767013" cy="2228850"/>
          </a:xfrm>
          <a:prstGeom prst="roundRect">
            <a:avLst>
              <a:gd name="adj" fmla="val 3820"/>
            </a:avLst>
          </a:prstGeom>
          <a:solidFill>
            <a:srgbClr val="FFFFFF"/>
          </a:solidFill>
          <a:ln/>
        </p:spPr>
        <p:txBody>
          <a:bodyPr wrap="square" lIns="153723" tIns="263128" rIns="153723" bIns="263128" rtlCol="0" anchor="ctr"/>
          <a:lstStyle/>
          <a:p>
            <a:pPr algn="ctr">
              <a:lnSpc>
                <a:spcPts val="1170"/>
              </a:lnSpc>
            </a:pPr>
            <a:endParaRPr lang="en-US" sz="900" dirty="0"/>
          </a:p>
        </p:txBody>
      </p:sp>
      <p:sp>
        <p:nvSpPr>
          <p:cNvPr id="5" name="Text 1"/>
          <p:cNvSpPr/>
          <p:nvPr/>
        </p:nvSpPr>
        <p:spPr>
          <a:xfrm>
            <a:off x="3186113" y="2647950"/>
            <a:ext cx="2771775" cy="2228850"/>
          </a:xfrm>
          <a:prstGeom prst="roundRect">
            <a:avLst>
              <a:gd name="adj" fmla="val 3826"/>
            </a:avLst>
          </a:prstGeom>
          <a:solidFill>
            <a:srgbClr val="FFFFFF"/>
          </a:solidFill>
          <a:ln/>
        </p:spPr>
        <p:txBody>
          <a:bodyPr wrap="square" lIns="153988" tIns="263128" rIns="153988" bIns="263128" rtlCol="0" anchor="ctr"/>
          <a:lstStyle/>
          <a:p>
            <a:pPr algn="ctr">
              <a:lnSpc>
                <a:spcPts val="1170"/>
              </a:lnSpc>
            </a:pPr>
            <a:endParaRPr lang="en-US" sz="900" dirty="0"/>
          </a:p>
        </p:txBody>
      </p:sp>
      <p:sp>
        <p:nvSpPr>
          <p:cNvPr id="6" name="Text 2"/>
          <p:cNvSpPr/>
          <p:nvPr/>
        </p:nvSpPr>
        <p:spPr>
          <a:xfrm>
            <a:off x="6110288" y="2647950"/>
            <a:ext cx="2767013" cy="2228850"/>
          </a:xfrm>
          <a:prstGeom prst="roundRect">
            <a:avLst>
              <a:gd name="adj" fmla="val 3820"/>
            </a:avLst>
          </a:prstGeom>
          <a:solidFill>
            <a:srgbClr val="FFFFFF"/>
          </a:solidFill>
          <a:ln/>
        </p:spPr>
        <p:txBody>
          <a:bodyPr wrap="square" lIns="153723" tIns="263128" rIns="153723" bIns="263128" rtlCol="0" anchor="ctr"/>
          <a:lstStyle/>
          <a:p>
            <a:pPr algn="ctr">
              <a:lnSpc>
                <a:spcPts val="1170"/>
              </a:lnSpc>
            </a:pPr>
            <a:endParaRPr lang="en-US" sz="900" dirty="0"/>
          </a:p>
        </p:txBody>
      </p:sp>
      <p:sp>
        <p:nvSpPr>
          <p:cNvPr id="7" name="Text 3"/>
          <p:cNvSpPr/>
          <p:nvPr/>
        </p:nvSpPr>
        <p:spPr>
          <a:xfrm>
            <a:off x="419100" y="3447083"/>
            <a:ext cx="2457450" cy="857250"/>
          </a:xfrm>
          <a:prstGeom prst="rect">
            <a:avLst/>
          </a:prstGeom>
          <a:noFill/>
          <a:ln/>
        </p:spPr>
        <p:txBody>
          <a:bodyPr wrap="square" lIns="0" tIns="0" rIns="0" bIns="0" rtlCol="0" anchor="ctr"/>
          <a:lstStyle/>
          <a:p>
            <a:pPr algn="l">
              <a:lnSpc>
                <a:spcPts val="6750"/>
              </a:lnSpc>
            </a:pPr>
            <a:r>
              <a:rPr lang="en-US" sz="5400" kern="0" spc="-36" dirty="0">
                <a:solidFill>
                  <a:srgbClr val="070707"/>
                </a:solidFill>
                <a:latin typeface="MiSans Demibold" pitchFamily="2" charset="-122"/>
                <a:ea typeface="MiSans Demibold" pitchFamily="2" charset="-122"/>
                <a:cs typeface="Manrope" pitchFamily="34" charset="-120"/>
              </a:rPr>
              <a:t>93%</a:t>
            </a:r>
            <a:endParaRPr lang="en-US" sz="5400" dirty="0">
              <a:latin typeface="MiSans Demibold" pitchFamily="2" charset="-122"/>
              <a:ea typeface="MiSans Demibold" pitchFamily="2" charset="-122"/>
            </a:endParaRPr>
          </a:p>
        </p:txBody>
      </p:sp>
      <p:sp>
        <p:nvSpPr>
          <p:cNvPr id="8" name="Text 4"/>
          <p:cNvSpPr/>
          <p:nvPr/>
        </p:nvSpPr>
        <p:spPr>
          <a:xfrm>
            <a:off x="419100" y="4416326"/>
            <a:ext cx="2457450" cy="297135"/>
          </a:xfrm>
          <a:prstGeom prst="rect">
            <a:avLst/>
          </a:prstGeom>
          <a:noFill/>
          <a:ln/>
        </p:spPr>
        <p:txBody>
          <a:bodyPr wrap="square" lIns="0" tIns="0" rIns="0" bIns="0" rtlCol="0" anchor="b"/>
          <a:lstStyle/>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的人类 </a:t>
            </a:r>
            <a:endParaRPr lang="en-US" sz="900" dirty="0">
              <a:latin typeface="MiSans Normal" pitchFamily="2" charset="-122"/>
              <a:ea typeface="MiSans Normal" pitchFamily="2" charset="-122"/>
            </a:endParaRPr>
          </a:p>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面临此问题</a:t>
            </a:r>
            <a:endParaRPr lang="en-US" sz="900" dirty="0">
              <a:latin typeface="MiSans Normal" pitchFamily="2" charset="-122"/>
              <a:ea typeface="MiSans Normal" pitchFamily="2" charset="-122"/>
            </a:endParaRPr>
          </a:p>
        </p:txBody>
      </p:sp>
      <p:sp>
        <p:nvSpPr>
          <p:cNvPr id="9" name="Text 5"/>
          <p:cNvSpPr/>
          <p:nvPr/>
        </p:nvSpPr>
        <p:spPr>
          <a:xfrm>
            <a:off x="6262688" y="3447083"/>
            <a:ext cx="2457896" cy="857250"/>
          </a:xfrm>
          <a:prstGeom prst="rect">
            <a:avLst/>
          </a:prstGeom>
          <a:noFill/>
          <a:ln/>
        </p:spPr>
        <p:txBody>
          <a:bodyPr wrap="square" lIns="0" tIns="0" rIns="0" bIns="0" rtlCol="0" anchor="ctr"/>
          <a:lstStyle/>
          <a:p>
            <a:pPr algn="l">
              <a:lnSpc>
                <a:spcPts val="6750"/>
              </a:lnSpc>
            </a:pPr>
            <a:r>
              <a:rPr lang="en-US" sz="5400" kern="0" spc="-36" dirty="0">
                <a:solidFill>
                  <a:srgbClr val="070707"/>
                </a:solidFill>
                <a:latin typeface="MiSans Demibold" pitchFamily="2" charset="-122"/>
                <a:ea typeface="MiSans Demibold" pitchFamily="2" charset="-122"/>
                <a:cs typeface="Manrope" pitchFamily="34" charset="-120"/>
              </a:rPr>
              <a:t>¥17.3M</a:t>
            </a:r>
            <a:endParaRPr lang="en-US" sz="5400" dirty="0">
              <a:latin typeface="MiSans Demibold" pitchFamily="2" charset="-122"/>
              <a:ea typeface="MiSans Demibold" pitchFamily="2" charset="-122"/>
            </a:endParaRPr>
          </a:p>
        </p:txBody>
      </p:sp>
      <p:sp>
        <p:nvSpPr>
          <p:cNvPr id="10" name="Text 6"/>
          <p:cNvSpPr/>
          <p:nvPr/>
        </p:nvSpPr>
        <p:spPr>
          <a:xfrm>
            <a:off x="6262688" y="4416326"/>
            <a:ext cx="2457376" cy="297135"/>
          </a:xfrm>
          <a:prstGeom prst="rect">
            <a:avLst/>
          </a:prstGeom>
          <a:noFill/>
          <a:ln/>
        </p:spPr>
        <p:txBody>
          <a:bodyPr wrap="square" lIns="0" tIns="0" rIns="0" bIns="0" rtlCol="0" anchor="b"/>
          <a:lstStyle/>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自202</a:t>
            </a:r>
            <a:r>
              <a:rPr lang="en-US" altLang="zh-CN" sz="900" dirty="0">
                <a:solidFill>
                  <a:srgbClr val="070707">
                    <a:alpha val="40000"/>
                  </a:srgbClr>
                </a:solidFill>
                <a:latin typeface="MiSans Normal" pitchFamily="2" charset="-122"/>
                <a:ea typeface="MiSans Normal" pitchFamily="2" charset="-122"/>
                <a:cs typeface="Space Mono" pitchFamily="34" charset="-120"/>
              </a:rPr>
              <a:t>6</a:t>
            </a:r>
            <a:r>
              <a:rPr lang="en-US" sz="900" dirty="0">
                <a:solidFill>
                  <a:srgbClr val="070707">
                    <a:alpha val="40000"/>
                  </a:srgbClr>
                </a:solidFill>
                <a:latin typeface="MiSans Normal" pitchFamily="2" charset="-122"/>
                <a:ea typeface="MiSans Normal" pitchFamily="2" charset="-122"/>
                <a:cs typeface="Space Mono" pitchFamily="34" charset="-120"/>
              </a:rPr>
              <a:t>年以来 </a:t>
            </a:r>
            <a:endParaRPr lang="en-US" sz="900" dirty="0">
              <a:latin typeface="MiSans Normal" pitchFamily="2" charset="-122"/>
              <a:ea typeface="MiSans Normal" pitchFamily="2" charset="-122"/>
            </a:endParaRPr>
          </a:p>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预计经济损失</a:t>
            </a:r>
            <a:endParaRPr lang="en-US" sz="900" dirty="0">
              <a:latin typeface="MiSans Normal" pitchFamily="2" charset="-122"/>
              <a:ea typeface="MiSans Normal" pitchFamily="2" charset="-122"/>
            </a:endParaRPr>
          </a:p>
        </p:txBody>
      </p:sp>
      <p:sp>
        <p:nvSpPr>
          <p:cNvPr id="11" name="Text 7"/>
          <p:cNvSpPr/>
          <p:nvPr/>
        </p:nvSpPr>
        <p:spPr>
          <a:xfrm>
            <a:off x="3338513" y="3447083"/>
            <a:ext cx="2457450" cy="857250"/>
          </a:xfrm>
          <a:prstGeom prst="rect">
            <a:avLst/>
          </a:prstGeom>
          <a:noFill/>
          <a:ln/>
        </p:spPr>
        <p:txBody>
          <a:bodyPr wrap="square" lIns="0" tIns="0" rIns="0" bIns="0" rtlCol="0" anchor="ctr"/>
          <a:lstStyle/>
          <a:p>
            <a:pPr algn="l">
              <a:lnSpc>
                <a:spcPts val="6750"/>
              </a:lnSpc>
            </a:pPr>
            <a:r>
              <a:rPr lang="en-US" sz="5400" kern="0" spc="-36" dirty="0">
                <a:solidFill>
                  <a:srgbClr val="070707"/>
                </a:solidFill>
                <a:latin typeface="MiSans Demibold" pitchFamily="2" charset="-122"/>
                <a:ea typeface="MiSans Demibold" pitchFamily="2" charset="-122"/>
                <a:cs typeface="Manrope" pitchFamily="34" charset="-120"/>
              </a:rPr>
              <a:t>47%</a:t>
            </a:r>
            <a:endParaRPr lang="en-US" sz="5400" dirty="0">
              <a:latin typeface="MiSans Demibold" pitchFamily="2" charset="-122"/>
              <a:ea typeface="MiSans Demibold" pitchFamily="2" charset="-122"/>
            </a:endParaRPr>
          </a:p>
        </p:txBody>
      </p:sp>
      <p:sp>
        <p:nvSpPr>
          <p:cNvPr id="12" name="Text 8"/>
          <p:cNvSpPr/>
          <p:nvPr/>
        </p:nvSpPr>
        <p:spPr>
          <a:xfrm>
            <a:off x="3338513" y="4416326"/>
            <a:ext cx="2457450" cy="297135"/>
          </a:xfrm>
          <a:prstGeom prst="rect">
            <a:avLst/>
          </a:prstGeom>
          <a:noFill/>
          <a:ln/>
        </p:spPr>
        <p:txBody>
          <a:bodyPr wrap="square" lIns="0" tIns="0" rIns="0" bIns="0" rtlCol="0" anchor="b"/>
          <a:lstStyle/>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正在积极寻找 </a:t>
            </a:r>
            <a:endParaRPr lang="en-US" sz="900" dirty="0">
              <a:latin typeface="MiSans Normal" pitchFamily="2" charset="-122"/>
              <a:ea typeface="MiSans Normal" pitchFamily="2" charset="-122"/>
            </a:endParaRPr>
          </a:p>
          <a:p>
            <a:pPr algn="l">
              <a:lnSpc>
                <a:spcPts val="1170"/>
              </a:lnSpc>
            </a:pPr>
            <a:r>
              <a:rPr lang="en-US" sz="900" dirty="0">
                <a:solidFill>
                  <a:srgbClr val="070707">
                    <a:alpha val="40000"/>
                  </a:srgbClr>
                </a:solidFill>
                <a:latin typeface="MiSans Normal" pitchFamily="2" charset="-122"/>
                <a:ea typeface="MiSans Normal" pitchFamily="2" charset="-122"/>
                <a:cs typeface="Space Mono" pitchFamily="34" charset="-120"/>
              </a:rPr>
              <a:t>解决方案</a:t>
            </a:r>
            <a:endParaRPr lang="en-US" sz="900" dirty="0">
              <a:latin typeface="MiSans Normal" pitchFamily="2" charset="-122"/>
              <a:ea typeface="MiSans Normal" pitchFamily="2" charset="-122"/>
            </a:endParaRPr>
          </a:p>
        </p:txBody>
      </p:sp>
      <p:sp>
        <p:nvSpPr>
          <p:cNvPr id="13" name="Text 9"/>
          <p:cNvSpPr/>
          <p:nvPr/>
        </p:nvSpPr>
        <p:spPr>
          <a:xfrm>
            <a:off x="419100" y="2800350"/>
            <a:ext cx="2457450"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Normal" pitchFamily="2" charset="-122"/>
                <a:ea typeface="MiSans Normal" pitchFamily="2" charset="-122"/>
                <a:cs typeface="Space Mono" pitchFamily="34" charset="-120"/>
              </a:rPr>
              <a:t>规模</a:t>
            </a:r>
            <a:endParaRPr lang="en-US" sz="900" dirty="0">
              <a:latin typeface="MiSans Normal" pitchFamily="2" charset="-122"/>
              <a:ea typeface="MiSans Normal" pitchFamily="2" charset="-122"/>
            </a:endParaRPr>
          </a:p>
        </p:txBody>
      </p:sp>
      <p:sp>
        <p:nvSpPr>
          <p:cNvPr id="14" name="Text 10"/>
          <p:cNvSpPr/>
          <p:nvPr/>
        </p:nvSpPr>
        <p:spPr>
          <a:xfrm>
            <a:off x="3338513" y="2800350"/>
            <a:ext cx="2457450"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Normal" pitchFamily="2" charset="-122"/>
                <a:ea typeface="MiSans Normal" pitchFamily="2" charset="-122"/>
                <a:cs typeface="Space Mono" pitchFamily="34" charset="-120"/>
              </a:rPr>
              <a:t>痛点程度</a:t>
            </a:r>
            <a:endParaRPr lang="en-US" sz="900" dirty="0">
              <a:latin typeface="MiSans Normal" pitchFamily="2" charset="-122"/>
              <a:ea typeface="MiSans Normal" pitchFamily="2" charset="-122"/>
            </a:endParaRPr>
          </a:p>
        </p:txBody>
      </p:sp>
      <p:sp>
        <p:nvSpPr>
          <p:cNvPr id="15" name="Text 11"/>
          <p:cNvSpPr/>
          <p:nvPr/>
        </p:nvSpPr>
        <p:spPr>
          <a:xfrm>
            <a:off x="6262688" y="2800350"/>
            <a:ext cx="2457450"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Normal" pitchFamily="2" charset="-122"/>
                <a:ea typeface="MiSans Normal" pitchFamily="2" charset="-122"/>
                <a:cs typeface="Space Mono" pitchFamily="34" charset="-120"/>
              </a:rPr>
              <a:t>机遇</a:t>
            </a:r>
            <a:endParaRPr lang="en-US" sz="900" dirty="0">
              <a:latin typeface="MiSans Normal" pitchFamily="2" charset="-122"/>
              <a:ea typeface="MiSans Normal" pitchFamily="2" charset="-122"/>
            </a:endParaRPr>
          </a:p>
        </p:txBody>
      </p:sp>
      <p:sp>
        <p:nvSpPr>
          <p:cNvPr id="16" name="Text 12"/>
          <p:cNvSpPr/>
          <p:nvPr/>
        </p:nvSpPr>
        <p:spPr>
          <a:xfrm>
            <a:off x="266700" y="266700"/>
            <a:ext cx="5691188" cy="1440135"/>
          </a:xfrm>
          <a:prstGeom prst="rect">
            <a:avLst/>
          </a:prstGeom>
          <a:noFill/>
          <a:ln/>
        </p:spPr>
        <p:txBody>
          <a:bodyPr wrap="square" lIns="0" tIns="0" rIns="0" bIns="0" rtlCol="0" anchor="t"/>
          <a:lstStyle/>
          <a:p>
            <a:pPr algn="l"/>
            <a:r>
              <a:rPr lang="en-US" sz="3200" kern="0" spc="-36" dirty="0">
                <a:solidFill>
                  <a:srgbClr val="FFFFFF"/>
                </a:solidFill>
                <a:latin typeface="MiSans Medium" pitchFamily="2" charset="-122"/>
                <a:ea typeface="MiSans Medium" pitchFamily="2" charset="-122"/>
                <a:cs typeface="Manrope" pitchFamily="34" charset="-120"/>
              </a:rPr>
              <a:t>描述该问题 </a:t>
            </a:r>
            <a:endParaRPr lang="en-US" sz="3200" dirty="0">
              <a:latin typeface="MiSans Medium" pitchFamily="2" charset="-122"/>
              <a:ea typeface="MiSans Medium" pitchFamily="2" charset="-122"/>
            </a:endParaRPr>
          </a:p>
          <a:p>
            <a:pPr algn="l"/>
            <a:r>
              <a:rPr lang="en-US" sz="3200" kern="0" spc="-36" dirty="0">
                <a:solidFill>
                  <a:srgbClr val="FFFFFF"/>
                </a:solidFill>
                <a:latin typeface="MiSans Medium" pitchFamily="2" charset="-122"/>
                <a:ea typeface="MiSans Medium" pitchFamily="2" charset="-122"/>
                <a:cs typeface="Manrope" pitchFamily="34" charset="-120"/>
              </a:rPr>
              <a:t>对人们生活 </a:t>
            </a:r>
            <a:endParaRPr lang="en-US" sz="3200" dirty="0">
              <a:latin typeface="MiSans Medium" pitchFamily="2" charset="-122"/>
              <a:ea typeface="MiSans Medium" pitchFamily="2" charset="-122"/>
            </a:endParaRPr>
          </a:p>
          <a:p>
            <a:pPr algn="l"/>
            <a:r>
              <a:rPr lang="en-US" sz="3200" kern="0" spc="-36" dirty="0">
                <a:solidFill>
                  <a:srgbClr val="FFFFFF"/>
                </a:solidFill>
                <a:latin typeface="MiSans Medium" pitchFamily="2" charset="-122"/>
                <a:ea typeface="MiSans Medium" pitchFamily="2" charset="-122"/>
                <a:cs typeface="Manrope" pitchFamily="34" charset="-120"/>
              </a:rPr>
              <a:t>造成的影响</a:t>
            </a:r>
            <a:endParaRPr lang="en-US" sz="3200" dirty="0">
              <a:latin typeface="MiSans Medium" pitchFamily="2" charset="-122"/>
              <a:ea typeface="MiSans Medium" pitchFamily="2"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af46f989-5b96-4be1-b2d2-ec50881327db?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1714500" y="332013"/>
            <a:ext cx="5715000" cy="1006929"/>
          </a:xfrm>
          <a:prstGeom prst="rect">
            <a:avLst/>
          </a:prstGeom>
          <a:noFill/>
          <a:ln/>
        </p:spPr>
        <p:txBody>
          <a:bodyPr wrap="square" lIns="0" tIns="0" rIns="0" bIns="0" rtlCol="0" anchor="t"/>
          <a:lstStyle/>
          <a:p>
            <a:pPr algn="ctr"/>
            <a:r>
              <a:rPr lang="en-US" sz="2400" dirty="0">
                <a:solidFill>
                  <a:srgbClr val="070707"/>
                </a:solidFill>
                <a:latin typeface="MiSans Demibold" pitchFamily="2" charset="-122"/>
                <a:ea typeface="MiSans Demibold" pitchFamily="2" charset="-122"/>
                <a:cs typeface="Manrope" pitchFamily="34" charset="-120"/>
              </a:rPr>
              <a:t>用一句简单的话解释您的解决方案</a:t>
            </a:r>
            <a:endParaRPr lang="en-US" sz="2400" dirty="0">
              <a:latin typeface="MiSans Demibold" pitchFamily="2" charset="-122"/>
              <a:ea typeface="MiSans Demibold" pitchFamily="2" charset="-122"/>
            </a:endParaRPr>
          </a:p>
        </p:txBody>
      </p:sp>
      <p:pic>
        <p:nvPicPr>
          <p:cNvPr id="5" name="Image 1"/>
          <p:cNvPicPr>
            <a:picLocks noChangeAspect="1"/>
          </p:cNvPicPr>
          <p:nvPr/>
        </p:nvPicPr>
        <p:blipFill>
          <a:blip r:embed="rId4"/>
          <a:srcRect/>
          <a:stretch/>
        </p:blipFill>
        <p:spPr>
          <a:xfrm>
            <a:off x="246956" y="1759958"/>
            <a:ext cx="8663438" cy="31146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2836d0d-1910-451f-a86b-26e0a4c5ee06?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47950"/>
            <a:ext cx="4229100" cy="2228850"/>
          </a:xfrm>
          <a:prstGeom prst="roundRect">
            <a:avLst>
              <a:gd name="adj" fmla="val 5470"/>
            </a:avLst>
          </a:prstGeom>
          <a:solidFill>
            <a:srgbClr val="FFFFFF"/>
          </a:solidFill>
          <a:ln/>
        </p:spPr>
        <p:txBody>
          <a:bodyPr wrap="square" lIns="234950" tIns="263128" rIns="234950" bIns="263128" rtlCol="0" anchor="ctr"/>
          <a:lstStyle/>
          <a:p>
            <a:pPr algn="ctr">
              <a:lnSpc>
                <a:spcPts val="1170"/>
              </a:lnSpc>
            </a:pPr>
            <a:endParaRPr lang="en-US" sz="900" dirty="0"/>
          </a:p>
        </p:txBody>
      </p:sp>
      <p:sp>
        <p:nvSpPr>
          <p:cNvPr id="5" name="Text 1"/>
          <p:cNvSpPr/>
          <p:nvPr/>
        </p:nvSpPr>
        <p:spPr>
          <a:xfrm>
            <a:off x="4648200" y="2647950"/>
            <a:ext cx="4229100" cy="2228850"/>
          </a:xfrm>
          <a:prstGeom prst="roundRect">
            <a:avLst>
              <a:gd name="adj" fmla="val 5470"/>
            </a:avLst>
          </a:prstGeom>
          <a:solidFill>
            <a:srgbClr val="FFFFFF"/>
          </a:solidFill>
          <a:ln/>
        </p:spPr>
        <p:txBody>
          <a:bodyPr wrap="square" lIns="234950" tIns="263128" rIns="234950" bIns="263128" rtlCol="0" anchor="ctr"/>
          <a:lstStyle/>
          <a:p>
            <a:pPr algn="ctr">
              <a:lnSpc>
                <a:spcPts val="1170"/>
              </a:lnSpc>
            </a:pPr>
            <a:endParaRPr lang="en-US" sz="900" dirty="0"/>
          </a:p>
        </p:txBody>
      </p:sp>
      <p:sp>
        <p:nvSpPr>
          <p:cNvPr id="6" name="Text 2"/>
          <p:cNvSpPr/>
          <p:nvPr/>
        </p:nvSpPr>
        <p:spPr>
          <a:xfrm>
            <a:off x="266700" y="266699"/>
            <a:ext cx="5925094" cy="1594757"/>
          </a:xfrm>
          <a:prstGeom prst="rect">
            <a:avLst/>
          </a:prstGeom>
          <a:noFill/>
          <a:ln/>
        </p:spPr>
        <p:txBody>
          <a:bodyPr wrap="square" lIns="0" tIns="0" rIns="0" bIns="0" rtlCol="0" anchor="t"/>
          <a:lstStyle/>
          <a:p>
            <a:pPr algn="l"/>
            <a:r>
              <a:rPr lang="en-US" sz="3200" kern="0" spc="-36" dirty="0" err="1">
                <a:solidFill>
                  <a:srgbClr val="070707"/>
                </a:solidFill>
                <a:latin typeface="MiSans Demibold" pitchFamily="2" charset="-122"/>
                <a:ea typeface="MiSans Demibold" pitchFamily="2" charset="-122"/>
                <a:cs typeface="Manrope" pitchFamily="34" charset="-120"/>
              </a:rPr>
              <a:t>更好的方式是让产品评价</a:t>
            </a:r>
            <a:endParaRPr lang="en-US" sz="3200" kern="0" spc="-36" dirty="0">
              <a:solidFill>
                <a:srgbClr val="070707"/>
              </a:solidFill>
              <a:latin typeface="MiSans Demibold" pitchFamily="2" charset="-122"/>
              <a:ea typeface="MiSans Demibold" pitchFamily="2" charset="-122"/>
              <a:cs typeface="Manrope" pitchFamily="34" charset="-120"/>
            </a:endParaRPr>
          </a:p>
          <a:p>
            <a:pPr algn="l"/>
            <a:r>
              <a:rPr lang="en-US" sz="3200" kern="0" spc="-36" dirty="0" err="1">
                <a:solidFill>
                  <a:srgbClr val="070707"/>
                </a:solidFill>
                <a:latin typeface="MiSans Demibold" pitchFamily="2" charset="-122"/>
                <a:ea typeface="MiSans Demibold" pitchFamily="2" charset="-122"/>
                <a:cs typeface="Manrope" pitchFamily="34" charset="-120"/>
              </a:rPr>
              <a:t>为您代言</a:t>
            </a:r>
            <a:endParaRPr lang="en-US" sz="3200" dirty="0">
              <a:latin typeface="MiSans Demibold" pitchFamily="2" charset="-122"/>
              <a:ea typeface="MiSans Demibold" pitchFamily="2" charset="-122"/>
            </a:endParaRPr>
          </a:p>
        </p:txBody>
      </p:sp>
      <p:sp>
        <p:nvSpPr>
          <p:cNvPr id="7" name="Text 3"/>
          <p:cNvSpPr/>
          <p:nvPr/>
        </p:nvSpPr>
        <p:spPr>
          <a:xfrm>
            <a:off x="495300" y="3631474"/>
            <a:ext cx="3818892" cy="1050325"/>
          </a:xfrm>
          <a:prstGeom prst="rect">
            <a:avLst/>
          </a:prstGeom>
          <a:noFill/>
          <a:ln/>
        </p:spPr>
        <p:txBody>
          <a:bodyPr wrap="square" lIns="0" tIns="0" rIns="0" bIns="0" rtlCol="0" anchor="b"/>
          <a:lstStyle/>
          <a:p>
            <a:pPr algn="l">
              <a:lnSpc>
                <a:spcPts val="1170"/>
              </a:lnSpc>
            </a:pPr>
            <a:r>
              <a:rPr lang="en-US" sz="900" dirty="0" err="1">
                <a:solidFill>
                  <a:srgbClr val="070707"/>
                </a:solidFill>
                <a:latin typeface="MiSans Light" pitchFamily="2" charset="-122"/>
                <a:ea typeface="MiSans Light" pitchFamily="2" charset="-122"/>
                <a:cs typeface="Space Mono" pitchFamily="34" charset="-120"/>
              </a:rPr>
              <a:t>这是一种经济、可持续的方式，让您在需要时得到想要的东西。快速且高效</a:t>
            </a:r>
            <a:endParaRPr lang="en-US" sz="900" dirty="0">
              <a:latin typeface="MiSans Light" pitchFamily="2" charset="-122"/>
              <a:ea typeface="MiSans Light" pitchFamily="2" charset="-122"/>
            </a:endParaRPr>
          </a:p>
        </p:txBody>
      </p:sp>
      <p:sp>
        <p:nvSpPr>
          <p:cNvPr id="8" name="Text 4"/>
          <p:cNvSpPr/>
          <p:nvPr/>
        </p:nvSpPr>
        <p:spPr>
          <a:xfrm>
            <a:off x="4876495" y="3631474"/>
            <a:ext cx="3819525" cy="1050325"/>
          </a:xfrm>
          <a:prstGeom prst="rect">
            <a:avLst/>
          </a:prstGeom>
          <a:noFill/>
          <a:ln/>
        </p:spPr>
        <p:txBody>
          <a:bodyPr wrap="square" lIns="0" tIns="0" rIns="0" bIns="0" rtlCol="0" anchor="b"/>
          <a:lstStyle/>
          <a:p>
            <a:pPr algn="l">
              <a:lnSpc>
                <a:spcPts val="1170"/>
              </a:lnSpc>
            </a:pPr>
            <a:r>
              <a:rPr lang="en-US" sz="900" dirty="0" err="1">
                <a:solidFill>
                  <a:srgbClr val="070707"/>
                </a:solidFill>
                <a:latin typeface="MiSans Light" pitchFamily="2" charset="-122"/>
                <a:ea typeface="MiSans Light" pitchFamily="2" charset="-122"/>
                <a:cs typeface="Space Mono" pitchFamily="34" charset="-120"/>
              </a:rPr>
              <a:t>它在一个方案中解决了两个全球性问题</a:t>
            </a:r>
            <a:r>
              <a:rPr lang="en-US" sz="900" dirty="0">
                <a:solidFill>
                  <a:srgbClr val="070707"/>
                </a:solidFill>
                <a:latin typeface="MiSans Light" pitchFamily="2" charset="-122"/>
                <a:ea typeface="MiSans Light" pitchFamily="2" charset="-122"/>
                <a:cs typeface="Space Mono" pitchFamily="34" charset="-120"/>
              </a:rPr>
              <a:t>——</a:t>
            </a:r>
            <a:r>
              <a:rPr lang="en-US" sz="900" dirty="0" err="1">
                <a:solidFill>
                  <a:srgbClr val="070707"/>
                </a:solidFill>
                <a:latin typeface="MiSans Light" pitchFamily="2" charset="-122"/>
                <a:ea typeface="MiSans Light" pitchFamily="2" charset="-122"/>
                <a:cs typeface="Space Mono" pitchFamily="34" charset="-120"/>
              </a:rPr>
              <a:t>物价上涨和环境影响</a:t>
            </a:r>
            <a:r>
              <a:rPr lang="en-US" sz="900" dirty="0">
                <a:solidFill>
                  <a:srgbClr val="070707"/>
                </a:solidFill>
                <a:latin typeface="MiSans Light" pitchFamily="2" charset="-122"/>
                <a:ea typeface="MiSans Light" pitchFamily="2" charset="-122"/>
                <a:cs typeface="Space Mono" pitchFamily="34" charset="-120"/>
              </a:rPr>
              <a:t>。</a:t>
            </a:r>
            <a:endParaRPr lang="en-US" sz="900" dirty="0">
              <a:latin typeface="MiSans Light" pitchFamily="2" charset="-122"/>
              <a:ea typeface="MiSans Light" pitchFamily="2" charset="-122"/>
            </a:endParaRPr>
          </a:p>
        </p:txBody>
      </p:sp>
      <p:pic>
        <p:nvPicPr>
          <p:cNvPr id="9" name="Image 1" descr="https://pitch-assets-ccb95893-de3f-4266-973c-20049231b248.s3.eu-west-1.amazonaws.com/11fe1be8-12b2-433f-a040-8610cd7d4513?pitch-bytes=24186&amp;pitch-content-type=image%2Fpng"/>
          <p:cNvPicPr>
            <a:picLocks noChangeAspect="1"/>
          </p:cNvPicPr>
          <p:nvPr/>
        </p:nvPicPr>
        <p:blipFill>
          <a:blip r:embed="rId4"/>
          <a:srcRect/>
          <a:stretch/>
        </p:blipFill>
        <p:spPr>
          <a:xfrm>
            <a:off x="4876495" y="2876550"/>
            <a:ext cx="381000" cy="381000"/>
          </a:xfrm>
          <a:prstGeom prst="rect">
            <a:avLst/>
          </a:prstGeom>
        </p:spPr>
      </p:pic>
      <p:pic>
        <p:nvPicPr>
          <p:cNvPr id="10" name="Image 2" descr="https://pitch-assets-ccb95893-de3f-4266-973c-20049231b248.s3.eu-west-1.amazonaws.com/ea5a5836-2913-469e-922c-03798d17d1ea?pitch-bytes=24186&amp;pitch-content-type=image%2Fpng"/>
          <p:cNvPicPr>
            <a:picLocks noChangeAspect="1"/>
          </p:cNvPicPr>
          <p:nvPr/>
        </p:nvPicPr>
        <p:blipFill>
          <a:blip r:embed="rId4"/>
          <a:srcRect/>
          <a:stretch/>
        </p:blipFill>
        <p:spPr>
          <a:xfrm>
            <a:off x="495300" y="2876550"/>
            <a:ext cx="381000" cy="381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2836d0d-1910-451f-a86b-26e0a4c5ee06?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286000"/>
            <a:ext cx="2768600" cy="2590800"/>
          </a:xfrm>
          <a:prstGeom prst="roundRect">
            <a:avLst>
              <a:gd name="adj" fmla="val 2829"/>
            </a:avLst>
          </a:prstGeom>
          <a:solidFill>
            <a:srgbClr val="FFFFFF"/>
          </a:solidFill>
          <a:ln/>
        </p:spPr>
        <p:txBody>
          <a:bodyPr wrap="square" lIns="153811" tIns="305858" rIns="153811" bIns="305858" rtlCol="0" anchor="ctr"/>
          <a:lstStyle/>
          <a:p>
            <a:pPr algn="ctr">
              <a:lnSpc>
                <a:spcPts val="1170"/>
              </a:lnSpc>
            </a:pPr>
            <a:endParaRPr lang="en-US" sz="900" dirty="0"/>
          </a:p>
        </p:txBody>
      </p:sp>
      <p:sp>
        <p:nvSpPr>
          <p:cNvPr id="5" name="Text 1"/>
          <p:cNvSpPr/>
          <p:nvPr/>
        </p:nvSpPr>
        <p:spPr>
          <a:xfrm>
            <a:off x="3187701" y="2286000"/>
            <a:ext cx="2768600" cy="2590800"/>
          </a:xfrm>
          <a:prstGeom prst="roundRect">
            <a:avLst>
              <a:gd name="adj" fmla="val 2829"/>
            </a:avLst>
          </a:prstGeom>
          <a:solidFill>
            <a:srgbClr val="FFFFFF"/>
          </a:solidFill>
          <a:ln/>
        </p:spPr>
        <p:txBody>
          <a:bodyPr wrap="square" lIns="153811" tIns="305858" rIns="153811" bIns="305858" rtlCol="0" anchor="ctr"/>
          <a:lstStyle/>
          <a:p>
            <a:pPr algn="ctr">
              <a:lnSpc>
                <a:spcPts val="1170"/>
              </a:lnSpc>
            </a:pPr>
            <a:endParaRPr lang="en-US" sz="900" dirty="0"/>
          </a:p>
        </p:txBody>
      </p:sp>
      <p:sp>
        <p:nvSpPr>
          <p:cNvPr id="6" name="Text 2"/>
          <p:cNvSpPr/>
          <p:nvPr/>
        </p:nvSpPr>
        <p:spPr>
          <a:xfrm>
            <a:off x="6108702" y="2286000"/>
            <a:ext cx="2768600" cy="2590800"/>
          </a:xfrm>
          <a:prstGeom prst="roundRect">
            <a:avLst>
              <a:gd name="adj" fmla="val 2829"/>
            </a:avLst>
          </a:prstGeom>
          <a:solidFill>
            <a:srgbClr val="FFFFFF"/>
          </a:solidFill>
          <a:ln/>
        </p:spPr>
        <p:txBody>
          <a:bodyPr wrap="square" lIns="153811" tIns="305858" rIns="153811" bIns="305858" rtlCol="0" anchor="ctr"/>
          <a:lstStyle/>
          <a:p>
            <a:pPr algn="ctr">
              <a:lnSpc>
                <a:spcPts val="1170"/>
              </a:lnSpc>
            </a:pPr>
            <a:endParaRPr lang="en-US" sz="900" dirty="0"/>
          </a:p>
        </p:txBody>
      </p:sp>
      <p:sp>
        <p:nvSpPr>
          <p:cNvPr id="7" name="Text 3"/>
          <p:cNvSpPr/>
          <p:nvPr/>
        </p:nvSpPr>
        <p:spPr>
          <a:xfrm>
            <a:off x="266700" y="266700"/>
            <a:ext cx="5691188" cy="960090"/>
          </a:xfrm>
          <a:prstGeom prst="rect">
            <a:avLst/>
          </a:prstGeom>
          <a:noFill/>
          <a:ln/>
        </p:spPr>
        <p:txBody>
          <a:bodyPr wrap="square" lIns="0" tIns="0" rIns="0" bIns="0" rtlCol="0" anchor="t"/>
          <a:lstStyle/>
          <a:p>
            <a:pPr algn="l">
              <a:lnSpc>
                <a:spcPts val="3780"/>
              </a:lnSpc>
            </a:pPr>
            <a:r>
              <a:rPr lang="en-US" sz="3200" kern="0" spc="-36" dirty="0" err="1">
                <a:solidFill>
                  <a:srgbClr val="070707"/>
                </a:solidFill>
                <a:latin typeface="MiSans Demibold" pitchFamily="2" charset="-122"/>
                <a:ea typeface="MiSans Demibold" pitchFamily="2" charset="-122"/>
              </a:rPr>
              <a:t>更好的方式是让产品评价</a:t>
            </a:r>
            <a:endParaRPr lang="en-US" sz="3200" kern="0" spc="-36" dirty="0">
              <a:solidFill>
                <a:srgbClr val="070707"/>
              </a:solidFill>
              <a:latin typeface="MiSans Demibold" pitchFamily="2" charset="-122"/>
              <a:ea typeface="MiSans Demibold" pitchFamily="2" charset="-122"/>
            </a:endParaRPr>
          </a:p>
          <a:p>
            <a:pPr algn="l">
              <a:lnSpc>
                <a:spcPts val="3780"/>
              </a:lnSpc>
            </a:pPr>
            <a:r>
              <a:rPr lang="en-US" sz="3200" kern="0" spc="-36" dirty="0" err="1">
                <a:solidFill>
                  <a:srgbClr val="070707"/>
                </a:solidFill>
                <a:latin typeface="MiSans Demibold" pitchFamily="2" charset="-122"/>
                <a:ea typeface="MiSans Demibold" pitchFamily="2" charset="-122"/>
              </a:rPr>
              <a:t>为您代言</a:t>
            </a:r>
            <a:endParaRPr lang="en-US" sz="3200" kern="0" spc="-36" dirty="0">
              <a:solidFill>
                <a:srgbClr val="070707"/>
              </a:solidFill>
              <a:latin typeface="MiSans Demibold" pitchFamily="2" charset="-122"/>
              <a:ea typeface="MiSans Demibold" pitchFamily="2" charset="-122"/>
            </a:endParaRPr>
          </a:p>
        </p:txBody>
      </p:sp>
      <p:sp>
        <p:nvSpPr>
          <p:cNvPr id="8" name="Text 4"/>
          <p:cNvSpPr/>
          <p:nvPr/>
        </p:nvSpPr>
        <p:spPr>
          <a:xfrm>
            <a:off x="495300" y="3559406"/>
            <a:ext cx="2314575" cy="1102859"/>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Light" pitchFamily="2" charset="-122"/>
                <a:ea typeface="MiSans Light" pitchFamily="2" charset="-122"/>
                <a:cs typeface="Space Mono" pitchFamily="34" charset="-120"/>
              </a:rPr>
              <a:t>“这是一种经济、可持续的方式，让您在需要时得到想要的东西。快速且高效”</a:t>
            </a:r>
            <a:endParaRPr lang="en-US" sz="900" dirty="0">
              <a:latin typeface="MiSans Light" pitchFamily="2" charset="-122"/>
              <a:ea typeface="MiSans Light" pitchFamily="2" charset="-122"/>
            </a:endParaRPr>
          </a:p>
        </p:txBody>
      </p:sp>
      <p:sp>
        <p:nvSpPr>
          <p:cNvPr id="9" name="Text 5"/>
          <p:cNvSpPr/>
          <p:nvPr/>
        </p:nvSpPr>
        <p:spPr>
          <a:xfrm>
            <a:off x="3416303" y="3559629"/>
            <a:ext cx="2314575" cy="1102859"/>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Light" pitchFamily="2" charset="-122"/>
                <a:ea typeface="MiSans Light" pitchFamily="2" charset="-122"/>
                <a:cs typeface="Space Mono" pitchFamily="34" charset="-120"/>
              </a:rPr>
              <a:t>“它在一个方案中解决了两个全球性问题——物价上涨和环境影响。”</a:t>
            </a:r>
            <a:endParaRPr lang="en-US" sz="900" dirty="0">
              <a:latin typeface="MiSans Light" pitchFamily="2" charset="-122"/>
              <a:ea typeface="MiSans Light" pitchFamily="2" charset="-122"/>
            </a:endParaRPr>
          </a:p>
        </p:txBody>
      </p:sp>
      <p:sp>
        <p:nvSpPr>
          <p:cNvPr id="10" name="Text 6"/>
          <p:cNvSpPr/>
          <p:nvPr/>
        </p:nvSpPr>
        <p:spPr>
          <a:xfrm>
            <a:off x="6337297" y="3559629"/>
            <a:ext cx="2312380" cy="1102859"/>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Light" pitchFamily="2" charset="-122"/>
                <a:ea typeface="MiSans Light" pitchFamily="2" charset="-122"/>
                <a:cs typeface="Space Mono" pitchFamily="34" charset="-120"/>
              </a:rPr>
              <a:t>“感觉不像是</a:t>
            </a:r>
            <a:endParaRPr lang="en-US" sz="900" dirty="0">
              <a:latin typeface="MiSans Light" pitchFamily="2" charset="-122"/>
              <a:ea typeface="MiSans Light" pitchFamily="2" charset="-122"/>
            </a:endParaRPr>
          </a:p>
          <a:p>
            <a:pPr algn="l">
              <a:lnSpc>
                <a:spcPts val="1170"/>
              </a:lnSpc>
            </a:pPr>
            <a:r>
              <a:rPr lang="en-US" sz="900" dirty="0">
                <a:solidFill>
                  <a:srgbClr val="070707"/>
                </a:solidFill>
                <a:latin typeface="MiSans Light" pitchFamily="2" charset="-122"/>
                <a:ea typeface="MiSans Light" pitchFamily="2" charset="-122"/>
                <a:cs typeface="Space Mono" pitchFamily="34" charset="-120"/>
              </a:rPr>
              <a:t>消费——更像是分享人们真正需要的东西。”</a:t>
            </a:r>
            <a:endParaRPr lang="en-US" sz="900" dirty="0">
              <a:latin typeface="MiSans Light" pitchFamily="2" charset="-122"/>
              <a:ea typeface="MiSans Light" pitchFamily="2" charset="-122"/>
            </a:endParaRPr>
          </a:p>
        </p:txBody>
      </p:sp>
      <p:pic>
        <p:nvPicPr>
          <p:cNvPr id="11" name="Image 1" descr="https://pitch-assets-ccb95893-de3f-4266-973c-20049231b248.s3.eu-west-1.amazonaws.com/ea5a5836-2913-469e-922c-03798d17d1ea?pitch-bytes=24186&amp;pitch-content-type=image%2Fpng"/>
          <p:cNvPicPr>
            <a:picLocks noChangeAspect="1"/>
          </p:cNvPicPr>
          <p:nvPr/>
        </p:nvPicPr>
        <p:blipFill>
          <a:blip r:embed="rId4"/>
          <a:srcRect/>
          <a:stretch/>
        </p:blipFill>
        <p:spPr>
          <a:xfrm>
            <a:off x="495300" y="2514600"/>
            <a:ext cx="381000" cy="381000"/>
          </a:xfrm>
          <a:prstGeom prst="rect">
            <a:avLst/>
          </a:prstGeom>
        </p:spPr>
      </p:pic>
      <p:pic>
        <p:nvPicPr>
          <p:cNvPr id="12" name="Image 2" descr="https://pitch-assets-ccb95893-de3f-4266-973c-20049231b248.s3.eu-west-1.amazonaws.com/ea5a5836-2913-469e-922c-03798d17d1ea?pitch-bytes=24186&amp;pitch-content-type=image%2Fpng"/>
          <p:cNvPicPr>
            <a:picLocks noChangeAspect="1"/>
          </p:cNvPicPr>
          <p:nvPr/>
        </p:nvPicPr>
        <p:blipFill>
          <a:blip r:embed="rId4"/>
          <a:srcRect/>
          <a:stretch/>
        </p:blipFill>
        <p:spPr>
          <a:xfrm>
            <a:off x="3416198" y="2514600"/>
            <a:ext cx="381000" cy="381000"/>
          </a:xfrm>
          <a:prstGeom prst="rect">
            <a:avLst/>
          </a:prstGeom>
        </p:spPr>
      </p:pic>
      <p:pic>
        <p:nvPicPr>
          <p:cNvPr id="13" name="Image 3" descr="https://pitch-assets-ccb95893-de3f-4266-973c-20049231b248.s3.eu-west-1.amazonaws.com/ea5a5836-2913-469e-922c-03798d17d1ea?pitch-bytes=24186&amp;pitch-content-type=image%2Fpng"/>
          <p:cNvPicPr>
            <a:picLocks noChangeAspect="1"/>
          </p:cNvPicPr>
          <p:nvPr/>
        </p:nvPicPr>
        <p:blipFill>
          <a:blip r:embed="rId4"/>
          <a:srcRect/>
          <a:stretch/>
        </p:blipFill>
        <p:spPr>
          <a:xfrm>
            <a:off x="6337706" y="2514600"/>
            <a:ext cx="381000" cy="381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ede87304-20d1-4050-9263-491fec19458d?pitch-bytes=988652&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981075"/>
            <a:ext cx="8610600" cy="3186113"/>
          </a:xfrm>
          <a:prstGeom prst="roundRect">
            <a:avLst>
              <a:gd name="adj" fmla="val 3827"/>
            </a:avLst>
          </a:prstGeom>
          <a:solidFill>
            <a:srgbClr val="FFFFFF"/>
          </a:solidFill>
          <a:ln/>
        </p:spPr>
        <p:txBody>
          <a:bodyPr wrap="square" lIns="478367" tIns="376138" rIns="478367" bIns="376138" rtlCol="0" anchor="ctr"/>
          <a:lstStyle/>
          <a:p>
            <a:pPr algn="ctr">
              <a:lnSpc>
                <a:spcPts val="1170"/>
              </a:lnSpc>
            </a:pPr>
            <a:endParaRPr lang="en-US" sz="900" dirty="0"/>
          </a:p>
        </p:txBody>
      </p:sp>
      <p:sp>
        <p:nvSpPr>
          <p:cNvPr id="5" name="Text 1"/>
          <p:cNvSpPr/>
          <p:nvPr/>
        </p:nvSpPr>
        <p:spPr>
          <a:xfrm>
            <a:off x="495300" y="1209674"/>
            <a:ext cx="5460988" cy="1156255"/>
          </a:xfrm>
          <a:prstGeom prst="rect">
            <a:avLst/>
          </a:prstGeom>
          <a:noFill/>
          <a:ln/>
        </p:spPr>
        <p:txBody>
          <a:bodyPr wrap="square" lIns="0" tIns="0" rIns="0" bIns="0" rtlCol="0" anchor="t"/>
          <a:lstStyle/>
          <a:p>
            <a:pPr algn="l"/>
            <a:r>
              <a:rPr lang="en-US" sz="3600" kern="0" spc="-36" dirty="0">
                <a:solidFill>
                  <a:srgbClr val="070707"/>
                </a:solidFill>
                <a:latin typeface="MiSans Medium" pitchFamily="2" charset="-122"/>
                <a:ea typeface="MiSans Medium" pitchFamily="2" charset="-122"/>
                <a:cs typeface="Manrope" pitchFamily="34" charset="-120"/>
              </a:rPr>
              <a:t>“我最喜欢的</a:t>
            </a:r>
            <a:endParaRPr lang="en-US" sz="3600" dirty="0">
              <a:latin typeface="MiSans Medium" pitchFamily="2" charset="-122"/>
              <a:ea typeface="MiSans Medium" pitchFamily="2" charset="-122"/>
            </a:endParaRPr>
          </a:p>
          <a:p>
            <a:pPr algn="l"/>
            <a:r>
              <a:rPr lang="en-US" sz="3600" kern="0" spc="-36" dirty="0">
                <a:solidFill>
                  <a:srgbClr val="070707"/>
                </a:solidFill>
                <a:latin typeface="MiSans Medium" pitchFamily="2" charset="-122"/>
                <a:ea typeface="MiSans Medium" pitchFamily="2" charset="-122"/>
                <a:cs typeface="Manrope" pitchFamily="34" charset="-120"/>
              </a:rPr>
              <a:t>2032年度大语言模型”</a:t>
            </a:r>
            <a:endParaRPr lang="en-US" sz="3600" dirty="0">
              <a:latin typeface="MiSans Medium" pitchFamily="2" charset="-122"/>
              <a:ea typeface="MiSans Medium" pitchFamily="2" charset="-122"/>
            </a:endParaRPr>
          </a:p>
        </p:txBody>
      </p:sp>
      <p:sp>
        <p:nvSpPr>
          <p:cNvPr id="6" name="Text 2"/>
          <p:cNvSpPr/>
          <p:nvPr/>
        </p:nvSpPr>
        <p:spPr>
          <a:xfrm>
            <a:off x="495300" y="3801219"/>
            <a:ext cx="5460988" cy="148568"/>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WHITNEY WHEELER，LLMWORLD首席执行官</a:t>
            </a:r>
            <a:endParaRPr lang="en-US" sz="900" dirty="0">
              <a:latin typeface="MiSans" pitchFamily="2" charset="-122"/>
              <a:ea typeface="MiSans" pitchFamily="2" charset="-122"/>
            </a:endParaRPr>
          </a:p>
        </p:txBody>
      </p:sp>
      <p:pic>
        <p:nvPicPr>
          <p:cNvPr id="7" name="Image 1"/>
          <p:cNvPicPr>
            <a:picLocks noChangeAspect="1"/>
          </p:cNvPicPr>
          <p:nvPr/>
        </p:nvPicPr>
        <p:blipFill>
          <a:blip r:embed="rId4"/>
          <a:srcRect/>
          <a:stretch/>
        </p:blipFill>
        <p:spPr>
          <a:xfrm>
            <a:off x="6829678" y="1209674"/>
            <a:ext cx="1819022" cy="27401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6a595e1c-b629-44e7-8a79-1794645f3a87?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3187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5" name="Text 1"/>
          <p:cNvSpPr/>
          <p:nvPr/>
        </p:nvSpPr>
        <p:spPr>
          <a:xfrm>
            <a:off x="266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6" name="Text 2"/>
          <p:cNvSpPr/>
          <p:nvPr/>
        </p:nvSpPr>
        <p:spPr>
          <a:xfrm>
            <a:off x="6108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7" name="Text 3"/>
          <p:cNvSpPr/>
          <p:nvPr/>
        </p:nvSpPr>
        <p:spPr>
          <a:xfrm>
            <a:off x="3195838" y="2495550"/>
            <a:ext cx="334752"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02</a:t>
            </a:r>
            <a:endParaRPr lang="en-US" sz="900" dirty="0">
              <a:latin typeface="MiSans" pitchFamily="2" charset="-122"/>
              <a:ea typeface="MiSans" pitchFamily="2" charset="-122"/>
            </a:endParaRPr>
          </a:p>
        </p:txBody>
      </p:sp>
      <p:sp>
        <p:nvSpPr>
          <p:cNvPr id="8" name="Text 4"/>
          <p:cNvSpPr/>
          <p:nvPr/>
        </p:nvSpPr>
        <p:spPr>
          <a:xfrm>
            <a:off x="266700" y="2495550"/>
            <a:ext cx="338138"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01</a:t>
            </a:r>
            <a:endParaRPr lang="en-US" sz="900" dirty="0">
              <a:latin typeface="MiSans" pitchFamily="2" charset="-122"/>
              <a:ea typeface="MiSans" pitchFamily="2" charset="-122"/>
            </a:endParaRPr>
          </a:p>
        </p:txBody>
      </p:sp>
      <p:sp>
        <p:nvSpPr>
          <p:cNvPr id="9" name="Text 5"/>
          <p:cNvSpPr/>
          <p:nvPr/>
        </p:nvSpPr>
        <p:spPr>
          <a:xfrm>
            <a:off x="6110299" y="2495714"/>
            <a:ext cx="341300"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03</a:t>
            </a:r>
            <a:endParaRPr lang="en-US" sz="900" dirty="0">
              <a:latin typeface="MiSans" pitchFamily="2" charset="-122"/>
              <a:ea typeface="MiSans" pitchFamily="2" charset="-122"/>
            </a:endParaRPr>
          </a:p>
        </p:txBody>
      </p:sp>
      <p:sp>
        <p:nvSpPr>
          <p:cNvPr id="10" name="Text 6"/>
          <p:cNvSpPr/>
          <p:nvPr/>
        </p:nvSpPr>
        <p:spPr>
          <a:xfrm>
            <a:off x="266700" y="266700"/>
            <a:ext cx="5691188" cy="960090"/>
          </a:xfrm>
          <a:prstGeom prst="rect">
            <a:avLst/>
          </a:prstGeom>
          <a:noFill/>
          <a:ln/>
        </p:spPr>
        <p:txBody>
          <a:bodyPr wrap="square" lIns="0" tIns="0" rIns="0" bIns="0" rtlCol="0" anchor="t"/>
          <a:lstStyle/>
          <a:p>
            <a:pPr algn="l">
              <a:lnSpc>
                <a:spcPts val="3780"/>
              </a:lnSpc>
            </a:pPr>
            <a:r>
              <a:rPr lang="en-US" sz="3200" kern="0" spc="-36" dirty="0" err="1">
                <a:solidFill>
                  <a:srgbClr val="070707"/>
                </a:solidFill>
                <a:latin typeface="MiSans Demibold" pitchFamily="2" charset="-122"/>
                <a:ea typeface="MiSans Demibold" pitchFamily="2" charset="-122"/>
              </a:rPr>
              <a:t>概述您解决方案</a:t>
            </a:r>
            <a:endParaRPr lang="en-US" sz="3200" kern="0" spc="-36" dirty="0">
              <a:solidFill>
                <a:srgbClr val="070707"/>
              </a:solidFill>
              <a:latin typeface="MiSans Demibold" pitchFamily="2" charset="-122"/>
              <a:ea typeface="MiSans Demibold" pitchFamily="2" charset="-122"/>
            </a:endParaRPr>
          </a:p>
          <a:p>
            <a:pPr algn="l">
              <a:lnSpc>
                <a:spcPts val="3780"/>
              </a:lnSpc>
            </a:pPr>
            <a:r>
              <a:rPr lang="en-US" sz="3200" kern="0" spc="-36" dirty="0" err="1">
                <a:solidFill>
                  <a:srgbClr val="070707"/>
                </a:solidFill>
                <a:latin typeface="MiSans Demibold" pitchFamily="2" charset="-122"/>
                <a:ea typeface="MiSans Demibold" pitchFamily="2" charset="-122"/>
              </a:rPr>
              <a:t>的核心支柱</a:t>
            </a:r>
            <a:endParaRPr lang="en-US" sz="3200" kern="0" spc="-36" dirty="0">
              <a:solidFill>
                <a:srgbClr val="070707"/>
              </a:solidFill>
              <a:latin typeface="MiSans Demibold" pitchFamily="2" charset="-122"/>
              <a:ea typeface="MiSans Demibold" pitchFamily="2" charset="-122"/>
            </a:endParaRPr>
          </a:p>
        </p:txBody>
      </p:sp>
      <p:sp>
        <p:nvSpPr>
          <p:cNvPr id="11" name="Text 7"/>
          <p:cNvSpPr/>
          <p:nvPr/>
        </p:nvSpPr>
        <p:spPr>
          <a:xfrm>
            <a:off x="266700" y="3383091"/>
            <a:ext cx="2095500" cy="1493709"/>
          </a:xfrm>
          <a:prstGeom prst="rect">
            <a:avLst/>
          </a:prstGeom>
          <a:noFill/>
          <a:ln/>
        </p:spPr>
        <p:txBody>
          <a:bodyPr wrap="square" lIns="0" tIns="0" rIns="0" bIns="0" rtlCol="0" anchor="t"/>
          <a:lstStyle/>
          <a:p>
            <a:pPr>
              <a:lnSpc>
                <a:spcPct val="150000"/>
              </a:lnSpc>
            </a:pPr>
            <a:r>
              <a:rPr lang="en-US" altLang="zh-CN" sz="900" dirty="0">
                <a:solidFill>
                  <a:srgbClr val="070707">
                    <a:alpha val="40000"/>
                  </a:srgbClr>
                </a:solidFill>
                <a:latin typeface="MiSans Light" pitchFamily="2" charset="-122"/>
                <a:ea typeface="MiSans Light" pitchFamily="2" charset="-122"/>
                <a:cs typeface="Space Mono" pitchFamily="34" charset="-120"/>
              </a:rPr>
              <a:t>什么给了您竞争优势或使您独特？什么给了您竞争优势或使您独特什么给了您竞争优势或使您独特什么给了您竞争优势或使您独特？使您独特什么给了您竞争优势或使您独特什么？</a:t>
            </a: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p:txBody>
      </p:sp>
      <p:sp>
        <p:nvSpPr>
          <p:cNvPr id="12" name="Text 8"/>
          <p:cNvSpPr/>
          <p:nvPr/>
        </p:nvSpPr>
        <p:spPr>
          <a:xfrm>
            <a:off x="3195638" y="3383091"/>
            <a:ext cx="2095500" cy="1493709"/>
          </a:xfrm>
          <a:prstGeom prst="rect">
            <a:avLst/>
          </a:prstGeom>
          <a:noFill/>
          <a:ln/>
        </p:spPr>
        <p:txBody>
          <a:bodyPr wrap="square" lIns="0" tIns="0" rIns="0" bIns="0" rtlCol="0" anchor="t"/>
          <a:lstStyle/>
          <a:p>
            <a:pPr>
              <a:lnSpc>
                <a:spcPct val="150000"/>
              </a:lnSpc>
            </a:pPr>
            <a:r>
              <a:rPr lang="en-US" sz="900" dirty="0">
                <a:solidFill>
                  <a:srgbClr val="070707">
                    <a:alpha val="40000"/>
                  </a:srgbClr>
                </a:solidFill>
                <a:latin typeface="MiSans Light" pitchFamily="2" charset="-122"/>
                <a:ea typeface="MiSans Light" pitchFamily="2" charset="-122"/>
                <a:cs typeface="Space Mono" pitchFamily="34" charset="-120"/>
              </a:rPr>
              <a:t>您在服务哪些之前被忽视的群体？您解决了什么问题？</a:t>
            </a:r>
            <a:r>
              <a:rPr lang="en-US" altLang="zh-CN" sz="900" dirty="0">
                <a:solidFill>
                  <a:srgbClr val="070707">
                    <a:alpha val="40000"/>
                  </a:srgbClr>
                </a:solidFill>
                <a:latin typeface="MiSans Light" pitchFamily="2" charset="-122"/>
                <a:ea typeface="MiSans Light" pitchFamily="2" charset="-122"/>
                <a:cs typeface="Space Mono" pitchFamily="34" charset="-120"/>
              </a:rPr>
              <a:t>您在服务哪些之前被忽视的群体？您解决了什么问题？您在服务哪些之前被忽视的群体？您在服务哪些之前被忽视的群体？</a:t>
            </a: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gn="l">
              <a:lnSpc>
                <a:spcPct val="150000"/>
              </a:lnSpc>
            </a:pPr>
            <a:endParaRPr lang="en-US" sz="900" dirty="0">
              <a:latin typeface="MiSans Light" pitchFamily="2" charset="-122"/>
              <a:ea typeface="MiSans Light" pitchFamily="2" charset="-122"/>
            </a:endParaRPr>
          </a:p>
        </p:txBody>
      </p:sp>
      <p:sp>
        <p:nvSpPr>
          <p:cNvPr id="13" name="Text 9"/>
          <p:cNvSpPr/>
          <p:nvPr/>
        </p:nvSpPr>
        <p:spPr>
          <a:xfrm>
            <a:off x="6110288" y="3383091"/>
            <a:ext cx="2095500" cy="1493709"/>
          </a:xfrm>
          <a:prstGeom prst="rect">
            <a:avLst/>
          </a:prstGeom>
          <a:noFill/>
          <a:ln/>
        </p:spPr>
        <p:txBody>
          <a:bodyPr wrap="square" lIns="0" tIns="0" rIns="0" bIns="0" rtlCol="0" anchor="t"/>
          <a:lstStyle/>
          <a:p>
            <a:pPr>
              <a:lnSpc>
                <a:spcPct val="150000"/>
              </a:lnSpc>
            </a:pPr>
            <a:r>
              <a:rPr lang="en-US" sz="900" dirty="0">
                <a:solidFill>
                  <a:srgbClr val="070707">
                    <a:alpha val="40000"/>
                  </a:srgbClr>
                </a:solidFill>
                <a:latin typeface="MiSans Light" pitchFamily="2" charset="-122"/>
                <a:ea typeface="MiSans Light" pitchFamily="2" charset="-122"/>
                <a:cs typeface="Space Mono" pitchFamily="34" charset="-120"/>
              </a:rPr>
              <a:t>您的产品或功能如何改善人们的生活？</a:t>
            </a:r>
            <a:r>
              <a:rPr lang="en-US" altLang="zh-CN" sz="900" dirty="0">
                <a:solidFill>
                  <a:srgbClr val="070707">
                    <a:alpha val="40000"/>
                  </a:srgbClr>
                </a:solidFill>
                <a:latin typeface="MiSans Light" pitchFamily="2" charset="-122"/>
                <a:ea typeface="MiSans Light" pitchFamily="2" charset="-122"/>
                <a:cs typeface="Space Mono" pitchFamily="34" charset="-120"/>
              </a:rPr>
              <a:t>您的产品或功能如何改善人们的生活？您的产品或功能如何改善人们的生活？您的产品或功能如何改善人们的生活？您的产品或功能如何改善人们的生活？</a:t>
            </a: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gn="l">
              <a:lnSpc>
                <a:spcPct val="150000"/>
              </a:lnSpc>
            </a:pPr>
            <a:endParaRPr lang="en-US" sz="900" dirty="0">
              <a:latin typeface="MiSans Light" pitchFamily="2" charset="-122"/>
              <a:ea typeface="MiSans Light" pitchFamily="2" charset="-122"/>
            </a:endParaRPr>
          </a:p>
        </p:txBody>
      </p:sp>
      <p:sp>
        <p:nvSpPr>
          <p:cNvPr id="14" name="Text 10"/>
          <p:cNvSpPr/>
          <p:nvPr/>
        </p:nvSpPr>
        <p:spPr>
          <a:xfrm>
            <a:off x="266700" y="2830732"/>
            <a:ext cx="2768575"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特性 1</a:t>
            </a:r>
            <a:endParaRPr lang="en-US" sz="2400" dirty="0">
              <a:latin typeface="MiSans Semibold" pitchFamily="2" charset="-122"/>
              <a:ea typeface="MiSans Semibold" pitchFamily="2" charset="-122"/>
            </a:endParaRPr>
          </a:p>
        </p:txBody>
      </p:sp>
      <p:sp>
        <p:nvSpPr>
          <p:cNvPr id="15" name="Text 11"/>
          <p:cNvSpPr/>
          <p:nvPr/>
        </p:nvSpPr>
        <p:spPr>
          <a:xfrm>
            <a:off x="3195638" y="2830732"/>
            <a:ext cx="2767013"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特性 2</a:t>
            </a:r>
            <a:endParaRPr lang="en-US" sz="2400" dirty="0">
              <a:latin typeface="MiSans Semibold" pitchFamily="2" charset="-122"/>
              <a:ea typeface="MiSans Semibold" pitchFamily="2" charset="-122"/>
            </a:endParaRPr>
          </a:p>
        </p:txBody>
      </p:sp>
      <p:sp>
        <p:nvSpPr>
          <p:cNvPr id="16" name="Text 12"/>
          <p:cNvSpPr/>
          <p:nvPr/>
        </p:nvSpPr>
        <p:spPr>
          <a:xfrm>
            <a:off x="6110288" y="2830732"/>
            <a:ext cx="2767013"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特性 3</a:t>
            </a:r>
            <a:endParaRPr lang="en-US" sz="2400" dirty="0">
              <a:latin typeface="MiSans Semibold" pitchFamily="2" charset="-122"/>
              <a:ea typeface="MiSans Semibold"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5">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86a58cf5-528a-4103-8a3b-4e8385e1a941?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5710283" y="2097019"/>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5" name="Text 1"/>
          <p:cNvSpPr/>
          <p:nvPr/>
        </p:nvSpPr>
        <p:spPr>
          <a:xfrm>
            <a:off x="5708386" y="2122748"/>
            <a:ext cx="344798" cy="148568"/>
          </a:xfrm>
          <a:prstGeom prst="rect">
            <a:avLst/>
          </a:prstGeom>
          <a:noFill/>
          <a:ln/>
        </p:spPr>
        <p:txBody>
          <a:bodyPr wrap="square" lIns="0" tIns="0" rIns="0" bIns="0" rtlCol="0" anchor="ctr"/>
          <a:lstStyle/>
          <a:p>
            <a:pPr algn="ctr">
              <a:lnSpc>
                <a:spcPts val="1170"/>
              </a:lnSpc>
            </a:pPr>
            <a:r>
              <a:rPr lang="en-US" sz="900" b="0" dirty="0">
                <a:solidFill>
                  <a:srgbClr val="FFFFFF"/>
                </a:solidFill>
                <a:latin typeface="MiSans" pitchFamily="34" charset="0"/>
                <a:ea typeface="Space Mono" pitchFamily="34" charset="-122"/>
                <a:cs typeface="Space Mono" pitchFamily="34" charset="-120"/>
              </a:rPr>
              <a:t>01</a:t>
            </a:r>
            <a:endParaRPr lang="en-US" sz="900" dirty="0"/>
          </a:p>
        </p:txBody>
      </p:sp>
      <p:sp>
        <p:nvSpPr>
          <p:cNvPr id="6" name="Text 2"/>
          <p:cNvSpPr/>
          <p:nvPr/>
        </p:nvSpPr>
        <p:spPr>
          <a:xfrm>
            <a:off x="5710283" y="2402029"/>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7" name="Text 3"/>
          <p:cNvSpPr/>
          <p:nvPr/>
        </p:nvSpPr>
        <p:spPr>
          <a:xfrm>
            <a:off x="5708386" y="2427757"/>
            <a:ext cx="344798" cy="148568"/>
          </a:xfrm>
          <a:prstGeom prst="rect">
            <a:avLst/>
          </a:prstGeom>
          <a:noFill/>
          <a:ln/>
        </p:spPr>
        <p:txBody>
          <a:bodyPr wrap="square" lIns="0" tIns="0" rIns="0" bIns="0" rtlCol="0" anchor="ctr"/>
          <a:lstStyle/>
          <a:p>
            <a:pPr algn="ctr">
              <a:lnSpc>
                <a:spcPts val="1170"/>
              </a:lnSpc>
            </a:pPr>
            <a:r>
              <a:rPr lang="en-US" sz="900" b="0" dirty="0">
                <a:solidFill>
                  <a:srgbClr val="FFFFFF"/>
                </a:solidFill>
                <a:latin typeface="MiSans" pitchFamily="34" charset="0"/>
                <a:ea typeface="Space Mono" pitchFamily="34" charset="-122"/>
                <a:cs typeface="Space Mono" pitchFamily="34" charset="-120"/>
              </a:rPr>
              <a:t>02</a:t>
            </a:r>
            <a:endParaRPr lang="en-US" sz="900" dirty="0"/>
          </a:p>
        </p:txBody>
      </p:sp>
      <p:sp>
        <p:nvSpPr>
          <p:cNvPr id="8" name="Text 4"/>
          <p:cNvSpPr/>
          <p:nvPr/>
        </p:nvSpPr>
        <p:spPr>
          <a:xfrm>
            <a:off x="5710283" y="2706981"/>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9" name="Text 5"/>
          <p:cNvSpPr/>
          <p:nvPr/>
        </p:nvSpPr>
        <p:spPr>
          <a:xfrm>
            <a:off x="5708386" y="2732710"/>
            <a:ext cx="344798" cy="148568"/>
          </a:xfrm>
          <a:prstGeom prst="rect">
            <a:avLst/>
          </a:prstGeom>
          <a:noFill/>
          <a:ln/>
        </p:spPr>
        <p:txBody>
          <a:bodyPr wrap="square" lIns="0" tIns="0" rIns="0" bIns="0" rtlCol="0" anchor="ctr"/>
          <a:lstStyle/>
          <a:p>
            <a:pPr algn="ctr">
              <a:lnSpc>
                <a:spcPts val="1170"/>
              </a:lnSpc>
            </a:pPr>
            <a:r>
              <a:rPr lang="en-US" sz="900" b="0" dirty="0">
                <a:solidFill>
                  <a:srgbClr val="FFFFFF"/>
                </a:solidFill>
                <a:latin typeface="MiSans" pitchFamily="34" charset="0"/>
                <a:ea typeface="Space Mono" pitchFamily="34" charset="-122"/>
                <a:cs typeface="Space Mono" pitchFamily="34" charset="-120"/>
              </a:rPr>
              <a:t>03</a:t>
            </a:r>
            <a:endParaRPr lang="en-US" sz="900" dirty="0"/>
          </a:p>
        </p:txBody>
      </p:sp>
      <p:sp>
        <p:nvSpPr>
          <p:cNvPr id="10" name="Text 6"/>
          <p:cNvSpPr/>
          <p:nvPr/>
        </p:nvSpPr>
        <p:spPr>
          <a:xfrm>
            <a:off x="5710283" y="3011933"/>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1" name="Text 7"/>
          <p:cNvSpPr/>
          <p:nvPr/>
        </p:nvSpPr>
        <p:spPr>
          <a:xfrm>
            <a:off x="5708386" y="3037662"/>
            <a:ext cx="344798" cy="148568"/>
          </a:xfrm>
          <a:prstGeom prst="rect">
            <a:avLst/>
          </a:prstGeom>
          <a:noFill/>
          <a:ln/>
        </p:spPr>
        <p:txBody>
          <a:bodyPr wrap="square" lIns="0" tIns="0" rIns="0" bIns="0" rtlCol="0" anchor="ctr"/>
          <a:lstStyle/>
          <a:p>
            <a:pPr algn="ctr">
              <a:lnSpc>
                <a:spcPts val="1170"/>
              </a:lnSpc>
            </a:pPr>
            <a:r>
              <a:rPr lang="en-US" sz="900" b="0" dirty="0">
                <a:solidFill>
                  <a:srgbClr val="FFFFFF"/>
                </a:solidFill>
                <a:latin typeface="MiSans" pitchFamily="34" charset="0"/>
                <a:ea typeface="Space Mono" pitchFamily="34" charset="-122"/>
                <a:cs typeface="Space Mono" pitchFamily="34" charset="-120"/>
              </a:rPr>
              <a:t>04</a:t>
            </a:r>
            <a:endParaRPr lang="en-US" sz="900" dirty="0"/>
          </a:p>
        </p:txBody>
      </p:sp>
      <p:sp>
        <p:nvSpPr>
          <p:cNvPr id="12" name="Text 8"/>
          <p:cNvSpPr/>
          <p:nvPr/>
        </p:nvSpPr>
        <p:spPr>
          <a:xfrm>
            <a:off x="5710283" y="3316943"/>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3" name="Text 9"/>
          <p:cNvSpPr/>
          <p:nvPr/>
        </p:nvSpPr>
        <p:spPr>
          <a:xfrm>
            <a:off x="5708386" y="3342672"/>
            <a:ext cx="344798" cy="148568"/>
          </a:xfrm>
          <a:prstGeom prst="rect">
            <a:avLst/>
          </a:prstGeom>
          <a:noFill/>
          <a:ln/>
        </p:spPr>
        <p:txBody>
          <a:bodyPr wrap="square" lIns="0" tIns="0" rIns="0" bIns="0" rtlCol="0" anchor="ctr"/>
          <a:lstStyle/>
          <a:p>
            <a:pPr algn="ctr">
              <a:lnSpc>
                <a:spcPts val="1170"/>
              </a:lnSpc>
            </a:pPr>
            <a:r>
              <a:rPr lang="en-US" sz="900" b="0" dirty="0">
                <a:solidFill>
                  <a:srgbClr val="FFFFFF"/>
                </a:solidFill>
                <a:latin typeface="MiSans" pitchFamily="34" charset="0"/>
                <a:ea typeface="Space Mono" pitchFamily="34" charset="-122"/>
                <a:cs typeface="Space Mono" pitchFamily="34" charset="-120"/>
              </a:rPr>
              <a:t>05</a:t>
            </a:r>
            <a:endParaRPr lang="en-US" sz="900" dirty="0"/>
          </a:p>
        </p:txBody>
      </p:sp>
      <p:sp>
        <p:nvSpPr>
          <p:cNvPr id="14" name="Shape 10"/>
          <p:cNvSpPr/>
          <p:nvPr/>
        </p:nvSpPr>
        <p:spPr>
          <a:xfrm>
            <a:off x="266700" y="266700"/>
            <a:ext cx="2768600" cy="4610100"/>
          </a:xfrm>
          <a:prstGeom prst="roundRect">
            <a:avLst>
              <a:gd name="adj" fmla="val 2477"/>
            </a:avLst>
          </a:prstGeom>
          <a:solidFill>
            <a:srgbClr val="FFFFFF"/>
          </a:solidFill>
          <a:ln/>
        </p:spPr>
        <p:txBody>
          <a:bodyPr/>
          <a:lstStyle/>
          <a:p>
            <a:endParaRPr/>
          </a:p>
        </p:txBody>
      </p:sp>
      <p:pic>
        <p:nvPicPr>
          <p:cNvPr id="15" name="Image 1" descr="https://pitch-assets-ccb95893-de3f-4266-973c-20049231b248.s3.eu-west-1.amazonaws.com/ce513b25-dd38-41e8-8850-d8d41418a6ba?pitch-bytes=673737&amp;pitch-content-type=image%2Fpng"/>
          <p:cNvPicPr>
            <a:picLocks noChangeAspect="1"/>
          </p:cNvPicPr>
          <p:nvPr/>
        </p:nvPicPr>
        <p:blipFill>
          <a:blip r:embed="rId4"/>
          <a:srcRect/>
          <a:stretch/>
        </p:blipFill>
        <p:spPr>
          <a:xfrm>
            <a:off x="266700" y="266700"/>
            <a:ext cx="2767013" cy="4610100"/>
          </a:xfrm>
          <a:prstGeom prst="rect">
            <a:avLst/>
          </a:prstGeom>
        </p:spPr>
      </p:pic>
      <p:sp>
        <p:nvSpPr>
          <p:cNvPr id="17" name="Text 11"/>
          <p:cNvSpPr/>
          <p:nvPr/>
        </p:nvSpPr>
        <p:spPr>
          <a:xfrm>
            <a:off x="5711871" y="506706"/>
            <a:ext cx="2767013" cy="1097235"/>
          </a:xfrm>
          <a:prstGeom prst="rect">
            <a:avLst/>
          </a:prstGeom>
          <a:noFill/>
          <a:ln/>
        </p:spPr>
        <p:txBody>
          <a:bodyPr wrap="square" lIns="0" tIns="0" rIns="0" bIns="0" rtlCol="0" anchor="t"/>
          <a:lstStyle/>
          <a:p>
            <a:pPr algn="l"/>
            <a:r>
              <a:rPr lang="en-US" sz="2400" dirty="0">
                <a:solidFill>
                  <a:srgbClr val="070707"/>
                </a:solidFill>
                <a:latin typeface="MiSans Demibold" pitchFamily="2" charset="-122"/>
                <a:ea typeface="MiSans Demibold" pitchFamily="2" charset="-122"/>
                <a:cs typeface="Manrope" pitchFamily="34" charset="-120"/>
              </a:rPr>
              <a:t>详细阐述您的差异化优势</a:t>
            </a:r>
            <a:endParaRPr lang="en-US" sz="2400" dirty="0">
              <a:latin typeface="MiSans Demibold" pitchFamily="2" charset="-122"/>
              <a:ea typeface="MiSans Demibold" pitchFamily="2" charset="-122"/>
            </a:endParaRPr>
          </a:p>
        </p:txBody>
      </p:sp>
      <p:sp>
        <p:nvSpPr>
          <p:cNvPr id="18" name="Text 12"/>
          <p:cNvSpPr/>
          <p:nvPr/>
        </p:nvSpPr>
        <p:spPr>
          <a:xfrm>
            <a:off x="6148839" y="2127510"/>
            <a:ext cx="2333625"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五星级客户服务</a:t>
            </a:r>
            <a:endParaRPr lang="en-US" sz="900" dirty="0">
              <a:latin typeface="MiSans" pitchFamily="2" charset="-122"/>
              <a:ea typeface="MiSans" pitchFamily="2" charset="-122"/>
            </a:endParaRPr>
          </a:p>
        </p:txBody>
      </p:sp>
      <p:sp>
        <p:nvSpPr>
          <p:cNvPr id="19" name="Text 13"/>
          <p:cNvSpPr/>
          <p:nvPr/>
        </p:nvSpPr>
        <p:spPr>
          <a:xfrm>
            <a:off x="6148839" y="2432520"/>
            <a:ext cx="2333625"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创新的界面</a:t>
            </a:r>
            <a:endParaRPr lang="en-US" sz="900" dirty="0">
              <a:latin typeface="MiSans" pitchFamily="2" charset="-122"/>
              <a:ea typeface="MiSans" pitchFamily="2" charset="-122"/>
            </a:endParaRPr>
          </a:p>
        </p:txBody>
      </p:sp>
      <p:sp>
        <p:nvSpPr>
          <p:cNvPr id="20" name="Text 14"/>
          <p:cNvSpPr/>
          <p:nvPr/>
        </p:nvSpPr>
        <p:spPr>
          <a:xfrm>
            <a:off x="6148839" y="3042425"/>
            <a:ext cx="2333625"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最佳性价比</a:t>
            </a:r>
            <a:endParaRPr lang="en-US" sz="900" dirty="0">
              <a:latin typeface="MiSans" pitchFamily="2" charset="-122"/>
              <a:ea typeface="MiSans" pitchFamily="2" charset="-122"/>
            </a:endParaRPr>
          </a:p>
        </p:txBody>
      </p:sp>
      <p:sp>
        <p:nvSpPr>
          <p:cNvPr id="21" name="Text 15"/>
          <p:cNvSpPr/>
          <p:nvPr/>
        </p:nvSpPr>
        <p:spPr>
          <a:xfrm>
            <a:off x="6148839" y="3347434"/>
            <a:ext cx="2333625"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碳中和足迹</a:t>
            </a:r>
            <a:endParaRPr lang="en-US" sz="900" dirty="0">
              <a:latin typeface="MiSans" pitchFamily="2" charset="-122"/>
              <a:ea typeface="MiSans" pitchFamily="2" charset="-122"/>
            </a:endParaRPr>
          </a:p>
        </p:txBody>
      </p:sp>
      <p:sp>
        <p:nvSpPr>
          <p:cNvPr id="25" name="Text 18"/>
          <p:cNvSpPr/>
          <p:nvPr/>
        </p:nvSpPr>
        <p:spPr>
          <a:xfrm>
            <a:off x="6148839" y="2737472"/>
            <a:ext cx="2333625"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前沿产品功能</a:t>
            </a:r>
            <a:endParaRPr lang="en-US" sz="900" dirty="0">
              <a:latin typeface="MiSans" pitchFamily="2" charset="-122"/>
              <a:ea typeface="MiSans" pitchFamily="2" charset="-122"/>
            </a:endParaRPr>
          </a:p>
        </p:txBody>
      </p:sp>
      <p:pic>
        <p:nvPicPr>
          <p:cNvPr id="26" name="Image 4" descr="https://pitch-assets-ccb95893-de3f-4266-973c-20049231b248.s3.eu-west-1.amazonaws.com/ce513b25-dd38-41e8-8850-d8d41418a6ba?pitch-bytes=673737&amp;pitch-content-type=image%2Fpng"/>
          <p:cNvPicPr>
            <a:picLocks noChangeAspect="1"/>
          </p:cNvPicPr>
          <p:nvPr/>
        </p:nvPicPr>
        <p:blipFill>
          <a:blip r:embed="rId4"/>
          <a:srcRect l="73603" t="54259" r="24575" b="30546"/>
          <a:stretch/>
        </p:blipFill>
        <p:spPr>
          <a:xfrm>
            <a:off x="2324100" y="2800944"/>
            <a:ext cx="50423" cy="70051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6">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c694f1a5-3fff-4d56-940a-48fb428a3924?pitch-bytes=988652&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6700"/>
            <a:ext cx="4971506" cy="960090"/>
          </a:xfrm>
          <a:prstGeom prst="rect">
            <a:avLst/>
          </a:prstGeom>
          <a:noFill/>
          <a:ln/>
        </p:spPr>
        <p:txBody>
          <a:bodyPr wrap="square" lIns="0" tIns="0" rIns="0" bIns="0" rtlCol="0" anchor="t"/>
          <a:lstStyle/>
          <a:p>
            <a:pPr algn="l"/>
            <a:r>
              <a:rPr lang="en-US" sz="3200" kern="0" spc="-36" dirty="0">
                <a:solidFill>
                  <a:srgbClr val="FFFFFF"/>
                </a:solidFill>
                <a:latin typeface="MiSans Demibold" pitchFamily="2" charset="-122"/>
                <a:ea typeface="MiSans Demibold" pitchFamily="2" charset="-122"/>
                <a:cs typeface="Manrope" pitchFamily="34" charset="-120"/>
              </a:rPr>
              <a:t>数据有</a:t>
            </a:r>
            <a:endParaRPr lang="en-US" sz="3200" dirty="0">
              <a:latin typeface="MiSans Demibold" pitchFamily="2" charset="-122"/>
              <a:ea typeface="MiSans Demibold" pitchFamily="2" charset="-122"/>
            </a:endParaRPr>
          </a:p>
          <a:p>
            <a:pPr algn="l"/>
            <a:r>
              <a:rPr lang="en-US" sz="3200" kern="0" spc="-36" dirty="0">
                <a:solidFill>
                  <a:srgbClr val="FFFFFF"/>
                </a:solidFill>
                <a:latin typeface="MiSans Demibold" pitchFamily="2" charset="-122"/>
                <a:ea typeface="MiSans Demibold" pitchFamily="2" charset="-122"/>
                <a:cs typeface="Manrope" pitchFamily="34" charset="-120"/>
              </a:rPr>
              <a:t>力量</a:t>
            </a:r>
            <a:endParaRPr lang="en-US" sz="3200" dirty="0">
              <a:latin typeface="MiSans Demibold" pitchFamily="2" charset="-122"/>
              <a:ea typeface="MiSans Demibold" pitchFamily="2" charset="-122"/>
            </a:endParaRPr>
          </a:p>
        </p:txBody>
      </p:sp>
      <p:sp>
        <p:nvSpPr>
          <p:cNvPr id="5" name="Text 1"/>
          <p:cNvSpPr/>
          <p:nvPr/>
        </p:nvSpPr>
        <p:spPr>
          <a:xfrm>
            <a:off x="6110288" y="266700"/>
            <a:ext cx="2767013" cy="960090"/>
          </a:xfrm>
          <a:prstGeom prst="rect">
            <a:avLst/>
          </a:prstGeom>
          <a:noFill/>
          <a:ln/>
        </p:spPr>
        <p:txBody>
          <a:bodyPr wrap="square" lIns="0" tIns="0" rIns="0" bIns="0" rtlCol="0" anchor="t"/>
          <a:lstStyle/>
          <a:p>
            <a:pPr algn="l">
              <a:lnSpc>
                <a:spcPct val="150000"/>
              </a:lnSpc>
            </a:pPr>
            <a:r>
              <a:rPr lang="en-US" sz="900" dirty="0">
                <a:solidFill>
                  <a:srgbClr val="FFFFFF">
                    <a:alpha val="39000"/>
                  </a:srgbClr>
                </a:solidFill>
                <a:latin typeface="MiSans" pitchFamily="2" charset="-122"/>
                <a:ea typeface="MiSans" pitchFamily="2" charset="-122"/>
                <a:cs typeface="Space Mono" pitchFamily="34" charset="-120"/>
              </a:rPr>
              <a:t>用数据支撑您的理由。精心选择的几个统计数据比一大堆无意义的数字更有影响力。</a:t>
            </a:r>
            <a:endParaRPr lang="en-US" sz="900" dirty="0">
              <a:latin typeface="MiSans" pitchFamily="2" charset="-122"/>
              <a:ea typeface="MiSans" pitchFamily="2" charset="-122"/>
            </a:endParaRPr>
          </a:p>
        </p:txBody>
      </p:sp>
      <p:sp>
        <p:nvSpPr>
          <p:cNvPr id="6" name="Text 2"/>
          <p:cNvSpPr/>
          <p:nvPr/>
        </p:nvSpPr>
        <p:spPr>
          <a:xfrm>
            <a:off x="266700" y="2647950"/>
            <a:ext cx="4229100" cy="2228850"/>
          </a:xfrm>
          <a:prstGeom prst="roundRect">
            <a:avLst>
              <a:gd name="adj" fmla="val 5128"/>
            </a:avLst>
          </a:prstGeom>
          <a:solidFill>
            <a:srgbClr val="FFFFFF">
              <a:alpha val="90000"/>
            </a:srgbClr>
          </a:solidFill>
          <a:ln/>
        </p:spPr>
        <p:txBody>
          <a:bodyPr wrap="square" lIns="234950" tIns="263128" rIns="234950" bIns="263128" rtlCol="0" anchor="ctr"/>
          <a:lstStyle/>
          <a:p>
            <a:pPr algn="ctr">
              <a:lnSpc>
                <a:spcPts val="1170"/>
              </a:lnSpc>
            </a:pPr>
            <a:endParaRPr lang="en-US" sz="900" dirty="0"/>
          </a:p>
        </p:txBody>
      </p:sp>
      <p:sp>
        <p:nvSpPr>
          <p:cNvPr id="7" name="Text 3"/>
          <p:cNvSpPr/>
          <p:nvPr/>
        </p:nvSpPr>
        <p:spPr>
          <a:xfrm>
            <a:off x="457200" y="2714625"/>
            <a:ext cx="3848100" cy="857250"/>
          </a:xfrm>
          <a:prstGeom prst="rect">
            <a:avLst/>
          </a:prstGeom>
          <a:noFill/>
          <a:ln/>
        </p:spPr>
        <p:txBody>
          <a:bodyPr wrap="square" lIns="0" tIns="0" rIns="0" bIns="0" rtlCol="0" anchor="t"/>
          <a:lstStyle/>
          <a:p>
            <a:pPr algn="l">
              <a:lnSpc>
                <a:spcPts val="6750"/>
              </a:lnSpc>
            </a:pPr>
            <a:r>
              <a:rPr lang="en-US" sz="4800" kern="0" spc="-36" dirty="0">
                <a:solidFill>
                  <a:srgbClr val="070707"/>
                </a:solidFill>
                <a:latin typeface="MiSans Semibold" pitchFamily="2" charset="-122"/>
                <a:ea typeface="MiSans Semibold" pitchFamily="2" charset="-122"/>
                <a:cs typeface="Manrope" pitchFamily="34" charset="-120"/>
              </a:rPr>
              <a:t>#1</a:t>
            </a:r>
            <a:endParaRPr lang="en-US" sz="4800" dirty="0">
              <a:latin typeface="MiSans Semibold" pitchFamily="2" charset="-122"/>
              <a:ea typeface="MiSans Semibold" pitchFamily="2" charset="-122"/>
            </a:endParaRPr>
          </a:p>
        </p:txBody>
      </p:sp>
      <p:sp>
        <p:nvSpPr>
          <p:cNvPr id="8" name="Text 4"/>
          <p:cNvSpPr/>
          <p:nvPr/>
        </p:nvSpPr>
        <p:spPr>
          <a:xfrm>
            <a:off x="457200" y="3879669"/>
            <a:ext cx="3848100" cy="797059"/>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最佳性价比产品</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
        <p:nvSpPr>
          <p:cNvPr id="9" name="Text 5"/>
          <p:cNvSpPr/>
          <p:nvPr/>
        </p:nvSpPr>
        <p:spPr>
          <a:xfrm>
            <a:off x="4648200" y="2647950"/>
            <a:ext cx="4229100" cy="2228850"/>
          </a:xfrm>
          <a:prstGeom prst="roundRect">
            <a:avLst>
              <a:gd name="adj" fmla="val 5470"/>
            </a:avLst>
          </a:prstGeom>
          <a:solidFill>
            <a:srgbClr val="FFFFFF">
              <a:alpha val="90000"/>
            </a:srgbClr>
          </a:solidFill>
          <a:ln/>
        </p:spPr>
        <p:txBody>
          <a:bodyPr wrap="square" lIns="234950" tIns="263128" rIns="234950" bIns="263128" rtlCol="0" anchor="ctr"/>
          <a:lstStyle/>
          <a:p>
            <a:pPr algn="ctr">
              <a:lnSpc>
                <a:spcPts val="1170"/>
              </a:lnSpc>
            </a:pPr>
            <a:endParaRPr lang="en-US" sz="900" dirty="0"/>
          </a:p>
        </p:txBody>
      </p:sp>
      <p:sp>
        <p:nvSpPr>
          <p:cNvPr id="10" name="Text 6"/>
          <p:cNvSpPr/>
          <p:nvPr/>
        </p:nvSpPr>
        <p:spPr>
          <a:xfrm>
            <a:off x="4838700" y="2714625"/>
            <a:ext cx="3848100" cy="857250"/>
          </a:xfrm>
          <a:prstGeom prst="rect">
            <a:avLst/>
          </a:prstGeom>
          <a:noFill/>
          <a:ln/>
        </p:spPr>
        <p:txBody>
          <a:bodyPr wrap="square" lIns="0" tIns="0" rIns="0" bIns="0" rtlCol="0" anchor="t"/>
          <a:lstStyle/>
          <a:p>
            <a:pPr algn="l">
              <a:lnSpc>
                <a:spcPts val="6750"/>
              </a:lnSpc>
            </a:pPr>
            <a:r>
              <a:rPr lang="en-US" sz="4800" kern="0" spc="-36" dirty="0">
                <a:solidFill>
                  <a:srgbClr val="070707"/>
                </a:solidFill>
                <a:latin typeface="MiSans Semibold" pitchFamily="2" charset="-122"/>
                <a:ea typeface="MiSans Semibold" pitchFamily="2" charset="-122"/>
                <a:cs typeface="Manrope" pitchFamily="34" charset="-120"/>
              </a:rPr>
              <a:t>99%</a:t>
            </a:r>
            <a:endParaRPr lang="en-US" sz="4800" dirty="0">
              <a:latin typeface="MiSans Semibold" pitchFamily="2" charset="-122"/>
              <a:ea typeface="MiSans Semibold" pitchFamily="2" charset="-122"/>
            </a:endParaRPr>
          </a:p>
        </p:txBody>
      </p:sp>
      <p:sp>
        <p:nvSpPr>
          <p:cNvPr id="11" name="Text 7"/>
          <p:cNvSpPr/>
          <p:nvPr/>
        </p:nvSpPr>
        <p:spPr>
          <a:xfrm>
            <a:off x="4838700" y="3874740"/>
            <a:ext cx="3848100" cy="802853"/>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正面客户评价</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8">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c694f1a5-3fff-4d56-940a-48fb428a3924?pitch-bytes=988652&amp;pitch-content-type=image%2Fjpeg"/>
          <p:cNvPicPr>
            <a:picLocks noChangeAspect="1"/>
          </p:cNvPicPr>
          <p:nvPr/>
        </p:nvPicPr>
        <p:blipFill>
          <a:blip r:embed="rId3"/>
          <a:srcRect/>
          <a:stretch/>
        </p:blipFill>
        <p:spPr>
          <a:xfrm>
            <a:off x="0" y="0"/>
            <a:ext cx="9144000" cy="5143500"/>
          </a:xfrm>
          <a:prstGeom prst="rect">
            <a:avLst/>
          </a:prstGeom>
        </p:spPr>
      </p:pic>
      <p:sp>
        <p:nvSpPr>
          <p:cNvPr id="6" name="Text 2"/>
          <p:cNvSpPr/>
          <p:nvPr/>
        </p:nvSpPr>
        <p:spPr>
          <a:xfrm>
            <a:off x="266700" y="2751860"/>
            <a:ext cx="2038350" cy="2124075"/>
          </a:xfrm>
          <a:prstGeom prst="roundRect">
            <a:avLst>
              <a:gd name="adj" fmla="val 3364"/>
            </a:avLst>
          </a:prstGeom>
          <a:solidFill>
            <a:srgbClr val="FFFFFF">
              <a:alpha val="90000"/>
            </a:srgbClr>
          </a:solidFill>
          <a:ln/>
        </p:spPr>
        <p:txBody>
          <a:bodyPr wrap="square" lIns="113242" tIns="250759" rIns="113242" bIns="250759" rtlCol="0" anchor="ctr"/>
          <a:lstStyle/>
          <a:p>
            <a:pPr algn="ctr">
              <a:lnSpc>
                <a:spcPts val="1170"/>
              </a:lnSpc>
            </a:pPr>
            <a:endParaRPr lang="en-US" sz="900" dirty="0"/>
          </a:p>
        </p:txBody>
      </p:sp>
      <p:sp>
        <p:nvSpPr>
          <p:cNvPr id="7" name="Text 3"/>
          <p:cNvSpPr/>
          <p:nvPr/>
        </p:nvSpPr>
        <p:spPr>
          <a:xfrm>
            <a:off x="457200" y="2942360"/>
            <a:ext cx="1638300" cy="480045"/>
          </a:xfrm>
          <a:prstGeom prst="rect">
            <a:avLst/>
          </a:prstGeom>
          <a:noFill/>
          <a:ln/>
        </p:spPr>
        <p:txBody>
          <a:bodyPr wrap="square" lIns="0" tIns="0" rIns="0" bIns="0" rtlCol="0" anchor="t"/>
          <a:lstStyle/>
          <a:p>
            <a:pPr algn="l"/>
            <a:r>
              <a:rPr lang="en-US" sz="3600" b="1" kern="0" spc="-36" dirty="0">
                <a:solidFill>
                  <a:srgbClr val="070707"/>
                </a:solidFill>
                <a:latin typeface="MiSans" pitchFamily="2" charset="-122"/>
                <a:ea typeface="MiSans" pitchFamily="2" charset="-122"/>
                <a:cs typeface="Manrope" pitchFamily="34" charset="-120"/>
              </a:rPr>
              <a:t>#1</a:t>
            </a:r>
            <a:endParaRPr lang="en-US" sz="3600" b="1" dirty="0">
              <a:latin typeface="MiSans" pitchFamily="2" charset="-122"/>
              <a:ea typeface="MiSans" pitchFamily="2" charset="-122"/>
            </a:endParaRPr>
          </a:p>
        </p:txBody>
      </p:sp>
      <p:sp>
        <p:nvSpPr>
          <p:cNvPr id="8" name="Text 4"/>
          <p:cNvSpPr/>
          <p:nvPr/>
        </p:nvSpPr>
        <p:spPr>
          <a:xfrm>
            <a:off x="457200" y="4226672"/>
            <a:ext cx="1638300" cy="445703"/>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最佳性价比产品</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
        <p:nvSpPr>
          <p:cNvPr id="9" name="Text 5"/>
          <p:cNvSpPr/>
          <p:nvPr/>
        </p:nvSpPr>
        <p:spPr>
          <a:xfrm>
            <a:off x="2457450" y="2751860"/>
            <a:ext cx="2038350" cy="2124075"/>
          </a:xfrm>
          <a:prstGeom prst="roundRect">
            <a:avLst>
              <a:gd name="adj" fmla="val 3364"/>
            </a:avLst>
          </a:prstGeom>
          <a:solidFill>
            <a:srgbClr val="FFFFFF">
              <a:alpha val="90000"/>
            </a:srgbClr>
          </a:solidFill>
          <a:ln/>
        </p:spPr>
        <p:txBody>
          <a:bodyPr wrap="square" lIns="113242" tIns="250759" rIns="113242" bIns="250759" rtlCol="0" anchor="ctr"/>
          <a:lstStyle/>
          <a:p>
            <a:pPr algn="ctr">
              <a:lnSpc>
                <a:spcPts val="1170"/>
              </a:lnSpc>
            </a:pPr>
            <a:endParaRPr lang="en-US" sz="900" dirty="0"/>
          </a:p>
        </p:txBody>
      </p:sp>
      <p:sp>
        <p:nvSpPr>
          <p:cNvPr id="10" name="Text 6"/>
          <p:cNvSpPr/>
          <p:nvPr/>
        </p:nvSpPr>
        <p:spPr>
          <a:xfrm>
            <a:off x="2647950" y="2942360"/>
            <a:ext cx="1638300" cy="480045"/>
          </a:xfrm>
          <a:prstGeom prst="rect">
            <a:avLst/>
          </a:prstGeom>
          <a:noFill/>
          <a:ln/>
        </p:spPr>
        <p:txBody>
          <a:bodyPr wrap="square" lIns="0" tIns="0" rIns="0" bIns="0" rtlCol="0" anchor="t"/>
          <a:lstStyle/>
          <a:p>
            <a:pPr algn="l"/>
            <a:r>
              <a:rPr lang="en-US" sz="3600" b="1" kern="0" spc="-36" dirty="0">
                <a:solidFill>
                  <a:srgbClr val="070707"/>
                </a:solidFill>
                <a:latin typeface="MiSans" pitchFamily="2" charset="-122"/>
                <a:ea typeface="MiSans" pitchFamily="2" charset="-122"/>
                <a:cs typeface="Manrope" pitchFamily="34" charset="-120"/>
              </a:rPr>
              <a:t>99%</a:t>
            </a:r>
            <a:endParaRPr lang="en-US" sz="3600" b="1" dirty="0">
              <a:latin typeface="MiSans" pitchFamily="2" charset="-122"/>
              <a:ea typeface="MiSans" pitchFamily="2" charset="-122"/>
            </a:endParaRPr>
          </a:p>
        </p:txBody>
      </p:sp>
      <p:sp>
        <p:nvSpPr>
          <p:cNvPr id="11" name="Text 7"/>
          <p:cNvSpPr/>
          <p:nvPr/>
        </p:nvSpPr>
        <p:spPr>
          <a:xfrm>
            <a:off x="2647950" y="4226672"/>
            <a:ext cx="1638300" cy="445703"/>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正面客户评价</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
        <p:nvSpPr>
          <p:cNvPr id="12" name="Text 8"/>
          <p:cNvSpPr/>
          <p:nvPr/>
        </p:nvSpPr>
        <p:spPr>
          <a:xfrm>
            <a:off x="4648200" y="2751860"/>
            <a:ext cx="2038350" cy="2124075"/>
          </a:xfrm>
          <a:prstGeom prst="roundRect">
            <a:avLst>
              <a:gd name="adj" fmla="val 3364"/>
            </a:avLst>
          </a:prstGeom>
          <a:solidFill>
            <a:srgbClr val="FFFFFF">
              <a:alpha val="90000"/>
            </a:srgbClr>
          </a:solidFill>
          <a:ln/>
        </p:spPr>
        <p:txBody>
          <a:bodyPr wrap="square" lIns="113242" tIns="250759" rIns="113242" bIns="250759" rtlCol="0" anchor="ctr"/>
          <a:lstStyle/>
          <a:p>
            <a:pPr algn="ctr">
              <a:lnSpc>
                <a:spcPts val="1170"/>
              </a:lnSpc>
            </a:pPr>
            <a:endParaRPr lang="en-US" sz="900" dirty="0"/>
          </a:p>
        </p:txBody>
      </p:sp>
      <p:sp>
        <p:nvSpPr>
          <p:cNvPr id="13" name="Text 9"/>
          <p:cNvSpPr/>
          <p:nvPr/>
        </p:nvSpPr>
        <p:spPr>
          <a:xfrm>
            <a:off x="4838700" y="2942360"/>
            <a:ext cx="1638300" cy="480045"/>
          </a:xfrm>
          <a:prstGeom prst="rect">
            <a:avLst/>
          </a:prstGeom>
          <a:noFill/>
          <a:ln/>
        </p:spPr>
        <p:txBody>
          <a:bodyPr wrap="square" lIns="0" tIns="0" rIns="0" bIns="0" rtlCol="0" anchor="t"/>
          <a:lstStyle/>
          <a:p>
            <a:pPr algn="l"/>
            <a:r>
              <a:rPr lang="en-US" sz="3600" b="1" kern="0" spc="-36" dirty="0">
                <a:solidFill>
                  <a:srgbClr val="070707"/>
                </a:solidFill>
                <a:latin typeface="MiSans" pitchFamily="2" charset="-122"/>
                <a:ea typeface="MiSans" pitchFamily="2" charset="-122"/>
                <a:cs typeface="Manrope" pitchFamily="34" charset="-120"/>
              </a:rPr>
              <a:t>95%</a:t>
            </a:r>
            <a:endParaRPr lang="en-US" sz="3600" b="1" dirty="0">
              <a:latin typeface="MiSans" pitchFamily="2" charset="-122"/>
              <a:ea typeface="MiSans" pitchFamily="2" charset="-122"/>
            </a:endParaRPr>
          </a:p>
        </p:txBody>
      </p:sp>
      <p:sp>
        <p:nvSpPr>
          <p:cNvPr id="14" name="Text 10"/>
          <p:cNvSpPr/>
          <p:nvPr/>
        </p:nvSpPr>
        <p:spPr>
          <a:xfrm>
            <a:off x="4838700" y="4231026"/>
            <a:ext cx="1638560" cy="445703"/>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员工</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满意度</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
        <p:nvSpPr>
          <p:cNvPr id="15" name="Text 11"/>
          <p:cNvSpPr/>
          <p:nvPr/>
        </p:nvSpPr>
        <p:spPr>
          <a:xfrm>
            <a:off x="6838950" y="2751860"/>
            <a:ext cx="2038350" cy="2124075"/>
          </a:xfrm>
          <a:prstGeom prst="roundRect">
            <a:avLst>
              <a:gd name="adj" fmla="val 3364"/>
            </a:avLst>
          </a:prstGeom>
          <a:solidFill>
            <a:srgbClr val="FFFFFF">
              <a:alpha val="90000"/>
            </a:srgbClr>
          </a:solidFill>
          <a:ln/>
        </p:spPr>
        <p:txBody>
          <a:bodyPr wrap="square" lIns="113242" tIns="250759" rIns="113242" bIns="250759" rtlCol="0" anchor="ctr"/>
          <a:lstStyle/>
          <a:p>
            <a:pPr algn="ctr">
              <a:lnSpc>
                <a:spcPts val="1170"/>
              </a:lnSpc>
            </a:pPr>
            <a:endParaRPr lang="en-US" sz="900" dirty="0"/>
          </a:p>
        </p:txBody>
      </p:sp>
      <p:sp>
        <p:nvSpPr>
          <p:cNvPr id="16" name="Text 12"/>
          <p:cNvSpPr/>
          <p:nvPr/>
        </p:nvSpPr>
        <p:spPr>
          <a:xfrm>
            <a:off x="7029450" y="2942360"/>
            <a:ext cx="1638300" cy="480045"/>
          </a:xfrm>
          <a:prstGeom prst="rect">
            <a:avLst/>
          </a:prstGeom>
          <a:noFill/>
          <a:ln/>
        </p:spPr>
        <p:txBody>
          <a:bodyPr wrap="square" lIns="0" tIns="0" rIns="0" bIns="0" rtlCol="0" anchor="t"/>
          <a:lstStyle/>
          <a:p>
            <a:pPr algn="l"/>
            <a:r>
              <a:rPr lang="en-US" sz="3600" b="1" kern="0" spc="-36" dirty="0">
                <a:solidFill>
                  <a:srgbClr val="070707"/>
                </a:solidFill>
                <a:latin typeface="MiSans" pitchFamily="2" charset="-122"/>
                <a:ea typeface="MiSans" pitchFamily="2" charset="-122"/>
                <a:cs typeface="Manrope" pitchFamily="34" charset="-120"/>
              </a:rPr>
              <a:t>89%</a:t>
            </a:r>
            <a:endParaRPr lang="en-US" sz="3600" b="1" dirty="0">
              <a:latin typeface="MiSans" pitchFamily="2" charset="-122"/>
              <a:ea typeface="MiSans" pitchFamily="2" charset="-122"/>
            </a:endParaRPr>
          </a:p>
        </p:txBody>
      </p:sp>
      <p:sp>
        <p:nvSpPr>
          <p:cNvPr id="17" name="Text 13"/>
          <p:cNvSpPr/>
          <p:nvPr/>
        </p:nvSpPr>
        <p:spPr>
          <a:xfrm>
            <a:off x="7029450" y="4231026"/>
            <a:ext cx="1638300" cy="445703"/>
          </a:xfrm>
          <a:prstGeom prst="rect">
            <a:avLst/>
          </a:prstGeom>
          <a:noFill/>
          <a:ln/>
        </p:spPr>
        <p:txBody>
          <a:bodyPr wrap="square" lIns="0" tIns="0" rIns="0" bIns="0" rtlCol="0" anchor="b"/>
          <a:lstStyle/>
          <a:p>
            <a:pPr algn="l">
              <a:lnSpc>
                <a:spcPts val="1170"/>
              </a:lnSpc>
            </a:pPr>
            <a:r>
              <a:rPr lang="en-US" sz="900" dirty="0">
                <a:solidFill>
                  <a:srgbClr val="070707"/>
                </a:solidFill>
                <a:latin typeface="MiSans" pitchFamily="2" charset="-122"/>
                <a:ea typeface="MiSans" pitchFamily="2" charset="-122"/>
                <a:cs typeface="Space Mono" pitchFamily="34" charset="-120"/>
              </a:rPr>
              <a:t>用户推荐</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该产品</a:t>
            </a:r>
            <a:endParaRPr lang="en-US" sz="900" dirty="0">
              <a:latin typeface="MiSans" pitchFamily="2" charset="-122"/>
              <a:ea typeface="MiSans" pitchFamily="2" charset="-122"/>
            </a:endParaRPr>
          </a:p>
          <a:p>
            <a:pPr algn="l">
              <a:lnSpc>
                <a:spcPts val="1170"/>
              </a:lnSpc>
            </a:pPr>
            <a:r>
              <a:rPr lang="en-US" sz="900" dirty="0">
                <a:solidFill>
                  <a:srgbClr val="070707"/>
                </a:solidFill>
                <a:latin typeface="MiSans" pitchFamily="2" charset="-122"/>
                <a:ea typeface="MiSans" pitchFamily="2" charset="-122"/>
                <a:cs typeface="Space Mono" pitchFamily="34" charset="-120"/>
              </a:rPr>
              <a:t>—— 来源</a:t>
            </a:r>
            <a:endParaRPr lang="en-US" sz="900" dirty="0">
              <a:latin typeface="MiSans" pitchFamily="2" charset="-122"/>
              <a:ea typeface="MiSans" pitchFamily="2" charset="-122"/>
            </a:endParaRPr>
          </a:p>
        </p:txBody>
      </p:sp>
      <p:sp>
        <p:nvSpPr>
          <p:cNvPr id="2" name="Text 0">
            <a:extLst>
              <a:ext uri="{FF2B5EF4-FFF2-40B4-BE49-F238E27FC236}">
                <a16:creationId xmlns:a16="http://schemas.microsoft.com/office/drawing/2014/main" id="{43806E36-BF5A-6D92-B1AF-ABB223A1906C}"/>
              </a:ext>
            </a:extLst>
          </p:cNvPr>
          <p:cNvSpPr/>
          <p:nvPr/>
        </p:nvSpPr>
        <p:spPr>
          <a:xfrm>
            <a:off x="266700" y="266700"/>
            <a:ext cx="4971506" cy="960090"/>
          </a:xfrm>
          <a:prstGeom prst="rect">
            <a:avLst/>
          </a:prstGeom>
          <a:noFill/>
          <a:ln/>
        </p:spPr>
        <p:txBody>
          <a:bodyPr wrap="square" lIns="0" tIns="0" rIns="0" bIns="0" rtlCol="0" anchor="t"/>
          <a:lstStyle/>
          <a:p>
            <a:pPr algn="l"/>
            <a:r>
              <a:rPr lang="en-US" sz="3200" kern="0" spc="-36" dirty="0">
                <a:solidFill>
                  <a:srgbClr val="FFFFFF"/>
                </a:solidFill>
                <a:latin typeface="MiSans Demibold" pitchFamily="2" charset="-122"/>
                <a:ea typeface="MiSans Demibold" pitchFamily="2" charset="-122"/>
                <a:cs typeface="Manrope" pitchFamily="34" charset="-120"/>
              </a:rPr>
              <a:t>数据有</a:t>
            </a:r>
            <a:endParaRPr lang="en-US" sz="3200" dirty="0">
              <a:latin typeface="MiSans Demibold" pitchFamily="2" charset="-122"/>
              <a:ea typeface="MiSans Demibold" pitchFamily="2" charset="-122"/>
            </a:endParaRPr>
          </a:p>
          <a:p>
            <a:pPr algn="l"/>
            <a:r>
              <a:rPr lang="en-US" sz="3200" kern="0" spc="-36" dirty="0">
                <a:solidFill>
                  <a:srgbClr val="FFFFFF"/>
                </a:solidFill>
                <a:latin typeface="MiSans Demibold" pitchFamily="2" charset="-122"/>
                <a:ea typeface="MiSans Demibold" pitchFamily="2" charset="-122"/>
                <a:cs typeface="Manrope" pitchFamily="34" charset="-120"/>
              </a:rPr>
              <a:t>力量</a:t>
            </a:r>
            <a:endParaRPr lang="en-US" sz="3200" dirty="0">
              <a:latin typeface="MiSans Demibold" pitchFamily="2" charset="-122"/>
              <a:ea typeface="MiSans Demibold" pitchFamily="2" charset="-122"/>
            </a:endParaRPr>
          </a:p>
        </p:txBody>
      </p:sp>
      <p:sp>
        <p:nvSpPr>
          <p:cNvPr id="18" name="Text 1">
            <a:extLst>
              <a:ext uri="{FF2B5EF4-FFF2-40B4-BE49-F238E27FC236}">
                <a16:creationId xmlns:a16="http://schemas.microsoft.com/office/drawing/2014/main" id="{6CC41813-E9D5-4889-8394-D8B794294F53}"/>
              </a:ext>
            </a:extLst>
          </p:cNvPr>
          <p:cNvSpPr/>
          <p:nvPr/>
        </p:nvSpPr>
        <p:spPr>
          <a:xfrm>
            <a:off x="6110288" y="266700"/>
            <a:ext cx="2767013" cy="960090"/>
          </a:xfrm>
          <a:prstGeom prst="rect">
            <a:avLst/>
          </a:prstGeom>
          <a:noFill/>
          <a:ln/>
        </p:spPr>
        <p:txBody>
          <a:bodyPr wrap="square" lIns="0" tIns="0" rIns="0" bIns="0" rtlCol="0" anchor="t"/>
          <a:lstStyle/>
          <a:p>
            <a:pPr algn="l">
              <a:lnSpc>
                <a:spcPct val="150000"/>
              </a:lnSpc>
            </a:pPr>
            <a:r>
              <a:rPr lang="en-US" sz="900" dirty="0">
                <a:solidFill>
                  <a:srgbClr val="FFFFFF">
                    <a:alpha val="39000"/>
                  </a:srgbClr>
                </a:solidFill>
                <a:latin typeface="MiSans" pitchFamily="2" charset="-122"/>
                <a:ea typeface="MiSans" pitchFamily="2" charset="-122"/>
                <a:cs typeface="Space Mono" pitchFamily="34" charset="-120"/>
              </a:rPr>
              <a:t>用数据支撑您的理由。精心选择的几个统计数据比一大堆无意义的数字更有影响力。</a:t>
            </a:r>
            <a:endParaRPr lang="en-US" sz="900" dirty="0">
              <a:latin typeface="MiSans" pitchFamily="2" charset="-122"/>
              <a:ea typeface="MiSans"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0">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f7ee8543-57d1-48d0-a081-d18434b8e70f?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47950"/>
            <a:ext cx="2500313" cy="480045"/>
          </a:xfrm>
          <a:prstGeom prst="rect">
            <a:avLst/>
          </a:prstGeom>
          <a:noFill/>
          <a:ln/>
        </p:spPr>
        <p:txBody>
          <a:bodyPr wrap="square" lIns="0" tIns="0" rIns="0" bIns="0" rtlCol="0" anchor="t"/>
          <a:lstStyle/>
          <a:p>
            <a:pPr algn="l"/>
            <a:r>
              <a:rPr lang="en-US" sz="3600" b="1" kern="0" spc="-36" dirty="0">
                <a:solidFill>
                  <a:srgbClr val="070707"/>
                </a:solidFill>
                <a:latin typeface="MiSans" pitchFamily="2" charset="-122"/>
                <a:ea typeface="MiSans" pitchFamily="2" charset="-122"/>
                <a:cs typeface="Manrope" pitchFamily="34" charset="-120"/>
              </a:rPr>
              <a:t>¥9/</a:t>
            </a:r>
            <a:r>
              <a:rPr lang="en-US" sz="3600" b="1" kern="0" spc="-36" dirty="0" err="1">
                <a:solidFill>
                  <a:srgbClr val="070707"/>
                </a:solidFill>
                <a:latin typeface="MiSans" pitchFamily="2" charset="-122"/>
                <a:ea typeface="MiSans" pitchFamily="2" charset="-122"/>
                <a:cs typeface="Manrope" pitchFamily="34" charset="-120"/>
              </a:rPr>
              <a:t>月</a:t>
            </a:r>
            <a:endParaRPr lang="en-US" sz="3600" b="1" dirty="0">
              <a:latin typeface="MiSans" pitchFamily="2" charset="-122"/>
              <a:ea typeface="MiSans" pitchFamily="2" charset="-122"/>
            </a:endParaRPr>
          </a:p>
        </p:txBody>
      </p:sp>
      <p:sp>
        <p:nvSpPr>
          <p:cNvPr id="5" name="Text 1"/>
          <p:cNvSpPr/>
          <p:nvPr/>
        </p:nvSpPr>
        <p:spPr>
          <a:xfrm>
            <a:off x="266700" y="3637182"/>
            <a:ext cx="2500313" cy="1239618"/>
          </a:xfrm>
          <a:prstGeom prst="rect">
            <a:avLst/>
          </a:prstGeom>
          <a:noFill/>
          <a:ln/>
        </p:spPr>
        <p:txBody>
          <a:bodyPr wrap="square" lIns="0" tIns="0" rIns="0" bIns="0" rtlCol="0" anchor="t"/>
          <a:lstStyle/>
          <a:p>
            <a:pPr>
              <a:lnSpc>
                <a:spcPct val="150000"/>
              </a:lnSpc>
            </a:pPr>
            <a:r>
              <a:rPr lang="en-US" altLang="zh-CN" sz="900" dirty="0" err="1">
                <a:solidFill>
                  <a:srgbClr val="070707">
                    <a:alpha val="40000"/>
                  </a:srgbClr>
                </a:solidFill>
                <a:latin typeface="MiSans Light" pitchFamily="2" charset="-122"/>
                <a:ea typeface="MiSans Light" pitchFamily="2" charset="-122"/>
                <a:cs typeface="Space Mono" pitchFamily="34" charset="-120"/>
              </a:rPr>
              <a:t>产品的精简版本，没有额外功能。产品的精简版本，没有额外功能。产品的精简版本，没有额外功能。产品的精简版本，没有额外功能</a:t>
            </a:r>
            <a:r>
              <a:rPr lang="en-US" altLang="zh-CN" sz="900" dirty="0">
                <a:solidFill>
                  <a:srgbClr val="070707">
                    <a:alpha val="40000"/>
                  </a:srgbClr>
                </a:solidFill>
                <a:latin typeface="MiSans Light" pitchFamily="2" charset="-122"/>
                <a:ea typeface="MiSans Light" pitchFamily="2" charset="-122"/>
                <a:cs typeface="Space Mono" pitchFamily="34" charset="-120"/>
              </a:rPr>
              <a:t>。</a:t>
            </a: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p:txBody>
      </p:sp>
      <p:sp>
        <p:nvSpPr>
          <p:cNvPr id="6" name="Text 2"/>
          <p:cNvSpPr/>
          <p:nvPr/>
        </p:nvSpPr>
        <p:spPr>
          <a:xfrm>
            <a:off x="6110288" y="2647950"/>
            <a:ext cx="2500313" cy="480045"/>
          </a:xfrm>
          <a:prstGeom prst="rect">
            <a:avLst/>
          </a:prstGeom>
          <a:noFill/>
          <a:ln/>
        </p:spPr>
        <p:txBody>
          <a:bodyPr wrap="square" lIns="0" tIns="0" rIns="0" bIns="0" rtlCol="0" anchor="t"/>
          <a:lstStyle/>
          <a:p>
            <a:r>
              <a:rPr lang="en-US" altLang="zh-CN" sz="3600" b="1" kern="0" spc="-36" dirty="0">
                <a:solidFill>
                  <a:srgbClr val="070707"/>
                </a:solidFill>
                <a:latin typeface="MiSans" pitchFamily="2" charset="-122"/>
                <a:ea typeface="MiSans" pitchFamily="2" charset="-122"/>
                <a:cs typeface="Manrope" pitchFamily="34" charset="-120"/>
              </a:rPr>
              <a:t>¥59/</a:t>
            </a:r>
            <a:r>
              <a:rPr lang="en-US" altLang="zh-CN" sz="3600" b="1" kern="0" spc="-36" dirty="0" err="1">
                <a:solidFill>
                  <a:srgbClr val="070707"/>
                </a:solidFill>
                <a:latin typeface="MiSans" pitchFamily="2" charset="-122"/>
                <a:ea typeface="MiSans" pitchFamily="2" charset="-122"/>
                <a:cs typeface="Manrope" pitchFamily="34" charset="-120"/>
              </a:rPr>
              <a:t>月</a:t>
            </a:r>
            <a:endParaRPr lang="en-US" altLang="zh-CN" sz="3600" b="1" dirty="0">
              <a:latin typeface="MiSans" pitchFamily="2" charset="-122"/>
              <a:ea typeface="MiSans" pitchFamily="2" charset="-122"/>
            </a:endParaRPr>
          </a:p>
        </p:txBody>
      </p:sp>
      <p:sp>
        <p:nvSpPr>
          <p:cNvPr id="7" name="Text 3"/>
          <p:cNvSpPr/>
          <p:nvPr/>
        </p:nvSpPr>
        <p:spPr>
          <a:xfrm>
            <a:off x="6110288" y="3637182"/>
            <a:ext cx="2500313" cy="1239618"/>
          </a:xfrm>
          <a:prstGeom prst="rect">
            <a:avLst/>
          </a:prstGeom>
          <a:noFill/>
          <a:ln/>
        </p:spPr>
        <p:txBody>
          <a:bodyPr wrap="square" lIns="0" tIns="0" rIns="0" bIns="0" rtlCol="0" anchor="t"/>
          <a:lstStyle/>
          <a:p>
            <a:pPr>
              <a:lnSpc>
                <a:spcPct val="150000"/>
              </a:lnSpc>
            </a:pPr>
            <a:r>
              <a:rPr lang="en-US" altLang="zh-CN" sz="900" dirty="0">
                <a:solidFill>
                  <a:srgbClr val="070707">
                    <a:alpha val="40000"/>
                  </a:srgbClr>
                </a:solidFill>
                <a:latin typeface="MiSans Light" pitchFamily="2" charset="-122"/>
                <a:ea typeface="MiSans Light" pitchFamily="2" charset="-122"/>
                <a:cs typeface="Space Mono" pitchFamily="34" charset="-120"/>
              </a:rPr>
              <a:t>这是为高端用户准备的。VIP待遇、额外福利和独家功能。这是为高端用户准备的。VIP待遇、额外福利和独家功能。这是为高端用户准备的。VIP待遇、额外福利和独家功能。</a:t>
            </a: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a:p>
            <a:pPr>
              <a:lnSpc>
                <a:spcPct val="150000"/>
              </a:lnSpc>
            </a:pPr>
            <a:endParaRPr lang="en-US" altLang="zh-CN" sz="900" dirty="0">
              <a:latin typeface="MiSans Light" pitchFamily="2" charset="-122"/>
              <a:ea typeface="MiSans Light" pitchFamily="2" charset="-122"/>
            </a:endParaRPr>
          </a:p>
        </p:txBody>
      </p:sp>
      <p:sp>
        <p:nvSpPr>
          <p:cNvPr id="8" name="Text 4"/>
          <p:cNvSpPr/>
          <p:nvPr/>
        </p:nvSpPr>
        <p:spPr>
          <a:xfrm>
            <a:off x="3186113" y="2647950"/>
            <a:ext cx="2500312" cy="480045"/>
          </a:xfrm>
          <a:prstGeom prst="rect">
            <a:avLst/>
          </a:prstGeom>
          <a:noFill/>
          <a:ln/>
        </p:spPr>
        <p:txBody>
          <a:bodyPr wrap="square" lIns="0" tIns="0" rIns="0" bIns="0" rtlCol="0" anchor="t"/>
          <a:lstStyle/>
          <a:p>
            <a:r>
              <a:rPr lang="en-US" altLang="zh-CN" sz="3600" b="1" kern="0" spc="-36" dirty="0">
                <a:solidFill>
                  <a:srgbClr val="070707"/>
                </a:solidFill>
                <a:latin typeface="MiSans" pitchFamily="2" charset="-122"/>
                <a:ea typeface="MiSans" pitchFamily="2" charset="-122"/>
                <a:cs typeface="Manrope" pitchFamily="34" charset="-120"/>
              </a:rPr>
              <a:t>¥39/</a:t>
            </a:r>
            <a:r>
              <a:rPr lang="en-US" altLang="zh-CN" sz="3600" b="1" kern="0" spc="-36" dirty="0" err="1">
                <a:solidFill>
                  <a:srgbClr val="070707"/>
                </a:solidFill>
                <a:latin typeface="MiSans" pitchFamily="2" charset="-122"/>
                <a:ea typeface="MiSans" pitchFamily="2" charset="-122"/>
                <a:cs typeface="Manrope" pitchFamily="34" charset="-120"/>
              </a:rPr>
              <a:t>月</a:t>
            </a:r>
            <a:endParaRPr lang="en-US" altLang="zh-CN" sz="3600" b="1" dirty="0">
              <a:latin typeface="MiSans" pitchFamily="2" charset="-122"/>
              <a:ea typeface="MiSans" pitchFamily="2" charset="-122"/>
            </a:endParaRPr>
          </a:p>
        </p:txBody>
      </p:sp>
      <p:sp>
        <p:nvSpPr>
          <p:cNvPr id="9" name="Text 5"/>
          <p:cNvSpPr/>
          <p:nvPr/>
        </p:nvSpPr>
        <p:spPr>
          <a:xfrm>
            <a:off x="3186113" y="3637182"/>
            <a:ext cx="2500312" cy="1239618"/>
          </a:xfrm>
          <a:prstGeom prst="rect">
            <a:avLst/>
          </a:prstGeom>
          <a:noFill/>
          <a:ln/>
        </p:spPr>
        <p:txBody>
          <a:bodyPr wrap="square" lIns="0" tIns="0" rIns="0" bIns="0" rtlCol="0" anchor="t"/>
          <a:lstStyle/>
          <a:p>
            <a:pPr>
              <a:lnSpc>
                <a:spcPct val="150000"/>
              </a:lnSpc>
            </a:pPr>
            <a:r>
              <a:rPr lang="en-US" sz="900" dirty="0">
                <a:solidFill>
                  <a:srgbClr val="070707">
                    <a:alpha val="40000"/>
                  </a:srgbClr>
                </a:solidFill>
                <a:latin typeface="MiSans Light" pitchFamily="2" charset="-122"/>
                <a:ea typeface="MiSans Light" pitchFamily="2" charset="-122"/>
                <a:cs typeface="Space Mono" pitchFamily="34" charset="-120"/>
              </a:rPr>
              <a:t>我们用户最受欢迎的选择。包含所有基本功能及一些额外福利。</a:t>
            </a:r>
            <a:r>
              <a:rPr lang="en-US" altLang="zh-CN" sz="900" dirty="0">
                <a:solidFill>
                  <a:srgbClr val="070707">
                    <a:alpha val="40000"/>
                  </a:srgbClr>
                </a:solidFill>
                <a:latin typeface="MiSans Light" pitchFamily="2" charset="-122"/>
                <a:ea typeface="MiSans Light" pitchFamily="2" charset="-122"/>
                <a:cs typeface="Space Mono" pitchFamily="34" charset="-120"/>
              </a:rPr>
              <a:t>我们用户最受欢迎的选择。包含所有基本功能及一些额外福利。我们用户最受欢迎的选择。</a:t>
            </a:r>
            <a:endParaRPr lang="en-US" altLang="zh-CN" sz="900" dirty="0">
              <a:latin typeface="MiSans Light" pitchFamily="2" charset="-122"/>
              <a:ea typeface="MiSans Light" pitchFamily="2" charset="-122"/>
            </a:endParaRPr>
          </a:p>
          <a:p>
            <a:pPr algn="l">
              <a:lnSpc>
                <a:spcPct val="150000"/>
              </a:lnSpc>
            </a:pPr>
            <a:endParaRPr lang="en-US" sz="900" dirty="0">
              <a:latin typeface="MiSans Light" pitchFamily="2" charset="-122"/>
              <a:ea typeface="MiSans Light" pitchFamily="2" charset="-122"/>
            </a:endParaRPr>
          </a:p>
        </p:txBody>
      </p:sp>
      <p:sp>
        <p:nvSpPr>
          <p:cNvPr id="10" name="Text 6"/>
          <p:cNvSpPr/>
          <p:nvPr/>
        </p:nvSpPr>
        <p:spPr>
          <a:xfrm>
            <a:off x="266700" y="266700"/>
            <a:ext cx="5691188" cy="480045"/>
          </a:xfrm>
          <a:prstGeom prst="rect">
            <a:avLst/>
          </a:prstGeom>
          <a:noFill/>
          <a:ln/>
        </p:spPr>
        <p:txBody>
          <a:bodyPr wrap="square" lIns="0" tIns="0" rIns="0" bIns="0" rtlCol="0" anchor="t"/>
          <a:lstStyle/>
          <a:p>
            <a:pPr algn="l"/>
            <a:r>
              <a:rPr lang="en-US" sz="3200" kern="0" spc="-36" dirty="0">
                <a:solidFill>
                  <a:srgbClr val="070707"/>
                </a:solidFill>
                <a:latin typeface="MiSans Demibold" pitchFamily="2" charset="-122"/>
                <a:ea typeface="MiSans Demibold" pitchFamily="2" charset="-122"/>
                <a:cs typeface="Manrope" pitchFamily="34" charset="-120"/>
              </a:rPr>
              <a:t>介绍您的定价方案</a:t>
            </a:r>
            <a:endParaRPr lang="en-US" sz="3200" dirty="0">
              <a:latin typeface="MiSans Demibold" pitchFamily="2" charset="-122"/>
              <a:ea typeface="MiSans Demibold" pitchFamily="2" charset="-122"/>
            </a:endParaRPr>
          </a:p>
        </p:txBody>
      </p:sp>
      <p:sp>
        <p:nvSpPr>
          <p:cNvPr id="11" name="Text 7"/>
          <p:cNvSpPr/>
          <p:nvPr/>
        </p:nvSpPr>
        <p:spPr>
          <a:xfrm>
            <a:off x="3185770" y="3303308"/>
            <a:ext cx="2500313"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团队版</a:t>
            </a:r>
            <a:endParaRPr lang="en-US" sz="900" dirty="0">
              <a:latin typeface="MiSans" pitchFamily="2" charset="-122"/>
              <a:ea typeface="MiSans" pitchFamily="2" charset="-122"/>
            </a:endParaRPr>
          </a:p>
        </p:txBody>
      </p:sp>
      <p:sp>
        <p:nvSpPr>
          <p:cNvPr id="12" name="Text 8"/>
          <p:cNvSpPr/>
          <p:nvPr/>
        </p:nvSpPr>
        <p:spPr>
          <a:xfrm>
            <a:off x="267005" y="3303308"/>
            <a:ext cx="2500313"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个人版</a:t>
            </a:r>
            <a:endParaRPr lang="en-US" sz="900" dirty="0">
              <a:latin typeface="MiSans" pitchFamily="2" charset="-122"/>
              <a:ea typeface="MiSans" pitchFamily="2" charset="-122"/>
            </a:endParaRPr>
          </a:p>
        </p:txBody>
      </p:sp>
      <p:sp>
        <p:nvSpPr>
          <p:cNvPr id="13" name="Text 9"/>
          <p:cNvSpPr/>
          <p:nvPr/>
        </p:nvSpPr>
        <p:spPr>
          <a:xfrm>
            <a:off x="6110288" y="3303308"/>
            <a:ext cx="2500313"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企业版</a:t>
            </a:r>
            <a:endParaRPr lang="en-US" sz="900" dirty="0">
              <a:latin typeface="MiSans" pitchFamily="2" charset="-122"/>
              <a:ea typeface="MiSans"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5">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50769700-88d9-4fde-b87c-ebbf8ffffdbc?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4495800"/>
            <a:ext cx="1152525" cy="381000"/>
          </a:xfrm>
          <a:prstGeom prst="roundRect">
            <a:avLst>
              <a:gd name="adj" fmla="val 50000"/>
            </a:avLst>
          </a:prstGeom>
          <a:solidFill>
            <a:srgbClr val="070707"/>
          </a:solidFill>
          <a:ln/>
        </p:spPr>
        <p:txBody>
          <a:bodyPr wrap="square" lIns="64029" tIns="44979" rIns="64029" bIns="44979" rtlCol="0" anchor="ctr"/>
          <a:lstStyle/>
          <a:p>
            <a:pPr algn="ctr">
              <a:lnSpc>
                <a:spcPts val="1170"/>
              </a:lnSpc>
            </a:pPr>
            <a:endParaRPr lang="en-US" sz="900" dirty="0"/>
          </a:p>
        </p:txBody>
      </p:sp>
      <p:sp>
        <p:nvSpPr>
          <p:cNvPr id="5" name="Text 1"/>
          <p:cNvSpPr/>
          <p:nvPr/>
        </p:nvSpPr>
        <p:spPr>
          <a:xfrm>
            <a:off x="266700" y="4612016"/>
            <a:ext cx="115252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机遇</a:t>
            </a:r>
            <a:endParaRPr lang="en-US" sz="900" dirty="0">
              <a:latin typeface="MiSans" pitchFamily="2" charset="-122"/>
              <a:ea typeface="MiSans" pitchFamily="2" charset="-122"/>
            </a:endParaRPr>
          </a:p>
        </p:txBody>
      </p:sp>
      <p:sp>
        <p:nvSpPr>
          <p:cNvPr id="6" name="Text 2"/>
          <p:cNvSpPr/>
          <p:nvPr/>
        </p:nvSpPr>
        <p:spPr>
          <a:xfrm>
            <a:off x="266700" y="266700"/>
            <a:ext cx="5691188" cy="960090"/>
          </a:xfrm>
          <a:prstGeom prst="rect">
            <a:avLst/>
          </a:prstGeom>
          <a:noFill/>
          <a:ln/>
        </p:spPr>
        <p:txBody>
          <a:bodyPr wrap="square" lIns="0" tIns="0" rIns="0" bIns="0" rtlCol="0" anchor="t"/>
          <a:lstStyle/>
          <a:p>
            <a:pPr algn="l">
              <a:lnSpc>
                <a:spcPts val="3780"/>
              </a:lnSpc>
            </a:pPr>
            <a:r>
              <a:rPr lang="en-US" sz="3200" kern="0" spc="-36" dirty="0">
                <a:solidFill>
                  <a:srgbClr val="070707"/>
                </a:solidFill>
                <a:latin typeface="MiSans Demibold" pitchFamily="2" charset="-122"/>
                <a:ea typeface="MiSans Demibold" pitchFamily="2" charset="-122"/>
                <a:cs typeface="Manrope" pitchFamily="34" charset="-120"/>
              </a:rPr>
              <a:t>市场推广</a:t>
            </a:r>
            <a:endParaRPr lang="en-US" sz="3200" dirty="0">
              <a:latin typeface="MiSans Demibold" pitchFamily="2" charset="-122"/>
              <a:ea typeface="MiSans Demibold" pitchFamily="2" charset="-122"/>
            </a:endParaRPr>
          </a:p>
          <a:p>
            <a:pPr algn="l">
              <a:lnSpc>
                <a:spcPts val="3780"/>
              </a:lnSpc>
            </a:pPr>
            <a:r>
              <a:rPr lang="en-US" sz="3200" kern="0" spc="-36" dirty="0">
                <a:solidFill>
                  <a:srgbClr val="070707"/>
                </a:solidFill>
                <a:latin typeface="MiSans Demibold" pitchFamily="2" charset="-122"/>
                <a:ea typeface="MiSans Demibold" pitchFamily="2" charset="-122"/>
                <a:cs typeface="Manrope" pitchFamily="34" charset="-120"/>
              </a:rPr>
              <a:t>策略</a:t>
            </a:r>
            <a:endParaRPr lang="en-US" sz="3200" dirty="0">
              <a:latin typeface="MiSans Demibold" pitchFamily="2" charset="-122"/>
              <a:ea typeface="MiSans Demibold" pitchFamily="2" charset="-122"/>
            </a:endParaRPr>
          </a:p>
        </p:txBody>
      </p:sp>
      <p:sp>
        <p:nvSpPr>
          <p:cNvPr id="7" name="Text 3"/>
          <p:cNvSpPr/>
          <p:nvPr/>
        </p:nvSpPr>
        <p:spPr>
          <a:xfrm>
            <a:off x="266700" y="2403566"/>
            <a:ext cx="3309938" cy="1825534"/>
          </a:xfrm>
          <a:prstGeom prst="rect">
            <a:avLst/>
          </a:prstGeom>
          <a:noFill/>
          <a:ln/>
        </p:spPr>
        <p:txBody>
          <a:bodyPr wrap="square" lIns="0" tIns="0" rIns="0" bIns="0" rtlCol="0" anchor="t"/>
          <a:lstStyle/>
          <a:p>
            <a:pPr algn="l">
              <a:lnSpc>
                <a:spcPct val="150000"/>
              </a:lnSpc>
            </a:pPr>
            <a:r>
              <a:rPr lang="en-US" sz="900" dirty="0">
                <a:solidFill>
                  <a:srgbClr val="070707">
                    <a:alpha val="40000"/>
                  </a:srgbClr>
                </a:solidFill>
                <a:latin typeface="MiSans" pitchFamily="2" charset="-122"/>
                <a:ea typeface="MiSans" pitchFamily="2" charset="-122"/>
                <a:cs typeface="Space Mono" pitchFamily="34" charset="-120"/>
              </a:rPr>
              <a:t>确定驱动您增长的因素（销售、市场营销或产品），并提供您迄今测试过的技术和策略的具体示例。分享照片——或更好的视频——展示您的策略如何运作。</a:t>
            </a:r>
            <a:endParaRPr lang="en-US" sz="900" dirty="0">
              <a:latin typeface="MiSans" pitchFamily="2" charset="-122"/>
              <a:ea typeface="MiSans" pitchFamily="2" charset="-122"/>
            </a:endParaRPr>
          </a:p>
        </p:txBody>
      </p:sp>
      <p:pic>
        <p:nvPicPr>
          <p:cNvPr id="8" name="Image 1"/>
          <p:cNvPicPr>
            <a:picLocks noChangeAspect="1"/>
          </p:cNvPicPr>
          <p:nvPr/>
        </p:nvPicPr>
        <p:blipFill>
          <a:blip r:embed="rId4"/>
          <a:srcRect/>
          <a:stretch/>
        </p:blipFill>
        <p:spPr>
          <a:xfrm>
            <a:off x="6341268" y="266700"/>
            <a:ext cx="2536031" cy="46101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6">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sp>
        <p:nvSpPr>
          <p:cNvPr id="4" name="Text 0"/>
          <p:cNvSpPr/>
          <p:nvPr/>
        </p:nvSpPr>
        <p:spPr>
          <a:xfrm>
            <a:off x="266700" y="266700"/>
            <a:ext cx="5691188" cy="480045"/>
          </a:xfrm>
          <a:prstGeom prst="rect">
            <a:avLst/>
          </a:prstGeom>
          <a:noFill/>
          <a:ln/>
        </p:spPr>
        <p:txBody>
          <a:bodyPr wrap="square" lIns="0" tIns="0" rIns="0" bIns="0" rtlCol="0" anchor="t"/>
          <a:lstStyle/>
          <a:p>
            <a:pPr algn="l">
              <a:lnSpc>
                <a:spcPts val="3780"/>
              </a:lnSpc>
            </a:pPr>
            <a:r>
              <a:rPr lang="en-US" sz="3200" kern="0" spc="-36" dirty="0">
                <a:solidFill>
                  <a:srgbClr val="070707"/>
                </a:solidFill>
                <a:latin typeface="MiSans Demibold" pitchFamily="2" charset="-122"/>
                <a:ea typeface="MiSans Demibold" pitchFamily="2" charset="-122"/>
                <a:cs typeface="Manrope" pitchFamily="34" charset="-120"/>
              </a:rPr>
              <a:t>获客</a:t>
            </a:r>
            <a:endParaRPr lang="en-US" sz="3200" dirty="0">
              <a:latin typeface="MiSans Demibold" pitchFamily="2" charset="-122"/>
              <a:ea typeface="MiSans Demibold" pitchFamily="2" charset="-122"/>
            </a:endParaRPr>
          </a:p>
        </p:txBody>
      </p:sp>
      <p:sp>
        <p:nvSpPr>
          <p:cNvPr id="5" name="Text 1"/>
          <p:cNvSpPr/>
          <p:nvPr/>
        </p:nvSpPr>
        <p:spPr>
          <a:xfrm>
            <a:off x="266700" y="2138153"/>
            <a:ext cx="8610600" cy="2738438"/>
          </a:xfrm>
          <a:prstGeom prst="roundRect">
            <a:avLst>
              <a:gd name="adj" fmla="val 8655"/>
            </a:avLst>
          </a:prstGeom>
          <a:solidFill>
            <a:srgbClr val="FFFFFF">
              <a:alpha val="60000"/>
            </a:srgbClr>
          </a:solidFill>
          <a:ln w="6350">
            <a:solidFill>
              <a:schemeClr val="bg1"/>
            </a:solidFill>
          </a:ln>
        </p:spPr>
        <p:txBody>
          <a:bodyPr wrap="square" lIns="478367" tIns="323288" rIns="478367" bIns="323288" rtlCol="0" anchor="ctr"/>
          <a:lstStyle/>
          <a:p>
            <a:pPr algn="ctr">
              <a:lnSpc>
                <a:spcPts val="1170"/>
              </a:lnSpc>
            </a:pPr>
            <a:endParaRPr lang="en-US" sz="900" dirty="0"/>
          </a:p>
        </p:txBody>
      </p:sp>
      <p:sp>
        <p:nvSpPr>
          <p:cNvPr id="6" name="Text 2"/>
          <p:cNvSpPr/>
          <p:nvPr/>
        </p:nvSpPr>
        <p:spPr>
          <a:xfrm>
            <a:off x="3136798" y="2138153"/>
            <a:ext cx="4763" cy="2738438"/>
          </a:xfrm>
          <a:prstGeom prst="roundRect">
            <a:avLst>
              <a:gd name="adj" fmla="val -19197984"/>
            </a:avLst>
          </a:prstGeom>
          <a:solidFill>
            <a:srgbClr val="070707">
              <a:alpha val="30000"/>
            </a:srgbClr>
          </a:solidFill>
          <a:ln>
            <a:solidFill>
              <a:srgbClr val="F6EFFF"/>
            </a:solidFill>
          </a:ln>
        </p:spPr>
        <p:txBody>
          <a:bodyPr wrap="square" lIns="265" tIns="323288" rIns="265" bIns="323288" rtlCol="0" anchor="ctr"/>
          <a:lstStyle/>
          <a:p>
            <a:pPr algn="ctr">
              <a:lnSpc>
                <a:spcPts val="1170"/>
              </a:lnSpc>
            </a:pPr>
            <a:endParaRPr lang="en-US" sz="900" dirty="0"/>
          </a:p>
        </p:txBody>
      </p:sp>
      <p:sp>
        <p:nvSpPr>
          <p:cNvPr id="7" name="Text 3"/>
          <p:cNvSpPr/>
          <p:nvPr/>
        </p:nvSpPr>
        <p:spPr>
          <a:xfrm>
            <a:off x="6006897" y="2138363"/>
            <a:ext cx="4763" cy="2738438"/>
          </a:xfrm>
          <a:prstGeom prst="roundRect">
            <a:avLst>
              <a:gd name="adj" fmla="val -19197984"/>
            </a:avLst>
          </a:prstGeom>
          <a:solidFill>
            <a:srgbClr val="070707">
              <a:alpha val="30000"/>
            </a:srgbClr>
          </a:solidFill>
          <a:ln>
            <a:solidFill>
              <a:srgbClr val="F6EFFF"/>
            </a:solidFill>
          </a:ln>
        </p:spPr>
        <p:txBody>
          <a:bodyPr wrap="square" lIns="265" tIns="323288" rIns="265" bIns="323288" rtlCol="0" anchor="ctr"/>
          <a:lstStyle/>
          <a:p>
            <a:pPr algn="ctr">
              <a:lnSpc>
                <a:spcPts val="1170"/>
              </a:lnSpc>
            </a:pPr>
            <a:endParaRPr lang="en-US" sz="900" dirty="0"/>
          </a:p>
        </p:txBody>
      </p:sp>
      <p:sp>
        <p:nvSpPr>
          <p:cNvPr id="8" name="Text 4"/>
          <p:cNvSpPr/>
          <p:nvPr/>
        </p:nvSpPr>
        <p:spPr>
          <a:xfrm>
            <a:off x="457200" y="3019425"/>
            <a:ext cx="1638300" cy="76200"/>
          </a:xfrm>
          <a:prstGeom prst="roundRect">
            <a:avLst>
              <a:gd name="adj" fmla="val 60000"/>
            </a:avLst>
          </a:prstGeom>
          <a:solidFill>
            <a:srgbClr val="7030A0">
              <a:alpha val="90000"/>
            </a:srgbClr>
          </a:solidFill>
          <a:ln/>
        </p:spPr>
        <p:txBody>
          <a:bodyPr wrap="square" lIns="91017" tIns="8996" rIns="91017" bIns="8996" rtlCol="0" anchor="ctr"/>
          <a:lstStyle/>
          <a:p>
            <a:pPr algn="ctr">
              <a:lnSpc>
                <a:spcPts val="1170"/>
              </a:lnSpc>
            </a:pPr>
            <a:endParaRPr lang="en-US" sz="900" dirty="0"/>
          </a:p>
        </p:txBody>
      </p:sp>
      <p:sp>
        <p:nvSpPr>
          <p:cNvPr id="9" name="Text 5"/>
          <p:cNvSpPr/>
          <p:nvPr/>
        </p:nvSpPr>
        <p:spPr>
          <a:xfrm>
            <a:off x="457200" y="3171825"/>
            <a:ext cx="16383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社交媒体</a:t>
            </a:r>
            <a:endParaRPr lang="en-US" sz="900" dirty="0">
              <a:latin typeface="MiSans" pitchFamily="2" charset="-122"/>
              <a:ea typeface="MiSans" pitchFamily="2" charset="-122"/>
            </a:endParaRPr>
          </a:p>
        </p:txBody>
      </p:sp>
      <p:sp>
        <p:nvSpPr>
          <p:cNvPr id="10" name="Text 6"/>
          <p:cNvSpPr/>
          <p:nvPr/>
        </p:nvSpPr>
        <p:spPr>
          <a:xfrm>
            <a:off x="3138488" y="3019425"/>
            <a:ext cx="2224088" cy="76200"/>
          </a:xfrm>
          <a:prstGeom prst="roundRect">
            <a:avLst>
              <a:gd name="adj" fmla="val 60000"/>
            </a:avLst>
          </a:prstGeom>
          <a:solidFill>
            <a:srgbClr val="7030A0">
              <a:alpha val="89804"/>
            </a:srgbClr>
          </a:solidFill>
          <a:ln/>
        </p:spPr>
        <p:txBody>
          <a:bodyPr wrap="square" lIns="123560" tIns="8996" rIns="123560" bIns="8996" rtlCol="0" anchor="ctr"/>
          <a:lstStyle/>
          <a:p>
            <a:pPr algn="ctr">
              <a:lnSpc>
                <a:spcPts val="1170"/>
              </a:lnSpc>
            </a:pPr>
            <a:endParaRPr lang="en-US" sz="900" dirty="0"/>
          </a:p>
        </p:txBody>
      </p:sp>
      <p:sp>
        <p:nvSpPr>
          <p:cNvPr id="11" name="Text 7"/>
          <p:cNvSpPr/>
          <p:nvPr/>
        </p:nvSpPr>
        <p:spPr>
          <a:xfrm>
            <a:off x="3138488" y="3171825"/>
            <a:ext cx="2224087"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内容营销</a:t>
            </a:r>
            <a:endParaRPr lang="en-US" sz="900" dirty="0">
              <a:latin typeface="MiSans" pitchFamily="2" charset="-122"/>
              <a:ea typeface="MiSans" pitchFamily="2" charset="-122"/>
            </a:endParaRPr>
          </a:p>
        </p:txBody>
      </p:sp>
      <p:sp>
        <p:nvSpPr>
          <p:cNvPr id="12" name="Text 8"/>
          <p:cNvSpPr/>
          <p:nvPr/>
        </p:nvSpPr>
        <p:spPr>
          <a:xfrm>
            <a:off x="6005513" y="3019425"/>
            <a:ext cx="1233488" cy="76200"/>
          </a:xfrm>
          <a:prstGeom prst="roundRect">
            <a:avLst>
              <a:gd name="adj" fmla="val 60000"/>
            </a:avLst>
          </a:prstGeom>
          <a:solidFill>
            <a:srgbClr val="7030A0">
              <a:alpha val="89804"/>
            </a:srgbClr>
          </a:solidFill>
          <a:ln/>
        </p:spPr>
        <p:txBody>
          <a:bodyPr wrap="square" lIns="68527" tIns="8996" rIns="68527" bIns="8996" rtlCol="0" anchor="ctr"/>
          <a:lstStyle/>
          <a:p>
            <a:pPr algn="ctr">
              <a:lnSpc>
                <a:spcPts val="1170"/>
              </a:lnSpc>
            </a:pPr>
            <a:endParaRPr lang="en-US" sz="900" dirty="0"/>
          </a:p>
        </p:txBody>
      </p:sp>
      <p:sp>
        <p:nvSpPr>
          <p:cNvPr id="13" name="Text 9"/>
          <p:cNvSpPr/>
          <p:nvPr/>
        </p:nvSpPr>
        <p:spPr>
          <a:xfrm>
            <a:off x="6005513" y="3171825"/>
            <a:ext cx="1233488"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推荐引流</a:t>
            </a:r>
            <a:endParaRPr lang="en-US" sz="900" dirty="0">
              <a:latin typeface="MiSans" pitchFamily="2" charset="-122"/>
              <a:ea typeface="MiSans" pitchFamily="2" charset="-122"/>
            </a:endParaRPr>
          </a:p>
        </p:txBody>
      </p:sp>
      <p:sp>
        <p:nvSpPr>
          <p:cNvPr id="14" name="Text 10"/>
          <p:cNvSpPr/>
          <p:nvPr/>
        </p:nvSpPr>
        <p:spPr>
          <a:xfrm>
            <a:off x="6862763" y="3633788"/>
            <a:ext cx="1824038" cy="76200"/>
          </a:xfrm>
          <a:prstGeom prst="roundRect">
            <a:avLst>
              <a:gd name="adj" fmla="val 60000"/>
            </a:avLst>
          </a:prstGeom>
          <a:solidFill>
            <a:srgbClr val="7030A0">
              <a:alpha val="89804"/>
            </a:srgbClr>
          </a:solidFill>
          <a:ln/>
        </p:spPr>
        <p:txBody>
          <a:bodyPr wrap="square" lIns="101335" tIns="8996" rIns="101335" bIns="8996" rtlCol="0" anchor="ctr"/>
          <a:lstStyle/>
          <a:p>
            <a:pPr algn="ctr">
              <a:lnSpc>
                <a:spcPts val="1170"/>
              </a:lnSpc>
            </a:pPr>
            <a:endParaRPr lang="en-US" sz="900" dirty="0"/>
          </a:p>
        </p:txBody>
      </p:sp>
      <p:sp>
        <p:nvSpPr>
          <p:cNvPr id="15" name="Text 11"/>
          <p:cNvSpPr/>
          <p:nvPr/>
        </p:nvSpPr>
        <p:spPr>
          <a:xfrm>
            <a:off x="6862763" y="3786188"/>
            <a:ext cx="1824037"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合作伙伴</a:t>
            </a:r>
            <a:endParaRPr lang="en-US" sz="900" dirty="0">
              <a:latin typeface="MiSans" pitchFamily="2" charset="-122"/>
              <a:ea typeface="MiSans" pitchFamily="2" charset="-122"/>
            </a:endParaRPr>
          </a:p>
        </p:txBody>
      </p:sp>
      <p:sp>
        <p:nvSpPr>
          <p:cNvPr id="16" name="Text 12"/>
          <p:cNvSpPr/>
          <p:nvPr/>
        </p:nvSpPr>
        <p:spPr>
          <a:xfrm>
            <a:off x="6010275" y="4248150"/>
            <a:ext cx="2076450" cy="76200"/>
          </a:xfrm>
          <a:prstGeom prst="roundRect">
            <a:avLst>
              <a:gd name="adj" fmla="val 60000"/>
            </a:avLst>
          </a:prstGeom>
          <a:solidFill>
            <a:srgbClr val="7030A0">
              <a:alpha val="89804"/>
            </a:srgbClr>
          </a:solidFill>
          <a:ln/>
        </p:spPr>
        <p:txBody>
          <a:bodyPr wrap="square" lIns="115358" tIns="8996" rIns="115358" bIns="8996" rtlCol="0" anchor="ctr"/>
          <a:lstStyle/>
          <a:p>
            <a:pPr algn="ctr">
              <a:lnSpc>
                <a:spcPts val="1170"/>
              </a:lnSpc>
            </a:pPr>
            <a:endParaRPr lang="en-US" sz="900" dirty="0"/>
          </a:p>
        </p:txBody>
      </p:sp>
      <p:sp>
        <p:nvSpPr>
          <p:cNvPr id="17" name="Text 13"/>
          <p:cNvSpPr/>
          <p:nvPr/>
        </p:nvSpPr>
        <p:spPr>
          <a:xfrm>
            <a:off x="6010275" y="4400550"/>
            <a:ext cx="207645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直接销售</a:t>
            </a:r>
            <a:endParaRPr lang="en-US" sz="900" dirty="0">
              <a:latin typeface="MiSans" pitchFamily="2" charset="-122"/>
              <a:ea typeface="MiSans" pitchFamily="2" charset="-122"/>
            </a:endParaRPr>
          </a:p>
        </p:txBody>
      </p:sp>
      <p:sp>
        <p:nvSpPr>
          <p:cNvPr id="18" name="Text 14"/>
          <p:cNvSpPr/>
          <p:nvPr/>
        </p:nvSpPr>
        <p:spPr>
          <a:xfrm>
            <a:off x="4624388" y="3633788"/>
            <a:ext cx="1381125" cy="76200"/>
          </a:xfrm>
          <a:prstGeom prst="roundRect">
            <a:avLst>
              <a:gd name="adj" fmla="val 60000"/>
            </a:avLst>
          </a:prstGeom>
          <a:solidFill>
            <a:srgbClr val="7030A0">
              <a:alpha val="89804"/>
            </a:srgbClr>
          </a:solidFill>
          <a:ln/>
        </p:spPr>
        <p:txBody>
          <a:bodyPr wrap="square" lIns="76729" tIns="8996" rIns="76729" bIns="8996" rtlCol="0" anchor="ctr"/>
          <a:lstStyle/>
          <a:p>
            <a:pPr algn="ctr">
              <a:lnSpc>
                <a:spcPts val="1170"/>
              </a:lnSpc>
            </a:pPr>
            <a:endParaRPr lang="en-US" sz="900" dirty="0"/>
          </a:p>
        </p:txBody>
      </p:sp>
      <p:sp>
        <p:nvSpPr>
          <p:cNvPr id="19" name="Text 15"/>
          <p:cNvSpPr/>
          <p:nvPr/>
        </p:nvSpPr>
        <p:spPr>
          <a:xfrm>
            <a:off x="4624388" y="3786188"/>
            <a:ext cx="1381125"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搜索引擎优化</a:t>
            </a:r>
            <a:endParaRPr lang="en-US" sz="900" dirty="0">
              <a:latin typeface="MiSans" pitchFamily="2" charset="-122"/>
              <a:ea typeface="MiSans" pitchFamily="2" charset="-122"/>
            </a:endParaRPr>
          </a:p>
        </p:txBody>
      </p:sp>
      <p:sp>
        <p:nvSpPr>
          <p:cNvPr id="20" name="Text 16"/>
          <p:cNvSpPr/>
          <p:nvPr/>
        </p:nvSpPr>
        <p:spPr>
          <a:xfrm>
            <a:off x="1309688" y="3633788"/>
            <a:ext cx="1824038" cy="76200"/>
          </a:xfrm>
          <a:prstGeom prst="roundRect">
            <a:avLst>
              <a:gd name="adj" fmla="val 60000"/>
            </a:avLst>
          </a:prstGeom>
          <a:solidFill>
            <a:srgbClr val="7030A0">
              <a:alpha val="90000"/>
            </a:srgbClr>
          </a:solidFill>
          <a:ln/>
        </p:spPr>
        <p:txBody>
          <a:bodyPr wrap="square" lIns="101335" tIns="8996" rIns="101335" bIns="8996" rtlCol="0" anchor="ctr"/>
          <a:lstStyle/>
          <a:p>
            <a:pPr algn="ctr">
              <a:lnSpc>
                <a:spcPts val="1170"/>
              </a:lnSpc>
            </a:pPr>
            <a:endParaRPr lang="en-US" sz="900" dirty="0"/>
          </a:p>
        </p:txBody>
      </p:sp>
      <p:sp>
        <p:nvSpPr>
          <p:cNvPr id="21" name="Text 17"/>
          <p:cNvSpPr/>
          <p:nvPr/>
        </p:nvSpPr>
        <p:spPr>
          <a:xfrm>
            <a:off x="1309688" y="3786188"/>
            <a:ext cx="1824038"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网红营销</a:t>
            </a:r>
            <a:endParaRPr lang="en-US" sz="900" dirty="0">
              <a:latin typeface="MiSans" pitchFamily="2" charset="-122"/>
              <a:ea typeface="MiSans" pitchFamily="2" charset="-122"/>
            </a:endParaRPr>
          </a:p>
        </p:txBody>
      </p:sp>
      <p:sp>
        <p:nvSpPr>
          <p:cNvPr id="22" name="Text 18"/>
          <p:cNvSpPr/>
          <p:nvPr/>
        </p:nvSpPr>
        <p:spPr>
          <a:xfrm>
            <a:off x="1294556" y="2328653"/>
            <a:ext cx="819150" cy="209550"/>
          </a:xfrm>
          <a:prstGeom prst="roundRect">
            <a:avLst>
              <a:gd name="adj" fmla="val 58182"/>
            </a:avLst>
          </a:prstGeom>
          <a:solidFill>
            <a:srgbClr val="070707"/>
          </a:solidFill>
          <a:ln/>
        </p:spPr>
        <p:txBody>
          <a:bodyPr wrap="square" lIns="45508" tIns="24739" rIns="45508" bIns="24739" rtlCol="0" anchor="ctr"/>
          <a:lstStyle/>
          <a:p>
            <a:pPr algn="ctr">
              <a:lnSpc>
                <a:spcPts val="1170"/>
              </a:lnSpc>
            </a:pPr>
            <a:endParaRPr lang="en-US" sz="900" dirty="0"/>
          </a:p>
        </p:txBody>
      </p:sp>
      <p:sp>
        <p:nvSpPr>
          <p:cNvPr id="23" name="Text 19"/>
          <p:cNvSpPr/>
          <p:nvPr/>
        </p:nvSpPr>
        <p:spPr>
          <a:xfrm>
            <a:off x="1294574" y="2354382"/>
            <a:ext cx="819113"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阶段 01</a:t>
            </a:r>
            <a:endParaRPr lang="en-US" sz="900" dirty="0">
              <a:latin typeface="MiSans" pitchFamily="2" charset="-122"/>
              <a:ea typeface="MiSans" pitchFamily="2" charset="-122"/>
            </a:endParaRPr>
          </a:p>
        </p:txBody>
      </p:sp>
      <p:sp>
        <p:nvSpPr>
          <p:cNvPr id="24" name="Text 20"/>
          <p:cNvSpPr/>
          <p:nvPr/>
        </p:nvSpPr>
        <p:spPr>
          <a:xfrm>
            <a:off x="4164654" y="2328653"/>
            <a:ext cx="819150" cy="209550"/>
          </a:xfrm>
          <a:prstGeom prst="roundRect">
            <a:avLst>
              <a:gd name="adj" fmla="val 58182"/>
            </a:avLst>
          </a:prstGeom>
          <a:solidFill>
            <a:srgbClr val="070707"/>
          </a:solidFill>
          <a:ln/>
        </p:spPr>
        <p:txBody>
          <a:bodyPr wrap="square" lIns="45508" tIns="24739" rIns="45508" bIns="24739" rtlCol="0" anchor="ctr"/>
          <a:lstStyle/>
          <a:p>
            <a:pPr algn="ctr">
              <a:lnSpc>
                <a:spcPts val="1170"/>
              </a:lnSpc>
            </a:pPr>
            <a:endParaRPr lang="en-US" sz="900" dirty="0"/>
          </a:p>
        </p:txBody>
      </p:sp>
      <p:sp>
        <p:nvSpPr>
          <p:cNvPr id="25" name="Text 21"/>
          <p:cNvSpPr/>
          <p:nvPr/>
        </p:nvSpPr>
        <p:spPr>
          <a:xfrm>
            <a:off x="4164580" y="2354382"/>
            <a:ext cx="819224"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阶段 02</a:t>
            </a:r>
            <a:endParaRPr lang="en-US" sz="900" dirty="0">
              <a:latin typeface="MiSans" pitchFamily="2" charset="-122"/>
              <a:ea typeface="MiSans" pitchFamily="2" charset="-122"/>
            </a:endParaRPr>
          </a:p>
        </p:txBody>
      </p:sp>
      <p:sp>
        <p:nvSpPr>
          <p:cNvPr id="26" name="Text 22"/>
          <p:cNvSpPr/>
          <p:nvPr/>
        </p:nvSpPr>
        <p:spPr>
          <a:xfrm>
            <a:off x="7034753" y="2328653"/>
            <a:ext cx="819150" cy="209550"/>
          </a:xfrm>
          <a:prstGeom prst="roundRect">
            <a:avLst>
              <a:gd name="adj" fmla="val 58182"/>
            </a:avLst>
          </a:prstGeom>
          <a:solidFill>
            <a:srgbClr val="070707"/>
          </a:solidFill>
          <a:ln/>
        </p:spPr>
        <p:txBody>
          <a:bodyPr wrap="square" lIns="45508" tIns="24739" rIns="45508" bIns="24739" rtlCol="0" anchor="ctr"/>
          <a:lstStyle/>
          <a:p>
            <a:pPr algn="ctr">
              <a:lnSpc>
                <a:spcPts val="1170"/>
              </a:lnSpc>
            </a:pPr>
            <a:endParaRPr lang="en-US" sz="900" dirty="0"/>
          </a:p>
        </p:txBody>
      </p:sp>
      <p:sp>
        <p:nvSpPr>
          <p:cNvPr id="27" name="Text 23"/>
          <p:cNvSpPr/>
          <p:nvPr/>
        </p:nvSpPr>
        <p:spPr>
          <a:xfrm>
            <a:off x="7034771" y="2354382"/>
            <a:ext cx="818927" cy="148568"/>
          </a:xfrm>
          <a:prstGeom prst="rect">
            <a:avLst/>
          </a:prstGeom>
          <a:noFill/>
          <a:ln/>
        </p:spPr>
        <p:txBody>
          <a:bodyPr wrap="square" lIns="0" tIns="0" rIns="0" bIns="0" rtlCol="0" anchor="ctr"/>
          <a:lstStyle/>
          <a:p>
            <a:pPr algn="ctr">
              <a:lnSpc>
                <a:spcPts val="1170"/>
              </a:lnSpc>
            </a:pPr>
            <a:r>
              <a:rPr lang="en-US" sz="900" dirty="0">
                <a:solidFill>
                  <a:srgbClr val="FFFFFF"/>
                </a:solidFill>
                <a:latin typeface="MiSans" pitchFamily="2" charset="-122"/>
                <a:ea typeface="MiSans" pitchFamily="2" charset="-122"/>
                <a:cs typeface="Space Mono" pitchFamily="34" charset="-120"/>
              </a:rPr>
              <a:t>阶段 03</a:t>
            </a:r>
            <a:endParaRPr lang="en-US" sz="900" dirty="0">
              <a:latin typeface="MiSans" pitchFamily="2" charset="-122"/>
              <a:ea typeface="MiSans" pitchFamily="2"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7">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7664fba7-cb24-4635-af89-92eb4626648b?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6700"/>
            <a:ext cx="5691188" cy="480045"/>
          </a:xfrm>
          <a:prstGeom prst="rect">
            <a:avLst/>
          </a:prstGeom>
          <a:noFill/>
          <a:ln/>
        </p:spPr>
        <p:txBody>
          <a:bodyPr wrap="square" lIns="0" tIns="0" rIns="0" bIns="0" rtlCol="0" anchor="t"/>
          <a:lstStyle/>
          <a:p>
            <a:pPr>
              <a:lnSpc>
                <a:spcPts val="3780"/>
              </a:lnSpc>
            </a:pPr>
            <a:r>
              <a:rPr lang="en-US" sz="3200" kern="0" spc="-36" dirty="0" err="1">
                <a:solidFill>
                  <a:srgbClr val="070707"/>
                </a:solidFill>
                <a:latin typeface="MiSans Demibold" pitchFamily="2" charset="-122"/>
                <a:ea typeface="MiSans Demibold" pitchFamily="2" charset="-122"/>
              </a:rPr>
              <a:t>留存</a:t>
            </a:r>
            <a:endParaRPr lang="en-US" sz="3200" kern="0" spc="-36" dirty="0">
              <a:solidFill>
                <a:srgbClr val="070707"/>
              </a:solidFill>
              <a:latin typeface="MiSans Demibold" pitchFamily="2" charset="-122"/>
              <a:ea typeface="MiSans Demibold" pitchFamily="2" charset="-122"/>
            </a:endParaRPr>
          </a:p>
        </p:txBody>
      </p:sp>
      <p:graphicFrame>
        <p:nvGraphicFramePr>
          <p:cNvPr id="28" name="Table 0"/>
          <p:cNvGraphicFramePr>
            <a:graphicFrameLocks noGrp="1"/>
          </p:cNvGraphicFramePr>
          <p:nvPr>
            <p:extLst>
              <p:ext uri="{D42A27DB-BD31-4B8C-83A1-F6EECF244321}">
                <p14:modId xmlns:p14="http://schemas.microsoft.com/office/powerpoint/2010/main" val="1097801621"/>
              </p:ext>
            </p:extLst>
          </p:nvPr>
        </p:nvGraphicFramePr>
        <p:xfrm>
          <a:off x="266700" y="2495550"/>
          <a:ext cx="8524872" cy="2333624"/>
        </p:xfrm>
        <a:graphic>
          <a:graphicData uri="http://schemas.openxmlformats.org/drawingml/2006/table">
            <a:tbl>
              <a:tblPr/>
              <a:tblGrid>
                <a:gridCol w="1065609">
                  <a:extLst>
                    <a:ext uri="{9D8B030D-6E8A-4147-A177-3AD203B41FA5}">
                      <a16:colId xmlns:a16="http://schemas.microsoft.com/office/drawing/2014/main" val="20000"/>
                    </a:ext>
                  </a:extLst>
                </a:gridCol>
                <a:gridCol w="1065609">
                  <a:extLst>
                    <a:ext uri="{9D8B030D-6E8A-4147-A177-3AD203B41FA5}">
                      <a16:colId xmlns:a16="http://schemas.microsoft.com/office/drawing/2014/main" val="20001"/>
                    </a:ext>
                  </a:extLst>
                </a:gridCol>
                <a:gridCol w="1065609">
                  <a:extLst>
                    <a:ext uri="{9D8B030D-6E8A-4147-A177-3AD203B41FA5}">
                      <a16:colId xmlns:a16="http://schemas.microsoft.com/office/drawing/2014/main" val="20002"/>
                    </a:ext>
                  </a:extLst>
                </a:gridCol>
                <a:gridCol w="1065609">
                  <a:extLst>
                    <a:ext uri="{9D8B030D-6E8A-4147-A177-3AD203B41FA5}">
                      <a16:colId xmlns:a16="http://schemas.microsoft.com/office/drawing/2014/main" val="20003"/>
                    </a:ext>
                  </a:extLst>
                </a:gridCol>
                <a:gridCol w="1065609">
                  <a:extLst>
                    <a:ext uri="{9D8B030D-6E8A-4147-A177-3AD203B41FA5}">
                      <a16:colId xmlns:a16="http://schemas.microsoft.com/office/drawing/2014/main" val="20004"/>
                    </a:ext>
                  </a:extLst>
                </a:gridCol>
                <a:gridCol w="1065609">
                  <a:extLst>
                    <a:ext uri="{9D8B030D-6E8A-4147-A177-3AD203B41FA5}">
                      <a16:colId xmlns:a16="http://schemas.microsoft.com/office/drawing/2014/main" val="20005"/>
                    </a:ext>
                  </a:extLst>
                </a:gridCol>
                <a:gridCol w="1065609">
                  <a:extLst>
                    <a:ext uri="{9D8B030D-6E8A-4147-A177-3AD203B41FA5}">
                      <a16:colId xmlns:a16="http://schemas.microsoft.com/office/drawing/2014/main" val="20006"/>
                    </a:ext>
                  </a:extLst>
                </a:gridCol>
                <a:gridCol w="1065609">
                  <a:extLst>
                    <a:ext uri="{9D8B030D-6E8A-4147-A177-3AD203B41FA5}">
                      <a16:colId xmlns:a16="http://schemas.microsoft.com/office/drawing/2014/main" val="20007"/>
                    </a:ext>
                  </a:extLst>
                </a:gridCol>
              </a:tblGrid>
              <a:tr h="583406">
                <a:tc>
                  <a:txBody>
                    <a:bodyPr/>
                    <a:lstStyle/>
                    <a:p>
                      <a:pPr algn="ct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1</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2</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4</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5</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6</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FAEDFF"/>
                          </a:solidFill>
                          <a:latin typeface="MiSans Normal" pitchFamily="2" charset="-122"/>
                          <a:ea typeface="MiSans Normal" pitchFamily="2" charset="-122"/>
                          <a:cs typeface="Manrope" pitchFamily="34" charset="-120"/>
                        </a:rPr>
                        <a:t>Month 7</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extLst>
                  <a:ext uri="{0D108BD9-81ED-4DB2-BD59-A6C34878D82A}">
                    <a16:rowId xmlns:a16="http://schemas.microsoft.com/office/drawing/2014/main" val="10000"/>
                  </a:ext>
                </a:extLst>
              </a:tr>
              <a:tr h="583406">
                <a:tc>
                  <a:txBody>
                    <a:bodyPr/>
                    <a:lstStyle/>
                    <a:p>
                      <a:pPr algn="ctr"/>
                      <a:r>
                        <a:rPr lang="en-US" sz="900" b="0" i="0" dirty="0">
                          <a:solidFill>
                            <a:srgbClr val="FAEDFF"/>
                          </a:solidFill>
                          <a:latin typeface="MiSans Normal" pitchFamily="2" charset="-122"/>
                          <a:ea typeface="MiSans Normal" pitchFamily="2" charset="-122"/>
                          <a:cs typeface="Manrope" pitchFamily="34" charset="-120"/>
                        </a:rPr>
                        <a:t>Group 1</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100%</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95%</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94%</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89%</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89%</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83%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83%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extLst>
                  <a:ext uri="{0D108BD9-81ED-4DB2-BD59-A6C34878D82A}">
                    <a16:rowId xmlns:a16="http://schemas.microsoft.com/office/drawing/2014/main" val="10001"/>
                  </a:ext>
                </a:extLst>
              </a:tr>
              <a:tr h="583406">
                <a:tc>
                  <a:txBody>
                    <a:bodyPr/>
                    <a:lstStyle/>
                    <a:p>
                      <a:pPr algn="ctr"/>
                      <a:r>
                        <a:rPr lang="en-US" sz="900" b="0" i="0" dirty="0">
                          <a:solidFill>
                            <a:srgbClr val="FAEDFF"/>
                          </a:solidFill>
                          <a:latin typeface="MiSans Normal" pitchFamily="2" charset="-122"/>
                          <a:ea typeface="MiSans Normal" pitchFamily="2" charset="-122"/>
                          <a:cs typeface="Manrope" pitchFamily="34" charset="-120"/>
                        </a:rPr>
                        <a:t>Group 2</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100%</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96%</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94%</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91%</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91%</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91%</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extLst>
                  <a:ext uri="{0D108BD9-81ED-4DB2-BD59-A6C34878D82A}">
                    <a16:rowId xmlns:a16="http://schemas.microsoft.com/office/drawing/2014/main" val="10002"/>
                  </a:ext>
                </a:extLst>
              </a:tr>
              <a:tr h="583406">
                <a:tc>
                  <a:txBody>
                    <a:bodyPr/>
                    <a:lstStyle/>
                    <a:p>
                      <a:pPr algn="ctr"/>
                      <a:r>
                        <a:rPr lang="en-US" sz="900" b="0" i="0" dirty="0">
                          <a:solidFill>
                            <a:srgbClr val="FAEDFF"/>
                          </a:solidFill>
                          <a:latin typeface="MiSans Normal" pitchFamily="2" charset="-122"/>
                          <a:ea typeface="MiSans Normal" pitchFamily="2" charset="-122"/>
                          <a:cs typeface="Manrope" pitchFamily="34" charset="-120"/>
                        </a:rPr>
                        <a:t>Group 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070707"/>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100%</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98%</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97%</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97%</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94%</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tc>
                  <a:txBody>
                    <a:bodyPr/>
                    <a:lstStyle/>
                    <a:p>
                      <a:pPr algn="ctr"/>
                      <a:r>
                        <a:rPr lang="en-US" sz="900" b="0" i="0" dirty="0">
                          <a:solidFill>
                            <a:srgbClr val="070707"/>
                          </a:solidFill>
                          <a:latin typeface="MiSans Normal" pitchFamily="2" charset="-122"/>
                          <a:ea typeface="MiSans Normal" pitchFamily="2" charset="-122"/>
                          <a:cs typeface="Manrope" pitchFamily="34" charset="-120"/>
                        </a:rPr>
                        <a:t>93%</a:t>
                      </a:r>
                      <a:endParaRPr lang="en-US" sz="900" b="0" i="0" dirty="0">
                        <a:latin typeface="MiSans Normal" pitchFamily="2" charset="-122"/>
                        <a:ea typeface="MiSans Normal" pitchFamily="2" charset="-122"/>
                        <a:cs typeface="Manrope" charset="0"/>
                      </a:endParaRPr>
                    </a:p>
                  </a:txBody>
                  <a:tcPr marL="57150" marR="57150" marT="57150" marB="57150" anchor="ctr">
                    <a:lnL w="9525" cap="flat" cmpd="sng" algn="ctr">
                      <a:solidFill>
                        <a:srgbClr val="959595">
                          <a:alpha val="30000"/>
                        </a:srgbClr>
                      </a:solidFill>
                      <a:prstDash val="solid"/>
                      <a:round/>
                      <a:headEnd type="none" w="med" len="med"/>
                      <a:tailEnd type="none" w="med" len="med"/>
                    </a:lnL>
                    <a:lnR w="9525" cap="flat" cmpd="sng" algn="ctr">
                      <a:solidFill>
                        <a:srgbClr val="959595">
                          <a:alpha val="30000"/>
                        </a:srgbClr>
                      </a:solidFill>
                      <a:prstDash val="solid"/>
                      <a:round/>
                      <a:headEnd type="none" w="med" len="med"/>
                      <a:tailEnd type="none" w="med" len="med"/>
                    </a:lnR>
                    <a:lnT w="9525" cap="flat" cmpd="sng" algn="ctr">
                      <a:solidFill>
                        <a:srgbClr val="959595">
                          <a:alpha val="30000"/>
                        </a:srgbClr>
                      </a:solidFill>
                      <a:prstDash val="solid"/>
                      <a:round/>
                      <a:headEnd type="none" w="med" len="med"/>
                      <a:tailEnd type="none" w="med" len="med"/>
                    </a:lnT>
                    <a:lnB w="9525" cap="flat" cmpd="sng" algn="ctr">
                      <a:solidFill>
                        <a:srgbClr val="959595">
                          <a:alpha val="30000"/>
                        </a:srgbClr>
                      </a:solidFill>
                      <a:prstDash val="solid"/>
                      <a:round/>
                      <a:headEnd type="none" w="med" len="med"/>
                      <a:tailEnd type="none" w="med" len="med"/>
                    </a:lnB>
                    <a:solidFill>
                      <a:srgbClr val="FAEDFF"/>
                    </a:solidFill>
                  </a:tcPr>
                </a:tc>
                <a:extLst>
                  <a:ext uri="{0D108BD9-81ED-4DB2-BD59-A6C34878D82A}">
                    <a16:rowId xmlns:a16="http://schemas.microsoft.com/office/drawing/2014/main" val="10003"/>
                  </a:ext>
                </a:extLst>
              </a:tr>
            </a:tbl>
          </a:graphicData>
        </a:graphic>
      </p:graphicFrame>
      <p:pic>
        <p:nvPicPr>
          <p:cNvPr id="7" name="Image 1" descr="https://pitch-assets-ccb95893-de3f-4266-973c-20049231b248.s3.eu-west-1.amazonaws.com/df46a920-1252-4c50-b38a-0e90925af0d1?pitch-bytes=37694&amp;pitch-content-type=image%2Fpng"/>
          <p:cNvPicPr>
            <a:picLocks noChangeAspect="1"/>
          </p:cNvPicPr>
          <p:nvPr/>
        </p:nvPicPr>
        <p:blipFill>
          <a:blip r:embed="rId4"/>
          <a:srcRect/>
          <a:stretch/>
        </p:blipFill>
        <p:spPr>
          <a:xfrm>
            <a:off x="6184900" y="342900"/>
            <a:ext cx="114300" cy="1143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9">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5101106d-49e6-4490-866b-7d43bc6dcbeb?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1419225"/>
            <a:ext cx="8610600" cy="3457575"/>
          </a:xfrm>
          <a:prstGeom prst="roundRect">
            <a:avLst>
              <a:gd name="adj" fmla="val 3526"/>
            </a:avLst>
          </a:prstGeom>
          <a:solidFill>
            <a:srgbClr val="FFFFFF"/>
          </a:solidFill>
          <a:ln/>
        </p:spPr>
        <p:txBody>
          <a:bodyPr wrap="square" lIns="478367" tIns="408186" rIns="478367" bIns="408186" rtlCol="0" anchor="ctr"/>
          <a:lstStyle/>
          <a:p>
            <a:pPr algn="ctr">
              <a:lnSpc>
                <a:spcPts val="1170"/>
              </a:lnSpc>
            </a:pPr>
            <a:endParaRPr lang="en-US" sz="900" dirty="0"/>
          </a:p>
        </p:txBody>
      </p:sp>
      <p:sp>
        <p:nvSpPr>
          <p:cNvPr id="5" name="Text 1"/>
          <p:cNvSpPr/>
          <p:nvPr/>
        </p:nvSpPr>
        <p:spPr>
          <a:xfrm>
            <a:off x="614363" y="3148013"/>
            <a:ext cx="7915275" cy="4763"/>
          </a:xfrm>
          <a:prstGeom prst="roundRect">
            <a:avLst>
              <a:gd name="adj" fmla="val -19197984"/>
            </a:avLst>
          </a:prstGeom>
          <a:solidFill>
            <a:srgbClr val="070707">
              <a:alpha val="30000"/>
            </a:srgbClr>
          </a:solidFill>
          <a:ln/>
        </p:spPr>
        <p:txBody>
          <a:bodyPr wrap="square" lIns="439738" tIns="562" rIns="439738" bIns="562" rtlCol="0" anchor="ctr"/>
          <a:lstStyle/>
          <a:p>
            <a:pPr algn="ctr">
              <a:lnSpc>
                <a:spcPts val="1170"/>
              </a:lnSpc>
            </a:pPr>
            <a:endParaRPr lang="en-US" sz="900" dirty="0"/>
          </a:p>
        </p:txBody>
      </p:sp>
      <p:sp>
        <p:nvSpPr>
          <p:cNvPr id="6" name="Text 2"/>
          <p:cNvSpPr/>
          <p:nvPr/>
        </p:nvSpPr>
        <p:spPr>
          <a:xfrm>
            <a:off x="4567238" y="1766888"/>
            <a:ext cx="4763" cy="2762250"/>
          </a:xfrm>
          <a:prstGeom prst="roundRect">
            <a:avLst>
              <a:gd name="adj" fmla="val -19197984"/>
            </a:avLst>
          </a:prstGeom>
          <a:solidFill>
            <a:srgbClr val="070707">
              <a:alpha val="30000"/>
            </a:srgbClr>
          </a:solidFill>
          <a:ln/>
        </p:spPr>
        <p:txBody>
          <a:bodyPr wrap="square" lIns="265" tIns="326099" rIns="265" bIns="326099" rtlCol="0" anchor="ctr"/>
          <a:lstStyle/>
          <a:p>
            <a:pPr algn="ctr">
              <a:lnSpc>
                <a:spcPts val="1170"/>
              </a:lnSpc>
            </a:pPr>
            <a:endParaRPr lang="en-US" sz="900" dirty="0"/>
          </a:p>
        </p:txBody>
      </p:sp>
      <p:sp>
        <p:nvSpPr>
          <p:cNvPr id="7" name="Text 3"/>
          <p:cNvSpPr/>
          <p:nvPr/>
        </p:nvSpPr>
        <p:spPr>
          <a:xfrm rot="16200000">
            <a:off x="-671047" y="3076110"/>
            <a:ext cx="2214563"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昂贵</a:t>
            </a:r>
            <a:endParaRPr lang="en-US" sz="900" dirty="0">
              <a:latin typeface="MiSans" pitchFamily="2" charset="-122"/>
              <a:ea typeface="MiSans" pitchFamily="2" charset="-122"/>
            </a:endParaRPr>
          </a:p>
        </p:txBody>
      </p:sp>
      <p:sp>
        <p:nvSpPr>
          <p:cNvPr id="8" name="Text 4"/>
          <p:cNvSpPr/>
          <p:nvPr/>
        </p:nvSpPr>
        <p:spPr>
          <a:xfrm rot="5400000">
            <a:off x="7600001" y="3082987"/>
            <a:ext cx="221553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实惠</a:t>
            </a:r>
            <a:endParaRPr lang="en-US" sz="900" dirty="0">
              <a:latin typeface="MiSans" pitchFamily="2" charset="-122"/>
              <a:ea typeface="MiSans" pitchFamily="2" charset="-122"/>
            </a:endParaRPr>
          </a:p>
        </p:txBody>
      </p:sp>
      <p:sp>
        <p:nvSpPr>
          <p:cNvPr id="9" name="Text 5"/>
          <p:cNvSpPr/>
          <p:nvPr/>
        </p:nvSpPr>
        <p:spPr>
          <a:xfrm>
            <a:off x="3178187" y="1518971"/>
            <a:ext cx="27781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易于使用</a:t>
            </a:r>
            <a:endParaRPr lang="en-US" sz="900" dirty="0">
              <a:latin typeface="MiSans" pitchFamily="2" charset="-122"/>
              <a:ea typeface="MiSans" pitchFamily="2" charset="-122"/>
            </a:endParaRPr>
          </a:p>
        </p:txBody>
      </p:sp>
      <p:sp>
        <p:nvSpPr>
          <p:cNvPr id="10" name="Text 6"/>
          <p:cNvSpPr/>
          <p:nvPr/>
        </p:nvSpPr>
        <p:spPr>
          <a:xfrm>
            <a:off x="3178187" y="4632982"/>
            <a:ext cx="27781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难以使用</a:t>
            </a:r>
            <a:endParaRPr lang="en-US" sz="900" dirty="0">
              <a:latin typeface="MiSans" pitchFamily="2" charset="-122"/>
              <a:ea typeface="MiSans" pitchFamily="2" charset="-122"/>
            </a:endParaRPr>
          </a:p>
        </p:txBody>
      </p:sp>
      <p:sp>
        <p:nvSpPr>
          <p:cNvPr id="11" name="Text 7"/>
          <p:cNvSpPr/>
          <p:nvPr/>
        </p:nvSpPr>
        <p:spPr>
          <a:xfrm>
            <a:off x="1369466" y="2495550"/>
            <a:ext cx="15240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竞争对手 1</a:t>
            </a:r>
            <a:endParaRPr lang="en-US" sz="900" dirty="0">
              <a:latin typeface="MiSans" pitchFamily="2" charset="-122"/>
              <a:ea typeface="MiSans" pitchFamily="2" charset="-122"/>
            </a:endParaRPr>
          </a:p>
        </p:txBody>
      </p:sp>
      <p:sp>
        <p:nvSpPr>
          <p:cNvPr id="12" name="Text 8"/>
          <p:cNvSpPr/>
          <p:nvPr/>
        </p:nvSpPr>
        <p:spPr>
          <a:xfrm>
            <a:off x="1511300" y="3990975"/>
            <a:ext cx="15240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竞争对手 2</a:t>
            </a:r>
            <a:endParaRPr lang="en-US" sz="900" dirty="0">
              <a:latin typeface="MiSans" pitchFamily="2" charset="-122"/>
              <a:ea typeface="MiSans" pitchFamily="2" charset="-122"/>
            </a:endParaRPr>
          </a:p>
        </p:txBody>
      </p:sp>
      <p:sp>
        <p:nvSpPr>
          <p:cNvPr id="13" name="Text 9"/>
          <p:cNvSpPr/>
          <p:nvPr/>
        </p:nvSpPr>
        <p:spPr>
          <a:xfrm>
            <a:off x="6532169" y="2305050"/>
            <a:ext cx="15240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您的公司</a:t>
            </a:r>
            <a:endParaRPr lang="en-US" sz="900" dirty="0">
              <a:latin typeface="MiSans" pitchFamily="2" charset="-122"/>
              <a:ea typeface="MiSans" pitchFamily="2" charset="-122"/>
            </a:endParaRPr>
          </a:p>
        </p:txBody>
      </p:sp>
      <p:sp>
        <p:nvSpPr>
          <p:cNvPr id="14" name="Text 10"/>
          <p:cNvSpPr/>
          <p:nvPr/>
        </p:nvSpPr>
        <p:spPr>
          <a:xfrm>
            <a:off x="5460492" y="3600450"/>
            <a:ext cx="1524000" cy="148568"/>
          </a:xfrm>
          <a:prstGeom prst="rect">
            <a:avLst/>
          </a:prstGeom>
          <a:noFill/>
          <a:ln/>
        </p:spPr>
        <p:txBody>
          <a:bodyPr wrap="square" lIns="0" tIns="0" rIns="0" bIns="0" rtlCol="0" anchor="t"/>
          <a:lstStyle/>
          <a:p>
            <a:pPr algn="ctr">
              <a:lnSpc>
                <a:spcPts val="1170"/>
              </a:lnSpc>
            </a:pPr>
            <a:r>
              <a:rPr lang="en-US" sz="900" dirty="0">
                <a:solidFill>
                  <a:srgbClr val="070707"/>
                </a:solidFill>
                <a:latin typeface="MiSans" pitchFamily="2" charset="-122"/>
                <a:ea typeface="MiSans" pitchFamily="2" charset="-122"/>
                <a:cs typeface="Space Mono" pitchFamily="34" charset="-120"/>
              </a:rPr>
              <a:t>竞争对手 3</a:t>
            </a:r>
            <a:endParaRPr lang="en-US" sz="900" dirty="0">
              <a:latin typeface="MiSans" pitchFamily="2" charset="-122"/>
              <a:ea typeface="MiSans" pitchFamily="2" charset="-122"/>
            </a:endParaRPr>
          </a:p>
        </p:txBody>
      </p:sp>
      <p:sp>
        <p:nvSpPr>
          <p:cNvPr id="15" name="Text 11"/>
          <p:cNvSpPr/>
          <p:nvPr/>
        </p:nvSpPr>
        <p:spPr>
          <a:xfrm>
            <a:off x="266700" y="266700"/>
            <a:ext cx="5691188" cy="480045"/>
          </a:xfrm>
          <a:prstGeom prst="rect">
            <a:avLst/>
          </a:prstGeom>
          <a:noFill/>
          <a:ln/>
        </p:spPr>
        <p:txBody>
          <a:bodyPr wrap="square" lIns="0" tIns="0" rIns="0" bIns="0" rtlCol="0" anchor="t"/>
          <a:lstStyle/>
          <a:p>
            <a:pPr algn="l">
              <a:lnSpc>
                <a:spcPts val="3780"/>
              </a:lnSpc>
            </a:pPr>
            <a:r>
              <a:rPr lang="en-US" sz="3200" kern="0" spc="-36" dirty="0" err="1">
                <a:solidFill>
                  <a:srgbClr val="070707"/>
                </a:solidFill>
                <a:latin typeface="MiSans Demibold" pitchFamily="2" charset="-122"/>
                <a:ea typeface="MiSans Demibold" pitchFamily="2" charset="-122"/>
              </a:rPr>
              <a:t>竞争对手分析</a:t>
            </a:r>
            <a:endParaRPr lang="en-US" sz="3200" kern="0" spc="-36" dirty="0">
              <a:solidFill>
                <a:srgbClr val="070707"/>
              </a:solidFill>
              <a:latin typeface="MiSans Demibold" pitchFamily="2" charset="-122"/>
              <a:ea typeface="MiSans Demibold" pitchFamily="2" charset="-122"/>
            </a:endParaRPr>
          </a:p>
        </p:txBody>
      </p:sp>
      <p:sp>
        <p:nvSpPr>
          <p:cNvPr id="16" name="Text 12"/>
          <p:cNvSpPr/>
          <p:nvPr/>
        </p:nvSpPr>
        <p:spPr>
          <a:xfrm>
            <a:off x="1960016" y="2190750"/>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7" name="Text 13"/>
          <p:cNvSpPr/>
          <p:nvPr/>
        </p:nvSpPr>
        <p:spPr>
          <a:xfrm>
            <a:off x="1969999" y="2216479"/>
            <a:ext cx="33337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02</a:t>
            </a:r>
            <a:endParaRPr lang="en-US" sz="900" dirty="0">
              <a:latin typeface="MiSans" pitchFamily="2" charset="-122"/>
              <a:ea typeface="MiSans" pitchFamily="2" charset="-122"/>
            </a:endParaRPr>
          </a:p>
        </p:txBody>
      </p:sp>
      <p:sp>
        <p:nvSpPr>
          <p:cNvPr id="18" name="Text 14"/>
          <p:cNvSpPr/>
          <p:nvPr/>
        </p:nvSpPr>
        <p:spPr>
          <a:xfrm>
            <a:off x="7122719" y="2000002"/>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9" name="Text 15"/>
          <p:cNvSpPr/>
          <p:nvPr/>
        </p:nvSpPr>
        <p:spPr>
          <a:xfrm>
            <a:off x="7132701" y="2025731"/>
            <a:ext cx="33337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01</a:t>
            </a:r>
            <a:endParaRPr lang="en-US" sz="900" dirty="0">
              <a:latin typeface="MiSans" pitchFamily="2" charset="-122"/>
              <a:ea typeface="MiSans" pitchFamily="2" charset="-122"/>
            </a:endParaRPr>
          </a:p>
        </p:txBody>
      </p:sp>
      <p:sp>
        <p:nvSpPr>
          <p:cNvPr id="20" name="Text 16"/>
          <p:cNvSpPr/>
          <p:nvPr/>
        </p:nvSpPr>
        <p:spPr>
          <a:xfrm>
            <a:off x="2102663" y="3686042"/>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21" name="Text 17"/>
          <p:cNvSpPr/>
          <p:nvPr/>
        </p:nvSpPr>
        <p:spPr>
          <a:xfrm>
            <a:off x="2112645" y="3711770"/>
            <a:ext cx="33337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03</a:t>
            </a:r>
            <a:endParaRPr lang="en-US" sz="900" dirty="0">
              <a:latin typeface="MiSans" pitchFamily="2" charset="-122"/>
              <a:ea typeface="MiSans" pitchFamily="2" charset="-122"/>
            </a:endParaRPr>
          </a:p>
        </p:txBody>
      </p:sp>
      <p:sp>
        <p:nvSpPr>
          <p:cNvPr id="22" name="Text 18"/>
          <p:cNvSpPr/>
          <p:nvPr/>
        </p:nvSpPr>
        <p:spPr>
          <a:xfrm>
            <a:off x="6051042" y="3295650"/>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23" name="Text 19"/>
          <p:cNvSpPr/>
          <p:nvPr/>
        </p:nvSpPr>
        <p:spPr>
          <a:xfrm>
            <a:off x="6061024" y="3321379"/>
            <a:ext cx="33337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04</a:t>
            </a:r>
            <a:endParaRPr lang="en-US" sz="900" dirty="0">
              <a:latin typeface="MiSans" pitchFamily="2" charset="-122"/>
              <a:ea typeface="MiSans"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30">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ff143b43-d19b-44c2-aaf8-786789bb61a8?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3187700" y="3943121"/>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5" name="Text 1"/>
          <p:cNvSpPr/>
          <p:nvPr/>
        </p:nvSpPr>
        <p:spPr>
          <a:xfrm>
            <a:off x="3187723" y="3968850"/>
            <a:ext cx="342863"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05</a:t>
            </a:r>
            <a:endParaRPr lang="en-US" sz="900" dirty="0">
              <a:latin typeface="MiSans" pitchFamily="2" charset="-122"/>
              <a:ea typeface="MiSans" pitchFamily="2" charset="-122"/>
            </a:endParaRPr>
          </a:p>
        </p:txBody>
      </p:sp>
      <p:sp>
        <p:nvSpPr>
          <p:cNvPr id="6" name="Text 2"/>
          <p:cNvSpPr/>
          <p:nvPr/>
        </p:nvSpPr>
        <p:spPr>
          <a:xfrm>
            <a:off x="266700" y="3943121"/>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7" name="Text 3"/>
          <p:cNvSpPr/>
          <p:nvPr/>
        </p:nvSpPr>
        <p:spPr>
          <a:xfrm>
            <a:off x="267005" y="3968725"/>
            <a:ext cx="342565"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04</a:t>
            </a:r>
            <a:endParaRPr lang="en-US" sz="900" dirty="0">
              <a:latin typeface="MiSans" pitchFamily="2" charset="-122"/>
              <a:ea typeface="MiSans" pitchFamily="2" charset="-122"/>
            </a:endParaRPr>
          </a:p>
        </p:txBody>
      </p:sp>
      <p:sp>
        <p:nvSpPr>
          <p:cNvPr id="8" name="Text 4"/>
          <p:cNvSpPr/>
          <p:nvPr/>
        </p:nvSpPr>
        <p:spPr>
          <a:xfrm>
            <a:off x="6108700" y="3943121"/>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9" name="Text 5"/>
          <p:cNvSpPr/>
          <p:nvPr/>
        </p:nvSpPr>
        <p:spPr>
          <a:xfrm>
            <a:off x="6110306" y="3968725"/>
            <a:ext cx="341263"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06</a:t>
            </a:r>
            <a:endParaRPr lang="en-US" sz="900" dirty="0">
              <a:latin typeface="MiSans" pitchFamily="2" charset="-122"/>
              <a:ea typeface="MiSans" pitchFamily="2" charset="-122"/>
            </a:endParaRPr>
          </a:p>
        </p:txBody>
      </p:sp>
      <p:sp>
        <p:nvSpPr>
          <p:cNvPr id="10" name="Text 6"/>
          <p:cNvSpPr/>
          <p:nvPr/>
        </p:nvSpPr>
        <p:spPr>
          <a:xfrm>
            <a:off x="3187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1" name="Text 7"/>
          <p:cNvSpPr/>
          <p:nvPr/>
        </p:nvSpPr>
        <p:spPr>
          <a:xfrm>
            <a:off x="3187612" y="2492540"/>
            <a:ext cx="342974"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02</a:t>
            </a:r>
            <a:endParaRPr lang="en-US" sz="900" dirty="0">
              <a:latin typeface="MiSans" pitchFamily="2" charset="-122"/>
              <a:ea typeface="MiSans" pitchFamily="2" charset="-122"/>
            </a:endParaRPr>
          </a:p>
        </p:txBody>
      </p:sp>
      <p:sp>
        <p:nvSpPr>
          <p:cNvPr id="12" name="Text 8"/>
          <p:cNvSpPr/>
          <p:nvPr/>
        </p:nvSpPr>
        <p:spPr>
          <a:xfrm>
            <a:off x="266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3" name="Text 9"/>
          <p:cNvSpPr/>
          <p:nvPr/>
        </p:nvSpPr>
        <p:spPr>
          <a:xfrm>
            <a:off x="247613" y="2492704"/>
            <a:ext cx="381000"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01</a:t>
            </a:r>
            <a:endParaRPr lang="en-US" sz="900" dirty="0">
              <a:latin typeface="MiSans" pitchFamily="2" charset="-122"/>
              <a:ea typeface="MiSans" pitchFamily="2" charset="-122"/>
            </a:endParaRPr>
          </a:p>
        </p:txBody>
      </p:sp>
      <p:sp>
        <p:nvSpPr>
          <p:cNvPr id="14" name="Text 10"/>
          <p:cNvSpPr/>
          <p:nvPr/>
        </p:nvSpPr>
        <p:spPr>
          <a:xfrm>
            <a:off x="6108700" y="2466975"/>
            <a:ext cx="342900" cy="209550"/>
          </a:xfrm>
          <a:prstGeom prst="roundRect">
            <a:avLst>
              <a:gd name="adj" fmla="val 53554"/>
            </a:avLst>
          </a:prstGeom>
          <a:solidFill>
            <a:srgbClr val="070707"/>
          </a:solidFill>
          <a:ln/>
        </p:spPr>
        <p:txBody>
          <a:bodyPr wrap="square" lIns="19050" tIns="24739" rIns="19050" bIns="24739" rtlCol="0" anchor="ctr"/>
          <a:lstStyle/>
          <a:p>
            <a:pPr algn="ctr">
              <a:lnSpc>
                <a:spcPts val="1170"/>
              </a:lnSpc>
            </a:pPr>
            <a:endParaRPr lang="en-US" sz="900" dirty="0"/>
          </a:p>
        </p:txBody>
      </p:sp>
      <p:sp>
        <p:nvSpPr>
          <p:cNvPr id="15" name="Text 11"/>
          <p:cNvSpPr/>
          <p:nvPr/>
        </p:nvSpPr>
        <p:spPr>
          <a:xfrm>
            <a:off x="6110343" y="2492704"/>
            <a:ext cx="341226"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03</a:t>
            </a:r>
            <a:endParaRPr lang="en-US" sz="900" dirty="0">
              <a:latin typeface="MiSans" pitchFamily="2" charset="-122"/>
              <a:ea typeface="MiSans" pitchFamily="2" charset="-122"/>
            </a:endParaRPr>
          </a:p>
        </p:txBody>
      </p:sp>
      <p:sp>
        <p:nvSpPr>
          <p:cNvPr id="16" name="Text 12"/>
          <p:cNvSpPr/>
          <p:nvPr/>
        </p:nvSpPr>
        <p:spPr>
          <a:xfrm>
            <a:off x="266700" y="266700"/>
            <a:ext cx="5691188" cy="960090"/>
          </a:xfrm>
          <a:prstGeom prst="rect">
            <a:avLst/>
          </a:prstGeom>
          <a:noFill/>
          <a:ln/>
        </p:spPr>
        <p:txBody>
          <a:bodyPr wrap="square" lIns="0" tIns="0" rIns="0" bIns="0" rtlCol="0" anchor="t"/>
          <a:lstStyle/>
          <a:p>
            <a:pPr algn="l">
              <a:lnSpc>
                <a:spcPts val="3780"/>
              </a:lnSpc>
            </a:pPr>
            <a:r>
              <a:rPr lang="en-US" sz="3200" kern="0" spc="-36" dirty="0" err="1">
                <a:solidFill>
                  <a:srgbClr val="070707"/>
                </a:solidFill>
                <a:latin typeface="MiSans Demibold" pitchFamily="2" charset="-122"/>
                <a:ea typeface="MiSans Demibold" pitchFamily="2" charset="-122"/>
              </a:rPr>
              <a:t>展示关键</a:t>
            </a:r>
            <a:endParaRPr lang="en-US" sz="3200" kern="0" spc="-36" dirty="0">
              <a:solidFill>
                <a:srgbClr val="070707"/>
              </a:solidFill>
              <a:latin typeface="MiSans Demibold" pitchFamily="2" charset="-122"/>
              <a:ea typeface="MiSans Demibold" pitchFamily="2" charset="-122"/>
            </a:endParaRPr>
          </a:p>
          <a:p>
            <a:pPr algn="l">
              <a:lnSpc>
                <a:spcPts val="3780"/>
              </a:lnSpc>
            </a:pPr>
            <a:r>
              <a:rPr lang="en-US" sz="3200" kern="0" spc="-36" dirty="0" err="1">
                <a:solidFill>
                  <a:srgbClr val="070707"/>
                </a:solidFill>
                <a:latin typeface="MiSans Demibold" pitchFamily="2" charset="-122"/>
                <a:ea typeface="MiSans Demibold" pitchFamily="2" charset="-122"/>
              </a:rPr>
              <a:t>财务指标</a:t>
            </a:r>
            <a:endParaRPr lang="en-US" sz="3200" kern="0" spc="-36" dirty="0">
              <a:solidFill>
                <a:srgbClr val="070707"/>
              </a:solidFill>
              <a:latin typeface="MiSans Demibold" pitchFamily="2" charset="-122"/>
              <a:ea typeface="MiSans Demibold" pitchFamily="2" charset="-122"/>
            </a:endParaRPr>
          </a:p>
        </p:txBody>
      </p:sp>
      <p:sp>
        <p:nvSpPr>
          <p:cNvPr id="17" name="Text 13"/>
          <p:cNvSpPr/>
          <p:nvPr/>
        </p:nvSpPr>
        <p:spPr>
          <a:xfrm>
            <a:off x="266700" y="3281514"/>
            <a:ext cx="2224088"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注册增长率</a:t>
            </a:r>
            <a:endParaRPr lang="en-US" sz="900" dirty="0">
              <a:latin typeface="MiSans" pitchFamily="2" charset="-122"/>
              <a:ea typeface="MiSans" pitchFamily="2" charset="-122"/>
            </a:endParaRPr>
          </a:p>
        </p:txBody>
      </p:sp>
      <p:sp>
        <p:nvSpPr>
          <p:cNvPr id="18" name="Text 14"/>
          <p:cNvSpPr/>
          <p:nvPr/>
        </p:nvSpPr>
        <p:spPr>
          <a:xfrm>
            <a:off x="266700" y="4757738"/>
            <a:ext cx="2224088"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获客成本</a:t>
            </a:r>
            <a:endParaRPr lang="en-US" sz="900" dirty="0">
              <a:latin typeface="MiSans" pitchFamily="2" charset="-122"/>
              <a:ea typeface="MiSans" pitchFamily="2" charset="-122"/>
            </a:endParaRPr>
          </a:p>
        </p:txBody>
      </p:sp>
      <p:sp>
        <p:nvSpPr>
          <p:cNvPr id="19" name="Text 15"/>
          <p:cNvSpPr/>
          <p:nvPr/>
        </p:nvSpPr>
        <p:spPr>
          <a:xfrm>
            <a:off x="3186113" y="3281514"/>
            <a:ext cx="2224088"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合作伙伴集成</a:t>
            </a:r>
            <a:endParaRPr lang="en-US" sz="900" dirty="0">
              <a:latin typeface="MiSans" pitchFamily="2" charset="-122"/>
              <a:ea typeface="MiSans" pitchFamily="2" charset="-122"/>
            </a:endParaRPr>
          </a:p>
        </p:txBody>
      </p:sp>
      <p:sp>
        <p:nvSpPr>
          <p:cNvPr id="20" name="Text 16"/>
          <p:cNvSpPr/>
          <p:nvPr/>
        </p:nvSpPr>
        <p:spPr>
          <a:xfrm>
            <a:off x="3186113" y="4757738"/>
            <a:ext cx="2224088"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年度经常性收入</a:t>
            </a:r>
            <a:endParaRPr lang="en-US" sz="900" dirty="0">
              <a:latin typeface="MiSans" pitchFamily="2" charset="-122"/>
              <a:ea typeface="MiSans" pitchFamily="2" charset="-122"/>
            </a:endParaRPr>
          </a:p>
        </p:txBody>
      </p:sp>
      <p:sp>
        <p:nvSpPr>
          <p:cNvPr id="21" name="Text 17"/>
          <p:cNvSpPr/>
          <p:nvPr/>
        </p:nvSpPr>
        <p:spPr>
          <a:xfrm>
            <a:off x="6110288" y="3281514"/>
            <a:ext cx="2224087"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月访问量</a:t>
            </a:r>
            <a:endParaRPr lang="en-US" sz="900" dirty="0">
              <a:latin typeface="MiSans" pitchFamily="2" charset="-122"/>
              <a:ea typeface="MiSans" pitchFamily="2" charset="-122"/>
            </a:endParaRPr>
          </a:p>
        </p:txBody>
      </p:sp>
      <p:sp>
        <p:nvSpPr>
          <p:cNvPr id="22" name="Text 18"/>
          <p:cNvSpPr/>
          <p:nvPr/>
        </p:nvSpPr>
        <p:spPr>
          <a:xfrm>
            <a:off x="6110288" y="4757738"/>
            <a:ext cx="2224087" cy="148568"/>
          </a:xfrm>
          <a:prstGeom prst="rect">
            <a:avLst/>
          </a:prstGeom>
          <a:noFill/>
          <a:ln/>
        </p:spPr>
        <p:txBody>
          <a:bodyPr wrap="square" lIns="0" tIns="0" rIns="0" bIns="0" rtlCol="0" anchor="t"/>
          <a:lstStyle/>
          <a:p>
            <a:pPr algn="l">
              <a:lnSpc>
                <a:spcPts val="1170"/>
              </a:lnSpc>
            </a:pPr>
            <a:r>
              <a:rPr lang="en-US" sz="900" dirty="0">
                <a:solidFill>
                  <a:srgbClr val="070707"/>
                </a:solidFill>
                <a:latin typeface="MiSans" pitchFamily="2" charset="-122"/>
                <a:ea typeface="MiSans" pitchFamily="2" charset="-122"/>
                <a:cs typeface="Space Mono" pitchFamily="34" charset="-120"/>
              </a:rPr>
              <a:t>知名客户</a:t>
            </a:r>
            <a:endParaRPr lang="en-US" sz="900" dirty="0">
              <a:latin typeface="MiSans" pitchFamily="2" charset="-122"/>
              <a:ea typeface="MiSans" pitchFamily="2" charset="-122"/>
            </a:endParaRPr>
          </a:p>
        </p:txBody>
      </p:sp>
      <p:sp>
        <p:nvSpPr>
          <p:cNvPr id="23" name="Text 19"/>
          <p:cNvSpPr/>
          <p:nvPr/>
        </p:nvSpPr>
        <p:spPr>
          <a:xfrm>
            <a:off x="266700" y="2867177"/>
            <a:ext cx="2224088"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同比增长200%</a:t>
            </a:r>
            <a:endParaRPr lang="en-US" sz="2400" dirty="0">
              <a:latin typeface="MiSans Semibold" pitchFamily="2" charset="-122"/>
              <a:ea typeface="MiSans Semibold" pitchFamily="2" charset="-122"/>
            </a:endParaRPr>
          </a:p>
        </p:txBody>
      </p:sp>
      <p:sp>
        <p:nvSpPr>
          <p:cNvPr id="24" name="Text 20"/>
          <p:cNvSpPr/>
          <p:nvPr/>
        </p:nvSpPr>
        <p:spPr>
          <a:xfrm>
            <a:off x="266700" y="4343400"/>
            <a:ext cx="2224088"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¥80.46</a:t>
            </a:r>
            <a:endParaRPr lang="en-US" sz="2400" dirty="0">
              <a:latin typeface="MiSans Semibold" pitchFamily="2" charset="-122"/>
              <a:ea typeface="MiSans Semibold" pitchFamily="2" charset="-122"/>
            </a:endParaRPr>
          </a:p>
        </p:txBody>
      </p:sp>
      <p:sp>
        <p:nvSpPr>
          <p:cNvPr id="25" name="Text 21"/>
          <p:cNvSpPr/>
          <p:nvPr/>
        </p:nvSpPr>
        <p:spPr>
          <a:xfrm>
            <a:off x="3186113" y="2867177"/>
            <a:ext cx="2224088"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3,024</a:t>
            </a:r>
            <a:endParaRPr lang="en-US" sz="2400" dirty="0">
              <a:latin typeface="MiSans Semibold" pitchFamily="2" charset="-122"/>
              <a:ea typeface="MiSans Semibold" pitchFamily="2" charset="-122"/>
            </a:endParaRPr>
          </a:p>
        </p:txBody>
      </p:sp>
      <p:sp>
        <p:nvSpPr>
          <p:cNvPr id="26" name="Text 22"/>
          <p:cNvSpPr/>
          <p:nvPr/>
        </p:nvSpPr>
        <p:spPr>
          <a:xfrm>
            <a:off x="3186113" y="4343400"/>
            <a:ext cx="2224088" cy="365745"/>
          </a:xfrm>
          <a:prstGeom prst="rect">
            <a:avLst/>
          </a:prstGeom>
          <a:noFill/>
          <a:ln/>
        </p:spPr>
        <p:txBody>
          <a:bodyPr wrap="square" lIns="0" tIns="0" rIns="0" bIns="0" rtlCol="0" anchor="t"/>
          <a:lstStyle/>
          <a:p>
            <a:r>
              <a:rPr lang="en-US" altLang="zh-CN" sz="2400" dirty="0">
                <a:solidFill>
                  <a:srgbClr val="070707"/>
                </a:solidFill>
                <a:latin typeface="MiSans Semibold" pitchFamily="2" charset="-122"/>
                <a:ea typeface="MiSans Semibold" pitchFamily="2" charset="-122"/>
                <a:cs typeface="Manrope" pitchFamily="34" charset="-120"/>
              </a:rPr>
              <a:t>¥</a:t>
            </a:r>
            <a:r>
              <a:rPr lang="en-US" sz="2400" dirty="0">
                <a:solidFill>
                  <a:srgbClr val="070707"/>
                </a:solidFill>
                <a:latin typeface="MiSans Semibold" pitchFamily="2" charset="-122"/>
                <a:ea typeface="MiSans Semibold" pitchFamily="2" charset="-122"/>
                <a:cs typeface="Manrope" pitchFamily="34" charset="-120"/>
              </a:rPr>
              <a:t>2.8M</a:t>
            </a:r>
            <a:endParaRPr lang="en-US" sz="2400" dirty="0">
              <a:latin typeface="MiSans Semibold" pitchFamily="2" charset="-122"/>
              <a:ea typeface="MiSans Semibold" pitchFamily="2" charset="-122"/>
            </a:endParaRPr>
          </a:p>
        </p:txBody>
      </p:sp>
      <p:sp>
        <p:nvSpPr>
          <p:cNvPr id="27" name="Text 23"/>
          <p:cNvSpPr/>
          <p:nvPr/>
        </p:nvSpPr>
        <p:spPr>
          <a:xfrm>
            <a:off x="6110288" y="2867177"/>
            <a:ext cx="2224087" cy="365745"/>
          </a:xfrm>
          <a:prstGeom prst="rect">
            <a:avLst/>
          </a:prstGeom>
          <a:noFill/>
          <a:ln/>
        </p:spPr>
        <p:txBody>
          <a:bodyPr wrap="square" lIns="0" tIns="0" rIns="0" bIns="0" rtlCol="0" anchor="t"/>
          <a:lstStyle/>
          <a:p>
            <a:pPr algn="l"/>
            <a:r>
              <a:rPr lang="en-US" sz="2400" dirty="0">
                <a:solidFill>
                  <a:srgbClr val="070707"/>
                </a:solidFill>
                <a:latin typeface="MiSans Semibold" pitchFamily="2" charset="-122"/>
                <a:ea typeface="MiSans Semibold" pitchFamily="2" charset="-122"/>
                <a:cs typeface="Manrope" pitchFamily="34" charset="-120"/>
              </a:rPr>
              <a:t>900k</a:t>
            </a:r>
            <a:endParaRPr lang="en-US" sz="2400" dirty="0">
              <a:latin typeface="MiSans Semibold" pitchFamily="2" charset="-122"/>
              <a:ea typeface="MiSans Semibold" pitchFamily="2" charset="-122"/>
            </a:endParaRPr>
          </a:p>
        </p:txBody>
      </p:sp>
      <p:sp>
        <p:nvSpPr>
          <p:cNvPr id="28" name="Text 24"/>
          <p:cNvSpPr/>
          <p:nvPr/>
        </p:nvSpPr>
        <p:spPr>
          <a:xfrm>
            <a:off x="6110288" y="4343400"/>
            <a:ext cx="2224087" cy="365745"/>
          </a:xfrm>
          <a:prstGeom prst="rect">
            <a:avLst/>
          </a:prstGeom>
          <a:noFill/>
          <a:ln/>
        </p:spPr>
        <p:txBody>
          <a:bodyPr wrap="square" lIns="0" tIns="0" rIns="0" bIns="0" rtlCol="0" anchor="t"/>
          <a:lstStyle/>
          <a:p>
            <a:pPr algn="l"/>
            <a:r>
              <a:rPr lang="en-US" sz="2400" dirty="0" err="1">
                <a:solidFill>
                  <a:srgbClr val="070707"/>
                </a:solidFill>
                <a:latin typeface="MiSans Semibold" pitchFamily="2" charset="-122"/>
                <a:ea typeface="MiSans Semibold" pitchFamily="2" charset="-122"/>
                <a:cs typeface="Manrope" pitchFamily="34" charset="-120"/>
              </a:rPr>
              <a:t>yuanbao</a:t>
            </a:r>
            <a:endParaRPr lang="en-US" sz="2400" dirty="0">
              <a:latin typeface="MiSans Semibold" pitchFamily="2" charset="-122"/>
              <a:ea typeface="MiSans Semibold"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32">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90c4de00-1747-498f-8375-fa11b16b78c9?pitch-bytes=988652&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6700"/>
            <a:ext cx="5691188" cy="480045"/>
          </a:xfrm>
          <a:prstGeom prst="rect">
            <a:avLst/>
          </a:prstGeom>
          <a:noFill/>
          <a:ln/>
        </p:spPr>
        <p:txBody>
          <a:bodyPr wrap="square" lIns="0" tIns="0" rIns="0" bIns="0" rtlCol="0" anchor="t"/>
          <a:lstStyle/>
          <a:p>
            <a:pPr algn="l">
              <a:lnSpc>
                <a:spcPts val="3780"/>
              </a:lnSpc>
            </a:pPr>
            <a:r>
              <a:rPr lang="en-US" sz="3200" kern="0" spc="-36" dirty="0">
                <a:solidFill>
                  <a:srgbClr val="FFFFFF"/>
                </a:solidFill>
                <a:latin typeface="MiSans Semibold" pitchFamily="2" charset="-122"/>
                <a:ea typeface="MiSans Semibold" pitchFamily="2" charset="-122"/>
                <a:cs typeface="Manrope" pitchFamily="34" charset="-120"/>
              </a:rPr>
              <a:t>规划您的增长</a:t>
            </a:r>
            <a:endParaRPr lang="en-US" sz="3200" dirty="0">
              <a:latin typeface="MiSans Semibold" pitchFamily="2" charset="-122"/>
              <a:ea typeface="MiSans Semibold" pitchFamily="2" charset="-122"/>
            </a:endParaRPr>
          </a:p>
        </p:txBody>
      </p:sp>
      <p:graphicFrame>
        <p:nvGraphicFramePr>
          <p:cNvPr id="5" name="Chart 0"/>
          <p:cNvGraphicFramePr/>
          <p:nvPr>
            <p:extLst>
              <p:ext uri="{D42A27DB-BD31-4B8C-83A1-F6EECF244321}">
                <p14:modId xmlns:p14="http://schemas.microsoft.com/office/powerpoint/2010/main" val="4034025446"/>
              </p:ext>
            </p:extLst>
          </p:nvPr>
        </p:nvGraphicFramePr>
        <p:xfrm>
          <a:off x="690929" y="1285875"/>
          <a:ext cx="8186371" cy="3382445"/>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33">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3d36b843-b65d-4a37-b4e4-c077e0378aeb?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4647578" y="4495800"/>
            <a:ext cx="1152525" cy="381000"/>
          </a:xfrm>
          <a:prstGeom prst="roundRect">
            <a:avLst>
              <a:gd name="adj" fmla="val 50000"/>
            </a:avLst>
          </a:prstGeom>
          <a:solidFill>
            <a:srgbClr val="070707"/>
          </a:solidFill>
          <a:ln/>
        </p:spPr>
        <p:txBody>
          <a:bodyPr wrap="square" lIns="64029" tIns="44979" rIns="64029" bIns="44979" rtlCol="0" anchor="ctr"/>
          <a:lstStyle/>
          <a:p>
            <a:pPr algn="ctr">
              <a:lnSpc>
                <a:spcPts val="1170"/>
              </a:lnSpc>
            </a:pPr>
            <a:endParaRPr lang="en-US" sz="900" dirty="0"/>
          </a:p>
        </p:txBody>
      </p:sp>
      <p:sp>
        <p:nvSpPr>
          <p:cNvPr id="5" name="Text 1"/>
          <p:cNvSpPr/>
          <p:nvPr/>
        </p:nvSpPr>
        <p:spPr>
          <a:xfrm>
            <a:off x="4648211" y="4612016"/>
            <a:ext cx="1151892" cy="148568"/>
          </a:xfrm>
          <a:prstGeom prst="rect">
            <a:avLst/>
          </a:prstGeom>
          <a:noFill/>
          <a:ln/>
        </p:spPr>
        <p:txBody>
          <a:bodyPr wrap="square" lIns="0" tIns="0" rIns="0" bIns="0" rtlCol="0" anchor="t"/>
          <a:lstStyle/>
          <a:p>
            <a:pPr algn="ctr">
              <a:lnSpc>
                <a:spcPts val="1170"/>
              </a:lnSpc>
            </a:pPr>
            <a:r>
              <a:rPr lang="en-US" sz="900" dirty="0">
                <a:solidFill>
                  <a:srgbClr val="FFFFFF"/>
                </a:solidFill>
                <a:latin typeface="MiSans" pitchFamily="2" charset="-122"/>
                <a:ea typeface="MiSans" pitchFamily="2" charset="-122"/>
                <a:cs typeface="Space Mono" pitchFamily="34" charset="-120"/>
              </a:rPr>
              <a:t>机遇</a:t>
            </a:r>
            <a:endParaRPr lang="en-US" sz="900" dirty="0">
              <a:latin typeface="MiSans" pitchFamily="2" charset="-122"/>
              <a:ea typeface="MiSans" pitchFamily="2" charset="-122"/>
            </a:endParaRPr>
          </a:p>
        </p:txBody>
      </p:sp>
      <p:sp>
        <p:nvSpPr>
          <p:cNvPr id="6" name="Text 2"/>
          <p:cNvSpPr/>
          <p:nvPr/>
        </p:nvSpPr>
        <p:spPr>
          <a:xfrm>
            <a:off x="4648199" y="339929"/>
            <a:ext cx="4229100" cy="1671751"/>
          </a:xfrm>
          <a:prstGeom prst="rect">
            <a:avLst/>
          </a:prstGeom>
          <a:noFill/>
          <a:ln/>
        </p:spPr>
        <p:txBody>
          <a:bodyPr wrap="square" lIns="0" tIns="0" rIns="0" bIns="0" rtlCol="0" anchor="t"/>
          <a:lstStyle/>
          <a:p>
            <a:pPr algn="l"/>
            <a:r>
              <a:rPr lang="en-US" sz="3200" kern="0" spc="-36" dirty="0">
                <a:solidFill>
                  <a:srgbClr val="070707"/>
                </a:solidFill>
                <a:latin typeface="MiSans Semibold" pitchFamily="2" charset="-122"/>
                <a:ea typeface="MiSans Semibold" pitchFamily="2" charset="-122"/>
                <a:cs typeface="Manrope" pitchFamily="34" charset="-120"/>
              </a:rPr>
              <a:t>认识Nina Geer，</a:t>
            </a:r>
            <a:endParaRPr lang="en-US" sz="3200" dirty="0">
              <a:latin typeface="MiSans Semibold" pitchFamily="2" charset="-122"/>
              <a:ea typeface="MiSans Semibold" pitchFamily="2" charset="-122"/>
            </a:endParaRPr>
          </a:p>
          <a:p>
            <a:pPr algn="l"/>
            <a:r>
              <a:rPr lang="en-US" sz="3200" kern="0" spc="-36" dirty="0">
                <a:solidFill>
                  <a:srgbClr val="070707"/>
                </a:solidFill>
                <a:latin typeface="MiSans Semibold" pitchFamily="2" charset="-122"/>
                <a:ea typeface="MiSans Semibold" pitchFamily="2" charset="-122"/>
                <a:cs typeface="Manrope" pitchFamily="34" charset="-120"/>
              </a:rPr>
              <a:t>采购副总裁</a:t>
            </a:r>
            <a:endParaRPr lang="en-US" sz="3200" dirty="0">
              <a:latin typeface="MiSans Semibold" pitchFamily="2" charset="-122"/>
              <a:ea typeface="MiSans Semibold" pitchFamily="2" charset="-122"/>
            </a:endParaRPr>
          </a:p>
          <a:p>
            <a:pPr algn="l"/>
            <a:r>
              <a:rPr lang="en-US" sz="3200" kern="0" spc="-36" dirty="0">
                <a:solidFill>
                  <a:srgbClr val="070707"/>
                </a:solidFill>
                <a:latin typeface="MiSans Semibold" pitchFamily="2" charset="-122"/>
                <a:ea typeface="MiSans Semibold" pitchFamily="2" charset="-122"/>
                <a:cs typeface="Manrope" pitchFamily="34" charset="-120"/>
              </a:rPr>
              <a:t>Crossroads公司</a:t>
            </a:r>
            <a:endParaRPr lang="en-US" sz="3200" dirty="0">
              <a:latin typeface="MiSans Semibold" pitchFamily="2" charset="-122"/>
              <a:ea typeface="MiSans Semibold" pitchFamily="2" charset="-122"/>
            </a:endParaRPr>
          </a:p>
        </p:txBody>
      </p:sp>
      <p:sp>
        <p:nvSpPr>
          <p:cNvPr id="7" name="Text 3"/>
          <p:cNvSpPr/>
          <p:nvPr/>
        </p:nvSpPr>
        <p:spPr>
          <a:xfrm>
            <a:off x="4647895" y="2655614"/>
            <a:ext cx="3556127" cy="1380809"/>
          </a:xfrm>
          <a:prstGeom prst="rect">
            <a:avLst/>
          </a:prstGeom>
          <a:noFill/>
          <a:ln/>
        </p:spPr>
        <p:txBody>
          <a:bodyPr wrap="square" lIns="0" tIns="0" rIns="0" bIns="0" rtlCol="0" anchor="t"/>
          <a:lstStyle/>
          <a:p>
            <a:pPr algn="l">
              <a:lnSpc>
                <a:spcPct val="150000"/>
              </a:lnSpc>
            </a:pPr>
            <a:r>
              <a:rPr lang="en-US" sz="900" dirty="0">
                <a:solidFill>
                  <a:srgbClr val="070707">
                    <a:alpha val="40000"/>
                  </a:srgbClr>
                </a:solidFill>
                <a:latin typeface="MiSans" pitchFamily="2" charset="-122"/>
                <a:ea typeface="MiSans" pitchFamily="2" charset="-122"/>
                <a:cs typeface="Space Mono" pitchFamily="34" charset="-120"/>
              </a:rPr>
              <a:t>向您的听众讲述一个过去合作过的客户故事。Nina到底面临什么挑战，这如何影响了她的业务？</a:t>
            </a:r>
            <a:endParaRPr lang="en-US" sz="900" dirty="0">
              <a:latin typeface="MiSans" pitchFamily="2" charset="-122"/>
              <a:ea typeface="MiSans" pitchFamily="2" charset="-122"/>
            </a:endParaRPr>
          </a:p>
        </p:txBody>
      </p:sp>
      <p:pic>
        <p:nvPicPr>
          <p:cNvPr id="8" name="Image 1"/>
          <p:cNvPicPr>
            <a:picLocks noChangeAspect="1"/>
          </p:cNvPicPr>
          <p:nvPr/>
        </p:nvPicPr>
        <p:blipFill>
          <a:blip r:embed="rId4"/>
          <a:srcRect/>
          <a:stretch/>
        </p:blipFill>
        <p:spPr>
          <a:xfrm>
            <a:off x="266701" y="266700"/>
            <a:ext cx="2444132" cy="46101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34">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44e392ac-a778-4a79-b78f-49dbe2c7b2a0?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4" name="Text 0"/>
          <p:cNvSpPr/>
          <p:nvPr/>
        </p:nvSpPr>
        <p:spPr>
          <a:xfrm>
            <a:off x="266700" y="266700"/>
            <a:ext cx="5691188" cy="960090"/>
          </a:xfrm>
          <a:prstGeom prst="rect">
            <a:avLst/>
          </a:prstGeom>
          <a:noFill/>
          <a:ln/>
        </p:spPr>
        <p:txBody>
          <a:bodyPr wrap="square" lIns="0" tIns="0" rIns="0" bIns="0" rtlCol="0" anchor="t"/>
          <a:lstStyle/>
          <a:p>
            <a:pPr algn="l">
              <a:lnSpc>
                <a:spcPts val="3780"/>
              </a:lnSpc>
            </a:pPr>
            <a:r>
              <a:rPr lang="en-US" sz="3200" kern="0" spc="-36" dirty="0">
                <a:solidFill>
                  <a:srgbClr val="070707"/>
                </a:solidFill>
                <a:latin typeface="MiSans Semibold" pitchFamily="2" charset="-122"/>
                <a:ea typeface="MiSans Semibold" pitchFamily="2" charset="-122"/>
                <a:cs typeface="Manrope" pitchFamily="34" charset="-120"/>
              </a:rPr>
              <a:t>取得了</a:t>
            </a:r>
            <a:endParaRPr lang="en-US" sz="3200" dirty="0">
              <a:latin typeface="MiSans Semibold" pitchFamily="2" charset="-122"/>
              <a:ea typeface="MiSans Semibold" pitchFamily="2" charset="-122"/>
            </a:endParaRPr>
          </a:p>
          <a:p>
            <a:pPr algn="l">
              <a:lnSpc>
                <a:spcPts val="3780"/>
              </a:lnSpc>
            </a:pPr>
            <a:r>
              <a:rPr lang="en-US" sz="3200" kern="0" spc="-36" dirty="0">
                <a:solidFill>
                  <a:srgbClr val="070707"/>
                </a:solidFill>
                <a:latin typeface="MiSans Semibold" pitchFamily="2" charset="-122"/>
                <a:ea typeface="MiSans Semibold" pitchFamily="2" charset="-122"/>
                <a:cs typeface="Manrope" pitchFamily="34" charset="-120"/>
              </a:rPr>
              <a:t>什么成果？</a:t>
            </a:r>
            <a:endParaRPr lang="en-US" sz="3200" dirty="0">
              <a:latin typeface="MiSans Semibold" pitchFamily="2" charset="-122"/>
              <a:ea typeface="MiSans Semibold" pitchFamily="2" charset="-122"/>
            </a:endParaRPr>
          </a:p>
        </p:txBody>
      </p:sp>
      <p:sp>
        <p:nvSpPr>
          <p:cNvPr id="5" name="Text 1"/>
          <p:cNvSpPr/>
          <p:nvPr/>
        </p:nvSpPr>
        <p:spPr>
          <a:xfrm>
            <a:off x="266700" y="2527877"/>
            <a:ext cx="1785938" cy="297135"/>
          </a:xfrm>
          <a:prstGeom prst="rect">
            <a:avLst/>
          </a:prstGeom>
          <a:noFill/>
          <a:ln/>
        </p:spPr>
        <p:txBody>
          <a:bodyPr wrap="square" lIns="0" tIns="0" rIns="0" bIns="0" rtlCol="0" anchor="t"/>
          <a:lstStyle/>
          <a:p>
            <a:pPr algn="l">
              <a:lnSpc>
                <a:spcPts val="1170"/>
              </a:lnSpc>
            </a:pPr>
            <a:r>
              <a:rPr lang="en-US" sz="900" dirty="0" err="1">
                <a:solidFill>
                  <a:srgbClr val="070707">
                    <a:alpha val="40000"/>
                  </a:srgbClr>
                </a:solidFill>
                <a:latin typeface="MiSans" pitchFamily="2" charset="-122"/>
                <a:ea typeface="MiSans" pitchFamily="2" charset="-122"/>
                <a:cs typeface="Space Mono" pitchFamily="34" charset="-120"/>
              </a:rPr>
              <a:t>重要指标的提升</a:t>
            </a:r>
            <a:endParaRPr lang="en-US" sz="900" dirty="0">
              <a:latin typeface="MiSans" pitchFamily="2" charset="-122"/>
              <a:ea typeface="MiSans" pitchFamily="2" charset="-122"/>
            </a:endParaRPr>
          </a:p>
        </p:txBody>
      </p:sp>
      <p:sp>
        <p:nvSpPr>
          <p:cNvPr id="6" name="Text 2"/>
          <p:cNvSpPr/>
          <p:nvPr/>
        </p:nvSpPr>
        <p:spPr>
          <a:xfrm>
            <a:off x="266700" y="2085689"/>
            <a:ext cx="1785938" cy="365745"/>
          </a:xfrm>
          <a:prstGeom prst="rect">
            <a:avLst/>
          </a:prstGeom>
          <a:noFill/>
          <a:ln/>
        </p:spPr>
        <p:txBody>
          <a:bodyPr wrap="square" lIns="0" tIns="0" rIns="0" bIns="0" rtlCol="0" anchor="t"/>
          <a:lstStyle/>
          <a:p>
            <a:pPr algn="l">
              <a:lnSpc>
                <a:spcPts val="2880"/>
              </a:lnSpc>
            </a:pPr>
            <a:r>
              <a:rPr lang="en-US" sz="2400" dirty="0">
                <a:solidFill>
                  <a:srgbClr val="070707"/>
                </a:solidFill>
                <a:latin typeface="MiSans Demibold" pitchFamily="2" charset="-122"/>
                <a:ea typeface="MiSans Demibold" pitchFamily="2" charset="-122"/>
                <a:cs typeface="Manrope" pitchFamily="34" charset="-120"/>
              </a:rPr>
              <a:t>231%</a:t>
            </a:r>
            <a:endParaRPr lang="en-US" sz="2400" dirty="0">
              <a:latin typeface="MiSans Demibold" pitchFamily="2" charset="-122"/>
              <a:ea typeface="MiSans Demibold" pitchFamily="2" charset="-122"/>
            </a:endParaRPr>
          </a:p>
        </p:txBody>
      </p:sp>
      <p:sp>
        <p:nvSpPr>
          <p:cNvPr id="7" name="Text 3"/>
          <p:cNvSpPr/>
          <p:nvPr/>
        </p:nvSpPr>
        <p:spPr>
          <a:xfrm>
            <a:off x="266700" y="3553742"/>
            <a:ext cx="1785938" cy="297135"/>
          </a:xfrm>
          <a:prstGeom prst="rect">
            <a:avLst/>
          </a:prstGeom>
          <a:noFill/>
          <a:ln/>
        </p:spPr>
        <p:txBody>
          <a:bodyPr wrap="square" lIns="0" tIns="0" rIns="0" bIns="0" rtlCol="0" anchor="t"/>
          <a:lstStyle/>
          <a:p>
            <a:pPr algn="l">
              <a:lnSpc>
                <a:spcPts val="1170"/>
              </a:lnSpc>
            </a:pPr>
            <a:r>
              <a:rPr lang="en-US" sz="900" dirty="0">
                <a:solidFill>
                  <a:srgbClr val="070707">
                    <a:alpha val="40000"/>
                  </a:srgbClr>
                </a:solidFill>
                <a:latin typeface="MiSans" pitchFamily="2" charset="-122"/>
                <a:ea typeface="MiSans" pitchFamily="2" charset="-122"/>
                <a:cs typeface="Space Mono" pitchFamily="34" charset="-120"/>
              </a:rPr>
              <a:t>重要指标的提升</a:t>
            </a:r>
            <a:endParaRPr lang="en-US" sz="900" dirty="0">
              <a:latin typeface="MiSans" pitchFamily="2" charset="-122"/>
              <a:ea typeface="MiSans" pitchFamily="2" charset="-122"/>
            </a:endParaRPr>
          </a:p>
        </p:txBody>
      </p:sp>
      <p:sp>
        <p:nvSpPr>
          <p:cNvPr id="8" name="Text 4"/>
          <p:cNvSpPr/>
          <p:nvPr/>
        </p:nvSpPr>
        <p:spPr>
          <a:xfrm>
            <a:off x="266700" y="3112011"/>
            <a:ext cx="1785938" cy="365745"/>
          </a:xfrm>
          <a:prstGeom prst="rect">
            <a:avLst/>
          </a:prstGeom>
          <a:noFill/>
          <a:ln/>
        </p:spPr>
        <p:txBody>
          <a:bodyPr wrap="square" lIns="0" tIns="0" rIns="0" bIns="0" rtlCol="0" anchor="t"/>
          <a:lstStyle/>
          <a:p>
            <a:pPr algn="l">
              <a:lnSpc>
                <a:spcPts val="2880"/>
              </a:lnSpc>
            </a:pPr>
            <a:r>
              <a:rPr lang="en-US" sz="2400" dirty="0">
                <a:solidFill>
                  <a:srgbClr val="070707"/>
                </a:solidFill>
                <a:latin typeface="MiSans Demibold" pitchFamily="2" charset="-122"/>
                <a:ea typeface="MiSans Demibold" pitchFamily="2" charset="-122"/>
                <a:cs typeface="Manrope" pitchFamily="34" charset="-120"/>
              </a:rPr>
              <a:t>12K</a:t>
            </a:r>
            <a:endParaRPr lang="en-US" sz="2400" dirty="0">
              <a:latin typeface="MiSans Demibold" pitchFamily="2" charset="-122"/>
              <a:ea typeface="MiSans Demibold" pitchFamily="2" charset="-122"/>
            </a:endParaRPr>
          </a:p>
        </p:txBody>
      </p:sp>
      <p:sp>
        <p:nvSpPr>
          <p:cNvPr id="9" name="Text 5"/>
          <p:cNvSpPr/>
          <p:nvPr/>
        </p:nvSpPr>
        <p:spPr>
          <a:xfrm>
            <a:off x="266700" y="4579665"/>
            <a:ext cx="1785938" cy="297135"/>
          </a:xfrm>
          <a:prstGeom prst="rect">
            <a:avLst/>
          </a:prstGeom>
          <a:noFill/>
          <a:ln/>
        </p:spPr>
        <p:txBody>
          <a:bodyPr wrap="square" lIns="0" tIns="0" rIns="0" bIns="0" rtlCol="0" anchor="t"/>
          <a:lstStyle/>
          <a:p>
            <a:pPr algn="l">
              <a:lnSpc>
                <a:spcPts val="1170"/>
              </a:lnSpc>
            </a:pPr>
            <a:r>
              <a:rPr lang="en-US" sz="900" dirty="0">
                <a:solidFill>
                  <a:srgbClr val="070707">
                    <a:alpha val="40000"/>
                  </a:srgbClr>
                </a:solidFill>
                <a:latin typeface="MiSans" pitchFamily="2" charset="-122"/>
                <a:ea typeface="MiSans" pitchFamily="2" charset="-122"/>
                <a:cs typeface="Space Mono" pitchFamily="34" charset="-120"/>
              </a:rPr>
              <a:t>重要指标的提升</a:t>
            </a:r>
            <a:endParaRPr lang="en-US" sz="900" dirty="0">
              <a:latin typeface="MiSans" pitchFamily="2" charset="-122"/>
              <a:ea typeface="MiSans" pitchFamily="2" charset="-122"/>
            </a:endParaRPr>
          </a:p>
        </p:txBody>
      </p:sp>
      <p:sp>
        <p:nvSpPr>
          <p:cNvPr id="10" name="Text 6"/>
          <p:cNvSpPr/>
          <p:nvPr/>
        </p:nvSpPr>
        <p:spPr>
          <a:xfrm>
            <a:off x="266700" y="4137876"/>
            <a:ext cx="1785938" cy="365745"/>
          </a:xfrm>
          <a:prstGeom prst="rect">
            <a:avLst/>
          </a:prstGeom>
          <a:noFill/>
          <a:ln/>
        </p:spPr>
        <p:txBody>
          <a:bodyPr wrap="square" lIns="0" tIns="0" rIns="0" bIns="0" rtlCol="0" anchor="t"/>
          <a:lstStyle/>
          <a:p>
            <a:pPr algn="l">
              <a:lnSpc>
                <a:spcPts val="2880"/>
              </a:lnSpc>
            </a:pPr>
            <a:r>
              <a:rPr lang="en-US" sz="2400" dirty="0">
                <a:solidFill>
                  <a:srgbClr val="070707"/>
                </a:solidFill>
                <a:latin typeface="MiSans Demibold" pitchFamily="2" charset="-122"/>
                <a:ea typeface="MiSans Demibold" pitchFamily="2" charset="-122"/>
                <a:cs typeface="Manrope" pitchFamily="34" charset="-120"/>
              </a:rPr>
              <a:t>5x</a:t>
            </a:r>
            <a:endParaRPr lang="en-US" sz="2400" dirty="0">
              <a:latin typeface="MiSans Demibold" pitchFamily="2" charset="-122"/>
              <a:ea typeface="MiSans Demibold" pitchFamily="2" charset="-122"/>
            </a:endParaRPr>
          </a:p>
        </p:txBody>
      </p:sp>
      <p:graphicFrame>
        <p:nvGraphicFramePr>
          <p:cNvPr id="11" name="Chart 0"/>
          <p:cNvGraphicFramePr/>
          <p:nvPr>
            <p:extLst>
              <p:ext uri="{D42A27DB-BD31-4B8C-83A1-F6EECF244321}">
                <p14:modId xmlns:p14="http://schemas.microsoft.com/office/powerpoint/2010/main" val="4216731468"/>
              </p:ext>
            </p:extLst>
          </p:nvPr>
        </p:nvGraphicFramePr>
        <p:xfrm>
          <a:off x="3035300" y="2085480"/>
          <a:ext cx="5842000" cy="257175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35">
    <p:bg>
      <p:bgPr>
        <a:gradFill>
          <a:gsLst>
            <a:gs pos="0">
              <a:srgbClr val="FAEDFF"/>
            </a:gs>
            <a:gs pos="100000">
              <a:srgbClr val="F0EEFC"/>
            </a:gs>
          </a:gsLst>
          <a:lin ang="18900000"/>
        </a:gradFill>
        <a:effectLst/>
      </p:bgPr>
    </p:bg>
    <p:spTree>
      <p:nvGrpSpPr>
        <p:cNvPr id="1" name=""/>
        <p:cNvGrpSpPr/>
        <p:nvPr/>
      </p:nvGrpSpPr>
      <p:grpSpPr>
        <a:xfrm>
          <a:off x="0" y="0"/>
          <a:ext cx="0" cy="0"/>
          <a:chOff x="0" y="0"/>
          <a:chExt cx="0" cy="0"/>
        </a:xfrm>
      </p:grpSpPr>
      <p:pic>
        <p:nvPicPr>
          <p:cNvPr id="3" name="Image 0" descr="https://pitch-assets-ccb95893-de3f-4266-973c-20049231b248.s3.eu-west-1.amazonaws.com/548730ce-7318-4535-abca-ecfd2e019fbd?pitch-bytes=181821&amp;pitch-content-type=image%2Fjpeg"/>
          <p:cNvPicPr>
            <a:picLocks noChangeAspect="1"/>
          </p:cNvPicPr>
          <p:nvPr/>
        </p:nvPicPr>
        <p:blipFill>
          <a:blip r:embed="rId3"/>
          <a:srcRect/>
          <a:stretch/>
        </p:blipFill>
        <p:spPr>
          <a:xfrm>
            <a:off x="0" y="0"/>
            <a:ext cx="9144000" cy="5143500"/>
          </a:xfrm>
          <a:prstGeom prst="rect">
            <a:avLst/>
          </a:prstGeom>
        </p:spPr>
      </p:pic>
      <p:sp>
        <p:nvSpPr>
          <p:cNvPr id="5" name="Text 1"/>
          <p:cNvSpPr/>
          <p:nvPr/>
        </p:nvSpPr>
        <p:spPr>
          <a:xfrm>
            <a:off x="2190750" y="1249575"/>
            <a:ext cx="4762500" cy="1213470"/>
          </a:xfrm>
          <a:prstGeom prst="rect">
            <a:avLst/>
          </a:prstGeom>
          <a:noFill/>
          <a:ln/>
        </p:spPr>
        <p:txBody>
          <a:bodyPr wrap="square" lIns="0" tIns="0" rIns="0" bIns="0" rtlCol="0" anchor="ctr"/>
          <a:lstStyle/>
          <a:p>
            <a:pPr algn="ctr"/>
            <a:r>
              <a:rPr lang="en-US" sz="3600" kern="0" spc="-36" dirty="0">
                <a:solidFill>
                  <a:srgbClr val="070707"/>
                </a:solidFill>
                <a:latin typeface="MiSans Demibold" pitchFamily="2" charset="-122"/>
                <a:ea typeface="MiSans Demibold" pitchFamily="2" charset="-122"/>
                <a:cs typeface="Manrope" pitchFamily="34" charset="-120"/>
              </a:rPr>
              <a:t>“它将我的工作量减少了一半”</a:t>
            </a:r>
            <a:endParaRPr lang="en-US" sz="3600" dirty="0">
              <a:latin typeface="MiSans Demibold" pitchFamily="2" charset="-122"/>
              <a:ea typeface="MiSans Demibold" pitchFamily="2" charset="-122"/>
            </a:endParaRPr>
          </a:p>
        </p:txBody>
      </p:sp>
      <p:pic>
        <p:nvPicPr>
          <p:cNvPr id="6" name="Image 1" descr="https://pitch-assets-ccb95893-de3f-4266-973c-20049231b248.s3.eu-west-1.amazonaws.com/17ed5945-c432-47e5-a187-7999aeabefaa?pitch-bytes=7061&amp;pitch-content-type=image%2Fpng"/>
          <p:cNvPicPr>
            <a:picLocks noChangeAspect="1"/>
          </p:cNvPicPr>
          <p:nvPr/>
        </p:nvPicPr>
        <p:blipFill>
          <a:blip r:embed="rId4"/>
          <a:srcRect/>
          <a:stretch/>
        </p:blipFill>
        <p:spPr>
          <a:xfrm>
            <a:off x="4333875" y="3989222"/>
            <a:ext cx="476250" cy="476250"/>
          </a:xfrm>
          <a:prstGeom prst="rect">
            <a:avLst/>
          </a:prstGeom>
        </p:spPr>
      </p:pic>
      <p:sp>
        <p:nvSpPr>
          <p:cNvPr id="7" name="Text 2"/>
          <p:cNvSpPr/>
          <p:nvPr/>
        </p:nvSpPr>
        <p:spPr>
          <a:xfrm>
            <a:off x="3187707" y="4579665"/>
            <a:ext cx="2768575" cy="297135"/>
          </a:xfrm>
          <a:prstGeom prst="rect">
            <a:avLst/>
          </a:prstGeom>
          <a:noFill/>
          <a:ln/>
        </p:spPr>
        <p:txBody>
          <a:bodyPr wrap="square" lIns="0" tIns="0" rIns="0" bIns="0" rtlCol="0" anchor="b"/>
          <a:lstStyle/>
          <a:p>
            <a:pPr algn="ctr">
              <a:lnSpc>
                <a:spcPts val="1170"/>
              </a:lnSpc>
            </a:pPr>
            <a:r>
              <a:rPr lang="en-US" sz="900" dirty="0" err="1">
                <a:solidFill>
                  <a:srgbClr val="070707"/>
                </a:solidFill>
                <a:latin typeface="MiSans Normal" pitchFamily="2" charset="-122"/>
                <a:ea typeface="MiSans Normal" pitchFamily="2" charset="-122"/>
                <a:cs typeface="Space Mono" pitchFamily="34" charset="-120"/>
              </a:rPr>
              <a:t>李明</a:t>
            </a:r>
            <a:endParaRPr lang="en-US" sz="900" dirty="0">
              <a:latin typeface="MiSans Normal" pitchFamily="2" charset="-122"/>
              <a:ea typeface="MiSans Normal" pitchFamily="2" charset="-122"/>
            </a:endParaRPr>
          </a:p>
          <a:p>
            <a:pPr algn="ctr">
              <a:lnSpc>
                <a:spcPts val="1170"/>
              </a:lnSpc>
            </a:pPr>
            <a:r>
              <a:rPr lang="en-US" sz="900" dirty="0" err="1">
                <a:solidFill>
                  <a:srgbClr val="070707"/>
                </a:solidFill>
                <a:latin typeface="MiSans Normal" pitchFamily="2" charset="-122"/>
                <a:ea typeface="MiSans Normal" pitchFamily="2" charset="-122"/>
                <a:cs typeface="Space Mono" pitchFamily="34" charset="-120"/>
              </a:rPr>
              <a:t>yuanbao公司采购副总裁</a:t>
            </a:r>
            <a:endParaRPr lang="en-US" sz="900" dirty="0">
              <a:latin typeface="MiSans Normal" pitchFamily="2" charset="-122"/>
              <a:ea typeface="MiSans Normal" pitchFamily="2"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40">
    <p:bg>
      <p:bgPr>
        <a:gradFill>
          <a:gsLst>
            <a:gs pos="0">
              <a:srgbClr val="5D3EC8"/>
            </a:gs>
            <a:gs pos="100000">
              <a:srgbClr val="BB5DD2"/>
            </a:gs>
          </a:gsLst>
          <a:lin ang="18900000"/>
        </a:grad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BEA7FE5-5F72-6468-F3CF-D525C8B74B1B}"/>
              </a:ext>
            </a:extLst>
          </p:cNvPr>
          <p:cNvPicPr>
            <a:picLocks noChangeAspect="1"/>
          </p:cNvPicPr>
          <p:nvPr/>
        </p:nvPicPr>
        <p:blipFill>
          <a:blip r:embed="rId3"/>
          <a:stretch>
            <a:fillRect/>
          </a:stretch>
        </p:blipFill>
        <p:spPr>
          <a:xfrm>
            <a:off x="-1" y="0"/>
            <a:ext cx="9136481" cy="5143500"/>
          </a:xfrm>
          <a:prstGeom prst="rect">
            <a:avLst/>
          </a:prstGeom>
        </p:spPr>
      </p:pic>
      <p:sp>
        <p:nvSpPr>
          <p:cNvPr id="4" name="Text 0"/>
          <p:cNvSpPr/>
          <p:nvPr/>
        </p:nvSpPr>
        <p:spPr>
          <a:xfrm>
            <a:off x="266700" y="2331727"/>
            <a:ext cx="8610600" cy="480045"/>
          </a:xfrm>
          <a:prstGeom prst="rect">
            <a:avLst/>
          </a:prstGeom>
          <a:noFill/>
          <a:ln/>
        </p:spPr>
        <p:txBody>
          <a:bodyPr wrap="square" lIns="0" tIns="0" rIns="0" bIns="0" rtlCol="0" anchor="ctr"/>
          <a:lstStyle/>
          <a:p>
            <a:pPr algn="ctr"/>
            <a:r>
              <a:rPr lang="en-US" sz="3600" dirty="0">
                <a:solidFill>
                  <a:schemeClr val="bg1"/>
                </a:solidFill>
                <a:latin typeface="MiSans Semibold" pitchFamily="2" charset="-122"/>
                <a:ea typeface="MiSans Semibold" pitchFamily="2" charset="-122"/>
              </a:rPr>
              <a:t>THANKS</a:t>
            </a:r>
          </a:p>
        </p:txBody>
      </p:sp>
      <p:sp>
        <p:nvSpPr>
          <p:cNvPr id="5" name="Text 1"/>
          <p:cNvSpPr/>
          <p:nvPr/>
        </p:nvSpPr>
        <p:spPr>
          <a:xfrm>
            <a:off x="2073915" y="4349931"/>
            <a:ext cx="4996170" cy="526869"/>
          </a:xfrm>
          <a:prstGeom prst="rect">
            <a:avLst/>
          </a:prstGeom>
          <a:noFill/>
          <a:ln/>
        </p:spPr>
        <p:txBody>
          <a:bodyPr wrap="square" lIns="0" tIns="0" rIns="0" bIns="0" rtlCol="0" anchor="b"/>
          <a:lstStyle/>
          <a:p>
            <a:pPr algn="ctr">
              <a:lnSpc>
                <a:spcPct val="150000"/>
              </a:lnSpc>
            </a:pPr>
            <a:r>
              <a:rPr lang="en-US" sz="900" spc="300" dirty="0">
                <a:solidFill>
                  <a:srgbClr val="FFFFFF"/>
                </a:solidFill>
                <a:latin typeface="MiSans Light" pitchFamily="2" charset="-122"/>
                <a:ea typeface="MiSans Light" pitchFamily="2" charset="-122"/>
                <a:cs typeface="Space Mono" pitchFamily="34" charset="-120"/>
              </a:rPr>
              <a:t>ABCDEFG@EMAIL.COM</a:t>
            </a:r>
            <a:endParaRPr lang="en-US" sz="900" spc="300" dirty="0">
              <a:latin typeface="MiSans Light" pitchFamily="2" charset="-122"/>
              <a:ea typeface="MiSans Light" pitchFamily="2" charset="-122"/>
            </a:endParaRPr>
          </a:p>
          <a:p>
            <a:pPr algn="ctr">
              <a:lnSpc>
                <a:spcPct val="150000"/>
              </a:lnSpc>
            </a:pPr>
            <a:r>
              <a:rPr lang="en-US" sz="900" spc="300" dirty="0">
                <a:solidFill>
                  <a:srgbClr val="FFFFFF"/>
                </a:solidFill>
                <a:latin typeface="MiSans Light" pitchFamily="2" charset="-122"/>
                <a:ea typeface="MiSans Light" pitchFamily="2" charset="-122"/>
                <a:cs typeface="Space Mono" pitchFamily="34" charset="-120"/>
              </a:rPr>
              <a:t>2026年6月</a:t>
            </a:r>
            <a:endParaRPr lang="en-US" sz="900" spc="300" dirty="0">
              <a:latin typeface="MiSans Light" pitchFamily="2" charset="-122"/>
              <a:ea typeface="MiSans Light" pitchFamily="2" charset="-122"/>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484</Words>
  <Application>Microsoft Macintosh PowerPoint</Application>
  <PresentationFormat>全屏显示(16:9)</PresentationFormat>
  <Paragraphs>259</Paragraphs>
  <Slides>24</Slides>
  <Notes>24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24</vt:i4>
      </vt:variant>
    </vt:vector>
  </HeadingPairs>
  <TitlesOfParts>
    <vt:vector size="32" baseType="lpstr">
      <vt:lpstr>MiSans</vt:lpstr>
      <vt:lpstr>MiSans Demibold</vt:lpstr>
      <vt:lpstr>MiSans Light</vt:lpstr>
      <vt:lpstr>MiSans Medium</vt:lpstr>
      <vt:lpstr>MiSans Normal</vt:lpstr>
      <vt:lpstr>MiSans Semibold</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PptxGenJS Presentation</dc:subject>
  <dc:creator>Pitch Software GmbH</dc:creator>
  <cp:lastModifiedBy>T171376</cp:lastModifiedBy>
  <cp:revision>17</cp:revision>
  <dcterms:created xsi:type="dcterms:W3CDTF">2026-06-03T07:42:44Z</dcterms:created>
  <dcterms:modified xsi:type="dcterms:W3CDTF">2026-06-16T01:14:05Z</dcterms:modified>
</cp:coreProperties>
</file>