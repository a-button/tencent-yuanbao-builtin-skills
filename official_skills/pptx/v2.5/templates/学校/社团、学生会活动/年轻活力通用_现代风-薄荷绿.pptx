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62"/>
    <a:srgbClr val="2F6BFF"/>
    <a:srgbClr val="262626"/>
    <a:srgbClr val="4D5ED6"/>
    <a:srgbClr val="384831"/>
    <a:srgbClr val="C4F2E8"/>
    <a:srgbClr val="ECFBF7"/>
    <a:srgbClr val="101010"/>
    <a:srgbClr val="FDFAF2"/>
    <a:srgbClr val="FFE5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894018716972645E-2"/>
          <c:y val="0"/>
          <c:w val="0.95821196256605468"/>
          <c:h val="0.79779047029061989"/>
        </c:manualLayout>
      </c:layout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007A62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007A62"/>
              </a:solidFill>
              <a:ln w="19050">
                <a:solidFill>
                  <a:srgbClr val="007A62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05F4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05F4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05F4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05F4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05F4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rgbClr val="007A62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rgbClr val="007A62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rgbClr val="505050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rgbClr val="007A62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rgbClr val="007A62"/>
              </a:solidFill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4D5ED6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chemeClr val="bg1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 dirty="0"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4D5ED6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88F111FC-1055-367C-6783-4084F9CB0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的影响范围极其广泛，且正在快速渗透到企业的核心工作流中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0" name="AutoShape 4"/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007A62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007A62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1" name="AutoShape 5"/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007A62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007A62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2" name="AutoShape 6"/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007A62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007A62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62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62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62"/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全职岗位内容受影响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组织已在职能中使用 AI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2025年常规使用比例预测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Global Survey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698500" y="457200"/>
            <a:ext cx="47498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500" u="none" strike="noStrike" dirty="0">
                <a:solidFill>
                  <a:srgbClr val="262626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 </a:t>
            </a:r>
            <a:r>
              <a:rPr lang="en-US" sz="3500" u="none" strike="noStrike" dirty="0" err="1">
                <a:solidFill>
                  <a:srgbClr val="262626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落地场景四象限</a:t>
            </a:r>
            <a:endParaRPr dirty="0">
              <a:solidFill>
                <a:srgbClr val="262626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007A62"/>
              </a:solidFill>
              <a:highlight>
                <a:srgbClr val="485546">
                  <a:alpha val="100000"/>
                </a:srgbClr>
              </a:highlight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</a:t>
            </a:r>
            <a:r>
              <a:rPr lang="en-US" sz="1200" b="0" i="0" u="none" strike="noStrike" dirty="0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02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 / 高收益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C4F2E8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03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 / 低收益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04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替代个人的单点任务，更重要的是将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嵌入组织的系统流程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ECFBF7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4D5ED6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Personal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007A62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MISANS VF MEDIUM" pitchFamily="2" charset="-122"/>
                <a:cs typeface="Courier New" panose="02070309020205020404" pitchFamily="49" charset="0"/>
                <a:sym typeface="Arial"/>
              </a:rPr>
              <a:t>TEAM</a:t>
            </a:r>
            <a:endParaRPr dirty="0">
              <a:latin typeface="Courier New" panose="02070309020205020404" pitchFamily="49" charset="0"/>
              <a:ea typeface="MISANS VF MEDIUM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工作流重构的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四个核心阶段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01 任务识别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判断哪些工作适合交给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AI：重复性高、规则明确、信息密集、反馈周期短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02 工具协作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 AI 参与搜索、分析、生成、复盘，把工具嵌入真实工作流，而不是停留在尝鲜。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03 流程沉淀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把一次性提效变成可复用的标准操作流程 (SOP)，降低跨团队的协作门槛。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04 持续迭代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让团队能够复制、训练、优化这套新流程，并基于反馈持续迭代最佳实践。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28A6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lumMod val="95000"/>
                <a:lumOff val="5000"/>
                <a:alpha val="10027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AI赋能的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i="0" u="none" strike="noStrike" dirty="0">
                <a:solidFill>
                  <a:srgbClr val="007A6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”。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缺角矩形 1">
            <a:extLst>
              <a:ext uri="{FF2B5EF4-FFF2-40B4-BE49-F238E27FC236}">
                <a16:creationId xmlns:a16="http://schemas.microsoft.com/office/drawing/2014/main" id="{DA04A13B-516A-F9A9-32DC-86BD7FD0227D}"/>
              </a:ext>
            </a:extLst>
          </p:cNvPr>
          <p:cNvSpPr/>
          <p:nvPr/>
        </p:nvSpPr>
        <p:spPr>
          <a:xfrm rot="1800000">
            <a:off x="1124787" y="2484618"/>
            <a:ext cx="313962" cy="313962"/>
          </a:xfrm>
          <a:prstGeom prst="plaque">
            <a:avLst>
              <a:gd name="adj" fmla="val 37317"/>
            </a:avLst>
          </a:prstGeom>
          <a:solidFill>
            <a:srgbClr val="4D5ED6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缺角矩形 2">
            <a:extLst>
              <a:ext uri="{FF2B5EF4-FFF2-40B4-BE49-F238E27FC236}">
                <a16:creationId xmlns:a16="http://schemas.microsoft.com/office/drawing/2014/main" id="{7A507D02-BDBC-0C3D-E52E-E41E8C53EDB1}"/>
              </a:ext>
            </a:extLst>
          </p:cNvPr>
          <p:cNvSpPr/>
          <p:nvPr/>
        </p:nvSpPr>
        <p:spPr>
          <a:xfrm rot="1800000">
            <a:off x="1124787" y="3531198"/>
            <a:ext cx="313962" cy="313962"/>
          </a:xfrm>
          <a:prstGeom prst="plaque">
            <a:avLst>
              <a:gd name="adj" fmla="val 37317"/>
            </a:avLst>
          </a:prstGeom>
          <a:solidFill>
            <a:srgbClr val="C4F2E8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6FF4F3DA-548A-E716-9A9E-CA2ABCB54786}"/>
              </a:ext>
            </a:extLst>
          </p:cNvPr>
          <p:cNvSpPr/>
          <p:nvPr/>
        </p:nvSpPr>
        <p:spPr>
          <a:xfrm rot="1800000">
            <a:off x="1124786" y="4522985"/>
            <a:ext cx="313962" cy="313962"/>
          </a:xfrm>
          <a:prstGeom prst="plaque">
            <a:avLst>
              <a:gd name="adj" fmla="val 37317"/>
            </a:avLst>
          </a:prstGeom>
          <a:solidFill>
            <a:srgbClr val="384831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27A85E38-79CA-EDEA-12DF-C18E704FCE00}"/>
              </a:ext>
            </a:extLst>
          </p:cNvPr>
          <p:cNvSpPr/>
          <p:nvPr/>
        </p:nvSpPr>
        <p:spPr>
          <a:xfrm rot="1800000">
            <a:off x="1124785" y="5561192"/>
            <a:ext cx="313962" cy="313962"/>
          </a:xfrm>
          <a:prstGeom prst="plaque">
            <a:avLst>
              <a:gd name="adj" fmla="val 37317"/>
            </a:avLst>
          </a:prstGeom>
          <a:solidFill>
            <a:srgbClr val="007A62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43BD6D50-5ED9-B8EA-70EE-D32EDEB695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058409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007A62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007A62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007A62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007A62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007A62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007A62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007A62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007A62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007A62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007A62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3" name="AutoShape 7">
            <a:extLst>
              <a:ext uri="{FF2B5EF4-FFF2-40B4-BE49-F238E27FC236}">
                <a16:creationId xmlns:a16="http://schemas.microsoft.com/office/drawing/2014/main" id="{EE1A7359-8F3B-C756-A1B4-E951F45B89D9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007A6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297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61087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2230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8458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007A62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76250" y="509270"/>
            <a:ext cx="5080000" cy="697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已进入主流工作流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476250" y="1276985"/>
            <a:ext cx="534811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211455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72669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349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007A62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61950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23037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85318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007A62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28A6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546028" y="5247640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5164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4D5ED6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005F4D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28A68A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rgbClr val="4D5B49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00860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b="1" i="0" u="none" strike="noStrike" dirty="0">
                <a:solidFill>
                  <a:srgbClr val="007A6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1100" dirty="0">
              <a:solidFill>
                <a:srgbClr val="007A6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使用率在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2023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年后明显加速，生成式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正在推动组织采用进入新阶段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嵌入核心工作流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C4F2E8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rgbClr val="4D5B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2327370617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005F4D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005F4D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005F4D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15E18008-8B32-E116-D8BA-C56629EDB641}"/>
              </a:ext>
            </a:extLst>
          </p:cNvPr>
          <p:cNvSpPr/>
          <p:nvPr/>
        </p:nvSpPr>
        <p:spPr>
          <a:xfrm>
            <a:off x="8047990" y="650875"/>
            <a:ext cx="203200" cy="203200"/>
          </a:xfrm>
          <a:prstGeom prst="ellipse">
            <a:avLst/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007A62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solidFill>
                <a:schemeClr val="bg1"/>
              </a:solidFill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solidFill>
                  <a:schemeClr val="bg1"/>
                </a:solidFill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Thanks!</a:t>
            </a:r>
            <a:endParaRPr dirty="0">
              <a:solidFill>
                <a:schemeClr val="bg1"/>
              </a:solidFill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rgbClr val="26262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时代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81D1C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4D5ED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007A6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534</Words>
  <Application>Microsoft Macintosh PowerPoint</Application>
  <PresentationFormat>宽屏</PresentationFormat>
  <Paragraphs>200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SimHei</vt:lpstr>
      <vt:lpstr>FZLanTingHeiS</vt:lpstr>
      <vt:lpstr>FZLanTingHeiS Bold</vt:lpstr>
      <vt:lpstr>FZLanTingHeiS Extralight</vt:lpstr>
      <vt:lpstr>FZLanTingHeiS Light</vt:lpstr>
      <vt:lpstr>FZLanTingHeiS SemiBold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6</cp:revision>
  <dcterms:created xsi:type="dcterms:W3CDTF">2026-05-27T19:33:57Z</dcterms:created>
  <dcterms:modified xsi:type="dcterms:W3CDTF">2026-05-28T12:59:34Z</dcterms:modified>
</cp:coreProperties>
</file>