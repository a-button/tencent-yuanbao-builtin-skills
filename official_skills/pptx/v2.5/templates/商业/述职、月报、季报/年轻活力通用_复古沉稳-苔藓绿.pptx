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2" r:id="rId6"/>
    <p:sldId id="259" r:id="rId7"/>
    <p:sldId id="261" r:id="rId8"/>
    <p:sldId id="260" r:id="rId9"/>
    <p:sldId id="268" r:id="rId10"/>
    <p:sldId id="263" r:id="rId11"/>
    <p:sldId id="267" r:id="rId12"/>
    <p:sldId id="264" r:id="rId13"/>
    <p:sldId id="265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351C"/>
    <a:srgbClr val="374625"/>
    <a:srgbClr val="E2D29E"/>
    <a:srgbClr val="FF714A"/>
    <a:srgbClr val="F5E7C1"/>
    <a:srgbClr val="C4E194"/>
    <a:srgbClr val="F3F3F3"/>
    <a:srgbClr val="F4F4F4"/>
    <a:srgbClr val="2B381E"/>
    <a:srgbClr val="E24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6"/>
    <p:restoredTop sz="94658"/>
  </p:normalViewPr>
  <p:slideViewPr>
    <p:cSldViewPr snapToGrid="0">
      <p:cViewPr>
        <p:scale>
          <a:sx n="91" d="100"/>
          <a:sy n="91" d="100"/>
        </p:scale>
        <p:origin x="840" y="80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FF714A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FF714A"/>
              </a:solidFill>
              <a:ln w="19050">
                <a:solidFill>
                  <a:srgbClr val="FF714A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F714A"/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F714A"/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F714A"/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F714A"/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0" i="0" strike="noStrike">
                      <a:solidFill>
                        <a:srgbClr val="FF714A"/>
                      </a:solidFill>
                      <a:latin typeface="MiSans VF Semibold" pitchFamily="2" charset="-122"/>
                      <a:ea typeface="MiSans VF Semibold" pitchFamily="2" charset="-122"/>
                      <a:cs typeface="MiSans VF Semibold" pitchFamily="2" charset="-122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rgbClr val="FF714A"/>
                    </a:solidFill>
                    <a:latin typeface="MiSans VF Semibold" pitchFamily="2" charset="-122"/>
                    <a:ea typeface="MiSans VF Semibold" pitchFamily="2" charset="-122"/>
                    <a:cs typeface="MiSans VF Semibold" pitchFamily="2" charset="-122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 dirty="0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FAA14-CF43-61ED-AED3-88033587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>
            <a:extLst>
              <a:ext uri="{FF2B5EF4-FFF2-40B4-BE49-F238E27FC236}">
                <a16:creationId xmlns:a16="http://schemas.microsoft.com/office/drawing/2014/main" id="{0E579B87-452D-64C2-C885-D9E3880855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>
            <a:extLst>
              <a:ext uri="{FF2B5EF4-FFF2-40B4-BE49-F238E27FC236}">
                <a16:creationId xmlns:a16="http://schemas.microsoft.com/office/drawing/2014/main" id="{F8E9928E-ED23-14C3-200F-82EA84EE7A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>
            <a:extLst>
              <a:ext uri="{FF2B5EF4-FFF2-40B4-BE49-F238E27FC236}">
                <a16:creationId xmlns:a16="http://schemas.microsoft.com/office/drawing/2014/main" id="{6FB2A9BC-33E8-612B-B86B-6E437BCF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>
            <a:extLst>
              <a:ext uri="{FF2B5EF4-FFF2-40B4-BE49-F238E27FC236}">
                <a16:creationId xmlns:a16="http://schemas.microsoft.com/office/drawing/2014/main" id="{8FC44803-4F64-48F3-8EC7-55D78888D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>
            <a:extLst>
              <a:ext uri="{FF2B5EF4-FFF2-40B4-BE49-F238E27FC236}">
                <a16:creationId xmlns:a16="http://schemas.microsoft.com/office/drawing/2014/main" id="{0DCC4B14-34D5-6FDA-DB21-6C90F161C8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>
            <a:extLst>
              <a:ext uri="{FF2B5EF4-FFF2-40B4-BE49-F238E27FC236}">
                <a16:creationId xmlns:a16="http://schemas.microsoft.com/office/drawing/2014/main" id="{4C51974D-95E6-1029-ED23-4E0E1C434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730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FA427-4250-8650-A141-44BFB74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FF2AEF-09D6-2BBE-C539-73064C733C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BAAB6D-C81A-606A-E0E9-BE1ED7FB9C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9E4E1D-C2EC-AA15-A8D3-386F9414B0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533075-4534-CD38-F38C-271EBDCF9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161E1-DD22-E7AF-19C6-858EF6A76B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39716E-616E-D966-23B3-099CD432E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1342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8E53-E234-6E84-B6BD-06CBB94B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>
            <a:extLst>
              <a:ext uri="{FF2B5EF4-FFF2-40B4-BE49-F238E27FC236}">
                <a16:creationId xmlns:a16="http://schemas.microsoft.com/office/drawing/2014/main" id="{E6F445CA-1EDE-6C11-570E-D1FE137E0E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>
            <a:extLst>
              <a:ext uri="{FF2B5EF4-FFF2-40B4-BE49-F238E27FC236}">
                <a16:creationId xmlns:a16="http://schemas.microsoft.com/office/drawing/2014/main" id="{99A38915-F2CC-58E5-BB35-796F1FB42F5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>
            <a:extLst>
              <a:ext uri="{FF2B5EF4-FFF2-40B4-BE49-F238E27FC236}">
                <a16:creationId xmlns:a16="http://schemas.microsoft.com/office/drawing/2014/main" id="{8654C29B-1226-513A-47B0-22C91232EB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>
            <a:extLst>
              <a:ext uri="{FF2B5EF4-FFF2-40B4-BE49-F238E27FC236}">
                <a16:creationId xmlns:a16="http://schemas.microsoft.com/office/drawing/2014/main" id="{6FC91551-0D08-38F3-1392-E4591CA98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>
            <a:extLst>
              <a:ext uri="{FF2B5EF4-FFF2-40B4-BE49-F238E27FC236}">
                <a16:creationId xmlns:a16="http://schemas.microsoft.com/office/drawing/2014/main" id="{6199D6C6-8D79-DCDA-610F-61E491BEC6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501C5AE1-2F7B-9BD3-9DD9-255550D1C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42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AutoShape 7"/>
          <p:cNvSpPr/>
          <p:nvPr/>
        </p:nvSpPr>
        <p:spPr>
          <a:xfrm>
            <a:off x="484456" y="5212773"/>
            <a:ext cx="4784892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核心叙事</a:t>
            </a:r>
            <a:endParaRPr lang="en-US" sz="16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A9206F4-1D97-8D6B-82CF-1468944B65CC}"/>
              </a:ext>
            </a:extLst>
          </p:cNvPr>
          <p:cNvSpPr/>
          <p:nvPr/>
        </p:nvSpPr>
        <p:spPr>
          <a:xfrm>
            <a:off x="524797" y="1046355"/>
            <a:ext cx="3982809" cy="149271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AI时代的高效</a:t>
            </a:r>
            <a:endParaRPr lang="zh-CN" altLang="en-US" sz="48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zh-CN" altLang="en-US" sz="4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工作方式</a:t>
            </a:r>
            <a:endParaRPr lang="zh-CN" altLang="en-US" sz="48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4255A17-9EC3-3DE9-B63C-30CE21ECDA76}"/>
              </a:ext>
            </a:extLst>
          </p:cNvPr>
          <p:cNvSpPr txBox="1"/>
          <p:nvPr/>
        </p:nvSpPr>
        <p:spPr>
          <a:xfrm>
            <a:off x="524797" y="2623303"/>
            <a:ext cx="3982809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zh-CN" sz="16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从工具使用到流程重构</a:t>
            </a:r>
            <a:endParaRPr lang="en-US" altLang="zh-CN" sz="16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Arial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059A95-319D-4A06-A9DF-AB56ECD3F89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DC32426D-14D1-A5DD-82C5-FB4A965C024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59451652-8FF0-85DA-0420-8B356412754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65708E20-5510-1622-7AD8-CAE64B798DA6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FACD69D-881A-DAEB-903E-A71E8FB6ABA5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0AB19FF9-C776-360C-3C03-501BD2BF28B0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6ACDA6-DED4-926E-082B-6EB436F0FA22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990B80F-EAA9-BD51-80DE-180F9E374587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E2D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017741B5-9D0B-6ADD-8CEE-15548EC7ADB6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F71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A497BE0-C280-6404-2AC8-22AC1A4234B4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57D567-FEC5-BC25-940F-5445303F36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8C73DFA1-E8B3-F360-EB7F-75E9CC319A1B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EBD65DC0-1421-0FE2-8343-373E541ACDC0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C4E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A18A0FC-E636-5860-93C4-9C9B932EDDE8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80C652-0147-19F7-B101-0B6FC1198481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49C1EF5-6343-B0BE-98F7-7159B189BA5B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5126A01-549E-CF40-F561-675032A8B4BC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1FAC1BB-2E34-B76A-26ED-F506D8BD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172235" cy="6858000"/>
          </a:xfrm>
          <a:prstGeom prst="rect">
            <a:avLst/>
          </a:prstGeom>
        </p:spPr>
      </p:pic>
      <p:sp>
        <p:nvSpPr>
          <p:cNvPr id="78" name="AutoShape 3"/>
          <p:cNvSpPr/>
          <p:nvPr/>
        </p:nvSpPr>
        <p:spPr>
          <a:xfrm>
            <a:off x="5637596" y="765374"/>
            <a:ext cx="6095687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所有人的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工作方式升级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231828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3亿岗位面临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重新拆解与重组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6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这并不意味着岗位会消失，而是写作、检索到数据分析这些工作中繁琐重复的部分被大幅度提效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6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Source: Goldman Sachs, 2023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949053" y="4237031"/>
            <a:ext cx="2784230" cy="49244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新一代通用</a:t>
            </a:r>
            <a:endParaRPr lang="en-US"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6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工作基础设施</a:t>
            </a:r>
            <a:endParaRPr sz="16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949052" y="4986929"/>
            <a:ext cx="2784231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正在嵌入真实工作流，成为日常客户沟通、知识管理与业务闭环的基础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949052" y="6068969"/>
            <a:ext cx="2784231" cy="18466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不再是少数人的工具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4FA379-89CB-4802-81A0-608CDBDC673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4EE3F47C-7922-84F7-05D7-CB1E0F7F426C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4A6848FD-C8F4-6912-029A-23DFE43B5BB6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</a:t>
              </a:r>
              <a:r>
                <a:rPr lang="zh-CN" alt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 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01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53D763B3-B99C-7879-0789-FBAF312D020E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82BDA089-9D4D-10D2-B9AA-4301E36FA792}"/>
              </a:ext>
            </a:extLst>
          </p:cNvPr>
          <p:cNvCxnSpPr>
            <a:cxnSpLocks/>
          </p:cNvCxnSpPr>
          <p:nvPr/>
        </p:nvCxnSpPr>
        <p:spPr>
          <a:xfrm>
            <a:off x="5637596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D997B16-45B8-C07F-4FC5-D1D04169116B}"/>
              </a:ext>
            </a:extLst>
          </p:cNvPr>
          <p:cNvCxnSpPr>
            <a:cxnSpLocks/>
          </p:cNvCxnSpPr>
          <p:nvPr/>
        </p:nvCxnSpPr>
        <p:spPr>
          <a:xfrm>
            <a:off x="8949052" y="5830529"/>
            <a:ext cx="2784231" cy="0"/>
          </a:xfrm>
          <a:prstGeom prst="line">
            <a:avLst/>
          </a:prstGeom>
          <a:ln>
            <a:solidFill>
              <a:schemeClr val="tx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484456" y="1549677"/>
            <a:ext cx="3540760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影响深远的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关键数据</a:t>
            </a:r>
            <a:endParaRPr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482551" y="3055950"/>
            <a:ext cx="3540760" cy="128176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从高盛到麦肯锡的全球调研数据表明，AI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的影响范围极其广泛，且正在快速渗透到企业的核心工作流中</a:t>
            </a:r>
            <a:r>
              <a:rPr lang="en-US" sz="12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altLang="zh-CN" sz="1200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altLang="zh-CN" sz="1200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F37EB6-5668-44DB-0C98-31F83BCD7B56}"/>
              </a:ext>
            </a:extLst>
          </p:cNvPr>
          <p:cNvSpPr/>
          <p:nvPr/>
        </p:nvSpPr>
        <p:spPr>
          <a:xfrm>
            <a:off x="4633595" y="1088272"/>
            <a:ext cx="7558405" cy="1683860"/>
          </a:xfrm>
          <a:prstGeom prst="rect">
            <a:avLst/>
          </a:prstGeom>
          <a:solidFill>
            <a:srgbClr val="F4E7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5689B3C-9496-49A6-BFDA-F07DCDDB1F9B}"/>
              </a:ext>
            </a:extLst>
          </p:cNvPr>
          <p:cNvSpPr/>
          <p:nvPr/>
        </p:nvSpPr>
        <p:spPr>
          <a:xfrm>
            <a:off x="8275007" y="1262409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3亿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F195925C-0B01-29D1-F354-2FBA38C42B06}"/>
              </a:ext>
            </a:extLst>
          </p:cNvPr>
          <p:cNvSpPr/>
          <p:nvPr/>
        </p:nvSpPr>
        <p:spPr>
          <a:xfrm>
            <a:off x="4907759" y="1396310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全职岗位内容受影响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5F1D880-FA3A-0150-8697-78765C8A8F0B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19" name="AutoShape 2">
              <a:extLst>
                <a:ext uri="{FF2B5EF4-FFF2-40B4-BE49-F238E27FC236}">
                  <a16:creationId xmlns:a16="http://schemas.microsoft.com/office/drawing/2014/main" id="{1C5F9F9A-86DB-71A2-CA84-73BC7B3CBD0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0" name="AutoShape 2">
              <a:extLst>
                <a:ext uri="{FF2B5EF4-FFF2-40B4-BE49-F238E27FC236}">
                  <a16:creationId xmlns:a16="http://schemas.microsoft.com/office/drawing/2014/main" id="{0F979B29-B999-7062-50BD-F201920FD3D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</p:grpSp>
      <p:sp>
        <p:nvSpPr>
          <p:cNvPr id="21" name="AutoShape 2">
            <a:extLst>
              <a:ext uri="{FF2B5EF4-FFF2-40B4-BE49-F238E27FC236}">
                <a16:creationId xmlns:a16="http://schemas.microsoft.com/office/drawing/2014/main" id="{94714119-2147-2495-328B-C8DFCE3E0EF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78C8711-3AC8-6DBD-010B-8633FC49100A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Global Survey</a:t>
            </a:r>
            <a:endParaRPr lang="en-US" altLang="zh-CN" sz="1100" dirty="0">
              <a:solidFill>
                <a:srgbClr val="FF714A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7259FE-3779-84F7-7E68-DCED6B25BAE2}"/>
              </a:ext>
            </a:extLst>
          </p:cNvPr>
          <p:cNvSpPr/>
          <p:nvPr/>
        </p:nvSpPr>
        <p:spPr>
          <a:xfrm>
            <a:off x="4633595" y="2777655"/>
            <a:ext cx="7558405" cy="1683860"/>
          </a:xfrm>
          <a:prstGeom prst="rect">
            <a:avLst/>
          </a:prstGeom>
          <a:solidFill>
            <a:srgbClr val="FF71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B08F7CBD-0455-18DF-634B-0A058757B9E5}"/>
              </a:ext>
            </a:extLst>
          </p:cNvPr>
          <p:cNvSpPr/>
          <p:nvPr/>
        </p:nvSpPr>
        <p:spPr>
          <a:xfrm>
            <a:off x="8275007" y="3024954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72%</a:t>
            </a:r>
            <a:endParaRPr lang="en-US" sz="8000" dirty="0">
              <a:solidFill>
                <a:schemeClr val="tx1">
                  <a:lumMod val="95000"/>
                  <a:lumOff val="5000"/>
                </a:schemeClr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6" name="AutoShape 10">
            <a:extLst>
              <a:ext uri="{FF2B5EF4-FFF2-40B4-BE49-F238E27FC236}">
                <a16:creationId xmlns:a16="http://schemas.microsoft.com/office/drawing/2014/main" id="{363DAC22-FC13-A050-3CF7-6FB977373B0E}"/>
              </a:ext>
            </a:extLst>
          </p:cNvPr>
          <p:cNvSpPr/>
          <p:nvPr/>
        </p:nvSpPr>
        <p:spPr>
          <a:xfrm>
            <a:off x="4907759" y="3158855"/>
            <a:ext cx="2758869" cy="23487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72% </a:t>
            </a:r>
            <a:r>
              <a:rPr lang="zh-CN" alt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的组织已在职能中使用 </a:t>
            </a:r>
            <a:r>
              <a:rPr lang="en-US" sz="14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77C80C-152E-BAED-5673-7B08CEB05C3B}"/>
              </a:ext>
            </a:extLst>
          </p:cNvPr>
          <p:cNvSpPr/>
          <p:nvPr/>
        </p:nvSpPr>
        <p:spPr>
          <a:xfrm>
            <a:off x="4633595" y="4461515"/>
            <a:ext cx="7558405" cy="1683860"/>
          </a:xfrm>
          <a:prstGeom prst="rect">
            <a:avLst/>
          </a:prstGeom>
          <a:solidFill>
            <a:srgbClr val="283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374625"/>
              </a:solidFill>
            </a:endParaRPr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A40C39F7-C535-4197-7133-3709D4DCE185}"/>
              </a:ext>
            </a:extLst>
          </p:cNvPr>
          <p:cNvSpPr/>
          <p:nvPr/>
        </p:nvSpPr>
        <p:spPr>
          <a:xfrm>
            <a:off x="8275007" y="4682652"/>
            <a:ext cx="3536628" cy="123110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8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  <a:sym typeface="Arial"/>
              </a:rPr>
              <a:t>88%</a:t>
            </a:r>
            <a:endParaRPr lang="en-US" sz="8000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39D2EE10-6215-9BF4-B592-B86A44CA8C45}"/>
              </a:ext>
            </a:extLst>
          </p:cNvPr>
          <p:cNvSpPr/>
          <p:nvPr/>
        </p:nvSpPr>
        <p:spPr>
          <a:xfrm>
            <a:off x="4907759" y="4816553"/>
            <a:ext cx="2758869" cy="4869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2025</a:t>
            </a:r>
            <a:r>
              <a:rPr lang="zh-CN" altLang="en-US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年公司常规工作中使用</a:t>
            </a:r>
            <a:r>
              <a:rPr lang="en-US" altLang="zh-CN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zh-CN" altLang="en-US" sz="14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1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3">
            <a:extLst>
              <a:ext uri="{FF2B5EF4-FFF2-40B4-BE49-F238E27FC236}">
                <a16:creationId xmlns:a16="http://schemas.microsoft.com/office/drawing/2014/main" id="{1177F007-44D0-F35B-D1ED-528856861EC1}"/>
              </a:ext>
            </a:extLst>
          </p:cNvPr>
          <p:cNvSpPr/>
          <p:nvPr/>
        </p:nvSpPr>
        <p:spPr>
          <a:xfrm>
            <a:off x="484455" y="832699"/>
            <a:ext cx="3344969" cy="5356874"/>
          </a:xfrm>
          <a:prstGeom prst="roundRect">
            <a:avLst>
              <a:gd name="adj" fmla="val 10003"/>
            </a:avLst>
          </a:prstGeom>
          <a:solidFill>
            <a:srgbClr val="28351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F2A1E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AF9A17A5-3DD1-A842-C16D-EFF33C73B11D}"/>
              </a:ext>
            </a:extLst>
          </p:cNvPr>
          <p:cNvSpPr/>
          <p:nvPr/>
        </p:nvSpPr>
        <p:spPr>
          <a:xfrm>
            <a:off x="784852" y="2080178"/>
            <a:ext cx="2776649" cy="7386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24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时代</a:t>
            </a: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的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24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高效工作方式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45C371-9566-A956-C772-7E939209C4B2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4A74F7C-1A49-EA9C-6629-B4829CC2234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171A62BF-D5DE-9414-EAC5-2F19640CAAEF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05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FA7388F4-2233-83E0-B458-9DC9B15B055A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6C8BCE5-EDBE-493A-235D-5458C156B78F}"/>
              </a:ext>
            </a:extLst>
          </p:cNvPr>
          <p:cNvSpPr/>
          <p:nvPr/>
        </p:nvSpPr>
        <p:spPr>
          <a:xfrm>
            <a:off x="784852" y="4752295"/>
            <a:ext cx="2776649" cy="41742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把重复交给模型，把判断留给人；让个人效率、团队知识与业务流程形成闭环。</a:t>
            </a:r>
            <a:endParaRPr lang="en-US" altLang="zh-CN" sz="1200" dirty="0">
              <a:solidFill>
                <a:schemeClr val="bg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" name="AutoShape 2">
            <a:extLst>
              <a:ext uri="{FF2B5EF4-FFF2-40B4-BE49-F238E27FC236}">
                <a16:creationId xmlns:a16="http://schemas.microsoft.com/office/drawing/2014/main" id="{7937CEA2-C36E-88F6-D405-F2042C131AC8}"/>
              </a:ext>
            </a:extLst>
          </p:cNvPr>
          <p:cNvSpPr/>
          <p:nvPr/>
        </p:nvSpPr>
        <p:spPr>
          <a:xfrm>
            <a:off x="784853" y="1193486"/>
            <a:ext cx="2776648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chemeClr val="bg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rPr>
              <a:t>80%</a:t>
            </a:r>
            <a:endParaRPr lang="zh-CN" altLang="en-US" sz="4000" u="none" strike="noStrike" dirty="0">
              <a:solidFill>
                <a:schemeClr val="bg1"/>
              </a:solidFill>
              <a:latin typeface="MiSans VF Regular" pitchFamily="2" charset="-122"/>
              <a:ea typeface="MiSans VF Regular" pitchFamily="2" charset="-122"/>
              <a:cs typeface="MiSans VF Regular" pitchFamily="2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0809A9F-7BE7-B0E7-E32A-22FC2F3B772C}"/>
              </a:ext>
            </a:extLst>
          </p:cNvPr>
          <p:cNvGrpSpPr/>
          <p:nvPr/>
        </p:nvGrpSpPr>
        <p:grpSpPr>
          <a:xfrm>
            <a:off x="3861637" y="832699"/>
            <a:ext cx="2604187" cy="2663875"/>
            <a:chOff x="3861637" y="832699"/>
            <a:chExt cx="2604187" cy="2663875"/>
          </a:xfrm>
        </p:grpSpPr>
        <p:sp>
          <p:nvSpPr>
            <p:cNvPr id="15" name="AutoShape 3">
              <a:extLst>
                <a:ext uri="{FF2B5EF4-FFF2-40B4-BE49-F238E27FC236}">
                  <a16:creationId xmlns:a16="http://schemas.microsoft.com/office/drawing/2014/main" id="{1F1910A4-F271-C9F6-B408-3C77B284137A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27" name="AutoShape 3">
              <a:extLst>
                <a:ext uri="{FF2B5EF4-FFF2-40B4-BE49-F238E27FC236}">
                  <a16:creationId xmlns:a16="http://schemas.microsoft.com/office/drawing/2014/main" id="{3288F774-F10C-2D25-22A8-03D9FEC9B496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从搜索到对话</a:t>
              </a:r>
            </a:p>
          </p:txBody>
        </p:sp>
        <p:sp>
          <p:nvSpPr>
            <p:cNvPr id="29" name="AutoShape 2">
              <a:extLst>
                <a:ext uri="{FF2B5EF4-FFF2-40B4-BE49-F238E27FC236}">
                  <a16:creationId xmlns:a16="http://schemas.microsoft.com/office/drawing/2014/main" id="{550FE7EE-97AB-11E9-5107-1B7B02E1E399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3x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1" name="AutoShape 3">
              <a:extLst>
                <a:ext uri="{FF2B5EF4-FFF2-40B4-BE49-F238E27FC236}">
                  <a16:creationId xmlns:a16="http://schemas.microsoft.com/office/drawing/2014/main" id="{983C709B-B03C-5D27-EC6E-13CE881F065F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资料检索、摘要与初稿生成更快，先形成可讨论版本。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EDAC5F1-EBEE-23AC-297E-15F852E694F3}"/>
              </a:ext>
            </a:extLst>
          </p:cNvPr>
          <p:cNvGrpSpPr/>
          <p:nvPr/>
        </p:nvGrpSpPr>
        <p:grpSpPr>
          <a:xfrm>
            <a:off x="6495367" y="832699"/>
            <a:ext cx="2604187" cy="2663875"/>
            <a:chOff x="3861637" y="832699"/>
            <a:chExt cx="2604187" cy="2663875"/>
          </a:xfrm>
        </p:grpSpPr>
        <p:sp>
          <p:nvSpPr>
            <p:cNvPr id="34" name="AutoShape 3">
              <a:extLst>
                <a:ext uri="{FF2B5EF4-FFF2-40B4-BE49-F238E27FC236}">
                  <a16:creationId xmlns:a16="http://schemas.microsoft.com/office/drawing/2014/main" id="{E49AA3C8-0D06-526B-999C-78F0C917CBA0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35" name="AutoShape 3">
              <a:extLst>
                <a:ext uri="{FF2B5EF4-FFF2-40B4-BE49-F238E27FC236}">
                  <a16:creationId xmlns:a16="http://schemas.microsoft.com/office/drawing/2014/main" id="{021D7344-4229-CA8D-1E95-209AA44AC1D0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从任务到流程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6" name="AutoShape 2">
              <a:extLst>
                <a:ext uri="{FF2B5EF4-FFF2-40B4-BE49-F238E27FC236}">
                  <a16:creationId xmlns:a16="http://schemas.microsoft.com/office/drawing/2014/main" id="{4963067A-AAE6-74A5-8EC9-C9C858FBAB77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30%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37" name="AutoShape 3">
              <a:extLst>
                <a:ext uri="{FF2B5EF4-FFF2-40B4-BE49-F238E27FC236}">
                  <a16:creationId xmlns:a16="http://schemas.microsoft.com/office/drawing/2014/main" id="{9EB38F79-F54E-81D6-76D0-CD7F9E07602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把重复步骤沉淀为模板，让交付质量不依赖临场发挥。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AF7D9B2-9A67-F476-EDC0-FF580821DEA8}"/>
              </a:ext>
            </a:extLst>
          </p:cNvPr>
          <p:cNvGrpSpPr/>
          <p:nvPr/>
        </p:nvGrpSpPr>
        <p:grpSpPr>
          <a:xfrm>
            <a:off x="9129097" y="832699"/>
            <a:ext cx="2604187" cy="2663875"/>
            <a:chOff x="3861637" y="832699"/>
            <a:chExt cx="2604187" cy="2663875"/>
          </a:xfrm>
        </p:grpSpPr>
        <p:sp>
          <p:nvSpPr>
            <p:cNvPr id="39" name="AutoShape 3">
              <a:extLst>
                <a:ext uri="{FF2B5EF4-FFF2-40B4-BE49-F238E27FC236}">
                  <a16:creationId xmlns:a16="http://schemas.microsoft.com/office/drawing/2014/main" id="{98B7ECEC-3316-7088-0F14-A7926D11DC0E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0" name="AutoShape 3">
              <a:extLst>
                <a:ext uri="{FF2B5EF4-FFF2-40B4-BE49-F238E27FC236}">
                  <a16:creationId xmlns:a16="http://schemas.microsoft.com/office/drawing/2014/main" id="{5EC0055C-8829-A787-1E87-5E0ABEB3C2F3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从经验到知识库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1" name="AutoShape 2">
              <a:extLst>
                <a:ext uri="{FF2B5EF4-FFF2-40B4-BE49-F238E27FC236}">
                  <a16:creationId xmlns:a16="http://schemas.microsoft.com/office/drawing/2014/main" id="{6A6CC89F-5D72-BB9F-E45C-7B73BC674956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24h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42" name="AutoShape 3">
              <a:extLst>
                <a:ext uri="{FF2B5EF4-FFF2-40B4-BE49-F238E27FC236}">
                  <a16:creationId xmlns:a16="http://schemas.microsoft.com/office/drawing/2014/main" id="{F27348DD-0909-FB22-85B5-5CF95324B86D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会议、项目与客户信息即时归档，随时可被检索和复用。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2E029C4-67FD-BFD0-2275-A9572FD41727}"/>
              </a:ext>
            </a:extLst>
          </p:cNvPr>
          <p:cNvGrpSpPr/>
          <p:nvPr/>
        </p:nvGrpSpPr>
        <p:grpSpPr>
          <a:xfrm>
            <a:off x="3861637" y="3520480"/>
            <a:ext cx="2604187" cy="2663875"/>
            <a:chOff x="3861637" y="832699"/>
            <a:chExt cx="2604187" cy="2663875"/>
          </a:xfrm>
        </p:grpSpPr>
        <p:sp>
          <p:nvSpPr>
            <p:cNvPr id="44" name="AutoShape 3">
              <a:extLst>
                <a:ext uri="{FF2B5EF4-FFF2-40B4-BE49-F238E27FC236}">
                  <a16:creationId xmlns:a16="http://schemas.microsoft.com/office/drawing/2014/main" id="{E9A4B855-9813-2E38-3634-3FE8A225383B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45" name="AutoShape 3">
              <a:extLst>
                <a:ext uri="{FF2B5EF4-FFF2-40B4-BE49-F238E27FC236}">
                  <a16:creationId xmlns:a16="http://schemas.microsoft.com/office/drawing/2014/main" id="{E58A9B70-D8D8-B84F-3161-2A13C2ED198C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从执行到判断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46" name="AutoShape 2">
              <a:extLst>
                <a:ext uri="{FF2B5EF4-FFF2-40B4-BE49-F238E27FC236}">
                  <a16:creationId xmlns:a16="http://schemas.microsoft.com/office/drawing/2014/main" id="{C8856D3E-CDEA-394F-1753-332EBDA3EA9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</a:t>
              </a:r>
              <a:r>
                <a:rPr lang="zh-CN" altLang="en-US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人</a:t>
              </a:r>
            </a:p>
          </p:txBody>
        </p:sp>
        <p:sp>
          <p:nvSpPr>
            <p:cNvPr id="47" name="AutoShape 3">
              <a:extLst>
                <a:ext uri="{FF2B5EF4-FFF2-40B4-BE49-F238E27FC236}">
                  <a16:creationId xmlns:a16="http://schemas.microsoft.com/office/drawing/2014/main" id="{8E962B20-1BE1-AE60-6028-FB63A17427B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个人拥有研究、写作、分析、排版等多角色协作能力。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6243F045-4121-2D55-BCF1-C33D51A5FD57}"/>
              </a:ext>
            </a:extLst>
          </p:cNvPr>
          <p:cNvGrpSpPr/>
          <p:nvPr/>
        </p:nvGrpSpPr>
        <p:grpSpPr>
          <a:xfrm>
            <a:off x="6495367" y="3520480"/>
            <a:ext cx="2604187" cy="2663875"/>
            <a:chOff x="3861637" y="832699"/>
            <a:chExt cx="2604187" cy="2663875"/>
          </a:xfrm>
        </p:grpSpPr>
        <p:sp>
          <p:nvSpPr>
            <p:cNvPr id="49" name="AutoShape 3">
              <a:extLst>
                <a:ext uri="{FF2B5EF4-FFF2-40B4-BE49-F238E27FC236}">
                  <a16:creationId xmlns:a16="http://schemas.microsoft.com/office/drawing/2014/main" id="{5F02B0C6-83DA-1343-A59D-AA88568FA853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0" name="AutoShape 3">
              <a:extLst>
                <a:ext uri="{FF2B5EF4-FFF2-40B4-BE49-F238E27FC236}">
                  <a16:creationId xmlns:a16="http://schemas.microsoft.com/office/drawing/2014/main" id="{97F5CC76-60F2-B402-5142-72CC3AC1FC9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从单点到协同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1" name="AutoShape 2">
              <a:extLst>
                <a:ext uri="{FF2B5EF4-FFF2-40B4-BE49-F238E27FC236}">
                  <a16:creationId xmlns:a16="http://schemas.microsoft.com/office/drawing/2014/main" id="{4BFB5B3D-29B6-D223-9767-FD595DC18AAF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5</a:t>
              </a:r>
              <a:r>
                <a:rPr lang="zh-CN" altLang="en-US" sz="4000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步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2" name="AutoShape 3">
              <a:extLst>
                <a:ext uri="{FF2B5EF4-FFF2-40B4-BE49-F238E27FC236}">
                  <a16:creationId xmlns:a16="http://schemas.microsoft.com/office/drawing/2014/main" id="{D278D6CA-FA21-3504-6AC0-078FCC442352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提问、生成、校验、改写、发布，形成稳定的人机闭环。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FE7DFF8-C9A8-781F-E8F7-85D8D5436E9B}"/>
              </a:ext>
            </a:extLst>
          </p:cNvPr>
          <p:cNvGrpSpPr/>
          <p:nvPr/>
        </p:nvGrpSpPr>
        <p:grpSpPr>
          <a:xfrm>
            <a:off x="9129097" y="3520480"/>
            <a:ext cx="2604187" cy="2663875"/>
            <a:chOff x="3861637" y="832699"/>
            <a:chExt cx="2604187" cy="2663875"/>
          </a:xfrm>
        </p:grpSpPr>
        <p:sp>
          <p:nvSpPr>
            <p:cNvPr id="54" name="AutoShape 3">
              <a:extLst>
                <a:ext uri="{FF2B5EF4-FFF2-40B4-BE49-F238E27FC236}">
                  <a16:creationId xmlns:a16="http://schemas.microsoft.com/office/drawing/2014/main" id="{A29A2691-30E5-D9E0-6203-FD3A49E877A4}"/>
                </a:ext>
              </a:extLst>
            </p:cNvPr>
            <p:cNvSpPr/>
            <p:nvPr/>
          </p:nvSpPr>
          <p:spPr>
            <a:xfrm>
              <a:off x="3861637" y="832699"/>
              <a:ext cx="2604187" cy="2663875"/>
            </a:xfrm>
            <a:prstGeom prst="roundRect">
              <a:avLst>
                <a:gd name="adj" fmla="val 11489"/>
              </a:avLst>
            </a:prstGeom>
            <a:solidFill>
              <a:schemeClr val="bg1"/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101600" tIns="101600" rIns="101600" bIns="101600" rtlCol="0" anchor="ctr" anchorCtr="0"/>
            <a:lstStyle/>
            <a:p>
              <a:pPr indent="0" algn="ctr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lang="en-US" sz="1400" u="none" strike="noStrike" dirty="0">
                <a:solidFill>
                  <a:srgbClr val="000000">
                    <a:alpha val="100000"/>
                  </a:srgbClr>
                </a:solidFill>
                <a:highlight>
                  <a:srgbClr val="2F2A1E">
                    <a:alpha val="10000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endParaRPr>
            </a:p>
          </p:txBody>
        </p:sp>
        <p:sp>
          <p:nvSpPr>
            <p:cNvPr id="55" name="AutoShape 3">
              <a:extLst>
                <a:ext uri="{FF2B5EF4-FFF2-40B4-BE49-F238E27FC236}">
                  <a16:creationId xmlns:a16="http://schemas.microsoft.com/office/drawing/2014/main" id="{2C556E03-1564-03C0-72CE-EF6C507E5632}"/>
                </a:ext>
              </a:extLst>
            </p:cNvPr>
            <p:cNvSpPr/>
            <p:nvPr/>
          </p:nvSpPr>
          <p:spPr>
            <a:xfrm>
              <a:off x="4129822" y="1193486"/>
              <a:ext cx="1986597" cy="201337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/>
                  </a:solidFill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</a:rPr>
                <a:t>从速度到复利</a:t>
              </a:r>
              <a:endParaRPr lang="en-US" altLang="zh-CN" sz="1200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56" name="AutoShape 2">
              <a:extLst>
                <a:ext uri="{FF2B5EF4-FFF2-40B4-BE49-F238E27FC236}">
                  <a16:creationId xmlns:a16="http://schemas.microsoft.com/office/drawing/2014/main" id="{3C9F8BA8-907E-E146-B1DF-3A1DDB2AE46C}"/>
                </a:ext>
              </a:extLst>
            </p:cNvPr>
            <p:cNvSpPr/>
            <p:nvPr/>
          </p:nvSpPr>
          <p:spPr>
            <a:xfrm>
              <a:off x="4129821" y="2024758"/>
              <a:ext cx="1986597" cy="615553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indent="0" algn="l">
                <a:lnSpc>
                  <a:spcPct val="100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altLang="zh-CN" sz="4000" u="none" strike="noStrike" dirty="0">
                  <a:solidFill>
                    <a:schemeClr val="tx1"/>
                  </a:solidFill>
                  <a:latin typeface="MiSans VF Regular" pitchFamily="2" charset="-122"/>
                  <a:ea typeface="MiSans VF Regular" pitchFamily="2" charset="-122"/>
                  <a:cs typeface="MiSans VF Regular" pitchFamily="2" charset="-122"/>
                </a:rPr>
                <a:t>100%</a:t>
              </a:r>
              <a:endParaRPr lang="zh-CN" altLang="en-US" sz="4000" u="none" strike="noStrike" dirty="0">
                <a:solidFill>
                  <a:schemeClr val="tx1"/>
                </a:solidFill>
                <a:latin typeface="MiSans VF Regular" pitchFamily="2" charset="-122"/>
                <a:ea typeface="MiSans VF Regular" pitchFamily="2" charset="-122"/>
                <a:cs typeface="MiSans VF Regular" pitchFamily="2" charset="-122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D72D70D-F056-F04E-84FA-943666E90777}"/>
                </a:ext>
              </a:extLst>
            </p:cNvPr>
            <p:cNvSpPr/>
            <p:nvPr/>
          </p:nvSpPr>
          <p:spPr>
            <a:xfrm>
              <a:off x="4129822" y="2767159"/>
              <a:ext cx="2016140" cy="417422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16666"/>
                </a:lnSpc>
                <a:buClr>
                  <a:srgbClr val="000000">
                    <a:alpha val="100000"/>
                  </a:srgbClr>
                </a:buClr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zh-CN" altLang="en-US" sz="1200" dirty="0">
                  <a:solidFill>
                    <a:schemeClr val="tx1">
                      <a:alpha val="6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</a:rPr>
                <a:t>每次产出都回流为案例、提示词和流程资产。</a:t>
              </a:r>
              <a:endParaRPr lang="en-US" altLang="zh-CN" sz="1200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3">
            <a:extLst>
              <a:ext uri="{FF2B5EF4-FFF2-40B4-BE49-F238E27FC236}">
                <a16:creationId xmlns:a16="http://schemas.microsoft.com/office/drawing/2014/main" id="{8E5C18AC-9F4A-C578-F5D3-017CDEDCE815}"/>
              </a:ext>
            </a:extLst>
          </p:cNvPr>
          <p:cNvSpPr/>
          <p:nvPr/>
        </p:nvSpPr>
        <p:spPr>
          <a:xfrm>
            <a:off x="484456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F2A1E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5344487-F974-619D-DE2A-55A98953647D}"/>
              </a:ext>
            </a:extLst>
          </p:cNvPr>
          <p:cNvSpPr/>
          <p:nvPr/>
        </p:nvSpPr>
        <p:spPr>
          <a:xfrm>
            <a:off x="3366232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E36E74D5-50C3-0B00-199B-60833473DEAE}"/>
              </a:ext>
            </a:extLst>
          </p:cNvPr>
          <p:cNvSpPr/>
          <p:nvPr/>
        </p:nvSpPr>
        <p:spPr>
          <a:xfrm>
            <a:off x="6248008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>
            <a:extLst>
              <a:ext uri="{FF2B5EF4-FFF2-40B4-BE49-F238E27FC236}">
                <a16:creationId xmlns:a16="http://schemas.microsoft.com/office/drawing/2014/main" id="{3F2068E3-C470-407A-CDCB-A93F65CDB27A}"/>
              </a:ext>
            </a:extLst>
          </p:cNvPr>
          <p:cNvSpPr/>
          <p:nvPr/>
        </p:nvSpPr>
        <p:spPr>
          <a:xfrm>
            <a:off x="9129784" y="4391387"/>
            <a:ext cx="2603500" cy="1543779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484456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4E7C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u="none" strike="noStrike" dirty="0">
              <a:solidFill>
                <a:srgbClr val="000000">
                  <a:alpha val="100000"/>
                </a:srgbClr>
              </a:solidFill>
              <a:highlight>
                <a:srgbClr val="2F2A1E">
                  <a:alpha val="100000"/>
                </a:srgbClr>
              </a:highlight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681306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681306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会议纪要、文档总结、邮件草稿资料初筛。优先落地这些场景以快速见效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366232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C4E19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564352" y="2312343"/>
            <a:ext cx="1099368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563082" y="4595585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248008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FF714A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444858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低难度</a:t>
            </a:r>
            <a:r>
              <a:rPr lang="en-US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7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404218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9129784" y="2009408"/>
            <a:ext cx="2603500" cy="2381979"/>
          </a:xfrm>
          <a:prstGeom prst="roundRect">
            <a:avLst>
              <a:gd name="adj" fmla="val 0"/>
            </a:avLst>
          </a:prstGeom>
          <a:solidFill>
            <a:srgbClr val="28351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</a:t>
            </a:r>
            <a:endParaRPr lang="en-US" sz="11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326634" y="2312343"/>
            <a:ext cx="1056619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高难度</a:t>
            </a:r>
            <a:r>
              <a:rPr lang="en-US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/ </a:t>
            </a:r>
            <a:r>
              <a:rPr lang="en-US" sz="1800" u="none" strike="noStrike" dirty="0" err="1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低收益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282184" y="4595586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过度定制、目标不清的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系统、缺少业务闭环的复杂方案。应尽量避免在此投入</a:t>
            </a:r>
            <a:r>
              <a:rPr lang="en-US" sz="1200" u="none" strike="noStrike" dirty="0">
                <a:solidFill>
                  <a:srgbClr val="000000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0AC9BB3D-5268-9A9D-535E-E42A89090525}"/>
              </a:ext>
            </a:extLst>
          </p:cNvPr>
          <p:cNvSpPr/>
          <p:nvPr/>
        </p:nvSpPr>
        <p:spPr>
          <a:xfrm>
            <a:off x="524797" y="829870"/>
            <a:ext cx="10827302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AI </a:t>
            </a:r>
            <a:r>
              <a:rPr lang="zh-CN" altLang="en-US" sz="40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SimHei"/>
              </a:rPr>
              <a:t>落地场景四象限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5E1CA0F-EAED-C2CB-F910-373C8696371D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8FF98D68-8852-5820-8426-F57A040D0B2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9A88684E-9F9E-F02D-7E76-BA9CAB0D800B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03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22FD7469-1090-0775-F90A-B21476474B8F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EF09D72C-AAE4-2248-1A47-BCDB60870ADC}"/>
              </a:ext>
            </a:extLst>
          </p:cNvPr>
          <p:cNvSpPr/>
          <p:nvPr/>
        </p:nvSpPr>
        <p:spPr>
          <a:xfrm>
            <a:off x="2447788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01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" name="AutoShape 9">
            <a:extLst>
              <a:ext uri="{FF2B5EF4-FFF2-40B4-BE49-F238E27FC236}">
                <a16:creationId xmlns:a16="http://schemas.microsoft.com/office/drawing/2014/main" id="{25A633A8-FB35-0C2B-845F-61A59FAAF4E0}"/>
              </a:ext>
            </a:extLst>
          </p:cNvPr>
          <p:cNvSpPr/>
          <p:nvPr/>
        </p:nvSpPr>
        <p:spPr>
          <a:xfrm>
            <a:off x="5330834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02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9E80C54B-FFD8-5342-0FB5-A233211E5169}"/>
              </a:ext>
            </a:extLst>
          </p:cNvPr>
          <p:cNvSpPr/>
          <p:nvPr/>
        </p:nvSpPr>
        <p:spPr>
          <a:xfrm>
            <a:off x="8211340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7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03</a:t>
            </a:r>
            <a:endParaRPr lang="en-US" sz="11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" name="AutoShape 17">
            <a:extLst>
              <a:ext uri="{FF2B5EF4-FFF2-40B4-BE49-F238E27FC236}">
                <a16:creationId xmlns:a16="http://schemas.microsoft.com/office/drawing/2014/main" id="{455AD161-79F1-29E8-CEAA-D803C0259A82}"/>
              </a:ext>
            </a:extLst>
          </p:cNvPr>
          <p:cNvSpPr/>
          <p:nvPr/>
        </p:nvSpPr>
        <p:spPr>
          <a:xfrm>
            <a:off x="11093116" y="2312343"/>
            <a:ext cx="417578" cy="3346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04</a:t>
            </a:r>
            <a:endParaRPr lang="en-US" sz="1100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532416" y="882124"/>
            <a:ext cx="10530553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工作流重构的</a:t>
            </a:r>
            <a:endParaRPr lang="en-US"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四个核心阶段</a:t>
            </a:r>
            <a:endParaRPr sz="4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cxnSp>
        <p:nvCxnSpPr>
          <p:cNvPr id="132" name="Connector 3"/>
          <p:cNvCxnSpPr>
            <a:cxnSpLocks/>
          </p:cNvCxnSpPr>
          <p:nvPr/>
        </p:nvCxnSpPr>
        <p:spPr>
          <a:xfrm>
            <a:off x="0" y="3036372"/>
            <a:ext cx="12192000" cy="1439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022601" y="497861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157342" y="4977671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7292083" y="4977672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537052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01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任务识别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53705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判断哪些工作适合交给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AI：重复性高、规则明确、信息密集、反馈周期短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341962" y="4201792"/>
            <a:ext cx="2219829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02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工具协作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341963" y="5191760"/>
            <a:ext cx="221983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参与搜索、分析、生成、复盘，把工具嵌入真实工作流，而不是停留在尝鲜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50578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03 </a:t>
            </a:r>
            <a:r>
              <a:rPr lang="en-US" sz="1800" u="none" strike="noStrike" dirty="0" err="1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流程沉淀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50578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把一次性提效变成可复用的标准操作流程 (SOP)，降低跨团队的协作门槛。</a:t>
            </a:r>
            <a:endParaRPr lang="en-US" sz="110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627822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u="none" strike="noStrike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04 持续迭代</a:t>
            </a:r>
            <a:endParaRPr lang="en-US" sz="110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627822" y="5191760"/>
            <a:ext cx="2133600" cy="55399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让团队能够复制、训练、优化这套新流程，并基于反馈持续迭代最佳实践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537052" y="3286760"/>
            <a:ext cx="662940" cy="662940"/>
          </a:xfrm>
          <a:prstGeom prst="ellipse">
            <a:avLst/>
          </a:prstGeom>
          <a:solidFill>
            <a:srgbClr val="E2D29E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642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341962" y="3249291"/>
            <a:ext cx="662940" cy="662940"/>
          </a:xfrm>
          <a:prstGeom prst="ellipse">
            <a:avLst/>
          </a:prstGeom>
          <a:solidFill>
            <a:srgbClr val="FF714A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01982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505782" y="3286760"/>
            <a:ext cx="662940" cy="662940"/>
          </a:xfrm>
          <a:prstGeom prst="ellipse">
            <a:avLst/>
          </a:prstGeom>
          <a:solidFill>
            <a:srgbClr val="C4E19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65802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627822" y="3286760"/>
            <a:ext cx="662940" cy="6629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787842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1F2C903-C34D-3E4B-B5EF-DA31D1A833C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5F6BB1B8-28CC-8167-EF1D-4C55DB1BBD01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46F088C-FFD8-868F-6BA1-4850BB32FB1E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06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2B7EDD2B-F9E1-F99A-337D-51BD07A208B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AutoShape 5"/>
          <p:cNvSpPr/>
          <p:nvPr/>
        </p:nvSpPr>
        <p:spPr>
          <a:xfrm>
            <a:off x="0" y="0"/>
            <a:ext cx="4735773" cy="6858000"/>
          </a:xfrm>
          <a:prstGeom prst="roundRect">
            <a:avLst>
              <a:gd name="adj" fmla="val 0"/>
            </a:avLst>
          </a:prstGeom>
          <a:solidFill>
            <a:srgbClr val="28351C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1" name="AutoShape 3"/>
          <p:cNvSpPr/>
          <p:nvPr/>
        </p:nvSpPr>
        <p:spPr>
          <a:xfrm>
            <a:off x="524797" y="4458970"/>
            <a:ext cx="3665066" cy="1065676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不仅是利用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替代个人的单点任务，更重要的是将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嵌入组织的系统流程</a:t>
            </a:r>
            <a:r>
              <a:rPr lang="en-US" sz="1200" u="none" strike="noStrike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200" u="none" strike="noStrike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  <a:p>
            <a:pPr>
              <a:lnSpc>
                <a:spcPct val="116666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200" dirty="0" err="1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个人的启动速度提升，与组织的知识复用能力结合，才能最大化技术带来的红利</a:t>
            </a:r>
            <a:r>
              <a:rPr lang="en-US" altLang="zh-CN" sz="12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</a:p>
        </p:txBody>
      </p:sp>
      <p:sp>
        <p:nvSpPr>
          <p:cNvPr id="124" name="AutoShape 8"/>
          <p:cNvSpPr/>
          <p:nvPr/>
        </p:nvSpPr>
        <p:spPr>
          <a:xfrm>
            <a:off x="8784679" y="2545046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写作、搜索、总结、计划、学习以及时间管理。重点强调个体的启动速度、信息处理速度与输出速度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8784680" y="1298125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个人效率升级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8784679" y="5417670"/>
            <a:ext cx="2948603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流程自动化、知识库建设、跨部门协作、数据辅助决策。重点强调团队协同与资产复用能力</a:t>
            </a:r>
            <a:r>
              <a:rPr lang="en-US" sz="12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8784680" y="4169907"/>
            <a:ext cx="2948604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rPr>
              <a:t>组织效率升级</a:t>
            </a:r>
            <a:endParaRPr lang="en-US" sz="11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524797" y="881581"/>
            <a:ext cx="3665066" cy="14465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B54C90C-07B9-3F79-82B6-FC157D41A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A2036E2-DDB3-85A9-C907-3B8001CCE1EA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2B91A9F9-30CC-B20A-89BB-90A992D6AAB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04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19669C18-5665-8E92-2952-79E25B40309B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1" y="1026349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PERSONAL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9" name="文本框 7">
            <a:extLst>
              <a:ext uri="{FF2B5EF4-FFF2-40B4-BE49-F238E27FC236}">
                <a16:creationId xmlns:a16="http://schemas.microsoft.com/office/drawing/2014/main" id="{9B4F2B23-2673-3534-B32B-E603C3EF2F32}"/>
              </a:ext>
            </a:extLst>
          </p:cNvPr>
          <p:cNvSpPr txBox="1"/>
          <p:nvPr/>
        </p:nvSpPr>
        <p:spPr>
          <a:xfrm>
            <a:off x="8784680" y="3898131"/>
            <a:ext cx="2948604" cy="23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>
                  <a:alpha val="100000"/>
                </a:srgbClr>
              </a:buClr>
              <a:buFont typeface="Arial"/>
            </a:pPr>
            <a:r>
              <a:rPr lang="en-US" altLang="zh-CN" sz="1200" b="1" strike="noStrike" dirty="0"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Arial"/>
              </a:rPr>
              <a:t>TEAM</a:t>
            </a:r>
            <a:endParaRPr lang="en-US" altLang="zh-CN" sz="1200" b="1" dirty="0"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EDCC92-6F6F-0FAF-6A70-B87C0A90A6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878030"/>
            <a:ext cx="3240335" cy="244382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BC71A3-D241-A9DE-7BDF-0CD4EAAD5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730" y="3749812"/>
            <a:ext cx="3240335" cy="244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B7438E-A0B9-44F4-95B3-8751A040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extLst>
              <a:ext uri="{FF2B5EF4-FFF2-40B4-BE49-F238E27FC236}">
                <a16:creationId xmlns:a16="http://schemas.microsoft.com/office/drawing/2014/main" id="{32BBD2E5-9CF7-FB2F-4CFE-049A43D640CF}"/>
              </a:ext>
            </a:extLst>
          </p:cNvPr>
          <p:cNvSpPr/>
          <p:nvPr/>
        </p:nvSpPr>
        <p:spPr>
          <a:xfrm>
            <a:off x="0" y="0"/>
            <a:ext cx="12192000" cy="3203157"/>
          </a:xfrm>
          <a:prstGeom prst="roundRect">
            <a:avLst>
              <a:gd name="adj" fmla="val 0"/>
            </a:avLst>
          </a:prstGeom>
          <a:solidFill>
            <a:srgbClr val="28351C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54" name="Connector 3">
            <a:extLst>
              <a:ext uri="{FF2B5EF4-FFF2-40B4-BE49-F238E27FC236}">
                <a16:creationId xmlns:a16="http://schemas.microsoft.com/office/drawing/2014/main" id="{EDF78A3B-2D85-E733-FB68-7BBEC32EF786}"/>
              </a:ext>
            </a:extLst>
          </p:cNvPr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7" name="AutoShape 6">
            <a:extLst>
              <a:ext uri="{FF2B5EF4-FFF2-40B4-BE49-F238E27FC236}">
                <a16:creationId xmlns:a16="http://schemas.microsoft.com/office/drawing/2014/main" id="{E8B26EDD-5360-10AA-52FE-56D16FEEC9B1}"/>
              </a:ext>
            </a:extLst>
          </p:cNvPr>
          <p:cNvSpPr/>
          <p:nvPr/>
        </p:nvSpPr>
        <p:spPr>
          <a:xfrm>
            <a:off x="524797" y="3795514"/>
            <a:ext cx="42037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>
            <a:extLst>
              <a:ext uri="{FF2B5EF4-FFF2-40B4-BE49-F238E27FC236}">
                <a16:creationId xmlns:a16="http://schemas.microsoft.com/office/drawing/2014/main" id="{7B54C457-4391-47D2-9FC6-94513FAC28A0}"/>
              </a:ext>
            </a:extLst>
          </p:cNvPr>
          <p:cNvSpPr/>
          <p:nvPr/>
        </p:nvSpPr>
        <p:spPr>
          <a:xfrm>
            <a:off x="1081056" y="383869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内容生成：降低启动成本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59" name="AutoShape 8">
            <a:extLst>
              <a:ext uri="{FF2B5EF4-FFF2-40B4-BE49-F238E27FC236}">
                <a16:creationId xmlns:a16="http://schemas.microsoft.com/office/drawing/2014/main" id="{7158D3A6-A873-84F4-A45E-94C5818205BD}"/>
              </a:ext>
            </a:extLst>
          </p:cNvPr>
          <p:cNvSpPr/>
          <p:nvPr/>
        </p:nvSpPr>
        <p:spPr>
          <a:xfrm>
            <a:off x="524797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>
            <a:extLst>
              <a:ext uri="{FF2B5EF4-FFF2-40B4-BE49-F238E27FC236}">
                <a16:creationId xmlns:a16="http://schemas.microsoft.com/office/drawing/2014/main" id="{9738BC8E-EA4C-060A-FF25-455EEC1BEA24}"/>
              </a:ext>
            </a:extLst>
          </p:cNvPr>
          <p:cNvSpPr/>
          <p:nvPr/>
        </p:nvSpPr>
        <p:spPr>
          <a:xfrm>
            <a:off x="1081056" y="466038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数据分析：提炼趋势异常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1" name="AutoShape 10">
            <a:extLst>
              <a:ext uri="{FF2B5EF4-FFF2-40B4-BE49-F238E27FC236}">
                <a16:creationId xmlns:a16="http://schemas.microsoft.com/office/drawing/2014/main" id="{78BD3C90-DB32-8988-5C4A-F637549FC906}"/>
              </a:ext>
            </a:extLst>
          </p:cNvPr>
          <p:cNvSpPr/>
          <p:nvPr/>
        </p:nvSpPr>
        <p:spPr>
          <a:xfrm>
            <a:off x="524797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>
            <a:extLst>
              <a:ext uri="{FF2B5EF4-FFF2-40B4-BE49-F238E27FC236}">
                <a16:creationId xmlns:a16="http://schemas.microsoft.com/office/drawing/2014/main" id="{C8F251C8-F728-80EC-CADC-E4D919687DAB}"/>
              </a:ext>
            </a:extLst>
          </p:cNvPr>
          <p:cNvSpPr/>
          <p:nvPr/>
        </p:nvSpPr>
        <p:spPr>
          <a:xfrm>
            <a:off x="1081056" y="5483346"/>
            <a:ext cx="4820979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客户沟通：辅助自动回复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3" name="AutoShape 12">
            <a:extLst>
              <a:ext uri="{FF2B5EF4-FFF2-40B4-BE49-F238E27FC236}">
                <a16:creationId xmlns:a16="http://schemas.microsoft.com/office/drawing/2014/main" id="{7C087657-7085-6F76-485B-F00208BB328A}"/>
              </a:ext>
            </a:extLst>
          </p:cNvPr>
          <p:cNvSpPr/>
          <p:nvPr/>
        </p:nvSpPr>
        <p:spPr>
          <a:xfrm>
            <a:off x="6623050" y="379551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 dirty="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>
            <a:extLst>
              <a:ext uri="{FF2B5EF4-FFF2-40B4-BE49-F238E27FC236}">
                <a16:creationId xmlns:a16="http://schemas.microsoft.com/office/drawing/2014/main" id="{05234C72-9876-CCAB-8ABE-F965BA0D557C}"/>
              </a:ext>
            </a:extLst>
          </p:cNvPr>
          <p:cNvSpPr/>
          <p:nvPr/>
        </p:nvSpPr>
        <p:spPr>
          <a:xfrm>
            <a:off x="7178040" y="383869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项目管理：拆解追踪风险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5" name="AutoShape 14">
            <a:extLst>
              <a:ext uri="{FF2B5EF4-FFF2-40B4-BE49-F238E27FC236}">
                <a16:creationId xmlns:a16="http://schemas.microsoft.com/office/drawing/2014/main" id="{A6C27EBD-32EF-44EA-73B5-B25817301B72}"/>
              </a:ext>
            </a:extLst>
          </p:cNvPr>
          <p:cNvSpPr/>
          <p:nvPr/>
        </p:nvSpPr>
        <p:spPr>
          <a:xfrm>
            <a:off x="6623050" y="461720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>
            <a:extLst>
              <a:ext uri="{FF2B5EF4-FFF2-40B4-BE49-F238E27FC236}">
                <a16:creationId xmlns:a16="http://schemas.microsoft.com/office/drawing/2014/main" id="{4B79A48E-F14F-4706-DC06-1FF63F912EAE}"/>
              </a:ext>
            </a:extLst>
          </p:cNvPr>
          <p:cNvSpPr/>
          <p:nvPr/>
        </p:nvSpPr>
        <p:spPr>
          <a:xfrm>
            <a:off x="7178040" y="466038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知识沉淀：构建可检索资产</a:t>
            </a:r>
            <a:endParaRPr lang="en-US" sz="20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67" name="AutoShape 16">
            <a:extLst>
              <a:ext uri="{FF2B5EF4-FFF2-40B4-BE49-F238E27FC236}">
                <a16:creationId xmlns:a16="http://schemas.microsoft.com/office/drawing/2014/main" id="{C422332C-06A2-10A5-9005-6981B0E9D15F}"/>
              </a:ext>
            </a:extLst>
          </p:cNvPr>
          <p:cNvSpPr/>
          <p:nvPr/>
        </p:nvSpPr>
        <p:spPr>
          <a:xfrm>
            <a:off x="6623050" y="5440164"/>
            <a:ext cx="43180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C4E19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C4E19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>
            <a:extLst>
              <a:ext uri="{FF2B5EF4-FFF2-40B4-BE49-F238E27FC236}">
                <a16:creationId xmlns:a16="http://schemas.microsoft.com/office/drawing/2014/main" id="{F610EC7F-D4CC-48B6-4517-1A76981E017B}"/>
              </a:ext>
            </a:extLst>
          </p:cNvPr>
          <p:cNvSpPr/>
          <p:nvPr/>
        </p:nvSpPr>
        <p:spPr>
          <a:xfrm>
            <a:off x="7178040" y="5483346"/>
            <a:ext cx="4555244" cy="27699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个人学习：生成学习路径</a:t>
            </a:r>
            <a:endParaRPr lang="en-US" sz="200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8568141-89B9-7509-6547-4795E91D1B43}"/>
              </a:ext>
            </a:extLst>
          </p:cNvPr>
          <p:cNvSpPr/>
          <p:nvPr/>
        </p:nvSpPr>
        <p:spPr>
          <a:xfrm>
            <a:off x="484456" y="1549677"/>
            <a:ext cx="1105349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赋能的六大应用场景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050875-CC99-9441-E29F-0A33BF169198}"/>
              </a:ext>
            </a:extLst>
          </p:cNvPr>
          <p:cNvSpPr txBox="1"/>
          <p:nvPr/>
        </p:nvSpPr>
        <p:spPr>
          <a:xfrm>
            <a:off x="482551" y="1054293"/>
            <a:ext cx="354076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u="none" strike="noStrike" dirty="0">
                <a:solidFill>
                  <a:srgbClr val="C4E194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Scenarios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751F8F-C126-F42B-EBCA-DED7B0AD210E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84ABC4F5-B21F-91D6-673E-D7D6DBDA9987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6" name="AutoShape 2">
              <a:extLst>
                <a:ext uri="{FF2B5EF4-FFF2-40B4-BE49-F238E27FC236}">
                  <a16:creationId xmlns:a16="http://schemas.microsoft.com/office/drawing/2014/main" id="{D20E6595-821C-508B-956B-8272B2E7CE09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</a:t>
              </a: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7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7" name="AutoShape 2">
            <a:extLst>
              <a:ext uri="{FF2B5EF4-FFF2-40B4-BE49-F238E27FC236}">
                <a16:creationId xmlns:a16="http://schemas.microsoft.com/office/drawing/2014/main" id="{379A1952-917B-25FF-67E3-178220C9963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6276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Connector 3"/>
          <p:cNvCxnSpPr/>
          <p:nvPr/>
        </p:nvCxnSpPr>
        <p:spPr>
          <a:xfrm>
            <a:off x="484456" y="297820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484456" y="400309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484456" y="502925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484456" y="6054149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6" name="AutoShape 8"/>
          <p:cNvSpPr/>
          <p:nvPr/>
        </p:nvSpPr>
        <p:spPr>
          <a:xfrm>
            <a:off x="1591107" y="2256232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1591107" y="3307758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市场调研：从“手动搜索资料”升级为“快速汇总多来源信息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1591106" y="4307281"/>
            <a:ext cx="979120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文案撰写：从“从零起草”升级为“先生成初稿再修改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1591107" y="5345489"/>
            <a:ext cx="9791208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知识管理：从“依赖个人经验”升级为“自动归档与智能问答</a:t>
            </a:r>
            <a:r>
              <a:rPr lang="en-US" sz="2000" u="none" strike="noStrike" dirty="0">
                <a:solidFill>
                  <a:schemeClr val="tx1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”。</a:t>
            </a: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141FB2E-67E1-0EE9-3D11-A0E4AAD4BF3A}"/>
              </a:ext>
            </a:extLst>
          </p:cNvPr>
          <p:cNvGrpSpPr/>
          <p:nvPr/>
        </p:nvGrpSpPr>
        <p:grpSpPr>
          <a:xfrm>
            <a:off x="865260" y="2347218"/>
            <a:ext cx="248250" cy="248250"/>
            <a:chOff x="1154628" y="2347218"/>
            <a:chExt cx="248250" cy="248250"/>
          </a:xfrm>
        </p:grpSpPr>
        <p:cxnSp>
          <p:nvCxnSpPr>
            <p:cNvPr id="180" name="Connector 12"/>
            <p:cNvCxnSpPr/>
            <p:nvPr/>
          </p:nvCxnSpPr>
          <p:spPr>
            <a:xfrm rot="-176140">
              <a:off x="1155228" y="246513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14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1" name="Connector 13"/>
            <p:cNvCxnSpPr/>
            <p:nvPr/>
          </p:nvCxnSpPr>
          <p:spPr>
            <a:xfrm rot="5223859">
              <a:off x="1155065" y="246529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14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2" name="Connector 14"/>
            <p:cNvCxnSpPr/>
            <p:nvPr/>
          </p:nvCxnSpPr>
          <p:spPr>
            <a:xfrm rot="2524005">
              <a:off x="1154628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14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3" name="Connector 15"/>
            <p:cNvCxnSpPr/>
            <p:nvPr/>
          </p:nvCxnSpPr>
          <p:spPr>
            <a:xfrm rot="7924005">
              <a:off x="1155297" y="246479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FF714A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DB9B4-82DA-573D-7EE9-4BF939415852}"/>
              </a:ext>
            </a:extLst>
          </p:cNvPr>
          <p:cNvGrpSpPr/>
          <p:nvPr/>
        </p:nvGrpSpPr>
        <p:grpSpPr>
          <a:xfrm>
            <a:off x="865260" y="3372708"/>
            <a:ext cx="248250" cy="248525"/>
            <a:chOff x="1154628" y="3372708"/>
            <a:chExt cx="248250" cy="248525"/>
          </a:xfrm>
        </p:grpSpPr>
        <p:cxnSp>
          <p:nvCxnSpPr>
            <p:cNvPr id="184" name="Connector 16"/>
            <p:cNvCxnSpPr/>
            <p:nvPr/>
          </p:nvCxnSpPr>
          <p:spPr>
            <a:xfrm rot="-176140">
              <a:off x="1155228" y="3491290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4A01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5" name="Connector 17"/>
            <p:cNvCxnSpPr/>
            <p:nvPr/>
          </p:nvCxnSpPr>
          <p:spPr>
            <a:xfrm rot="5223859">
              <a:off x="1155065" y="3490183"/>
              <a:ext cx="24765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4A01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6" name="Connector 18"/>
            <p:cNvCxnSpPr/>
            <p:nvPr/>
          </p:nvCxnSpPr>
          <p:spPr>
            <a:xfrm rot="2524005">
              <a:off x="1154628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4A01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7" name="Connector 19"/>
            <p:cNvCxnSpPr/>
            <p:nvPr/>
          </p:nvCxnSpPr>
          <p:spPr>
            <a:xfrm rot="7924005">
              <a:off x="1155297" y="3490956"/>
              <a:ext cx="247855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D4A017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CC211ED-CE84-1845-A3F6-6F059F96A3D9}"/>
              </a:ext>
            </a:extLst>
          </p:cNvPr>
          <p:cNvGrpSpPr/>
          <p:nvPr/>
        </p:nvGrpSpPr>
        <p:grpSpPr>
          <a:xfrm>
            <a:off x="858940" y="4395054"/>
            <a:ext cx="254566" cy="254209"/>
            <a:chOff x="1148308" y="4395054"/>
            <a:chExt cx="254566" cy="254209"/>
          </a:xfrm>
        </p:grpSpPr>
        <p:cxnSp>
          <p:nvCxnSpPr>
            <p:cNvPr id="188" name="Connector 20"/>
            <p:cNvCxnSpPr/>
            <p:nvPr/>
          </p:nvCxnSpPr>
          <p:spPr>
            <a:xfrm rot="-171744">
              <a:off x="1148874" y="451618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4E194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89" name="Connector 21"/>
            <p:cNvCxnSpPr/>
            <p:nvPr/>
          </p:nvCxnSpPr>
          <p:spPr>
            <a:xfrm rot="5228255">
              <a:off x="1148080" y="451570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4E194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0" name="Connector 22"/>
            <p:cNvCxnSpPr/>
            <p:nvPr/>
          </p:nvCxnSpPr>
          <p:spPr>
            <a:xfrm rot="2540499">
              <a:off x="1148308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4E194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1" name="Connector 23"/>
            <p:cNvCxnSpPr/>
            <p:nvPr/>
          </p:nvCxnSpPr>
          <p:spPr>
            <a:xfrm rot="7916204">
              <a:off x="1148979" y="4515842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rgbClr val="C4E194"/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D310166-D68E-E512-465F-AE9730BFE399}"/>
              </a:ext>
            </a:extLst>
          </p:cNvPr>
          <p:cNvGrpSpPr/>
          <p:nvPr/>
        </p:nvGrpSpPr>
        <p:grpSpPr>
          <a:xfrm>
            <a:off x="864652" y="5419944"/>
            <a:ext cx="255204" cy="254846"/>
            <a:chOff x="1154020" y="5419944"/>
            <a:chExt cx="255204" cy="254846"/>
          </a:xfrm>
        </p:grpSpPr>
        <p:cxnSp>
          <p:nvCxnSpPr>
            <p:cNvPr id="192" name="Connector 24"/>
            <p:cNvCxnSpPr/>
            <p:nvPr/>
          </p:nvCxnSpPr>
          <p:spPr>
            <a:xfrm rot="-171744">
              <a:off x="1155224" y="5541070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3" name="Connector 25"/>
            <p:cNvCxnSpPr/>
            <p:nvPr/>
          </p:nvCxnSpPr>
          <p:spPr>
            <a:xfrm rot="5228255">
              <a:off x="1154430" y="5540594"/>
              <a:ext cx="254000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4" name="Connector 26"/>
            <p:cNvCxnSpPr/>
            <p:nvPr/>
          </p:nvCxnSpPr>
          <p:spPr>
            <a:xfrm rot="2516204">
              <a:off x="1154020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  <p:cxnSp>
          <p:nvCxnSpPr>
            <p:cNvPr id="195" name="Connector 27"/>
            <p:cNvCxnSpPr/>
            <p:nvPr/>
          </p:nvCxnSpPr>
          <p:spPr>
            <a:xfrm rot="7940499">
              <a:off x="1154697" y="5541369"/>
              <a:ext cx="254143" cy="1270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38100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00"/>
              <a:headEnd type="none" w="lg" len="lg"/>
              <a:tailEnd type="none" w="lg" len="lg"/>
            </a:ln>
          </p:spPr>
        </p:cxnSp>
      </p:grpSp>
      <p:sp>
        <p:nvSpPr>
          <p:cNvPr id="2" name="AutoShape 2">
            <a:extLst>
              <a:ext uri="{FF2B5EF4-FFF2-40B4-BE49-F238E27FC236}">
                <a16:creationId xmlns:a16="http://schemas.microsoft.com/office/drawing/2014/main" id="{5C4B834D-0274-FF31-C1CA-5A9C53586585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6594CC-C287-F3EF-7029-4593451571F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CFD71214-37DF-B21C-6B0C-2390CCF27D45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>
              <a:extLst>
                <a:ext uri="{FF2B5EF4-FFF2-40B4-BE49-F238E27FC236}">
                  <a16:creationId xmlns:a16="http://schemas.microsoft.com/office/drawing/2014/main" id="{F2A93F5E-CB2C-8E8B-560E-C1D7B63CBFFA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08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6" name="AutoShape 2">
            <a:extLst>
              <a:ext uri="{FF2B5EF4-FFF2-40B4-BE49-F238E27FC236}">
                <a16:creationId xmlns:a16="http://schemas.microsoft.com/office/drawing/2014/main" id="{EB5CF4C7-BAEC-EBFF-D62D-07D4268BED91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BEB68D0A-F128-FCE8-8211-B8EAACA92A05}"/>
              </a:ext>
            </a:extLst>
          </p:cNvPr>
          <p:cNvCxnSpPr/>
          <p:nvPr/>
        </p:nvCxnSpPr>
        <p:spPr>
          <a:xfrm>
            <a:off x="484456" y="6053662"/>
            <a:ext cx="1124882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tx1">
                <a:alpha val="10000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22B3C-9DFE-0F79-C04B-4DBA6AC11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or 3">
            <a:extLst>
              <a:ext uri="{FF2B5EF4-FFF2-40B4-BE49-F238E27FC236}">
                <a16:creationId xmlns:a16="http://schemas.microsoft.com/office/drawing/2014/main" id="{6A117459-82C7-AB4E-44A5-8737EB80BCA1}"/>
              </a:ext>
            </a:extLst>
          </p:cNvPr>
          <p:cNvCxnSpPr>
            <a:cxnSpLocks/>
          </p:cNvCxnSpPr>
          <p:nvPr/>
        </p:nvCxnSpPr>
        <p:spPr>
          <a:xfrm flipV="1">
            <a:off x="475003" y="1410971"/>
            <a:ext cx="11080742" cy="192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C550D3E3-B4EB-71EE-A578-7C9C8FD09D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239627"/>
              </p:ext>
            </p:extLst>
          </p:nvPr>
        </p:nvGraphicFramePr>
        <p:xfrm>
          <a:off x="532416" y="1959051"/>
          <a:ext cx="11200868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84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917371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367315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806998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场景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传统方式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AI </a:t>
                      </a: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辅助方式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chemeClr val="tx1"/>
                          </a:solidFill>
                          <a:latin typeface="MiSans VF Semibold" pitchFamily="2" charset="-122"/>
                          <a:ea typeface="MiSans VF Semibold" pitchFamily="2" charset="-122"/>
                          <a:cs typeface="MiSans VF Semibold" pitchFamily="2" charset="-122"/>
                          <a:sym typeface="SimHei"/>
                        </a:rPr>
                        <a:t>提效价值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Semibold" pitchFamily="2" charset="-122"/>
                        <a:ea typeface="MiSans VF Semibold" pitchFamily="2" charset="-122"/>
                        <a:cs typeface="MiSans VF Semibold" pitchFamily="2" charset="-122"/>
                      </a:endParaRPr>
                    </a:p>
                  </a:txBody>
                  <a:tcPr marL="101600" marR="101600" marT="101600" marB="10160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会议纪要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人工记录整理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自动转写与摘要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F714A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节省整理时间</a:t>
                      </a:r>
                      <a:endParaRPr lang="en-US" sz="1100" b="0" i="0" dirty="0">
                        <a:solidFill>
                          <a:srgbClr val="FF714A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市场调研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手动搜索资料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快速汇总多来源信息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F714A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提升信息密度</a:t>
                      </a:r>
                      <a:endParaRPr lang="en-US" sz="1100" b="0" i="0" dirty="0">
                        <a:solidFill>
                          <a:srgbClr val="FF714A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文案撰写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从零起草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先生成初稿再修改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F714A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降低启动成本</a:t>
                      </a:r>
                      <a:endParaRPr lang="en-US" sz="1100" b="0" i="0" dirty="0">
                        <a:solidFill>
                          <a:srgbClr val="FF714A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数据分析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手动筛选图表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自动提炼趋势与异常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F714A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辅助判断</a:t>
                      </a:r>
                      <a:endParaRPr lang="en-US" sz="1100" b="0" i="0" dirty="0">
                        <a:solidFill>
                          <a:srgbClr val="FF714A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知识管理</a:t>
                      </a:r>
                      <a:endParaRPr lang="en-US" sz="1100" b="0" i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依赖个人经验查找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latin typeface="MiSans VF Light" pitchFamily="2" charset="-122"/>
                          <a:ea typeface="MiSans VF Light" pitchFamily="2" charset="-122"/>
                          <a:cs typeface="MiSans VF Light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i="0" dirty="0">
                        <a:solidFill>
                          <a:schemeClr val="tx1"/>
                        </a:solidFill>
                        <a:latin typeface="MiSans VF Light" pitchFamily="2" charset="-122"/>
                        <a:ea typeface="MiSans VF Light" pitchFamily="2" charset="-122"/>
                        <a:cs typeface="MiSans VF Light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 err="1">
                          <a:solidFill>
                            <a:srgbClr val="FF714A"/>
                          </a:solidFill>
                          <a:latin typeface="MISANS VF MEDIUM" pitchFamily="2" charset="-122"/>
                          <a:ea typeface="MISANS VF MEDIUM" pitchFamily="2" charset="-122"/>
                          <a:cs typeface="MISANS VF MEDIUM" pitchFamily="2" charset="-122"/>
                          <a:sym typeface="SimHei"/>
                        </a:rPr>
                        <a:t>提高复用率</a:t>
                      </a:r>
                      <a:endParaRPr lang="en-US" sz="1100" b="0" i="0" dirty="0">
                        <a:solidFill>
                          <a:srgbClr val="FF714A"/>
                        </a:solidFill>
                        <a:latin typeface="MISANS VF MEDIUM" pitchFamily="2" charset="-122"/>
                        <a:ea typeface="MISANS VF MEDIUM" pitchFamily="2" charset="-122"/>
                        <a:cs typeface="MISANS VF MEDIUM" pitchFamily="2" charset="-122"/>
                      </a:endParaRPr>
                    </a:p>
                  </a:txBody>
                  <a:tcPr marL="101600" marR="101600" marT="101600" marB="101600" anchor="ctr"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3F7247FE-9ED6-6420-740B-6C6D6CC21CE9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2A8621B6-F922-D072-08BA-E49802961EF9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FA8D5201-D041-29D5-6489-277052D47582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09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DD9FC945-D8E5-097F-44A7-18D650F6E693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CCC5246-1AF8-00EE-91DE-219440D32BEE}"/>
              </a:ext>
            </a:extLst>
          </p:cNvPr>
          <p:cNvSpPr/>
          <p:nvPr/>
        </p:nvSpPr>
        <p:spPr>
          <a:xfrm>
            <a:off x="532416" y="882124"/>
            <a:ext cx="11200868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传统方式 </a:t>
            </a:r>
            <a:r>
              <a:rPr lang="en-US" sz="4000" u="none" strike="noStrike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VS</a:t>
            </a:r>
            <a:r>
              <a:rPr 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 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辅助</a:t>
            </a:r>
          </a:p>
        </p:txBody>
      </p:sp>
    </p:spTree>
    <p:extLst>
      <p:ext uri="{BB962C8B-B14F-4D97-AF65-F5344CB8AC3E}">
        <p14:creationId xmlns:p14="http://schemas.microsoft.com/office/powerpoint/2010/main" val="1809502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2">
            <a:extLst>
              <a:ext uri="{FF2B5EF4-FFF2-40B4-BE49-F238E27FC236}">
                <a16:creationId xmlns:a16="http://schemas.microsoft.com/office/drawing/2014/main" id="{EF3D96FC-12D1-1BEF-D2C9-BFC6C819805B}"/>
              </a:ext>
            </a:extLst>
          </p:cNvPr>
          <p:cNvSpPr/>
          <p:nvPr/>
        </p:nvSpPr>
        <p:spPr>
          <a:xfrm>
            <a:off x="6842760" y="2627068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3F3F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/>
          <p:cNvSpPr/>
          <p:nvPr/>
        </p:nvSpPr>
        <p:spPr>
          <a:xfrm>
            <a:off x="6842760" y="918583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3F3F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2">
            <a:extLst>
              <a:ext uri="{FF2B5EF4-FFF2-40B4-BE49-F238E27FC236}">
                <a16:creationId xmlns:a16="http://schemas.microsoft.com/office/drawing/2014/main" id="{0AAADEF1-2BF3-4055-0519-65F7A3E04C8E}"/>
              </a:ext>
            </a:extLst>
          </p:cNvPr>
          <p:cNvSpPr/>
          <p:nvPr/>
        </p:nvSpPr>
        <p:spPr>
          <a:xfrm>
            <a:off x="6842760" y="4335552"/>
            <a:ext cx="4890524" cy="1681295"/>
          </a:xfrm>
          <a:prstGeom prst="roundRect">
            <a:avLst>
              <a:gd name="adj" fmla="val 15331"/>
            </a:avLst>
          </a:prstGeom>
          <a:solidFill>
            <a:srgbClr val="F3F3F3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49" y="1710650"/>
            <a:ext cx="4273551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麦肯锡全球调研显示，72%的受访组织已在至少一个业务职能中使用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AI，标志着初步普及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48" y="1333460"/>
            <a:ext cx="4273551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广泛普及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49" y="3415325"/>
            <a:ext cx="4273548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尽管单点普及率高，但仅有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15%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的组织能够在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4 </a:t>
            </a: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个及以上的核心职能中深度采用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 AI。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49" y="3038135"/>
            <a:ext cx="4273548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深度应用不足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49" y="5102986"/>
            <a:ext cx="4273550" cy="43088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 err="1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真正深入多职能协同的组织还在少数，跨部门的流程改造将是效率升级的最大难点</a:t>
            </a:r>
            <a:r>
              <a:rPr lang="en-US" sz="1400" u="none" strike="noStrike" dirty="0">
                <a:solidFill>
                  <a:schemeClr val="tx1">
                    <a:alpha val="60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。</a:t>
            </a:r>
            <a:endParaRPr lang="en-US" sz="1100" dirty="0">
              <a:solidFill>
                <a:schemeClr val="tx1">
                  <a:alpha val="6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48" y="4725796"/>
            <a:ext cx="4273549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u="none" strike="noStrike" dirty="0" err="1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协同挑战</a:t>
            </a:r>
            <a:endParaRPr lang="en-US" sz="1100" dirty="0">
              <a:solidFill>
                <a:schemeClr val="tx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484456" y="5656976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*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受访组织在不同数量业务职能中使用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的比例（</a:t>
            </a:r>
            <a:r>
              <a:rPr lang="en-US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%</a:t>
            </a:r>
            <a:r>
              <a:rPr lang="zh-CN" sz="1200" u="none" strike="noStrike" dirty="0">
                <a:solidFill>
                  <a:srgbClr val="80808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）</a:t>
            </a:r>
            <a:endParaRPr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5238" y="2532068"/>
            <a:ext cx="5669907" cy="2722311"/>
            <a:chOff x="634405" y="1479058"/>
            <a:chExt cx="4344994" cy="2086175"/>
          </a:xfrm>
        </p:grpSpPr>
        <p:sp>
          <p:nvSpPr>
            <p:cNvPr id="21" name="AutoShape 15"/>
            <p:cNvSpPr/>
            <p:nvPr/>
          </p:nvSpPr>
          <p:spPr>
            <a:xfrm>
              <a:off x="634405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 dirty="0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634405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634405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634405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chemeClr val="tx1">
                      <a:lumMod val="50000"/>
                      <a:lumOff val="5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solidFill>
                  <a:schemeClr val="tx1">
                    <a:lumMod val="50000"/>
                    <a:lumOff val="50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E2D29E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6B7280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FF714A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C4E194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17093" y="14790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72%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07481" y="21095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 dirty="0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50%</a:t>
              </a:r>
              <a:endParaRPr dirty="0"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10362" y="26627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27%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04968" y="32477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u="none" strike="noStrike">
                  <a:solidFill>
                    <a:schemeClr val="tx1"/>
                  </a:solidFill>
                  <a:highlight>
                    <a:srgbClr val="FFFFFF">
                      <a:alpha val="0"/>
                    </a:srgbClr>
                  </a:highlight>
                  <a:latin typeface="MiSans VF Semibold" pitchFamily="2" charset="-122"/>
                  <a:ea typeface="MiSans VF Semibold" pitchFamily="2" charset="-122"/>
                  <a:cs typeface="MiSans VF Semibold" pitchFamily="2" charset="-122"/>
                  <a:sym typeface="Arial"/>
                </a:rPr>
                <a:t>15%</a:t>
              </a:r>
              <a:endParaRPr>
                <a:solidFill>
                  <a:schemeClr val="tx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DB4B096-6E8C-7D82-8F3C-D6C81BB4B343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4" name="AutoShape 2">
              <a:extLst>
                <a:ext uri="{FF2B5EF4-FFF2-40B4-BE49-F238E27FC236}">
                  <a16:creationId xmlns:a16="http://schemas.microsoft.com/office/drawing/2014/main" id="{D8778C58-5A9B-5D43-3A53-58A8A26002A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35" name="AutoShape 2">
              <a:extLst>
                <a:ext uri="{FF2B5EF4-FFF2-40B4-BE49-F238E27FC236}">
                  <a16:creationId xmlns:a16="http://schemas.microsoft.com/office/drawing/2014/main" id="{5F2D3A58-11E2-6A93-7742-D9184BEDF331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10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36" name="AutoShape 2">
            <a:extLst>
              <a:ext uri="{FF2B5EF4-FFF2-40B4-BE49-F238E27FC236}">
                <a16:creationId xmlns:a16="http://schemas.microsoft.com/office/drawing/2014/main" id="{B90E4317-8DFE-77C9-E8A7-38D189F41567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2EEF8B1D-C588-03AA-AC74-15C3EA141A4E}"/>
              </a:ext>
            </a:extLst>
          </p:cNvPr>
          <p:cNvSpPr/>
          <p:nvPr/>
        </p:nvSpPr>
        <p:spPr>
          <a:xfrm>
            <a:off x="532415" y="882124"/>
            <a:ext cx="5461301" cy="62953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8332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AI </a:t>
            </a:r>
            <a:r>
              <a:rPr lang="zh-CN" altLang="en-US" sz="40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已进入主流</a:t>
            </a:r>
            <a:r>
              <a:rPr lang="zh-CN" altLang="en-US" sz="4000" u="none" strike="noStrike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工作流</a:t>
            </a:r>
          </a:p>
        </p:txBody>
      </p:sp>
      <p:sp>
        <p:nvSpPr>
          <p:cNvPr id="40" name="AutoShape 3">
            <a:extLst>
              <a:ext uri="{FF2B5EF4-FFF2-40B4-BE49-F238E27FC236}">
                <a16:creationId xmlns:a16="http://schemas.microsoft.com/office/drawing/2014/main" id="{8AEFA9AF-035D-4774-02DB-077D02035C7C}"/>
              </a:ext>
            </a:extLst>
          </p:cNvPr>
          <p:cNvSpPr/>
          <p:nvPr/>
        </p:nvSpPr>
        <p:spPr>
          <a:xfrm>
            <a:off x="524797" y="1647304"/>
            <a:ext cx="5571203" cy="600164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AI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正从技术工具扩展至营销、产品、</a:t>
            </a:r>
            <a:r>
              <a:rPr 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IT、</a:t>
            </a:r>
            <a:r>
              <a:rPr lang="zh-CN" altLang="en-US" sz="1400" u="none" strike="noStrike" dirty="0">
                <a:solidFill>
                  <a:schemeClr val="tx1"/>
                </a:solidFill>
                <a:highlight>
                  <a:srgbClr val="FFFFFF">
                    <a:alpha val="0"/>
                  </a:srgbClr>
                </a:highlight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Arial"/>
              </a:rPr>
              <a:t>运营等日常业务场景，应用已过尝鲜阶段，但多职能协同的深度整合仍不普遍。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100" dirty="0">
              <a:solidFill>
                <a:schemeClr val="tx1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28351C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42599"/>
            <a:ext cx="6574334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u="none" strike="noStrike" dirty="0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AI </a:t>
            </a:r>
            <a:r>
              <a:rPr lang="en-US" sz="2400" u="none" strike="noStrike" dirty="0" err="1">
                <a:solidFill>
                  <a:srgbClr val="000000">
                    <a:alpha val="100000"/>
                  </a:srgbClr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使用率加速上升</a:t>
            </a:r>
            <a:endParaRPr lang="en-US" sz="2400" dirty="0"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824523"/>
            <a:ext cx="6574334" cy="10156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600" u="none" strike="noStrike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88%</a:t>
            </a:r>
            <a:endParaRPr lang="en-US" sz="6600" dirty="0">
              <a:solidFill>
                <a:srgbClr val="FF714A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184814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使用率在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2023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年后明显加速，生成式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 AI </a:t>
            </a:r>
            <a:r>
              <a:rPr lang="en-US" sz="1200" u="none" strike="noStrike" dirty="0" err="1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正在推动组织采用进入新阶段</a:t>
            </a:r>
            <a:r>
              <a:rPr lang="en-US" sz="1200" u="none" strike="noStrike" dirty="0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。</a:t>
            </a:r>
            <a:endParaRPr lang="en-US" sz="1100" dirty="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27815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采用率提升不等于价值兑现，真正的差距在于是否把 AI 嵌入核心工作流。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372139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4639605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u="none" strike="noStrike">
                <a:solidFill>
                  <a:srgbClr val="FFFFFF">
                    <a:alpha val="10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2799375"/>
            <a:ext cx="203200" cy="203200"/>
          </a:xfrm>
          <a:prstGeom prst="ellipse">
            <a:avLst/>
          </a:prstGeom>
          <a:solidFill>
            <a:srgbClr val="C4E19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3748065"/>
            <a:ext cx="203200" cy="203200"/>
          </a:xfrm>
          <a:prstGeom prst="ellipse">
            <a:avLst/>
          </a:prstGeom>
          <a:solidFill>
            <a:srgbClr val="FF714A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4659925"/>
            <a:ext cx="203200" cy="203200"/>
          </a:xfrm>
          <a:prstGeom prst="ellipse">
            <a:avLst/>
          </a:prstGeom>
          <a:solidFill>
            <a:srgbClr val="E2D29E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702164" y="25893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4045058126"/>
              </p:ext>
            </p:extLst>
          </p:nvPr>
        </p:nvGraphicFramePr>
        <p:xfrm>
          <a:off x="370810" y="2645867"/>
          <a:ext cx="6686124" cy="3725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23</a:t>
            </a:r>
            <a:r>
              <a:rPr lang="zh-CN" sz="1200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年后加速</a:t>
            </a:r>
            <a:endParaRPr sz="1200" dirty="0">
              <a:solidFill>
                <a:srgbClr val="FF714A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dirty="0">
                <a:solidFill>
                  <a:srgbClr val="FF714A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+33%</a:t>
            </a:r>
            <a:endParaRPr sz="1200" dirty="0">
              <a:solidFill>
                <a:srgbClr val="FF714A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DC77A-1FA8-B6FE-5004-6F43CF9F16CF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>
              <a:extLst>
                <a:ext uri="{FF2B5EF4-FFF2-40B4-BE49-F238E27FC236}">
                  <a16:creationId xmlns:a16="http://schemas.microsoft.com/office/drawing/2014/main" id="{A2A0430E-5F9A-DED7-92E1-A5CD60E30EE0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tx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4" name="AutoShape 2">
              <a:extLst>
                <a:ext uri="{FF2B5EF4-FFF2-40B4-BE49-F238E27FC236}">
                  <a16:creationId xmlns:a16="http://schemas.microsoft.com/office/drawing/2014/main" id="{D5A487C6-3AB2-0006-85B0-F1A5B1ADACD0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PAGE 11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5" name="AutoShape 2">
            <a:extLst>
              <a:ext uri="{FF2B5EF4-FFF2-40B4-BE49-F238E27FC236}">
                <a16:creationId xmlns:a16="http://schemas.microsoft.com/office/drawing/2014/main" id="{42596C2F-784F-52C5-C558-C3EB4FD0C789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tx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tx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72942C5F-9BBE-76D0-7176-1897F65217D5}"/>
              </a:ext>
            </a:extLst>
          </p:cNvPr>
          <p:cNvSpPr/>
          <p:nvPr/>
        </p:nvSpPr>
        <p:spPr>
          <a:xfrm>
            <a:off x="8047990" y="1848399"/>
            <a:ext cx="203200" cy="203200"/>
          </a:xfrm>
          <a:prstGeom prst="ellipse">
            <a:avLst/>
          </a:prstGeom>
          <a:solidFill>
            <a:srgbClr val="F5E7C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270DAF-248E-5189-D8F3-D057C58F3D1D}"/>
              </a:ext>
            </a:extLst>
          </p:cNvPr>
          <p:cNvSpPr txBox="1"/>
          <p:nvPr/>
        </p:nvSpPr>
        <p:spPr>
          <a:xfrm>
            <a:off x="8047990" y="920503"/>
            <a:ext cx="1368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1400" b="1" i="0" u="none" strike="noStrike" dirty="0">
                <a:solidFill>
                  <a:srgbClr val="FF714A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Trending</a:t>
            </a:r>
            <a:endParaRPr lang="en-US" altLang="zh-CN" sz="1100" dirty="0">
              <a:solidFill>
                <a:srgbClr val="FF714A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5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D9678-BE1E-E74E-797F-0A0DDCE2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>
            <a:extLst>
              <a:ext uri="{FF2B5EF4-FFF2-40B4-BE49-F238E27FC236}">
                <a16:creationId xmlns:a16="http://schemas.microsoft.com/office/drawing/2014/main" id="{E93BB607-8016-271D-FCA0-6BEE4AFD4FA7}"/>
              </a:ext>
            </a:extLst>
          </p:cNvPr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21" name="AutoShape 2">
              <a:extLst>
                <a:ext uri="{FF2B5EF4-FFF2-40B4-BE49-F238E27FC236}">
                  <a16:creationId xmlns:a16="http://schemas.microsoft.com/office/drawing/2014/main" id="{E1C9C5E1-B7C0-15D6-F7AA-A087EEB04B33}"/>
                </a:ext>
              </a:extLst>
            </p:cNvPr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EFFICIENT WORK METHODS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23" name="AutoShape 2">
              <a:extLst>
                <a:ext uri="{FF2B5EF4-FFF2-40B4-BE49-F238E27FC236}">
                  <a16:creationId xmlns:a16="http://schemas.microsoft.com/office/drawing/2014/main" id="{7DA24766-35E5-AA8A-185B-236AC7D29773}"/>
                </a:ext>
              </a:extLst>
            </p:cNvPr>
            <p:cNvSpPr/>
            <p:nvPr/>
          </p:nvSpPr>
          <p:spPr>
            <a:xfrm>
              <a:off x="10821913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chemeClr val="bg1">
                      <a:alpha val="50000"/>
                    </a:scheme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COVER</a:t>
              </a:r>
              <a:endPara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24" name="AutoShape 2">
            <a:extLst>
              <a:ext uri="{FF2B5EF4-FFF2-40B4-BE49-F238E27FC236}">
                <a16:creationId xmlns:a16="http://schemas.microsoft.com/office/drawing/2014/main" id="{26990184-77FE-BDF8-F4A7-BEEF0605C528}"/>
              </a:ext>
            </a:extLst>
          </p:cNvPr>
          <p:cNvSpPr/>
          <p:nvPr/>
        </p:nvSpPr>
        <p:spPr>
          <a:xfrm>
            <a:off x="484456" y="6401853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sz="800" dirty="0">
                <a:solidFill>
                  <a:schemeClr val="bg1">
                    <a:alpha val="5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YUANBAO</a:t>
            </a:r>
            <a:endParaRPr lang="en-US" sz="800" dirty="0">
              <a:solidFill>
                <a:schemeClr val="bg1">
                  <a:alpha val="50000"/>
                </a:scheme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74EB391-3476-A6F8-7237-8A15FD92A5AF}"/>
              </a:ext>
            </a:extLst>
          </p:cNvPr>
          <p:cNvGrpSpPr/>
          <p:nvPr/>
        </p:nvGrpSpPr>
        <p:grpSpPr>
          <a:xfrm>
            <a:off x="6217553" y="708538"/>
            <a:ext cx="5583488" cy="5583490"/>
            <a:chOff x="6217553" y="708538"/>
            <a:chExt cx="5583488" cy="5583490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978CBE6-A0A9-8F30-BD2A-20C473DD7A37}"/>
                </a:ext>
              </a:extLst>
            </p:cNvPr>
            <p:cNvSpPr/>
            <p:nvPr/>
          </p:nvSpPr>
          <p:spPr>
            <a:xfrm>
              <a:off x="6217553" y="708538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4037946-1E2E-94D3-00A2-1C260CF21571}"/>
                </a:ext>
              </a:extLst>
            </p:cNvPr>
            <p:cNvSpPr/>
            <p:nvPr/>
          </p:nvSpPr>
          <p:spPr>
            <a:xfrm>
              <a:off x="8079010" y="708538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385CC87-2340-8E1A-1505-C1527B128600}"/>
                </a:ext>
              </a:extLst>
            </p:cNvPr>
            <p:cNvSpPr/>
            <p:nvPr/>
          </p:nvSpPr>
          <p:spPr>
            <a:xfrm>
              <a:off x="9940467" y="708538"/>
              <a:ext cx="1860574" cy="1860574"/>
            </a:xfrm>
            <a:prstGeom prst="ellipse">
              <a:avLst/>
            </a:prstGeom>
            <a:solidFill>
              <a:srgbClr val="E2D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CF74BC41-BAE1-91EB-25C8-F0F8FF7F8665}"/>
                </a:ext>
              </a:extLst>
            </p:cNvPr>
            <p:cNvSpPr/>
            <p:nvPr/>
          </p:nvSpPr>
          <p:spPr>
            <a:xfrm>
              <a:off x="6217553" y="2569996"/>
              <a:ext cx="1860574" cy="1860574"/>
            </a:xfrm>
            <a:prstGeom prst="ellipse">
              <a:avLst/>
            </a:prstGeom>
            <a:solidFill>
              <a:srgbClr val="FF71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13546D1-3EB7-7B72-BC8D-5F50AC49438C}"/>
                </a:ext>
              </a:extLst>
            </p:cNvPr>
            <p:cNvSpPr/>
            <p:nvPr/>
          </p:nvSpPr>
          <p:spPr>
            <a:xfrm>
              <a:off x="8079010" y="2569996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FD081C8-8FC5-7711-4EAA-8899A719DCBD}"/>
                </a:ext>
              </a:extLst>
            </p:cNvPr>
            <p:cNvSpPr/>
            <p:nvPr/>
          </p:nvSpPr>
          <p:spPr>
            <a:xfrm>
              <a:off x="9940467" y="2569996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9E7D37A-359A-5297-B0AC-D9B50053A157}"/>
                </a:ext>
              </a:extLst>
            </p:cNvPr>
            <p:cNvSpPr/>
            <p:nvPr/>
          </p:nvSpPr>
          <p:spPr>
            <a:xfrm>
              <a:off x="6217553" y="4431454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65A3E23-5FE1-1706-4250-805CBE1D3C99}"/>
                </a:ext>
              </a:extLst>
            </p:cNvPr>
            <p:cNvSpPr/>
            <p:nvPr/>
          </p:nvSpPr>
          <p:spPr>
            <a:xfrm>
              <a:off x="8079010" y="4431454"/>
              <a:ext cx="1860574" cy="1860574"/>
            </a:xfrm>
            <a:prstGeom prst="ellipse">
              <a:avLst/>
            </a:prstGeom>
            <a:solidFill>
              <a:srgbClr val="C4E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F64F7F1-406A-7C08-E9BE-875723627D6B}"/>
                </a:ext>
              </a:extLst>
            </p:cNvPr>
            <p:cNvSpPr/>
            <p:nvPr/>
          </p:nvSpPr>
          <p:spPr>
            <a:xfrm>
              <a:off x="9940467" y="4431454"/>
              <a:ext cx="1860574" cy="1860574"/>
            </a:xfrm>
            <a:prstGeom prst="ellipse">
              <a:avLst/>
            </a:prstGeom>
            <a:solidFill>
              <a:srgbClr val="3746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0F80020-F908-B0C1-B63D-471226ED230E}"/>
                </a:ext>
              </a:extLst>
            </p:cNvPr>
            <p:cNvSpPr txBox="1"/>
            <p:nvPr/>
          </p:nvSpPr>
          <p:spPr>
            <a:xfrm>
              <a:off x="10089215" y="1484936"/>
              <a:ext cx="156307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WORKFLOW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476A516-29D1-0252-5EFC-FCDE991E6636}"/>
                </a:ext>
              </a:extLst>
            </p:cNvPr>
            <p:cNvSpPr txBox="1"/>
            <p:nvPr/>
          </p:nvSpPr>
          <p:spPr>
            <a:xfrm>
              <a:off x="6345633" y="3346395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EFFICIENCY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D5EA3116-F66D-9CA8-8311-81416BB66336}"/>
                </a:ext>
              </a:extLst>
            </p:cNvPr>
            <p:cNvSpPr txBox="1"/>
            <p:nvPr/>
          </p:nvSpPr>
          <p:spPr>
            <a:xfrm>
              <a:off x="8212011" y="5212773"/>
              <a:ext cx="160441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r>
                <a:rPr lang="en-US" altLang="zh-CN" sz="1200" b="1" strike="noStrike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MiSans VF Bold" pitchFamily="2" charset="-122"/>
                  <a:ea typeface="MiSans VF Bold" pitchFamily="2" charset="-122"/>
                  <a:cs typeface="MiSans VF Bold" pitchFamily="2" charset="-122"/>
                  <a:sym typeface="Arial"/>
                </a:rPr>
                <a:t>AUTOMATION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</a:endParaRPr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A5A110F0-F55D-6C2F-AE6C-5D95CF27D183}"/>
              </a:ext>
            </a:extLst>
          </p:cNvPr>
          <p:cNvSpPr/>
          <p:nvPr/>
        </p:nvSpPr>
        <p:spPr>
          <a:xfrm>
            <a:off x="524797" y="1046355"/>
            <a:ext cx="3982809" cy="147732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8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  <a:sym typeface="Arial"/>
              </a:rPr>
              <a:t>感谢聆听</a:t>
            </a:r>
            <a:endParaRPr lang="en-US" altLang="zh-CN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  <a:p>
            <a:pPr indent="0" algn="l"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altLang="zh-CN" sz="4800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THANKS</a:t>
            </a:r>
            <a:endParaRPr lang="zh-CN" altLang="en-US" sz="4800" u="none" strike="noStrike" dirty="0">
              <a:solidFill>
                <a:schemeClr val="bg1"/>
              </a:solidFill>
              <a:latin typeface="MiSans VF Semibold" pitchFamily="2" charset="-122"/>
              <a:ea typeface="MiSans VF Semibold" pitchFamily="2" charset="-122"/>
              <a:cs typeface="MiSans VF Semibold" pitchFamily="2" charset="-122"/>
              <a:sym typeface="Arial"/>
            </a:endParaRPr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F7448C8C-6488-7DE1-151F-743AB2DCFBEE}"/>
              </a:ext>
            </a:extLst>
          </p:cNvPr>
          <p:cNvSpPr/>
          <p:nvPr/>
        </p:nvSpPr>
        <p:spPr>
          <a:xfrm>
            <a:off x="484456" y="5212773"/>
            <a:ext cx="4023150" cy="246221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600" u="none" strike="noStrike" dirty="0">
                <a:solidFill>
                  <a:schemeClr val="bg1"/>
                </a:solidFill>
                <a:latin typeface="MiSans VF Semibold" pitchFamily="2" charset="-122"/>
                <a:ea typeface="MiSans VF Semibold" pitchFamily="2" charset="-122"/>
                <a:cs typeface="MiSans VF Semibold" pitchFamily="2" charset="-122"/>
              </a:rPr>
              <a:t>重新定义效率标准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2788A0B9-9559-6A84-18ED-5E6EB88D4951}"/>
              </a:ext>
            </a:extLst>
          </p:cNvPr>
          <p:cNvSpPr/>
          <p:nvPr/>
        </p:nvSpPr>
        <p:spPr>
          <a:xfrm>
            <a:off x="484456" y="5581651"/>
            <a:ext cx="4023150" cy="36933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期待与您在 </a:t>
            </a:r>
            <a:r>
              <a:rPr 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AI </a:t>
            </a: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时代，</a:t>
            </a:r>
          </a:p>
          <a:p>
            <a:pPr>
              <a:buClr>
                <a:srgbClr val="000000">
                  <a:alpha val="100000"/>
                </a:srgbClr>
              </a:buClr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1200" u="none" strike="noStrike" dirty="0">
                <a:solidFill>
                  <a:schemeClr val="bg1">
                    <a:alpha val="60000"/>
                  </a:scheme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rPr>
              <a:t>共同重构更高效的工作方式。</a:t>
            </a:r>
          </a:p>
        </p:txBody>
      </p:sp>
    </p:spTree>
    <p:extLst>
      <p:ext uri="{BB962C8B-B14F-4D97-AF65-F5344CB8AC3E}">
        <p14:creationId xmlns:p14="http://schemas.microsoft.com/office/powerpoint/2010/main" val="262521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817</Words>
  <Application>Microsoft Macintosh PowerPoint</Application>
  <PresentationFormat>宽屏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FZLanTingHeiS</vt:lpstr>
      <vt:lpstr>FZLanTingHeiS Bold</vt:lpstr>
      <vt:lpstr>MiSans VF Bold</vt:lpstr>
      <vt:lpstr>MiSans VF Light</vt:lpstr>
      <vt:lpstr>MISANS VF MEDIUM</vt:lpstr>
      <vt:lpstr>MiSans VF Regular</vt:lpstr>
      <vt:lpstr>MiSans VF Semibold</vt:lpstr>
      <vt:lpstr>PingFang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18</cp:revision>
  <dcterms:created xsi:type="dcterms:W3CDTF">2026-05-27T19:33:57Z</dcterms:created>
  <dcterms:modified xsi:type="dcterms:W3CDTF">2026-06-16T09:43:43Z</dcterms:modified>
</cp:coreProperties>
</file>