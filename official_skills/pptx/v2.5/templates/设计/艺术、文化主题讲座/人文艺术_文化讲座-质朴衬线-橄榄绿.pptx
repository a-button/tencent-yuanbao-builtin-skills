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3"/>
  </p:notesMasterIdLst>
  <p:sldIdLst>
    <p:sldId id="256" r:id="rId3"/>
    <p:sldId id="267" r:id="rId4"/>
    <p:sldId id="268" r:id="rId5"/>
    <p:sldId id="257" r:id="rId6"/>
    <p:sldId id="271" r:id="rId7"/>
    <p:sldId id="272" r:id="rId8"/>
    <p:sldId id="269" r:id="rId9"/>
    <p:sldId id="277" r:id="rId10"/>
    <p:sldId id="270" r:id="rId11"/>
    <p:sldId id="273" r:id="rId12"/>
    <p:sldId id="274" r:id="rId13"/>
    <p:sldId id="275" r:id="rId14"/>
    <p:sldId id="278" r:id="rId15"/>
    <p:sldId id="279" r:id="rId16"/>
    <p:sldId id="281" r:id="rId17"/>
    <p:sldId id="280" r:id="rId18"/>
    <p:sldId id="286" r:id="rId19"/>
    <p:sldId id="276" r:id="rId20"/>
    <p:sldId id="285" r:id="rId21"/>
    <p:sldId id="283" r:id="rId22"/>
  </p:sldIdLst>
  <p:sldSz cx="16256000" cy="9144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A34"/>
    <a:srgbClr val="151515"/>
    <a:srgbClr val="F2F1EC"/>
    <a:srgbClr val="C4BBA9"/>
    <a:srgbClr val="655348"/>
    <a:srgbClr val="AC7844"/>
    <a:srgbClr val="4F3223"/>
    <a:srgbClr val="DDAD68"/>
    <a:srgbClr val="EEEAE4"/>
    <a:srgbClr val="8D4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73"/>
    <p:restoredTop sz="95342"/>
  </p:normalViewPr>
  <p:slideViewPr>
    <p:cSldViewPr snapToGrid="0">
      <p:cViewPr>
        <p:scale>
          <a:sx n="35" d="100"/>
          <a:sy n="35" d="100"/>
        </p:scale>
        <p:origin x="3496" y="17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400" b="0" i="0" strike="noStrike">
                <a:solidFill>
                  <a:srgbClr val="151515"/>
                </a:solidFill>
                <a:latin typeface="MiSans VF Light" pitchFamily="2" charset="-122"/>
                <a:ea typeface="MiSans VF Light" pitchFamily="2" charset="-122"/>
                <a:cs typeface="MiSans VF Light" pitchFamily="2" charset="-122"/>
              </a:defRPr>
            </a:pPr>
            <a:r>
              <a:rPr lang="zh-CN" altLang="en-US" sz="1400" b="0" i="0" strike="noStrike" dirty="0">
                <a:solidFill>
                  <a:srgbClr val="151515"/>
                </a:solidFill>
                <a:latin typeface="MiSans VF Light" pitchFamily="2" charset="-122"/>
                <a:ea typeface="MiSans VF Light" pitchFamily="2" charset="-122"/>
                <a:cs typeface="MiSans VF Light" pitchFamily="2" charset="-122"/>
              </a:rPr>
              <a:t>这是表格标题</a:t>
            </a:r>
            <a:endParaRPr lang="zh-CN" sz="1400" b="0" i="0" strike="noStrike" dirty="0">
              <a:solidFill>
                <a:srgbClr val="151515"/>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A6AA34"/>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400" b="1" i="0" strike="noStrike">
                      <a:solidFill>
                        <a:srgbClr val="A6AA34"/>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656-A94E-A202-A357F5A467D9}"/>
                </c:ext>
              </c:extLst>
            </c:dLbl>
            <c:dLbl>
              <c:idx val="1"/>
              <c:layout>
                <c:manualLayout>
                  <c:x val="9.2632300000000001E-2"/>
                </c:manualLayout>
              </c:layout>
              <c:numFmt formatCode="0%" sourceLinked="0"/>
              <c:spPr/>
              <c:txPr>
                <a:bodyPr vert="horz" wrap="square" anchor="ctr" anchorCtr="1"/>
                <a:lstStyle/>
                <a:p>
                  <a:pPr>
                    <a:defRPr sz="1400" b="1" i="0" strike="noStrike">
                      <a:solidFill>
                        <a:srgbClr val="A6AA3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656-A94E-A202-A357F5A467D9}"/>
                </c:ext>
              </c:extLst>
            </c:dLbl>
            <c:dLbl>
              <c:idx val="2"/>
              <c:layout>
                <c:manualLayout>
                  <c:x val="7.6077800000000001E-2"/>
                  <c:y val="3.5059599999999998E-3"/>
                </c:manualLayout>
              </c:layout>
              <c:numFmt formatCode="0%" sourceLinked="0"/>
              <c:spPr/>
              <c:txPr>
                <a:bodyPr vert="horz" wrap="square" anchor="ctr" anchorCtr="1"/>
                <a:lstStyle/>
                <a:p>
                  <a:pPr>
                    <a:defRPr sz="1400" b="1" i="0" strike="noStrike">
                      <a:solidFill>
                        <a:srgbClr val="A6AA3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656-A94E-A202-A357F5A467D9}"/>
                </c:ext>
              </c:extLst>
            </c:dLbl>
            <c:dLbl>
              <c:idx val="3"/>
              <c:layout>
                <c:manualLayout>
                  <c:x val="8.0684599999999995E-2"/>
                  <c:y val="-3.3090699999999999E-3"/>
                </c:manualLayout>
              </c:layout>
              <c:numFmt formatCode="0%" sourceLinked="0"/>
              <c:spPr/>
              <c:txPr>
                <a:bodyPr vert="horz" wrap="square" anchor="ctr" anchorCtr="1"/>
                <a:lstStyle/>
                <a:p>
                  <a:pPr>
                    <a:defRPr sz="1400" b="1" i="0" strike="noStrike">
                      <a:solidFill>
                        <a:srgbClr val="A6AA34"/>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656-A94E-A202-A357F5A467D9}"/>
                </c:ext>
              </c:extLst>
            </c:dLbl>
            <c:dLbl>
              <c:idx val="4"/>
              <c:layout>
                <c:manualLayout>
                  <c:x val="7.9240400000000003E-2"/>
                  <c:y val="3.5059599999999998E-3"/>
                </c:manualLayout>
              </c:layout>
              <c:numFmt formatCode="0%" sourceLinked="0"/>
              <c:spPr/>
              <c:txPr>
                <a:bodyPr vert="horz" wrap="square" anchor="ctr" anchorCtr="1"/>
                <a:lstStyle/>
                <a:p>
                  <a:pPr>
                    <a:defRPr sz="1400" b="1" i="0" strike="noStrike">
                      <a:solidFill>
                        <a:srgbClr val="A6AA34"/>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656-A94E-A202-A357F5A467D9}"/>
                </c:ext>
              </c:extLst>
            </c:dLbl>
            <c:numFmt formatCode="0%" sourceLinked="0"/>
            <c:spPr>
              <a:noFill/>
              <a:ln>
                <a:noFill/>
              </a:ln>
              <a:effectLst/>
            </c:spPr>
            <c:txPr>
              <a:bodyPr vert="horz" wrap="square" anchor="ctr" anchorCtr="1"/>
              <a:lstStyle/>
              <a:p>
                <a:pPr>
                  <a:defRPr sz="1400" b="0" i="0" strike="noStrike">
                    <a:solidFill>
                      <a:srgbClr val="A6AA34"/>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7656-A94E-A202-A357F5A467D9}"/>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400" b="0" i="0" strike="noStrike">
                <a:solidFill>
                  <a:srgbClr val="151515"/>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C4BBA9">
                  <a:alpha val="50000"/>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3FFC-DB58-E5F7-8028-AA9DE2E17ED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DEC4E93-91B2-9E5F-493C-A8F4AA7696C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3818629-8BE7-A9C9-2469-A6D29CAB31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B910875-AD5A-DA2B-6AA4-1C8585EE3A9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0787733-F68C-B6E3-F342-5E55B9725E0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ABF0DAA6-0FF1-4D65-77AB-F610BF03731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461CFA4-4F06-2F02-572E-FC2DFB04D59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90894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1AE65-10A0-1964-120B-93FABE0A77D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6595B3-1478-1052-4B74-C63BE8BEEC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1ADC81B-7810-855D-8176-0BD56A1602F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1EC0EE9-2823-1F98-98A7-AC49300D255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0CD976A-F354-4255-B485-A5CB49FE9B3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E4817BFB-D6D1-0BF5-80C8-D9F0E7CF537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9CC0D54-FCBA-1DD1-D8D4-2CF33CD5E0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2150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1173A-431A-EE6B-67FC-FBCF9FA521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31036E2-1AC2-BFB2-C206-7BABFD381B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29756D-65C6-0F63-57AD-0509FB94976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B3ACCD6-D789-33BB-B280-4047BB7A414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D58D7C1-FD01-8D68-39C3-357C4DC765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1B0FC924-E667-608D-AD43-C34C913A4EB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4B17CBD-F485-70E6-AA3F-CF3C0EC456D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1987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A5AAB-41F8-34A0-0025-18DEF93E4A2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7C1184-ECA7-4371-2984-5B5B353BDC3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CF1BB77-FD05-8E84-34CD-8D3F46E45C4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0E496A5-5B3E-5097-DB00-F13333F1806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9BCD999-4E29-23C5-CA07-993C2CBB4D2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8E10A3EE-278F-AF39-9224-7ED4B36FF1A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9B2369B-53B5-9827-5AF2-C2792110580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35143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1882E-6CAE-451F-744E-0C60A37E9D2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AD69ED-B904-D36F-7664-BDD400F8A30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7EBDB3-4EEB-0577-1D49-E7326188BBB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12787A0-07BF-3DC4-587E-5B941F1B264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E98CCA-5A9C-7B64-5FE7-94F01473E34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4D522D1E-01F8-D1FE-E96C-E69D104FD4B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70AE39-198C-B6B0-E8DE-8BEF1E8D0AF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12321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037D1-843C-74A3-DCCA-FE4B56A914A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CF41D5-164D-8E86-7C4D-8631D003D83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0843C70-4AE7-8646-D515-279FBB398F1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2D4C501-2BEE-74ED-59F6-037A25E1C2A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D23C023-D016-D01A-4611-66865E87626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7AA51653-3F8F-3E4E-F890-A6317E44044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717AF9B-B497-6BE7-C502-729C8955946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7733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8A75-D958-4D1F-AE2F-5A05EB6FE11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1800C7-5D8C-F382-ED84-1E0A6F026F4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52469D9-5B89-7E90-2D08-6849FD85356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84DB73F-C4E8-FD75-78CB-D8E767DADB7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7347F8D-428E-C684-D71E-84BB8B2CB32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CE8588BD-7FAD-9ECA-17E7-0EF17461591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FE9712-6679-CF91-F4DF-AF7789DCE22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17199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C375-8778-9A7C-9D11-8A5B7723DF1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B30228-F261-28F5-8F9B-7F36997AF28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226F802-CDDF-1941-7A67-D732627E51D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E6D84FC-F517-33A7-E615-EE2B550F2F9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9E23C10-E2B6-08AB-347A-48F76791D38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D417FBCD-85F1-4ECD-902D-0EF4E916B08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3DC4623-74DD-C7BA-4112-117239227DC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46683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1098F-0196-AF23-C963-63DF901E409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CC10AE-37CC-90DF-51EB-5A06D629EE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3E7534-C03C-CBC8-509D-8D5D0582D6C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97B6FB5-D288-C05B-7D94-08CFDBA2F3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845B2E6-A0A9-6FCD-0CE0-A1E6F4D64C7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5881BA54-0DF1-E0BA-EE1B-5BB88E31718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A475B4B-53D6-1940-EFD9-D9C27480E32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77266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516BB-7C6A-1756-6391-C64548BDE73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DF4214-E88A-08F0-E384-A3B59BA2372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F45EC4-5650-C9A2-EEF0-73A57534970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E14B4AF-671C-692D-72C5-9CE5DB2AC69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F2B7C85-B49E-EA63-DBA2-058C67477B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C6E73153-2DFF-26F3-B1E6-21A457C4473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4519C55-47C7-158D-9502-3E4278DF4B9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94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1997-A2AE-6003-615B-88C7F61417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A160C3-22AF-864B-8D78-CDB026C7F2F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74237D4-B400-65B3-97A6-1A3553678BD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F1F7D17-D6E3-91A0-D40C-9B8F9136842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885A6C1-F17F-BF00-1FE3-BDB5A77461F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2C428787-FF13-5F4E-85F7-D03D19FDFDB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47AA1C0-A9FE-AC14-B718-F0612553D6C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7954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AC6C0-C38D-8DBC-B361-5ADF709BF43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E10DBC-484D-ADF4-5895-BCDBC79BA5E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E2F9DA8-C7DD-4380-F961-47474B17798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0989341-8D92-4AF1-D239-6B9F24A54C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BC61194-BB5B-C504-FB33-9D99D9D8530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BEF24B9F-F2AA-A5CD-E1EB-2718A5B687E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DE9D4580-32A6-859F-5BB8-32307C1E6A4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576208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D7E02-4944-B804-0E30-64F9FE197FB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0BE969-FD60-B5B1-D183-82290337733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28F4F7B-4FAD-3E3D-F7C1-F7EF9A85BB8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C47444C-7687-FC9C-F091-D262FEDB1C2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E7F4AF-82C1-4319-9AFC-8884AFF51AF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7920FF48-C639-E215-8C4E-22EF2863661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D3F4560-C1F0-9945-E15D-EE298591FDC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8940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457D-26AD-7072-9282-C851451742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E74DE2-7889-939C-4463-E962798A56D4}"/>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FC3E0E4-3699-3D72-9E24-1569B3960F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8A941E4-F99E-2DC2-B3BE-5701C2216C6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53BF43-C1F2-5162-7C36-95B1010250B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2C6E0548-3F0A-CF6A-116F-ECB356DED0B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459C22A-57FB-34E2-764F-7124876B3AD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72733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02EA8-4A74-3C06-1901-4A8AF7E45A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0F41A9-99E9-4935-20C7-4A91AAC8252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BE9569-83A1-1361-EC2D-C3DE4250B49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AE52BC-1D74-6CA9-C632-7E6A9A3693D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2933C88-0477-9AB2-0634-51558B2506D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F18928F7-3C48-3CA3-3566-37BA4C5E787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E7A0B39-9061-3248-849C-8D408990A3B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848181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88F2B-7A1A-5E41-5208-0ABDEE1B1F0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CBE23C-3F2A-F612-7AC0-BE40AE8AFBA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5C777E7-6554-EE1F-3223-D12E9CB95C9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DB928C3-2CC7-9459-D0B3-E60B4D43AF7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88673B0-A929-7416-97A5-E3770334547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06239DE7-620A-3DEB-FCF5-020EF822BA0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574C2ED-357D-7914-C34B-BF729DC635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3955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E30A-8314-4AB4-7741-BAF18B9D536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194F38B-AE2A-770B-3F5F-DC5A46630EF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4521A1-5B2A-C8A0-33BB-C06DF766D7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14D06C4-FA8D-9B05-8CC1-1CFB59DA2B0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C247136-18C3-B584-1CB8-9B415A088DA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1D5E43EA-7E9C-AB77-92F8-9608F54C7E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DCFFACF-1730-3EDE-CF75-A5B8C7FD30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85436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594A-B8EB-7592-71FA-A50B3BA4BF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55EAE9-B831-4AF2-BB79-F793685BECB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1F12305-B3D6-E6CD-20C7-29ACB27326C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AE8C884-5F32-6606-E629-FCB351243A1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9F5B1D6-F3D1-BC66-1917-45F4FA8B897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813A1D4D-4534-0EBA-866F-B39D7E6E3F0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42BCCCE-F73C-F63C-0041-83BE22674CB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57239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B8B85"/>
              </a:buClr>
              <a:buSzPts val="1800"/>
              <a:buNone/>
              <a:defRPr sz="1800">
                <a:solidFill>
                  <a:srgbClr val="8B8B85"/>
                </a:solidFill>
              </a:defRPr>
            </a:lvl1pPr>
            <a:lvl2pPr marL="914400" lvl="1" indent="-228600" algn="l">
              <a:lnSpc>
                <a:spcPct val="90000"/>
              </a:lnSpc>
              <a:spcBef>
                <a:spcPts val="400"/>
              </a:spcBef>
              <a:spcAft>
                <a:spcPts val="0"/>
              </a:spcAft>
              <a:buClr>
                <a:srgbClr val="8B8B85"/>
              </a:buClr>
              <a:buSzPts val="1500"/>
              <a:buNone/>
              <a:defRPr sz="1500">
                <a:solidFill>
                  <a:srgbClr val="8B8B85"/>
                </a:solidFill>
              </a:defRPr>
            </a:lvl2pPr>
            <a:lvl3pPr marL="1371600" lvl="2" indent="-228600" algn="l">
              <a:lnSpc>
                <a:spcPct val="90000"/>
              </a:lnSpc>
              <a:spcBef>
                <a:spcPts val="400"/>
              </a:spcBef>
              <a:spcAft>
                <a:spcPts val="0"/>
              </a:spcAft>
              <a:buClr>
                <a:srgbClr val="8B8B85"/>
              </a:buClr>
              <a:buSzPts val="1400"/>
              <a:buNone/>
              <a:defRPr sz="1400">
                <a:solidFill>
                  <a:srgbClr val="8B8B85"/>
                </a:solidFill>
              </a:defRPr>
            </a:lvl3pPr>
            <a:lvl4pPr marL="1828800" lvl="3" indent="-228600" algn="l">
              <a:lnSpc>
                <a:spcPct val="90000"/>
              </a:lnSpc>
              <a:spcBef>
                <a:spcPts val="400"/>
              </a:spcBef>
              <a:spcAft>
                <a:spcPts val="0"/>
              </a:spcAft>
              <a:buClr>
                <a:srgbClr val="8B8B85"/>
              </a:buClr>
              <a:buSzPts val="1200"/>
              <a:buNone/>
              <a:defRPr sz="1200">
                <a:solidFill>
                  <a:srgbClr val="8B8B85"/>
                </a:solidFill>
              </a:defRPr>
            </a:lvl4pPr>
            <a:lvl5pPr marL="2286000" lvl="4" indent="-228600" algn="l">
              <a:lnSpc>
                <a:spcPct val="90000"/>
              </a:lnSpc>
              <a:spcBef>
                <a:spcPts val="400"/>
              </a:spcBef>
              <a:spcAft>
                <a:spcPts val="0"/>
              </a:spcAft>
              <a:buClr>
                <a:srgbClr val="8B8B85"/>
              </a:buClr>
              <a:buSzPts val="1200"/>
              <a:buNone/>
              <a:defRPr sz="1200">
                <a:solidFill>
                  <a:srgbClr val="8B8B85"/>
                </a:solidFill>
              </a:defRPr>
            </a:lvl5pPr>
            <a:lvl6pPr marL="2743200" lvl="5" indent="-228600" algn="l">
              <a:lnSpc>
                <a:spcPct val="90000"/>
              </a:lnSpc>
              <a:spcBef>
                <a:spcPts val="400"/>
              </a:spcBef>
              <a:spcAft>
                <a:spcPts val="0"/>
              </a:spcAft>
              <a:buClr>
                <a:srgbClr val="8B8B85"/>
              </a:buClr>
              <a:buSzPts val="1200"/>
              <a:buNone/>
              <a:defRPr sz="1200">
                <a:solidFill>
                  <a:srgbClr val="8B8B85"/>
                </a:solidFill>
              </a:defRPr>
            </a:lvl6pPr>
            <a:lvl7pPr marL="3200400" lvl="6" indent="-228600" algn="l">
              <a:lnSpc>
                <a:spcPct val="90000"/>
              </a:lnSpc>
              <a:spcBef>
                <a:spcPts val="400"/>
              </a:spcBef>
              <a:spcAft>
                <a:spcPts val="0"/>
              </a:spcAft>
              <a:buClr>
                <a:srgbClr val="8B8B85"/>
              </a:buClr>
              <a:buSzPts val="1200"/>
              <a:buNone/>
              <a:defRPr sz="1200">
                <a:solidFill>
                  <a:srgbClr val="8B8B85"/>
                </a:solidFill>
              </a:defRPr>
            </a:lvl7pPr>
            <a:lvl8pPr marL="3657600" lvl="7" indent="-228600" algn="l">
              <a:lnSpc>
                <a:spcPct val="90000"/>
              </a:lnSpc>
              <a:spcBef>
                <a:spcPts val="400"/>
              </a:spcBef>
              <a:spcAft>
                <a:spcPts val="0"/>
              </a:spcAft>
              <a:buClr>
                <a:srgbClr val="8B8B85"/>
              </a:buClr>
              <a:buSzPts val="1200"/>
              <a:buNone/>
              <a:defRPr sz="1200">
                <a:solidFill>
                  <a:srgbClr val="8B8B85"/>
                </a:solidFill>
              </a:defRPr>
            </a:lvl8pPr>
            <a:lvl9pPr marL="4114800" lvl="8" indent="-228600" algn="l">
              <a:lnSpc>
                <a:spcPct val="90000"/>
              </a:lnSpc>
              <a:spcBef>
                <a:spcPts val="400"/>
              </a:spcBef>
              <a:spcAft>
                <a:spcPts val="0"/>
              </a:spcAft>
              <a:buClr>
                <a:srgbClr val="8B8B85"/>
              </a:buClr>
              <a:buSzPts val="1200"/>
              <a:buNone/>
              <a:defRPr sz="1200">
                <a:solidFill>
                  <a:srgbClr val="8B8B85"/>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B8B8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B8B8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B8B85"/>
                </a:solidFill>
                <a:latin typeface="Arial"/>
                <a:ea typeface="Arial"/>
                <a:cs typeface="Arial"/>
                <a:sym typeface="Arial"/>
              </a:defRPr>
            </a:lvl1pPr>
            <a:lvl2pPr marL="0" marR="0" lvl="1" indent="0" algn="r" rtl="0">
              <a:spcBef>
                <a:spcPts val="0"/>
              </a:spcBef>
              <a:buNone/>
              <a:defRPr sz="900" b="0" i="0" u="none" strike="noStrike" cap="none">
                <a:solidFill>
                  <a:srgbClr val="8B8B85"/>
                </a:solidFill>
                <a:latin typeface="Arial"/>
                <a:ea typeface="Arial"/>
                <a:cs typeface="Arial"/>
                <a:sym typeface="Arial"/>
              </a:defRPr>
            </a:lvl2pPr>
            <a:lvl3pPr marL="0" marR="0" lvl="2" indent="0" algn="r" rtl="0">
              <a:spcBef>
                <a:spcPts val="0"/>
              </a:spcBef>
              <a:buNone/>
              <a:defRPr sz="900" b="0" i="0" u="none" strike="noStrike" cap="none">
                <a:solidFill>
                  <a:srgbClr val="8B8B85"/>
                </a:solidFill>
                <a:latin typeface="Arial"/>
                <a:ea typeface="Arial"/>
                <a:cs typeface="Arial"/>
                <a:sym typeface="Arial"/>
              </a:defRPr>
            </a:lvl3pPr>
            <a:lvl4pPr marL="0" marR="0" lvl="3" indent="0" algn="r" rtl="0">
              <a:spcBef>
                <a:spcPts val="0"/>
              </a:spcBef>
              <a:buNone/>
              <a:defRPr sz="900" b="0" i="0" u="none" strike="noStrike" cap="none">
                <a:solidFill>
                  <a:srgbClr val="8B8B85"/>
                </a:solidFill>
                <a:latin typeface="Arial"/>
                <a:ea typeface="Arial"/>
                <a:cs typeface="Arial"/>
                <a:sym typeface="Arial"/>
              </a:defRPr>
            </a:lvl4pPr>
            <a:lvl5pPr marL="0" marR="0" lvl="4" indent="0" algn="r" rtl="0">
              <a:spcBef>
                <a:spcPts val="0"/>
              </a:spcBef>
              <a:buNone/>
              <a:defRPr sz="900" b="0" i="0" u="none" strike="noStrike" cap="none">
                <a:solidFill>
                  <a:srgbClr val="8B8B85"/>
                </a:solidFill>
                <a:latin typeface="Arial"/>
                <a:ea typeface="Arial"/>
                <a:cs typeface="Arial"/>
                <a:sym typeface="Arial"/>
              </a:defRPr>
            </a:lvl5pPr>
            <a:lvl6pPr marL="0" marR="0" lvl="5" indent="0" algn="r" rtl="0">
              <a:spcBef>
                <a:spcPts val="0"/>
              </a:spcBef>
              <a:buNone/>
              <a:defRPr sz="900" b="0" i="0" u="none" strike="noStrike" cap="none">
                <a:solidFill>
                  <a:srgbClr val="8B8B85"/>
                </a:solidFill>
                <a:latin typeface="Arial"/>
                <a:ea typeface="Arial"/>
                <a:cs typeface="Arial"/>
                <a:sym typeface="Arial"/>
              </a:defRPr>
            </a:lvl6pPr>
            <a:lvl7pPr marL="0" marR="0" lvl="6" indent="0" algn="r" rtl="0">
              <a:spcBef>
                <a:spcPts val="0"/>
              </a:spcBef>
              <a:buNone/>
              <a:defRPr sz="900" b="0" i="0" u="none" strike="noStrike" cap="none">
                <a:solidFill>
                  <a:srgbClr val="8B8B85"/>
                </a:solidFill>
                <a:latin typeface="Arial"/>
                <a:ea typeface="Arial"/>
                <a:cs typeface="Arial"/>
                <a:sym typeface="Arial"/>
              </a:defRPr>
            </a:lvl7pPr>
            <a:lvl8pPr marL="0" marR="0" lvl="7" indent="0" algn="r" rtl="0">
              <a:spcBef>
                <a:spcPts val="0"/>
              </a:spcBef>
              <a:buNone/>
              <a:defRPr sz="900" b="0" i="0" u="none" strike="noStrike" cap="none">
                <a:solidFill>
                  <a:srgbClr val="8B8B85"/>
                </a:solidFill>
                <a:latin typeface="Arial"/>
                <a:ea typeface="Arial"/>
                <a:cs typeface="Arial"/>
                <a:sym typeface="Arial"/>
              </a:defRPr>
            </a:lvl8pPr>
            <a:lvl9pPr marL="0" marR="0" lvl="8" indent="0" algn="r" rtl="0">
              <a:spcBef>
                <a:spcPts val="0"/>
              </a:spcBef>
              <a:buNone/>
              <a:defRPr sz="900" b="0" i="0" u="none" strike="noStrike" cap="none">
                <a:solidFill>
                  <a:srgbClr val="8B8B8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p:cNvGrpSpPr/>
        <p:nvPr/>
      </p:nvGrpSpPr>
      <p:grpSpPr>
        <a:xfrm>
          <a:off x="0" y="0"/>
          <a:ext cx="0" cy="0"/>
          <a:chOff x="0" y="0"/>
          <a:chExt cx="0" cy="0"/>
        </a:xfrm>
      </p:grpSpPr>
      <p:sp>
        <p:nvSpPr>
          <p:cNvPr id="6" name="AutoShape 6"/>
          <p:cNvSpPr/>
          <p:nvPr/>
        </p:nvSpPr>
        <p:spPr>
          <a:xfrm>
            <a:off x="487680"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l">
              <a:lnSpc>
                <a:spcPct val="125000"/>
              </a:lnSpc>
              <a:defRPr/>
            </a:pPr>
            <a:r>
              <a:rPr lang="en-US" sz="1200" b="0" i="0" u="none" strike="noStrike" dirty="0" err="1">
                <a:solidFill>
                  <a:srgbClr val="3B3B37">
                    <a:alpha val="50000"/>
                  </a:srgbClr>
                </a:solidFill>
                <a:latin typeface="Andale Mono" panose="020B0509000000000004" pitchFamily="49" charset="0"/>
                <a:ea typeface="JetBrains Mono"/>
                <a:cs typeface="JetBrains Mono"/>
                <a:sym typeface="JetBrains Mono"/>
              </a:rPr>
              <a:t>潮汕地区</a:t>
            </a:r>
            <a:endParaRPr lang="en-US" sz="1200" dirty="0">
              <a:solidFill>
                <a:srgbClr val="3B3B37">
                  <a:alpha val="50000"/>
                </a:srgbClr>
              </a:solidFill>
              <a:latin typeface="Andale Mono" panose="020B0509000000000004" pitchFamily="49" charset="0"/>
            </a:endParaRPr>
          </a:p>
        </p:txBody>
      </p:sp>
      <p:sp>
        <p:nvSpPr>
          <p:cNvPr id="12" name="AutoShape 4">
            <a:extLst>
              <a:ext uri="{FF2B5EF4-FFF2-40B4-BE49-F238E27FC236}">
                <a16:creationId xmlns:a16="http://schemas.microsoft.com/office/drawing/2014/main" id="{24CDBB5A-8E2B-0C27-B192-371BD4B2E0CE}"/>
              </a:ext>
            </a:extLst>
          </p:cNvPr>
          <p:cNvSpPr/>
          <p:nvPr/>
        </p:nvSpPr>
        <p:spPr>
          <a:xfrm>
            <a:off x="487680" y="1034024"/>
            <a:ext cx="15280640"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zh-CN" altLang="en-US" sz="8000" b="1" dirty="0">
                <a:solidFill>
                  <a:srgbClr val="151515"/>
                </a:solidFill>
                <a:latin typeface="Source Han Serif SC Heavy" panose="02020400000000000000" pitchFamily="18" charset="-128"/>
                <a:ea typeface="Source Han Serif SC Heavy" panose="02020400000000000000" pitchFamily="18" charset="-128"/>
                <a:cs typeface="Noto Serif Kannada Black" panose="02020502060505020204" pitchFamily="18" charset="0"/>
                <a:sym typeface="Bricolage Grotesque"/>
              </a:rPr>
              <a:t>来自</a:t>
            </a:r>
            <a:r>
              <a:rPr lang="zh-CN" altLang="en-US" sz="8000" b="1" u="none" strike="noStrike" dirty="0">
                <a:solidFill>
                  <a:srgbClr val="151515"/>
                </a:solidFill>
                <a:latin typeface="Source Han Serif SC Heavy" panose="02020400000000000000" pitchFamily="18" charset="-128"/>
                <a:ea typeface="Source Han Serif SC Heavy" panose="02020400000000000000" pitchFamily="18" charset="-128"/>
                <a:cs typeface="Noto Serif Kannada Black" panose="02020502060505020204" pitchFamily="18" charset="0"/>
                <a:sym typeface="Bricolage Grotesque"/>
              </a:rPr>
              <a:t>南洋的一封信</a:t>
            </a:r>
          </a:p>
        </p:txBody>
      </p:sp>
      <p:sp>
        <p:nvSpPr>
          <p:cNvPr id="13" name="AutoShape 5">
            <a:extLst>
              <a:ext uri="{FF2B5EF4-FFF2-40B4-BE49-F238E27FC236}">
                <a16:creationId xmlns:a16="http://schemas.microsoft.com/office/drawing/2014/main" id="{49BC7F59-B453-F6BA-6F14-8224EA3E087F}"/>
              </a:ext>
            </a:extLst>
          </p:cNvPr>
          <p:cNvSpPr/>
          <p:nvPr/>
        </p:nvSpPr>
        <p:spPr>
          <a:xfrm>
            <a:off x="487680" y="2304886"/>
            <a:ext cx="11170920" cy="495585"/>
          </a:xfrm>
          <a:prstGeom prst="rect">
            <a:avLst/>
          </a:prstGeom>
          <a:noFill/>
          <a:ln w="16933" cap="flat" cmpd="sng">
            <a:noFill/>
            <a:prstDash val="solid"/>
            <a:round/>
          </a:ln>
        </p:spPr>
        <p:txBody>
          <a:bodyPr vert="horz" wrap="square" lIns="0" tIns="0" rIns="0" bIns="0" rtlCol="0" anchor="ctr" anchorCtr="0">
            <a:spAutoFit/>
          </a:bodyPr>
          <a:lstStyle/>
          <a:p>
            <a:pPr>
              <a:lnSpc>
                <a:spcPct val="125000"/>
              </a:lnSpc>
              <a:defRPr/>
            </a:pPr>
            <a:r>
              <a:rPr lang="zh-CN" altLang="en-US" sz="2800" u="none" strike="noStrike" dirty="0">
                <a:solidFill>
                  <a:srgbClr val="151515"/>
                </a:solidFill>
                <a:latin typeface="MiSans VF Light" pitchFamily="2" charset="-122"/>
                <a:ea typeface="MiSans VF Light" pitchFamily="2" charset="-122"/>
                <a:cs typeface="MiSans VF Light" pitchFamily="2" charset="-122"/>
                <a:sym typeface="SimHei"/>
              </a:rPr>
              <a:t>潮汕人的跨海迁徙与华侨</a:t>
            </a:r>
            <a:r>
              <a:rPr lang="zh-CN" altLang="en-US" sz="2800" dirty="0">
                <a:solidFill>
                  <a:srgbClr val="151515"/>
                </a:solidFill>
                <a:latin typeface="MiSans VF Light" pitchFamily="2" charset="-122"/>
                <a:ea typeface="MiSans VF Light" pitchFamily="2" charset="-122"/>
                <a:cs typeface="MiSans VF Light" pitchFamily="2" charset="-122"/>
                <a:sym typeface="SimHei"/>
              </a:rPr>
              <a:t>文化流变</a:t>
            </a:r>
            <a:endParaRPr lang="en-US" altLang="zh-CN" sz="2800" dirty="0">
              <a:solidFill>
                <a:srgbClr val="151515"/>
              </a:solidFill>
              <a:latin typeface="MiSans VF Light" pitchFamily="2" charset="-122"/>
              <a:ea typeface="MiSans VF Light" pitchFamily="2" charset="-122"/>
              <a:cs typeface="MiSans VF Light" pitchFamily="2" charset="-122"/>
            </a:endParaRPr>
          </a:p>
        </p:txBody>
      </p:sp>
      <p:sp>
        <p:nvSpPr>
          <p:cNvPr id="21" name="AutoShape 2">
            <a:extLst>
              <a:ext uri="{FF2B5EF4-FFF2-40B4-BE49-F238E27FC236}">
                <a16:creationId xmlns:a16="http://schemas.microsoft.com/office/drawing/2014/main" id="{ED441089-7533-115A-DB7F-6B6929B5B560}"/>
              </a:ext>
            </a:extLst>
          </p:cNvPr>
          <p:cNvSpPr/>
          <p:nvPr/>
        </p:nvSpPr>
        <p:spPr>
          <a:xfrm>
            <a:off x="487680" y="385358"/>
            <a:ext cx="3077046" cy="208711"/>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23" name="AutoShape 2">
            <a:extLst>
              <a:ext uri="{FF2B5EF4-FFF2-40B4-BE49-F238E27FC236}">
                <a16:creationId xmlns:a16="http://schemas.microsoft.com/office/drawing/2014/main" id="{CAC33E2F-DFBD-9C86-311C-C2E7775C3122}"/>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COVER</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26" name="AutoShape 6">
            <a:extLst>
              <a:ext uri="{FF2B5EF4-FFF2-40B4-BE49-F238E27FC236}">
                <a16:creationId xmlns:a16="http://schemas.microsoft.com/office/drawing/2014/main" id="{B60E070F-B516-B9FD-6D6B-751AC2A8063C}"/>
              </a:ext>
            </a:extLst>
          </p:cNvPr>
          <p:cNvSpPr/>
          <p:nvPr/>
        </p:nvSpPr>
        <p:spPr>
          <a:xfrm>
            <a:off x="7223030"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ctr">
              <a:lnSpc>
                <a:spcPct val="125000"/>
              </a:lnSpc>
              <a:defRPr/>
            </a:pPr>
            <a:r>
              <a:rPr lang="en-US" sz="1200" dirty="0" err="1">
                <a:solidFill>
                  <a:srgbClr val="3B3B37">
                    <a:alpha val="50000"/>
                  </a:srgbClr>
                </a:solidFill>
                <a:latin typeface="Andale Mono" panose="020B0509000000000004" pitchFamily="49" charset="0"/>
                <a:sym typeface="JetBrains Mono"/>
              </a:rPr>
              <a:t>下南洋</a:t>
            </a:r>
            <a:endParaRPr lang="en-US" sz="1200" dirty="0">
              <a:solidFill>
                <a:srgbClr val="3B3B37">
                  <a:alpha val="50000"/>
                </a:srgbClr>
              </a:solidFill>
              <a:latin typeface="Andale Mono" panose="020B0509000000000004" pitchFamily="49" charset="0"/>
            </a:endParaRPr>
          </a:p>
        </p:txBody>
      </p:sp>
      <p:sp>
        <p:nvSpPr>
          <p:cNvPr id="27" name="AutoShape 6">
            <a:extLst>
              <a:ext uri="{FF2B5EF4-FFF2-40B4-BE49-F238E27FC236}">
                <a16:creationId xmlns:a16="http://schemas.microsoft.com/office/drawing/2014/main" id="{5741E6FC-63F5-93D7-94F1-55B33D5A25FD}"/>
              </a:ext>
            </a:extLst>
          </p:cNvPr>
          <p:cNvSpPr/>
          <p:nvPr/>
        </p:nvSpPr>
        <p:spPr>
          <a:xfrm>
            <a:off x="13560367" y="3537750"/>
            <a:ext cx="2213956" cy="208903"/>
          </a:xfrm>
          <a:prstGeom prst="rect">
            <a:avLst/>
          </a:prstGeom>
          <a:noFill/>
          <a:ln w="16933" cap="flat" cmpd="sng">
            <a:noFill/>
            <a:prstDash val="solid"/>
            <a:round/>
          </a:ln>
        </p:spPr>
        <p:txBody>
          <a:bodyPr vert="horz" wrap="square" lIns="0" tIns="0" rIns="0" bIns="0" rtlCol="0" anchor="t" anchorCtr="0">
            <a:spAutoFit/>
          </a:bodyPr>
          <a:lstStyle/>
          <a:p>
            <a:pPr indent="0" algn="r">
              <a:lnSpc>
                <a:spcPct val="125000"/>
              </a:lnSpc>
              <a:defRPr/>
            </a:pPr>
            <a:r>
              <a:rPr lang="en-US" sz="1200" dirty="0" err="1">
                <a:solidFill>
                  <a:srgbClr val="3B3B37">
                    <a:alpha val="50000"/>
                  </a:srgbClr>
                </a:solidFill>
                <a:latin typeface="Andale Mono" panose="020B0509000000000004" pitchFamily="49" charset="0"/>
                <a:sym typeface="JetBrains Mono"/>
              </a:rPr>
              <a:t>华侨文化</a:t>
            </a:r>
            <a:endParaRPr lang="en-US" sz="1200" dirty="0">
              <a:solidFill>
                <a:srgbClr val="3B3B37">
                  <a:alpha val="50000"/>
                </a:srgbClr>
              </a:solidFill>
              <a:latin typeface="Andale Mono" panose="020B0509000000000004" pitchFamily="49" charset="0"/>
            </a:endParaRPr>
          </a:p>
        </p:txBody>
      </p:sp>
      <p:sp>
        <p:nvSpPr>
          <p:cNvPr id="28" name="AutoShape 6">
            <a:extLst>
              <a:ext uri="{FF2B5EF4-FFF2-40B4-BE49-F238E27FC236}">
                <a16:creationId xmlns:a16="http://schemas.microsoft.com/office/drawing/2014/main" id="{0ED576DD-E0C6-1499-4924-9EE1325CE905}"/>
              </a:ext>
            </a:extLst>
          </p:cNvPr>
          <p:cNvSpPr/>
          <p:nvPr/>
        </p:nvSpPr>
        <p:spPr>
          <a:xfrm>
            <a:off x="487680" y="843084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rPr>
              <a:t>一段跨越数百年的离乡与归根之路</a:t>
            </a:r>
          </a:p>
        </p:txBody>
      </p:sp>
      <p:sp>
        <p:nvSpPr>
          <p:cNvPr id="29" name="AutoShape 4">
            <a:extLst>
              <a:ext uri="{FF2B5EF4-FFF2-40B4-BE49-F238E27FC236}">
                <a16:creationId xmlns:a16="http://schemas.microsoft.com/office/drawing/2014/main" id="{DE86FE32-B600-BCAF-709D-A0A6FEBD0E25}"/>
              </a:ext>
            </a:extLst>
          </p:cNvPr>
          <p:cNvSpPr/>
          <p:nvPr/>
        </p:nvSpPr>
        <p:spPr>
          <a:xfrm>
            <a:off x="8128000" y="2163530"/>
            <a:ext cx="7640320"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rPr>
              <a:t>A</a:t>
            </a:r>
            <a:r>
              <a:rPr lang="zh-CN" altLang="en-US" sz="8000" b="1" i="1"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rPr>
              <a:t> </a:t>
            </a:r>
            <a:r>
              <a:rPr lang="en-US" altLang="zh-CN" sz="8000" b="1" i="1"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rPr>
              <a:t>Letter</a:t>
            </a:r>
            <a:endParaRPr lang="zh-CN" altLang="en-US" sz="8000" b="1" i="1" u="none" strike="noStrike"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endParaRPr>
          </a:p>
        </p:txBody>
      </p:sp>
      <p:sp>
        <p:nvSpPr>
          <p:cNvPr id="3" name="矩形 2">
            <a:extLst>
              <a:ext uri="{FF2B5EF4-FFF2-40B4-BE49-F238E27FC236}">
                <a16:creationId xmlns:a16="http://schemas.microsoft.com/office/drawing/2014/main" id="{6E1E6320-00B2-12CE-CCEC-C74875B783AB}"/>
              </a:ext>
            </a:extLst>
          </p:cNvPr>
          <p:cNvSpPr/>
          <p:nvPr/>
        </p:nvSpPr>
        <p:spPr>
          <a:xfrm>
            <a:off x="487680" y="3900677"/>
            <a:ext cx="15280640" cy="4373268"/>
          </a:xfrm>
          <a:prstGeom prst="rect">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136033EA-9D2D-EE06-F98F-3EAFE49E8056}"/>
              </a:ext>
            </a:extLst>
          </p:cNvPr>
          <p:cNvSpPr/>
          <p:nvPr/>
        </p:nvSpPr>
        <p:spPr>
          <a:xfrm>
            <a:off x="10895077" y="3900677"/>
            <a:ext cx="4873243" cy="1496671"/>
          </a:xfrm>
          <a:prstGeom prst="rect">
            <a:avLst/>
          </a:prstGeom>
          <a:pattFill prst="dkHorz">
            <a:fgClr>
              <a:srgbClr val="242424"/>
            </a:fgClr>
            <a:bgClr>
              <a:srgbClr val="A6AA34"/>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6EEF392B-0F41-AA5D-A971-2FD45DE597CE}"/>
              </a:ext>
            </a:extLst>
          </p:cNvPr>
          <p:cNvSpPr/>
          <p:nvPr/>
        </p:nvSpPr>
        <p:spPr>
          <a:xfrm>
            <a:off x="487680" y="5401673"/>
            <a:ext cx="10407397" cy="2872272"/>
          </a:xfrm>
          <a:prstGeom prst="rect">
            <a:avLst/>
          </a:prstGeom>
          <a:pattFill prst="dashUpDiag">
            <a:fgClr>
              <a:srgbClr val="050505"/>
            </a:fgClr>
            <a:bgClr>
              <a:srgbClr val="A6AA34"/>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CBD31F93-43E3-1F82-FA83-16FF447E638C}"/>
            </a:ext>
          </a:extLst>
        </p:cNvPr>
        <p:cNvGrpSpPr/>
        <p:nvPr/>
      </p:nvGrpSpPr>
      <p:grpSpPr>
        <a:xfrm>
          <a:off x="0" y="0"/>
          <a:ext cx="0" cy="0"/>
          <a:chOff x="0" y="0"/>
          <a:chExt cx="0" cy="0"/>
        </a:xfrm>
      </p:grpSpPr>
      <p:grpSp>
        <p:nvGrpSpPr>
          <p:cNvPr id="46" name="组合 45">
            <a:extLst>
              <a:ext uri="{FF2B5EF4-FFF2-40B4-BE49-F238E27FC236}">
                <a16:creationId xmlns:a16="http://schemas.microsoft.com/office/drawing/2014/main" id="{084D53C2-754A-4C87-3E2F-15A89AC7A0F0}"/>
              </a:ext>
            </a:extLst>
          </p:cNvPr>
          <p:cNvGrpSpPr/>
          <p:nvPr/>
        </p:nvGrpSpPr>
        <p:grpSpPr>
          <a:xfrm>
            <a:off x="534602" y="4164790"/>
            <a:ext cx="9219768" cy="432234"/>
            <a:chOff x="534602" y="4164790"/>
            <a:chExt cx="9219768" cy="432234"/>
          </a:xfrm>
        </p:grpSpPr>
        <p:sp>
          <p:nvSpPr>
            <p:cNvPr id="10" name="AutoShape 4">
              <a:extLst>
                <a:ext uri="{FF2B5EF4-FFF2-40B4-BE49-F238E27FC236}">
                  <a16:creationId xmlns:a16="http://schemas.microsoft.com/office/drawing/2014/main" id="{B9CD437F-ED77-B7B2-B171-3FFF916ABA80}"/>
                </a:ext>
              </a:extLst>
            </p:cNvPr>
            <p:cNvSpPr/>
            <p:nvPr/>
          </p:nvSpPr>
          <p:spPr>
            <a:xfrm>
              <a:off x="1352954" y="4164790"/>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ChillYunmoGothicBold"/>
                </a:rPr>
                <a:t>过番：向海求生的悲壮航程</a:t>
              </a:r>
            </a:p>
          </p:txBody>
        </p:sp>
        <p:sp>
          <p:nvSpPr>
            <p:cNvPr id="11" name="AutoShape 4">
              <a:extLst>
                <a:ext uri="{FF2B5EF4-FFF2-40B4-BE49-F238E27FC236}">
                  <a16:creationId xmlns:a16="http://schemas.microsoft.com/office/drawing/2014/main" id="{65E3664D-9231-CCFD-488D-964BA4CB78C9}"/>
                </a:ext>
              </a:extLst>
            </p:cNvPr>
            <p:cNvSpPr/>
            <p:nvPr/>
          </p:nvSpPr>
          <p:spPr>
            <a:xfrm>
              <a:off x="534602" y="4164790"/>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6AA34"/>
                  </a:solidFill>
                  <a:latin typeface="Didot" panose="02000503000000020003" pitchFamily="2" charset="-79"/>
                  <a:ea typeface="MiSans VF Light" pitchFamily="2" charset="-122"/>
                  <a:cs typeface="Didot" panose="02000503000000020003" pitchFamily="2" charset="-79"/>
                  <a:sym typeface="SimHei"/>
                </a:rPr>
                <a:t>001</a:t>
              </a:r>
              <a:endParaRPr lang="zh-CN" altLang="en-US" sz="2400" b="1" dirty="0">
                <a:solidFill>
                  <a:srgbClr val="A6AA3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7" name="组合 46">
            <a:extLst>
              <a:ext uri="{FF2B5EF4-FFF2-40B4-BE49-F238E27FC236}">
                <a16:creationId xmlns:a16="http://schemas.microsoft.com/office/drawing/2014/main" id="{183B8933-1177-8C95-455E-CA25298052AD}"/>
              </a:ext>
            </a:extLst>
          </p:cNvPr>
          <p:cNvGrpSpPr/>
          <p:nvPr/>
        </p:nvGrpSpPr>
        <p:grpSpPr>
          <a:xfrm>
            <a:off x="534602" y="5036029"/>
            <a:ext cx="9219768" cy="432234"/>
            <a:chOff x="534602" y="5065743"/>
            <a:chExt cx="9219768" cy="432234"/>
          </a:xfrm>
        </p:grpSpPr>
        <p:sp>
          <p:nvSpPr>
            <p:cNvPr id="19" name="AutoShape 4">
              <a:extLst>
                <a:ext uri="{FF2B5EF4-FFF2-40B4-BE49-F238E27FC236}">
                  <a16:creationId xmlns:a16="http://schemas.microsoft.com/office/drawing/2014/main" id="{95AAE48D-C42C-C48F-8493-F9B5B313F3DB}"/>
                </a:ext>
              </a:extLst>
            </p:cNvPr>
            <p:cNvSpPr/>
            <p:nvPr/>
          </p:nvSpPr>
          <p:spPr>
            <a:xfrm>
              <a:off x="1352954" y="5065743"/>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ChillYunmoGothicBold"/>
                </a:rPr>
                <a:t>拓荒：从苦力到甲必丹的崛起</a:t>
              </a:r>
              <a:endParaRPr lang="zh-CN" altLang="en-US" sz="2400" dirty="0">
                <a:solidFill>
                  <a:srgbClr val="151515"/>
                </a:solidFill>
                <a:latin typeface="MiSans VF Light" pitchFamily="2" charset="-122"/>
                <a:ea typeface="MiSans VF Light" pitchFamily="2" charset="-122"/>
                <a:cs typeface="MiSans VF Light" pitchFamily="2" charset="-122"/>
                <a:sym typeface="SimHei"/>
              </a:endParaRPr>
            </a:p>
          </p:txBody>
        </p:sp>
        <p:sp>
          <p:nvSpPr>
            <p:cNvPr id="20" name="AutoShape 4">
              <a:extLst>
                <a:ext uri="{FF2B5EF4-FFF2-40B4-BE49-F238E27FC236}">
                  <a16:creationId xmlns:a16="http://schemas.microsoft.com/office/drawing/2014/main" id="{1F90D193-C918-91E5-A206-27804AEAAC32}"/>
                </a:ext>
              </a:extLst>
            </p:cNvPr>
            <p:cNvSpPr/>
            <p:nvPr/>
          </p:nvSpPr>
          <p:spPr>
            <a:xfrm>
              <a:off x="534602" y="5065743"/>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6AA34"/>
                  </a:solidFill>
                  <a:latin typeface="Didot" panose="02000503000000020003" pitchFamily="2" charset="-79"/>
                  <a:ea typeface="MiSans VF Light" pitchFamily="2" charset="-122"/>
                  <a:cs typeface="Didot" panose="02000503000000020003" pitchFamily="2" charset="-79"/>
                  <a:sym typeface="SimHei"/>
                </a:rPr>
                <a:t>002</a:t>
              </a:r>
              <a:endParaRPr lang="zh-CN" altLang="en-US" sz="2400" b="1" dirty="0">
                <a:solidFill>
                  <a:srgbClr val="A6AA3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8" name="组合 47">
            <a:extLst>
              <a:ext uri="{FF2B5EF4-FFF2-40B4-BE49-F238E27FC236}">
                <a16:creationId xmlns:a16="http://schemas.microsoft.com/office/drawing/2014/main" id="{2C2D3846-C7D3-CA9A-E1A5-5AD811C43EC7}"/>
              </a:ext>
            </a:extLst>
          </p:cNvPr>
          <p:cNvGrpSpPr/>
          <p:nvPr/>
        </p:nvGrpSpPr>
        <p:grpSpPr>
          <a:xfrm>
            <a:off x="534602" y="5907268"/>
            <a:ext cx="9219768" cy="432234"/>
            <a:chOff x="534602" y="5960936"/>
            <a:chExt cx="9219768" cy="432234"/>
          </a:xfrm>
        </p:grpSpPr>
        <p:sp>
          <p:nvSpPr>
            <p:cNvPr id="28" name="AutoShape 4">
              <a:extLst>
                <a:ext uri="{FF2B5EF4-FFF2-40B4-BE49-F238E27FC236}">
                  <a16:creationId xmlns:a16="http://schemas.microsoft.com/office/drawing/2014/main" id="{905D9DC8-B5EB-AE6E-1A10-9E59C67DF4CE}"/>
                </a:ext>
              </a:extLst>
            </p:cNvPr>
            <p:cNvSpPr/>
            <p:nvPr/>
          </p:nvSpPr>
          <p:spPr>
            <a:xfrm>
              <a:off x="1352954" y="5960936"/>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ChillYunmoGothicBold"/>
                </a:rPr>
                <a:t>心系：银信里的家国与乡愁</a:t>
              </a:r>
              <a:endParaRPr lang="zh-CN" altLang="en-US" sz="2400" dirty="0">
                <a:solidFill>
                  <a:srgbClr val="151515"/>
                </a:solidFill>
                <a:latin typeface="MiSans VF Light" pitchFamily="2" charset="-122"/>
                <a:ea typeface="MiSans VF Light" pitchFamily="2" charset="-122"/>
                <a:cs typeface="MiSans VF Light" pitchFamily="2" charset="-122"/>
                <a:sym typeface="SimHei"/>
              </a:endParaRPr>
            </a:p>
          </p:txBody>
        </p:sp>
        <p:sp>
          <p:nvSpPr>
            <p:cNvPr id="29" name="AutoShape 4">
              <a:extLst>
                <a:ext uri="{FF2B5EF4-FFF2-40B4-BE49-F238E27FC236}">
                  <a16:creationId xmlns:a16="http://schemas.microsoft.com/office/drawing/2014/main" id="{DFE1B9C2-8BA9-14FA-F23E-A9CAADB63CBA}"/>
                </a:ext>
              </a:extLst>
            </p:cNvPr>
            <p:cNvSpPr/>
            <p:nvPr/>
          </p:nvSpPr>
          <p:spPr>
            <a:xfrm>
              <a:off x="534602" y="5960936"/>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6AA34"/>
                  </a:solidFill>
                  <a:latin typeface="Didot" panose="02000503000000020003" pitchFamily="2" charset="-79"/>
                  <a:ea typeface="MiSans VF Light" pitchFamily="2" charset="-122"/>
                  <a:cs typeface="Didot" panose="02000503000000020003" pitchFamily="2" charset="-79"/>
                  <a:sym typeface="SimHei"/>
                </a:rPr>
                <a:t>003</a:t>
              </a:r>
              <a:endParaRPr lang="zh-CN" altLang="en-US" sz="2400" b="1" dirty="0">
                <a:solidFill>
                  <a:srgbClr val="A6AA34"/>
                </a:solidFill>
                <a:latin typeface="Didot" panose="02000503000000020003" pitchFamily="2" charset="-79"/>
                <a:ea typeface="MiSans VF Light" pitchFamily="2" charset="-122"/>
                <a:cs typeface="Didot" panose="02000503000000020003" pitchFamily="2" charset="-79"/>
                <a:sym typeface="SimHei"/>
              </a:endParaRPr>
            </a:p>
          </p:txBody>
        </p:sp>
      </p:grpSp>
      <p:grpSp>
        <p:nvGrpSpPr>
          <p:cNvPr id="49" name="组合 48">
            <a:extLst>
              <a:ext uri="{FF2B5EF4-FFF2-40B4-BE49-F238E27FC236}">
                <a16:creationId xmlns:a16="http://schemas.microsoft.com/office/drawing/2014/main" id="{665A0710-C195-6BBB-4967-B27A939F3DA6}"/>
              </a:ext>
            </a:extLst>
          </p:cNvPr>
          <p:cNvGrpSpPr/>
          <p:nvPr/>
        </p:nvGrpSpPr>
        <p:grpSpPr>
          <a:xfrm>
            <a:off x="534602" y="6778506"/>
            <a:ext cx="9219768" cy="432234"/>
            <a:chOff x="534602" y="6778506"/>
            <a:chExt cx="9219768" cy="432234"/>
          </a:xfrm>
        </p:grpSpPr>
        <p:sp>
          <p:nvSpPr>
            <p:cNvPr id="37" name="AutoShape 4">
              <a:extLst>
                <a:ext uri="{FF2B5EF4-FFF2-40B4-BE49-F238E27FC236}">
                  <a16:creationId xmlns:a16="http://schemas.microsoft.com/office/drawing/2014/main" id="{892DCD9C-1F9A-F86B-FA5C-BEE09A85E619}"/>
                </a:ext>
              </a:extLst>
            </p:cNvPr>
            <p:cNvSpPr/>
            <p:nvPr/>
          </p:nvSpPr>
          <p:spPr>
            <a:xfrm>
              <a:off x="1352954" y="6778506"/>
              <a:ext cx="8401416" cy="424796"/>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ChillYunmoGothicBold"/>
                </a:rPr>
                <a:t>归根与新生：香火延续下的南洋梦</a:t>
              </a:r>
              <a:endParaRPr lang="zh-CN" altLang="en-US" sz="2400" dirty="0">
                <a:solidFill>
                  <a:srgbClr val="151515"/>
                </a:solidFill>
                <a:latin typeface="MiSans VF Light" pitchFamily="2" charset="-122"/>
                <a:ea typeface="MiSans VF Light" pitchFamily="2" charset="-122"/>
                <a:cs typeface="MiSans VF Light" pitchFamily="2" charset="-122"/>
                <a:sym typeface="SimHei"/>
              </a:endParaRPr>
            </a:p>
          </p:txBody>
        </p:sp>
        <p:sp>
          <p:nvSpPr>
            <p:cNvPr id="38" name="AutoShape 4">
              <a:extLst>
                <a:ext uri="{FF2B5EF4-FFF2-40B4-BE49-F238E27FC236}">
                  <a16:creationId xmlns:a16="http://schemas.microsoft.com/office/drawing/2014/main" id="{0665D06D-2DB3-F236-7ED0-49345A12C4AA}"/>
                </a:ext>
              </a:extLst>
            </p:cNvPr>
            <p:cNvSpPr/>
            <p:nvPr/>
          </p:nvSpPr>
          <p:spPr>
            <a:xfrm>
              <a:off x="534602" y="6778506"/>
              <a:ext cx="707516" cy="432234"/>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en-US" altLang="zh-CN" sz="2400" b="1" dirty="0">
                  <a:solidFill>
                    <a:srgbClr val="A6AA34"/>
                  </a:solidFill>
                  <a:latin typeface="Didot" panose="02000503000000020003" pitchFamily="2" charset="-79"/>
                  <a:ea typeface="MiSans VF Light" pitchFamily="2" charset="-122"/>
                  <a:cs typeface="Didot" panose="02000503000000020003" pitchFamily="2" charset="-79"/>
                  <a:sym typeface="SimHei"/>
                </a:rPr>
                <a:t>004</a:t>
              </a:r>
              <a:endParaRPr lang="zh-CN" altLang="en-US" sz="2400" b="1" dirty="0">
                <a:solidFill>
                  <a:srgbClr val="A6AA34"/>
                </a:solidFill>
                <a:latin typeface="Didot" panose="02000503000000020003" pitchFamily="2" charset="-79"/>
                <a:ea typeface="MiSans VF Light" pitchFamily="2" charset="-122"/>
                <a:cs typeface="Didot" panose="02000503000000020003" pitchFamily="2" charset="-79"/>
                <a:sym typeface="SimHei"/>
              </a:endParaRPr>
            </a:p>
          </p:txBody>
        </p:sp>
      </p:grpSp>
      <p:sp>
        <p:nvSpPr>
          <p:cNvPr id="2" name="AutoShape 3">
            <a:extLst>
              <a:ext uri="{FF2B5EF4-FFF2-40B4-BE49-F238E27FC236}">
                <a16:creationId xmlns:a16="http://schemas.microsoft.com/office/drawing/2014/main" id="{EA4B8A18-F862-3C64-49DA-08FE0529BCBF}"/>
              </a:ext>
            </a:extLst>
          </p:cNvPr>
          <p:cNvSpPr/>
          <p:nvPr/>
        </p:nvSpPr>
        <p:spPr>
          <a:xfrm>
            <a:off x="487680" y="1185217"/>
            <a:ext cx="1692812"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rPr>
              <a:t>讲述</a:t>
            </a: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脉络</a:t>
            </a:r>
            <a:endPar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3" name="AutoShape 2">
            <a:extLst>
              <a:ext uri="{FF2B5EF4-FFF2-40B4-BE49-F238E27FC236}">
                <a16:creationId xmlns:a16="http://schemas.microsoft.com/office/drawing/2014/main" id="{69E8B981-2D6A-B037-EA86-4A9BCBD2C8D2}"/>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95A892EA-817D-0DBF-EA15-BC66783522A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01</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B3FECF2D-2227-AB7C-7F92-3FDFB705896B}"/>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6" name="AutoShape 4">
            <a:extLst>
              <a:ext uri="{FF2B5EF4-FFF2-40B4-BE49-F238E27FC236}">
                <a16:creationId xmlns:a16="http://schemas.microsoft.com/office/drawing/2014/main" id="{7BCDD390-250E-0B4D-3727-2060D2BDBC17}"/>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rPr>
              <a:t>Contents</a:t>
            </a:r>
            <a:endParaRPr lang="zh-CN" altLang="en-US" sz="8000" b="1" i="1" u="none" strike="noStrike" dirty="0">
              <a:solidFill>
                <a:srgbClr val="3B3B37">
                  <a:alpha val="15000"/>
                </a:srgbClr>
              </a:solidFill>
              <a:latin typeface="Didot" panose="02000503000000020003" pitchFamily="2" charset="-79"/>
              <a:ea typeface="HYRuiYiSong 80J" pitchFamily="18" charset="-122"/>
              <a:cs typeface="Didot" panose="02000503000000020003" pitchFamily="2" charset="-79"/>
              <a:sym typeface="Bricolage Grotesque"/>
            </a:endParaRPr>
          </a:p>
        </p:txBody>
      </p:sp>
      <p:cxnSp>
        <p:nvCxnSpPr>
          <p:cNvPr id="13" name="直线连接符 12">
            <a:extLst>
              <a:ext uri="{FF2B5EF4-FFF2-40B4-BE49-F238E27FC236}">
                <a16:creationId xmlns:a16="http://schemas.microsoft.com/office/drawing/2014/main" id="{DD4A7DFD-A6B4-66AE-6E3C-CF373865F720}"/>
              </a:ext>
            </a:extLst>
          </p:cNvPr>
          <p:cNvCxnSpPr>
            <a:cxnSpLocks/>
          </p:cNvCxnSpPr>
          <p:nvPr/>
        </p:nvCxnSpPr>
        <p:spPr>
          <a:xfrm>
            <a:off x="534601" y="4817675"/>
            <a:ext cx="9219769" cy="0"/>
          </a:xfrm>
          <a:prstGeom prst="line">
            <a:avLst/>
          </a:prstGeom>
          <a:ln>
            <a:solidFill>
              <a:srgbClr val="B8B8B2">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直线连接符 49">
            <a:extLst>
              <a:ext uri="{FF2B5EF4-FFF2-40B4-BE49-F238E27FC236}">
                <a16:creationId xmlns:a16="http://schemas.microsoft.com/office/drawing/2014/main" id="{7FBEB9AB-CD8C-570F-5438-AF81E37D226F}"/>
              </a:ext>
            </a:extLst>
          </p:cNvPr>
          <p:cNvCxnSpPr>
            <a:cxnSpLocks/>
          </p:cNvCxnSpPr>
          <p:nvPr/>
        </p:nvCxnSpPr>
        <p:spPr>
          <a:xfrm>
            <a:off x="534601" y="5690511"/>
            <a:ext cx="9219769" cy="0"/>
          </a:xfrm>
          <a:prstGeom prst="line">
            <a:avLst/>
          </a:prstGeom>
          <a:ln>
            <a:solidFill>
              <a:srgbClr val="B8B8B2">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直线连接符 50">
            <a:extLst>
              <a:ext uri="{FF2B5EF4-FFF2-40B4-BE49-F238E27FC236}">
                <a16:creationId xmlns:a16="http://schemas.microsoft.com/office/drawing/2014/main" id="{4EED8519-0532-7CB8-A744-A0175471CD2F}"/>
              </a:ext>
            </a:extLst>
          </p:cNvPr>
          <p:cNvCxnSpPr>
            <a:cxnSpLocks/>
          </p:cNvCxnSpPr>
          <p:nvPr/>
        </p:nvCxnSpPr>
        <p:spPr>
          <a:xfrm>
            <a:off x="534601" y="6563347"/>
            <a:ext cx="9219769" cy="0"/>
          </a:xfrm>
          <a:prstGeom prst="line">
            <a:avLst/>
          </a:prstGeom>
          <a:ln>
            <a:solidFill>
              <a:srgbClr val="B8B8B2">
                <a:alpha val="20000"/>
              </a:srgbClr>
            </a:solidFill>
          </a:ln>
        </p:spPr>
        <p:style>
          <a:lnRef idx="1">
            <a:schemeClr val="accent1"/>
          </a:lnRef>
          <a:fillRef idx="0">
            <a:schemeClr val="accent1"/>
          </a:fillRef>
          <a:effectRef idx="0">
            <a:schemeClr val="accent1"/>
          </a:effectRef>
          <a:fontRef idx="minor">
            <a:schemeClr val="tx1"/>
          </a:fontRef>
        </p:style>
      </p:cxnSp>
      <p:cxnSp>
        <p:nvCxnSpPr>
          <p:cNvPr id="52" name="直线连接符 51">
            <a:extLst>
              <a:ext uri="{FF2B5EF4-FFF2-40B4-BE49-F238E27FC236}">
                <a16:creationId xmlns:a16="http://schemas.microsoft.com/office/drawing/2014/main" id="{5A23E09C-96C7-A5BB-9AC5-F8482400C0BE}"/>
              </a:ext>
            </a:extLst>
          </p:cNvPr>
          <p:cNvCxnSpPr>
            <a:cxnSpLocks/>
          </p:cNvCxnSpPr>
          <p:nvPr/>
        </p:nvCxnSpPr>
        <p:spPr>
          <a:xfrm>
            <a:off x="534601" y="7436184"/>
            <a:ext cx="9219769" cy="0"/>
          </a:xfrm>
          <a:prstGeom prst="line">
            <a:avLst/>
          </a:prstGeom>
          <a:ln>
            <a:solidFill>
              <a:srgbClr val="B8B8B2">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752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5B36766E-7E8D-B72D-2465-D6E6D19BCE5F}"/>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EB6304CE-C160-6C6B-B7C4-41B233295789}"/>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4982A846-C24D-C0F0-945F-6087369F809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02</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1E602F5B-0C2E-2697-93C1-75F4023ECB82}"/>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6AA3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6AA3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6793451A-BD24-5F49-F89B-A95C7C558DC8}"/>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韩江之水，载不动故土沉甸甸的饥馑与</a:t>
            </a:r>
            <a:r>
              <a:rPr lang="zh-CN" altLang="en-US" sz="2400" dirty="0">
                <a:solidFill>
                  <a:srgbClr val="F2F1EC">
                    <a:alpha val="50000"/>
                  </a:srgbClr>
                </a:solidFill>
                <a:latin typeface="MiSans VF Light" pitchFamily="2" charset="-122"/>
                <a:ea typeface="MiSans VF Light" pitchFamily="2" charset="-122"/>
                <a:cs typeface="MiSans VF Light" pitchFamily="2" charset="-122"/>
                <a:sym typeface="SimHei"/>
              </a:rPr>
              <a:t>离愁</a:t>
            </a: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a:t>
            </a:r>
            <a:endParaRPr lang="en-US" sz="2400" dirty="0">
              <a:solidFill>
                <a:srgbClr val="F2F1EC">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F6D91386-2328-EC32-FFB0-C1667132F1C2}"/>
              </a:ext>
            </a:extLst>
          </p:cNvPr>
          <p:cNvSpPr/>
          <p:nvPr/>
        </p:nvSpPr>
        <p:spPr>
          <a:xfrm>
            <a:off x="487680" y="3741853"/>
            <a:ext cx="116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过番：</a:t>
            </a:r>
            <a:endParaRPr lang="en-US" altLang="zh-CN"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向海求生的悲壮航程</a:t>
            </a:r>
          </a:p>
        </p:txBody>
      </p:sp>
      <p:sp>
        <p:nvSpPr>
          <p:cNvPr id="9" name="AutoShape 4">
            <a:extLst>
              <a:ext uri="{FF2B5EF4-FFF2-40B4-BE49-F238E27FC236}">
                <a16:creationId xmlns:a16="http://schemas.microsoft.com/office/drawing/2014/main" id="{EE823CC8-0071-8420-4F85-43119A9F4565}"/>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F1F2A07F-B2F6-FD96-F8C7-17F3C5317F3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6AA34"/>
                </a:solidFill>
                <a:latin typeface="Didot" panose="02000503000000020003" pitchFamily="2" charset="-79"/>
                <a:ea typeface="HYRuiYiSong 80J" pitchFamily="18" charset="-122"/>
                <a:cs typeface="Didot" panose="02000503000000020003" pitchFamily="2" charset="-79"/>
                <a:sym typeface="Bricolage Grotesque"/>
              </a:rPr>
              <a:t>001</a:t>
            </a:r>
            <a:endParaRPr lang="zh-CN" altLang="en-US" sz="8000" b="1" i="1" u="none" strike="noStrike" dirty="0">
              <a:solidFill>
                <a:srgbClr val="A6AA3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365717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id="{02451DDC-99B2-CE7F-37DC-CE2821D5BDAB}"/>
              </a:ext>
            </a:extLst>
          </p:cNvPr>
          <p:cNvSpPr/>
          <p:nvPr/>
        </p:nvSpPr>
        <p:spPr>
          <a:xfrm>
            <a:off x="487680" y="1034024"/>
            <a:ext cx="152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rPr>
              <a:t>潮汕人</a:t>
            </a:r>
            <a:endParaRPr lang="en-US" altLang="zh-CN"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rPr>
              <a:t>为何下南洋？</a:t>
            </a:r>
          </a:p>
        </p:txBody>
      </p:sp>
      <p:sp>
        <p:nvSpPr>
          <p:cNvPr id="7" name="AutoShape 4">
            <a:extLst>
              <a:ext uri="{FF2B5EF4-FFF2-40B4-BE49-F238E27FC236}">
                <a16:creationId xmlns:a16="http://schemas.microsoft.com/office/drawing/2014/main" id="{97DFB201-95C2-61B4-EB3C-BA8F6B57753C}"/>
              </a:ext>
            </a:extLst>
          </p:cNvPr>
          <p:cNvSpPr/>
          <p:nvPr/>
        </p:nvSpPr>
        <p:spPr>
          <a:xfrm>
            <a:off x="487680" y="4201741"/>
            <a:ext cx="6995962" cy="2745945"/>
          </a:xfrm>
          <a:prstGeom prst="rect">
            <a:avLst/>
          </a:prstGeom>
          <a:noFill/>
          <a:ln w="16933" cap="flat" cmpd="sng">
            <a:noFill/>
            <a:prstDash val="solid"/>
            <a:round/>
          </a:ln>
        </p:spPr>
        <p:txBody>
          <a:bodyPr vert="horz" wrap="square" lIns="0" tIns="0" rIns="0" bIns="0" rtlCol="0" anchor="b" anchorCtr="0">
            <a:noAutofit/>
          </a:bodyPr>
          <a:lstStyle/>
          <a:p>
            <a:pPr indent="0" algn="l">
              <a:lnSpc>
                <a:spcPct val="116666"/>
              </a:lnSpc>
              <a:defRPr/>
            </a:pPr>
            <a:r>
              <a:rPr lang="en-US" altLang="zh-CN" sz="16000" b="1" u="none" strike="noStrike" dirty="0">
                <a:solidFill>
                  <a:srgbClr val="A6AA34"/>
                </a:solidFill>
                <a:latin typeface="Didot" panose="02000503000000020003" pitchFamily="2" charset="-79"/>
                <a:ea typeface="HYRuiYiSong 80J" pitchFamily="18" charset="-122"/>
                <a:cs typeface="Didot" panose="02000503000000020003" pitchFamily="2" charset="-79"/>
                <a:sym typeface="Instrument Serif"/>
              </a:rPr>
              <a:t>1500</a:t>
            </a:r>
            <a:r>
              <a:rPr lang="en-US" sz="6000" b="1" u="none" strike="noStrike" dirty="0">
                <a:solidFill>
                  <a:srgbClr val="A6AA34"/>
                </a:solidFill>
                <a:latin typeface="Source Han Serif SC Heavy" panose="02020400000000000000" pitchFamily="18" charset="-128"/>
                <a:ea typeface="Source Han Serif SC Heavy" panose="02020400000000000000" pitchFamily="18" charset="-128"/>
                <a:cs typeface="Didot" panose="02000503000000020003" pitchFamily="2" charset="-79"/>
                <a:sym typeface="Instrument Serif"/>
              </a:rPr>
              <a:t>万</a:t>
            </a:r>
            <a:endParaRPr lang="en-US" sz="6000" b="1" dirty="0">
              <a:solidFill>
                <a:srgbClr val="A6AA34"/>
              </a:solidFill>
              <a:latin typeface="Source Han Serif SC Heavy" panose="02020400000000000000" pitchFamily="18" charset="-128"/>
              <a:ea typeface="Source Han Serif SC Heavy" panose="02020400000000000000" pitchFamily="18" charset="-128"/>
              <a:cs typeface="Didot" panose="02000503000000020003" pitchFamily="2" charset="-79"/>
            </a:endParaRPr>
          </a:p>
        </p:txBody>
      </p:sp>
      <p:sp>
        <p:nvSpPr>
          <p:cNvPr id="8" name="AutoShape 5">
            <a:extLst>
              <a:ext uri="{FF2B5EF4-FFF2-40B4-BE49-F238E27FC236}">
                <a16:creationId xmlns:a16="http://schemas.microsoft.com/office/drawing/2014/main" id="{ED0E43E5-2033-6D50-E8EE-922A6B93C7D5}"/>
              </a:ext>
            </a:extLst>
          </p:cNvPr>
          <p:cNvSpPr/>
          <p:nvPr/>
        </p:nvSpPr>
        <p:spPr>
          <a:xfrm>
            <a:off x="8447238" y="5041987"/>
            <a:ext cx="6995962" cy="1653273"/>
          </a:xfrm>
          <a:prstGeom prst="rect">
            <a:avLst/>
          </a:prstGeom>
          <a:noFill/>
          <a:ln w="16933" cap="flat" cmpd="sng">
            <a:noFill/>
            <a:prstDash val="solid"/>
            <a:round/>
          </a:ln>
        </p:spPr>
        <p:txBody>
          <a:bodyPr vert="horz" wrap="square" lIns="0" tIns="0" rIns="0" bIns="0" rtlCol="0" anchor="b" anchorCtr="0">
            <a:spAutoFit/>
          </a:bodyPr>
          <a:lstStyle/>
          <a:p>
            <a:pPr>
              <a:lnSpc>
                <a:spcPts val="2600"/>
              </a:lnSpc>
              <a:defRPr/>
            </a:pPr>
            <a:r>
              <a:rPr lang="zh-CN" altLang="en-US" sz="1600" u="none" strike="noStrike" dirty="0">
                <a:solidFill>
                  <a:srgbClr val="151515"/>
                </a:solidFill>
                <a:latin typeface="FZLanTingHeiS" panose="02000500000000000000" pitchFamily="2" charset="-122"/>
                <a:ea typeface="FZLanTingHeiS" panose="02000500000000000000" pitchFamily="2" charset="-122"/>
                <a:cs typeface="SimHei"/>
                <a:sym typeface="SimHei"/>
              </a:rPr>
              <a:t>潮汕人下南洋主要是清代至民国</a:t>
            </a:r>
            <a:r>
              <a:rPr lang="zh-CN" altLang="en-US" sz="1600" dirty="0">
                <a:solidFill>
                  <a:srgbClr val="151515"/>
                </a:solidFill>
                <a:latin typeface="FZLanTingHeiS" panose="02000500000000000000" pitchFamily="2" charset="-122"/>
                <a:ea typeface="FZLanTingHeiS" panose="02000500000000000000" pitchFamily="2" charset="-122"/>
                <a:cs typeface="SimHei"/>
                <a:sym typeface="SimHei"/>
              </a:rPr>
              <a:t>时期，人稠地少、天灾战乱所</a:t>
            </a:r>
            <a:r>
              <a:rPr lang="zh-CN" altLang="en-US" sz="1600" u="none" strike="noStrike" dirty="0">
                <a:solidFill>
                  <a:srgbClr val="151515"/>
                </a:solidFill>
                <a:latin typeface="FZLanTingHeiS" panose="02000500000000000000" pitchFamily="2" charset="-122"/>
                <a:ea typeface="FZLanTingHeiS" panose="02000500000000000000" pitchFamily="2" charset="-122"/>
                <a:cs typeface="SimHei"/>
                <a:sym typeface="SimHei"/>
              </a:rPr>
              <a:t>迫，加上地缘相近与早先同乡引路，出海谋生相对容易。他们到东南亚务工经商积累财富后，多寄侨汇回乡赡养家眷，并形成持续百年的移民</a:t>
            </a:r>
            <a:r>
              <a:rPr lang="zh-CN" altLang="en-US" sz="1600" dirty="0">
                <a:solidFill>
                  <a:srgbClr val="151515"/>
                </a:solidFill>
                <a:latin typeface="FZLanTingHeiS" panose="02000500000000000000" pitchFamily="2" charset="-122"/>
                <a:ea typeface="FZLanTingHeiS" panose="02000500000000000000" pitchFamily="2" charset="-122"/>
                <a:cs typeface="SimHei"/>
                <a:sym typeface="SimHei"/>
              </a:rPr>
              <a:t>链条。</a:t>
            </a:r>
            <a:endParaRPr lang="en-US" altLang="zh-CN" sz="1600" dirty="0">
              <a:solidFill>
                <a:srgbClr val="151515"/>
              </a:solidFill>
              <a:latin typeface="FZLanTingHeiS" panose="02000500000000000000" pitchFamily="2" charset="-122"/>
              <a:ea typeface="FZLanTingHeiS" panose="02000500000000000000" pitchFamily="2" charset="-122"/>
              <a:cs typeface="SimHei"/>
              <a:sym typeface="SimHei"/>
            </a:endParaRPr>
          </a:p>
          <a:p>
            <a:pPr>
              <a:lnSpc>
                <a:spcPts val="2600"/>
              </a:lnSpc>
              <a:defRPr/>
            </a:pPr>
            <a:endParaRPr lang="en-US" altLang="zh-CN" sz="1600" dirty="0">
              <a:solidFill>
                <a:srgbClr val="151515"/>
              </a:solidFill>
              <a:latin typeface="FZLanTingHeiS" panose="02000500000000000000" pitchFamily="2" charset="-122"/>
              <a:ea typeface="FZLanTingHeiS" panose="02000500000000000000" pitchFamily="2" charset="-122"/>
              <a:cs typeface="SimHei"/>
              <a:sym typeface="SimHei"/>
            </a:endParaRPr>
          </a:p>
          <a:p>
            <a:pPr>
              <a:lnSpc>
                <a:spcPts val="2600"/>
              </a:lnSpc>
              <a:defRPr/>
            </a:pPr>
            <a:r>
              <a:rPr lang="zh-CN" altLang="en-US" sz="1600" dirty="0">
                <a:solidFill>
                  <a:srgbClr val="151515"/>
                </a:solidFill>
                <a:latin typeface="FZLanTingHeiS" panose="02000500000000000000" pitchFamily="2" charset="-122"/>
                <a:ea typeface="FZLanTingHeiS" panose="02000500000000000000" pitchFamily="2" charset="-122"/>
                <a:cs typeface="SimHei"/>
                <a:sym typeface="SimHei"/>
              </a:rPr>
              <a:t>如今</a:t>
            </a:r>
            <a:r>
              <a:rPr lang="en-US" altLang="zh-CN" sz="1600" dirty="0">
                <a:solidFill>
                  <a:srgbClr val="151515"/>
                </a:solidFill>
                <a:latin typeface="FZLanTingHeiS" panose="02000500000000000000" pitchFamily="2" charset="-122"/>
                <a:ea typeface="FZLanTingHeiS" panose="02000500000000000000" pitchFamily="2" charset="-122"/>
                <a:cs typeface="SimHei"/>
                <a:sym typeface="SimHei"/>
              </a:rPr>
              <a:t>1500</a:t>
            </a:r>
            <a:r>
              <a:rPr lang="zh-CN" altLang="en-US" sz="1600" dirty="0">
                <a:solidFill>
                  <a:srgbClr val="151515"/>
                </a:solidFill>
                <a:latin typeface="FZLanTingHeiS" panose="02000500000000000000" pitchFamily="2" charset="-122"/>
                <a:ea typeface="FZLanTingHeiS" panose="02000500000000000000" pitchFamily="2" charset="-122"/>
                <a:cs typeface="SimHei"/>
                <a:sym typeface="SimHei"/>
              </a:rPr>
              <a:t>万</a:t>
            </a:r>
            <a:r>
              <a:rPr lang="en-US" altLang="zh-CN" sz="1600" dirty="0">
                <a:solidFill>
                  <a:srgbClr val="151515"/>
                </a:solidFill>
                <a:latin typeface="FZLanTingHeiS" panose="02000500000000000000" pitchFamily="2" charset="-122"/>
                <a:ea typeface="FZLanTingHeiS" panose="02000500000000000000" pitchFamily="2" charset="-122"/>
                <a:cs typeface="SimHei"/>
                <a:sym typeface="SimHei"/>
              </a:rPr>
              <a:t>+</a:t>
            </a:r>
            <a:r>
              <a:rPr lang="zh-CN" altLang="en-US" sz="1600" dirty="0">
                <a:solidFill>
                  <a:srgbClr val="151515"/>
                </a:solidFill>
                <a:latin typeface="FZLanTingHeiS" panose="02000500000000000000" pitchFamily="2" charset="-122"/>
                <a:ea typeface="FZLanTingHeiS" panose="02000500000000000000" pitchFamily="2" charset="-122"/>
                <a:cs typeface="SimHei"/>
                <a:sym typeface="SimHei"/>
              </a:rPr>
              <a:t>的海外潮汕华侨遍布世界数十个国家。</a:t>
            </a:r>
            <a:endParaRPr lang="en-US" altLang="zh-CN" sz="1600" u="none" strike="noStrike" dirty="0">
              <a:solidFill>
                <a:srgbClr val="151515"/>
              </a:solidFill>
              <a:latin typeface="FZLanTingHeiS" panose="02000500000000000000" pitchFamily="2" charset="-122"/>
              <a:ea typeface="FZLanTingHeiS" panose="02000500000000000000" pitchFamily="2" charset="-122"/>
              <a:cs typeface="SimHei"/>
              <a:sym typeface="SimHei"/>
            </a:endParaRPr>
          </a:p>
        </p:txBody>
      </p:sp>
      <p:sp>
        <p:nvSpPr>
          <p:cNvPr id="11" name="AutoShape 2">
            <a:extLst>
              <a:ext uri="{FF2B5EF4-FFF2-40B4-BE49-F238E27FC236}">
                <a16:creationId xmlns:a16="http://schemas.microsoft.com/office/drawing/2014/main" id="{0CDC6415-3B1A-E503-656B-6996971E914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36419082-444C-3400-DE8B-608A518A9F30}"/>
              </a:ext>
            </a:extLst>
          </p:cNvPr>
          <p:cNvSpPr/>
          <p:nvPr/>
        </p:nvSpPr>
        <p:spPr>
          <a:xfrm>
            <a:off x="12168320" y="385358"/>
            <a:ext cx="3600000" cy="208903"/>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03</a:t>
            </a:r>
          </a:p>
        </p:txBody>
      </p:sp>
      <p:sp>
        <p:nvSpPr>
          <p:cNvPr id="13" name="AutoShape 6">
            <a:extLst>
              <a:ext uri="{FF2B5EF4-FFF2-40B4-BE49-F238E27FC236}">
                <a16:creationId xmlns:a16="http://schemas.microsoft.com/office/drawing/2014/main" id="{4CA97EB4-D458-FAE2-CB63-DF5D0193DB7B}"/>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72A66712-DA2B-911D-3242-8D83A9B530D2}"/>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BCEC48B9-FAAA-39A7-26F0-586236842C25}"/>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潮汕人下南洋的时间线</a:t>
            </a:r>
            <a:endPar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AFEAB2C1-6827-E5EE-A0A6-2881DD809CCB}"/>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2FD7A606-ABFC-17CD-666E-C422A283ADB4}"/>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04</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D0F416E5-75A7-1C01-BEBD-40BB02FFB5BF}"/>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7BC51F33-B7A4-2D21-0BEA-7E1D73F7AE5B}"/>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SimHei"/>
              </a:rPr>
              <a:t>始于海事，盛于</a:t>
            </a:r>
            <a:r>
              <a:rPr lang="en-US" altLang="zh-CN" sz="2400" dirty="0">
                <a:solidFill>
                  <a:srgbClr val="151515"/>
                </a:solidFill>
                <a:latin typeface="MiSans VF Light" pitchFamily="2" charset="-122"/>
                <a:ea typeface="MiSans VF Light" pitchFamily="2" charset="-122"/>
                <a:cs typeface="MiSans VF Light" pitchFamily="2" charset="-122"/>
                <a:sym typeface="SimHei"/>
              </a:rPr>
              <a:t>19</a:t>
            </a:r>
            <a:r>
              <a:rPr lang="zh-CN" altLang="en-US" sz="2400" dirty="0">
                <a:solidFill>
                  <a:srgbClr val="151515"/>
                </a:solidFill>
                <a:latin typeface="MiSans VF Light" pitchFamily="2" charset="-122"/>
                <a:ea typeface="MiSans VF Light" pitchFamily="2" charset="-122"/>
                <a:cs typeface="MiSans VF Light" pitchFamily="2" charset="-122"/>
                <a:sym typeface="SimHei"/>
              </a:rPr>
              <a:t>世纪中叶至二战前的“苦力贸易”与战乱逃难，后期遍布全球和回归祖国</a:t>
            </a:r>
          </a:p>
        </p:txBody>
      </p:sp>
      <p:cxnSp>
        <p:nvCxnSpPr>
          <p:cNvPr id="5" name="直线连接符 4">
            <a:extLst>
              <a:ext uri="{FF2B5EF4-FFF2-40B4-BE49-F238E27FC236}">
                <a16:creationId xmlns:a16="http://schemas.microsoft.com/office/drawing/2014/main" id="{566469AC-F885-EADC-619D-08865CE39D2D}"/>
              </a:ext>
            </a:extLst>
          </p:cNvPr>
          <p:cNvCxnSpPr>
            <a:cxnSpLocks/>
          </p:cNvCxnSpPr>
          <p:nvPr/>
        </p:nvCxnSpPr>
        <p:spPr>
          <a:xfrm>
            <a:off x="0" y="4079583"/>
            <a:ext cx="16256000" cy="0"/>
          </a:xfrm>
          <a:prstGeom prst="line">
            <a:avLst/>
          </a:prstGeom>
          <a:ln w="15875">
            <a:solidFill>
              <a:srgbClr val="B8B8B2"/>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B605E1E9-D250-55B2-2DDF-8B31C39F6754}"/>
              </a:ext>
            </a:extLst>
          </p:cNvPr>
          <p:cNvSpPr txBox="1"/>
          <p:nvPr/>
        </p:nvSpPr>
        <p:spPr>
          <a:xfrm>
            <a:off x="48768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海事初开</a:t>
            </a:r>
          </a:p>
        </p:txBody>
      </p:sp>
      <p:sp>
        <p:nvSpPr>
          <p:cNvPr id="14" name="文本框 13">
            <a:extLst>
              <a:ext uri="{FF2B5EF4-FFF2-40B4-BE49-F238E27FC236}">
                <a16:creationId xmlns:a16="http://schemas.microsoft.com/office/drawing/2014/main" id="{857B60BD-5937-9CB3-CD99-8806DD4B2B1D}"/>
              </a:ext>
            </a:extLst>
          </p:cNvPr>
          <p:cNvSpPr txBox="1"/>
          <p:nvPr/>
        </p:nvSpPr>
        <p:spPr>
          <a:xfrm>
            <a:off x="48768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隋唐时期潮汕沿海居民开始海外贸易，商人定居海外</a:t>
            </a:r>
          </a:p>
        </p:txBody>
      </p:sp>
      <p:sp>
        <p:nvSpPr>
          <p:cNvPr id="16" name="文本框 15">
            <a:extLst>
              <a:ext uri="{FF2B5EF4-FFF2-40B4-BE49-F238E27FC236}">
                <a16:creationId xmlns:a16="http://schemas.microsoft.com/office/drawing/2014/main" id="{19990EA0-3A17-12F0-3BBE-6D218BD3AFC3}"/>
              </a:ext>
            </a:extLst>
          </p:cNvPr>
          <p:cNvSpPr txBox="1"/>
          <p:nvPr/>
        </p:nvSpPr>
        <p:spPr>
          <a:xfrm>
            <a:off x="366261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商贸渐兴</a:t>
            </a:r>
          </a:p>
        </p:txBody>
      </p:sp>
      <p:sp>
        <p:nvSpPr>
          <p:cNvPr id="17" name="文本框 16">
            <a:extLst>
              <a:ext uri="{FF2B5EF4-FFF2-40B4-BE49-F238E27FC236}">
                <a16:creationId xmlns:a16="http://schemas.microsoft.com/office/drawing/2014/main" id="{5C3E6C77-03F3-0C6B-0FD1-D544E1241CC3}"/>
              </a:ext>
            </a:extLst>
          </p:cNvPr>
          <p:cNvSpPr txBox="1"/>
          <p:nvPr/>
        </p:nvSpPr>
        <p:spPr>
          <a:xfrm>
            <a:off x="3662610" y="4406584"/>
            <a:ext cx="2156229" cy="492443"/>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宋元海交频繁，潮州成为重要对外贸易港口</a:t>
            </a:r>
          </a:p>
        </p:txBody>
      </p:sp>
      <p:sp>
        <p:nvSpPr>
          <p:cNvPr id="19" name="文本框 18">
            <a:extLst>
              <a:ext uri="{FF2B5EF4-FFF2-40B4-BE49-F238E27FC236}">
                <a16:creationId xmlns:a16="http://schemas.microsoft.com/office/drawing/2014/main" id="{AA2105E0-BD46-295D-D584-DE27E261B39F}"/>
              </a:ext>
            </a:extLst>
          </p:cNvPr>
          <p:cNvSpPr txBox="1"/>
          <p:nvPr/>
        </p:nvSpPr>
        <p:spPr>
          <a:xfrm>
            <a:off x="683754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明代海禁</a:t>
            </a:r>
          </a:p>
        </p:txBody>
      </p:sp>
      <p:sp>
        <p:nvSpPr>
          <p:cNvPr id="20" name="文本框 19">
            <a:extLst>
              <a:ext uri="{FF2B5EF4-FFF2-40B4-BE49-F238E27FC236}">
                <a16:creationId xmlns:a16="http://schemas.microsoft.com/office/drawing/2014/main" id="{0D8340E5-2070-BDB9-628C-0945A8BB1297}"/>
              </a:ext>
            </a:extLst>
          </p:cNvPr>
          <p:cNvSpPr txBox="1"/>
          <p:nvPr/>
        </p:nvSpPr>
        <p:spPr>
          <a:xfrm>
            <a:off x="683754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明代海禁催生海上武装商帮，林道乾等率众逃亡东南亚</a:t>
            </a:r>
          </a:p>
        </p:txBody>
      </p:sp>
      <p:sp>
        <p:nvSpPr>
          <p:cNvPr id="22" name="文本框 21">
            <a:extLst>
              <a:ext uri="{FF2B5EF4-FFF2-40B4-BE49-F238E27FC236}">
                <a16:creationId xmlns:a16="http://schemas.microsoft.com/office/drawing/2014/main" id="{20D23821-39FE-AC7B-5F73-F4F4AEBE482D}"/>
              </a:ext>
            </a:extLst>
          </p:cNvPr>
          <p:cNvSpPr txBox="1"/>
          <p:nvPr/>
        </p:nvSpPr>
        <p:spPr>
          <a:xfrm>
            <a:off x="10012470"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清代战火</a:t>
            </a:r>
          </a:p>
        </p:txBody>
      </p:sp>
      <p:sp>
        <p:nvSpPr>
          <p:cNvPr id="23" name="文本框 22">
            <a:extLst>
              <a:ext uri="{FF2B5EF4-FFF2-40B4-BE49-F238E27FC236}">
                <a16:creationId xmlns:a16="http://schemas.microsoft.com/office/drawing/2014/main" id="{98DDBDC3-F37A-FDFC-3032-70F996DF0046}"/>
              </a:ext>
            </a:extLst>
          </p:cNvPr>
          <p:cNvSpPr txBox="1"/>
          <p:nvPr/>
        </p:nvSpPr>
        <p:spPr>
          <a:xfrm>
            <a:off x="10012470"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清初迁界禁海，宋亡后遗民不满外族统治移居海外</a:t>
            </a:r>
          </a:p>
        </p:txBody>
      </p:sp>
      <p:sp>
        <p:nvSpPr>
          <p:cNvPr id="24" name="椭圆 23">
            <a:extLst>
              <a:ext uri="{FF2B5EF4-FFF2-40B4-BE49-F238E27FC236}">
                <a16:creationId xmlns:a16="http://schemas.microsoft.com/office/drawing/2014/main" id="{15809D9D-F908-43CF-EA79-1A5E773FE913}"/>
              </a:ext>
            </a:extLst>
          </p:cNvPr>
          <p:cNvSpPr/>
          <p:nvPr/>
        </p:nvSpPr>
        <p:spPr>
          <a:xfrm>
            <a:off x="487681" y="4007420"/>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9" name="文本框 28">
            <a:extLst>
              <a:ext uri="{FF2B5EF4-FFF2-40B4-BE49-F238E27FC236}">
                <a16:creationId xmlns:a16="http://schemas.microsoft.com/office/drawing/2014/main" id="{EFCDD086-9026-D1A8-C330-D5C225BC46E8}"/>
              </a:ext>
            </a:extLst>
          </p:cNvPr>
          <p:cNvSpPr txBox="1"/>
          <p:nvPr/>
        </p:nvSpPr>
        <p:spPr>
          <a:xfrm>
            <a:off x="13187398" y="3348805"/>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红头船时期</a:t>
            </a:r>
          </a:p>
        </p:txBody>
      </p:sp>
      <p:sp>
        <p:nvSpPr>
          <p:cNvPr id="30" name="文本框 29">
            <a:extLst>
              <a:ext uri="{FF2B5EF4-FFF2-40B4-BE49-F238E27FC236}">
                <a16:creationId xmlns:a16="http://schemas.microsoft.com/office/drawing/2014/main" id="{D9C53B1F-456E-14BD-373A-CEBE1BCC230F}"/>
              </a:ext>
            </a:extLst>
          </p:cNvPr>
          <p:cNvSpPr txBox="1"/>
          <p:nvPr/>
        </p:nvSpPr>
        <p:spPr>
          <a:xfrm>
            <a:off x="13187399" y="4406584"/>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清雍正至咸丰年间，樟林港红头船载客</a:t>
            </a:r>
            <a:r>
              <a:rPr lang="en-US" altLang="zh-CN" sz="1600" dirty="0">
                <a:solidFill>
                  <a:srgbClr val="151515"/>
                </a:solidFill>
                <a:latin typeface="MiSans VF Light" pitchFamily="2" charset="-122"/>
                <a:ea typeface="MiSans VF Light" pitchFamily="2" charset="-122"/>
                <a:cs typeface="MiSans VF Light" pitchFamily="2" charset="-122"/>
              </a:rPr>
              <a:t>"</a:t>
            </a:r>
            <a:r>
              <a:rPr lang="zh-CN" altLang="en-US" sz="1600" dirty="0">
                <a:solidFill>
                  <a:srgbClr val="151515"/>
                </a:solidFill>
                <a:latin typeface="MiSans VF Light" pitchFamily="2" charset="-122"/>
                <a:ea typeface="MiSans VF Light" pitchFamily="2" charset="-122"/>
                <a:cs typeface="MiSans VF Light" pitchFamily="2" charset="-122"/>
              </a:rPr>
              <a:t>过番</a:t>
            </a:r>
            <a:r>
              <a:rPr lang="en-US" altLang="zh-CN" sz="1600" dirty="0">
                <a:solidFill>
                  <a:srgbClr val="151515"/>
                </a:solidFill>
                <a:latin typeface="MiSans VF Light" pitchFamily="2" charset="-122"/>
                <a:ea typeface="MiSans VF Light" pitchFamily="2" charset="-122"/>
                <a:cs typeface="MiSans VF Light" pitchFamily="2" charset="-122"/>
              </a:rPr>
              <a:t>"</a:t>
            </a:r>
            <a:r>
              <a:rPr lang="zh-CN" altLang="en-US" sz="1600" dirty="0">
                <a:solidFill>
                  <a:srgbClr val="151515"/>
                </a:solidFill>
                <a:latin typeface="MiSans VF Light" pitchFamily="2" charset="-122"/>
                <a:ea typeface="MiSans VF Light" pitchFamily="2" charset="-122"/>
                <a:cs typeface="MiSans VF Light" pitchFamily="2" charset="-122"/>
              </a:rPr>
              <a:t>成风</a:t>
            </a:r>
          </a:p>
        </p:txBody>
      </p:sp>
      <p:cxnSp>
        <p:nvCxnSpPr>
          <p:cNvPr id="32" name="直线连接符 31">
            <a:extLst>
              <a:ext uri="{FF2B5EF4-FFF2-40B4-BE49-F238E27FC236}">
                <a16:creationId xmlns:a16="http://schemas.microsoft.com/office/drawing/2014/main" id="{6EC63244-601E-3891-38D1-281043681CB4}"/>
              </a:ext>
            </a:extLst>
          </p:cNvPr>
          <p:cNvCxnSpPr>
            <a:cxnSpLocks/>
          </p:cNvCxnSpPr>
          <p:nvPr/>
        </p:nvCxnSpPr>
        <p:spPr>
          <a:xfrm>
            <a:off x="0" y="6703517"/>
            <a:ext cx="16256000" cy="0"/>
          </a:xfrm>
          <a:prstGeom prst="line">
            <a:avLst/>
          </a:prstGeom>
          <a:ln w="15875">
            <a:solidFill>
              <a:srgbClr val="B8B8B2"/>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0BF7275A-7BB1-C451-4576-1428DE85807E}"/>
              </a:ext>
            </a:extLst>
          </p:cNvPr>
          <p:cNvSpPr txBox="1"/>
          <p:nvPr/>
        </p:nvSpPr>
        <p:spPr>
          <a:xfrm>
            <a:off x="48768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开埠大潮</a:t>
            </a:r>
          </a:p>
        </p:txBody>
      </p:sp>
      <p:sp>
        <p:nvSpPr>
          <p:cNvPr id="34" name="文本框 33">
            <a:extLst>
              <a:ext uri="{FF2B5EF4-FFF2-40B4-BE49-F238E27FC236}">
                <a16:creationId xmlns:a16="http://schemas.microsoft.com/office/drawing/2014/main" id="{DCFB32EF-30E9-5D24-E106-82393D35BD79}"/>
              </a:ext>
            </a:extLst>
          </p:cNvPr>
          <p:cNvSpPr txBox="1"/>
          <p:nvPr/>
        </p:nvSpPr>
        <p:spPr>
          <a:xfrm>
            <a:off x="487680" y="7030518"/>
            <a:ext cx="2156229" cy="738664"/>
          </a:xfrm>
          <a:prstGeom prst="rect">
            <a:avLst/>
          </a:prstGeom>
          <a:noFill/>
        </p:spPr>
        <p:txBody>
          <a:bodyPr wrap="square" lIns="0" tIns="0" rIns="0" bIns="0">
            <a:spAutoFit/>
          </a:bodyPr>
          <a:lstStyle/>
          <a:p>
            <a:pPr>
              <a:spcBef>
                <a:spcPts val="1200"/>
              </a:spcBef>
            </a:pPr>
            <a:r>
              <a:rPr lang="en-US" altLang="zh-CN" sz="1600" dirty="0">
                <a:solidFill>
                  <a:srgbClr val="151515"/>
                </a:solidFill>
                <a:latin typeface="MiSans VF Light" pitchFamily="2" charset="-122"/>
                <a:ea typeface="MiSans VF Light" pitchFamily="2" charset="-122"/>
                <a:cs typeface="MiSans VF Light" pitchFamily="2" charset="-122"/>
              </a:rPr>
              <a:t>1860</a:t>
            </a:r>
            <a:r>
              <a:rPr lang="zh-CN" altLang="en-US" sz="1600" dirty="0">
                <a:solidFill>
                  <a:srgbClr val="151515"/>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5" name="文本框 34">
            <a:extLst>
              <a:ext uri="{FF2B5EF4-FFF2-40B4-BE49-F238E27FC236}">
                <a16:creationId xmlns:a16="http://schemas.microsoft.com/office/drawing/2014/main" id="{94D0B47B-5290-54E6-3EE7-85C10E340561}"/>
              </a:ext>
            </a:extLst>
          </p:cNvPr>
          <p:cNvSpPr txBox="1"/>
          <p:nvPr/>
        </p:nvSpPr>
        <p:spPr>
          <a:xfrm>
            <a:off x="683754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当代延续</a:t>
            </a:r>
          </a:p>
        </p:txBody>
      </p:sp>
      <p:sp>
        <p:nvSpPr>
          <p:cNvPr id="36" name="文本框 35">
            <a:extLst>
              <a:ext uri="{FF2B5EF4-FFF2-40B4-BE49-F238E27FC236}">
                <a16:creationId xmlns:a16="http://schemas.microsoft.com/office/drawing/2014/main" id="{172CF2CE-C6C8-2B08-74DD-4E1B507161DC}"/>
              </a:ext>
            </a:extLst>
          </p:cNvPr>
          <p:cNvSpPr txBox="1"/>
          <p:nvPr/>
        </p:nvSpPr>
        <p:spPr>
          <a:xfrm>
            <a:off x="6863483"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改革开放后，新移民涌向欧美，华侨网络全球扩展</a:t>
            </a:r>
          </a:p>
        </p:txBody>
      </p:sp>
      <p:sp>
        <p:nvSpPr>
          <p:cNvPr id="37" name="文本框 36">
            <a:extLst>
              <a:ext uri="{FF2B5EF4-FFF2-40B4-BE49-F238E27FC236}">
                <a16:creationId xmlns:a16="http://schemas.microsoft.com/office/drawing/2014/main" id="{98E7EBE2-EFAE-C158-22AF-783071E2842A}"/>
              </a:ext>
            </a:extLst>
          </p:cNvPr>
          <p:cNvSpPr txBox="1"/>
          <p:nvPr/>
        </p:nvSpPr>
        <p:spPr>
          <a:xfrm>
            <a:off x="10012470"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文化回归</a:t>
            </a:r>
          </a:p>
        </p:txBody>
      </p:sp>
      <p:sp>
        <p:nvSpPr>
          <p:cNvPr id="38" name="文本框 37">
            <a:extLst>
              <a:ext uri="{FF2B5EF4-FFF2-40B4-BE49-F238E27FC236}">
                <a16:creationId xmlns:a16="http://schemas.microsoft.com/office/drawing/2014/main" id="{D6F035C1-8727-0B7F-FD75-2929EE72975E}"/>
              </a:ext>
            </a:extLst>
          </p:cNvPr>
          <p:cNvSpPr txBox="1"/>
          <p:nvPr/>
        </p:nvSpPr>
        <p:spPr>
          <a:xfrm>
            <a:off x="10008871"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华侨回乡投资建设，侨批文化、侨宅成为文化遗产</a:t>
            </a:r>
          </a:p>
        </p:txBody>
      </p:sp>
      <p:sp>
        <p:nvSpPr>
          <p:cNvPr id="48" name="文本框 47">
            <a:extLst>
              <a:ext uri="{FF2B5EF4-FFF2-40B4-BE49-F238E27FC236}">
                <a16:creationId xmlns:a16="http://schemas.microsoft.com/office/drawing/2014/main" id="{48741A0D-CADF-C9D4-7DB4-55C2597C8D78}"/>
              </a:ext>
            </a:extLst>
          </p:cNvPr>
          <p:cNvSpPr txBox="1"/>
          <p:nvPr/>
        </p:nvSpPr>
        <p:spPr>
          <a:xfrm>
            <a:off x="3662046" y="5972739"/>
            <a:ext cx="2580922" cy="453009"/>
          </a:xfrm>
          <a:prstGeom prst="rect">
            <a:avLst/>
          </a:prstGeom>
          <a:noFill/>
        </p:spPr>
        <p:txBody>
          <a:bodyPr wrap="square" lIns="0" tIns="0" rIns="0" bIns="0">
            <a:spAutoFit/>
          </a:bodyPr>
          <a:lstStyle/>
          <a:p>
            <a:pPr>
              <a:lnSpc>
                <a:spcPct val="133333"/>
              </a:lnSpc>
            </a:pPr>
            <a:r>
              <a:rPr lang="zh-CN" altLang="en-US" sz="2400" b="1" dirty="0">
                <a:solidFill>
                  <a:srgbClr val="A6AA34"/>
                </a:solidFill>
                <a:latin typeface="Source Han Serif SC Heavy" panose="02020400000000000000" pitchFamily="18" charset="-128"/>
                <a:ea typeface="Source Han Serif SC Heavy" panose="02020400000000000000" pitchFamily="18" charset="-128"/>
                <a:cs typeface="MiSans VF Light" pitchFamily="2" charset="-122"/>
              </a:rPr>
              <a:t>社群形成</a:t>
            </a:r>
          </a:p>
        </p:txBody>
      </p:sp>
      <p:sp>
        <p:nvSpPr>
          <p:cNvPr id="49" name="文本框 48">
            <a:extLst>
              <a:ext uri="{FF2B5EF4-FFF2-40B4-BE49-F238E27FC236}">
                <a16:creationId xmlns:a16="http://schemas.microsoft.com/office/drawing/2014/main" id="{E1FEE765-276F-3C44-EE56-5689D2E3D9A0}"/>
              </a:ext>
            </a:extLst>
          </p:cNvPr>
          <p:cNvSpPr txBox="1"/>
          <p:nvPr/>
        </p:nvSpPr>
        <p:spPr>
          <a:xfrm>
            <a:off x="3662046" y="7030518"/>
            <a:ext cx="2156229" cy="738664"/>
          </a:xfrm>
          <a:prstGeom prst="rect">
            <a:avLst/>
          </a:prstGeom>
          <a:noFill/>
        </p:spPr>
        <p:txBody>
          <a:bodyPr wrap="square" lIns="0" tIns="0" rIns="0" bIns="0">
            <a:spAutoFit/>
          </a:bodyPr>
          <a:lstStyle/>
          <a:p>
            <a:pPr>
              <a:spcBef>
                <a:spcPts val="1200"/>
              </a:spcBef>
            </a:pPr>
            <a:r>
              <a:rPr lang="zh-CN" altLang="en-US" sz="1600" dirty="0">
                <a:solidFill>
                  <a:srgbClr val="151515"/>
                </a:solidFill>
                <a:latin typeface="MiSans VF Light" pitchFamily="2" charset="-122"/>
                <a:ea typeface="MiSans VF Light" pitchFamily="2" charset="-122"/>
                <a:cs typeface="MiSans VF Light" pitchFamily="2" charset="-122"/>
              </a:rPr>
              <a:t>鸦片战争后至</a:t>
            </a:r>
            <a:r>
              <a:rPr lang="en-US" altLang="zh-CN" sz="1600" dirty="0">
                <a:solidFill>
                  <a:srgbClr val="151515"/>
                </a:solidFill>
                <a:latin typeface="MiSans VF Light" pitchFamily="2" charset="-122"/>
                <a:ea typeface="MiSans VF Light" pitchFamily="2" charset="-122"/>
                <a:cs typeface="MiSans VF Light" pitchFamily="2" charset="-122"/>
              </a:rPr>
              <a:t>1949</a:t>
            </a:r>
            <a:r>
              <a:rPr lang="zh-CN" altLang="en-US" sz="1600" dirty="0">
                <a:solidFill>
                  <a:srgbClr val="151515"/>
                </a:solidFill>
                <a:latin typeface="MiSans VF Light" pitchFamily="2" charset="-122"/>
                <a:ea typeface="MiSans VF Light" pitchFamily="2" charset="-122"/>
                <a:cs typeface="MiSans VF Light" pitchFamily="2" charset="-122"/>
              </a:rPr>
              <a:t>年，海外潮人社会逐步形成壮大</a:t>
            </a:r>
          </a:p>
        </p:txBody>
      </p:sp>
      <p:sp>
        <p:nvSpPr>
          <p:cNvPr id="53" name="椭圆 52">
            <a:extLst>
              <a:ext uri="{FF2B5EF4-FFF2-40B4-BE49-F238E27FC236}">
                <a16:creationId xmlns:a16="http://schemas.microsoft.com/office/drawing/2014/main" id="{4108166E-2F27-2C7F-5A7C-74AD7378F1EE}"/>
              </a:ext>
            </a:extLst>
          </p:cNvPr>
          <p:cNvSpPr/>
          <p:nvPr/>
        </p:nvSpPr>
        <p:spPr>
          <a:xfrm>
            <a:off x="3662046" y="4007420"/>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1A81C979-E98D-8004-7E8E-EBAFDA2AE1FD}"/>
              </a:ext>
            </a:extLst>
          </p:cNvPr>
          <p:cNvSpPr/>
          <p:nvPr/>
        </p:nvSpPr>
        <p:spPr>
          <a:xfrm>
            <a:off x="6831966" y="4007420"/>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椭圆 55">
            <a:extLst>
              <a:ext uri="{FF2B5EF4-FFF2-40B4-BE49-F238E27FC236}">
                <a16:creationId xmlns:a16="http://schemas.microsoft.com/office/drawing/2014/main" id="{C6239358-2971-D432-9426-E6C735E771B8}"/>
              </a:ext>
            </a:extLst>
          </p:cNvPr>
          <p:cNvSpPr/>
          <p:nvPr/>
        </p:nvSpPr>
        <p:spPr>
          <a:xfrm>
            <a:off x="10017618" y="4007420"/>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7" name="椭圆 56">
            <a:extLst>
              <a:ext uri="{FF2B5EF4-FFF2-40B4-BE49-F238E27FC236}">
                <a16:creationId xmlns:a16="http://schemas.microsoft.com/office/drawing/2014/main" id="{275DD2AC-31FE-58AD-E4D5-3C5D561F5773}"/>
              </a:ext>
            </a:extLst>
          </p:cNvPr>
          <p:cNvSpPr/>
          <p:nvPr/>
        </p:nvSpPr>
        <p:spPr>
          <a:xfrm>
            <a:off x="13188522" y="4007420"/>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椭圆 57">
            <a:extLst>
              <a:ext uri="{FF2B5EF4-FFF2-40B4-BE49-F238E27FC236}">
                <a16:creationId xmlns:a16="http://schemas.microsoft.com/office/drawing/2014/main" id="{FAA0F81D-6DAE-7FC2-E6DD-A94CAFB380A2}"/>
              </a:ext>
            </a:extLst>
          </p:cNvPr>
          <p:cNvSpPr/>
          <p:nvPr/>
        </p:nvSpPr>
        <p:spPr>
          <a:xfrm>
            <a:off x="487681" y="6632491"/>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椭圆 58">
            <a:extLst>
              <a:ext uri="{FF2B5EF4-FFF2-40B4-BE49-F238E27FC236}">
                <a16:creationId xmlns:a16="http://schemas.microsoft.com/office/drawing/2014/main" id="{3BF7D599-D20E-49B8-964B-4E1C255B6516}"/>
              </a:ext>
            </a:extLst>
          </p:cNvPr>
          <p:cNvSpPr/>
          <p:nvPr/>
        </p:nvSpPr>
        <p:spPr>
          <a:xfrm>
            <a:off x="3660830" y="6644521"/>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0" name="椭圆 59">
            <a:extLst>
              <a:ext uri="{FF2B5EF4-FFF2-40B4-BE49-F238E27FC236}">
                <a16:creationId xmlns:a16="http://schemas.microsoft.com/office/drawing/2014/main" id="{05A54F1C-49E1-1FB7-A8EF-1F54A2E1A24F}"/>
              </a:ext>
            </a:extLst>
          </p:cNvPr>
          <p:cNvSpPr/>
          <p:nvPr/>
        </p:nvSpPr>
        <p:spPr>
          <a:xfrm>
            <a:off x="6863483" y="6644521"/>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椭圆 60">
            <a:extLst>
              <a:ext uri="{FF2B5EF4-FFF2-40B4-BE49-F238E27FC236}">
                <a16:creationId xmlns:a16="http://schemas.microsoft.com/office/drawing/2014/main" id="{62132970-B801-62F5-1331-528203DA6573}"/>
              </a:ext>
            </a:extLst>
          </p:cNvPr>
          <p:cNvSpPr/>
          <p:nvPr/>
        </p:nvSpPr>
        <p:spPr>
          <a:xfrm>
            <a:off x="10018512" y="6644521"/>
            <a:ext cx="146550" cy="146550"/>
          </a:xfrm>
          <a:prstGeom prst="ellipse">
            <a:avLst/>
          </a:prstGeom>
          <a:solidFill>
            <a:srgbClr val="A6AA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62621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8DAA4B12-9D35-F449-93AA-2EA91D144CED}"/>
            </a:ext>
          </a:extLst>
        </p:cNvPr>
        <p:cNvGrpSpPr/>
        <p:nvPr/>
      </p:nvGrpSpPr>
      <p:grpSpPr>
        <a:xfrm>
          <a:off x="0" y="0"/>
          <a:ext cx="0" cy="0"/>
          <a:chOff x="0" y="0"/>
          <a:chExt cx="0" cy="0"/>
        </a:xfrm>
      </p:grpSpPr>
      <p:sp>
        <p:nvSpPr>
          <p:cNvPr id="3" name="AutoShape 4">
            <a:extLst>
              <a:ext uri="{FF2B5EF4-FFF2-40B4-BE49-F238E27FC236}">
                <a16:creationId xmlns:a16="http://schemas.microsoft.com/office/drawing/2014/main" id="{FE228E4A-7D75-8601-2F10-E6293AED58BD}"/>
              </a:ext>
            </a:extLst>
          </p:cNvPr>
          <p:cNvSpPr/>
          <p:nvPr/>
        </p:nvSpPr>
        <p:spPr>
          <a:xfrm>
            <a:off x="487680" y="3347634"/>
            <a:ext cx="7584722" cy="4602996"/>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16" name="AutoShape 4">
            <a:extLst>
              <a:ext uri="{FF2B5EF4-FFF2-40B4-BE49-F238E27FC236}">
                <a16:creationId xmlns:a16="http://schemas.microsoft.com/office/drawing/2014/main" id="{AFF80A1C-2548-3567-37B8-4733D9939218}"/>
              </a:ext>
            </a:extLst>
          </p:cNvPr>
          <p:cNvSpPr/>
          <p:nvPr/>
        </p:nvSpPr>
        <p:spPr>
          <a:xfrm>
            <a:off x="8178437" y="3347634"/>
            <a:ext cx="7584722" cy="4602996"/>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 name="AutoShape 3">
            <a:extLst>
              <a:ext uri="{FF2B5EF4-FFF2-40B4-BE49-F238E27FC236}">
                <a16:creationId xmlns:a16="http://schemas.microsoft.com/office/drawing/2014/main" id="{85E2D14D-6A08-4E5D-C10B-E63BDCD2CF2C}"/>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什么力量推动潮汕人远渡重洋？</a:t>
            </a:r>
          </a:p>
        </p:txBody>
      </p:sp>
      <p:sp>
        <p:nvSpPr>
          <p:cNvPr id="11" name="AutoShape 2">
            <a:extLst>
              <a:ext uri="{FF2B5EF4-FFF2-40B4-BE49-F238E27FC236}">
                <a16:creationId xmlns:a16="http://schemas.microsoft.com/office/drawing/2014/main" id="{184AAC8F-C82B-E44A-84C3-6C7A64D3C0C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B230CF47-24E9-90D3-5D66-E46C8119C57B}"/>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05</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C33C33AC-87D6-666F-9325-7F743B2FA01F}"/>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A382B11E-45E5-72D4-BB11-CC2952FCD7CB}"/>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SimHei"/>
              </a:rPr>
              <a:t>泰国、新加坡、马来西亚、印尼等数十个国家和地区</a:t>
            </a:r>
          </a:p>
        </p:txBody>
      </p:sp>
      <p:sp>
        <p:nvSpPr>
          <p:cNvPr id="7" name="文本框 6">
            <a:extLst>
              <a:ext uri="{FF2B5EF4-FFF2-40B4-BE49-F238E27FC236}">
                <a16:creationId xmlns:a16="http://schemas.microsoft.com/office/drawing/2014/main" id="{8BB8DC05-D7EE-534A-1986-D0E6A251A346}"/>
              </a:ext>
            </a:extLst>
          </p:cNvPr>
          <p:cNvSpPr txBox="1"/>
          <p:nvPr/>
        </p:nvSpPr>
        <p:spPr>
          <a:xfrm>
            <a:off x="795766" y="3782592"/>
            <a:ext cx="6969600" cy="430887"/>
          </a:xfrm>
          <a:prstGeom prst="rect">
            <a:avLst/>
          </a:prstGeom>
          <a:noFill/>
        </p:spPr>
        <p:txBody>
          <a:bodyPr wrap="square" lIns="0" tIns="0" rIns="0" bIns="0">
            <a:spAutoFit/>
          </a:body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6AA34"/>
                </a:solidFill>
                <a:effectLst/>
                <a:uLnTx/>
                <a:uFillTx/>
                <a:latin typeface="HYRuiYiSong 80J" pitchFamily="18" charset="-122"/>
                <a:ea typeface="HYRuiYiSong 80J" pitchFamily="18" charset="-122"/>
                <a:cs typeface="SimHei"/>
                <a:sym typeface="SimHei"/>
              </a:rPr>
              <a:t>Push</a:t>
            </a:r>
          </a:p>
        </p:txBody>
      </p:sp>
      <p:sp>
        <p:nvSpPr>
          <p:cNvPr id="9" name="文本框 8">
            <a:extLst>
              <a:ext uri="{FF2B5EF4-FFF2-40B4-BE49-F238E27FC236}">
                <a16:creationId xmlns:a16="http://schemas.microsoft.com/office/drawing/2014/main" id="{2216FA03-3173-3466-A74E-B0CB1D410699}"/>
              </a:ext>
            </a:extLst>
          </p:cNvPr>
          <p:cNvSpPr txBox="1"/>
          <p:nvPr/>
        </p:nvSpPr>
        <p:spPr>
          <a:xfrm>
            <a:off x="795766" y="4305812"/>
            <a:ext cx="6969600" cy="430887"/>
          </a:xfrm>
          <a:prstGeom prst="rect">
            <a:avLst/>
          </a:prstGeom>
          <a:noFill/>
        </p:spPr>
        <p:txBody>
          <a:bodyPr wrap="square" lIns="0" tIns="0" rIns="0" bIns="0">
            <a:spAutoFit/>
          </a:body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内部推力</a:t>
            </a:r>
            <a:endParaRPr lang="zh-CN" altLang="en-US" dirty="0"/>
          </a:p>
        </p:txBody>
      </p:sp>
      <p:sp>
        <p:nvSpPr>
          <p:cNvPr id="14" name="文本框 13">
            <a:extLst>
              <a:ext uri="{FF2B5EF4-FFF2-40B4-BE49-F238E27FC236}">
                <a16:creationId xmlns:a16="http://schemas.microsoft.com/office/drawing/2014/main" id="{385FB76C-8A05-B3D2-BC41-EB1DB0EE29DD}"/>
              </a:ext>
            </a:extLst>
          </p:cNvPr>
          <p:cNvSpPr txBox="1"/>
          <p:nvPr/>
        </p:nvSpPr>
        <p:spPr>
          <a:xfrm>
            <a:off x="795766" y="5649132"/>
            <a:ext cx="6969600" cy="1123449"/>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潮汕地区“三山六海一分地”，人多地少且天灾频发。在贫困与饥饿的逼迫下，大量失去生计的百姓为了活命，被迫背井离乡寻找出路。</a:t>
            </a:r>
            <a:endPar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endParaRPr>
          </a:p>
        </p:txBody>
      </p:sp>
      <p:sp>
        <p:nvSpPr>
          <p:cNvPr id="15" name="文本框 14">
            <a:extLst>
              <a:ext uri="{FF2B5EF4-FFF2-40B4-BE49-F238E27FC236}">
                <a16:creationId xmlns:a16="http://schemas.microsoft.com/office/drawing/2014/main" id="{7F49B55B-323D-BFE0-2581-C43C5937BEA7}"/>
              </a:ext>
            </a:extLst>
          </p:cNvPr>
          <p:cNvSpPr txBox="1"/>
          <p:nvPr/>
        </p:nvSpPr>
        <p:spPr>
          <a:xfrm>
            <a:off x="795766" y="4829032"/>
            <a:ext cx="6969600" cy="354008"/>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极端的生存压力与地少人多的矛盾</a:t>
            </a:r>
            <a:endPar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endParaRPr>
          </a:p>
        </p:txBody>
      </p:sp>
      <p:sp>
        <p:nvSpPr>
          <p:cNvPr id="17" name="文本框 16">
            <a:extLst>
              <a:ext uri="{FF2B5EF4-FFF2-40B4-BE49-F238E27FC236}">
                <a16:creationId xmlns:a16="http://schemas.microsoft.com/office/drawing/2014/main" id="{B90BA4CC-CD93-3B02-0636-E320A58F141A}"/>
              </a:ext>
            </a:extLst>
          </p:cNvPr>
          <p:cNvSpPr txBox="1"/>
          <p:nvPr/>
        </p:nvSpPr>
        <p:spPr>
          <a:xfrm>
            <a:off x="8486523" y="3782592"/>
            <a:ext cx="6969600" cy="430887"/>
          </a:xfrm>
          <a:prstGeom prst="rect">
            <a:avLst/>
          </a:prstGeom>
          <a:noFill/>
        </p:spPr>
        <p:txBody>
          <a:bodyPr wrap="square" lIns="0" tIns="0" rIns="0" bIns="0">
            <a:spAutoFit/>
          </a:body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6AA34"/>
                </a:solidFill>
                <a:effectLst/>
                <a:uLnTx/>
                <a:uFillTx/>
                <a:latin typeface="HYRuiYiSong 80J" pitchFamily="18" charset="-122"/>
                <a:ea typeface="HYRuiYiSong 80J" pitchFamily="18" charset="-122"/>
                <a:cs typeface="SimHei"/>
                <a:sym typeface="SimHei"/>
              </a:rPr>
              <a:t>Pull</a:t>
            </a:r>
          </a:p>
        </p:txBody>
      </p:sp>
      <p:sp>
        <p:nvSpPr>
          <p:cNvPr id="18" name="文本框 17">
            <a:extLst>
              <a:ext uri="{FF2B5EF4-FFF2-40B4-BE49-F238E27FC236}">
                <a16:creationId xmlns:a16="http://schemas.microsoft.com/office/drawing/2014/main" id="{9B1829FB-96ED-40CA-9A6A-4DF4CD307D88}"/>
              </a:ext>
            </a:extLst>
          </p:cNvPr>
          <p:cNvSpPr txBox="1"/>
          <p:nvPr/>
        </p:nvSpPr>
        <p:spPr>
          <a:xfrm>
            <a:off x="8486523" y="4305812"/>
            <a:ext cx="6969600" cy="430887"/>
          </a:xfrm>
          <a:prstGeom prst="rect">
            <a:avLst/>
          </a:prstGeom>
          <a:noFill/>
        </p:spPr>
        <p:txBody>
          <a:bodyPr wrap="square" lIns="0" tIns="0" rIns="0" bIns="0">
            <a:spAutoFit/>
          </a:body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外部裹挟</a:t>
            </a:r>
            <a:endParaRPr lang="zh-CN" altLang="en-US" dirty="0"/>
          </a:p>
        </p:txBody>
      </p:sp>
      <p:sp>
        <p:nvSpPr>
          <p:cNvPr id="19" name="文本框 18">
            <a:extLst>
              <a:ext uri="{FF2B5EF4-FFF2-40B4-BE49-F238E27FC236}">
                <a16:creationId xmlns:a16="http://schemas.microsoft.com/office/drawing/2014/main" id="{3C24E432-9E06-A948-FEF7-ADFABC31870B}"/>
              </a:ext>
            </a:extLst>
          </p:cNvPr>
          <p:cNvSpPr txBox="1"/>
          <p:nvPr/>
        </p:nvSpPr>
        <p:spPr>
          <a:xfrm>
            <a:off x="8486523" y="5649132"/>
            <a:ext cx="6969600" cy="1508170"/>
          </a:xfrm>
          <a:prstGeom prst="rect">
            <a:avLst/>
          </a:prstGeom>
          <a:noFill/>
        </p:spPr>
        <p:txBody>
          <a:bodyPr wrap="square" lIns="0" tIns="0" rIns="0" bIns="0">
            <a:spAutoFit/>
          </a:bodyPr>
          <a:lstStyle/>
          <a:p>
            <a:pPr>
              <a:lnSpc>
                <a:spcPct val="125000"/>
              </a:lnSpc>
              <a:defRPr/>
            </a:pPr>
            <a:r>
              <a:rPr lang="en-US" altLang="zh-CN" sz="2000" dirty="0">
                <a:solidFill>
                  <a:srgbClr val="151515"/>
                </a:solidFill>
                <a:latin typeface="MiSans VF Light" pitchFamily="2" charset="-122"/>
                <a:ea typeface="MiSans VF Light" pitchFamily="2" charset="-122"/>
                <a:cs typeface="MiSans VF Light" pitchFamily="2" charset="-122"/>
                <a:sym typeface="SimHei"/>
              </a:rPr>
              <a:t>19</a:t>
            </a:r>
            <a:r>
              <a:rPr lang="zh-CN" altLang="en-US" sz="2000" dirty="0">
                <a:solidFill>
                  <a:srgbClr val="151515"/>
                </a:solidFill>
                <a:latin typeface="MiSans VF Light" pitchFamily="2" charset="-122"/>
                <a:ea typeface="MiSans VF Light" pitchFamily="2" charset="-122"/>
                <a:cs typeface="MiSans VF Light" pitchFamily="2" charset="-122"/>
                <a:sym typeface="SimHei"/>
              </a:rPr>
              <a:t>世纪中叶后，西方殖民者在东南亚大规模开发矿山和种植园，急需廉价劳动力，清政府被迫签订条约允许招募华工。殖民者通过诱骗、绑架等手段，将大批潮汕人当作契约华工（“猪仔”）贩卖出海。</a:t>
            </a: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0" name="文本框 19">
            <a:extLst>
              <a:ext uri="{FF2B5EF4-FFF2-40B4-BE49-F238E27FC236}">
                <a16:creationId xmlns:a16="http://schemas.microsoft.com/office/drawing/2014/main" id="{0A88A6F0-EA4C-5D4E-3C2C-8C952F5A4067}"/>
              </a:ext>
            </a:extLst>
          </p:cNvPr>
          <p:cNvSpPr txBox="1"/>
          <p:nvPr/>
        </p:nvSpPr>
        <p:spPr>
          <a:xfrm>
            <a:off x="8486523" y="4829032"/>
            <a:ext cx="6969600" cy="354008"/>
          </a:xfrm>
          <a:prstGeom prst="rect">
            <a:avLst/>
          </a:prstGeom>
          <a:noFill/>
        </p:spPr>
        <p:txBody>
          <a:bodyPr wrap="square" lIns="0" tIns="0" rIns="0" bIns="0">
            <a:spAutoFit/>
          </a:body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外部殖民扩张与“契约劳工”制度的裹挟</a:t>
            </a:r>
            <a:endPar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4168519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5B0ABF6C-5A02-CB53-143E-3B9F61E8C677}"/>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15FD3ED5-6C13-0028-D9C3-CB8A24786B53}"/>
              </a:ext>
            </a:extLst>
          </p:cNvPr>
          <p:cNvSpPr/>
          <p:nvPr/>
        </p:nvSpPr>
        <p:spPr>
          <a:xfrm>
            <a:off x="487679" y="1034024"/>
            <a:ext cx="15280639"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rPr>
              <a:t>潮汕海外侨胞</a:t>
            </a: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都分布在哪？</a:t>
            </a:r>
            <a:endPar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10AA0476-783D-709D-DD68-0CC0F7EA0C41}"/>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A85B72DD-8810-7617-FD27-C8E49E79EE6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06</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616E5D2B-993A-A438-DA34-12A030C1BE7A}"/>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3" name="AutoShape 4">
            <a:extLst>
              <a:ext uri="{FF2B5EF4-FFF2-40B4-BE49-F238E27FC236}">
                <a16:creationId xmlns:a16="http://schemas.microsoft.com/office/drawing/2014/main" id="{50364128-D6FE-5EA2-0D2C-C088A9375BB2}"/>
              </a:ext>
            </a:extLst>
          </p:cNvPr>
          <p:cNvSpPr/>
          <p:nvPr/>
        </p:nvSpPr>
        <p:spPr>
          <a:xfrm>
            <a:off x="487680" y="3347634"/>
            <a:ext cx="5046846" cy="4602996"/>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6" name="AutoShape 5">
            <a:extLst>
              <a:ext uri="{FF2B5EF4-FFF2-40B4-BE49-F238E27FC236}">
                <a16:creationId xmlns:a16="http://schemas.microsoft.com/office/drawing/2014/main" id="{5ABA0B1B-EF5E-4FF2-66A5-3EBFC40D7D20}"/>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SimHei"/>
              </a:rPr>
              <a:t>泰国、新加坡、马来西亚、印尼等数十个国家和地区</a:t>
            </a:r>
          </a:p>
        </p:txBody>
      </p:sp>
      <p:sp>
        <p:nvSpPr>
          <p:cNvPr id="8" name="文本框 6">
            <a:extLst>
              <a:ext uri="{FF2B5EF4-FFF2-40B4-BE49-F238E27FC236}">
                <a16:creationId xmlns:a16="http://schemas.microsoft.com/office/drawing/2014/main" id="{8BB8DC05-D7EE-534A-1986-D0E6A251A346}"/>
              </a:ext>
            </a:extLst>
          </p:cNvPr>
          <p:cNvSpPr txBox="1"/>
          <p:nvPr/>
        </p:nvSpPr>
        <p:spPr>
          <a:xfrm>
            <a:off x="842346"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6AA34"/>
                </a:solidFill>
                <a:effectLst/>
                <a:uLnTx/>
                <a:uFillTx/>
                <a:latin typeface="HYRuiYiSong 80J" pitchFamily="18" charset="-122"/>
                <a:ea typeface="HYRuiYiSong 80J" pitchFamily="18" charset="-122"/>
                <a:cs typeface="SimHei"/>
                <a:sym typeface="SimHei"/>
              </a:rPr>
              <a:t>01</a:t>
            </a:r>
          </a:p>
        </p:txBody>
      </p:sp>
      <p:sp>
        <p:nvSpPr>
          <p:cNvPr id="9" name="文本框 8">
            <a:extLst>
              <a:ext uri="{FF2B5EF4-FFF2-40B4-BE49-F238E27FC236}">
                <a16:creationId xmlns:a16="http://schemas.microsoft.com/office/drawing/2014/main" id="{2216FA03-3173-3466-A74E-B0CB1D410699}"/>
              </a:ext>
            </a:extLst>
          </p:cNvPr>
          <p:cNvSpPr txBox="1"/>
          <p:nvPr/>
        </p:nvSpPr>
        <p:spPr>
          <a:xfrm>
            <a:off x="842346"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泰国</a:t>
            </a:r>
            <a:endParaRPr lang="zh-CN" altLang="en-US" dirty="0"/>
          </a:p>
        </p:txBody>
      </p:sp>
      <p:sp>
        <p:nvSpPr>
          <p:cNvPr id="10" name="文本框 13">
            <a:extLst>
              <a:ext uri="{FF2B5EF4-FFF2-40B4-BE49-F238E27FC236}">
                <a16:creationId xmlns:a16="http://schemas.microsoft.com/office/drawing/2014/main" id="{385FB76C-8A05-B3D2-BC41-EB1DB0EE29DD}"/>
              </a:ext>
            </a:extLst>
          </p:cNvPr>
          <p:cNvSpPr txBox="1"/>
          <p:nvPr/>
        </p:nvSpPr>
        <p:spPr>
          <a:xfrm>
            <a:off x="842346" y="5629416"/>
            <a:ext cx="4337514"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泰国是全球潮汕人最多的聚居地，曼谷素有</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小潮州</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之称。</a:t>
            </a:r>
          </a:p>
        </p:txBody>
      </p:sp>
      <p:sp>
        <p:nvSpPr>
          <p:cNvPr id="14" name="文本框 14">
            <a:extLst>
              <a:ext uri="{FF2B5EF4-FFF2-40B4-BE49-F238E27FC236}">
                <a16:creationId xmlns:a16="http://schemas.microsoft.com/office/drawing/2014/main" id="{7F49B55B-323D-BFE0-2581-C43C5937BEA7}"/>
              </a:ext>
            </a:extLst>
          </p:cNvPr>
          <p:cNvSpPr txBox="1"/>
          <p:nvPr/>
        </p:nvSpPr>
        <p:spPr>
          <a:xfrm>
            <a:off x="842346"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600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800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万人</a:t>
            </a:r>
          </a:p>
        </p:txBody>
      </p:sp>
      <p:sp>
        <p:nvSpPr>
          <p:cNvPr id="15" name="AutoShape 4">
            <a:extLst>
              <a:ext uri="{FF2B5EF4-FFF2-40B4-BE49-F238E27FC236}">
                <a16:creationId xmlns:a16="http://schemas.microsoft.com/office/drawing/2014/main" id="{4F672081-CAAA-3F0D-2890-2390B2C34A3D}"/>
              </a:ext>
            </a:extLst>
          </p:cNvPr>
          <p:cNvSpPr/>
          <p:nvPr/>
        </p:nvSpPr>
        <p:spPr>
          <a:xfrm>
            <a:off x="5582195" y="3347634"/>
            <a:ext cx="5046846" cy="4602996"/>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16" name="文本框 6">
            <a:extLst>
              <a:ext uri="{FF2B5EF4-FFF2-40B4-BE49-F238E27FC236}">
                <a16:creationId xmlns:a16="http://schemas.microsoft.com/office/drawing/2014/main" id="{CBBEA37B-25FB-11C5-0967-CB346058D0B3}"/>
              </a:ext>
            </a:extLst>
          </p:cNvPr>
          <p:cNvSpPr txBox="1"/>
          <p:nvPr/>
        </p:nvSpPr>
        <p:spPr>
          <a:xfrm>
            <a:off x="5936861"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6AA34"/>
                </a:solidFill>
                <a:effectLst/>
                <a:uLnTx/>
                <a:uFillTx/>
                <a:latin typeface="HYRuiYiSong 80J" pitchFamily="18" charset="-122"/>
                <a:ea typeface="HYRuiYiSong 80J" pitchFamily="18" charset="-122"/>
                <a:cs typeface="SimHei"/>
                <a:sym typeface="SimHei"/>
              </a:rPr>
              <a:t>02</a:t>
            </a:r>
          </a:p>
        </p:txBody>
      </p:sp>
      <p:sp>
        <p:nvSpPr>
          <p:cNvPr id="17" name="文本框 16">
            <a:extLst>
              <a:ext uri="{FF2B5EF4-FFF2-40B4-BE49-F238E27FC236}">
                <a16:creationId xmlns:a16="http://schemas.microsoft.com/office/drawing/2014/main" id="{1F928A72-505D-43AE-6724-4F2E4F4A2BF4}"/>
              </a:ext>
            </a:extLst>
          </p:cNvPr>
          <p:cNvSpPr txBox="1"/>
          <p:nvPr/>
        </p:nvSpPr>
        <p:spPr>
          <a:xfrm>
            <a:off x="5936861"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印度尼西亚</a:t>
            </a:r>
            <a:endParaRPr lang="zh-CN" altLang="en-US" dirty="0"/>
          </a:p>
        </p:txBody>
      </p:sp>
      <p:sp>
        <p:nvSpPr>
          <p:cNvPr id="18" name="文本框 13">
            <a:extLst>
              <a:ext uri="{FF2B5EF4-FFF2-40B4-BE49-F238E27FC236}">
                <a16:creationId xmlns:a16="http://schemas.microsoft.com/office/drawing/2014/main" id="{5F8A0734-A192-D260-8D6F-35EE8F204435}"/>
              </a:ext>
            </a:extLst>
          </p:cNvPr>
          <p:cNvSpPr txBox="1"/>
          <p:nvPr/>
        </p:nvSpPr>
        <p:spPr>
          <a:xfrm>
            <a:off x="5936861" y="5629416"/>
            <a:ext cx="4337514"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印度尼西亚的潮汕侨胞主要集中在西加里曼丹、雅加达等地。</a:t>
            </a:r>
          </a:p>
        </p:txBody>
      </p:sp>
      <p:sp>
        <p:nvSpPr>
          <p:cNvPr id="19" name="文本框 14">
            <a:extLst>
              <a:ext uri="{FF2B5EF4-FFF2-40B4-BE49-F238E27FC236}">
                <a16:creationId xmlns:a16="http://schemas.microsoft.com/office/drawing/2014/main" id="{69743937-BB83-F3EE-3ACB-4311B6FAF9E3}"/>
              </a:ext>
            </a:extLst>
          </p:cNvPr>
          <p:cNvSpPr txBox="1"/>
          <p:nvPr/>
        </p:nvSpPr>
        <p:spPr>
          <a:xfrm>
            <a:off x="5936861"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200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a:t>
            </a:r>
            <a:r>
              <a:rPr lang="en-US" altLang="zh-CN" sz="2000" dirty="0">
                <a:solidFill>
                  <a:srgbClr val="151515"/>
                </a:solidFill>
                <a:latin typeface="MiSans VF Light" pitchFamily="2" charset="-122"/>
                <a:ea typeface="MiSans VF Light" pitchFamily="2" charset="-122"/>
                <a:cs typeface="MiSans VF Light" pitchFamily="2" charset="-122"/>
                <a:sym typeface="SimHei"/>
              </a:rPr>
              <a:t>3</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00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万人</a:t>
            </a:r>
          </a:p>
        </p:txBody>
      </p:sp>
      <p:sp>
        <p:nvSpPr>
          <p:cNvPr id="20" name="AutoShape 4">
            <a:extLst>
              <a:ext uri="{FF2B5EF4-FFF2-40B4-BE49-F238E27FC236}">
                <a16:creationId xmlns:a16="http://schemas.microsoft.com/office/drawing/2014/main" id="{645B1042-6F02-7D6E-1848-BC159B40B126}"/>
              </a:ext>
            </a:extLst>
          </p:cNvPr>
          <p:cNvSpPr/>
          <p:nvPr/>
        </p:nvSpPr>
        <p:spPr>
          <a:xfrm>
            <a:off x="10676709" y="3347634"/>
            <a:ext cx="5046846" cy="4602996"/>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1" name="文本框 6">
            <a:extLst>
              <a:ext uri="{FF2B5EF4-FFF2-40B4-BE49-F238E27FC236}">
                <a16:creationId xmlns:a16="http://schemas.microsoft.com/office/drawing/2014/main" id="{9EB8A6DC-A3A6-A782-4175-DFEA839F06AD}"/>
              </a:ext>
            </a:extLst>
          </p:cNvPr>
          <p:cNvSpPr txBox="1"/>
          <p:nvPr/>
        </p:nvSpPr>
        <p:spPr>
          <a:xfrm>
            <a:off x="11031375" y="376287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spcBef>
                <a:spcPts val="0"/>
              </a:spcBef>
              <a:spcAft>
                <a:spcPts val="0"/>
              </a:spcAft>
              <a:buClr>
                <a:srgbClr val="000000"/>
              </a:buClr>
              <a:buSzTx/>
              <a:buFont typeface="Arial"/>
              <a:buNone/>
              <a:tabLst/>
              <a:defRPr/>
            </a:pPr>
            <a:r>
              <a:rPr kumimoji="0" lang="en-US" altLang="zh-CN" sz="2800" b="0" i="0" u="none" strike="noStrike" kern="0" cap="none" spc="0" normalizeH="0" baseline="0" noProof="0" dirty="0">
                <a:ln>
                  <a:noFill/>
                </a:ln>
                <a:solidFill>
                  <a:srgbClr val="A6AA34"/>
                </a:solidFill>
                <a:effectLst/>
                <a:uLnTx/>
                <a:uFillTx/>
                <a:latin typeface="HYRuiYiSong 80J" pitchFamily="18" charset="-122"/>
                <a:ea typeface="HYRuiYiSong 80J" pitchFamily="18" charset="-122"/>
                <a:cs typeface="SimHei"/>
                <a:sym typeface="SimHei"/>
              </a:rPr>
              <a:t>03</a:t>
            </a:r>
          </a:p>
        </p:txBody>
      </p:sp>
      <p:sp>
        <p:nvSpPr>
          <p:cNvPr id="22" name="文本框 21">
            <a:extLst>
              <a:ext uri="{FF2B5EF4-FFF2-40B4-BE49-F238E27FC236}">
                <a16:creationId xmlns:a16="http://schemas.microsoft.com/office/drawing/2014/main" id="{03FE66C8-84D7-EE51-C7F2-42878ED072AB}"/>
              </a:ext>
            </a:extLst>
          </p:cNvPr>
          <p:cNvSpPr txBox="1"/>
          <p:nvPr/>
        </p:nvSpPr>
        <p:spPr>
          <a:xfrm>
            <a:off x="11031375" y="4286096"/>
            <a:ext cx="4337514"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马来西亚</a:t>
            </a:r>
            <a:endParaRPr lang="zh-CN" altLang="en-US" dirty="0"/>
          </a:p>
        </p:txBody>
      </p:sp>
      <p:sp>
        <p:nvSpPr>
          <p:cNvPr id="23" name="文本框 13">
            <a:extLst>
              <a:ext uri="{FF2B5EF4-FFF2-40B4-BE49-F238E27FC236}">
                <a16:creationId xmlns:a16="http://schemas.microsoft.com/office/drawing/2014/main" id="{1563752B-E3CE-D5E4-E02A-9844C27FC5C4}"/>
              </a:ext>
            </a:extLst>
          </p:cNvPr>
          <p:cNvSpPr txBox="1"/>
          <p:nvPr/>
        </p:nvSpPr>
        <p:spPr>
          <a:xfrm>
            <a:off x="11031375" y="5629416"/>
            <a:ext cx="4337514" cy="1123449"/>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马来西亚的潮汕侨胞多聚居在槟城、新山（</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小汕头</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）；其余较集中的还有新加坡约</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45</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万、香港约</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100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多万。</a:t>
            </a:r>
          </a:p>
        </p:txBody>
      </p:sp>
      <p:sp>
        <p:nvSpPr>
          <p:cNvPr id="24" name="文本框 14">
            <a:extLst>
              <a:ext uri="{FF2B5EF4-FFF2-40B4-BE49-F238E27FC236}">
                <a16:creationId xmlns:a16="http://schemas.microsoft.com/office/drawing/2014/main" id="{7361785A-7E01-1B27-ACBE-76D1669D275D}"/>
              </a:ext>
            </a:extLst>
          </p:cNvPr>
          <p:cNvSpPr txBox="1"/>
          <p:nvPr/>
        </p:nvSpPr>
        <p:spPr>
          <a:xfrm>
            <a:off x="11031375" y="4809316"/>
            <a:ext cx="433751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约 </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70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80</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万人</a:t>
            </a:r>
          </a:p>
        </p:txBody>
      </p:sp>
    </p:spTree>
    <p:extLst>
      <p:ext uri="{BB962C8B-B14F-4D97-AF65-F5344CB8AC3E}">
        <p14:creationId xmlns:p14="http://schemas.microsoft.com/office/powerpoint/2010/main" val="336503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9BC0660E-C227-94B4-6FD9-A199064CA757}"/>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9DFC3189-7C85-3460-EB20-84375BEC9B33}"/>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8704CF2B-A7C5-FF47-D000-32C06D861CE7}"/>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07</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AEB05BEB-A63F-5AE7-D9B6-14DAB4809D37}"/>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6AA3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6AA3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CA4BFCF1-D45F-E79D-4FDA-D8F923B1AD92}"/>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潮汕华侨从“卖身求存”到“掌控一方”的阶层跃迁</a:t>
            </a:r>
            <a:endParaRPr lang="en-US" sz="2400" dirty="0">
              <a:solidFill>
                <a:srgbClr val="F2F1EC">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6B42F878-C5AD-73AC-D1F5-BC66C411101A}"/>
              </a:ext>
            </a:extLst>
          </p:cNvPr>
          <p:cNvSpPr/>
          <p:nvPr/>
        </p:nvSpPr>
        <p:spPr>
          <a:xfrm>
            <a:off x="487680" y="3741853"/>
            <a:ext cx="11680640"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拓荒：</a:t>
            </a:r>
            <a:endParaRPr lang="en-US" altLang="zh-CN"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从苦力到甲必丹的崛起</a:t>
            </a:r>
          </a:p>
        </p:txBody>
      </p:sp>
      <p:sp>
        <p:nvSpPr>
          <p:cNvPr id="9" name="AutoShape 4">
            <a:extLst>
              <a:ext uri="{FF2B5EF4-FFF2-40B4-BE49-F238E27FC236}">
                <a16:creationId xmlns:a16="http://schemas.microsoft.com/office/drawing/2014/main" id="{2D88C657-E2B7-AD5A-F00B-65507CCFB255}"/>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CB0D7B63-2CC6-0B25-2547-7F2EA7CBD0B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6AA34"/>
                </a:solidFill>
                <a:latin typeface="Didot" panose="02000503000000020003" pitchFamily="2" charset="-79"/>
                <a:ea typeface="HYRuiYiSong 80J" pitchFamily="18" charset="-122"/>
                <a:cs typeface="Didot" panose="02000503000000020003" pitchFamily="2" charset="-79"/>
                <a:sym typeface="Bricolage Grotesque"/>
              </a:rPr>
              <a:t>002</a:t>
            </a:r>
            <a:endParaRPr lang="zh-CN" altLang="en-US" sz="8000" b="1" i="1" u="none" strike="noStrike" dirty="0">
              <a:solidFill>
                <a:srgbClr val="A6AA3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1763760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9C3AC5A0-BB74-7352-1816-551D05F452D1}"/>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83AAA41-82E5-01E0-9D3B-7F58D9CCEB74}"/>
              </a:ext>
            </a:extLst>
          </p:cNvPr>
          <p:cNvSpPr/>
          <p:nvPr/>
        </p:nvSpPr>
        <p:spPr>
          <a:xfrm>
            <a:off x="487680" y="1034024"/>
            <a:ext cx="1463040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潮侨南洋四大营生数据</a:t>
            </a:r>
            <a:endParaRPr lang="zh-CN" altLang="en-US" sz="60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p:txBody>
      </p:sp>
      <p:sp>
        <p:nvSpPr>
          <p:cNvPr id="11" name="AutoShape 2">
            <a:extLst>
              <a:ext uri="{FF2B5EF4-FFF2-40B4-BE49-F238E27FC236}">
                <a16:creationId xmlns:a16="http://schemas.microsoft.com/office/drawing/2014/main" id="{97E5D629-3FAF-BB0C-24DB-A882644B95EF}"/>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AAF2DFC0-2429-8B2A-A190-BBBBC3B652E7}"/>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08</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6D19453F-D0D2-F196-48F9-F7A40D014292}"/>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3" name="AutoShape 4">
            <a:extLst>
              <a:ext uri="{FF2B5EF4-FFF2-40B4-BE49-F238E27FC236}">
                <a16:creationId xmlns:a16="http://schemas.microsoft.com/office/drawing/2014/main" id="{549B84D7-A12C-EF25-196F-9DECEB4B4772}"/>
              </a:ext>
            </a:extLst>
          </p:cNvPr>
          <p:cNvSpPr/>
          <p:nvPr/>
        </p:nvSpPr>
        <p:spPr>
          <a:xfrm>
            <a:off x="487680" y="3347634"/>
            <a:ext cx="7557078" cy="2284239"/>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6" name="AutoShape 5">
            <a:extLst>
              <a:ext uri="{FF2B5EF4-FFF2-40B4-BE49-F238E27FC236}">
                <a16:creationId xmlns:a16="http://schemas.microsoft.com/office/drawing/2014/main" id="{9B47B2DD-FA3D-37E8-FBF5-80B2E3DD366A}"/>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SimHei"/>
              </a:rPr>
              <a:t>数据基于</a:t>
            </a:r>
            <a:r>
              <a:rPr lang="en-US" altLang="zh-CN" sz="2400" dirty="0">
                <a:solidFill>
                  <a:srgbClr val="151515"/>
                </a:solidFill>
                <a:latin typeface="MiSans VF Light" pitchFamily="2" charset="-122"/>
                <a:ea typeface="MiSans VF Light" pitchFamily="2" charset="-122"/>
                <a:cs typeface="MiSans VF Light" pitchFamily="2" charset="-122"/>
                <a:sym typeface="SimHei"/>
              </a:rPr>
              <a:t>19</a:t>
            </a:r>
            <a:r>
              <a:rPr lang="zh-CN" altLang="en-US" sz="2400" dirty="0">
                <a:solidFill>
                  <a:srgbClr val="151515"/>
                </a:solidFill>
                <a:latin typeface="MiSans VF Light" pitchFamily="2" charset="-122"/>
                <a:ea typeface="MiSans VF Light" pitchFamily="2" charset="-122"/>
                <a:cs typeface="MiSans VF Light" pitchFamily="2" charset="-122"/>
                <a:sym typeface="SimHei"/>
              </a:rPr>
              <a:t>世纪末至</a:t>
            </a:r>
            <a:r>
              <a:rPr lang="en-US" altLang="zh-CN" sz="2400" dirty="0">
                <a:solidFill>
                  <a:srgbClr val="151515"/>
                </a:solidFill>
                <a:latin typeface="MiSans VF Light" pitchFamily="2" charset="-122"/>
                <a:ea typeface="MiSans VF Light" pitchFamily="2" charset="-122"/>
                <a:cs typeface="MiSans VF Light" pitchFamily="2" charset="-122"/>
                <a:sym typeface="SimHei"/>
              </a:rPr>
              <a:t>20</a:t>
            </a:r>
            <a:r>
              <a:rPr lang="zh-CN" altLang="en-US" sz="2400" dirty="0">
                <a:solidFill>
                  <a:srgbClr val="151515"/>
                </a:solidFill>
                <a:latin typeface="MiSans VF Light" pitchFamily="2" charset="-122"/>
                <a:ea typeface="MiSans VF Light" pitchFamily="2" charset="-122"/>
                <a:cs typeface="MiSans VF Light" pitchFamily="2" charset="-122"/>
                <a:sym typeface="SimHei"/>
              </a:rPr>
              <a:t>世纪初契约华工及早期自由移民的行业分布估算</a:t>
            </a:r>
          </a:p>
        </p:txBody>
      </p:sp>
      <p:sp>
        <p:nvSpPr>
          <p:cNvPr id="5" name="文本框 4">
            <a:extLst>
              <a:ext uri="{FF2B5EF4-FFF2-40B4-BE49-F238E27FC236}">
                <a16:creationId xmlns:a16="http://schemas.microsoft.com/office/drawing/2014/main" id="{697B2744-452B-0ADA-0E4D-458F66693DAF}"/>
              </a:ext>
            </a:extLst>
          </p:cNvPr>
          <p:cNvSpPr txBox="1"/>
          <p:nvPr/>
        </p:nvSpPr>
        <p:spPr>
          <a:xfrm>
            <a:off x="839926" y="40880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锡矿开采</a:t>
            </a:r>
            <a:endParaRPr lang="zh-CN" altLang="en-US" dirty="0"/>
          </a:p>
        </p:txBody>
      </p:sp>
      <p:sp>
        <p:nvSpPr>
          <p:cNvPr id="9" name="文本框 14">
            <a:extLst>
              <a:ext uri="{FF2B5EF4-FFF2-40B4-BE49-F238E27FC236}">
                <a16:creationId xmlns:a16="http://schemas.microsoft.com/office/drawing/2014/main" id="{732C285C-E278-A261-9861-8C80EDC22904}"/>
              </a:ext>
            </a:extLst>
          </p:cNvPr>
          <p:cNvSpPr txBox="1"/>
          <p:nvPr/>
        </p:nvSpPr>
        <p:spPr>
          <a:xfrm>
            <a:off x="853160" y="35980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约占 </a:t>
            </a:r>
            <a:r>
              <a:rPr kumimoji="0" lang="en-US" altLang="zh-CN"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30%</a:t>
            </a:r>
          </a:p>
        </p:txBody>
      </p:sp>
      <p:sp>
        <p:nvSpPr>
          <p:cNvPr id="15" name="文本框 14">
            <a:extLst>
              <a:ext uri="{FF2B5EF4-FFF2-40B4-BE49-F238E27FC236}">
                <a16:creationId xmlns:a16="http://schemas.microsoft.com/office/drawing/2014/main" id="{7C64872D-CCAB-A734-9E45-609DC400F3AD}"/>
              </a:ext>
            </a:extLst>
          </p:cNvPr>
          <p:cNvSpPr txBox="1"/>
          <p:nvPr/>
        </p:nvSpPr>
        <p:spPr>
          <a:xfrm>
            <a:off x="839926" y="4605266"/>
            <a:ext cx="6685128"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集中于马来亚与印尼，从事高危井下作业的重体力</a:t>
            </a:r>
            <a:r>
              <a:rPr lang="zh-CN" altLang="en-US" sz="2000" dirty="0">
                <a:solidFill>
                  <a:srgbClr val="151515"/>
                </a:solidFill>
                <a:latin typeface="MiSans VF Light" pitchFamily="2" charset="-122"/>
                <a:ea typeface="MiSans VF Light" pitchFamily="2" charset="-122"/>
                <a:cs typeface="MiSans VF Light" pitchFamily="2" charset="-122"/>
                <a:sym typeface="SimHei"/>
              </a:rPr>
              <a:t>劳动。</a:t>
            </a:r>
          </a:p>
        </p:txBody>
      </p:sp>
      <p:sp>
        <p:nvSpPr>
          <p:cNvPr id="16" name="AutoShape 4">
            <a:extLst>
              <a:ext uri="{FF2B5EF4-FFF2-40B4-BE49-F238E27FC236}">
                <a16:creationId xmlns:a16="http://schemas.microsoft.com/office/drawing/2014/main" id="{592DDF1E-69A2-8E8C-841B-4102476008A8}"/>
              </a:ext>
            </a:extLst>
          </p:cNvPr>
          <p:cNvSpPr/>
          <p:nvPr/>
        </p:nvSpPr>
        <p:spPr>
          <a:xfrm>
            <a:off x="8141547" y="3347634"/>
            <a:ext cx="7557078" cy="2284239"/>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17" name="文本框 16">
            <a:extLst>
              <a:ext uri="{FF2B5EF4-FFF2-40B4-BE49-F238E27FC236}">
                <a16:creationId xmlns:a16="http://schemas.microsoft.com/office/drawing/2014/main" id="{C893FF22-45D0-4A88-7A15-E7201E7D6282}"/>
              </a:ext>
            </a:extLst>
          </p:cNvPr>
          <p:cNvSpPr txBox="1"/>
          <p:nvPr/>
        </p:nvSpPr>
        <p:spPr>
          <a:xfrm>
            <a:off x="8493793" y="40880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zh-CN" altLang="en-US" sz="2800" b="1" dirty="0">
                <a:solidFill>
                  <a:srgbClr val="151515"/>
                </a:solidFill>
                <a:latin typeface="Source Han Serif SC Heavy" panose="02020400000000000000" pitchFamily="18" charset="-128"/>
                <a:ea typeface="Source Han Serif SC Heavy" panose="02020400000000000000" pitchFamily="18" charset="-128"/>
                <a:sym typeface="SimHei"/>
              </a:rPr>
              <a:t>橡胶与胡椒种植</a:t>
            </a:r>
            <a:endParaRPr lang="zh-CN" altLang="en-US" dirty="0"/>
          </a:p>
        </p:txBody>
      </p:sp>
      <p:sp>
        <p:nvSpPr>
          <p:cNvPr id="18" name="文本框 14">
            <a:extLst>
              <a:ext uri="{FF2B5EF4-FFF2-40B4-BE49-F238E27FC236}">
                <a16:creationId xmlns:a16="http://schemas.microsoft.com/office/drawing/2014/main" id="{99E04641-D329-24CF-5E29-19F6CAC2F88F}"/>
              </a:ext>
            </a:extLst>
          </p:cNvPr>
          <p:cNvSpPr txBox="1"/>
          <p:nvPr/>
        </p:nvSpPr>
        <p:spPr>
          <a:xfrm>
            <a:off x="8507027" y="35980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约占 </a:t>
            </a:r>
            <a:r>
              <a:rPr lang="en-US" altLang="zh-CN" sz="2000" dirty="0">
                <a:solidFill>
                  <a:srgbClr val="A6AA34"/>
                </a:solidFill>
                <a:latin typeface="MISANS VF MEDIUM" pitchFamily="2" charset="-122"/>
                <a:ea typeface="MISANS VF MEDIUM" pitchFamily="2" charset="-122"/>
                <a:cs typeface="MISANS VF MEDIUM" pitchFamily="2" charset="-122"/>
                <a:sym typeface="SimHei"/>
              </a:rPr>
              <a:t>25</a:t>
            </a:r>
            <a:r>
              <a:rPr kumimoji="0" lang="en-US" altLang="zh-CN"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a:t>
            </a:r>
          </a:p>
        </p:txBody>
      </p:sp>
      <p:sp>
        <p:nvSpPr>
          <p:cNvPr id="19" name="文本框 18">
            <a:extLst>
              <a:ext uri="{FF2B5EF4-FFF2-40B4-BE49-F238E27FC236}">
                <a16:creationId xmlns:a16="http://schemas.microsoft.com/office/drawing/2014/main" id="{133F5B60-0DD7-9289-8BF1-A3721DBE799B}"/>
              </a:ext>
            </a:extLst>
          </p:cNvPr>
          <p:cNvSpPr txBox="1"/>
          <p:nvPr/>
        </p:nvSpPr>
        <p:spPr>
          <a:xfrm>
            <a:off x="8493793" y="4605266"/>
            <a:ext cx="6685128"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服务于英国、荷兰的殖民种植园，后期部分转为园主。</a:t>
            </a:r>
            <a:endParaRPr lang="zh-CN" altLang="en-US"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0" name="AutoShape 4">
            <a:extLst>
              <a:ext uri="{FF2B5EF4-FFF2-40B4-BE49-F238E27FC236}">
                <a16:creationId xmlns:a16="http://schemas.microsoft.com/office/drawing/2014/main" id="{4E784337-A986-83A5-B13E-D11EB4690FEC}"/>
              </a:ext>
            </a:extLst>
          </p:cNvPr>
          <p:cNvSpPr/>
          <p:nvPr/>
        </p:nvSpPr>
        <p:spPr>
          <a:xfrm>
            <a:off x="487680" y="5735234"/>
            <a:ext cx="7557078" cy="2284239"/>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1" name="文本框 20">
            <a:extLst>
              <a:ext uri="{FF2B5EF4-FFF2-40B4-BE49-F238E27FC236}">
                <a16:creationId xmlns:a16="http://schemas.microsoft.com/office/drawing/2014/main" id="{7A02A041-329E-BF65-EF29-06B969AD1D34}"/>
              </a:ext>
            </a:extLst>
          </p:cNvPr>
          <p:cNvSpPr txBox="1"/>
          <p:nvPr/>
        </p:nvSpPr>
        <p:spPr>
          <a:xfrm>
            <a:off x="839926" y="64756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搬运与基建</a:t>
            </a:r>
            <a:endParaRPr lang="zh-CN" altLang="en-US" dirty="0"/>
          </a:p>
        </p:txBody>
      </p:sp>
      <p:sp>
        <p:nvSpPr>
          <p:cNvPr id="22" name="文本框 14">
            <a:extLst>
              <a:ext uri="{FF2B5EF4-FFF2-40B4-BE49-F238E27FC236}">
                <a16:creationId xmlns:a16="http://schemas.microsoft.com/office/drawing/2014/main" id="{235DEDDA-C407-41B2-EEB8-97D71ACE3A41}"/>
              </a:ext>
            </a:extLst>
          </p:cNvPr>
          <p:cNvSpPr txBox="1"/>
          <p:nvPr/>
        </p:nvSpPr>
        <p:spPr>
          <a:xfrm>
            <a:off x="853160" y="59856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约占 </a:t>
            </a:r>
            <a:r>
              <a:rPr lang="en-US" altLang="zh-CN" sz="2000" dirty="0">
                <a:solidFill>
                  <a:srgbClr val="A6AA34"/>
                </a:solidFill>
                <a:latin typeface="MISANS VF MEDIUM" pitchFamily="2" charset="-122"/>
                <a:ea typeface="MISANS VF MEDIUM" pitchFamily="2" charset="-122"/>
                <a:cs typeface="MISANS VF MEDIUM" pitchFamily="2" charset="-122"/>
                <a:sym typeface="SimHei"/>
              </a:rPr>
              <a:t>2</a:t>
            </a:r>
            <a:r>
              <a:rPr kumimoji="0" lang="en-US" altLang="zh-CN"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0%</a:t>
            </a:r>
          </a:p>
        </p:txBody>
      </p:sp>
      <p:sp>
        <p:nvSpPr>
          <p:cNvPr id="23" name="文本框 22">
            <a:extLst>
              <a:ext uri="{FF2B5EF4-FFF2-40B4-BE49-F238E27FC236}">
                <a16:creationId xmlns:a16="http://schemas.microsoft.com/office/drawing/2014/main" id="{8315193C-BAF8-80EF-703D-D601C17064FD}"/>
              </a:ext>
            </a:extLst>
          </p:cNvPr>
          <p:cNvSpPr txBox="1"/>
          <p:nvPr/>
        </p:nvSpPr>
        <p:spPr>
          <a:xfrm>
            <a:off x="839926" y="6992866"/>
            <a:ext cx="6685128"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码头扛大包、深山修铁路，初到南洋的潮汕人大多从最底层的高强度苦力做起。</a:t>
            </a:r>
            <a:endParaRPr lang="zh-CN" altLang="en-US"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4" name="AutoShape 4">
            <a:extLst>
              <a:ext uri="{FF2B5EF4-FFF2-40B4-BE49-F238E27FC236}">
                <a16:creationId xmlns:a16="http://schemas.microsoft.com/office/drawing/2014/main" id="{F00F3D97-633A-BD75-E964-BB3D7ED632D7}"/>
              </a:ext>
            </a:extLst>
          </p:cNvPr>
          <p:cNvSpPr/>
          <p:nvPr/>
        </p:nvSpPr>
        <p:spPr>
          <a:xfrm>
            <a:off x="8141546" y="5735234"/>
            <a:ext cx="7557078" cy="2284239"/>
          </a:xfrm>
          <a:prstGeom prst="roundRect">
            <a:avLst>
              <a:gd name="adj" fmla="val 0"/>
            </a:avLst>
          </a:prstGeom>
          <a:solidFill>
            <a:srgbClr val="B8B8B2">
              <a:alpha val="25000"/>
            </a:srgbClr>
          </a:solidFill>
          <a:ln w="25400" cap="flat" cmpd="sng">
            <a:noFill/>
            <a:prstDash val="solid"/>
            <a:round/>
          </a:ln>
        </p:spPr>
        <p:txBody>
          <a:bodyPr vert="horz" wrap="square" lIns="406400" tIns="406400" rIns="406400" bIns="0" rtlCol="0" anchor="t" anchorCtr="0">
            <a:normAutofit/>
          </a:bodyPr>
          <a:lstStyle/>
          <a:p>
            <a:pPr indent="0" algn="l">
              <a:lnSpc>
                <a:spcPct val="125000"/>
              </a:lnSpc>
              <a:defRPr/>
            </a:pPr>
            <a:endParaRPr lang="en-US" altLang="zh-CN" sz="2000" dirty="0">
              <a:solidFill>
                <a:srgbClr val="151515"/>
              </a:solidFill>
              <a:latin typeface="MiSans VF Light" pitchFamily="2" charset="-122"/>
              <a:ea typeface="MiSans VF Light" pitchFamily="2" charset="-122"/>
              <a:cs typeface="MiSans VF Light" pitchFamily="2" charset="-122"/>
              <a:sym typeface="SimHei"/>
            </a:endParaRPr>
          </a:p>
        </p:txBody>
      </p:sp>
      <p:sp>
        <p:nvSpPr>
          <p:cNvPr id="25" name="文本框 24">
            <a:extLst>
              <a:ext uri="{FF2B5EF4-FFF2-40B4-BE49-F238E27FC236}">
                <a16:creationId xmlns:a16="http://schemas.microsoft.com/office/drawing/2014/main" id="{F63ACFA1-B12B-E3E8-A04F-E44E31C06969}"/>
              </a:ext>
            </a:extLst>
          </p:cNvPr>
          <p:cNvSpPr txBox="1"/>
          <p:nvPr/>
        </p:nvSpPr>
        <p:spPr>
          <a:xfrm>
            <a:off x="8493792" y="6475638"/>
            <a:ext cx="6685128" cy="430887"/>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kumimoji="0" lang="zh-CN" altLang="en-US" sz="2800" b="1" i="0" u="none" strike="noStrike" kern="0" cap="none" spc="0" normalizeH="0" baseline="0" noProof="0" dirty="0">
                <a:ln>
                  <a:noFill/>
                </a:ln>
                <a:solidFill>
                  <a:srgbClr val="151515"/>
                </a:solidFill>
                <a:effectLst/>
                <a:uLnTx/>
                <a:uFillTx/>
                <a:latin typeface="Source Han Serif SC Heavy" panose="02020400000000000000" pitchFamily="18" charset="-128"/>
                <a:ea typeface="Source Han Serif SC Heavy" panose="02020400000000000000" pitchFamily="18" charset="-128"/>
                <a:cs typeface="SimHei"/>
                <a:sym typeface="SimHei"/>
              </a:rPr>
              <a:t>搬运与基建</a:t>
            </a:r>
            <a:endParaRPr lang="zh-CN" altLang="en-US" dirty="0"/>
          </a:p>
        </p:txBody>
      </p:sp>
      <p:sp>
        <p:nvSpPr>
          <p:cNvPr id="26" name="文本框 14">
            <a:extLst>
              <a:ext uri="{FF2B5EF4-FFF2-40B4-BE49-F238E27FC236}">
                <a16:creationId xmlns:a16="http://schemas.microsoft.com/office/drawing/2014/main" id="{D93CB033-086C-E351-FB5A-EA99AB432981}"/>
              </a:ext>
            </a:extLst>
          </p:cNvPr>
          <p:cNvSpPr txBox="1"/>
          <p:nvPr/>
        </p:nvSpPr>
        <p:spPr>
          <a:xfrm>
            <a:off x="8507026" y="5985643"/>
            <a:ext cx="2643834" cy="35400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约占 </a:t>
            </a:r>
            <a:r>
              <a:rPr kumimoji="0" lang="en-US" altLang="zh-CN"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15-</a:t>
            </a:r>
            <a:r>
              <a:rPr lang="en-US" altLang="zh-CN" sz="2000" dirty="0">
                <a:solidFill>
                  <a:srgbClr val="A6AA34"/>
                </a:solidFill>
                <a:latin typeface="MISANS VF MEDIUM" pitchFamily="2" charset="-122"/>
                <a:ea typeface="MISANS VF MEDIUM" pitchFamily="2" charset="-122"/>
                <a:cs typeface="MISANS VF MEDIUM" pitchFamily="2" charset="-122"/>
                <a:sym typeface="SimHei"/>
              </a:rPr>
              <a:t>2</a:t>
            </a:r>
            <a:r>
              <a:rPr kumimoji="0" lang="en-US" altLang="zh-CN" sz="2000" u="none" strike="noStrike" kern="0" cap="none" spc="0" normalizeH="0" baseline="0" noProof="0" dirty="0">
                <a:ln>
                  <a:noFill/>
                </a:ln>
                <a:solidFill>
                  <a:srgbClr val="A6AA34"/>
                </a:solidFill>
                <a:effectLst/>
                <a:uLnTx/>
                <a:uFillTx/>
                <a:latin typeface="MISANS VF MEDIUM" pitchFamily="2" charset="-122"/>
                <a:ea typeface="MISANS VF MEDIUM" pitchFamily="2" charset="-122"/>
                <a:cs typeface="MISANS VF MEDIUM" pitchFamily="2" charset="-122"/>
                <a:sym typeface="SimHei"/>
              </a:rPr>
              <a:t>0%</a:t>
            </a:r>
          </a:p>
        </p:txBody>
      </p:sp>
      <p:sp>
        <p:nvSpPr>
          <p:cNvPr id="27" name="文本框 26">
            <a:extLst>
              <a:ext uri="{FF2B5EF4-FFF2-40B4-BE49-F238E27FC236}">
                <a16:creationId xmlns:a16="http://schemas.microsoft.com/office/drawing/2014/main" id="{F127632E-044D-E001-8C8A-EFC326B26A4F}"/>
              </a:ext>
            </a:extLst>
          </p:cNvPr>
          <p:cNvSpPr txBox="1"/>
          <p:nvPr/>
        </p:nvSpPr>
        <p:spPr>
          <a:xfrm>
            <a:off x="8493792" y="6992866"/>
            <a:ext cx="6685128" cy="738728"/>
          </a:xfrm>
          <a:prstGeom prst="rect">
            <a:avLst/>
          </a:prstGeom>
          <a:noFill/>
        </p:spPr>
        <p:txBody>
          <a:bodyPr wrap="square" lIns="0" tIns="0" rIns="0" bIns="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5000"/>
              </a:lnSpc>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从肩挑小贩起步，在泰国形成碾米与贸易垄断，为潮商崛起之基。</a:t>
            </a:r>
            <a:endParaRPr lang="zh-CN" altLang="en-US" sz="2000" dirty="0">
              <a:solidFill>
                <a:srgbClr val="151515"/>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420568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1E9BB303-7204-DAE0-448F-B894FA07BAF6}"/>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B2F834F0-CDC2-8B74-25B8-BB44AF401574}"/>
              </a:ext>
            </a:extLst>
          </p:cNvPr>
          <p:cNvSpPr/>
          <p:nvPr/>
        </p:nvSpPr>
        <p:spPr>
          <a:xfrm>
            <a:off x="487680" y="1034024"/>
            <a:ext cx="15280640"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潮汕华侨在南洋的进阶</a:t>
            </a:r>
          </a:p>
        </p:txBody>
      </p:sp>
      <p:sp>
        <p:nvSpPr>
          <p:cNvPr id="11" name="AutoShape 2">
            <a:extLst>
              <a:ext uri="{FF2B5EF4-FFF2-40B4-BE49-F238E27FC236}">
                <a16:creationId xmlns:a16="http://schemas.microsoft.com/office/drawing/2014/main" id="{1AF94E9E-A7C3-5B8C-F881-D93BE77C128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73626814-62FF-E021-2E23-6B0A56B78F4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09</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193D7AF5-56B2-B243-A825-4D14382FAB68}"/>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6" name="AutoShape 5">
            <a:extLst>
              <a:ext uri="{FF2B5EF4-FFF2-40B4-BE49-F238E27FC236}">
                <a16:creationId xmlns:a16="http://schemas.microsoft.com/office/drawing/2014/main" id="{4EEA28E9-C86A-8064-B2E1-1B5D93DA2F8D}"/>
              </a:ext>
            </a:extLst>
          </p:cNvPr>
          <p:cNvSpPr/>
          <p:nvPr/>
        </p:nvSpPr>
        <p:spPr>
          <a:xfrm>
            <a:off x="487680" y="206952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151515"/>
                </a:solidFill>
                <a:latin typeface="MiSans VF Light" pitchFamily="2" charset="-122"/>
                <a:ea typeface="MiSans VF Light" pitchFamily="2" charset="-122"/>
                <a:cs typeface="MiSans VF Light" pitchFamily="2" charset="-122"/>
                <a:sym typeface="SimHei"/>
              </a:rPr>
              <a:t>潮汕华侨从底层苦力逆袭为社群领袖（“甲必丹”）的六个关键进阶点</a:t>
            </a:r>
          </a:p>
        </p:txBody>
      </p:sp>
      <p:cxnSp>
        <p:nvCxnSpPr>
          <p:cNvPr id="7" name="Connector 4">
            <a:extLst>
              <a:ext uri="{FF2B5EF4-FFF2-40B4-BE49-F238E27FC236}">
                <a16:creationId xmlns:a16="http://schemas.microsoft.com/office/drawing/2014/main" id="{45E9D519-11A7-6C7E-BE79-055208D5C9BD}"/>
              </a:ext>
            </a:extLst>
          </p:cNvPr>
          <p:cNvCxnSpPr>
            <a:cxnSpLocks/>
          </p:cNvCxnSpPr>
          <p:nvPr/>
        </p:nvCxnSpPr>
        <p:spPr>
          <a:xfrm>
            <a:off x="487681" y="3164866"/>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sp>
        <p:nvSpPr>
          <p:cNvPr id="8" name="文本框 7">
            <a:extLst>
              <a:ext uri="{FF2B5EF4-FFF2-40B4-BE49-F238E27FC236}">
                <a16:creationId xmlns:a16="http://schemas.microsoft.com/office/drawing/2014/main" id="{137D2990-10E2-76D9-335D-08920CAA3599}"/>
              </a:ext>
            </a:extLst>
          </p:cNvPr>
          <p:cNvSpPr txBox="1"/>
          <p:nvPr/>
        </p:nvSpPr>
        <p:spPr>
          <a:xfrm>
            <a:off x="487680" y="3813770"/>
            <a:ext cx="4381571" cy="1153233"/>
          </a:xfrm>
          <a:prstGeom prst="rect">
            <a:avLst/>
          </a:prstGeom>
          <a:noFill/>
        </p:spPr>
        <p:txBody>
          <a:bodyPr wrap="square" tIns="72000" bIns="180000">
            <a:spAutoFit/>
          </a:bodyPr>
          <a:lstStyle/>
          <a:p>
            <a:pPr indent="0" algn="l">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初抵南洋被卖入锡矿坑或种植园，在鞭笞与高温中从事高强度的原始劳动，以牺牲健康换取第一笔微薄积蓄。</a:t>
            </a:r>
            <a:endParaRPr lang="en-US" altLang="zh-CN" sz="1600" u="none" strike="noStrike" dirty="0">
              <a:solidFill>
                <a:srgbClr val="151515">
                  <a:alpha val="80000"/>
                </a:srgbClr>
              </a:solidFill>
              <a:latin typeface="MiSans VF Light" pitchFamily="2" charset="-122"/>
              <a:ea typeface="MiSans VF Light" pitchFamily="2" charset="-122"/>
              <a:cs typeface="MiSans VF Light" pitchFamily="2" charset="-122"/>
              <a:sym typeface="SimHei"/>
            </a:endParaRPr>
          </a:p>
        </p:txBody>
      </p:sp>
      <p:cxnSp>
        <p:nvCxnSpPr>
          <p:cNvPr id="10" name="Connector 4">
            <a:extLst>
              <a:ext uri="{FF2B5EF4-FFF2-40B4-BE49-F238E27FC236}">
                <a16:creationId xmlns:a16="http://schemas.microsoft.com/office/drawing/2014/main" id="{8DF68097-8279-89D3-BA03-68C4FBCDC868}"/>
              </a:ext>
            </a:extLst>
          </p:cNvPr>
          <p:cNvCxnSpPr>
            <a:cxnSpLocks/>
          </p:cNvCxnSpPr>
          <p:nvPr/>
        </p:nvCxnSpPr>
        <p:spPr>
          <a:xfrm>
            <a:off x="5820193" y="3164866"/>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16" name="Connector 4">
            <a:extLst>
              <a:ext uri="{FF2B5EF4-FFF2-40B4-BE49-F238E27FC236}">
                <a16:creationId xmlns:a16="http://schemas.microsoft.com/office/drawing/2014/main" id="{042CD6B5-3712-E44E-4844-7778A6AF48C0}"/>
              </a:ext>
            </a:extLst>
          </p:cNvPr>
          <p:cNvCxnSpPr>
            <a:cxnSpLocks/>
          </p:cNvCxnSpPr>
          <p:nvPr/>
        </p:nvCxnSpPr>
        <p:spPr>
          <a:xfrm>
            <a:off x="11152709" y="3164866"/>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19" name="Connector 4">
            <a:extLst>
              <a:ext uri="{FF2B5EF4-FFF2-40B4-BE49-F238E27FC236}">
                <a16:creationId xmlns:a16="http://schemas.microsoft.com/office/drawing/2014/main" id="{A194493E-8794-CDAE-5CC6-C47D54619757}"/>
              </a:ext>
            </a:extLst>
          </p:cNvPr>
          <p:cNvCxnSpPr>
            <a:cxnSpLocks/>
          </p:cNvCxnSpPr>
          <p:nvPr/>
        </p:nvCxnSpPr>
        <p:spPr>
          <a:xfrm>
            <a:off x="487681" y="5788712"/>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22" name="Connector 4">
            <a:extLst>
              <a:ext uri="{FF2B5EF4-FFF2-40B4-BE49-F238E27FC236}">
                <a16:creationId xmlns:a16="http://schemas.microsoft.com/office/drawing/2014/main" id="{35D846F4-8DA3-203C-F316-71B082890DB5}"/>
              </a:ext>
            </a:extLst>
          </p:cNvPr>
          <p:cNvCxnSpPr>
            <a:cxnSpLocks/>
          </p:cNvCxnSpPr>
          <p:nvPr/>
        </p:nvCxnSpPr>
        <p:spPr>
          <a:xfrm>
            <a:off x="5820193" y="5788712"/>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25" name="Connector 4">
            <a:extLst>
              <a:ext uri="{FF2B5EF4-FFF2-40B4-BE49-F238E27FC236}">
                <a16:creationId xmlns:a16="http://schemas.microsoft.com/office/drawing/2014/main" id="{F2BBE302-CE4D-46D5-DE4F-723F7193AB5D}"/>
              </a:ext>
            </a:extLst>
          </p:cNvPr>
          <p:cNvCxnSpPr>
            <a:cxnSpLocks/>
          </p:cNvCxnSpPr>
          <p:nvPr/>
        </p:nvCxnSpPr>
        <p:spPr>
          <a:xfrm>
            <a:off x="11152709" y="5788712"/>
            <a:ext cx="4381572" cy="0"/>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sp>
        <p:nvSpPr>
          <p:cNvPr id="4" name="文本框 3">
            <a:extLst>
              <a:ext uri="{FF2B5EF4-FFF2-40B4-BE49-F238E27FC236}">
                <a16:creationId xmlns:a16="http://schemas.microsoft.com/office/drawing/2014/main" id="{EFA8DB4F-9F8A-D7E1-BAA4-4C13219A808B}"/>
              </a:ext>
            </a:extLst>
          </p:cNvPr>
          <p:cNvSpPr txBox="1"/>
          <p:nvPr/>
        </p:nvSpPr>
        <p:spPr>
          <a:xfrm>
            <a:off x="487681" y="3368362"/>
            <a:ext cx="4381567" cy="442109"/>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20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契约苦力（猪仔）的生存期</a:t>
            </a:r>
            <a:endParaRPr kumimoji="0" lang="en-US" altLang="zh-CN" sz="20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27" name="文本框 26">
            <a:extLst>
              <a:ext uri="{FF2B5EF4-FFF2-40B4-BE49-F238E27FC236}">
                <a16:creationId xmlns:a16="http://schemas.microsoft.com/office/drawing/2014/main" id="{4807EB6B-7F6A-2098-07A1-BAA0D81CDA3D}"/>
              </a:ext>
            </a:extLst>
          </p:cNvPr>
          <p:cNvSpPr txBox="1"/>
          <p:nvPr/>
        </p:nvSpPr>
        <p:spPr>
          <a:xfrm>
            <a:off x="5820195" y="3813770"/>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脱离苦役后，凭借敏锐嗅觉从肩挑小贩做起，或在矿区经营杂货副食，掌握基础的商品流通逻辑与信用体系。</a:t>
            </a:r>
          </a:p>
        </p:txBody>
      </p:sp>
      <p:sp>
        <p:nvSpPr>
          <p:cNvPr id="28" name="文本框 27">
            <a:extLst>
              <a:ext uri="{FF2B5EF4-FFF2-40B4-BE49-F238E27FC236}">
                <a16:creationId xmlns:a16="http://schemas.microsoft.com/office/drawing/2014/main" id="{BDC87E73-B277-5FEA-7DB1-2262D5379BFE}"/>
              </a:ext>
            </a:extLst>
          </p:cNvPr>
          <p:cNvSpPr txBox="1"/>
          <p:nvPr/>
        </p:nvSpPr>
        <p:spPr>
          <a:xfrm>
            <a:off x="5820196" y="3368362"/>
            <a:ext cx="4381567" cy="442109"/>
          </a:xfrm>
          <a:prstGeom prst="rect">
            <a:avLst/>
          </a:prstGeom>
          <a:noFill/>
        </p:spPr>
        <p:txBody>
          <a:bodyPr wrap="square">
            <a:spAutoFit/>
          </a:bodyPr>
          <a:lstStyle/>
          <a:p>
            <a:pPr>
              <a:lnSpc>
                <a:spcPct val="125000"/>
              </a:lnSpc>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小贩与中介的商贸萌芽期</a:t>
            </a:r>
            <a:endParaRPr lang="en-US" altLang="zh-CN"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29" name="文本框 28">
            <a:extLst>
              <a:ext uri="{FF2B5EF4-FFF2-40B4-BE49-F238E27FC236}">
                <a16:creationId xmlns:a16="http://schemas.microsoft.com/office/drawing/2014/main" id="{BF167CED-C8FB-8133-FBE3-CA619E36E68D}"/>
              </a:ext>
            </a:extLst>
          </p:cNvPr>
          <p:cNvSpPr txBox="1"/>
          <p:nvPr/>
        </p:nvSpPr>
        <p:spPr>
          <a:xfrm>
            <a:off x="11152707" y="3813770"/>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利用熟悉本土规则的优势，竞标鸦片、酒类或赌博的“饷码”（包税权），虽手段充满争议，却完成了原始资本的疯狂积累。</a:t>
            </a:r>
          </a:p>
        </p:txBody>
      </p:sp>
      <p:sp>
        <p:nvSpPr>
          <p:cNvPr id="30" name="文本框 29">
            <a:extLst>
              <a:ext uri="{FF2B5EF4-FFF2-40B4-BE49-F238E27FC236}">
                <a16:creationId xmlns:a16="http://schemas.microsoft.com/office/drawing/2014/main" id="{CDF82549-5D92-3156-976A-2ECA136C1E2F}"/>
              </a:ext>
            </a:extLst>
          </p:cNvPr>
          <p:cNvSpPr txBox="1"/>
          <p:nvPr/>
        </p:nvSpPr>
        <p:spPr>
          <a:xfrm>
            <a:off x="11152708" y="3368362"/>
            <a:ext cx="4381567" cy="442109"/>
          </a:xfrm>
          <a:prstGeom prst="rect">
            <a:avLst/>
          </a:prstGeom>
          <a:noFill/>
        </p:spPr>
        <p:txBody>
          <a:bodyPr wrap="square">
            <a:spAutoFit/>
          </a:bodyPr>
          <a:lstStyle/>
          <a:p>
            <a:pPr>
              <a:lnSpc>
                <a:spcPct val="125000"/>
              </a:lnSpc>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包税与专利权的资本积累期</a:t>
            </a:r>
            <a:endParaRPr lang="en-US" altLang="zh-CN"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1" name="文本框 30">
            <a:extLst>
              <a:ext uri="{FF2B5EF4-FFF2-40B4-BE49-F238E27FC236}">
                <a16:creationId xmlns:a16="http://schemas.microsoft.com/office/drawing/2014/main" id="{DAB55924-6025-C954-A2EC-4A2014919016}"/>
              </a:ext>
            </a:extLst>
          </p:cNvPr>
          <p:cNvSpPr txBox="1"/>
          <p:nvPr/>
        </p:nvSpPr>
        <p:spPr>
          <a:xfrm>
            <a:off x="487680"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牵头组建潮州会馆、同乡会，通过“帮群”力量垄断特定行业（如米业、典当），确立在华人社会中的话语权与仲裁地位。</a:t>
            </a:r>
          </a:p>
        </p:txBody>
      </p:sp>
      <p:sp>
        <p:nvSpPr>
          <p:cNvPr id="32" name="文本框 31">
            <a:extLst>
              <a:ext uri="{FF2B5EF4-FFF2-40B4-BE49-F238E27FC236}">
                <a16:creationId xmlns:a16="http://schemas.microsoft.com/office/drawing/2014/main" id="{C596DED3-7F11-E2FE-53EE-4C4CB25654F8}"/>
              </a:ext>
            </a:extLst>
          </p:cNvPr>
          <p:cNvSpPr txBox="1"/>
          <p:nvPr/>
        </p:nvSpPr>
        <p:spPr>
          <a:xfrm>
            <a:off x="487681" y="5993575"/>
            <a:ext cx="4381567" cy="442109"/>
          </a:xfrm>
          <a:prstGeom prst="rect">
            <a:avLst/>
          </a:prstGeom>
          <a:noFill/>
        </p:spPr>
        <p:txBody>
          <a:bodyPr wrap="square">
            <a:spAutoFit/>
          </a:bodyPr>
          <a:lstStyle/>
          <a:p>
            <a:pPr>
              <a:lnSpc>
                <a:spcPct val="125000"/>
              </a:lnSpc>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宗乡会馆的组织构建期</a:t>
            </a:r>
            <a:endParaRPr lang="en-US" altLang="zh-CN"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4" name="文本框 33">
            <a:extLst>
              <a:ext uri="{FF2B5EF4-FFF2-40B4-BE49-F238E27FC236}">
                <a16:creationId xmlns:a16="http://schemas.microsoft.com/office/drawing/2014/main" id="{E7E1CFD8-C9D0-4CD1-FF72-949BE8188DAA}"/>
              </a:ext>
            </a:extLst>
          </p:cNvPr>
          <p:cNvSpPr txBox="1"/>
          <p:nvPr/>
        </p:nvSpPr>
        <p:spPr>
          <a:xfrm>
            <a:off x="5820192"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因财力雄厚且能有效管理华社秩序，被殖民当局授予“甲必丹”或“雷珍兰”头衔，成为沟通殖民政府与华人社群的官方代理人。</a:t>
            </a:r>
          </a:p>
        </p:txBody>
      </p:sp>
      <p:sp>
        <p:nvSpPr>
          <p:cNvPr id="35" name="文本框 34">
            <a:extLst>
              <a:ext uri="{FF2B5EF4-FFF2-40B4-BE49-F238E27FC236}">
                <a16:creationId xmlns:a16="http://schemas.microsoft.com/office/drawing/2014/main" id="{A9AA297D-3AC2-81FA-593C-5FCD8EF0269F}"/>
              </a:ext>
            </a:extLst>
          </p:cNvPr>
          <p:cNvSpPr txBox="1"/>
          <p:nvPr/>
        </p:nvSpPr>
        <p:spPr>
          <a:xfrm>
            <a:off x="5820193" y="5993575"/>
            <a:ext cx="4381567" cy="442109"/>
          </a:xfrm>
          <a:prstGeom prst="rect">
            <a:avLst/>
          </a:prstGeom>
          <a:noFill/>
        </p:spPr>
        <p:txBody>
          <a:bodyPr wrap="square">
            <a:spAutoFit/>
          </a:bodyPr>
          <a:lstStyle/>
          <a:p>
            <a:pPr>
              <a:lnSpc>
                <a:spcPct val="125000"/>
              </a:lnSpc>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获封“甲必丹”的政治合法期</a:t>
            </a:r>
            <a:endParaRPr lang="en-US" altLang="zh-CN"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
        <p:nvSpPr>
          <p:cNvPr id="37" name="文本框 36">
            <a:extLst>
              <a:ext uri="{FF2B5EF4-FFF2-40B4-BE49-F238E27FC236}">
                <a16:creationId xmlns:a16="http://schemas.microsoft.com/office/drawing/2014/main" id="{9764EF57-360E-164D-5C32-4A171F175725}"/>
              </a:ext>
            </a:extLst>
          </p:cNvPr>
          <p:cNvSpPr txBox="1"/>
          <p:nvPr/>
        </p:nvSpPr>
        <p:spPr>
          <a:xfrm>
            <a:off x="11152707" y="6438983"/>
            <a:ext cx="4381571" cy="1153233"/>
          </a:xfrm>
          <a:prstGeom prst="rect">
            <a:avLst/>
          </a:prstGeom>
          <a:noFill/>
        </p:spPr>
        <p:txBody>
          <a:bodyPr wrap="square" tIns="72000" bIns="18000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将商业利润大规模回馈社会，修建医院、创办学校（如中华学校），从单纯的“有钱商人”升华为德高望重的“侨领”。</a:t>
            </a:r>
          </a:p>
        </p:txBody>
      </p:sp>
      <p:sp>
        <p:nvSpPr>
          <p:cNvPr id="38" name="文本框 37">
            <a:extLst>
              <a:ext uri="{FF2B5EF4-FFF2-40B4-BE49-F238E27FC236}">
                <a16:creationId xmlns:a16="http://schemas.microsoft.com/office/drawing/2014/main" id="{AC7F6C2E-1346-DB19-47F8-BE3A216AB630}"/>
              </a:ext>
            </a:extLst>
          </p:cNvPr>
          <p:cNvSpPr txBox="1"/>
          <p:nvPr/>
        </p:nvSpPr>
        <p:spPr>
          <a:xfrm>
            <a:off x="11152708" y="5993575"/>
            <a:ext cx="4381567" cy="442109"/>
          </a:xfrm>
          <a:prstGeom prst="rect">
            <a:avLst/>
          </a:prstGeom>
          <a:noFill/>
        </p:spPr>
        <p:txBody>
          <a:bodyPr wrap="square">
            <a:spAutoFit/>
          </a:bodyPr>
          <a:lstStyle/>
          <a:p>
            <a:pPr>
              <a:lnSpc>
                <a:spcPct val="125000"/>
              </a:lnSpc>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慈善与教育的社会威望期</a:t>
            </a:r>
            <a:endParaRPr lang="en-US" altLang="zh-CN"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3877506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9CBD3AD8-0A57-D913-4F70-0835A4AA66CC}"/>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D4866769-A60A-11CC-6E32-A79FEBFD248E}"/>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CFD57EE8-BA99-38FF-48D3-E3E6462AB2F6}"/>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10</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0AA930A2-5207-D9B1-B981-AB9551110538}"/>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6AA3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6AA3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D9422C7D-1237-01DE-4EEB-84DAD7667265}"/>
              </a:ext>
            </a:extLst>
          </p:cNvPr>
          <p:cNvSpPr/>
          <p:nvPr/>
        </p:nvSpPr>
        <p:spPr>
          <a:xfrm>
            <a:off x="487680" y="6045696"/>
            <a:ext cx="15280640" cy="433324"/>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侨批、侨宅、潮剧、华文教育</a:t>
            </a:r>
            <a:r>
              <a:rPr lang="en-US" altLang="zh-CN" sz="2400" dirty="0">
                <a:solidFill>
                  <a:srgbClr val="F2F1EC">
                    <a:alpha val="60000"/>
                  </a:srgbClr>
                </a:solidFill>
                <a:latin typeface="MiSans VF Light" pitchFamily="2" charset="-122"/>
                <a:ea typeface="MiSans VF Light" pitchFamily="2" charset="-122"/>
                <a:cs typeface="MiSans VF Light" pitchFamily="2" charset="-122"/>
                <a:sym typeface="SimHei"/>
              </a:rPr>
              <a:t>——</a:t>
            </a: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刻在血脉里的文化根脉</a:t>
            </a:r>
            <a:endParaRPr lang="en-US" sz="2400" dirty="0">
              <a:solidFill>
                <a:srgbClr val="F2F1EC">
                  <a:alpha val="60000"/>
                </a:srgbClr>
              </a:solidFill>
              <a:latin typeface="MiSans VF Light" pitchFamily="2" charset="-122"/>
              <a:ea typeface="MiSans VF Light" pitchFamily="2" charset="-122"/>
              <a:cs typeface="MiSans VF Light" pitchFamily="2" charset="-122"/>
            </a:endParaRPr>
          </a:p>
        </p:txBody>
      </p:sp>
      <p:sp>
        <p:nvSpPr>
          <p:cNvPr id="8" name="AutoShape 3">
            <a:extLst>
              <a:ext uri="{FF2B5EF4-FFF2-40B4-BE49-F238E27FC236}">
                <a16:creationId xmlns:a16="http://schemas.microsoft.com/office/drawing/2014/main" id="{6DF410D5-4F20-D76D-92AD-E25964DE7B85}"/>
              </a:ext>
            </a:extLst>
          </p:cNvPr>
          <p:cNvSpPr/>
          <p:nvPr/>
        </p:nvSpPr>
        <p:spPr>
          <a:xfrm>
            <a:off x="487680" y="3741853"/>
            <a:ext cx="13481538"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心系：</a:t>
            </a:r>
            <a:endParaRPr lang="en-US" altLang="zh-CN"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银信里的家国与乡愁</a:t>
            </a:r>
          </a:p>
        </p:txBody>
      </p:sp>
      <p:sp>
        <p:nvSpPr>
          <p:cNvPr id="9" name="AutoShape 4">
            <a:extLst>
              <a:ext uri="{FF2B5EF4-FFF2-40B4-BE49-F238E27FC236}">
                <a16:creationId xmlns:a16="http://schemas.microsoft.com/office/drawing/2014/main" id="{46500E95-8B72-6D03-CE97-72DFBC014641}"/>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72A911A1-7C89-2DE8-8AB9-210E43D97F44}"/>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6AA34"/>
                </a:solidFill>
                <a:latin typeface="Didot" panose="02000503000000020003" pitchFamily="2" charset="-79"/>
                <a:ea typeface="HYRuiYiSong 80J" pitchFamily="18" charset="-122"/>
                <a:cs typeface="Didot" panose="02000503000000020003" pitchFamily="2" charset="-79"/>
                <a:sym typeface="Bricolage Grotesque"/>
              </a:rPr>
              <a:t>003</a:t>
            </a:r>
            <a:endParaRPr lang="zh-CN" altLang="en-US" sz="8000" b="1" i="1" u="none" strike="noStrike" dirty="0">
              <a:solidFill>
                <a:srgbClr val="A6AA3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2034027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08C0967D-ACAD-40C2-74A1-AE6C45DA3B42}"/>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4622D4F-D885-CC4B-6925-7595A481D157}"/>
              </a:ext>
            </a:extLst>
          </p:cNvPr>
          <p:cNvSpPr/>
          <p:nvPr/>
        </p:nvSpPr>
        <p:spPr>
          <a:xfrm>
            <a:off x="9397999" y="0"/>
            <a:ext cx="6858001" cy="9144000"/>
          </a:xfrm>
          <a:prstGeom prst="rect">
            <a:avLst/>
          </a:prstGeom>
          <a:pattFill prst="dotDmnd">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 name="AutoShape 3">
            <a:extLst>
              <a:ext uri="{FF2B5EF4-FFF2-40B4-BE49-F238E27FC236}">
                <a16:creationId xmlns:a16="http://schemas.microsoft.com/office/drawing/2014/main" id="{133D93A2-E98B-4121-1707-4A674E99AF26}"/>
              </a:ext>
            </a:extLst>
          </p:cNvPr>
          <p:cNvSpPr/>
          <p:nvPr/>
        </p:nvSpPr>
        <p:spPr>
          <a:xfrm>
            <a:off x="487681" y="1034024"/>
            <a:ext cx="7640320" cy="1928861"/>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侨批：</a:t>
            </a:r>
            <a:endParaRPr lang="en-US" altLang="zh-CN"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汇款</a:t>
            </a:r>
            <a:r>
              <a:rPr lang="en-US" altLang="zh-CN"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a:t>
            </a: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家书的深沉纽带</a:t>
            </a:r>
          </a:p>
        </p:txBody>
      </p:sp>
      <p:sp>
        <p:nvSpPr>
          <p:cNvPr id="11" name="AutoShape 2">
            <a:extLst>
              <a:ext uri="{FF2B5EF4-FFF2-40B4-BE49-F238E27FC236}">
                <a16:creationId xmlns:a16="http://schemas.microsoft.com/office/drawing/2014/main" id="{6D6F4B79-69F2-0A95-7EC3-EEBF481AACAF}"/>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0FCE9AA4-1EEF-8C36-EB8D-269CB3A4E3C9}"/>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11</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2F66C04B-7520-53AD-96FE-CEA94A0E3865}"/>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F08A33D0-0EFF-CD8B-2225-AD8339201073}"/>
              </a:ext>
            </a:extLst>
          </p:cNvPr>
          <p:cNvSpPr txBox="1"/>
          <p:nvPr/>
        </p:nvSpPr>
        <p:spPr>
          <a:xfrm>
            <a:off x="487680" y="4141570"/>
            <a:ext cx="7640320" cy="3301514"/>
          </a:xfrm>
          <a:prstGeom prst="rect">
            <a:avLst/>
          </a:prstGeom>
          <a:noFill/>
        </p:spPr>
        <p:txBody>
          <a:bodyPr wrap="square" tIns="72000" bIns="180000">
            <a:spAutoFit/>
          </a:bodyPr>
          <a:lstStyle/>
          <a:p>
            <a:pPr>
              <a:lnSpc>
                <a:spcPct val="125000"/>
              </a:lnSpc>
              <a:defRPr/>
            </a:pPr>
            <a:r>
              <a:rPr lang="zh-CN" altLang="en-US" sz="28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侨批</a:t>
            </a:r>
            <a:endParaRPr lang="en-US" altLang="zh-CN" sz="28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“批</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即信，是海外华侨通过民间渠道寄回国内的家书与汇款凭证，信、汇合一。</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19</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世纪中叶至</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20</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世纪</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70</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年代末，侨批是潮汕侨乡的经济命脉。</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2013</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年入选联合国教科文组织世界记忆名录。</a:t>
            </a:r>
            <a:endPar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endPar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侨批不仅仅是汇款凭证，也是穿越重洋的家书还传递着对祖国家乡的思念。</a:t>
            </a:r>
          </a:p>
        </p:txBody>
      </p:sp>
    </p:spTree>
    <p:extLst>
      <p:ext uri="{BB962C8B-B14F-4D97-AF65-F5344CB8AC3E}">
        <p14:creationId xmlns:p14="http://schemas.microsoft.com/office/powerpoint/2010/main" val="1714473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804E3D90-4F88-818E-31E1-661E83C9364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4ED5F21-C7F7-949C-102F-13CACF8988B5}"/>
              </a:ext>
            </a:extLst>
          </p:cNvPr>
          <p:cNvSpPr/>
          <p:nvPr/>
        </p:nvSpPr>
        <p:spPr>
          <a:xfrm>
            <a:off x="8975188" y="3422908"/>
            <a:ext cx="6793132" cy="4667121"/>
          </a:xfrm>
          <a:prstGeom prst="rect">
            <a:avLst/>
          </a:prstGeom>
          <a:pattFill prst="dotDmnd">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AutoShape 2">
            <a:extLst>
              <a:ext uri="{FF2B5EF4-FFF2-40B4-BE49-F238E27FC236}">
                <a16:creationId xmlns:a16="http://schemas.microsoft.com/office/drawing/2014/main" id="{F5D98B20-B836-F69E-9C37-C8EADCA48469}"/>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4FF81C0D-1D7D-2C98-EEED-C459EB6FFC74}"/>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12</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59344CC9-79D4-2185-2B8E-9DF5F48D2E0D}"/>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1613A2C1-9D70-0CA8-C73A-E9A04D3A6556}"/>
              </a:ext>
            </a:extLst>
          </p:cNvPr>
          <p:cNvSpPr txBox="1"/>
          <p:nvPr/>
        </p:nvSpPr>
        <p:spPr>
          <a:xfrm>
            <a:off x="487680" y="4076604"/>
            <a:ext cx="7640320" cy="1839575"/>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华侨在海外发家致富后回乡建祠堂，纪念先人、不忘根本。他们回乡建造的祠堂与宅邸，融合了潮汕传统工艺与南洋建筑风格，集文学、书法、雕塑和工艺于一身，是</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不忘根本</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的永恒见证。</a:t>
            </a:r>
            <a:endPar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endParaRPr>
          </a:p>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陈慈黉故居被称为“岭南第一侨宅”。</a:t>
            </a:r>
          </a:p>
        </p:txBody>
      </p:sp>
      <p:sp>
        <p:nvSpPr>
          <p:cNvPr id="6" name="AutoShape 3">
            <a:extLst>
              <a:ext uri="{FF2B5EF4-FFF2-40B4-BE49-F238E27FC236}">
                <a16:creationId xmlns:a16="http://schemas.microsoft.com/office/drawing/2014/main" id="{8F189289-BBF5-80BB-0541-249B544A5858}"/>
              </a:ext>
            </a:extLst>
          </p:cNvPr>
          <p:cNvSpPr/>
          <p:nvPr/>
        </p:nvSpPr>
        <p:spPr>
          <a:xfrm>
            <a:off x="487681" y="1034024"/>
            <a:ext cx="9829136"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侨宅：</a:t>
            </a:r>
            <a:endParaRPr lang="en-US" altLang="zh-CN"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中西合璧、慎终追远</a:t>
            </a:r>
          </a:p>
        </p:txBody>
      </p:sp>
      <p:sp>
        <p:nvSpPr>
          <p:cNvPr id="5" name="文本框 4">
            <a:extLst>
              <a:ext uri="{FF2B5EF4-FFF2-40B4-BE49-F238E27FC236}">
                <a16:creationId xmlns:a16="http://schemas.microsoft.com/office/drawing/2014/main" id="{65F2DC35-9F7D-A405-9CAC-27E7B65D8F88}"/>
              </a:ext>
            </a:extLst>
          </p:cNvPr>
          <p:cNvSpPr txBox="1"/>
          <p:nvPr/>
        </p:nvSpPr>
        <p:spPr>
          <a:xfrm>
            <a:off x="487680" y="3361172"/>
            <a:ext cx="7640320" cy="5820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28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祠堂与宅邸</a:t>
            </a:r>
            <a:endParaRPr kumimoji="0" lang="en-US" altLang="zh-CN" sz="28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2779965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AAE307C3-471C-BCAE-2422-7FFD26A61599}"/>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D761D4DE-D649-D80D-260B-4A974CE268D6}"/>
              </a:ext>
            </a:extLst>
          </p:cNvPr>
          <p:cNvSpPr/>
          <p:nvPr/>
        </p:nvSpPr>
        <p:spPr>
          <a:xfrm>
            <a:off x="487681" y="1034024"/>
            <a:ext cx="7640319"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HYRuiYiSong 80J" pitchFamily="18" charset="-122"/>
                <a:ea typeface="HYRuiYiSong 80J" pitchFamily="18" charset="-122"/>
                <a:cs typeface="SimHei"/>
                <a:sym typeface="SimHei"/>
              </a:rPr>
              <a:t>潮剧与华文教育：</a:t>
            </a:r>
            <a:endParaRPr lang="en-US" altLang="zh-CN" sz="6000" b="1" dirty="0">
              <a:solidFill>
                <a:srgbClr val="151515"/>
              </a:solidFill>
              <a:latin typeface="HYRuiYiSong 80J" pitchFamily="18" charset="-122"/>
              <a:ea typeface="HYRuiYiSong 80J" pitchFamily="18" charset="-122"/>
              <a:cs typeface="SimHei"/>
              <a:sym typeface="SimHei"/>
            </a:endParaRPr>
          </a:p>
          <a:p>
            <a:pPr>
              <a:lnSpc>
                <a:spcPct val="108333"/>
              </a:lnSpc>
              <a:defRPr/>
            </a:pPr>
            <a:r>
              <a:rPr lang="zh-CN" altLang="en-US" sz="6000" b="1" dirty="0">
                <a:solidFill>
                  <a:srgbClr val="151515"/>
                </a:solidFill>
                <a:latin typeface="HYRuiYiSong 80J" pitchFamily="18" charset="-122"/>
                <a:ea typeface="HYRuiYiSong 80J" pitchFamily="18" charset="-122"/>
                <a:cs typeface="SimHei"/>
                <a:sym typeface="SimHei"/>
              </a:rPr>
              <a:t>乡音汉字守住文化认同</a:t>
            </a:r>
          </a:p>
        </p:txBody>
      </p:sp>
      <p:sp>
        <p:nvSpPr>
          <p:cNvPr id="11" name="AutoShape 2">
            <a:extLst>
              <a:ext uri="{FF2B5EF4-FFF2-40B4-BE49-F238E27FC236}">
                <a16:creationId xmlns:a16="http://schemas.microsoft.com/office/drawing/2014/main" id="{8E5C3E14-1541-CBD4-A308-1A23C1BF5646}"/>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B5A9DB2A-1DC2-82AA-5E31-D940B59B106C}"/>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13</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F3E73EDE-FF0F-A0BB-39F4-254A0F8F5C80}"/>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3" name="矩形 2">
            <a:extLst>
              <a:ext uri="{FF2B5EF4-FFF2-40B4-BE49-F238E27FC236}">
                <a16:creationId xmlns:a16="http://schemas.microsoft.com/office/drawing/2014/main" id="{F01BA066-1ADF-F54C-CE1D-E690BB949AAE}"/>
              </a:ext>
            </a:extLst>
          </p:cNvPr>
          <p:cNvSpPr/>
          <p:nvPr/>
        </p:nvSpPr>
        <p:spPr>
          <a:xfrm>
            <a:off x="10695213" y="2012337"/>
            <a:ext cx="5073105" cy="5625546"/>
          </a:xfrm>
          <a:prstGeom prst="rect">
            <a:avLst/>
          </a:prstGeom>
          <a:pattFill prst="dotDmnd">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5846BF66-8518-AC74-6B38-DDADD2EAAF74}"/>
              </a:ext>
            </a:extLst>
          </p:cNvPr>
          <p:cNvSpPr txBox="1"/>
          <p:nvPr/>
        </p:nvSpPr>
        <p:spPr>
          <a:xfrm>
            <a:off x="487680" y="4076604"/>
            <a:ext cx="7640320" cy="2147351"/>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潮剧（又称潮州戏、潮音戏、白字戏）是用潮汕方言演唱的古老地方戏曲剧种，系宋元南戏分支，有</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南国奇葩</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南国鲜花</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之誉，</a:t>
            </a:r>
            <a:r>
              <a:rPr lang="en-US" altLang="zh-CN" sz="2000" dirty="0">
                <a:solidFill>
                  <a:srgbClr val="151515">
                    <a:alpha val="80000"/>
                  </a:srgbClr>
                </a:solidFill>
                <a:latin typeface="MiSans VF Light" pitchFamily="2" charset="-122"/>
                <a:ea typeface="MiSans VF Light" pitchFamily="2" charset="-122"/>
                <a:cs typeface="MiSans VF Light" pitchFamily="2" charset="-122"/>
                <a:sym typeface="SimHei"/>
              </a:rPr>
              <a:t>2006</a:t>
            </a: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年入选首批国家级非物质文化遗产名录。它以独特的“一唱众和”唱腔与极富特色的丑行表演著称，广泛流行于粤东及东南亚潮人社区。</a:t>
            </a:r>
          </a:p>
        </p:txBody>
      </p:sp>
      <p:sp>
        <p:nvSpPr>
          <p:cNvPr id="5" name="文本框 4">
            <a:extLst>
              <a:ext uri="{FF2B5EF4-FFF2-40B4-BE49-F238E27FC236}">
                <a16:creationId xmlns:a16="http://schemas.microsoft.com/office/drawing/2014/main" id="{A9579944-56ED-3838-B06F-D2BE96B15CE5}"/>
              </a:ext>
            </a:extLst>
          </p:cNvPr>
          <p:cNvSpPr txBox="1"/>
          <p:nvPr/>
        </p:nvSpPr>
        <p:spPr>
          <a:xfrm>
            <a:off x="487680" y="3361172"/>
            <a:ext cx="7640319" cy="582082"/>
          </a:xfrm>
          <a:prstGeom prst="rect">
            <a:avLst/>
          </a:prstGeom>
          <a:noFill/>
        </p:spPr>
        <p:txBody>
          <a:bodyPr wrap="square">
            <a:spAutoFit/>
          </a:bodyPr>
          <a:lstStyle/>
          <a:p>
            <a:pPr>
              <a:lnSpc>
                <a:spcPct val="125000"/>
              </a:lnSpc>
              <a:defRPr/>
            </a:pPr>
            <a:r>
              <a:rPr lang="zh-CN" altLang="en-US" sz="28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潮音戏</a:t>
            </a:r>
            <a:endParaRPr lang="en-US" altLang="zh-CN" sz="28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endParaRPr>
          </a:p>
        </p:txBody>
      </p:sp>
    </p:spTree>
    <p:extLst>
      <p:ext uri="{BB962C8B-B14F-4D97-AF65-F5344CB8AC3E}">
        <p14:creationId xmlns:p14="http://schemas.microsoft.com/office/powerpoint/2010/main" val="3591776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D0E90D7F-B67C-A920-7641-722A83A385CF}"/>
            </a:ext>
          </a:extLst>
        </p:cNvPr>
        <p:cNvGrpSpPr/>
        <p:nvPr/>
      </p:nvGrpSpPr>
      <p:grpSpPr>
        <a:xfrm>
          <a:off x="0" y="0"/>
          <a:ext cx="0" cy="0"/>
          <a:chOff x="0" y="0"/>
          <a:chExt cx="0" cy="0"/>
        </a:xfrm>
      </p:grpSpPr>
      <p:sp>
        <p:nvSpPr>
          <p:cNvPr id="3" name="AutoShape 2">
            <a:extLst>
              <a:ext uri="{FF2B5EF4-FFF2-40B4-BE49-F238E27FC236}">
                <a16:creationId xmlns:a16="http://schemas.microsoft.com/office/drawing/2014/main" id="{161FB642-4E33-744C-5999-C174FEFA83AC}"/>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4" name="AutoShape 2">
            <a:extLst>
              <a:ext uri="{FF2B5EF4-FFF2-40B4-BE49-F238E27FC236}">
                <a16:creationId xmlns:a16="http://schemas.microsoft.com/office/drawing/2014/main" id="{89A36B78-4D54-8909-3994-DBB9C53E927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14</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5" name="AutoShape 6">
            <a:extLst>
              <a:ext uri="{FF2B5EF4-FFF2-40B4-BE49-F238E27FC236}">
                <a16:creationId xmlns:a16="http://schemas.microsoft.com/office/drawing/2014/main" id="{A00A9854-2DC4-F01A-2984-CD12E91A9A34}"/>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A6AA34">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A6AA34">
                  <a:alpha val="50000"/>
                </a:srgbClr>
              </a:solidFill>
              <a:latin typeface="Andale Mono" panose="020B0509000000000004" pitchFamily="49" charset="0"/>
              <a:ea typeface="JetBrains Mono"/>
              <a:cs typeface="JetBrains Mono"/>
              <a:sym typeface="JetBrains Mono"/>
            </a:endParaRPr>
          </a:p>
        </p:txBody>
      </p:sp>
      <p:sp>
        <p:nvSpPr>
          <p:cNvPr id="7" name="AutoShape 5">
            <a:extLst>
              <a:ext uri="{FF2B5EF4-FFF2-40B4-BE49-F238E27FC236}">
                <a16:creationId xmlns:a16="http://schemas.microsoft.com/office/drawing/2014/main" id="{25191BE0-8E4B-C009-CBBF-916ED04855E4}"/>
              </a:ext>
            </a:extLst>
          </p:cNvPr>
          <p:cNvSpPr/>
          <p:nvPr/>
        </p:nvSpPr>
        <p:spPr>
          <a:xfrm>
            <a:off x="487680" y="6045696"/>
            <a:ext cx="15280640" cy="42479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一舟赴番邦，赤手筑他乡</a:t>
            </a:r>
          </a:p>
        </p:txBody>
      </p:sp>
      <p:sp>
        <p:nvSpPr>
          <p:cNvPr id="8" name="AutoShape 3">
            <a:extLst>
              <a:ext uri="{FF2B5EF4-FFF2-40B4-BE49-F238E27FC236}">
                <a16:creationId xmlns:a16="http://schemas.microsoft.com/office/drawing/2014/main" id="{C8BC91C4-9129-A495-81CA-4B9A0DEEC275}"/>
              </a:ext>
            </a:extLst>
          </p:cNvPr>
          <p:cNvSpPr/>
          <p:nvPr/>
        </p:nvSpPr>
        <p:spPr>
          <a:xfrm>
            <a:off x="487678" y="3741853"/>
            <a:ext cx="13791029" cy="1956626"/>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归根与新生：</a:t>
            </a:r>
            <a:endParaRPr lang="en-US" altLang="zh-CN"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香火延续下的南洋梦</a:t>
            </a:r>
          </a:p>
        </p:txBody>
      </p:sp>
      <p:sp>
        <p:nvSpPr>
          <p:cNvPr id="9" name="AutoShape 4">
            <a:extLst>
              <a:ext uri="{FF2B5EF4-FFF2-40B4-BE49-F238E27FC236}">
                <a16:creationId xmlns:a16="http://schemas.microsoft.com/office/drawing/2014/main" id="{B3D92BBC-ED48-7FB1-C8E2-9FBC9575F107}"/>
              </a:ext>
            </a:extLst>
          </p:cNvPr>
          <p:cNvSpPr/>
          <p:nvPr/>
        </p:nvSpPr>
        <p:spPr>
          <a:xfrm>
            <a:off x="7483643"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lgn="r">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CHAPTER</a:t>
            </a:r>
          </a:p>
        </p:txBody>
      </p:sp>
      <p:sp>
        <p:nvSpPr>
          <p:cNvPr id="12" name="AutoShape 4">
            <a:extLst>
              <a:ext uri="{FF2B5EF4-FFF2-40B4-BE49-F238E27FC236}">
                <a16:creationId xmlns:a16="http://schemas.microsoft.com/office/drawing/2014/main" id="{D210A312-660F-034F-E584-962A9740D39D}"/>
              </a:ext>
            </a:extLst>
          </p:cNvPr>
          <p:cNvSpPr/>
          <p:nvPr/>
        </p:nvSpPr>
        <p:spPr>
          <a:xfrm>
            <a:off x="487679" y="2163530"/>
            <a:ext cx="8284678" cy="1231106"/>
          </a:xfrm>
          <a:prstGeom prst="rect">
            <a:avLst/>
          </a:prstGeom>
          <a:noFill/>
          <a:ln w="16933" cap="flat" cmpd="sng">
            <a:noFill/>
            <a:prstDash val="solid"/>
            <a:round/>
          </a:ln>
        </p:spPr>
        <p:txBody>
          <a:bodyPr vert="horz" wrap="square" lIns="0" tIns="0" rIns="0" bIns="0" rtlCol="0" anchor="ctr" anchorCtr="0">
            <a:spAutoFit/>
          </a:bodyPr>
          <a:lstStyle/>
          <a:p>
            <a:pPr>
              <a:defRPr/>
            </a:pPr>
            <a:r>
              <a:rPr lang="en-US" altLang="zh-CN" sz="8000" b="1" i="1" dirty="0">
                <a:solidFill>
                  <a:srgbClr val="A6AA34"/>
                </a:solidFill>
                <a:latin typeface="Didot" panose="02000503000000020003" pitchFamily="2" charset="-79"/>
                <a:ea typeface="HYRuiYiSong 80J" pitchFamily="18" charset="-122"/>
                <a:cs typeface="Didot" panose="02000503000000020003" pitchFamily="2" charset="-79"/>
                <a:sym typeface="Bricolage Grotesque"/>
              </a:rPr>
              <a:t>004</a:t>
            </a:r>
            <a:endParaRPr lang="zh-CN" altLang="en-US" sz="8000" b="1" i="1" u="none" strike="noStrike" dirty="0">
              <a:solidFill>
                <a:srgbClr val="A6AA34"/>
              </a:solidFill>
              <a:latin typeface="Didot" panose="02000503000000020003" pitchFamily="2" charset="-79"/>
              <a:ea typeface="HYRuiYiSong 80J" pitchFamily="18" charset="-122"/>
              <a:cs typeface="Didot" panose="02000503000000020003" pitchFamily="2" charset="-79"/>
              <a:sym typeface="Bricolage Grotesque"/>
            </a:endParaRPr>
          </a:p>
        </p:txBody>
      </p:sp>
    </p:spTree>
    <p:extLst>
      <p:ext uri="{BB962C8B-B14F-4D97-AF65-F5344CB8AC3E}">
        <p14:creationId xmlns:p14="http://schemas.microsoft.com/office/powerpoint/2010/main" val="1861833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6CDBD5AD-A173-EA09-68C2-301967A4BAB4}"/>
            </a:ext>
          </a:extLst>
        </p:cNvPr>
        <p:cNvGrpSpPr/>
        <p:nvPr/>
      </p:nvGrpSpPr>
      <p:grpSpPr>
        <a:xfrm>
          <a:off x="0" y="0"/>
          <a:ext cx="0" cy="0"/>
          <a:chOff x="0" y="0"/>
          <a:chExt cx="0" cy="0"/>
        </a:xfrm>
      </p:grpSpPr>
      <p:sp>
        <p:nvSpPr>
          <p:cNvPr id="2" name="AutoShape 3">
            <a:extLst>
              <a:ext uri="{FF2B5EF4-FFF2-40B4-BE49-F238E27FC236}">
                <a16:creationId xmlns:a16="http://schemas.microsoft.com/office/drawing/2014/main" id="{C0E5B66F-D4AC-84DD-A8CF-068B1C41218E}"/>
              </a:ext>
            </a:extLst>
          </p:cNvPr>
          <p:cNvSpPr/>
          <p:nvPr/>
        </p:nvSpPr>
        <p:spPr>
          <a:xfrm>
            <a:off x="487681" y="1034024"/>
            <a:ext cx="15280639" cy="959430"/>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华侨对居住国与家乡的贡献</a:t>
            </a:r>
          </a:p>
        </p:txBody>
      </p:sp>
      <p:sp>
        <p:nvSpPr>
          <p:cNvPr id="11" name="AutoShape 2">
            <a:extLst>
              <a:ext uri="{FF2B5EF4-FFF2-40B4-BE49-F238E27FC236}">
                <a16:creationId xmlns:a16="http://schemas.microsoft.com/office/drawing/2014/main" id="{9111B759-1C23-9DFF-80E7-501FA423DE61}"/>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58000FCD-3AFF-8830-ACB9-726E63CC870E}"/>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15</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F9016D5D-31A7-F7B0-AA04-486FE7BC5DF9}"/>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graphicFrame>
        <p:nvGraphicFramePr>
          <p:cNvPr id="6" name="Table 4">
            <a:extLst>
              <a:ext uri="{FF2B5EF4-FFF2-40B4-BE49-F238E27FC236}">
                <a16:creationId xmlns:a16="http://schemas.microsoft.com/office/drawing/2014/main" id="{4DF0F8CF-28CC-F495-0BEF-79A455542B63}"/>
              </a:ext>
            </a:extLst>
          </p:cNvPr>
          <p:cNvGraphicFramePr/>
          <p:nvPr>
            <p:extLst>
              <p:ext uri="{D42A27DB-BD31-4B8C-83A1-F6EECF244321}">
                <p14:modId xmlns:p14="http://schemas.microsoft.com/office/powerpoint/2010/main" val="2177562908"/>
              </p:ext>
            </p:extLst>
          </p:nvPr>
        </p:nvGraphicFramePr>
        <p:xfrm>
          <a:off x="487680" y="2681717"/>
          <a:ext cx="15280639" cy="5121162"/>
        </p:xfrm>
        <a:graphic>
          <a:graphicData uri="http://schemas.openxmlformats.org/drawingml/2006/table">
            <a:tbl>
              <a:tblPr>
                <a:tableStyleId>{2D5ABB26-0587-4C30-8999-92F81FD0307C}</a:tableStyleId>
              </a:tblPr>
              <a:tblGrid>
                <a:gridCol w="2313615">
                  <a:extLst>
                    <a:ext uri="{9D8B030D-6E8A-4147-A177-3AD203B41FA5}">
                      <a16:colId xmlns:a16="http://schemas.microsoft.com/office/drawing/2014/main" val="1"/>
                    </a:ext>
                  </a:extLst>
                </a:gridCol>
                <a:gridCol w="4219826">
                  <a:extLst>
                    <a:ext uri="{9D8B030D-6E8A-4147-A177-3AD203B41FA5}">
                      <a16:colId xmlns:a16="http://schemas.microsoft.com/office/drawing/2014/main" val="2"/>
                    </a:ext>
                  </a:extLst>
                </a:gridCol>
                <a:gridCol w="4373599">
                  <a:extLst>
                    <a:ext uri="{9D8B030D-6E8A-4147-A177-3AD203B41FA5}">
                      <a16:colId xmlns:a16="http://schemas.microsoft.com/office/drawing/2014/main" val="3"/>
                    </a:ext>
                  </a:extLst>
                </a:gridCol>
                <a:gridCol w="4373599">
                  <a:extLst>
                    <a:ext uri="{9D8B030D-6E8A-4147-A177-3AD203B41FA5}">
                      <a16:colId xmlns:a16="http://schemas.microsoft.com/office/drawing/2014/main" val="3179355124"/>
                    </a:ext>
                  </a:extLst>
                </a:gridCol>
              </a:tblGrid>
              <a:tr h="962094">
                <a:tc>
                  <a:txBody>
                    <a:bodyPr/>
                    <a:lstStyle/>
                    <a:p>
                      <a:pPr indent="0" algn="l">
                        <a:lnSpc>
                          <a:spcPct val="100000"/>
                        </a:lnSpc>
                        <a:defRPr/>
                      </a:pPr>
                      <a:r>
                        <a:rPr lang="en-US" sz="1600" b="1" i="0" u="none" strike="noStrike" dirty="0" err="1">
                          <a:solidFill>
                            <a:srgbClr val="151515"/>
                          </a:solidFill>
                          <a:latin typeface="MiSans VF Bold" pitchFamily="2" charset="-122"/>
                          <a:ea typeface="MiSans VF Bold" pitchFamily="2" charset="-122"/>
                          <a:cs typeface="MiSans VF Bold" pitchFamily="2" charset="-122"/>
                          <a:sym typeface="SimHei"/>
                        </a:rPr>
                        <a:t>维度</a:t>
                      </a:r>
                      <a:endParaRPr lang="en-US" sz="1600" b="1" i="0" dirty="0">
                        <a:solidFill>
                          <a:srgbClr val="151515"/>
                        </a:solidFill>
                        <a:latin typeface="MiSans VF Bold" pitchFamily="2" charset="-122"/>
                        <a:ea typeface="MiSans VF Bold" pitchFamily="2" charset="-122"/>
                        <a:cs typeface="MiSans VF Bold" pitchFamily="2" charset="-122"/>
                      </a:endParaRPr>
                    </a:p>
                  </a:txBody>
                  <a:tcPr marL="137160" marR="137160" marT="137160" marB="137160" anchor="ctr">
                    <a:lnL>
                      <a:noFill/>
                    </a:lnL>
                    <a:lnR>
                      <a:noFill/>
                    </a:lnR>
                    <a:lnT>
                      <a:noFill/>
                    </a:lnT>
                    <a:lnB w="12700" cap="flat" cmpd="sng" algn="ctr">
                      <a:solidFill>
                        <a:srgbClr val="151515"/>
                      </a:solidFill>
                      <a:prstDash val="solid"/>
                      <a:round/>
                      <a:headEnd type="none" w="med" len="med"/>
                      <a:tailEnd type="none" w="med" len="med"/>
                    </a:lnB>
                    <a:lnTlToBr w="12700" cmpd="sng">
                      <a:noFill/>
                      <a:prstDash val="solid"/>
                    </a:lnTlToBr>
                    <a:lnBlToTr w="12700" cmpd="sng">
                      <a:noFill/>
                      <a:prstDash val="solid"/>
                    </a:lnBlToTr>
                    <a:solidFill>
                      <a:srgbClr val="D4D4CF">
                        <a:alpha val="4706"/>
                      </a:srgbClr>
                    </a:solidFill>
                  </a:tcPr>
                </a:tc>
                <a:tc>
                  <a:txBody>
                    <a:bodyPr/>
                    <a:lstStyle/>
                    <a:p>
                      <a:pPr indent="0" algn="l">
                        <a:lnSpc>
                          <a:spcPct val="100000"/>
                        </a:lnSpc>
                        <a:defRPr/>
                      </a:pPr>
                      <a:r>
                        <a:rPr lang="en-US" sz="1600" b="1" i="0" u="none" strike="noStrike" dirty="0" err="1">
                          <a:solidFill>
                            <a:srgbClr val="151515"/>
                          </a:solidFill>
                          <a:latin typeface="MiSans VF Bold" pitchFamily="2" charset="-122"/>
                          <a:ea typeface="MiSans VF Bold" pitchFamily="2" charset="-122"/>
                          <a:cs typeface="MiSans VF Bold" pitchFamily="2" charset="-122"/>
                          <a:sym typeface="SimHei"/>
                        </a:rPr>
                        <a:t>对居住国的贡献</a:t>
                      </a:r>
                      <a:endParaRPr lang="en-US" sz="1600" b="1" i="0" dirty="0">
                        <a:solidFill>
                          <a:srgbClr val="151515"/>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151515"/>
                      </a:solidFill>
                      <a:prstDash val="solid"/>
                      <a:round/>
                      <a:headEnd type="none" w="med" len="med"/>
                      <a:tailEnd type="none" w="med" len="med"/>
                    </a:lnB>
                    <a:lnTlToBr w="12700" cmpd="sng">
                      <a:noFill/>
                      <a:prstDash val="solid"/>
                    </a:lnTlToBr>
                    <a:lnBlToTr w="12700" cmpd="sng">
                      <a:noFill/>
                      <a:prstDash val="solid"/>
                    </a:lnBlToTr>
                    <a:solidFill>
                      <a:srgbClr val="D4D4CF">
                        <a:alpha val="4706"/>
                      </a:srgbClr>
                    </a:solidFill>
                  </a:tcPr>
                </a:tc>
                <a:tc>
                  <a:txBody>
                    <a:bodyPr/>
                    <a:lstStyle/>
                    <a:p>
                      <a:pPr indent="0" algn="l">
                        <a:lnSpc>
                          <a:spcPct val="100000"/>
                        </a:lnSpc>
                        <a:defRPr/>
                      </a:pPr>
                      <a:r>
                        <a:rPr lang="en-US" sz="1600" b="1" i="0" u="none" strike="noStrike" dirty="0" err="1">
                          <a:solidFill>
                            <a:srgbClr val="151515"/>
                          </a:solidFill>
                          <a:latin typeface="MiSans VF Bold" pitchFamily="2" charset="-122"/>
                          <a:ea typeface="MiSans VF Bold" pitchFamily="2" charset="-122"/>
                          <a:cs typeface="MiSans VF Bold" pitchFamily="2" charset="-122"/>
                          <a:sym typeface="SimHei"/>
                        </a:rPr>
                        <a:t>对祖籍的贡献</a:t>
                      </a:r>
                      <a:endParaRPr lang="en-US" sz="1600" b="1" i="0" dirty="0">
                        <a:solidFill>
                          <a:srgbClr val="151515"/>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151515"/>
                      </a:solidFill>
                      <a:prstDash val="solid"/>
                      <a:round/>
                      <a:headEnd type="none" w="med" len="med"/>
                      <a:tailEnd type="none" w="med" len="med"/>
                    </a:lnB>
                    <a:lnTlToBr w="12700" cmpd="sng">
                      <a:noFill/>
                      <a:prstDash val="solid"/>
                    </a:lnTlToBr>
                    <a:lnBlToTr w="12700" cmpd="sng">
                      <a:noFill/>
                      <a:prstDash val="solid"/>
                    </a:lnBlToTr>
                    <a:solidFill>
                      <a:srgbClr val="D4D4CF">
                        <a:alpha val="4706"/>
                      </a:srgbClr>
                    </a:solidFill>
                  </a:tcPr>
                </a:tc>
                <a:tc>
                  <a:txBody>
                    <a:bodyPr/>
                    <a:lstStyle/>
                    <a:p>
                      <a:pPr indent="0" algn="l">
                        <a:lnSpc>
                          <a:spcPct val="100000"/>
                        </a:lnSpc>
                        <a:defRPr/>
                      </a:pPr>
                      <a:r>
                        <a:rPr lang="en-US" sz="1600" b="1" i="0" dirty="0" err="1">
                          <a:solidFill>
                            <a:srgbClr val="151515"/>
                          </a:solidFill>
                          <a:latin typeface="MiSans VF Bold" pitchFamily="2" charset="-122"/>
                          <a:ea typeface="MiSans VF Bold" pitchFamily="2" charset="-122"/>
                          <a:cs typeface="MiSans VF Bold" pitchFamily="2" charset="-122"/>
                        </a:rPr>
                        <a:t>对中国的贡献</a:t>
                      </a:r>
                      <a:endParaRPr lang="en-US" sz="1600" b="1" i="0" dirty="0">
                        <a:solidFill>
                          <a:srgbClr val="151515"/>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a:noFill/>
                    </a:lnT>
                    <a:lnB w="12700" cap="flat" cmpd="sng" algn="ctr">
                      <a:solidFill>
                        <a:srgbClr val="151515"/>
                      </a:solidFill>
                      <a:prstDash val="solid"/>
                      <a:round/>
                      <a:headEnd type="none" w="med" len="med"/>
                      <a:tailEnd type="none" w="med" len="med"/>
                    </a:lnB>
                    <a:lnTlToBr w="12700" cmpd="sng">
                      <a:noFill/>
                      <a:prstDash val="solid"/>
                    </a:lnTlToBr>
                    <a:lnBlToTr w="12700" cmpd="sng">
                      <a:noFill/>
                      <a:prstDash val="solid"/>
                    </a:lnBlToTr>
                    <a:solidFill>
                      <a:srgbClr val="D4D4CF">
                        <a:alpha val="4706"/>
                      </a:srgbClr>
                    </a:solidFill>
                  </a:tcPr>
                </a:tc>
                <a:extLst>
                  <a:ext uri="{0D108BD9-81ED-4DB2-BD59-A6C34878D82A}">
                    <a16:rowId xmlns:a16="http://schemas.microsoft.com/office/drawing/2014/main" val="1"/>
                  </a:ext>
                </a:extLst>
              </a:tr>
              <a:tr h="1039767">
                <a:tc>
                  <a:txBody>
                    <a:bodyPr/>
                    <a:lstStyle/>
                    <a:p>
                      <a:pPr indent="0" algn="l">
                        <a:lnSpc>
                          <a:spcPct val="100000"/>
                        </a:lnSpc>
                        <a:defRPr/>
                      </a:pPr>
                      <a:r>
                        <a:rPr lang="en-US" sz="1400" b="0" i="0" u="none" strike="noStrike" dirty="0" err="1">
                          <a:solidFill>
                            <a:srgbClr val="151515"/>
                          </a:solidFill>
                          <a:latin typeface="MiSans VF Light" pitchFamily="2" charset="-122"/>
                          <a:ea typeface="MiSans VF Light" pitchFamily="2" charset="-122"/>
                          <a:cs typeface="MiSans VF Light" pitchFamily="2" charset="-122"/>
                          <a:sym typeface="SimHei"/>
                        </a:rPr>
                        <a:t>经济建设</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37160" marR="137160" marT="137160" marB="137160" anchor="ctr">
                    <a:lnT w="12700" cap="flat" cmpd="sng" algn="ctr">
                      <a:solidFill>
                        <a:srgbClr val="151515"/>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开发锡矿与橡胶，奠定经济根基</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T w="12700" cap="flat" cmpd="sng" algn="ctr">
                      <a:solidFill>
                        <a:srgbClr val="151515"/>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通过“侨批”输血，养活千万家眷</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T w="12700" cap="flat" cmpd="sng" algn="ctr">
                      <a:solidFill>
                        <a:srgbClr val="151515"/>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noFill/>
                  </a:tcPr>
                </a:tc>
                <a:tc>
                  <a:txBody>
                    <a:bodyPr/>
                    <a:lstStyle/>
                    <a:p>
                      <a:pPr indent="0" algn="l">
                        <a:lnSpc>
                          <a:spcPct val="100000"/>
                        </a:lnSpc>
                        <a:defRPr/>
                      </a:pPr>
                      <a:r>
                        <a:rPr lang="zh-CN" altLang="en-US" sz="1400" b="0" i="0" dirty="0">
                          <a:solidFill>
                            <a:srgbClr val="151515"/>
                          </a:solidFill>
                          <a:latin typeface="MiSans VF Light" pitchFamily="2" charset="-122"/>
                          <a:ea typeface="MiSans VF Light" pitchFamily="2" charset="-122"/>
                          <a:cs typeface="MiSans VF Light" pitchFamily="2" charset="-122"/>
                        </a:rPr>
                        <a:t>引进侨资侨技，助力改革开放与特区建设</a:t>
                      </a:r>
                      <a:endParaRPr lang="en-US" sz="14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R>
                      <a:noFill/>
                    </a:lnR>
                    <a:lnT w="12700" cap="flat" cmpd="sng" algn="ctr">
                      <a:solidFill>
                        <a:srgbClr val="151515"/>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noFill/>
                  </a:tcPr>
                </a:tc>
                <a:extLst>
                  <a:ext uri="{0D108BD9-81ED-4DB2-BD59-A6C34878D82A}">
                    <a16:rowId xmlns:a16="http://schemas.microsoft.com/office/drawing/2014/main" val="2"/>
                  </a:ext>
                </a:extLst>
              </a:tr>
              <a:tr h="1039767">
                <a:tc>
                  <a:txBody>
                    <a:bodyPr/>
                    <a:lstStyle/>
                    <a:p>
                      <a:pPr indent="0" algn="l">
                        <a:lnSpc>
                          <a:spcPct val="100000"/>
                        </a:lnSpc>
                        <a:defRPr/>
                      </a:pPr>
                      <a:r>
                        <a:rPr lang="en-US" sz="1400" b="0" i="0" u="none" strike="noStrike" dirty="0" err="1">
                          <a:solidFill>
                            <a:srgbClr val="151515"/>
                          </a:solidFill>
                          <a:latin typeface="MiSans VF Light" pitchFamily="2" charset="-122"/>
                          <a:ea typeface="MiSans VF Light" pitchFamily="2" charset="-122"/>
                          <a:cs typeface="MiSans VF Light" pitchFamily="2" charset="-122"/>
                          <a:sym typeface="SimHei"/>
                        </a:rPr>
                        <a:t>基础设施</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修筑铁路港口，兴建骑楼商圈</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捐资修路办学，兴建医院与学校</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151515"/>
                          </a:solidFill>
                          <a:latin typeface="MiSans VF Light" pitchFamily="2" charset="-122"/>
                          <a:ea typeface="MiSans VF Light" pitchFamily="2" charset="-122"/>
                          <a:cs typeface="MiSans VF Light" pitchFamily="2" charset="-122"/>
                        </a:rPr>
                        <a:t>联通中外关系，推动中国与东南亚经贸往来</a:t>
                      </a:r>
                      <a:endParaRPr lang="en-US" sz="14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1039767">
                <a:tc>
                  <a:txBody>
                    <a:bodyPr/>
                    <a:lstStyle/>
                    <a:p>
                      <a:pPr indent="0" algn="l">
                        <a:lnSpc>
                          <a:spcPct val="100000"/>
                        </a:lnSpc>
                        <a:defRPr/>
                      </a:pPr>
                      <a:r>
                        <a:rPr lang="en-US" sz="1400" b="0" i="0" u="none" strike="noStrike" dirty="0" err="1">
                          <a:solidFill>
                            <a:srgbClr val="151515"/>
                          </a:solidFill>
                          <a:latin typeface="MiSans VF Light" pitchFamily="2" charset="-122"/>
                          <a:ea typeface="MiSans VF Light" pitchFamily="2" charset="-122"/>
                          <a:cs typeface="MiSans VF Light" pitchFamily="2" charset="-122"/>
                          <a:sym typeface="SimHei"/>
                        </a:rPr>
                        <a:t>文化教育</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推广华文教育，带去潮剧与美食</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引入现代工厂，发展电力与航运</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151515"/>
                          </a:solidFill>
                          <a:latin typeface="MiSans VF Light" pitchFamily="2" charset="-122"/>
                          <a:ea typeface="MiSans VF Light" pitchFamily="2" charset="-122"/>
                          <a:cs typeface="MiSans VF Light" pitchFamily="2" charset="-122"/>
                        </a:rPr>
                        <a:t>捐建高校与奖学金（如汕头大学受侨领支持）</a:t>
                      </a:r>
                      <a:endParaRPr lang="en-US" altLang="zh-CN" sz="14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1039767">
                <a:tc>
                  <a:txBody>
                    <a:bodyPr/>
                    <a:lstStyle/>
                    <a:p>
                      <a:pPr indent="0" algn="l">
                        <a:lnSpc>
                          <a:spcPct val="100000"/>
                        </a:lnSpc>
                        <a:defRPr/>
                      </a:pPr>
                      <a:r>
                        <a:rPr lang="en-US" sz="1400" b="0" i="0" u="none" strike="noStrike" dirty="0" err="1">
                          <a:solidFill>
                            <a:srgbClr val="151515"/>
                          </a:solidFill>
                          <a:latin typeface="MiSans VF Light" pitchFamily="2" charset="-122"/>
                          <a:ea typeface="MiSans VF Light" pitchFamily="2" charset="-122"/>
                          <a:cs typeface="MiSans VF Light" pitchFamily="2" charset="-122"/>
                          <a:sym typeface="SimHei"/>
                        </a:rPr>
                        <a:t>政治社会</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37160" marR="137160" marT="137160" marB="13716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担任“甲必丹”，协调社群治理</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151515"/>
                          </a:solidFill>
                          <a:latin typeface="MiSans VF Light" pitchFamily="2" charset="-122"/>
                          <a:ea typeface="MiSans VF Light" pitchFamily="2" charset="-122"/>
                          <a:cs typeface="MiSans VF Light" pitchFamily="2" charset="-122"/>
                          <a:sym typeface="SimHei"/>
                        </a:rPr>
                        <a:t>捐助革命抗战，组织机工回国效力</a:t>
                      </a:r>
                      <a:endParaRPr lang="en-US" sz="11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dirty="0">
                          <a:solidFill>
                            <a:srgbClr val="151515"/>
                          </a:solidFill>
                          <a:latin typeface="MiSans VF Light" pitchFamily="2" charset="-122"/>
                          <a:ea typeface="MiSans VF Light" pitchFamily="2" charset="-122"/>
                          <a:cs typeface="MiSans VF Light" pitchFamily="2" charset="-122"/>
                        </a:rPr>
                        <a:t>海外社团发声，维护中国国际形象与主权尊严</a:t>
                      </a:r>
                      <a:endParaRPr lang="en-US" sz="1400" b="0" i="0" dirty="0">
                        <a:solidFill>
                          <a:srgbClr val="151515"/>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151515">
                          <a:alpha val="15294"/>
                        </a:srgbClr>
                      </a:solidFill>
                      <a:prstDash val="solid"/>
                      <a:round/>
                      <a:headEnd type="none" w="med" len="med"/>
                      <a:tailEnd type="none" w="med" len="med"/>
                    </a:lnT>
                    <a:lnB w="6350" cap="flat" cmpd="sng" algn="ctr">
                      <a:solidFill>
                        <a:srgbClr val="151515">
                          <a:alpha val="1529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bl>
          </a:graphicData>
        </a:graphic>
      </p:graphicFrame>
    </p:spTree>
    <p:extLst>
      <p:ext uri="{BB962C8B-B14F-4D97-AF65-F5344CB8AC3E}">
        <p14:creationId xmlns:p14="http://schemas.microsoft.com/office/powerpoint/2010/main" val="905768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E04ACE5E-4D74-535C-B810-0B3E8D2D19CC}"/>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68C7E68D-F121-56E5-ACDD-1DC11C725658}"/>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390DA4B2-CE8C-9EF2-0760-B88264E8B74A}"/>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16</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3" name="AutoShape 6">
            <a:extLst>
              <a:ext uri="{FF2B5EF4-FFF2-40B4-BE49-F238E27FC236}">
                <a16:creationId xmlns:a16="http://schemas.microsoft.com/office/drawing/2014/main" id="{4D87F46F-A376-4E4E-A57A-3D0159AA11D6}"/>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8" name="文本框 7">
            <a:extLst>
              <a:ext uri="{FF2B5EF4-FFF2-40B4-BE49-F238E27FC236}">
                <a16:creationId xmlns:a16="http://schemas.microsoft.com/office/drawing/2014/main" id="{2E335812-A5A9-F3FB-914F-AF4F3CB06925}"/>
              </a:ext>
            </a:extLst>
          </p:cNvPr>
          <p:cNvSpPr txBox="1"/>
          <p:nvPr/>
        </p:nvSpPr>
        <p:spPr>
          <a:xfrm>
            <a:off x="487680" y="4076604"/>
            <a:ext cx="4737463" cy="2916793"/>
          </a:xfrm>
          <a:prstGeom prst="rect">
            <a:avLst/>
          </a:prstGeom>
          <a:noFill/>
        </p:spPr>
        <p:txBody>
          <a:bodyPr wrap="square" tIns="72000" bIns="180000">
            <a:spAutoFit/>
          </a:bodyPr>
          <a:lstStyle/>
          <a:p>
            <a:pPr>
              <a:lnSpc>
                <a:spcPct val="125000"/>
              </a:lnSpc>
              <a:spcBef>
                <a:spcPts val="600"/>
              </a:spcBef>
              <a:defRPr/>
            </a:pPr>
            <a:r>
              <a:rPr lang="zh-CN" altLang="en-US" sz="2000" dirty="0">
                <a:solidFill>
                  <a:srgbClr val="151515">
                    <a:alpha val="80000"/>
                  </a:srgbClr>
                </a:solidFill>
                <a:latin typeface="MiSans VF Light" pitchFamily="2" charset="-122"/>
                <a:ea typeface="MiSans VF Light" pitchFamily="2" charset="-122"/>
                <a:cs typeface="MiSans VF Light" pitchFamily="2" charset="-122"/>
                <a:sym typeface="SimHei"/>
              </a:rPr>
              <a:t>这是对右侧图表数据的说明、解读。这是一段文案这是一段文案这是一段文案这是一段文案这是一段文案这是一段文案这是一段文案这是一段文案这是一段文案这是一段文案这是一段文案这是一段文案这是一段文案这是一段文案这是一段文案这是一段文案。</a:t>
            </a:r>
          </a:p>
        </p:txBody>
      </p:sp>
      <p:sp>
        <p:nvSpPr>
          <p:cNvPr id="6" name="AutoShape 3">
            <a:extLst>
              <a:ext uri="{FF2B5EF4-FFF2-40B4-BE49-F238E27FC236}">
                <a16:creationId xmlns:a16="http://schemas.microsoft.com/office/drawing/2014/main" id="{23DB51AB-00BF-4ACE-B7F6-EECF7767602D}"/>
              </a:ext>
            </a:extLst>
          </p:cNvPr>
          <p:cNvSpPr/>
          <p:nvPr/>
        </p:nvSpPr>
        <p:spPr>
          <a:xfrm>
            <a:off x="487680" y="1034024"/>
            <a:ext cx="15280639" cy="931665"/>
          </a:xfrm>
          <a:prstGeom prst="rect">
            <a:avLst/>
          </a:prstGeom>
          <a:noFill/>
          <a:ln w="16933" cap="flat" cmpd="sng">
            <a:noFill/>
            <a:prstDash val="solid"/>
            <a:round/>
          </a:ln>
        </p:spPr>
        <p:txBody>
          <a:bodyPr vert="horz" wrap="square" lIns="0" tIns="0" rIns="0" bIns="0" rtlCol="0" anchor="t" anchorCtr="0">
            <a:spAutoFit/>
          </a:bodyPr>
          <a:lstStyle/>
          <a:p>
            <a:pPr>
              <a:lnSpc>
                <a:spcPct val="108333"/>
              </a:lnSpc>
              <a:defRPr/>
            </a:pPr>
            <a:r>
              <a:rPr lang="zh-CN" altLang="en-US" sz="60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这是大标题</a:t>
            </a:r>
          </a:p>
        </p:txBody>
      </p:sp>
      <p:sp>
        <p:nvSpPr>
          <p:cNvPr id="5" name="文本框 4">
            <a:extLst>
              <a:ext uri="{FF2B5EF4-FFF2-40B4-BE49-F238E27FC236}">
                <a16:creationId xmlns:a16="http://schemas.microsoft.com/office/drawing/2014/main" id="{86F80EAE-FC9A-126B-5966-B23F394A7138}"/>
              </a:ext>
            </a:extLst>
          </p:cNvPr>
          <p:cNvSpPr txBox="1"/>
          <p:nvPr/>
        </p:nvSpPr>
        <p:spPr>
          <a:xfrm>
            <a:off x="487680" y="3361172"/>
            <a:ext cx="7640320" cy="582082"/>
          </a:xfrm>
          <a:prstGeom prst="rect">
            <a:avLst/>
          </a:prstGeom>
          <a:noFill/>
        </p:spPr>
        <p:txBody>
          <a:bodyPr wrap="square">
            <a:spAutoFit/>
          </a:bodyPr>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lang="zh-CN" altLang="en-US" sz="28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观点</a:t>
            </a:r>
            <a:r>
              <a:rPr kumimoji="0" lang="zh-CN" altLang="en-US" sz="28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rPr>
              <a:t>小标题</a:t>
            </a:r>
            <a:endParaRPr kumimoji="0" lang="en-US" altLang="zh-CN" sz="2800" b="1" i="0" u="none" strike="noStrike" kern="0" cap="none" spc="0" normalizeH="0" baseline="0" noProof="0" dirty="0">
              <a:ln>
                <a:noFill/>
              </a:ln>
              <a:solidFill>
                <a:srgbClr val="A6AA34"/>
              </a:solidFill>
              <a:effectLst/>
              <a:uLnTx/>
              <a:uFillTx/>
              <a:latin typeface="Source Han Serif SC Heavy" panose="02020400000000000000" pitchFamily="18" charset="-128"/>
              <a:ea typeface="Source Han Serif SC Heavy" panose="02020400000000000000" pitchFamily="18" charset="-128"/>
              <a:cs typeface="ChillDuanHeiSong_CompactRegular"/>
              <a:sym typeface="SimHei"/>
            </a:endParaRPr>
          </a:p>
        </p:txBody>
      </p:sp>
      <p:graphicFrame>
        <p:nvGraphicFramePr>
          <p:cNvPr id="3" name="159">
            <a:extLst>
              <a:ext uri="{FF2B5EF4-FFF2-40B4-BE49-F238E27FC236}">
                <a16:creationId xmlns:a16="http://schemas.microsoft.com/office/drawing/2014/main" id="{9DBDC340-215A-8C8F-66DC-0A8FB1A9496E}"/>
              </a:ext>
            </a:extLst>
          </p:cNvPr>
          <p:cNvGraphicFramePr/>
          <p:nvPr>
            <p:extLst>
              <p:ext uri="{D42A27DB-BD31-4B8C-83A1-F6EECF244321}">
                <p14:modId xmlns:p14="http://schemas.microsoft.com/office/powerpoint/2010/main" val="144227863"/>
              </p:ext>
            </p:extLst>
          </p:nvPr>
        </p:nvGraphicFramePr>
        <p:xfrm>
          <a:off x="6779339" y="2649893"/>
          <a:ext cx="8988979" cy="546008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8523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E3AA09FC-48C1-5D6B-7801-67A2C63C75C9}"/>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39102105-CF21-FAD1-057E-5AD898279504}"/>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8641897C-5B25-91EA-EAD0-D9B56E9E91E8}"/>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17</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3" name="AutoShape 5">
            <a:extLst>
              <a:ext uri="{FF2B5EF4-FFF2-40B4-BE49-F238E27FC236}">
                <a16:creationId xmlns:a16="http://schemas.microsoft.com/office/drawing/2014/main" id="{D6ACBE6D-E397-5E8D-B1DE-8D2146C8B8C1}"/>
              </a:ext>
            </a:extLst>
          </p:cNvPr>
          <p:cNvSpPr/>
          <p:nvPr/>
        </p:nvSpPr>
        <p:spPr>
          <a:xfrm>
            <a:off x="2230437" y="1080463"/>
            <a:ext cx="11795125" cy="738664"/>
          </a:xfrm>
          <a:prstGeom prst="rect">
            <a:avLst/>
          </a:prstGeom>
          <a:noFill/>
          <a:ln w="16933" cap="flat" cmpd="sng">
            <a:noFill/>
            <a:prstDash val="solid"/>
            <a:round/>
          </a:ln>
        </p:spPr>
        <p:txBody>
          <a:bodyPr vert="horz" wrap="square" lIns="0" tIns="0" rIns="0" bIns="0" rtlCol="0" anchor="t" anchorCtr="0">
            <a:spAutoFit/>
          </a:bodyPr>
          <a:lstStyle/>
          <a:p>
            <a:pPr>
              <a:spcAft>
                <a:spcPts val="1200"/>
              </a:spcAft>
              <a:defRPr/>
            </a:pPr>
            <a:r>
              <a:rPr lang="zh-CN" altLang="en-US" sz="48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rPr>
              <a:t>十去六死三留一回头，但从未忘记自己的根</a:t>
            </a:r>
            <a:endParaRPr lang="en-US" altLang="zh-CN" sz="4800" b="1" u="none" strike="noStrike" dirty="0">
              <a:solidFill>
                <a:srgbClr val="151515"/>
              </a:solidFill>
              <a:latin typeface="Source Han Serif SC Heavy" panose="02020400000000000000" pitchFamily="18" charset="-128"/>
              <a:ea typeface="Source Han Serif SC Heavy" panose="02020400000000000000" pitchFamily="18" charset="-128"/>
              <a:cs typeface="SimHei"/>
              <a:sym typeface="SimHei"/>
            </a:endParaRPr>
          </a:p>
        </p:txBody>
      </p:sp>
      <p:pic>
        <p:nvPicPr>
          <p:cNvPr id="30" name="图形 29">
            <a:extLst>
              <a:ext uri="{FF2B5EF4-FFF2-40B4-BE49-F238E27FC236}">
                <a16:creationId xmlns:a16="http://schemas.microsoft.com/office/drawing/2014/main" id="{2AA9C1A3-0D62-FE0D-C791-0AA55DA594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5051" y="1132564"/>
            <a:ext cx="694229" cy="485960"/>
          </a:xfrm>
          <a:prstGeom prst="rect">
            <a:avLst/>
          </a:prstGeom>
        </p:spPr>
      </p:pic>
      <p:sp>
        <p:nvSpPr>
          <p:cNvPr id="2" name="矩形 1">
            <a:extLst>
              <a:ext uri="{FF2B5EF4-FFF2-40B4-BE49-F238E27FC236}">
                <a16:creationId xmlns:a16="http://schemas.microsoft.com/office/drawing/2014/main" id="{BFC28966-D5E4-93C9-5E89-A8897420A696}"/>
              </a:ext>
            </a:extLst>
          </p:cNvPr>
          <p:cNvSpPr/>
          <p:nvPr/>
        </p:nvSpPr>
        <p:spPr>
          <a:xfrm>
            <a:off x="-1" y="4476879"/>
            <a:ext cx="10248181" cy="4667121"/>
          </a:xfrm>
          <a:prstGeom prst="rect">
            <a:avLst/>
          </a:prstGeom>
          <a:pattFill prst="openDmnd">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097FAA1D-88C7-06AC-86D3-58909F5E5DED}"/>
              </a:ext>
            </a:extLst>
          </p:cNvPr>
          <p:cNvSpPr/>
          <p:nvPr/>
        </p:nvSpPr>
        <p:spPr>
          <a:xfrm>
            <a:off x="10248181" y="4476879"/>
            <a:ext cx="4037162" cy="4667121"/>
          </a:xfrm>
          <a:prstGeom prst="rect">
            <a:avLst/>
          </a:prstGeom>
          <a:pattFill prst="trellis">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8B417219-76F2-2E48-633F-D552E78379BE}"/>
              </a:ext>
            </a:extLst>
          </p:cNvPr>
          <p:cNvSpPr/>
          <p:nvPr/>
        </p:nvSpPr>
        <p:spPr>
          <a:xfrm>
            <a:off x="14285343" y="4476879"/>
            <a:ext cx="1966822" cy="4667121"/>
          </a:xfrm>
          <a:prstGeom prst="rect">
            <a:avLst/>
          </a:prstGeom>
          <a:pattFill prst="narVert">
            <a:fgClr>
              <a:srgbClr val="A6AA34"/>
            </a:fgClr>
            <a:bgClr>
              <a:srgbClr val="E3E3DE"/>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36E37533-F1C5-AA64-CC36-E7D7C634F2A6}"/>
              </a:ext>
            </a:extLst>
          </p:cNvPr>
          <p:cNvSpPr txBox="1"/>
          <p:nvPr/>
        </p:nvSpPr>
        <p:spPr>
          <a:xfrm>
            <a:off x="2230437" y="2711679"/>
            <a:ext cx="11795125" cy="874150"/>
          </a:xfrm>
          <a:prstGeom prst="rect">
            <a:avLst/>
          </a:prstGeom>
          <a:noFill/>
        </p:spPr>
        <p:txBody>
          <a:bodyPr wrap="square">
            <a:spAutoFit/>
          </a:bodyPr>
          <a:lstStyle/>
          <a:p>
            <a:pPr marL="0" marR="0" lvl="0" indent="0" algn="l" defTabSz="914400" rtl="0" eaLnBrk="1" fontAlgn="auto" latinLnBrk="0" hangingPunct="1">
              <a:lnSpc>
                <a:spcPct val="133333"/>
              </a:lnSpc>
              <a:spcBef>
                <a:spcPts val="0"/>
              </a:spcBef>
              <a:spcAft>
                <a:spcPts val="0"/>
              </a:spcAft>
              <a:buClr>
                <a:srgbClr val="000000"/>
              </a:buClr>
              <a:buSzTx/>
              <a:buFont typeface="Arial"/>
              <a:buNone/>
              <a:tabLst/>
              <a:defRPr/>
            </a:pP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从契约华工到百万富豪，从红头船到跨国企业</a:t>
            </a:r>
            <a:r>
              <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a:t>
            </a:r>
            <a:r>
              <a:rPr kumimoji="0" lang="zh-CN" altLang="en-US"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rPr>
              <a:t>潮汕华侨们用坚韧、智慧与情义，书写了跨越山海的时代传奇。自强不息，爱国爱乡是他们的核心精神。</a:t>
            </a:r>
            <a:endParaRPr kumimoji="0" lang="en-US" altLang="zh-CN" sz="2000" b="0" i="0" u="none" strike="noStrike" kern="0" cap="none" spc="0" normalizeH="0" baseline="0" noProof="0" dirty="0">
              <a:ln>
                <a:noFill/>
              </a:ln>
              <a:solidFill>
                <a:srgbClr val="151515"/>
              </a:solidFill>
              <a:effectLst/>
              <a:uLnTx/>
              <a:uFillTx/>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350797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1EC"/>
        </a:solidFill>
        <a:effectLst/>
      </p:bgPr>
    </p:bg>
    <p:spTree>
      <p:nvGrpSpPr>
        <p:cNvPr id="1" name="">
          <a:extLst>
            <a:ext uri="{FF2B5EF4-FFF2-40B4-BE49-F238E27FC236}">
              <a16:creationId xmlns:a16="http://schemas.microsoft.com/office/drawing/2014/main" id="{65D6C25E-A55F-DF87-66DF-CC96A02CE18C}"/>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76DAA355-2A2D-691E-53A1-A8B9C1FD645B}"/>
              </a:ext>
            </a:extLst>
          </p:cNvPr>
          <p:cNvSpPr/>
          <p:nvPr/>
        </p:nvSpPr>
        <p:spPr>
          <a:xfrm>
            <a:off x="487680" y="385358"/>
            <a:ext cx="3077046" cy="212366"/>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12" name="AutoShape 2">
            <a:extLst>
              <a:ext uri="{FF2B5EF4-FFF2-40B4-BE49-F238E27FC236}">
                <a16:creationId xmlns:a16="http://schemas.microsoft.com/office/drawing/2014/main" id="{F8E79C44-2736-8C36-A024-865FCC407A09}"/>
              </a:ext>
            </a:extLst>
          </p:cNvPr>
          <p:cNvSpPr/>
          <p:nvPr/>
        </p:nvSpPr>
        <p:spPr>
          <a:xfrm>
            <a:off x="12168320" y="385358"/>
            <a:ext cx="3600000" cy="212366"/>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PAGE</a:t>
            </a:r>
            <a:r>
              <a:rPr lang="zh-CN" altLang="en-US"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 </a:t>
            </a:r>
            <a:r>
              <a:rPr lang="en-US" altLang="zh-CN" sz="1200" dirty="0">
                <a:solidFill>
                  <a:srgbClr val="3B3B37">
                    <a:alpha val="50000"/>
                  </a:srgbClr>
                </a:solidFill>
                <a:latin typeface="Andale Mono" panose="020B0509000000000004" pitchFamily="49" charset="0"/>
                <a:ea typeface="MiSans VF Light" pitchFamily="2" charset="-122"/>
                <a:cs typeface="MiSans VF Light" pitchFamily="2" charset="-122"/>
                <a:sym typeface="JetBrains Mono"/>
              </a:rPr>
              <a:t>18</a:t>
            </a:r>
            <a:endParaRPr lang="en-US" sz="1200" dirty="0">
              <a:solidFill>
                <a:srgbClr val="3B3B37">
                  <a:alpha val="50000"/>
                </a:srgbClr>
              </a:solidFill>
              <a:latin typeface="Andale Mono" panose="020B0509000000000004" pitchFamily="49" charset="0"/>
              <a:ea typeface="MiSans VF Light" pitchFamily="2" charset="-122"/>
              <a:cs typeface="MiSans VF Light" pitchFamily="2" charset="-122"/>
            </a:endParaRPr>
          </a:p>
        </p:txBody>
      </p:sp>
      <p:sp>
        <p:nvSpPr>
          <p:cNvPr id="3" name="AutoShape 5">
            <a:extLst>
              <a:ext uri="{FF2B5EF4-FFF2-40B4-BE49-F238E27FC236}">
                <a16:creationId xmlns:a16="http://schemas.microsoft.com/office/drawing/2014/main" id="{EE2C5140-AB2A-3C71-2A9E-F3F811A7E64A}"/>
              </a:ext>
            </a:extLst>
          </p:cNvPr>
          <p:cNvSpPr/>
          <p:nvPr/>
        </p:nvSpPr>
        <p:spPr>
          <a:xfrm>
            <a:off x="2230437" y="2616625"/>
            <a:ext cx="11795125" cy="738664"/>
          </a:xfrm>
          <a:prstGeom prst="rect">
            <a:avLst/>
          </a:prstGeom>
          <a:noFill/>
          <a:ln w="16933" cap="flat" cmpd="sng">
            <a:noFill/>
            <a:prstDash val="solid"/>
            <a:round/>
          </a:ln>
        </p:spPr>
        <p:txBody>
          <a:bodyPr vert="horz" wrap="square" lIns="0" tIns="0" rIns="0" bIns="0" rtlCol="0" anchor="b" anchorCtr="0">
            <a:spAutoFit/>
          </a:bodyPr>
          <a:lstStyle/>
          <a:p>
            <a:pPr>
              <a:spcAft>
                <a:spcPts val="1200"/>
              </a:spcAft>
              <a:defRPr/>
            </a:pPr>
            <a:r>
              <a:rPr lang="zh-CN" altLang="en-US" sz="4800" b="1" dirty="0">
                <a:solidFill>
                  <a:srgbClr val="151515"/>
                </a:solidFill>
                <a:latin typeface="Source Han Serif SC Heavy" panose="02020400000000000000" pitchFamily="18" charset="-128"/>
                <a:ea typeface="Source Han Serif SC Heavy" panose="02020400000000000000" pitchFamily="18" charset="-128"/>
                <a:cs typeface="SimHei"/>
                <a:sym typeface="SimHei"/>
              </a:rPr>
              <a:t>华侨的根系深扎于故土，枝叶却伸向了世界</a:t>
            </a:r>
            <a:endParaRPr lang="en-US" altLang="zh-CN" sz="2000" b="1" u="none" strike="noStrike" dirty="0">
              <a:solidFill>
                <a:srgbClr val="151515"/>
              </a:solidFill>
              <a:latin typeface="Source Han Serif SC Heavy" panose="02020400000000000000" pitchFamily="18" charset="-128"/>
              <a:ea typeface="Source Han Serif SC Heavy" panose="02020400000000000000" pitchFamily="18" charset="-128"/>
              <a:cs typeface="MiSans VF Light" pitchFamily="2" charset="-122"/>
              <a:sym typeface="SimHei"/>
            </a:endParaRPr>
          </a:p>
        </p:txBody>
      </p:sp>
      <p:pic>
        <p:nvPicPr>
          <p:cNvPr id="30" name="图形 29">
            <a:extLst>
              <a:ext uri="{FF2B5EF4-FFF2-40B4-BE49-F238E27FC236}">
                <a16:creationId xmlns:a16="http://schemas.microsoft.com/office/drawing/2014/main" id="{2A5FFC25-3D5D-A053-36EB-BA9C8693F8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6208" y="2208984"/>
            <a:ext cx="694229" cy="485960"/>
          </a:xfrm>
          <a:prstGeom prst="rect">
            <a:avLst/>
          </a:prstGeom>
        </p:spPr>
      </p:pic>
      <p:sp>
        <p:nvSpPr>
          <p:cNvPr id="14" name="AutoShape 5">
            <a:extLst>
              <a:ext uri="{FF2B5EF4-FFF2-40B4-BE49-F238E27FC236}">
                <a16:creationId xmlns:a16="http://schemas.microsoft.com/office/drawing/2014/main" id="{D99CEEA8-5A59-1E27-D664-7B8030ECCA76}"/>
              </a:ext>
            </a:extLst>
          </p:cNvPr>
          <p:cNvSpPr/>
          <p:nvPr/>
        </p:nvSpPr>
        <p:spPr>
          <a:xfrm>
            <a:off x="2230437" y="3527041"/>
            <a:ext cx="11795125" cy="372474"/>
          </a:xfrm>
          <a:prstGeom prst="rect">
            <a:avLst/>
          </a:prstGeom>
          <a:noFill/>
          <a:ln w="16933" cap="flat" cmpd="sng">
            <a:noFill/>
            <a:prstDash val="solid"/>
            <a:round/>
          </a:ln>
        </p:spPr>
        <p:txBody>
          <a:bodyPr vert="horz" wrap="square" lIns="0" tIns="0" rIns="0" bIns="0" rtlCol="0" anchor="t" anchorCtr="0">
            <a:spAutoFit/>
          </a:bodyPr>
          <a:lstStyle/>
          <a:p>
            <a:pPr>
              <a:lnSpc>
                <a:spcPct val="133333"/>
              </a:lnSpc>
              <a:spcAft>
                <a:spcPts val="1200"/>
              </a:spcAft>
              <a:defRPr/>
            </a:pPr>
            <a:r>
              <a:rPr lang="zh-CN" altLang="en-US" sz="2000" u="none" strike="noStrike" dirty="0">
                <a:solidFill>
                  <a:srgbClr val="151515"/>
                </a:solidFill>
                <a:latin typeface="MiSans VF Light" pitchFamily="2" charset="-122"/>
                <a:ea typeface="MiSans VF Light" pitchFamily="2" charset="-122"/>
                <a:cs typeface="MiSans VF Light" pitchFamily="2" charset="-122"/>
                <a:sym typeface="SimHei"/>
              </a:rPr>
              <a:t>他们在历史的洪流中完成了从‘落叶归根’到‘落地生根’的跨越，最终实现了家族血脉与民族精神的新生。</a:t>
            </a:r>
            <a:endParaRPr lang="en-US" altLang="zh-CN" sz="2000" u="none" strike="noStrike" dirty="0">
              <a:solidFill>
                <a:srgbClr val="151515"/>
              </a:solidFill>
              <a:latin typeface="MiSans VF Light" pitchFamily="2" charset="-122"/>
              <a:ea typeface="MiSans VF Light" pitchFamily="2" charset="-122"/>
              <a:cs typeface="MiSans VF Light" pitchFamily="2" charset="-122"/>
              <a:sym typeface="SimHei"/>
            </a:endParaRPr>
          </a:p>
        </p:txBody>
      </p:sp>
      <p:cxnSp>
        <p:nvCxnSpPr>
          <p:cNvPr id="18" name="Connector 4">
            <a:extLst>
              <a:ext uri="{FF2B5EF4-FFF2-40B4-BE49-F238E27FC236}">
                <a16:creationId xmlns:a16="http://schemas.microsoft.com/office/drawing/2014/main" id="{8BB69103-65ED-228D-3DD1-9D419D287322}"/>
              </a:ext>
            </a:extLst>
          </p:cNvPr>
          <p:cNvCxnSpPr>
            <a:cxnSpLocks/>
          </p:cNvCxnSpPr>
          <p:nvPr/>
        </p:nvCxnSpPr>
        <p:spPr>
          <a:xfrm>
            <a:off x="6086953" y="5456535"/>
            <a:ext cx="0" cy="2158703"/>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23" name="Connector 4">
            <a:extLst>
              <a:ext uri="{FF2B5EF4-FFF2-40B4-BE49-F238E27FC236}">
                <a16:creationId xmlns:a16="http://schemas.microsoft.com/office/drawing/2014/main" id="{AFDC90C1-D230-79CB-82C7-8892954B5FF3}"/>
              </a:ext>
            </a:extLst>
          </p:cNvPr>
          <p:cNvCxnSpPr>
            <a:cxnSpLocks/>
          </p:cNvCxnSpPr>
          <p:nvPr/>
        </p:nvCxnSpPr>
        <p:spPr>
          <a:xfrm>
            <a:off x="11305724" y="5456535"/>
            <a:ext cx="0" cy="2158703"/>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cxnSp>
        <p:nvCxnSpPr>
          <p:cNvPr id="26" name="Connector 4">
            <a:extLst>
              <a:ext uri="{FF2B5EF4-FFF2-40B4-BE49-F238E27FC236}">
                <a16:creationId xmlns:a16="http://schemas.microsoft.com/office/drawing/2014/main" id="{57C69107-1B3B-0814-6ED9-B00980A281F7}"/>
              </a:ext>
            </a:extLst>
          </p:cNvPr>
          <p:cNvCxnSpPr>
            <a:cxnSpLocks/>
          </p:cNvCxnSpPr>
          <p:nvPr/>
        </p:nvCxnSpPr>
        <p:spPr>
          <a:xfrm>
            <a:off x="868183" y="5456535"/>
            <a:ext cx="0" cy="2158703"/>
          </a:xfrm>
          <a:prstGeom prst="straightConnector1">
            <a:avLst/>
          </a:prstGeom>
          <a:solidFill>
            <a:srgbClr val="E5E5E0">
              <a:alpha val="100000"/>
            </a:srgbClr>
          </a:solidFill>
          <a:ln w="12700" cap="flat" cmpd="sng">
            <a:solidFill>
              <a:srgbClr val="A6AA34"/>
            </a:solidFill>
            <a:prstDash val="solid"/>
            <a:miter lim="800000"/>
            <a:headEnd type="none" w="med" len="med"/>
            <a:tailEnd type="none" w="med" len="med"/>
          </a:ln>
        </p:spPr>
      </p:cxnSp>
      <p:sp>
        <p:nvSpPr>
          <p:cNvPr id="29" name="AutoShape 6">
            <a:extLst>
              <a:ext uri="{FF2B5EF4-FFF2-40B4-BE49-F238E27FC236}">
                <a16:creationId xmlns:a16="http://schemas.microsoft.com/office/drawing/2014/main" id="{D37973D3-2CCB-3774-B63D-4C9605FBF895}"/>
              </a:ext>
            </a:extLst>
          </p:cNvPr>
          <p:cNvSpPr/>
          <p:nvPr/>
        </p:nvSpPr>
        <p:spPr>
          <a:xfrm>
            <a:off x="487680" y="852228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1200" b="0" i="0" u="none" strike="noStrike" dirty="0">
                <a:solidFill>
                  <a:srgbClr val="3B3B37">
                    <a:alpha val="50000"/>
                  </a:srgbClr>
                </a:solidFill>
                <a:latin typeface="Andale Mono" panose="020B0509000000000004" pitchFamily="49" charset="0"/>
                <a:ea typeface="JetBrains Mono"/>
                <a:cs typeface="JetBrains Mono"/>
                <a:sym typeface="JetBrains Mono"/>
              </a:rPr>
              <a:t>YUANBAO</a:t>
            </a:r>
            <a:endParaRPr lang="zh-CN" altLang="en-US" sz="1200" b="0" i="0" u="none" strike="noStrike" dirty="0">
              <a:solidFill>
                <a:srgbClr val="3B3B37">
                  <a:alpha val="50000"/>
                </a:srgbClr>
              </a:solidFill>
              <a:latin typeface="Andale Mono" panose="020B0509000000000004" pitchFamily="49" charset="0"/>
              <a:ea typeface="JetBrains Mono"/>
              <a:cs typeface="JetBrains Mono"/>
              <a:sym typeface="JetBrains Mono"/>
            </a:endParaRPr>
          </a:p>
        </p:txBody>
      </p:sp>
      <p:sp>
        <p:nvSpPr>
          <p:cNvPr id="2" name="文本框 1">
            <a:extLst>
              <a:ext uri="{FF2B5EF4-FFF2-40B4-BE49-F238E27FC236}">
                <a16:creationId xmlns:a16="http://schemas.microsoft.com/office/drawing/2014/main" id="{A172B4DF-36B8-2751-EB78-8894BF54ADE6}"/>
              </a:ext>
            </a:extLst>
          </p:cNvPr>
          <p:cNvSpPr txBox="1"/>
          <p:nvPr/>
        </p:nvSpPr>
        <p:spPr>
          <a:xfrm>
            <a:off x="1102223"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6AA34"/>
                </a:solidFill>
                <a:latin typeface="MiSans VF Regular" pitchFamily="2" charset="-122"/>
                <a:ea typeface="MiSans VF Regular" pitchFamily="2" charset="-122"/>
                <a:cs typeface="MiSans VF Regular" pitchFamily="2" charset="-122"/>
                <a:sym typeface="SimHei"/>
              </a:rPr>
              <a:t>01</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a:t>
            </a:r>
            <a:r>
              <a:rPr lang="en-US" altLang="zh-CN" sz="1600" dirty="0">
                <a:solidFill>
                  <a:srgbClr val="A6AA34"/>
                </a:solidFill>
                <a:latin typeface="MiSans VF Regular" pitchFamily="2" charset="-122"/>
                <a:ea typeface="MiSans VF Regular" pitchFamily="2" charset="-122"/>
                <a:cs typeface="MiSans VF Regular" pitchFamily="2" charset="-122"/>
                <a:sym typeface="SimHei"/>
              </a:rPr>
              <a:t>·</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血脉寻根</a:t>
            </a:r>
            <a:endPar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endParaRPr>
          </a:p>
        </p:txBody>
      </p:sp>
      <p:sp>
        <p:nvSpPr>
          <p:cNvPr id="4" name="文本框 3">
            <a:extLst>
              <a:ext uri="{FF2B5EF4-FFF2-40B4-BE49-F238E27FC236}">
                <a16:creationId xmlns:a16="http://schemas.microsoft.com/office/drawing/2014/main" id="{09CD95D0-FFF5-99E2-D3EE-8B26B04E6D2C}"/>
              </a:ext>
            </a:extLst>
          </p:cNvPr>
          <p:cNvSpPr txBox="1"/>
          <p:nvPr/>
        </p:nvSpPr>
        <p:spPr>
          <a:xfrm>
            <a:off x="1102223" y="5929589"/>
            <a:ext cx="3848050" cy="307777"/>
          </a:xfrm>
          <a:prstGeom prst="rect">
            <a:avLst/>
          </a:prstGeom>
          <a:noFill/>
        </p:spPr>
        <p:txBody>
          <a:bodyPr wrap="square" lIns="90000" tIns="0" bIns="0">
            <a:spAutoFit/>
          </a:bodyPr>
          <a:lstStyle/>
          <a:p>
            <a:pPr>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落叶归根</a:t>
            </a:r>
            <a:endPar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endParaRPr>
          </a:p>
        </p:txBody>
      </p:sp>
      <p:sp>
        <p:nvSpPr>
          <p:cNvPr id="5" name="文本框 4">
            <a:extLst>
              <a:ext uri="{FF2B5EF4-FFF2-40B4-BE49-F238E27FC236}">
                <a16:creationId xmlns:a16="http://schemas.microsoft.com/office/drawing/2014/main" id="{09233A82-98DA-5F26-FE64-0FC9C5BBD16A}"/>
              </a:ext>
            </a:extLst>
          </p:cNvPr>
          <p:cNvSpPr txBox="1"/>
          <p:nvPr/>
        </p:nvSpPr>
        <p:spPr>
          <a:xfrm>
            <a:off x="1102223"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无论身处南洋多远，华侨始终视潮汕为精神原乡。修族谱、祭祖先、建祠堂，是对家族血脉的确认，也是在异域他乡寻找文化认同的锚点。</a:t>
            </a:r>
          </a:p>
        </p:txBody>
      </p:sp>
      <p:sp>
        <p:nvSpPr>
          <p:cNvPr id="7" name="文本框 6">
            <a:extLst>
              <a:ext uri="{FF2B5EF4-FFF2-40B4-BE49-F238E27FC236}">
                <a16:creationId xmlns:a16="http://schemas.microsoft.com/office/drawing/2014/main" id="{D3FFA8F5-7EB5-6BE1-FA8C-2A063A890AE3}"/>
              </a:ext>
            </a:extLst>
          </p:cNvPr>
          <p:cNvSpPr txBox="1"/>
          <p:nvPr/>
        </p:nvSpPr>
        <p:spPr>
          <a:xfrm>
            <a:off x="6356395"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6AA34"/>
                </a:solidFill>
                <a:latin typeface="MiSans VF Regular" pitchFamily="2" charset="-122"/>
                <a:ea typeface="MiSans VF Regular" pitchFamily="2" charset="-122"/>
                <a:cs typeface="MiSans VF Regular" pitchFamily="2" charset="-122"/>
                <a:sym typeface="SimHei"/>
              </a:rPr>
              <a:t>02</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a:t>
            </a:r>
            <a:r>
              <a:rPr lang="en-US" altLang="zh-CN" sz="1600" dirty="0">
                <a:solidFill>
                  <a:srgbClr val="A6AA34"/>
                </a:solidFill>
                <a:latin typeface="MiSans VF Regular" pitchFamily="2" charset="-122"/>
                <a:ea typeface="MiSans VF Regular" pitchFamily="2" charset="-122"/>
                <a:cs typeface="MiSans VF Regular" pitchFamily="2" charset="-122"/>
                <a:sym typeface="SimHei"/>
              </a:rPr>
              <a:t>·</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文化反哺</a:t>
            </a:r>
            <a:endParaRPr lang="en-US" altLang="zh-CN" sz="1600" dirty="0">
              <a:solidFill>
                <a:srgbClr val="A6AA34"/>
              </a:solidFill>
              <a:latin typeface="MiSans VF Regular" pitchFamily="2" charset="-122"/>
              <a:ea typeface="MiSans VF Regular" pitchFamily="2" charset="-122"/>
              <a:cs typeface="MiSans VF Regular" pitchFamily="2" charset="-122"/>
              <a:sym typeface="SimHei"/>
            </a:endParaRPr>
          </a:p>
        </p:txBody>
      </p:sp>
      <p:sp>
        <p:nvSpPr>
          <p:cNvPr id="8" name="文本框 7">
            <a:extLst>
              <a:ext uri="{FF2B5EF4-FFF2-40B4-BE49-F238E27FC236}">
                <a16:creationId xmlns:a16="http://schemas.microsoft.com/office/drawing/2014/main" id="{B3B10A41-07E9-167F-A6F7-13A7EF7AFB24}"/>
              </a:ext>
            </a:extLst>
          </p:cNvPr>
          <p:cNvSpPr txBox="1"/>
          <p:nvPr/>
        </p:nvSpPr>
        <p:spPr>
          <a:xfrm>
            <a:off x="6356395" y="5929589"/>
            <a:ext cx="3848050" cy="307777"/>
          </a:xfrm>
          <a:prstGeom prst="rect">
            <a:avLst/>
          </a:prstGeom>
          <a:noFill/>
        </p:spPr>
        <p:txBody>
          <a:bodyPr wrap="square" lIns="90000" tIns="0" bIns="0">
            <a:spAutoFit/>
          </a:bodyPr>
          <a:lstStyle/>
          <a:p>
            <a:pPr>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薪火相传</a:t>
            </a:r>
            <a:endPar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endParaRPr>
          </a:p>
        </p:txBody>
      </p:sp>
      <p:sp>
        <p:nvSpPr>
          <p:cNvPr id="9" name="文本框 8">
            <a:extLst>
              <a:ext uri="{FF2B5EF4-FFF2-40B4-BE49-F238E27FC236}">
                <a16:creationId xmlns:a16="http://schemas.microsoft.com/office/drawing/2014/main" id="{7761143E-BA98-0162-064F-7BD401F82F91}"/>
              </a:ext>
            </a:extLst>
          </p:cNvPr>
          <p:cNvSpPr txBox="1"/>
          <p:nvPr/>
        </p:nvSpPr>
        <p:spPr>
          <a:xfrm>
            <a:off x="6356395"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将海外的先进技术与理念带回潮汕，修复古村落，保护非遗。他们不仅是资金的提供者，更是文化传承的摆渡人，让古老乡土焕发时代光彩。</a:t>
            </a:r>
          </a:p>
        </p:txBody>
      </p:sp>
      <p:sp>
        <p:nvSpPr>
          <p:cNvPr id="13" name="文本框 12">
            <a:extLst>
              <a:ext uri="{FF2B5EF4-FFF2-40B4-BE49-F238E27FC236}">
                <a16:creationId xmlns:a16="http://schemas.microsoft.com/office/drawing/2014/main" id="{30073407-92B2-4C5A-9803-750BC74A65EF}"/>
              </a:ext>
            </a:extLst>
          </p:cNvPr>
          <p:cNvSpPr txBox="1"/>
          <p:nvPr/>
        </p:nvSpPr>
        <p:spPr>
          <a:xfrm>
            <a:off x="11575165" y="5485564"/>
            <a:ext cx="3848050" cy="283219"/>
          </a:xfrm>
          <a:prstGeom prst="rect">
            <a:avLst/>
          </a:prstGeom>
          <a:noFill/>
        </p:spPr>
        <p:txBody>
          <a:bodyPr wrap="square" lIns="90000" tIns="0" bIns="0">
            <a:spAutoFit/>
          </a:bodyPr>
          <a:lstStyle/>
          <a:p>
            <a:pPr>
              <a:lnSpc>
                <a:spcPct val="125000"/>
              </a:lnSpc>
              <a:defRPr/>
            </a:pPr>
            <a:r>
              <a:rPr lang="en-US" altLang="zh-CN" sz="1600" dirty="0">
                <a:solidFill>
                  <a:srgbClr val="A6AA34"/>
                </a:solidFill>
                <a:latin typeface="MiSans VF Regular" pitchFamily="2" charset="-122"/>
                <a:ea typeface="MiSans VF Regular" pitchFamily="2" charset="-122"/>
                <a:cs typeface="MiSans VF Regular" pitchFamily="2" charset="-122"/>
                <a:sym typeface="SimHei"/>
              </a:rPr>
              <a:t>03</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a:t>
            </a:r>
            <a:r>
              <a:rPr lang="en-US" altLang="zh-CN" sz="1600" dirty="0">
                <a:solidFill>
                  <a:srgbClr val="A6AA34"/>
                </a:solidFill>
                <a:latin typeface="MiSans VF Regular" pitchFamily="2" charset="-122"/>
                <a:ea typeface="MiSans VF Regular" pitchFamily="2" charset="-122"/>
                <a:cs typeface="MiSans VF Regular" pitchFamily="2" charset="-122"/>
                <a:sym typeface="SimHei"/>
              </a:rPr>
              <a:t>·</a:t>
            </a:r>
            <a:r>
              <a:rPr lang="zh-CN" altLang="en-US" sz="1600" dirty="0">
                <a:solidFill>
                  <a:srgbClr val="A6AA34"/>
                </a:solidFill>
                <a:latin typeface="MiSans VF Regular" pitchFamily="2" charset="-122"/>
                <a:ea typeface="MiSans VF Regular" pitchFamily="2" charset="-122"/>
                <a:cs typeface="MiSans VF Regular" pitchFamily="2" charset="-122"/>
                <a:sym typeface="SimHei"/>
              </a:rPr>
              <a:t> 时代新生</a:t>
            </a:r>
            <a:endParaRPr lang="en-US" altLang="zh-CN" sz="1600" dirty="0">
              <a:solidFill>
                <a:srgbClr val="A6AA34"/>
              </a:solidFill>
              <a:latin typeface="MiSans VF Regular" pitchFamily="2" charset="-122"/>
              <a:ea typeface="MiSans VF Regular" pitchFamily="2" charset="-122"/>
              <a:cs typeface="MiSans VF Regular" pitchFamily="2" charset="-122"/>
              <a:sym typeface="SimHei"/>
            </a:endParaRPr>
          </a:p>
        </p:txBody>
      </p:sp>
      <p:sp>
        <p:nvSpPr>
          <p:cNvPr id="15" name="文本框 14">
            <a:extLst>
              <a:ext uri="{FF2B5EF4-FFF2-40B4-BE49-F238E27FC236}">
                <a16:creationId xmlns:a16="http://schemas.microsoft.com/office/drawing/2014/main" id="{A1AF3E04-685A-E06F-B46E-663F7CAE56AE}"/>
              </a:ext>
            </a:extLst>
          </p:cNvPr>
          <p:cNvSpPr txBox="1"/>
          <p:nvPr/>
        </p:nvSpPr>
        <p:spPr>
          <a:xfrm>
            <a:off x="11575165" y="5929589"/>
            <a:ext cx="3848050" cy="307777"/>
          </a:xfrm>
          <a:prstGeom prst="rect">
            <a:avLst/>
          </a:prstGeom>
          <a:noFill/>
        </p:spPr>
        <p:txBody>
          <a:bodyPr wrap="square" lIns="90000" tIns="0" bIns="0">
            <a:spAutoFit/>
          </a:bodyPr>
          <a:lstStyle/>
          <a:p>
            <a:pPr>
              <a:defRPr/>
            </a:pPr>
            <a:r>
              <a:rPr lang="zh-CN" altLang="en-US" sz="2000" b="1" dirty="0">
                <a:solidFill>
                  <a:srgbClr val="A6AA34"/>
                </a:solidFill>
                <a:latin typeface="Source Han Serif SC Heavy" panose="02020400000000000000" pitchFamily="18" charset="-128"/>
                <a:ea typeface="Source Han Serif SC Heavy" panose="02020400000000000000" pitchFamily="18" charset="-128"/>
                <a:cs typeface="ChillDuanHeiSong_CompactRegular"/>
                <a:sym typeface="SimHei"/>
              </a:rPr>
              <a:t>落地生根</a:t>
            </a:r>
          </a:p>
        </p:txBody>
      </p:sp>
      <p:sp>
        <p:nvSpPr>
          <p:cNvPr id="16" name="文本框 15">
            <a:extLst>
              <a:ext uri="{FF2B5EF4-FFF2-40B4-BE49-F238E27FC236}">
                <a16:creationId xmlns:a16="http://schemas.microsoft.com/office/drawing/2014/main" id="{37F8C670-81ED-3448-4538-300BEEC8CDA7}"/>
              </a:ext>
            </a:extLst>
          </p:cNvPr>
          <p:cNvSpPr txBox="1"/>
          <p:nvPr/>
        </p:nvSpPr>
        <p:spPr>
          <a:xfrm>
            <a:off x="11575165" y="6340116"/>
            <a:ext cx="3848050" cy="1206549"/>
          </a:xfrm>
          <a:prstGeom prst="rect">
            <a:avLst/>
          </a:prstGeom>
          <a:noFill/>
        </p:spPr>
        <p:txBody>
          <a:bodyPr wrap="square" tIns="0" bIns="0">
            <a:spAutoFit/>
          </a:bodyPr>
          <a:lstStyle/>
          <a:p>
            <a:pPr>
              <a:lnSpc>
                <a:spcPct val="125000"/>
              </a:lnSpc>
              <a:spcBef>
                <a:spcPts val="600"/>
              </a:spcBef>
              <a:defRPr/>
            </a:pPr>
            <a:r>
              <a:rPr lang="zh-CN" altLang="en-US" sz="1600" dirty="0">
                <a:solidFill>
                  <a:srgbClr val="151515">
                    <a:alpha val="80000"/>
                  </a:srgbClr>
                </a:solidFill>
                <a:latin typeface="MiSans VF Light" pitchFamily="2" charset="-122"/>
                <a:ea typeface="MiSans VF Light" pitchFamily="2" charset="-122"/>
                <a:cs typeface="MiSans VF Light" pitchFamily="2" charset="-122"/>
                <a:sym typeface="SimHei"/>
              </a:rPr>
              <a:t>从传统的“过番客”到现代的“跨国精英”，华侨顺应时代变革，在祖籍地投资实业、兴办教育。他们的故事，是传统乡土社会向现代文明转型的生动缩影。</a:t>
            </a:r>
          </a:p>
        </p:txBody>
      </p:sp>
    </p:spTree>
    <p:extLst>
      <p:ext uri="{BB962C8B-B14F-4D97-AF65-F5344CB8AC3E}">
        <p14:creationId xmlns:p14="http://schemas.microsoft.com/office/powerpoint/2010/main" val="3612418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51515"/>
        </a:solidFill>
        <a:effectLst/>
      </p:bgPr>
    </p:bg>
    <p:spTree>
      <p:nvGrpSpPr>
        <p:cNvPr id="1" name="">
          <a:extLst>
            <a:ext uri="{FF2B5EF4-FFF2-40B4-BE49-F238E27FC236}">
              <a16:creationId xmlns:a16="http://schemas.microsoft.com/office/drawing/2014/main" id="{3FC3DFAC-7C8C-1C1A-9F6F-F84A6C869D48}"/>
            </a:ext>
          </a:extLst>
        </p:cNvPr>
        <p:cNvGrpSpPr/>
        <p:nvPr/>
      </p:nvGrpSpPr>
      <p:grpSpPr>
        <a:xfrm>
          <a:off x="0" y="0"/>
          <a:ext cx="0" cy="0"/>
          <a:chOff x="0" y="0"/>
          <a:chExt cx="0" cy="0"/>
        </a:xfrm>
      </p:grpSpPr>
      <p:sp>
        <p:nvSpPr>
          <p:cNvPr id="13" name="AutoShape 5">
            <a:extLst>
              <a:ext uri="{FF2B5EF4-FFF2-40B4-BE49-F238E27FC236}">
                <a16:creationId xmlns:a16="http://schemas.microsoft.com/office/drawing/2014/main" id="{32E234BB-F171-0B0B-B348-672AF4F28106}"/>
              </a:ext>
            </a:extLst>
          </p:cNvPr>
          <p:cNvSpPr/>
          <p:nvPr/>
        </p:nvSpPr>
        <p:spPr>
          <a:xfrm>
            <a:off x="487680" y="5155690"/>
            <a:ext cx="10105291" cy="886461"/>
          </a:xfrm>
          <a:prstGeom prst="rect">
            <a:avLst/>
          </a:prstGeom>
          <a:noFill/>
          <a:ln w="16933" cap="flat" cmpd="sng">
            <a:noFill/>
            <a:prstDash val="solid"/>
            <a:round/>
          </a:ln>
        </p:spPr>
        <p:txBody>
          <a:bodyPr vert="horz" wrap="square" lIns="0" tIns="0" rIns="0" bIns="0" rtlCol="0" anchor="ctr" anchorCtr="0">
            <a:spAutoFit/>
          </a:bodyPr>
          <a:lstStyle/>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潮汕华侨的故事，是一部自强不息的奋斗史，</a:t>
            </a:r>
            <a:endParaRPr lang="en-US" altLang="zh-CN" sz="2400" dirty="0">
              <a:solidFill>
                <a:srgbClr val="F2F1EC">
                  <a:alpha val="60000"/>
                </a:srgbClr>
              </a:solidFill>
              <a:latin typeface="MiSans VF Light" pitchFamily="2" charset="-122"/>
              <a:ea typeface="MiSans VF Light" pitchFamily="2" charset="-122"/>
              <a:cs typeface="MiSans VF Light" pitchFamily="2" charset="-122"/>
              <a:sym typeface="SimHei"/>
            </a:endParaRPr>
          </a:p>
          <a:p>
            <a:pPr>
              <a:lnSpc>
                <a:spcPct val="125000"/>
              </a:lnSpc>
              <a:defRPr/>
            </a:pPr>
            <a:r>
              <a:rPr lang="zh-CN" altLang="en-US" sz="2400" dirty="0">
                <a:solidFill>
                  <a:srgbClr val="F2F1EC">
                    <a:alpha val="60000"/>
                  </a:srgbClr>
                </a:solidFill>
                <a:latin typeface="MiSans VF Light" pitchFamily="2" charset="-122"/>
                <a:ea typeface="MiSans VF Light" pitchFamily="2" charset="-122"/>
                <a:cs typeface="MiSans VF Light" pitchFamily="2" charset="-122"/>
                <a:sym typeface="SimHei"/>
              </a:rPr>
              <a:t>更是一部中华文化走向世界的传播史。</a:t>
            </a:r>
          </a:p>
        </p:txBody>
      </p:sp>
      <p:sp>
        <p:nvSpPr>
          <p:cNvPr id="21" name="AutoShape 2">
            <a:extLst>
              <a:ext uri="{FF2B5EF4-FFF2-40B4-BE49-F238E27FC236}">
                <a16:creationId xmlns:a16="http://schemas.microsoft.com/office/drawing/2014/main" id="{06897196-CD52-8CB2-557C-9AE7CEDE216B}"/>
              </a:ext>
            </a:extLst>
          </p:cNvPr>
          <p:cNvSpPr/>
          <p:nvPr/>
        </p:nvSpPr>
        <p:spPr>
          <a:xfrm>
            <a:off x="487680" y="385358"/>
            <a:ext cx="3077046" cy="208711"/>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A LETTER FROM NANYANG</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23" name="AutoShape 2">
            <a:extLst>
              <a:ext uri="{FF2B5EF4-FFF2-40B4-BE49-F238E27FC236}">
                <a16:creationId xmlns:a16="http://schemas.microsoft.com/office/drawing/2014/main" id="{C4E53B7E-B22B-842E-E41A-78C6A92292FD}"/>
              </a:ext>
            </a:extLst>
          </p:cNvPr>
          <p:cNvSpPr/>
          <p:nvPr/>
        </p:nvSpPr>
        <p:spPr>
          <a:xfrm>
            <a:off x="12168321" y="385358"/>
            <a:ext cx="3600000" cy="208840"/>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1200" dirty="0">
                <a:solidFill>
                  <a:srgbClr val="A6AA34">
                    <a:alpha val="50000"/>
                  </a:srgbClr>
                </a:solidFill>
                <a:latin typeface="Andale Mono" panose="020B0509000000000004" pitchFamily="49" charset="0"/>
                <a:ea typeface="MiSans VF Light" pitchFamily="2" charset="-122"/>
                <a:cs typeface="MiSans VF Light" pitchFamily="2" charset="-122"/>
                <a:sym typeface="JetBrains Mono"/>
              </a:rPr>
              <a:t>CONCLUSION</a:t>
            </a:r>
            <a:endParaRPr lang="en-US" sz="1200" dirty="0">
              <a:solidFill>
                <a:srgbClr val="A6AA34">
                  <a:alpha val="50000"/>
                </a:srgbClr>
              </a:solidFill>
              <a:latin typeface="Andale Mono" panose="020B0509000000000004" pitchFamily="49" charset="0"/>
              <a:ea typeface="MiSans VF Light" pitchFamily="2" charset="-122"/>
              <a:cs typeface="MiSans VF Light" pitchFamily="2" charset="-122"/>
            </a:endParaRPr>
          </a:p>
        </p:txBody>
      </p:sp>
      <p:sp>
        <p:nvSpPr>
          <p:cNvPr id="28" name="AutoShape 6">
            <a:extLst>
              <a:ext uri="{FF2B5EF4-FFF2-40B4-BE49-F238E27FC236}">
                <a16:creationId xmlns:a16="http://schemas.microsoft.com/office/drawing/2014/main" id="{EE22498B-BC60-4B9B-6FAF-9B408C6B02DA}"/>
              </a:ext>
            </a:extLst>
          </p:cNvPr>
          <p:cNvSpPr/>
          <p:nvPr/>
        </p:nvSpPr>
        <p:spPr>
          <a:xfrm>
            <a:off x="487680" y="8430847"/>
            <a:ext cx="8747298" cy="209545"/>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zh-CN" altLang="en-US" sz="1200" b="0" i="0" u="none" strike="noStrike" dirty="0">
                <a:solidFill>
                  <a:srgbClr val="A6AA34">
                    <a:alpha val="50000"/>
                  </a:srgbClr>
                </a:solidFill>
                <a:latin typeface="Andale Mono" panose="020B0509000000000004" pitchFamily="49" charset="0"/>
                <a:ea typeface="JetBrains Mono"/>
                <a:cs typeface="JetBrains Mono"/>
                <a:sym typeface="JetBrains Mono"/>
              </a:rPr>
              <a:t>一段跨越数百年的离乡与归根之路</a:t>
            </a:r>
          </a:p>
        </p:txBody>
      </p:sp>
      <p:sp>
        <p:nvSpPr>
          <p:cNvPr id="29" name="AutoShape 4">
            <a:extLst>
              <a:ext uri="{FF2B5EF4-FFF2-40B4-BE49-F238E27FC236}">
                <a16:creationId xmlns:a16="http://schemas.microsoft.com/office/drawing/2014/main" id="{1864ED0C-DECA-D543-ED87-5A068C436913}"/>
              </a:ext>
            </a:extLst>
          </p:cNvPr>
          <p:cNvSpPr/>
          <p:nvPr/>
        </p:nvSpPr>
        <p:spPr>
          <a:xfrm>
            <a:off x="5445758" y="1034024"/>
            <a:ext cx="10281921" cy="2081917"/>
          </a:xfrm>
          <a:prstGeom prst="rect">
            <a:avLst/>
          </a:prstGeom>
          <a:noFill/>
          <a:ln w="16933" cap="flat" cmpd="sng">
            <a:noFill/>
            <a:prstDash val="solid"/>
            <a:round/>
          </a:ln>
        </p:spPr>
        <p:txBody>
          <a:bodyPr vert="horz" wrap="square" lIns="0" tIns="0" rIns="0" bIns="0" rtlCol="0" anchor="ctr" anchorCtr="0">
            <a:spAutoFit/>
          </a:bodyPr>
          <a:lstStyle/>
          <a:p>
            <a:pPr algn="r">
              <a:lnSpc>
                <a:spcPts val="8000"/>
              </a:lnSpc>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Thanks for</a:t>
            </a:r>
            <a:r>
              <a:rPr lang="zh-CN" altLang="en-US"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 </a:t>
            </a:r>
            <a:endPar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endParaRPr>
          </a:p>
          <a:p>
            <a:pPr algn="r">
              <a:lnSpc>
                <a:spcPts val="8000"/>
              </a:lnSpc>
              <a:defRPr/>
            </a:pPr>
            <a:r>
              <a:rPr lang="en-US" altLang="zh-CN" sz="8000" b="1" i="1" dirty="0">
                <a:solidFill>
                  <a:srgbClr val="A6AA34">
                    <a:alpha val="15000"/>
                  </a:srgbClr>
                </a:solidFill>
                <a:latin typeface="Didot" panose="02000503000000020003" pitchFamily="2" charset="-79"/>
                <a:ea typeface="HYRuiYiSong 80J" pitchFamily="18" charset="-122"/>
                <a:cs typeface="Didot" panose="02000503000000020003" pitchFamily="2" charset="-79"/>
                <a:sym typeface="Bricolage Grotesque"/>
              </a:rPr>
              <a:t>Watching</a:t>
            </a:r>
          </a:p>
        </p:txBody>
      </p:sp>
      <p:sp>
        <p:nvSpPr>
          <p:cNvPr id="2" name="AutoShape 3">
            <a:extLst>
              <a:ext uri="{FF2B5EF4-FFF2-40B4-BE49-F238E27FC236}">
                <a16:creationId xmlns:a16="http://schemas.microsoft.com/office/drawing/2014/main" id="{C3BF3F63-B27D-0300-EBFF-07E382FDD2DF}"/>
              </a:ext>
            </a:extLst>
          </p:cNvPr>
          <p:cNvSpPr/>
          <p:nvPr/>
        </p:nvSpPr>
        <p:spPr>
          <a:xfrm>
            <a:off x="487681" y="3058582"/>
            <a:ext cx="10105291" cy="1956626"/>
          </a:xfrm>
          <a:prstGeom prst="rect">
            <a:avLst/>
          </a:prstGeom>
          <a:noFill/>
          <a:ln w="16933" cap="flat" cmpd="sng">
            <a:noFill/>
            <a:prstDash val="solid"/>
            <a:round/>
          </a:ln>
        </p:spPr>
        <p:txBody>
          <a:bodyPr vert="horz" wrap="square" lIns="0" tIns="0" rIns="0" bIns="0" rtlCol="0" anchor="b" anchorCtr="0">
            <a:spAutoFit/>
          </a:bodyPr>
          <a:lstStyle/>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谨以此致敬</a:t>
            </a:r>
            <a:endParaRPr lang="en-US" altLang="zh-CN"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endParaRPr>
          </a:p>
          <a:p>
            <a:pPr>
              <a:lnSpc>
                <a:spcPct val="108333"/>
              </a:lnSpc>
              <a:defRPr/>
            </a:pPr>
            <a:r>
              <a:rPr lang="zh-CN" altLang="en-US" sz="6000" b="1" dirty="0">
                <a:solidFill>
                  <a:srgbClr val="F2F1EC"/>
                </a:solidFill>
                <a:latin typeface="Source Han Serif SC Heavy" panose="02020400000000000000" pitchFamily="18" charset="-128"/>
                <a:ea typeface="Source Han Serif SC Heavy" panose="02020400000000000000" pitchFamily="18" charset="-128"/>
                <a:cs typeface="SimHei"/>
                <a:sym typeface="SimHei"/>
              </a:rPr>
              <a:t>所有潮汕华侨</a:t>
            </a:r>
          </a:p>
        </p:txBody>
      </p:sp>
    </p:spTree>
    <p:extLst>
      <p:ext uri="{BB962C8B-B14F-4D97-AF65-F5344CB8AC3E}">
        <p14:creationId xmlns:p14="http://schemas.microsoft.com/office/powerpoint/2010/main" val="1775772864"/>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2E2E2B"/>
      </a:dk2>
      <a:lt2>
        <a:srgbClr val="EDECE7"/>
      </a:lt2>
      <a:accent1>
        <a:srgbClr val="1F1F1C"/>
      </a:accent1>
      <a:accent2>
        <a:srgbClr val="565650"/>
      </a:accent2>
      <a:accent3>
        <a:srgbClr val="A6A6A0"/>
      </a:accent3>
      <a:accent4>
        <a:srgbClr val="C8C8BF"/>
      </a:accent4>
      <a:accent5>
        <a:srgbClr val="70706A"/>
      </a:accent5>
      <a:accent6>
        <a:srgbClr val="3E3E39"/>
      </a:accent6>
      <a:hlink>
        <a:srgbClr val="1F1F1C"/>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2E2E2B"/>
      </a:dk2>
      <a:lt2>
        <a:srgbClr val="EDECE7"/>
      </a:lt2>
      <a:accent1>
        <a:srgbClr val="1F1F1C"/>
      </a:accent1>
      <a:accent2>
        <a:srgbClr val="565650"/>
      </a:accent2>
      <a:accent3>
        <a:srgbClr val="A6A6A0"/>
      </a:accent3>
      <a:accent4>
        <a:srgbClr val="C8C8BF"/>
      </a:accent4>
      <a:accent5>
        <a:srgbClr val="70706A"/>
      </a:accent5>
      <a:accent6>
        <a:srgbClr val="3E3E39"/>
      </a:accent6>
      <a:hlink>
        <a:srgbClr val="1F1F1C"/>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2E2E2B"/>
      </a:dk2>
      <a:lt2>
        <a:srgbClr val="EDECE7"/>
      </a:lt2>
      <a:accent1>
        <a:srgbClr val="1F1F1C"/>
      </a:accent1>
      <a:accent2>
        <a:srgbClr val="565650"/>
      </a:accent2>
      <a:accent3>
        <a:srgbClr val="A6A6A0"/>
      </a:accent3>
      <a:accent4>
        <a:srgbClr val="C8C8BF"/>
      </a:accent4>
      <a:accent5>
        <a:srgbClr val="70706A"/>
      </a:accent5>
      <a:accent6>
        <a:srgbClr val="3E3E39"/>
      </a:accent6>
      <a:hlink>
        <a:srgbClr val="1F1F1C"/>
      </a:hlink>
      <a:folHlink>
        <a:srgbClr val="1A1A1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1666</TotalTime>
  <Words>2070</Words>
  <Application>Microsoft Macintosh PowerPoint</Application>
  <PresentationFormat>自定义</PresentationFormat>
  <Paragraphs>272</Paragraphs>
  <Slides>20</Slides>
  <Notes>20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20</vt:i4>
      </vt:variant>
    </vt:vector>
  </HeadingPairs>
  <TitlesOfParts>
    <vt:vector size="32" baseType="lpstr">
      <vt:lpstr>FZLanTingHeiS</vt:lpstr>
      <vt:lpstr>HYRuiYiSong 80J</vt:lpstr>
      <vt:lpstr>MiSans VF Bold</vt:lpstr>
      <vt:lpstr>MiSans VF Light</vt:lpstr>
      <vt:lpstr>MISANS VF MEDIUM</vt:lpstr>
      <vt:lpstr>MiSans VF Regular</vt:lpstr>
      <vt:lpstr>Source Han Serif SC Heavy</vt:lpstr>
      <vt:lpstr>Andale Mono</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T209833</cp:lastModifiedBy>
  <cp:revision>39</cp:revision>
  <dcterms:modified xsi:type="dcterms:W3CDTF">2026-06-11T12:17:20Z</dcterms:modified>
</cp:coreProperties>
</file>