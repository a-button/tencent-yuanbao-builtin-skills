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39" d="100"/>
          <a:sy n="139" d="100"/>
        </p:scale>
        <p:origin x="176"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pieChart>
        <c:varyColors val="1"/>
        <c:ser>
          <c:idx val="0"/>
          <c:order val="0"/>
          <c:tx>
            <c:strRef>
              <c:f>Sheet1!$B$1</c:f>
              <c:strCache>
                <c:ptCount val="1"/>
                <c:pt idx="0">
                  <c:v>Values</c:v>
                </c:pt>
              </c:strCache>
            </c:strRef>
          </c:tx>
          <c:spPr>
            <a:solidFill>
              <a:schemeClr val="accent1"/>
            </a:solidFill>
            <a:ln w="9525" cap="flat">
              <a:solidFill>
                <a:srgbClr val="F9F9F9"/>
              </a:solidFill>
              <a:prstDash val="solid"/>
              <a:round/>
            </a:ln>
            <a:effectLst/>
          </c:spPr>
          <c:explosion val="1"/>
          <c:dPt>
            <c:idx val="0"/>
            <c:bubble3D val="0"/>
            <c:spPr>
              <a:solidFill>
                <a:srgbClr val="FFDF65"/>
              </a:solidFill>
              <a:effectLst/>
            </c:spPr>
            <c:extLst>
              <c:ext xmlns:c16="http://schemas.microsoft.com/office/drawing/2014/chart" uri="{C3380CC4-5D6E-409C-BE32-E72D297353CC}">
                <c16:uniqueId val="{00000001-122F-5443-878B-C4D222BF5AF7}"/>
              </c:ext>
            </c:extLst>
          </c:dPt>
          <c:dPt>
            <c:idx val="1"/>
            <c:bubble3D val="0"/>
            <c:spPr>
              <a:solidFill>
                <a:srgbClr val="FFD73C"/>
              </a:solidFill>
              <a:effectLst/>
            </c:spPr>
            <c:extLst>
              <c:ext xmlns:c16="http://schemas.microsoft.com/office/drawing/2014/chart" uri="{C3380CC4-5D6E-409C-BE32-E72D297353CC}">
                <c16:uniqueId val="{00000003-122F-5443-878B-C4D222BF5AF7}"/>
              </c:ext>
            </c:extLst>
          </c:dPt>
          <c:dPt>
            <c:idx val="2"/>
            <c:bubble3D val="0"/>
            <c:spPr>
              <a:solidFill>
                <a:srgbClr val="FFCE13"/>
              </a:solidFill>
              <a:effectLst/>
            </c:spPr>
            <c:extLst>
              <c:ext xmlns:c16="http://schemas.microsoft.com/office/drawing/2014/chart" uri="{C3380CC4-5D6E-409C-BE32-E72D297353CC}">
                <c16:uniqueId val="{00000005-122F-5443-878B-C4D222BF5AF7}"/>
              </c:ext>
            </c:extLst>
          </c:dPt>
          <c:dLbls>
            <c:dLbl>
              <c:idx val="0"/>
              <c:layout>
                <c:manualLayout>
                  <c:x val="-0.16241427160698488"/>
                  <c:y val="4.837801096139166E-2"/>
                </c:manualLayout>
              </c:layout>
              <c:numFmt formatCode="###,###,###,###,###,###,###&quot;%&quot;" sourceLinked="0"/>
              <c:spPr/>
              <c:txPr>
                <a:bodyPr/>
                <a:lstStyle/>
                <a:p>
                  <a:pPr>
                    <a:defRPr sz="2588" b="0" i="0" u="none" strike="noStrike">
                      <a:solidFill>
                        <a:srgbClr val="171714"/>
                      </a:solidFill>
                      <a:latin typeface="TCloud Number" pitchFamily="2" charset="0"/>
                    </a:defRPr>
                  </a:pPr>
                  <a:endParaRPr lang="zh-CN"/>
                </a:p>
              </c:txPr>
              <c:showLegendKey val="0"/>
              <c:showVal val="1"/>
              <c:showCatName val="0"/>
              <c:showSerName val="0"/>
              <c:showPercent val="0"/>
              <c:showBubbleSize val="0"/>
              <c:extLst>
                <c:ext xmlns:c15="http://schemas.microsoft.com/office/drawing/2012/chart" uri="{CE6537A1-D6FC-4f65-9D91-7224C49458BB}">
                  <c15:layout>
                    <c:manualLayout>
                      <c:w val="0.21648871936536337"/>
                      <c:h val="0.20875679153307478"/>
                    </c:manualLayout>
                  </c15:layout>
                </c:ext>
                <c:ext xmlns:c16="http://schemas.microsoft.com/office/drawing/2014/chart" uri="{C3380CC4-5D6E-409C-BE32-E72D297353CC}">
                  <c16:uniqueId val="{00000001-122F-5443-878B-C4D222BF5AF7}"/>
                </c:ext>
              </c:extLst>
            </c:dLbl>
            <c:dLbl>
              <c:idx val="1"/>
              <c:layout>
                <c:manualLayout>
                  <c:x val="0.21700977078596448"/>
                  <c:y val="-0.25789885785590816"/>
                </c:manualLayout>
              </c:layout>
              <c:numFmt formatCode="###,###,###,###,###,###,###&quot;%&quot;" sourceLinked="0"/>
              <c:spPr/>
              <c:txPr>
                <a:bodyPr/>
                <a:lstStyle/>
                <a:p>
                  <a:pPr>
                    <a:defRPr sz="2588" b="0" i="0" u="none" strike="noStrike">
                      <a:solidFill>
                        <a:srgbClr val="171714"/>
                      </a:solidFill>
                      <a:latin typeface="TCloud Number" pitchFamily="2" charset="0"/>
                    </a:defRPr>
                  </a:pPr>
                  <a:endParaRPr lang="zh-CN"/>
                </a:p>
              </c:txPr>
              <c:showLegendKey val="0"/>
              <c:showVal val="1"/>
              <c:showCatName val="0"/>
              <c:showSerName val="0"/>
              <c:showPercent val="0"/>
              <c:showBubbleSize val="0"/>
              <c:extLst>
                <c:ext xmlns:c15="http://schemas.microsoft.com/office/drawing/2012/chart" uri="{CE6537A1-D6FC-4f65-9D91-7224C49458BB}">
                  <c15:layout>
                    <c:manualLayout>
                      <c:w val="0.20559894474939941"/>
                      <c:h val="0.20875679153307478"/>
                    </c:manualLayout>
                  </c15:layout>
                </c:ext>
                <c:ext xmlns:c16="http://schemas.microsoft.com/office/drawing/2014/chart" uri="{C3380CC4-5D6E-409C-BE32-E72D297353CC}">
                  <c16:uniqueId val="{00000003-122F-5443-878B-C4D222BF5AF7}"/>
                </c:ext>
              </c:extLst>
            </c:dLbl>
            <c:dLbl>
              <c:idx val="2"/>
              <c:layout>
                <c:manualLayout>
                  <c:x val="0.21068426942045534"/>
                  <c:y val="0.14875205974276634"/>
                </c:manualLayout>
              </c:layout>
              <c:numFmt formatCode="###,###,###,###,###,###,###&quot;%&quot;" sourceLinked="0"/>
              <c:spPr/>
              <c:txPr>
                <a:bodyPr/>
                <a:lstStyle/>
                <a:p>
                  <a:pPr>
                    <a:defRPr sz="2588" b="0" i="0" u="none" strike="noStrike">
                      <a:solidFill>
                        <a:srgbClr val="171714"/>
                      </a:solidFill>
                      <a:latin typeface="TCloud Number" pitchFamily="2" charset="0"/>
                    </a:defRPr>
                  </a:pPr>
                  <a:endParaRPr lang="zh-CN"/>
                </a:p>
              </c:txPr>
              <c:showLegendKey val="0"/>
              <c:showVal val="1"/>
              <c:showCatName val="0"/>
              <c:showSerName val="0"/>
              <c:showPercent val="0"/>
              <c:showBubbleSize val="0"/>
              <c:extLst>
                <c:ext xmlns:c15="http://schemas.microsoft.com/office/drawing/2012/chart" uri="{CE6537A1-D6FC-4f65-9D91-7224C49458BB}">
                  <c15:layout>
                    <c:manualLayout>
                      <c:w val="0.27093759244518312"/>
                      <c:h val="0.20875679153307478"/>
                    </c:manualLayout>
                  </c15:layout>
                </c:ext>
                <c:ext xmlns:c16="http://schemas.microsoft.com/office/drawing/2014/chart" uri="{C3380CC4-5D6E-409C-BE32-E72D297353CC}">
                  <c16:uniqueId val="{00000005-122F-5443-878B-C4D222BF5AF7}"/>
                </c:ext>
              </c:extLst>
            </c:dLbl>
            <c:numFmt formatCode="###,###,###,###,###,###,###&quot;%&quot;" sourceLinked="0"/>
            <c:spPr>
              <a:noFill/>
              <a:ln>
                <a:noFill/>
              </a:ln>
              <a:effectLst/>
            </c:spPr>
            <c:txPr>
              <a:bodyPr/>
              <a:lstStyle/>
              <a:p>
                <a:pPr>
                  <a:defRPr sz="1800" b="0" i="0" u="none" strike="noStrike">
                    <a:solidFill>
                      <a:srgbClr val="000000"/>
                    </a:solidFill>
                    <a:latin typeface="Arial"/>
                  </a:defRPr>
                </a:pPr>
                <a:endParaRPr lang="zh-CN"/>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资产成本</c:v>
                </c:pt>
                <c:pt idx="1">
                  <c:v>渠道运营宣传</c:v>
                </c:pt>
                <c:pt idx="2">
                  <c:v>开发及人员成本</c:v>
                </c:pt>
              </c:strCache>
            </c:strRef>
          </c:cat>
          <c:val>
            <c:numRef>
              <c:f>Sheet1!$B$2:$B$4</c:f>
              <c:numCache>
                <c:formatCode>General</c:formatCode>
                <c:ptCount val="3"/>
                <c:pt idx="0">
                  <c:v>45</c:v>
                </c:pt>
                <c:pt idx="1">
                  <c:v>35</c:v>
                </c:pt>
                <c:pt idx="2">
                  <c:v>20</c:v>
                </c:pt>
              </c:numCache>
            </c:numRef>
          </c:val>
          <c:extLst>
            <c:ext xmlns:c16="http://schemas.microsoft.com/office/drawing/2014/chart" uri="{C3380CC4-5D6E-409C-BE32-E72D297353CC}">
              <c16:uniqueId val="{00000006-122F-5443-878B-C4D222BF5AF7}"/>
            </c:ext>
          </c:extLst>
        </c:ser>
        <c:dLbls>
          <c:showLegendKey val="0"/>
          <c:showVal val="0"/>
          <c:showCatName val="0"/>
          <c:showSerName val="0"/>
          <c:showPercent val="0"/>
          <c:showBubbleSize val="0"/>
          <c:showLeaderLines val="0"/>
        </c:dLbls>
        <c:firstSliceAng val="0"/>
      </c:pieChart>
      <c:spPr>
        <a:noFill/>
        <a:ln>
          <a:noFill/>
        </a:ln>
        <a:effectLst/>
      </c:spPr>
    </c:plotArea>
    <c:legend>
      <c:legendPos val="b"/>
      <c:layout>
        <c:manualLayout>
          <c:xMode val="edge"/>
          <c:yMode val="edge"/>
          <c:x val="0"/>
          <c:y val="0.93656901268190507"/>
          <c:w val="1"/>
          <c:h val="6.3430987318094989E-2"/>
        </c:manualLayout>
      </c:layout>
      <c:overlay val="0"/>
      <c:txPr>
        <a:bodyPr/>
        <a:lstStyle/>
        <a:p>
          <a:pPr>
            <a:defRPr sz="1000" b="0" i="0">
              <a:solidFill>
                <a:schemeClr val="tx1"/>
              </a:solidFill>
              <a:latin typeface="MiSans" pitchFamily="2" charset="-122"/>
              <a:ea typeface="MiSans" pitchFamily="2" charset="-122"/>
              <a:cs typeface="Jos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strRef>
              <c:f>Sheet1!$B$1</c:f>
              <c:strCache>
                <c:ptCount val="1"/>
                <c:pt idx="0">
                  <c:v>项目收益</c:v>
                </c:pt>
              </c:strCache>
            </c:strRef>
          </c:tx>
          <c:spPr>
            <a:solidFill>
              <a:srgbClr val="FFDF65"/>
            </a:solidFill>
            <a:effectLst/>
          </c:spPr>
          <c:invertIfNegative val="0"/>
          <c:dPt>
            <c:idx val="0"/>
            <c:invertIfNegative val="0"/>
            <c:bubble3D val="0"/>
            <c:extLst>
              <c:ext xmlns:c16="http://schemas.microsoft.com/office/drawing/2014/chart" uri="{C3380CC4-5D6E-409C-BE32-E72D297353CC}">
                <c16:uniqueId val="{00000001-D70F-B44F-9E58-8CA1DB9919B4}"/>
              </c:ext>
            </c:extLst>
          </c:dPt>
          <c:dPt>
            <c:idx val="1"/>
            <c:invertIfNegative val="0"/>
            <c:bubble3D val="0"/>
            <c:spPr>
              <a:solidFill>
                <a:srgbClr val="FFD73C"/>
              </a:solidFill>
              <a:effectLst/>
            </c:spPr>
            <c:extLst>
              <c:ext xmlns:c16="http://schemas.microsoft.com/office/drawing/2014/chart" uri="{C3380CC4-5D6E-409C-BE32-E72D297353CC}">
                <c16:uniqueId val="{00000003-D70F-B44F-9E58-8CA1DB9919B4}"/>
              </c:ext>
            </c:extLst>
          </c:dPt>
          <c:dPt>
            <c:idx val="2"/>
            <c:invertIfNegative val="0"/>
            <c:bubble3D val="0"/>
            <c:spPr>
              <a:solidFill>
                <a:srgbClr val="FFCE13"/>
              </a:solidFill>
              <a:effectLst/>
            </c:spPr>
            <c:extLst>
              <c:ext xmlns:c16="http://schemas.microsoft.com/office/drawing/2014/chart" uri="{C3380CC4-5D6E-409C-BE32-E72D297353CC}">
                <c16:uniqueId val="{00000005-D70F-B44F-9E58-8CA1DB9919B4}"/>
              </c:ext>
            </c:extLst>
          </c:dPt>
          <c:dPt>
            <c:idx val="3"/>
            <c:invertIfNegative val="0"/>
            <c:bubble3D val="0"/>
            <c:spPr>
              <a:solidFill>
                <a:srgbClr val="EAB900"/>
              </a:solidFill>
              <a:effectLst/>
            </c:spPr>
            <c:extLst>
              <c:ext xmlns:c16="http://schemas.microsoft.com/office/drawing/2014/chart" uri="{C3380CC4-5D6E-409C-BE32-E72D297353CC}">
                <c16:uniqueId val="{00000007-D70F-B44F-9E58-8CA1DB9919B4}"/>
              </c:ext>
            </c:extLst>
          </c:dPt>
          <c:dPt>
            <c:idx val="4"/>
            <c:invertIfNegative val="0"/>
            <c:bubble3D val="0"/>
            <c:spPr>
              <a:solidFill>
                <a:srgbClr val="C19900"/>
              </a:solidFill>
              <a:effectLst/>
            </c:spPr>
            <c:extLst>
              <c:ext xmlns:c16="http://schemas.microsoft.com/office/drawing/2014/chart" uri="{C3380CC4-5D6E-409C-BE32-E72D297353CC}">
                <c16:uniqueId val="{00000009-D70F-B44F-9E58-8CA1DB9919B4}"/>
              </c:ext>
            </c:extLst>
          </c:dPt>
          <c:dLbls>
            <c:numFmt formatCode="###,###,###,###,###,###,###" sourceLinked="0"/>
            <c:spPr>
              <a:noFill/>
              <a:ln>
                <a:noFill/>
              </a:ln>
              <a:effectLst/>
            </c:spPr>
            <c:txPr>
              <a:bodyPr/>
              <a:lstStyle/>
              <a:p>
                <a:pPr>
                  <a:defRPr sz="1100" b="0" i="0" u="none" strike="noStrike">
                    <a:solidFill>
                      <a:srgbClr val="000000"/>
                    </a:solidFill>
                    <a:latin typeface="TCloud Number" pitchFamily="2"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2032</c:v>
                </c:pt>
                <c:pt idx="1">
                  <c:v>2033</c:v>
                </c:pt>
                <c:pt idx="2">
                  <c:v>2034</c:v>
                </c:pt>
                <c:pt idx="3">
                  <c:v>2035</c:v>
                </c:pt>
                <c:pt idx="4">
                  <c:v>2036</c:v>
                </c:pt>
              </c:strCache>
            </c:strRef>
          </c:cat>
          <c:val>
            <c:numRef>
              <c:f>Sheet1!$B$2:$B$6</c:f>
              <c:numCache>
                <c:formatCode>General</c:formatCode>
                <c:ptCount val="5"/>
                <c:pt idx="0">
                  <c:v>1800000</c:v>
                </c:pt>
                <c:pt idx="1">
                  <c:v>3000000</c:v>
                </c:pt>
                <c:pt idx="2">
                  <c:v>9000000</c:v>
                </c:pt>
                <c:pt idx="3">
                  <c:v>18000000</c:v>
                </c:pt>
                <c:pt idx="4">
                  <c:v>36000000</c:v>
                </c:pt>
              </c:numCache>
            </c:numRef>
          </c:val>
          <c:extLst>
            <c:ext xmlns:c16="http://schemas.microsoft.com/office/drawing/2014/chart" uri="{C3380CC4-5D6E-409C-BE32-E72D297353CC}">
              <c16:uniqueId val="{0000000A-D70F-B44F-9E58-8CA1DB9919B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none"/>
        <c:minorTickMark val="none"/>
        <c:tickLblPos val="low"/>
        <c:spPr>
          <a:ln w="6350" cap="flat">
            <a:solidFill>
              <a:srgbClr val="0E0E0E"/>
            </a:solidFill>
            <a:prstDash val="solid"/>
            <a:round/>
          </a:ln>
        </c:spPr>
        <c:txPr>
          <a:bodyPr/>
          <a:lstStyle/>
          <a:p>
            <a:pPr>
              <a:defRPr sz="750" b="0" i="0" u="none" strike="noStrike">
                <a:solidFill>
                  <a:srgbClr val="171714"/>
                </a:solidFill>
                <a:latin typeface="TCloud Number Light" pitchFamily="2" charset="0"/>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1D1CA"/>
              </a:solidFill>
              <a:prstDash val="dash"/>
              <a:round/>
            </a:ln>
          </c:spPr>
        </c:majorGridlines>
        <c:numFmt formatCode="###,###,###,###,###,###,###" sourceLinked="0"/>
        <c:majorTickMark val="out"/>
        <c:minorTickMark val="none"/>
        <c:tickLblPos val="nextTo"/>
        <c:spPr>
          <a:ln w="6350" cap="flat">
            <a:solidFill>
              <a:srgbClr val="171714"/>
            </a:solidFill>
            <a:prstDash val="solid"/>
            <a:round/>
          </a:ln>
        </c:spPr>
        <c:txPr>
          <a:bodyPr/>
          <a:lstStyle/>
          <a:p>
            <a:pPr>
              <a:defRPr sz="750" b="0" i="0" u="none" strike="noStrike">
                <a:solidFill>
                  <a:srgbClr val="000000"/>
                </a:solidFill>
                <a:latin typeface="TCloud Number Light" pitchFamily="2" charset="0"/>
              </a:defRPr>
            </a:pPr>
            <a:endParaRPr lang="en-US"/>
          </a:p>
        </c:txPr>
        <c:crossAx val="2094734554"/>
        <c:crosses val="autoZero"/>
        <c:crossBetween val="between"/>
      </c:valAx>
      <c:spPr>
        <a:noFill/>
        <a:ln>
          <a:noFill/>
        </a:ln>
        <a:effectLst/>
      </c:spPr>
    </c:plotArea>
    <c:legend>
      <c:legendPos val="t"/>
      <c:overlay val="0"/>
      <c:txPr>
        <a:bodyPr/>
        <a:lstStyle/>
        <a:p>
          <a:pPr>
            <a:defRPr sz="750" b="0" i="0">
              <a:solidFill>
                <a:srgbClr val="000000"/>
              </a:solidFill>
              <a:latin typeface="TCloud Number Light" pitchFamily="2" charset="0"/>
              <a:cs typeface="思源黑体"/>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179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tx1"/>
        </a:solidFill>
        <a:effectLst/>
      </p:bgPr>
    </p:bg>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082AB9F2-0509-9ED5-95CB-30CCA8A79E26}"/>
              </a:ext>
            </a:extLst>
          </p:cNvPr>
          <p:cNvPicPr>
            <a:picLocks noChangeAspect="1"/>
          </p:cNvPicPr>
          <p:nvPr/>
        </p:nvPicPr>
        <p:blipFill>
          <a:blip r:embed="rId3">
            <a:alphaModFix/>
          </a:blip>
          <a:stretch>
            <a:fillRect/>
          </a:stretch>
        </p:blipFill>
        <p:spPr>
          <a:xfrm>
            <a:off x="190213" y="559882"/>
            <a:ext cx="8763574" cy="3408057"/>
          </a:xfrm>
          <a:prstGeom prst="rect">
            <a:avLst/>
          </a:prstGeom>
        </p:spPr>
      </p:pic>
      <p:sp>
        <p:nvSpPr>
          <p:cNvPr id="4" name="Shape 0"/>
          <p:cNvSpPr/>
          <p:nvPr/>
        </p:nvSpPr>
        <p:spPr>
          <a:xfrm>
            <a:off x="56676" y="99150"/>
            <a:ext cx="9024937" cy="0"/>
          </a:xfrm>
          <a:prstGeom prst="line">
            <a:avLst/>
          </a:prstGeom>
          <a:solidFill>
            <a:srgbClr val="FFDF65">
              <a:alpha val="20000"/>
            </a:srgbClr>
          </a:solidFill>
          <a:ln w="5292">
            <a:solidFill>
              <a:srgbClr val="FFFFFF">
                <a:alpha val="20000"/>
              </a:srgbClr>
            </a:solidFill>
            <a:prstDash val="solid"/>
            <a:headEnd type="none"/>
            <a:tailEnd type="none"/>
          </a:ln>
        </p:spPr>
        <p:txBody>
          <a:bodyPr/>
          <a:lstStyle/>
          <a:p>
            <a:endParaRPr lang="zh-CN" altLang="en-US"/>
          </a:p>
        </p:txBody>
      </p:sp>
      <p:sp>
        <p:nvSpPr>
          <p:cNvPr id="5" name="Shape 1"/>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6" name="Text 2"/>
          <p:cNvSpPr/>
          <p:nvPr/>
        </p:nvSpPr>
        <p:spPr>
          <a:xfrm>
            <a:off x="190500" y="272673"/>
            <a:ext cx="3810000" cy="119063"/>
          </a:xfrm>
          <a:prstGeom prst="rect">
            <a:avLst/>
          </a:prstGeom>
          <a:noFill/>
          <a:ln/>
        </p:spPr>
        <p:txBody>
          <a:bodyPr wrap="square" lIns="0" tIns="0" rIns="0" bIns="0" rtlCol="0" anchor="b"/>
          <a:lstStyle/>
          <a:p>
            <a:pPr algn="l">
              <a:lnSpc>
                <a:spcPts val="938"/>
              </a:lnSpc>
            </a:pPr>
            <a:r>
              <a:rPr lang="en-US" sz="800" b="0" spc="300" dirty="0">
                <a:solidFill>
                  <a:srgbClr val="FFFFFF"/>
                </a:solidFill>
                <a:latin typeface="Helmet" pitchFamily="34" charset="0"/>
                <a:ea typeface="Helmet" pitchFamily="34" charset="-122"/>
                <a:cs typeface="Helmet" pitchFamily="34" charset="-120"/>
              </a:rPr>
              <a:t>YUANBAO</a:t>
            </a:r>
            <a:endParaRPr lang="en-US" sz="750" spc="300" dirty="0"/>
          </a:p>
        </p:txBody>
      </p:sp>
      <p:sp>
        <p:nvSpPr>
          <p:cNvPr id="7" name="Text 3"/>
          <p:cNvSpPr/>
          <p:nvPr/>
        </p:nvSpPr>
        <p:spPr>
          <a:xfrm>
            <a:off x="5190439" y="269985"/>
            <a:ext cx="3810000" cy="119063"/>
          </a:xfrm>
          <a:prstGeom prst="rect">
            <a:avLst/>
          </a:prstGeom>
          <a:noFill/>
          <a:ln/>
        </p:spPr>
        <p:txBody>
          <a:bodyPr wrap="square" lIns="0" tIns="0" rIns="0" bIns="0" rtlCol="0" anchor="b"/>
          <a:lstStyle/>
          <a:p>
            <a:pPr algn="r">
              <a:lnSpc>
                <a:spcPts val="938"/>
              </a:lnSpc>
            </a:pPr>
            <a:r>
              <a:rPr lang="en-US" sz="800" b="0" spc="300" dirty="0">
                <a:solidFill>
                  <a:srgbClr val="FFFFFF"/>
                </a:solidFill>
                <a:latin typeface="Helmet" pitchFamily="34" charset="0"/>
                <a:ea typeface="Helmet" pitchFamily="34" charset="-122"/>
                <a:cs typeface="Helmet" pitchFamily="34" charset="-120"/>
              </a:rPr>
              <a:t>2026.06.02</a:t>
            </a:r>
            <a:endParaRPr lang="en-US" sz="750" spc="300" dirty="0"/>
          </a:p>
        </p:txBody>
      </p:sp>
      <p:sp>
        <p:nvSpPr>
          <p:cNvPr id="8" name="Text 4"/>
          <p:cNvSpPr/>
          <p:nvPr/>
        </p:nvSpPr>
        <p:spPr>
          <a:xfrm>
            <a:off x="190213" y="3252243"/>
            <a:ext cx="8808988" cy="1771998"/>
          </a:xfrm>
          <a:prstGeom prst="rect">
            <a:avLst/>
          </a:prstGeom>
          <a:noFill/>
          <a:ln/>
        </p:spPr>
        <p:txBody>
          <a:bodyPr wrap="square" lIns="0" tIns="0" rIns="0" bIns="0" rtlCol="0" anchor="ctr"/>
          <a:lstStyle/>
          <a:p>
            <a:pPr algn="ctr"/>
            <a:r>
              <a:rPr lang="en-US" sz="8400" dirty="0" err="1">
                <a:solidFill>
                  <a:srgbClr val="FFFFFF"/>
                </a:solidFill>
                <a:latin typeface="MiSans Semibold" pitchFamily="2" charset="-122"/>
                <a:ea typeface="MiSans Semibold" pitchFamily="2" charset="-122"/>
                <a:cs typeface="MiSans" pitchFamily="34" charset="-120"/>
              </a:rPr>
              <a:t>新一代</a:t>
            </a:r>
            <a:r>
              <a:rPr lang="en-US" sz="8400" kern="0" spc="36" dirty="0" err="1">
                <a:solidFill>
                  <a:srgbClr val="FFFFFF"/>
                </a:solidFill>
                <a:latin typeface="MiSans Semibold" pitchFamily="2" charset="-122"/>
                <a:ea typeface="MiSans Semibold" pitchFamily="2" charset="-122"/>
                <a:cs typeface="Bebas Neue Regular" pitchFamily="34" charset="-120"/>
              </a:rPr>
              <a:t>露营产品</a:t>
            </a:r>
            <a:endParaRPr lang="en-US" sz="8400" dirty="0">
              <a:latin typeface="MiSans Semibold" pitchFamily="2" charset="-122"/>
              <a:ea typeface="MiSans Semibold"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714"/>
        </a:solidFill>
        <a:effectLst/>
      </p:bgPr>
    </p:bg>
    <p:spTree>
      <p:nvGrpSpPr>
        <p:cNvPr id="1" name=""/>
        <p:cNvGrpSpPr/>
        <p:nvPr/>
      </p:nvGrpSpPr>
      <p:grpSpPr>
        <a:xfrm>
          <a:off x="0" y="0"/>
          <a:ext cx="0" cy="0"/>
          <a:chOff x="0" y="0"/>
          <a:chExt cx="0" cy="0"/>
        </a:xfrm>
      </p:grpSpPr>
      <p:sp>
        <p:nvSpPr>
          <p:cNvPr id="3" name="Shape 0"/>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5" name="Text 2"/>
          <p:cNvSpPr/>
          <p:nvPr/>
        </p:nvSpPr>
        <p:spPr>
          <a:xfrm>
            <a:off x="188403" y="2397928"/>
            <a:ext cx="3904469" cy="309562"/>
          </a:xfrm>
          <a:prstGeom prst="rect">
            <a:avLst/>
          </a:prstGeom>
          <a:noFill/>
          <a:ln/>
        </p:spPr>
        <p:txBody>
          <a:bodyPr wrap="square" lIns="0" tIns="0" rIns="0" bIns="0" rtlCol="0" anchor="ctr"/>
          <a:lstStyle/>
          <a:p>
            <a:pPr algn="l">
              <a:lnSpc>
                <a:spcPts val="2250"/>
              </a:lnSpc>
            </a:pPr>
            <a:r>
              <a:rPr lang="en-US" sz="2000" dirty="0">
                <a:solidFill>
                  <a:srgbClr val="FFFFFF"/>
                </a:solidFill>
                <a:latin typeface="MiSans" pitchFamily="2" charset="-122"/>
                <a:ea typeface="MiSans" pitchFamily="2" charset="-122"/>
                <a:cs typeface="Bebas Neue Regular" pitchFamily="34" charset="-120"/>
              </a:rPr>
              <a:t>01</a:t>
            </a:r>
            <a:r>
              <a:rPr lang="zh-CN" altLang="en-US" sz="2000" dirty="0">
                <a:solidFill>
                  <a:srgbClr val="FFFFFF"/>
                </a:solidFill>
                <a:latin typeface="MiSans" pitchFamily="2" charset="-122"/>
                <a:ea typeface="MiSans" pitchFamily="2" charset="-122"/>
                <a:cs typeface="Bebas Neue Regular" pitchFamily="34" charset="-120"/>
              </a:rPr>
              <a:t>  </a:t>
            </a:r>
            <a:r>
              <a:rPr lang="en-US" sz="2000" dirty="0" err="1">
                <a:solidFill>
                  <a:srgbClr val="FFFFFF"/>
                </a:solidFill>
                <a:latin typeface="MiSans" pitchFamily="2" charset="-122"/>
                <a:ea typeface="MiSans" pitchFamily="2" charset="-122"/>
                <a:cs typeface="思源宋体Google" pitchFamily="34" charset="-120"/>
              </a:rPr>
              <a:t>痛点</a:t>
            </a:r>
            <a:endParaRPr lang="en-US" sz="2000" dirty="0">
              <a:latin typeface="MiSans" pitchFamily="2" charset="-122"/>
              <a:ea typeface="MiSans" pitchFamily="2" charset="-122"/>
            </a:endParaRPr>
          </a:p>
        </p:txBody>
      </p:sp>
      <p:sp>
        <p:nvSpPr>
          <p:cNvPr id="6" name="Text 3"/>
          <p:cNvSpPr/>
          <p:nvPr/>
        </p:nvSpPr>
        <p:spPr>
          <a:xfrm>
            <a:off x="188403" y="3488151"/>
            <a:ext cx="3904394" cy="309563"/>
          </a:xfrm>
          <a:prstGeom prst="rect">
            <a:avLst/>
          </a:prstGeom>
          <a:noFill/>
          <a:ln/>
        </p:spPr>
        <p:txBody>
          <a:bodyPr wrap="square" lIns="0" tIns="0" rIns="0" bIns="0" rtlCol="0" anchor="ctr"/>
          <a:lstStyle/>
          <a:p>
            <a:pPr algn="l">
              <a:lnSpc>
                <a:spcPts val="2250"/>
              </a:lnSpc>
            </a:pPr>
            <a:r>
              <a:rPr lang="en-US" sz="2000" dirty="0">
                <a:solidFill>
                  <a:srgbClr val="FFFFFF"/>
                </a:solidFill>
                <a:latin typeface="MiSans" pitchFamily="2" charset="-122"/>
                <a:ea typeface="MiSans" pitchFamily="2" charset="-122"/>
                <a:cs typeface="Bebas Neue Regular" pitchFamily="34" charset="-120"/>
              </a:rPr>
              <a:t>03</a:t>
            </a:r>
            <a:r>
              <a:rPr lang="zh-CN" altLang="en-US" sz="2000" dirty="0">
                <a:solidFill>
                  <a:srgbClr val="FFFFFF"/>
                </a:solidFill>
                <a:latin typeface="MiSans" pitchFamily="2" charset="-122"/>
                <a:ea typeface="MiSans" pitchFamily="2" charset="-122"/>
                <a:cs typeface="Bebas Neue Regular" pitchFamily="34" charset="-120"/>
              </a:rPr>
              <a:t>  </a:t>
            </a:r>
            <a:r>
              <a:rPr lang="en-US" sz="2000" dirty="0" err="1">
                <a:solidFill>
                  <a:srgbClr val="FFFFFF"/>
                </a:solidFill>
                <a:latin typeface="MiSans" pitchFamily="2" charset="-122"/>
                <a:ea typeface="MiSans" pitchFamily="2" charset="-122"/>
                <a:cs typeface="思源宋体Google" pitchFamily="34" charset="-120"/>
              </a:rPr>
              <a:t>市场机会</a:t>
            </a:r>
            <a:endParaRPr lang="en-US" sz="2000" dirty="0">
              <a:latin typeface="MiSans" pitchFamily="2" charset="-122"/>
              <a:ea typeface="MiSans" pitchFamily="2" charset="-122"/>
            </a:endParaRPr>
          </a:p>
        </p:txBody>
      </p:sp>
      <p:sp>
        <p:nvSpPr>
          <p:cNvPr id="7" name="Text 4"/>
          <p:cNvSpPr/>
          <p:nvPr/>
        </p:nvSpPr>
        <p:spPr>
          <a:xfrm>
            <a:off x="188403" y="2943037"/>
            <a:ext cx="3904134" cy="309563"/>
          </a:xfrm>
          <a:prstGeom prst="rect">
            <a:avLst/>
          </a:prstGeom>
          <a:noFill/>
          <a:ln/>
        </p:spPr>
        <p:txBody>
          <a:bodyPr wrap="square" lIns="0" tIns="0" rIns="0" bIns="0" rtlCol="0" anchor="ctr"/>
          <a:lstStyle/>
          <a:p>
            <a:pPr algn="l">
              <a:lnSpc>
                <a:spcPts val="2250"/>
              </a:lnSpc>
            </a:pPr>
            <a:r>
              <a:rPr lang="en-US" sz="2000" dirty="0">
                <a:solidFill>
                  <a:srgbClr val="FFFFFF"/>
                </a:solidFill>
                <a:latin typeface="MiSans" pitchFamily="2" charset="-122"/>
                <a:ea typeface="MiSans" pitchFamily="2" charset="-122"/>
                <a:cs typeface="Bebas Neue Regular" pitchFamily="34" charset="-120"/>
              </a:rPr>
              <a:t>02</a:t>
            </a:r>
            <a:r>
              <a:rPr lang="zh-CN" altLang="en-US" sz="2000" dirty="0">
                <a:solidFill>
                  <a:srgbClr val="FFFFFF"/>
                </a:solidFill>
                <a:latin typeface="MiSans" pitchFamily="2" charset="-122"/>
                <a:ea typeface="MiSans" pitchFamily="2" charset="-122"/>
                <a:cs typeface="Bebas Neue Regular" pitchFamily="34" charset="-120"/>
              </a:rPr>
              <a:t>  </a:t>
            </a:r>
            <a:r>
              <a:rPr lang="en-US" sz="2000" dirty="0" err="1">
                <a:solidFill>
                  <a:srgbClr val="FFFFFF"/>
                </a:solidFill>
                <a:latin typeface="MiSans" pitchFamily="2" charset="-122"/>
                <a:ea typeface="MiSans" pitchFamily="2" charset="-122"/>
                <a:cs typeface="思源宋体Google" pitchFamily="34" charset="-120"/>
              </a:rPr>
              <a:t>解决方案</a:t>
            </a:r>
            <a:endParaRPr lang="en-US" sz="2000" dirty="0">
              <a:latin typeface="MiSans" pitchFamily="2" charset="-122"/>
              <a:ea typeface="MiSans" pitchFamily="2" charset="-122"/>
            </a:endParaRPr>
          </a:p>
        </p:txBody>
      </p:sp>
      <p:sp>
        <p:nvSpPr>
          <p:cNvPr id="8" name="Text 5"/>
          <p:cNvSpPr/>
          <p:nvPr/>
        </p:nvSpPr>
        <p:spPr>
          <a:xfrm>
            <a:off x="188403" y="4049929"/>
            <a:ext cx="3904990" cy="323850"/>
          </a:xfrm>
          <a:prstGeom prst="rect">
            <a:avLst/>
          </a:prstGeom>
          <a:noFill/>
          <a:ln/>
        </p:spPr>
        <p:txBody>
          <a:bodyPr wrap="square" lIns="0" tIns="0" rIns="0" bIns="0" rtlCol="0" anchor="ctr"/>
          <a:lstStyle/>
          <a:p>
            <a:pPr algn="l">
              <a:lnSpc>
                <a:spcPts val="2250"/>
              </a:lnSpc>
            </a:pPr>
            <a:r>
              <a:rPr lang="en-US" sz="2000" dirty="0">
                <a:solidFill>
                  <a:srgbClr val="FFFFFF"/>
                </a:solidFill>
                <a:latin typeface="MiSans" pitchFamily="2" charset="-122"/>
                <a:ea typeface="MiSans" pitchFamily="2" charset="-122"/>
                <a:cs typeface="Bebas Neue Regular" pitchFamily="34" charset="-120"/>
              </a:rPr>
              <a:t>04</a:t>
            </a:r>
            <a:r>
              <a:rPr lang="zh-CN" altLang="en-US" sz="2000" dirty="0">
                <a:solidFill>
                  <a:srgbClr val="FFFFFF"/>
                </a:solidFill>
                <a:latin typeface="MiSans" pitchFamily="2" charset="-122"/>
                <a:ea typeface="MiSans" pitchFamily="2" charset="-122"/>
                <a:cs typeface="Bebas Neue Regular" pitchFamily="34" charset="-120"/>
              </a:rPr>
              <a:t>  </a:t>
            </a:r>
            <a:r>
              <a:rPr lang="en-US" sz="2000" dirty="0" err="1">
                <a:solidFill>
                  <a:srgbClr val="FFFFFF"/>
                </a:solidFill>
                <a:latin typeface="MiSans" pitchFamily="2" charset="-122"/>
                <a:ea typeface="MiSans" pitchFamily="2" charset="-122"/>
                <a:cs typeface="思源黑体" pitchFamily="34" charset="-120"/>
              </a:rPr>
              <a:t>产品与体验</a:t>
            </a:r>
            <a:endParaRPr lang="en-US" sz="2000" dirty="0">
              <a:latin typeface="MiSans" pitchFamily="2" charset="-122"/>
              <a:ea typeface="MiSans" pitchFamily="2" charset="-122"/>
            </a:endParaRPr>
          </a:p>
        </p:txBody>
      </p:sp>
      <p:sp>
        <p:nvSpPr>
          <p:cNvPr id="9" name="Text 6"/>
          <p:cNvSpPr/>
          <p:nvPr/>
        </p:nvSpPr>
        <p:spPr>
          <a:xfrm>
            <a:off x="188403" y="4571221"/>
            <a:ext cx="3904990" cy="323850"/>
          </a:xfrm>
          <a:prstGeom prst="rect">
            <a:avLst/>
          </a:prstGeom>
          <a:noFill/>
          <a:ln/>
        </p:spPr>
        <p:txBody>
          <a:bodyPr wrap="square" lIns="0" tIns="0" rIns="0" bIns="0" rtlCol="0" anchor="ctr"/>
          <a:lstStyle/>
          <a:p>
            <a:pPr algn="l">
              <a:lnSpc>
                <a:spcPts val="2250"/>
              </a:lnSpc>
            </a:pPr>
            <a:r>
              <a:rPr lang="en-US" sz="2000" dirty="0">
                <a:solidFill>
                  <a:srgbClr val="FFFFFF"/>
                </a:solidFill>
                <a:latin typeface="MiSans" pitchFamily="2" charset="-122"/>
                <a:ea typeface="MiSans" pitchFamily="2" charset="-122"/>
                <a:cs typeface="Bebas Neue Regular" pitchFamily="34" charset="-120"/>
              </a:rPr>
              <a:t>05</a:t>
            </a:r>
            <a:r>
              <a:rPr lang="zh-CN" altLang="en-US" sz="2000" dirty="0">
                <a:solidFill>
                  <a:srgbClr val="FFFFFF"/>
                </a:solidFill>
                <a:latin typeface="MiSans" pitchFamily="2" charset="-122"/>
                <a:ea typeface="MiSans" pitchFamily="2" charset="-122"/>
                <a:cs typeface="Bebas Neue Regular" pitchFamily="34" charset="-120"/>
              </a:rPr>
              <a:t>  </a:t>
            </a:r>
            <a:r>
              <a:rPr lang="en-US" sz="2000" dirty="0" err="1">
                <a:solidFill>
                  <a:srgbClr val="FFFFFF"/>
                </a:solidFill>
                <a:latin typeface="MiSans" pitchFamily="2" charset="-122"/>
                <a:ea typeface="MiSans" pitchFamily="2" charset="-122"/>
                <a:cs typeface="思源黑体" pitchFamily="34" charset="-120"/>
              </a:rPr>
              <a:t>商业模式</a:t>
            </a:r>
            <a:endParaRPr lang="en-US" sz="2000" dirty="0">
              <a:latin typeface="MiSans" pitchFamily="2" charset="-122"/>
              <a:ea typeface="MiSans" pitchFamily="2" charset="-122"/>
            </a:endParaRPr>
          </a:p>
        </p:txBody>
      </p:sp>
      <p:sp>
        <p:nvSpPr>
          <p:cNvPr id="10" name="Text 7"/>
          <p:cNvSpPr/>
          <p:nvPr/>
        </p:nvSpPr>
        <p:spPr>
          <a:xfrm>
            <a:off x="4762500" y="2936529"/>
            <a:ext cx="3904990" cy="323850"/>
          </a:xfrm>
          <a:prstGeom prst="rect">
            <a:avLst/>
          </a:prstGeom>
          <a:noFill/>
          <a:ln/>
        </p:spPr>
        <p:txBody>
          <a:bodyPr wrap="square" lIns="0" tIns="0" rIns="0" bIns="0" rtlCol="0" anchor="ctr"/>
          <a:lstStyle/>
          <a:p>
            <a:pPr algn="l">
              <a:lnSpc>
                <a:spcPts val="2250"/>
              </a:lnSpc>
            </a:pPr>
            <a:r>
              <a:rPr lang="en-US" sz="2000" dirty="0">
                <a:solidFill>
                  <a:srgbClr val="FFFFFF"/>
                </a:solidFill>
                <a:latin typeface="MiSans" pitchFamily="2" charset="-122"/>
                <a:ea typeface="MiSans" pitchFamily="2" charset="-122"/>
                <a:cs typeface="Bebas Neue Regular" pitchFamily="34" charset="-120"/>
              </a:rPr>
              <a:t>07</a:t>
            </a:r>
            <a:r>
              <a:rPr lang="zh-CN" altLang="en-US" sz="2000" dirty="0">
                <a:solidFill>
                  <a:srgbClr val="FFFFFF"/>
                </a:solidFill>
                <a:latin typeface="MiSans" pitchFamily="2" charset="-122"/>
                <a:ea typeface="MiSans" pitchFamily="2" charset="-122"/>
                <a:cs typeface="Bebas Neue Regular" pitchFamily="34" charset="-120"/>
              </a:rPr>
              <a:t>  </a:t>
            </a:r>
            <a:r>
              <a:rPr lang="en-US" sz="2000" dirty="0" err="1">
                <a:solidFill>
                  <a:srgbClr val="FFFFFF"/>
                </a:solidFill>
                <a:latin typeface="MiSans" pitchFamily="2" charset="-122"/>
                <a:ea typeface="MiSans" pitchFamily="2" charset="-122"/>
                <a:cs typeface="思源黑体" pitchFamily="34" charset="-120"/>
              </a:rPr>
              <a:t>运营数据与进展</a:t>
            </a:r>
            <a:endParaRPr lang="en-US" sz="2000" dirty="0">
              <a:latin typeface="MiSans" pitchFamily="2" charset="-122"/>
              <a:ea typeface="MiSans" pitchFamily="2" charset="-122"/>
            </a:endParaRPr>
          </a:p>
        </p:txBody>
      </p:sp>
      <p:sp>
        <p:nvSpPr>
          <p:cNvPr id="11" name="Text 8"/>
          <p:cNvSpPr/>
          <p:nvPr/>
        </p:nvSpPr>
        <p:spPr>
          <a:xfrm>
            <a:off x="4762500" y="2396870"/>
            <a:ext cx="3904990" cy="309563"/>
          </a:xfrm>
          <a:prstGeom prst="rect">
            <a:avLst/>
          </a:prstGeom>
          <a:noFill/>
          <a:ln/>
        </p:spPr>
        <p:txBody>
          <a:bodyPr wrap="square" lIns="0" tIns="0" rIns="0" bIns="0" rtlCol="0" anchor="ctr"/>
          <a:lstStyle/>
          <a:p>
            <a:pPr algn="l">
              <a:lnSpc>
                <a:spcPts val="2250"/>
              </a:lnSpc>
            </a:pPr>
            <a:r>
              <a:rPr lang="en-US" sz="2000" dirty="0">
                <a:solidFill>
                  <a:srgbClr val="FFFFFF"/>
                </a:solidFill>
                <a:latin typeface="MiSans" pitchFamily="2" charset="-122"/>
                <a:ea typeface="MiSans" pitchFamily="2" charset="-122"/>
                <a:cs typeface="Bebas Neue Regular" pitchFamily="34" charset="-120"/>
              </a:rPr>
              <a:t>06</a:t>
            </a:r>
            <a:r>
              <a:rPr lang="zh-CN" altLang="en-US" sz="2000" dirty="0">
                <a:solidFill>
                  <a:srgbClr val="FFFFFF"/>
                </a:solidFill>
                <a:latin typeface="MiSans" pitchFamily="2" charset="-122"/>
                <a:ea typeface="MiSans" pitchFamily="2" charset="-122"/>
                <a:cs typeface="Bebas Neue Regular" pitchFamily="34" charset="-120"/>
              </a:rPr>
              <a:t>  </a:t>
            </a:r>
            <a:r>
              <a:rPr lang="en-US" sz="2000" dirty="0" err="1">
                <a:solidFill>
                  <a:srgbClr val="FFFFFF"/>
                </a:solidFill>
                <a:latin typeface="MiSans" pitchFamily="2" charset="-122"/>
                <a:ea typeface="MiSans" pitchFamily="2" charset="-122"/>
                <a:cs typeface="思源宋体Google" pitchFamily="34" charset="-120"/>
              </a:rPr>
              <a:t>竞争优势</a:t>
            </a:r>
            <a:endParaRPr lang="en-US" sz="2000" dirty="0">
              <a:latin typeface="MiSans" pitchFamily="2" charset="-122"/>
              <a:ea typeface="MiSans" pitchFamily="2" charset="-122"/>
            </a:endParaRPr>
          </a:p>
        </p:txBody>
      </p:sp>
      <p:sp>
        <p:nvSpPr>
          <p:cNvPr id="12" name="Text 9"/>
          <p:cNvSpPr/>
          <p:nvPr/>
        </p:nvSpPr>
        <p:spPr>
          <a:xfrm>
            <a:off x="4762500" y="3481639"/>
            <a:ext cx="3904990" cy="323850"/>
          </a:xfrm>
          <a:prstGeom prst="rect">
            <a:avLst/>
          </a:prstGeom>
          <a:noFill/>
          <a:ln/>
        </p:spPr>
        <p:txBody>
          <a:bodyPr wrap="square" lIns="0" tIns="0" rIns="0" bIns="0" rtlCol="0" anchor="ctr"/>
          <a:lstStyle/>
          <a:p>
            <a:pPr algn="l">
              <a:lnSpc>
                <a:spcPts val="2250"/>
              </a:lnSpc>
            </a:pPr>
            <a:r>
              <a:rPr lang="en-US" sz="2000" dirty="0">
                <a:solidFill>
                  <a:srgbClr val="FFFFFF"/>
                </a:solidFill>
                <a:latin typeface="MiSans" pitchFamily="2" charset="-122"/>
                <a:ea typeface="MiSans" pitchFamily="2" charset="-122"/>
                <a:cs typeface="Bebas Neue Regular" pitchFamily="34" charset="-120"/>
              </a:rPr>
              <a:t>08 </a:t>
            </a:r>
            <a:r>
              <a:rPr lang="zh-CN" altLang="en-US" sz="2000" dirty="0">
                <a:solidFill>
                  <a:srgbClr val="FFFFFF"/>
                </a:solidFill>
                <a:latin typeface="MiSans" pitchFamily="2" charset="-122"/>
                <a:ea typeface="MiSans" pitchFamily="2" charset="-122"/>
                <a:cs typeface="Bebas Neue Regular" pitchFamily="34" charset="-120"/>
              </a:rPr>
              <a:t> </a:t>
            </a:r>
            <a:r>
              <a:rPr lang="en-US" sz="2000" dirty="0" err="1">
                <a:solidFill>
                  <a:srgbClr val="FFFFFF"/>
                </a:solidFill>
                <a:latin typeface="MiSans" pitchFamily="2" charset="-122"/>
                <a:ea typeface="MiSans" pitchFamily="2" charset="-122"/>
                <a:cs typeface="思源黑体" pitchFamily="34" charset="-120"/>
              </a:rPr>
              <a:t>团队</a:t>
            </a:r>
            <a:endParaRPr lang="en-US" sz="2000" dirty="0">
              <a:latin typeface="MiSans" pitchFamily="2" charset="-122"/>
              <a:ea typeface="MiSans" pitchFamily="2" charset="-122"/>
            </a:endParaRPr>
          </a:p>
        </p:txBody>
      </p:sp>
      <p:sp>
        <p:nvSpPr>
          <p:cNvPr id="13" name="Text 10"/>
          <p:cNvSpPr/>
          <p:nvPr/>
        </p:nvSpPr>
        <p:spPr>
          <a:xfrm>
            <a:off x="4762500" y="4057700"/>
            <a:ext cx="3904990" cy="309562"/>
          </a:xfrm>
          <a:prstGeom prst="rect">
            <a:avLst/>
          </a:prstGeom>
          <a:noFill/>
          <a:ln/>
        </p:spPr>
        <p:txBody>
          <a:bodyPr wrap="square" lIns="0" tIns="0" rIns="0" bIns="0" rtlCol="0" anchor="ctr"/>
          <a:lstStyle/>
          <a:p>
            <a:pPr algn="l">
              <a:lnSpc>
                <a:spcPts val="2250"/>
              </a:lnSpc>
            </a:pPr>
            <a:r>
              <a:rPr lang="en-US" sz="2000" dirty="0">
                <a:solidFill>
                  <a:srgbClr val="FFFFFF"/>
                </a:solidFill>
                <a:latin typeface="MiSans" pitchFamily="2" charset="-122"/>
                <a:ea typeface="MiSans" pitchFamily="2" charset="-122"/>
                <a:cs typeface="Bebas Neue Regular" pitchFamily="34" charset="-120"/>
              </a:rPr>
              <a:t>09</a:t>
            </a:r>
            <a:r>
              <a:rPr lang="zh-CN" altLang="en-US" sz="2000" dirty="0">
                <a:solidFill>
                  <a:srgbClr val="FFFFFF"/>
                </a:solidFill>
                <a:latin typeface="MiSans" pitchFamily="2" charset="-122"/>
                <a:ea typeface="MiSans" pitchFamily="2" charset="-122"/>
                <a:cs typeface="Bebas Neue Regular" pitchFamily="34" charset="-120"/>
              </a:rPr>
              <a:t>  </a:t>
            </a:r>
            <a:r>
              <a:rPr lang="en-US" sz="2000" dirty="0" err="1">
                <a:solidFill>
                  <a:srgbClr val="FFFFFF"/>
                </a:solidFill>
                <a:latin typeface="MiSans" pitchFamily="2" charset="-122"/>
                <a:ea typeface="MiSans" pitchFamily="2" charset="-122"/>
                <a:cs typeface="思源宋体Google" pitchFamily="34" charset="-120"/>
              </a:rPr>
              <a:t>融资需求</a:t>
            </a:r>
            <a:endParaRPr lang="en-US" sz="2000" dirty="0">
              <a:latin typeface="MiSans" pitchFamily="2" charset="-122"/>
              <a:ea typeface="MiSans" pitchFamily="2" charset="-122"/>
            </a:endParaRPr>
          </a:p>
        </p:txBody>
      </p:sp>
      <p:sp>
        <p:nvSpPr>
          <p:cNvPr id="14" name="Shape 11"/>
          <p:cNvSpPr/>
          <p:nvPr/>
        </p:nvSpPr>
        <p:spPr>
          <a:xfrm>
            <a:off x="190195" y="2814956"/>
            <a:ext cx="8799271"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15" name="Shape 12"/>
          <p:cNvSpPr/>
          <p:nvPr/>
        </p:nvSpPr>
        <p:spPr>
          <a:xfrm>
            <a:off x="190195" y="3408054"/>
            <a:ext cx="8799271"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16" name="Shape 13"/>
          <p:cNvSpPr/>
          <p:nvPr/>
        </p:nvSpPr>
        <p:spPr>
          <a:xfrm>
            <a:off x="190195" y="3901862"/>
            <a:ext cx="8799271"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17" name="Shape 14"/>
          <p:cNvSpPr/>
          <p:nvPr/>
        </p:nvSpPr>
        <p:spPr>
          <a:xfrm>
            <a:off x="190195" y="4494960"/>
            <a:ext cx="8799271"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18" name="Text 15"/>
          <p:cNvSpPr/>
          <p:nvPr/>
        </p:nvSpPr>
        <p:spPr>
          <a:xfrm>
            <a:off x="4762500" y="4590691"/>
            <a:ext cx="3904134" cy="309563"/>
          </a:xfrm>
          <a:prstGeom prst="rect">
            <a:avLst/>
          </a:prstGeom>
          <a:noFill/>
          <a:ln/>
        </p:spPr>
        <p:txBody>
          <a:bodyPr wrap="square" lIns="0" tIns="0" rIns="0" bIns="0" rtlCol="0" anchor="ctr"/>
          <a:lstStyle/>
          <a:p>
            <a:pPr algn="l">
              <a:lnSpc>
                <a:spcPts val="2250"/>
              </a:lnSpc>
            </a:pPr>
            <a:r>
              <a:rPr lang="en-US" sz="2000" dirty="0">
                <a:solidFill>
                  <a:srgbClr val="FFFFFF"/>
                </a:solidFill>
                <a:latin typeface="MiSans" pitchFamily="2" charset="-122"/>
                <a:ea typeface="MiSans" pitchFamily="2" charset="-122"/>
                <a:cs typeface="Bebas Neue Regular" pitchFamily="34" charset="-120"/>
              </a:rPr>
              <a:t>10</a:t>
            </a:r>
            <a:r>
              <a:rPr lang="zh-CN" altLang="en-US" sz="2000" dirty="0">
                <a:solidFill>
                  <a:srgbClr val="FFFFFF"/>
                </a:solidFill>
                <a:latin typeface="MiSans" pitchFamily="2" charset="-122"/>
                <a:ea typeface="MiSans" pitchFamily="2" charset="-122"/>
                <a:cs typeface="Bebas Neue Regular" pitchFamily="34" charset="-120"/>
              </a:rPr>
              <a:t>  </a:t>
            </a:r>
            <a:r>
              <a:rPr lang="en-US" sz="2000" dirty="0" err="1">
                <a:solidFill>
                  <a:srgbClr val="FFFFFF"/>
                </a:solidFill>
                <a:latin typeface="MiSans" pitchFamily="2" charset="-122"/>
                <a:ea typeface="MiSans" pitchFamily="2" charset="-122"/>
                <a:cs typeface="思源宋体Google" pitchFamily="34" charset="-120"/>
              </a:rPr>
              <a:t>未来计划</a:t>
            </a:r>
            <a:endParaRPr lang="en-US" sz="2000" dirty="0">
              <a:latin typeface="MiSans" pitchFamily="2" charset="-122"/>
              <a:ea typeface="MiSans" pitchFamily="2" charset="-122"/>
            </a:endParaRPr>
          </a:p>
        </p:txBody>
      </p:sp>
      <p:sp>
        <p:nvSpPr>
          <p:cNvPr id="19" name="Text 16"/>
          <p:cNvSpPr/>
          <p:nvPr/>
        </p:nvSpPr>
        <p:spPr>
          <a:xfrm>
            <a:off x="190500" y="272673"/>
            <a:ext cx="3809777" cy="119063"/>
          </a:xfrm>
          <a:prstGeom prst="rect">
            <a:avLst/>
          </a:prstGeom>
          <a:noFill/>
          <a:ln/>
        </p:spPr>
        <p:txBody>
          <a:bodyPr wrap="square" lIns="0" tIns="0" rIns="0" bIns="0" rtlCol="0" anchor="b"/>
          <a:lstStyle/>
          <a:p>
            <a:pPr algn="l">
              <a:lnSpc>
                <a:spcPts val="938"/>
              </a:lnSpc>
            </a:pPr>
            <a:r>
              <a:rPr lang="en-US" sz="800" spc="300" dirty="0">
                <a:solidFill>
                  <a:srgbClr val="FFFFFF"/>
                </a:solidFill>
                <a:latin typeface="MiSans" pitchFamily="2" charset="-122"/>
                <a:ea typeface="MiSans" pitchFamily="2" charset="-122"/>
                <a:cs typeface="思源黑体" pitchFamily="34" charset="-120"/>
              </a:rPr>
              <a:t>目录</a:t>
            </a:r>
            <a:endParaRPr lang="en-US" sz="750" spc="300" dirty="0">
              <a:latin typeface="MiSans" pitchFamily="2" charset="-122"/>
              <a:ea typeface="MiSans"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714"/>
        </a:solidFill>
        <a:effectLst/>
      </p:bgPr>
    </p:bg>
    <p:spTree>
      <p:nvGrpSpPr>
        <p:cNvPr id="1" name=""/>
        <p:cNvGrpSpPr/>
        <p:nvPr/>
      </p:nvGrpSpPr>
      <p:grpSpPr>
        <a:xfrm>
          <a:off x="0" y="0"/>
          <a:ext cx="0" cy="0"/>
          <a:chOff x="0" y="0"/>
          <a:chExt cx="0" cy="0"/>
        </a:xfrm>
      </p:grpSpPr>
      <p:pic>
        <p:nvPicPr>
          <p:cNvPr id="3" name="Image 0"/>
          <p:cNvPicPr>
            <a:picLocks noChangeAspect="1"/>
          </p:cNvPicPr>
          <p:nvPr/>
        </p:nvPicPr>
        <p:blipFill>
          <a:blip r:embed="rId3"/>
          <a:srcRect l="24346" r="24346"/>
          <a:stretch/>
        </p:blipFill>
        <p:spPr>
          <a:xfrm>
            <a:off x="190500" y="941765"/>
            <a:ext cx="3095625" cy="3929062"/>
          </a:xfrm>
          <a:prstGeom prst="rect">
            <a:avLst/>
          </a:prstGeom>
        </p:spPr>
      </p:pic>
      <p:sp>
        <p:nvSpPr>
          <p:cNvPr id="4" name="Shape 0"/>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5" name="Shape 1"/>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6" name="Text 2"/>
          <p:cNvSpPr/>
          <p:nvPr/>
        </p:nvSpPr>
        <p:spPr>
          <a:xfrm>
            <a:off x="4065546" y="1753856"/>
            <a:ext cx="4524338" cy="2166065"/>
          </a:xfrm>
          <a:prstGeom prst="rect">
            <a:avLst/>
          </a:prstGeom>
          <a:noFill/>
          <a:ln/>
        </p:spPr>
        <p:txBody>
          <a:bodyPr wrap="square" lIns="0" tIns="0" rIns="0" bIns="0" rtlCol="0" anchor="ctr"/>
          <a:lstStyle/>
          <a:p>
            <a:pPr algn="ctr">
              <a:lnSpc>
                <a:spcPts val="2060"/>
              </a:lnSpc>
              <a:spcAft>
                <a:spcPts val="600"/>
              </a:spcAft>
            </a:pPr>
            <a:r>
              <a:rPr lang="en-US" sz="1800" dirty="0">
                <a:solidFill>
                  <a:srgbClr val="FFFFFF"/>
                </a:solidFill>
                <a:latin typeface="MiSans Demibold" pitchFamily="2" charset="-122"/>
                <a:ea typeface="MiSans Demibold" pitchFamily="2" charset="-122"/>
                <a:cs typeface="思源黑体" pitchFamily="34" charset="-120"/>
              </a:rPr>
              <a:t>新一代精品露营平台重新定义都市人群的</a:t>
            </a:r>
            <a:endParaRPr lang="en-US" sz="1800" dirty="0">
              <a:latin typeface="MiSans Demibold" pitchFamily="2" charset="-122"/>
              <a:ea typeface="MiSans Demibold" pitchFamily="2" charset="-122"/>
            </a:endParaRPr>
          </a:p>
          <a:p>
            <a:pPr algn="ctr">
              <a:lnSpc>
                <a:spcPts val="2060"/>
              </a:lnSpc>
              <a:spcAft>
                <a:spcPts val="600"/>
              </a:spcAft>
            </a:pPr>
            <a:r>
              <a:rPr lang="en-US" sz="1800" dirty="0">
                <a:solidFill>
                  <a:srgbClr val="FFFFFF"/>
                </a:solidFill>
                <a:latin typeface="MiSans Demibold" pitchFamily="2" charset="-122"/>
                <a:ea typeface="MiSans Demibold" pitchFamily="2" charset="-122"/>
                <a:cs typeface="思源黑体" pitchFamily="34" charset="-120"/>
              </a:rPr>
              <a:t>户外微度假体验</a:t>
            </a:r>
            <a:endParaRPr lang="en-US" sz="1800" dirty="0">
              <a:latin typeface="MiSans Demibold" pitchFamily="2" charset="-122"/>
              <a:ea typeface="MiSans Demibold" pitchFamily="2" charset="-122"/>
            </a:endParaRPr>
          </a:p>
        </p:txBody>
      </p:sp>
      <p:sp>
        <p:nvSpPr>
          <p:cNvPr id="7" name="Text 3"/>
          <p:cNvSpPr/>
          <p:nvPr/>
        </p:nvSpPr>
        <p:spPr>
          <a:xfrm>
            <a:off x="190500" y="272673"/>
            <a:ext cx="3808251" cy="119063"/>
          </a:xfrm>
          <a:prstGeom prst="rect">
            <a:avLst/>
          </a:prstGeom>
          <a:noFill/>
          <a:ln/>
        </p:spPr>
        <p:txBody>
          <a:bodyPr wrap="square" lIns="0" tIns="0" rIns="0" bIns="0" rtlCol="0" anchor="b"/>
          <a:lstStyle/>
          <a:p>
            <a:pPr algn="l">
              <a:lnSpc>
                <a:spcPts val="938"/>
              </a:lnSpc>
            </a:pPr>
            <a:r>
              <a:rPr lang="en-US" sz="800" spc="300" dirty="0">
                <a:solidFill>
                  <a:srgbClr val="FFFFFF"/>
                </a:solidFill>
                <a:latin typeface="MiSans" pitchFamily="2" charset="-122"/>
                <a:ea typeface="MiSans" pitchFamily="2" charset="-122"/>
                <a:cs typeface="Helmet" pitchFamily="34" charset="-120"/>
              </a:rPr>
              <a:t>一句话亮点</a:t>
            </a:r>
            <a:endParaRPr lang="en-US" sz="750" spc="300" dirty="0">
              <a:latin typeface="MiSans" pitchFamily="2" charset="-122"/>
              <a:ea typeface="MiSans"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714"/>
        </a:solidFill>
        <a:effectLst/>
      </p:bgPr>
    </p:bg>
    <p:spTree>
      <p:nvGrpSpPr>
        <p:cNvPr id="1" name=""/>
        <p:cNvGrpSpPr/>
        <p:nvPr/>
      </p:nvGrpSpPr>
      <p:grpSpPr>
        <a:xfrm>
          <a:off x="0" y="0"/>
          <a:ext cx="0" cy="0"/>
          <a:chOff x="0" y="0"/>
          <a:chExt cx="0" cy="0"/>
        </a:xfrm>
      </p:grpSpPr>
      <p:pic>
        <p:nvPicPr>
          <p:cNvPr id="3" name="Image 0"/>
          <p:cNvPicPr>
            <a:picLocks noChangeAspect="1"/>
          </p:cNvPicPr>
          <p:nvPr/>
        </p:nvPicPr>
        <p:blipFill>
          <a:blip r:embed="rId3"/>
          <a:srcRect t="26656" b="26656"/>
          <a:stretch/>
        </p:blipFill>
        <p:spPr>
          <a:xfrm>
            <a:off x="190121" y="2112484"/>
            <a:ext cx="8763683" cy="2758343"/>
          </a:xfrm>
          <a:prstGeom prst="rect">
            <a:avLst/>
          </a:prstGeom>
        </p:spPr>
      </p:pic>
      <p:sp>
        <p:nvSpPr>
          <p:cNvPr id="4" name="Shape 0"/>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5" name="Shape 1"/>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6" name="Text 2"/>
          <p:cNvSpPr/>
          <p:nvPr/>
        </p:nvSpPr>
        <p:spPr>
          <a:xfrm>
            <a:off x="190500" y="272673"/>
            <a:ext cx="3808884" cy="119063"/>
          </a:xfrm>
          <a:prstGeom prst="rect">
            <a:avLst/>
          </a:prstGeom>
          <a:noFill/>
          <a:ln/>
        </p:spPr>
        <p:txBody>
          <a:bodyPr wrap="square" lIns="0" tIns="0" rIns="0" bIns="0" rtlCol="0" anchor="b"/>
          <a:lstStyle/>
          <a:p>
            <a:pPr algn="l">
              <a:lnSpc>
                <a:spcPts val="938"/>
              </a:lnSpc>
            </a:pPr>
            <a:r>
              <a:rPr lang="en-US" sz="800" spc="300" dirty="0">
                <a:solidFill>
                  <a:srgbClr val="FFFFFF"/>
                </a:solidFill>
                <a:latin typeface="MiSans" pitchFamily="2" charset="-122"/>
                <a:ea typeface="MiSans" pitchFamily="2" charset="-122"/>
                <a:cs typeface="Helmet" pitchFamily="34" charset="-120"/>
              </a:rPr>
              <a:t>痛点问题</a:t>
            </a:r>
            <a:endParaRPr lang="en-US" sz="750" spc="300" dirty="0">
              <a:latin typeface="MiSans" pitchFamily="2" charset="-122"/>
              <a:ea typeface="MiSans" pitchFamily="2" charset="-122"/>
            </a:endParaRPr>
          </a:p>
        </p:txBody>
      </p:sp>
      <p:sp>
        <p:nvSpPr>
          <p:cNvPr id="7" name="Text 3"/>
          <p:cNvSpPr/>
          <p:nvPr/>
        </p:nvSpPr>
        <p:spPr>
          <a:xfrm>
            <a:off x="190121" y="653408"/>
            <a:ext cx="7447368" cy="1340002"/>
          </a:xfrm>
          <a:prstGeom prst="rect">
            <a:avLst/>
          </a:prstGeom>
          <a:noFill/>
          <a:ln/>
        </p:spPr>
        <p:txBody>
          <a:bodyPr wrap="square" lIns="0" tIns="0" rIns="0" bIns="0" rtlCol="0" anchor="t"/>
          <a:lstStyle/>
          <a:p>
            <a:pPr algn="l">
              <a:lnSpc>
                <a:spcPts val="3013"/>
              </a:lnSpc>
            </a:pPr>
            <a:r>
              <a:rPr lang="en-US" sz="2200" dirty="0">
                <a:solidFill>
                  <a:srgbClr val="FFFFFF"/>
                </a:solidFill>
                <a:latin typeface="MiSans Semibold" pitchFamily="2" charset="-122"/>
                <a:ea typeface="MiSans Semibold" pitchFamily="2" charset="-122"/>
                <a:cs typeface="思源黑体" pitchFamily="34" charset="-120"/>
              </a:rPr>
              <a:t>年轻家庭和Z世代缺乏"</a:t>
            </a:r>
            <a:r>
              <a:rPr lang="en-US" sz="2200" dirty="0">
                <a:solidFill>
                  <a:srgbClr val="FEE783"/>
                </a:solidFill>
                <a:latin typeface="MiSans Semibold" pitchFamily="2" charset="-122"/>
                <a:ea typeface="MiSans Semibold" pitchFamily="2" charset="-122"/>
                <a:cs typeface="思源黑体" pitchFamily="34" charset="-120"/>
              </a:rPr>
              <a:t>低门槛+高颜值+社交属性</a:t>
            </a:r>
            <a:r>
              <a:rPr lang="en-US" sz="2200" dirty="0">
                <a:solidFill>
                  <a:srgbClr val="FFFFFF"/>
                </a:solidFill>
                <a:latin typeface="MiSans Semibold" pitchFamily="2" charset="-122"/>
                <a:ea typeface="MiSans Semibold" pitchFamily="2" charset="-122"/>
                <a:cs typeface="思源黑体" pitchFamily="34" charset="-120"/>
              </a:rPr>
              <a:t>"的标准化</a:t>
            </a:r>
            <a:endParaRPr lang="en-US" sz="2200" dirty="0">
              <a:latin typeface="MiSans Semibold" pitchFamily="2" charset="-122"/>
              <a:ea typeface="MiSans Semibold" pitchFamily="2" charset="-122"/>
            </a:endParaRPr>
          </a:p>
          <a:p>
            <a:pPr algn="l">
              <a:lnSpc>
                <a:spcPts val="3013"/>
              </a:lnSpc>
            </a:pPr>
            <a:r>
              <a:rPr lang="en-US" sz="2200" dirty="0">
                <a:solidFill>
                  <a:srgbClr val="FFFFFF"/>
                </a:solidFill>
                <a:latin typeface="MiSans Semibold" pitchFamily="2" charset="-122"/>
                <a:ea typeface="MiSans Semibold" pitchFamily="2" charset="-122"/>
                <a:cs typeface="思源黑体" pitchFamily="34" charset="-120"/>
              </a:rPr>
              <a:t>户外度假产品</a:t>
            </a:r>
            <a:endParaRPr lang="en-US" sz="2200" dirty="0">
              <a:latin typeface="MiSans Semibold" pitchFamily="2" charset="-122"/>
              <a:ea typeface="MiSans Semibold"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714"/>
        </a:solidFill>
        <a:effectLst/>
      </p:bgPr>
    </p:bg>
    <p:spTree>
      <p:nvGrpSpPr>
        <p:cNvPr id="1" name=""/>
        <p:cNvGrpSpPr/>
        <p:nvPr/>
      </p:nvGrpSpPr>
      <p:grpSpPr>
        <a:xfrm>
          <a:off x="0" y="0"/>
          <a:ext cx="0" cy="0"/>
          <a:chOff x="0" y="0"/>
          <a:chExt cx="0" cy="0"/>
        </a:xfrm>
      </p:grpSpPr>
      <p:sp>
        <p:nvSpPr>
          <p:cNvPr id="3" name="Shape 0"/>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4" name="Shape 1"/>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5" name="Shape 2"/>
          <p:cNvSpPr/>
          <p:nvPr/>
        </p:nvSpPr>
        <p:spPr>
          <a:xfrm>
            <a:off x="188403" y="2774020"/>
            <a:ext cx="2857500" cy="2096667"/>
          </a:xfrm>
          <a:prstGeom prst="roundRect">
            <a:avLst>
              <a:gd name="adj" fmla="val 1227"/>
            </a:avLst>
          </a:prstGeom>
          <a:solidFill>
            <a:srgbClr val="FFF1B9"/>
          </a:solidFill>
          <a:ln/>
          <a:effectLst>
            <a:outerShdw blurRad="127000" dist="38100" dir="3600000" algn="bl" rotWithShape="0">
              <a:srgbClr val="000000">
                <a:alpha val="15000"/>
              </a:srgbClr>
            </a:outerShdw>
          </a:effectLst>
        </p:spPr>
        <p:txBody>
          <a:bodyPr/>
          <a:lstStyle/>
          <a:p>
            <a:endParaRPr lang="zh-CN" altLang="en-US"/>
          </a:p>
        </p:txBody>
      </p:sp>
      <p:sp>
        <p:nvSpPr>
          <p:cNvPr id="6" name="Text 3"/>
          <p:cNvSpPr/>
          <p:nvPr/>
        </p:nvSpPr>
        <p:spPr>
          <a:xfrm>
            <a:off x="393559" y="2963491"/>
            <a:ext cx="2381138" cy="213345"/>
          </a:xfrm>
          <a:prstGeom prst="rect">
            <a:avLst/>
          </a:prstGeom>
          <a:noFill/>
          <a:ln/>
        </p:spPr>
        <p:txBody>
          <a:bodyPr wrap="square" lIns="0" tIns="0" rIns="0" bIns="0" rtlCol="0" anchor="t"/>
          <a:lstStyle/>
          <a:p>
            <a:pPr algn="l">
              <a:lnSpc>
                <a:spcPts val="1680"/>
              </a:lnSpc>
            </a:pPr>
            <a:r>
              <a:rPr lang="en-US" sz="1100" dirty="0">
                <a:solidFill>
                  <a:srgbClr val="171714"/>
                </a:solidFill>
                <a:latin typeface="MiSans Demibold" pitchFamily="2" charset="-122"/>
                <a:ea typeface="MiSans Demibold" pitchFamily="2" charset="-122"/>
                <a:cs typeface="Jost" pitchFamily="34" charset="-120"/>
              </a:rPr>
              <a:t>门槛 1</a:t>
            </a:r>
            <a:endParaRPr lang="en-US" sz="1050" dirty="0">
              <a:latin typeface="MiSans Demibold" pitchFamily="2" charset="-122"/>
              <a:ea typeface="MiSans Demibold" pitchFamily="2" charset="-122"/>
            </a:endParaRPr>
          </a:p>
        </p:txBody>
      </p:sp>
      <p:sp>
        <p:nvSpPr>
          <p:cNvPr id="7" name="Shape 4"/>
          <p:cNvSpPr/>
          <p:nvPr/>
        </p:nvSpPr>
        <p:spPr>
          <a:xfrm>
            <a:off x="3161503" y="2774160"/>
            <a:ext cx="2857500" cy="2096667"/>
          </a:xfrm>
          <a:prstGeom prst="roundRect">
            <a:avLst>
              <a:gd name="adj" fmla="val 1227"/>
            </a:avLst>
          </a:prstGeom>
          <a:solidFill>
            <a:srgbClr val="FEE783"/>
          </a:solidFill>
          <a:ln/>
          <a:effectLst>
            <a:outerShdw blurRad="127000" dist="38100" dir="3600000" algn="bl" rotWithShape="0">
              <a:srgbClr val="000000">
                <a:alpha val="15000"/>
              </a:srgbClr>
            </a:outerShdw>
          </a:effectLst>
        </p:spPr>
        <p:txBody>
          <a:bodyPr/>
          <a:lstStyle/>
          <a:p>
            <a:endParaRPr lang="zh-CN" altLang="en-US"/>
          </a:p>
        </p:txBody>
      </p:sp>
      <p:sp>
        <p:nvSpPr>
          <p:cNvPr id="8" name="Text 5"/>
          <p:cNvSpPr/>
          <p:nvPr/>
        </p:nvSpPr>
        <p:spPr>
          <a:xfrm>
            <a:off x="3366716" y="2963491"/>
            <a:ext cx="2380952" cy="213345"/>
          </a:xfrm>
          <a:prstGeom prst="rect">
            <a:avLst/>
          </a:prstGeom>
          <a:noFill/>
          <a:ln/>
        </p:spPr>
        <p:txBody>
          <a:bodyPr wrap="square" lIns="0" tIns="0" rIns="0" bIns="0" rtlCol="0" anchor="t"/>
          <a:lstStyle/>
          <a:p>
            <a:pPr algn="l">
              <a:lnSpc>
                <a:spcPts val="1680"/>
              </a:lnSpc>
            </a:pPr>
            <a:r>
              <a:rPr lang="en-US" sz="1100" dirty="0">
                <a:solidFill>
                  <a:srgbClr val="171714"/>
                </a:solidFill>
                <a:latin typeface="MiSans Demibold" pitchFamily="2" charset="-122"/>
                <a:ea typeface="MiSans Demibold" pitchFamily="2" charset="-122"/>
                <a:cs typeface="Jost" pitchFamily="34" charset="-120"/>
              </a:rPr>
              <a:t>门槛 2</a:t>
            </a:r>
            <a:endParaRPr lang="en-US" sz="1050" dirty="0">
              <a:latin typeface="MiSans Demibold" pitchFamily="2" charset="-122"/>
              <a:ea typeface="MiSans Demibold" pitchFamily="2" charset="-122"/>
            </a:endParaRPr>
          </a:p>
        </p:txBody>
      </p:sp>
      <p:sp>
        <p:nvSpPr>
          <p:cNvPr id="9" name="Shape 6"/>
          <p:cNvSpPr/>
          <p:nvPr/>
        </p:nvSpPr>
        <p:spPr>
          <a:xfrm>
            <a:off x="6134603" y="2774160"/>
            <a:ext cx="2857500" cy="2096667"/>
          </a:xfrm>
          <a:prstGeom prst="roundRect">
            <a:avLst>
              <a:gd name="adj" fmla="val 1227"/>
            </a:avLst>
          </a:prstGeom>
          <a:solidFill>
            <a:srgbClr val="FFDF65"/>
          </a:solidFill>
          <a:ln/>
          <a:effectLst>
            <a:outerShdw blurRad="127000" dist="38100" dir="3600000" algn="bl" rotWithShape="0">
              <a:srgbClr val="000000">
                <a:alpha val="15000"/>
              </a:srgbClr>
            </a:outerShdw>
          </a:effectLst>
        </p:spPr>
        <p:txBody>
          <a:bodyPr/>
          <a:lstStyle/>
          <a:p>
            <a:endParaRPr lang="zh-CN" altLang="en-US"/>
          </a:p>
        </p:txBody>
      </p:sp>
      <p:sp>
        <p:nvSpPr>
          <p:cNvPr id="10" name="Text 7"/>
          <p:cNvSpPr/>
          <p:nvPr/>
        </p:nvSpPr>
        <p:spPr>
          <a:xfrm>
            <a:off x="6339760" y="2963491"/>
            <a:ext cx="2381250" cy="213345"/>
          </a:xfrm>
          <a:prstGeom prst="rect">
            <a:avLst/>
          </a:prstGeom>
          <a:noFill/>
          <a:ln/>
        </p:spPr>
        <p:txBody>
          <a:bodyPr wrap="square" lIns="0" tIns="0" rIns="0" bIns="0" rtlCol="0" anchor="t"/>
          <a:lstStyle/>
          <a:p>
            <a:pPr algn="l">
              <a:lnSpc>
                <a:spcPts val="1680"/>
              </a:lnSpc>
            </a:pPr>
            <a:r>
              <a:rPr lang="en-US" sz="1100" dirty="0">
                <a:solidFill>
                  <a:srgbClr val="171714"/>
                </a:solidFill>
                <a:latin typeface="MiSans Demibold" pitchFamily="2" charset="-122"/>
                <a:ea typeface="MiSans Demibold" pitchFamily="2" charset="-122"/>
                <a:cs typeface="Jost" pitchFamily="34" charset="-120"/>
              </a:rPr>
              <a:t>门槛 3</a:t>
            </a:r>
            <a:endParaRPr lang="en-US" sz="1050" dirty="0">
              <a:latin typeface="MiSans Demibold" pitchFamily="2" charset="-122"/>
              <a:ea typeface="MiSans Demibold" pitchFamily="2" charset="-122"/>
            </a:endParaRPr>
          </a:p>
        </p:txBody>
      </p:sp>
      <p:sp>
        <p:nvSpPr>
          <p:cNvPr id="11" name="Text 8"/>
          <p:cNvSpPr/>
          <p:nvPr/>
        </p:nvSpPr>
        <p:spPr>
          <a:xfrm>
            <a:off x="188403" y="644698"/>
            <a:ext cx="7715250" cy="1431436"/>
          </a:xfrm>
          <a:prstGeom prst="rect">
            <a:avLst/>
          </a:prstGeom>
          <a:noFill/>
          <a:ln/>
        </p:spPr>
        <p:txBody>
          <a:bodyPr wrap="square" lIns="0" tIns="0" rIns="0" bIns="0" rtlCol="0" anchor="t"/>
          <a:lstStyle/>
          <a:p>
            <a:pPr algn="l">
              <a:lnSpc>
                <a:spcPts val="2925"/>
              </a:lnSpc>
            </a:pPr>
            <a:r>
              <a:rPr lang="en-US" sz="2000" dirty="0">
                <a:solidFill>
                  <a:srgbClr val="FFFFFF"/>
                </a:solidFill>
                <a:latin typeface="MiSans Demibold" pitchFamily="2" charset="-122"/>
                <a:ea typeface="MiSans Demibold" pitchFamily="2" charset="-122"/>
              </a:rPr>
              <a:t>传统露营存在三大门槛. </a:t>
            </a:r>
            <a:r>
              <a:rPr lang="en-US" sz="2000" dirty="0" err="1">
                <a:solidFill>
                  <a:srgbClr val="FFFFFF"/>
                </a:solidFill>
                <a:latin typeface="MiSans Demibold" pitchFamily="2" charset="-122"/>
                <a:ea typeface="MiSans Demibold" pitchFamily="2" charset="-122"/>
              </a:rPr>
              <a:t>精品Glamping营地一站式解决所有痛点</a:t>
            </a:r>
            <a:r>
              <a:rPr lang="en-US" sz="2000" dirty="0">
                <a:solidFill>
                  <a:srgbClr val="FFFFFF"/>
                </a:solidFill>
                <a:latin typeface="MiSans Demibold" pitchFamily="2" charset="-122"/>
                <a:ea typeface="MiSans Demibold" pitchFamily="2" charset="-122"/>
              </a:rPr>
              <a:t>。</a:t>
            </a:r>
          </a:p>
        </p:txBody>
      </p:sp>
      <p:sp>
        <p:nvSpPr>
          <p:cNvPr id="12" name="Text 9"/>
          <p:cNvSpPr/>
          <p:nvPr/>
        </p:nvSpPr>
        <p:spPr>
          <a:xfrm>
            <a:off x="6348886" y="3366167"/>
            <a:ext cx="2381213" cy="896076"/>
          </a:xfrm>
          <a:prstGeom prst="rect">
            <a:avLst/>
          </a:prstGeom>
          <a:noFill/>
          <a:ln/>
        </p:spPr>
        <p:txBody>
          <a:bodyPr wrap="square" lIns="0" tIns="0" rIns="0" bIns="0" rtlCol="0" anchor="t"/>
          <a:lstStyle/>
          <a:p>
            <a:pPr algn="l">
              <a:lnSpc>
                <a:spcPts val="8250"/>
              </a:lnSpc>
            </a:pPr>
            <a:r>
              <a:rPr lang="en-US" sz="6000" spc="-300" dirty="0">
                <a:solidFill>
                  <a:srgbClr val="171714"/>
                </a:solidFill>
                <a:latin typeface="TCloud Number" pitchFamily="2" charset="0"/>
                <a:ea typeface="MiSans Demibold" pitchFamily="2" charset="-122"/>
                <a:cs typeface="Bebas Neue Regular" pitchFamily="34" charset="-120"/>
              </a:rPr>
              <a:t>17%</a:t>
            </a:r>
            <a:endParaRPr lang="en-US" sz="6000" spc="-300" dirty="0">
              <a:latin typeface="TCloud Number" pitchFamily="2" charset="0"/>
              <a:ea typeface="MiSans Demibold" pitchFamily="2" charset="-122"/>
            </a:endParaRPr>
          </a:p>
        </p:txBody>
      </p:sp>
      <p:sp>
        <p:nvSpPr>
          <p:cNvPr id="13" name="Text 10"/>
          <p:cNvSpPr/>
          <p:nvPr/>
        </p:nvSpPr>
        <p:spPr>
          <a:xfrm>
            <a:off x="3348511" y="3366167"/>
            <a:ext cx="2381250" cy="896076"/>
          </a:xfrm>
          <a:prstGeom prst="rect">
            <a:avLst/>
          </a:prstGeom>
          <a:noFill/>
          <a:ln/>
        </p:spPr>
        <p:txBody>
          <a:bodyPr wrap="square" lIns="0" tIns="0" rIns="0" bIns="0" rtlCol="0" anchor="t"/>
          <a:lstStyle/>
          <a:p>
            <a:pPr algn="l">
              <a:lnSpc>
                <a:spcPts val="8250"/>
              </a:lnSpc>
            </a:pPr>
            <a:r>
              <a:rPr lang="en-US" sz="6000" spc="-300" dirty="0">
                <a:solidFill>
                  <a:srgbClr val="171714"/>
                </a:solidFill>
                <a:latin typeface="TCloud Number" pitchFamily="2" charset="0"/>
                <a:ea typeface="MiSans Demibold" pitchFamily="2" charset="-122"/>
                <a:cs typeface="Bebas Neue Regular" pitchFamily="34" charset="-120"/>
              </a:rPr>
              <a:t>58%</a:t>
            </a:r>
            <a:endParaRPr lang="en-US" sz="6000" spc="-300" dirty="0">
              <a:latin typeface="TCloud Number" pitchFamily="2" charset="0"/>
              <a:ea typeface="MiSans Demibold" pitchFamily="2" charset="-122"/>
            </a:endParaRPr>
          </a:p>
        </p:txBody>
      </p:sp>
      <p:sp>
        <p:nvSpPr>
          <p:cNvPr id="14" name="Text 11"/>
          <p:cNvSpPr/>
          <p:nvPr/>
        </p:nvSpPr>
        <p:spPr>
          <a:xfrm>
            <a:off x="395002" y="3366167"/>
            <a:ext cx="2381250" cy="896076"/>
          </a:xfrm>
          <a:prstGeom prst="rect">
            <a:avLst/>
          </a:prstGeom>
          <a:noFill/>
          <a:ln/>
        </p:spPr>
        <p:txBody>
          <a:bodyPr wrap="square" lIns="0" tIns="0" rIns="0" bIns="0" rtlCol="0" anchor="t"/>
          <a:lstStyle/>
          <a:p>
            <a:pPr algn="l">
              <a:lnSpc>
                <a:spcPts val="8250"/>
              </a:lnSpc>
            </a:pPr>
            <a:r>
              <a:rPr lang="en-US" sz="6000" spc="-300" dirty="0">
                <a:solidFill>
                  <a:srgbClr val="171714"/>
                </a:solidFill>
                <a:latin typeface="TCloud Number" pitchFamily="2" charset="0"/>
                <a:ea typeface="MiSans Demibold" pitchFamily="2" charset="-122"/>
                <a:cs typeface="Bebas Neue Regular" pitchFamily="34" charset="-120"/>
              </a:rPr>
              <a:t>29%</a:t>
            </a:r>
            <a:endParaRPr lang="en-US" sz="6000" spc="-300" dirty="0">
              <a:latin typeface="TCloud Number" pitchFamily="2" charset="0"/>
              <a:ea typeface="MiSans Demibold" pitchFamily="2" charset="-122"/>
            </a:endParaRPr>
          </a:p>
        </p:txBody>
      </p:sp>
      <p:sp>
        <p:nvSpPr>
          <p:cNvPr id="15" name="Text 12"/>
          <p:cNvSpPr/>
          <p:nvPr/>
        </p:nvSpPr>
        <p:spPr>
          <a:xfrm>
            <a:off x="394052" y="4389310"/>
            <a:ext cx="2381027" cy="331852"/>
          </a:xfrm>
          <a:prstGeom prst="rect">
            <a:avLst/>
          </a:prstGeom>
          <a:noFill/>
          <a:ln/>
        </p:spPr>
        <p:txBody>
          <a:bodyPr wrap="square" lIns="0" tIns="0" rIns="0" bIns="0" rtlCol="0" anchor="t"/>
          <a:lstStyle/>
          <a:p>
            <a:pPr algn="l"/>
            <a:r>
              <a:rPr lang="en-US" sz="1000" dirty="0">
                <a:solidFill>
                  <a:srgbClr val="0E0E0E"/>
                </a:solidFill>
                <a:latin typeface="MiSans Normal" pitchFamily="2" charset="-122"/>
                <a:ea typeface="MiSans Normal" pitchFamily="2" charset="-122"/>
                <a:cs typeface="思源黑体" pitchFamily="34" charset="-120"/>
              </a:rPr>
              <a:t>装备准备繁琐/不愿购置装备</a:t>
            </a:r>
            <a:endParaRPr lang="en-US" sz="1000" dirty="0">
              <a:latin typeface="MiSans Normal" pitchFamily="2" charset="-122"/>
              <a:ea typeface="MiSans Normal" pitchFamily="2" charset="-122"/>
            </a:endParaRPr>
          </a:p>
        </p:txBody>
      </p:sp>
      <p:sp>
        <p:nvSpPr>
          <p:cNvPr id="16" name="Text 13"/>
          <p:cNvSpPr/>
          <p:nvPr/>
        </p:nvSpPr>
        <p:spPr>
          <a:xfrm>
            <a:off x="3369990" y="4393261"/>
            <a:ext cx="2381250" cy="313037"/>
          </a:xfrm>
          <a:prstGeom prst="rect">
            <a:avLst/>
          </a:prstGeom>
          <a:noFill/>
          <a:ln/>
        </p:spPr>
        <p:txBody>
          <a:bodyPr wrap="square" lIns="0" tIns="0" rIns="0" bIns="0" rtlCol="0" anchor="t"/>
          <a:lstStyle/>
          <a:p>
            <a:pPr algn="l"/>
            <a:r>
              <a:rPr lang="en-US" sz="1000" dirty="0">
                <a:solidFill>
                  <a:srgbClr val="0E0E0E"/>
                </a:solidFill>
                <a:latin typeface="MiSans Normal" pitchFamily="2" charset="-122"/>
                <a:ea typeface="MiSans Normal" pitchFamily="2" charset="-122"/>
                <a:cs typeface="思源黑体" pitchFamily="34" charset="-120"/>
              </a:rPr>
              <a:t>担心卫生条件差</a:t>
            </a:r>
            <a:endParaRPr lang="en-US" sz="1000" dirty="0">
              <a:latin typeface="MiSans Normal" pitchFamily="2" charset="-122"/>
              <a:ea typeface="MiSans Normal" pitchFamily="2" charset="-122"/>
            </a:endParaRPr>
          </a:p>
        </p:txBody>
      </p:sp>
      <p:sp>
        <p:nvSpPr>
          <p:cNvPr id="17" name="Text 14"/>
          <p:cNvSpPr/>
          <p:nvPr/>
        </p:nvSpPr>
        <p:spPr>
          <a:xfrm>
            <a:off x="6368787" y="4389310"/>
            <a:ext cx="2381250" cy="331852"/>
          </a:xfrm>
          <a:prstGeom prst="rect">
            <a:avLst/>
          </a:prstGeom>
          <a:noFill/>
          <a:ln/>
        </p:spPr>
        <p:txBody>
          <a:bodyPr wrap="square" lIns="0" tIns="0" rIns="0" bIns="0" rtlCol="0" anchor="t"/>
          <a:lstStyle/>
          <a:p>
            <a:pPr algn="l"/>
            <a:r>
              <a:rPr lang="en-US" sz="1000" dirty="0">
                <a:solidFill>
                  <a:srgbClr val="0E0E0E"/>
                </a:solidFill>
                <a:latin typeface="MiSans Normal" pitchFamily="2" charset="-122"/>
                <a:ea typeface="MiSans Normal" pitchFamily="2" charset="-122"/>
                <a:cs typeface="思源黑体" pitchFamily="34" charset="-120"/>
              </a:rPr>
              <a:t>时间紧凑没时间/精力不足</a:t>
            </a:r>
            <a:endParaRPr lang="en-US" sz="1000" dirty="0">
              <a:latin typeface="MiSans Normal" pitchFamily="2" charset="-122"/>
              <a:ea typeface="MiSans Normal" pitchFamily="2" charset="-122"/>
            </a:endParaRPr>
          </a:p>
        </p:txBody>
      </p:sp>
      <p:sp>
        <p:nvSpPr>
          <p:cNvPr id="18" name="Text 15"/>
          <p:cNvSpPr/>
          <p:nvPr/>
        </p:nvSpPr>
        <p:spPr>
          <a:xfrm>
            <a:off x="190500" y="272673"/>
            <a:ext cx="3809926" cy="119063"/>
          </a:xfrm>
          <a:prstGeom prst="rect">
            <a:avLst/>
          </a:prstGeom>
          <a:noFill/>
          <a:ln/>
        </p:spPr>
        <p:txBody>
          <a:bodyPr wrap="square" lIns="0" tIns="0" rIns="0" bIns="0" rtlCol="0" anchor="b"/>
          <a:lstStyle/>
          <a:p>
            <a:pPr algn="l">
              <a:lnSpc>
                <a:spcPts val="938"/>
              </a:lnSpc>
            </a:pPr>
            <a:r>
              <a:rPr lang="en-US" sz="800" spc="300" dirty="0">
                <a:solidFill>
                  <a:srgbClr val="FFFFFF"/>
                </a:solidFill>
                <a:latin typeface="MiSans" pitchFamily="2" charset="-122"/>
                <a:ea typeface="MiSans" pitchFamily="2" charset="-122"/>
                <a:cs typeface="Helmet" pitchFamily="34" charset="-120"/>
              </a:rPr>
              <a:t>痛点问题</a:t>
            </a:r>
            <a:endParaRPr lang="en-US" sz="750" spc="300" dirty="0">
              <a:latin typeface="MiSans" pitchFamily="2" charset="-122"/>
              <a:ea typeface="MiSans"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714"/>
        </a:solidFill>
        <a:effectLst/>
      </p:bgPr>
    </p:bg>
    <p:spTree>
      <p:nvGrpSpPr>
        <p:cNvPr id="1" name=""/>
        <p:cNvGrpSpPr/>
        <p:nvPr/>
      </p:nvGrpSpPr>
      <p:grpSpPr>
        <a:xfrm>
          <a:off x="0" y="0"/>
          <a:ext cx="0" cy="0"/>
          <a:chOff x="0" y="0"/>
          <a:chExt cx="0" cy="0"/>
        </a:xfrm>
      </p:grpSpPr>
      <p:pic>
        <p:nvPicPr>
          <p:cNvPr id="3" name="Image 0"/>
          <p:cNvPicPr>
            <a:picLocks noChangeAspect="1"/>
          </p:cNvPicPr>
          <p:nvPr/>
        </p:nvPicPr>
        <p:blipFill>
          <a:blip r:embed="rId3"/>
          <a:srcRect t="18766" b="18766"/>
          <a:stretch/>
        </p:blipFill>
        <p:spPr>
          <a:xfrm>
            <a:off x="151925" y="1857052"/>
            <a:ext cx="8834438" cy="3095625"/>
          </a:xfrm>
          <a:prstGeom prst="rect">
            <a:avLst/>
          </a:prstGeom>
        </p:spPr>
      </p:pic>
      <p:sp>
        <p:nvSpPr>
          <p:cNvPr id="4" name="Shape 0"/>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6" name="Text 2"/>
          <p:cNvSpPr/>
          <p:nvPr/>
        </p:nvSpPr>
        <p:spPr>
          <a:xfrm>
            <a:off x="190500" y="272673"/>
            <a:ext cx="3809963" cy="119063"/>
          </a:xfrm>
          <a:prstGeom prst="rect">
            <a:avLst/>
          </a:prstGeom>
          <a:noFill/>
          <a:ln/>
        </p:spPr>
        <p:txBody>
          <a:bodyPr wrap="square" lIns="0" tIns="0" rIns="0" bIns="0" rtlCol="0" anchor="b"/>
          <a:lstStyle/>
          <a:p>
            <a:pPr algn="l">
              <a:lnSpc>
                <a:spcPts val="938"/>
              </a:lnSpc>
            </a:pPr>
            <a:r>
              <a:rPr lang="en-US" sz="800" spc="300" dirty="0">
                <a:solidFill>
                  <a:srgbClr val="FFFFFF"/>
                </a:solidFill>
                <a:latin typeface="MiSans" pitchFamily="2" charset="-122"/>
                <a:ea typeface="MiSans" pitchFamily="2" charset="-122"/>
                <a:cs typeface="Helmet" pitchFamily="34" charset="-120"/>
              </a:rPr>
              <a:t>解决方案</a:t>
            </a:r>
            <a:endParaRPr lang="en-US" sz="750" spc="300" dirty="0">
              <a:latin typeface="MiSans" pitchFamily="2" charset="-122"/>
              <a:ea typeface="MiSans" pitchFamily="2" charset="-122"/>
            </a:endParaRPr>
          </a:p>
        </p:txBody>
      </p:sp>
      <p:sp>
        <p:nvSpPr>
          <p:cNvPr id="7" name="Text 3"/>
          <p:cNvSpPr/>
          <p:nvPr/>
        </p:nvSpPr>
        <p:spPr>
          <a:xfrm>
            <a:off x="188403" y="644698"/>
            <a:ext cx="7715250" cy="959392"/>
          </a:xfrm>
          <a:prstGeom prst="rect">
            <a:avLst/>
          </a:prstGeom>
          <a:noFill/>
          <a:ln/>
        </p:spPr>
        <p:txBody>
          <a:bodyPr wrap="square" lIns="0" tIns="0" rIns="0" bIns="0" rtlCol="0" anchor="t"/>
          <a:lstStyle/>
          <a:p>
            <a:pPr algn="l">
              <a:lnSpc>
                <a:spcPts val="2925"/>
              </a:lnSpc>
            </a:pPr>
            <a:r>
              <a:rPr lang="en-US" sz="2000" dirty="0">
                <a:solidFill>
                  <a:srgbClr val="FFFFFF"/>
                </a:solidFill>
                <a:latin typeface="MiSans Semibold" pitchFamily="2" charset="-122"/>
                <a:ea typeface="MiSans Semibold" pitchFamily="2" charset="-122"/>
                <a:cs typeface="思源黑体" pitchFamily="34" charset="-120"/>
              </a:rPr>
              <a:t>精品Glamping营地拎包入住一站式解决所有痛点。</a:t>
            </a:r>
            <a:endParaRPr lang="en-US" sz="1950" dirty="0">
              <a:latin typeface="MiSans Semibold" pitchFamily="2" charset="-122"/>
              <a:ea typeface="MiSans Semibold"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714"/>
        </a:solidFill>
        <a:effectLst/>
      </p:bgPr>
    </p:bg>
    <p:spTree>
      <p:nvGrpSpPr>
        <p:cNvPr id="1" name=""/>
        <p:cNvGrpSpPr/>
        <p:nvPr/>
      </p:nvGrpSpPr>
      <p:grpSpPr>
        <a:xfrm>
          <a:off x="0" y="0"/>
          <a:ext cx="0" cy="0"/>
          <a:chOff x="0" y="0"/>
          <a:chExt cx="0" cy="0"/>
        </a:xfrm>
      </p:grpSpPr>
      <p:sp>
        <p:nvSpPr>
          <p:cNvPr id="3" name="Shape 0"/>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latin typeface="MiSans Demibold" pitchFamily="2" charset="-122"/>
              <a:ea typeface="MiSans Demibold" pitchFamily="2" charset="-122"/>
            </a:endParaRPr>
          </a:p>
        </p:txBody>
      </p:sp>
      <p:sp>
        <p:nvSpPr>
          <p:cNvPr id="4" name="Shape 1"/>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latin typeface="MiSans Demibold" pitchFamily="2" charset="-122"/>
              <a:ea typeface="MiSans Demibold" pitchFamily="2" charset="-122"/>
            </a:endParaRPr>
          </a:p>
        </p:txBody>
      </p:sp>
      <p:sp>
        <p:nvSpPr>
          <p:cNvPr id="5" name="Text 2"/>
          <p:cNvSpPr/>
          <p:nvPr/>
        </p:nvSpPr>
        <p:spPr>
          <a:xfrm>
            <a:off x="190500" y="272673"/>
            <a:ext cx="3809963" cy="119063"/>
          </a:xfrm>
          <a:prstGeom prst="rect">
            <a:avLst/>
          </a:prstGeom>
          <a:noFill/>
          <a:ln/>
        </p:spPr>
        <p:txBody>
          <a:bodyPr wrap="square" lIns="0" tIns="0" rIns="0" bIns="0" rtlCol="0" anchor="b"/>
          <a:lstStyle/>
          <a:p>
            <a:pPr algn="l">
              <a:lnSpc>
                <a:spcPts val="938"/>
              </a:lnSpc>
            </a:pPr>
            <a:r>
              <a:rPr lang="en-US" sz="800" spc="300" dirty="0">
                <a:solidFill>
                  <a:srgbClr val="FFFFFF"/>
                </a:solidFill>
                <a:latin typeface="MiSans" pitchFamily="2" charset="-122"/>
                <a:ea typeface="MiSans" pitchFamily="2" charset="-122"/>
                <a:cs typeface="Helmet" pitchFamily="34" charset="-120"/>
              </a:rPr>
              <a:t>解决方案</a:t>
            </a:r>
            <a:endParaRPr lang="en-US" sz="750" spc="300" dirty="0">
              <a:latin typeface="MiSans" pitchFamily="2" charset="-122"/>
              <a:ea typeface="MiSans" pitchFamily="2" charset="-122"/>
            </a:endParaRPr>
          </a:p>
        </p:txBody>
      </p:sp>
      <p:sp>
        <p:nvSpPr>
          <p:cNvPr id="6" name="Shape 3"/>
          <p:cNvSpPr/>
          <p:nvPr/>
        </p:nvSpPr>
        <p:spPr>
          <a:xfrm>
            <a:off x="190500" y="2143824"/>
            <a:ext cx="4286250" cy="2752693"/>
          </a:xfrm>
          <a:prstGeom prst="roundRect">
            <a:avLst>
              <a:gd name="adj" fmla="val 1455"/>
            </a:avLst>
          </a:prstGeom>
          <a:solidFill>
            <a:srgbClr val="FFDF65"/>
          </a:solidFill>
          <a:ln/>
        </p:spPr>
        <p:txBody>
          <a:bodyPr/>
          <a:lstStyle/>
          <a:p>
            <a:endParaRPr lang="zh-CN" altLang="en-US">
              <a:latin typeface="MiSans Demibold" pitchFamily="2" charset="-122"/>
              <a:ea typeface="MiSans Demibold" pitchFamily="2" charset="-122"/>
            </a:endParaRPr>
          </a:p>
        </p:txBody>
      </p:sp>
      <p:sp>
        <p:nvSpPr>
          <p:cNvPr id="7" name="Text 4"/>
          <p:cNvSpPr/>
          <p:nvPr/>
        </p:nvSpPr>
        <p:spPr>
          <a:xfrm>
            <a:off x="545978" y="3033132"/>
            <a:ext cx="3571763" cy="1634118"/>
          </a:xfrm>
          <a:prstGeom prst="rect">
            <a:avLst/>
          </a:prstGeom>
          <a:noFill/>
          <a:ln/>
        </p:spPr>
        <p:txBody>
          <a:bodyPr wrap="square" lIns="0" tIns="0" rIns="0" bIns="0" rtlCol="0" anchor="b"/>
          <a:lstStyle/>
          <a:p>
            <a:pPr>
              <a:lnSpc>
                <a:spcPts val="2440"/>
              </a:lnSpc>
            </a:pPr>
            <a:r>
              <a:rPr lang="en-US" sz="1400" dirty="0">
                <a:solidFill>
                  <a:srgbClr val="000000"/>
                </a:solidFill>
                <a:latin typeface="MiSans" pitchFamily="2" charset="-122"/>
                <a:ea typeface="MiSans" pitchFamily="2" charset="-122"/>
                <a:cs typeface="思源黑体" pitchFamily="34" charset="-120"/>
              </a:rPr>
              <a:t>拎包入住把露营体验门槛从半天准备千元装备降为小程序下单开车来住进自然远高于传统露营标准</a:t>
            </a:r>
            <a:r>
              <a:rPr lang="en-US" altLang="zh-CN" sz="1400" dirty="0">
                <a:solidFill>
                  <a:srgbClr val="000000"/>
                </a:solidFill>
                <a:latin typeface="MiSans" pitchFamily="2" charset="-122"/>
                <a:ea typeface="MiSans" pitchFamily="2" charset="-122"/>
                <a:cs typeface="思源黑体" pitchFamily="34" charset="-120"/>
              </a:rPr>
              <a:t>远高于传统露营标准远高于传统露营标准远高于传统露营标准</a:t>
            </a:r>
            <a:endParaRPr lang="en-US" sz="1400" dirty="0">
              <a:latin typeface="MiSans" pitchFamily="2" charset="-122"/>
              <a:ea typeface="MiSans" pitchFamily="2" charset="-122"/>
            </a:endParaRPr>
          </a:p>
        </p:txBody>
      </p:sp>
      <p:sp>
        <p:nvSpPr>
          <p:cNvPr id="8" name="Shape 5"/>
          <p:cNvSpPr/>
          <p:nvPr/>
        </p:nvSpPr>
        <p:spPr>
          <a:xfrm>
            <a:off x="4714875" y="2143824"/>
            <a:ext cx="4286250" cy="2752693"/>
          </a:xfrm>
          <a:prstGeom prst="roundRect">
            <a:avLst>
              <a:gd name="adj" fmla="val 1455"/>
            </a:avLst>
          </a:prstGeom>
          <a:solidFill>
            <a:srgbClr val="FEE783"/>
          </a:solidFill>
          <a:ln/>
        </p:spPr>
        <p:txBody>
          <a:bodyPr/>
          <a:lstStyle/>
          <a:p>
            <a:endParaRPr lang="zh-CN" altLang="en-US">
              <a:latin typeface="MiSans Demibold" pitchFamily="2" charset="-122"/>
              <a:ea typeface="MiSans Demibold" pitchFamily="2" charset="-122"/>
            </a:endParaRPr>
          </a:p>
        </p:txBody>
      </p:sp>
      <p:sp>
        <p:nvSpPr>
          <p:cNvPr id="11" name="Text 6"/>
          <p:cNvSpPr/>
          <p:nvPr/>
        </p:nvSpPr>
        <p:spPr>
          <a:xfrm>
            <a:off x="5072118" y="3033132"/>
            <a:ext cx="3571764" cy="1634118"/>
          </a:xfrm>
          <a:prstGeom prst="rect">
            <a:avLst/>
          </a:prstGeom>
          <a:noFill/>
          <a:ln/>
        </p:spPr>
        <p:txBody>
          <a:bodyPr wrap="square" lIns="0" tIns="0" rIns="0" bIns="0" rtlCol="0" anchor="b"/>
          <a:lstStyle/>
          <a:p>
            <a:pPr>
              <a:lnSpc>
                <a:spcPts val="2440"/>
              </a:lnSpc>
            </a:pPr>
            <a:r>
              <a:rPr lang="en-US" sz="1400" dirty="0" err="1">
                <a:solidFill>
                  <a:srgbClr val="000000"/>
                </a:solidFill>
                <a:latin typeface="MiSans" pitchFamily="2" charset="-122"/>
                <a:ea typeface="MiSans" pitchFamily="2" charset="-122"/>
                <a:cs typeface="思源黑体" pitchFamily="34" charset="-120"/>
              </a:rPr>
              <a:t>布草一客一换用标准化服务保证安心感</a:t>
            </a:r>
            <a:r>
              <a:rPr lang="en-US" altLang="zh-CN" sz="1400" dirty="0">
                <a:solidFill>
                  <a:srgbClr val="000000"/>
                </a:solidFill>
                <a:latin typeface="MiSans" pitchFamily="2" charset="-122"/>
                <a:ea typeface="MiSans" pitchFamily="2" charset="-122"/>
                <a:cs typeface="思源黑体" pitchFamily="34" charset="-120"/>
              </a:rPr>
              <a:t> </a:t>
            </a:r>
            <a:r>
              <a:rPr lang="en-US" altLang="zh-CN" sz="1400" dirty="0" err="1">
                <a:solidFill>
                  <a:srgbClr val="000000"/>
                </a:solidFill>
                <a:latin typeface="MiSans" pitchFamily="2" charset="-122"/>
                <a:ea typeface="MiSans" pitchFamily="2" charset="-122"/>
                <a:cs typeface="思源黑体" pitchFamily="34" charset="-120"/>
              </a:rPr>
              <a:t>用内容运营用内容运营制造社交货币让客户愿意</a:t>
            </a:r>
            <a:r>
              <a:rPr lang="en-US" altLang="zh-CN" sz="1400" dirty="0">
                <a:solidFill>
                  <a:srgbClr val="000000"/>
                </a:solidFill>
                <a:latin typeface="MiSans" pitchFamily="2" charset="-122"/>
                <a:ea typeface="MiSans" pitchFamily="2" charset="-122"/>
                <a:cs typeface="思源黑体" pitchFamily="34" charset="-120"/>
              </a:rPr>
              <a:t> </a:t>
            </a:r>
            <a:r>
              <a:rPr lang="en-US" altLang="zh-CN" sz="1400" dirty="0" err="1">
                <a:solidFill>
                  <a:srgbClr val="000000"/>
                </a:solidFill>
                <a:latin typeface="MiSans" pitchFamily="2" charset="-122"/>
                <a:ea typeface="MiSans" pitchFamily="2" charset="-122"/>
                <a:cs typeface="思源黑体" pitchFamily="34" charset="-120"/>
              </a:rPr>
              <a:t>再来、再拍、再分享</a:t>
            </a:r>
            <a:r>
              <a:rPr lang="en-US" altLang="zh-CN" sz="1400" dirty="0">
                <a:solidFill>
                  <a:srgbClr val="000000"/>
                </a:solidFill>
                <a:latin typeface="MiSans" pitchFamily="2" charset="-122"/>
                <a:ea typeface="MiSans" pitchFamily="2" charset="-122"/>
                <a:cs typeface="思源黑体" pitchFamily="34" charset="-120"/>
              </a:rPr>
              <a:t> </a:t>
            </a:r>
            <a:r>
              <a:rPr lang="en-US" altLang="zh-CN" sz="1400" dirty="0" err="1">
                <a:solidFill>
                  <a:srgbClr val="000000"/>
                </a:solidFill>
                <a:latin typeface="MiSans" pitchFamily="2" charset="-122"/>
                <a:ea typeface="MiSans" pitchFamily="2" charset="-122"/>
                <a:cs typeface="思源黑体" pitchFamily="34" charset="-120"/>
              </a:rPr>
              <a:t>用内容运营用内容运营制造社交货币让客户愿意</a:t>
            </a:r>
            <a:r>
              <a:rPr lang="en-US" altLang="zh-CN" sz="1400" dirty="0">
                <a:solidFill>
                  <a:srgbClr val="000000"/>
                </a:solidFill>
                <a:latin typeface="MiSans" pitchFamily="2" charset="-122"/>
                <a:ea typeface="MiSans" pitchFamily="2" charset="-122"/>
                <a:cs typeface="思源黑体" pitchFamily="34" charset="-120"/>
              </a:rPr>
              <a:t> </a:t>
            </a:r>
            <a:r>
              <a:rPr lang="en-US" altLang="zh-CN" sz="1400" dirty="0" err="1">
                <a:solidFill>
                  <a:srgbClr val="000000"/>
                </a:solidFill>
                <a:latin typeface="MiSans" pitchFamily="2" charset="-122"/>
                <a:ea typeface="MiSans" pitchFamily="2" charset="-122"/>
                <a:cs typeface="思源黑体" pitchFamily="34" charset="-120"/>
              </a:rPr>
              <a:t>再来、再拍</a:t>
            </a:r>
            <a:endParaRPr lang="en-US" sz="1400" dirty="0">
              <a:latin typeface="MiSans" pitchFamily="2" charset="-122"/>
              <a:ea typeface="MiSans" pitchFamily="2" charset="-122"/>
            </a:endParaRPr>
          </a:p>
        </p:txBody>
      </p:sp>
      <p:sp>
        <p:nvSpPr>
          <p:cNvPr id="12" name="Text 7"/>
          <p:cNvSpPr/>
          <p:nvPr/>
        </p:nvSpPr>
        <p:spPr>
          <a:xfrm>
            <a:off x="188403" y="660699"/>
            <a:ext cx="7715250" cy="1055675"/>
          </a:xfrm>
          <a:prstGeom prst="rect">
            <a:avLst/>
          </a:prstGeom>
          <a:noFill/>
          <a:ln/>
        </p:spPr>
        <p:txBody>
          <a:bodyPr wrap="square" lIns="0" tIns="0" rIns="0" bIns="0" rtlCol="0" anchor="t"/>
          <a:lstStyle/>
          <a:p>
            <a:pPr algn="l">
              <a:lnSpc>
                <a:spcPts val="2925"/>
              </a:lnSpc>
            </a:pPr>
            <a:r>
              <a:rPr lang="en-US" sz="2000" dirty="0">
                <a:solidFill>
                  <a:srgbClr val="FFFFFF"/>
                </a:solidFill>
                <a:latin typeface="MiSans Demibold" pitchFamily="2" charset="-122"/>
                <a:ea typeface="MiSans Demibold" pitchFamily="2" charset="-122"/>
                <a:cs typeface="思源黑体" pitchFamily="34" charset="-120"/>
              </a:rPr>
              <a:t>请看以下两点紧扣前面痛点数据的解决方案</a:t>
            </a:r>
            <a:endParaRPr lang="en-US" sz="1950" dirty="0">
              <a:latin typeface="MiSans Demibold" pitchFamily="2" charset="-122"/>
              <a:ea typeface="MiSans Demibold" pitchFamily="2" charset="-122"/>
            </a:endParaRPr>
          </a:p>
        </p:txBody>
      </p:sp>
      <p:sp>
        <p:nvSpPr>
          <p:cNvPr id="2" name="矩形 1">
            <a:extLst>
              <a:ext uri="{FF2B5EF4-FFF2-40B4-BE49-F238E27FC236}">
                <a16:creationId xmlns:a16="http://schemas.microsoft.com/office/drawing/2014/main" id="{AB537DFC-8597-6C4A-587C-8357593083D7}"/>
              </a:ext>
            </a:extLst>
          </p:cNvPr>
          <p:cNvSpPr/>
          <p:nvPr/>
        </p:nvSpPr>
        <p:spPr>
          <a:xfrm>
            <a:off x="3523009" y="2133295"/>
            <a:ext cx="594732" cy="30200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en-US" altLang="zh-CN" sz="1400" dirty="0">
                <a:latin typeface="MiSans Demibold" pitchFamily="2" charset="-122"/>
                <a:ea typeface="MiSans Demibold" pitchFamily="2" charset="-122"/>
              </a:rPr>
              <a:t>01</a:t>
            </a:r>
            <a:endParaRPr kumimoji="1" lang="zh-CN" altLang="en-US" sz="1400" dirty="0">
              <a:latin typeface="MiSans Demibold" pitchFamily="2" charset="-122"/>
              <a:ea typeface="MiSans Demibold" pitchFamily="2" charset="-122"/>
            </a:endParaRPr>
          </a:p>
        </p:txBody>
      </p:sp>
      <p:sp>
        <p:nvSpPr>
          <p:cNvPr id="13" name="矩形 12">
            <a:extLst>
              <a:ext uri="{FF2B5EF4-FFF2-40B4-BE49-F238E27FC236}">
                <a16:creationId xmlns:a16="http://schemas.microsoft.com/office/drawing/2014/main" id="{E7133671-73E1-B357-BC95-949652DA3B7E}"/>
              </a:ext>
            </a:extLst>
          </p:cNvPr>
          <p:cNvSpPr/>
          <p:nvPr/>
        </p:nvSpPr>
        <p:spPr>
          <a:xfrm>
            <a:off x="8050404" y="2143824"/>
            <a:ext cx="594732" cy="30200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en-US" altLang="zh-CN" sz="1400" dirty="0">
                <a:latin typeface="MiSans Demibold" pitchFamily="2" charset="-122"/>
                <a:ea typeface="MiSans Demibold" pitchFamily="2" charset="-122"/>
              </a:rPr>
              <a:t>02</a:t>
            </a:r>
            <a:endParaRPr kumimoji="1" lang="zh-CN" altLang="en-US" sz="1400" dirty="0">
              <a:latin typeface="MiSans Demibold" pitchFamily="2" charset="-122"/>
              <a:ea typeface="MiSans Demibold"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1714"/>
        </a:solidFill>
        <a:effectLst/>
      </p:bgPr>
    </p:bg>
    <p:spTree>
      <p:nvGrpSpPr>
        <p:cNvPr id="1" name=""/>
        <p:cNvGrpSpPr/>
        <p:nvPr/>
      </p:nvGrpSpPr>
      <p:grpSpPr>
        <a:xfrm>
          <a:off x="0" y="0"/>
          <a:ext cx="0" cy="0"/>
          <a:chOff x="0" y="0"/>
          <a:chExt cx="0" cy="0"/>
        </a:xfrm>
      </p:grpSpPr>
      <p:pic>
        <p:nvPicPr>
          <p:cNvPr id="3" name="Image 0"/>
          <p:cNvPicPr>
            <a:picLocks noChangeAspect="1"/>
          </p:cNvPicPr>
          <p:nvPr/>
        </p:nvPicPr>
        <p:blipFill>
          <a:blip r:embed="rId3"/>
          <a:srcRect t="14297" b="14297"/>
          <a:stretch/>
        </p:blipFill>
        <p:spPr>
          <a:xfrm>
            <a:off x="5424074" y="615635"/>
            <a:ext cx="3095625" cy="3929063"/>
          </a:xfrm>
          <a:prstGeom prst="rect">
            <a:avLst/>
          </a:prstGeom>
        </p:spPr>
      </p:pic>
      <p:sp>
        <p:nvSpPr>
          <p:cNvPr id="4" name="Shape 0"/>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5" name="Shape 1"/>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6" name="Text 2"/>
          <p:cNvSpPr/>
          <p:nvPr/>
        </p:nvSpPr>
        <p:spPr>
          <a:xfrm>
            <a:off x="476250" y="1517023"/>
            <a:ext cx="4524375" cy="2126289"/>
          </a:xfrm>
          <a:prstGeom prst="rect">
            <a:avLst/>
          </a:prstGeom>
          <a:noFill/>
          <a:ln/>
        </p:spPr>
        <p:txBody>
          <a:bodyPr wrap="square" lIns="0" tIns="0" rIns="0" bIns="0" rtlCol="0" anchor="b"/>
          <a:lstStyle/>
          <a:p>
            <a:pPr algn="ctr">
              <a:lnSpc>
                <a:spcPts val="5800"/>
              </a:lnSpc>
            </a:pPr>
            <a:r>
              <a:rPr lang="en-US" sz="4500" dirty="0">
                <a:solidFill>
                  <a:srgbClr val="FFFFFF"/>
                </a:solidFill>
                <a:latin typeface="MiSans Semibold" pitchFamily="2" charset="-122"/>
                <a:ea typeface="MiSans Semibold" pitchFamily="2" charset="-122"/>
                <a:cs typeface="思源黑体" pitchFamily="34" charset="-120"/>
              </a:rPr>
              <a:t>我们的 </a:t>
            </a:r>
            <a:endParaRPr lang="en-US" sz="4500" dirty="0">
              <a:latin typeface="MiSans Semibold" pitchFamily="2" charset="-122"/>
              <a:ea typeface="MiSans Semibold" pitchFamily="2" charset="-122"/>
            </a:endParaRPr>
          </a:p>
          <a:p>
            <a:pPr algn="ctr">
              <a:lnSpc>
                <a:spcPts val="5800"/>
              </a:lnSpc>
            </a:pPr>
            <a:r>
              <a:rPr lang="en-US" sz="4500" dirty="0">
                <a:solidFill>
                  <a:srgbClr val="FEE783"/>
                </a:solidFill>
                <a:latin typeface="MiSans Semibold" pitchFamily="2" charset="-122"/>
                <a:ea typeface="MiSans Semibold" pitchFamily="2" charset="-122"/>
                <a:cs typeface="思源黑体" pitchFamily="34" charset="-120"/>
              </a:rPr>
              <a:t>Glamping app </a:t>
            </a:r>
            <a:endParaRPr lang="en-US" sz="4500" dirty="0">
              <a:latin typeface="MiSans Semibold" pitchFamily="2" charset="-122"/>
              <a:ea typeface="MiSans Semibold" pitchFamily="2" charset="-122"/>
            </a:endParaRPr>
          </a:p>
          <a:p>
            <a:pPr algn="ctr">
              <a:lnSpc>
                <a:spcPts val="5800"/>
              </a:lnSpc>
            </a:pPr>
            <a:r>
              <a:rPr lang="en-US" sz="4500" dirty="0">
                <a:solidFill>
                  <a:srgbClr val="FFFFFF"/>
                </a:solidFill>
                <a:latin typeface="MiSans Semibold" pitchFamily="2" charset="-122"/>
                <a:ea typeface="MiSans Semibold" pitchFamily="2" charset="-122"/>
                <a:cs typeface="思源黑体" pitchFamily="34" charset="-120"/>
              </a:rPr>
              <a:t>2026 </a:t>
            </a:r>
            <a:endParaRPr lang="en-US" sz="4500" dirty="0">
              <a:latin typeface="MiSans Semibold" pitchFamily="2" charset="-122"/>
              <a:ea typeface="MiSans Semibold" pitchFamily="2" charset="-122"/>
            </a:endParaRPr>
          </a:p>
        </p:txBody>
      </p:sp>
      <p:sp>
        <p:nvSpPr>
          <p:cNvPr id="7" name="Text 3"/>
          <p:cNvSpPr/>
          <p:nvPr/>
        </p:nvSpPr>
        <p:spPr>
          <a:xfrm>
            <a:off x="190500" y="272673"/>
            <a:ext cx="3809516" cy="119062"/>
          </a:xfrm>
          <a:prstGeom prst="rect">
            <a:avLst/>
          </a:prstGeom>
          <a:noFill/>
          <a:ln/>
        </p:spPr>
        <p:txBody>
          <a:bodyPr wrap="square" lIns="0" tIns="0" rIns="0" bIns="0" rtlCol="0" anchor="b"/>
          <a:lstStyle/>
          <a:p>
            <a:pPr algn="l">
              <a:lnSpc>
                <a:spcPts val="938"/>
              </a:lnSpc>
            </a:pPr>
            <a:r>
              <a:rPr lang="en-US" sz="800" spc="300" dirty="0">
                <a:solidFill>
                  <a:srgbClr val="FFFFFF"/>
                </a:solidFill>
                <a:latin typeface="MiSans" pitchFamily="2" charset="-122"/>
                <a:ea typeface="MiSans" pitchFamily="2" charset="-122"/>
                <a:cs typeface="Helmet" pitchFamily="34" charset="-120"/>
              </a:rPr>
              <a:t>解决方案</a:t>
            </a:r>
            <a:endParaRPr lang="en-US" sz="750" spc="300" dirty="0">
              <a:latin typeface="MiSans" pitchFamily="2" charset="-122"/>
              <a:ea typeface="MiSans" pitchFamily="2" charset="-122"/>
            </a:endParaRPr>
          </a:p>
        </p:txBody>
      </p:sp>
      <p:sp>
        <p:nvSpPr>
          <p:cNvPr id="8" name="Text 4"/>
          <p:cNvSpPr/>
          <p:nvPr/>
        </p:nvSpPr>
        <p:spPr>
          <a:xfrm>
            <a:off x="1576840" y="3782468"/>
            <a:ext cx="2143088" cy="142875"/>
          </a:xfrm>
          <a:prstGeom prst="rect">
            <a:avLst/>
          </a:prstGeom>
          <a:noFill/>
          <a:ln/>
        </p:spPr>
        <p:txBody>
          <a:bodyPr wrap="square" lIns="0" tIns="0" rIns="0" bIns="0" rtlCol="0" anchor="b"/>
          <a:lstStyle/>
          <a:p>
            <a:pPr algn="ctr">
              <a:lnSpc>
                <a:spcPts val="1125"/>
              </a:lnSpc>
            </a:pPr>
            <a:r>
              <a:rPr lang="en-US" sz="900" dirty="0">
                <a:solidFill>
                  <a:srgbClr val="FFFFFF"/>
                </a:solidFill>
                <a:latin typeface="MiSans" pitchFamily="2" charset="-122"/>
                <a:ea typeface="MiSans" pitchFamily="2" charset="-122"/>
                <a:cs typeface="Jost" pitchFamily="34" charset="-120"/>
              </a:rPr>
              <a:t>My Glamping app of 2026 </a:t>
            </a:r>
            <a:endParaRPr lang="en-US" sz="900" dirty="0">
              <a:latin typeface="MiSans" pitchFamily="2" charset="-122"/>
              <a:ea typeface="MiSans"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714"/>
        </a:solidFill>
        <a:effectLst/>
      </p:bgPr>
    </p:bg>
    <p:spTree>
      <p:nvGrpSpPr>
        <p:cNvPr id="1" name=""/>
        <p:cNvGrpSpPr/>
        <p:nvPr/>
      </p:nvGrpSpPr>
      <p:grpSpPr>
        <a:xfrm>
          <a:off x="0" y="0"/>
          <a:ext cx="0" cy="0"/>
          <a:chOff x="0" y="0"/>
          <a:chExt cx="0" cy="0"/>
        </a:xfrm>
      </p:grpSpPr>
      <p:sp>
        <p:nvSpPr>
          <p:cNvPr id="3" name="Shape 0"/>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4" name="Shape 1"/>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5" name="Shape 2"/>
          <p:cNvSpPr/>
          <p:nvPr/>
        </p:nvSpPr>
        <p:spPr>
          <a:xfrm>
            <a:off x="188403" y="2810904"/>
            <a:ext cx="2857500" cy="2096667"/>
          </a:xfrm>
          <a:prstGeom prst="roundRect">
            <a:avLst>
              <a:gd name="adj" fmla="val 1227"/>
            </a:avLst>
          </a:prstGeom>
          <a:solidFill>
            <a:srgbClr val="FFF1B9"/>
          </a:solidFill>
          <a:ln/>
          <a:effectLst>
            <a:outerShdw blurRad="127000" dist="38100" dir="3600000" algn="bl" rotWithShape="0">
              <a:srgbClr val="000000">
                <a:alpha val="15000"/>
              </a:srgbClr>
            </a:outerShdw>
          </a:effectLst>
        </p:spPr>
        <p:txBody>
          <a:bodyPr/>
          <a:lstStyle/>
          <a:p>
            <a:endParaRPr lang="zh-CN" altLang="en-US"/>
          </a:p>
        </p:txBody>
      </p:sp>
      <p:sp>
        <p:nvSpPr>
          <p:cNvPr id="6" name="Text 3"/>
          <p:cNvSpPr/>
          <p:nvPr/>
        </p:nvSpPr>
        <p:spPr>
          <a:xfrm>
            <a:off x="381000" y="4048125"/>
            <a:ext cx="2381250" cy="213345"/>
          </a:xfrm>
          <a:prstGeom prst="rect">
            <a:avLst/>
          </a:prstGeom>
          <a:noFill/>
          <a:ln/>
        </p:spPr>
        <p:txBody>
          <a:bodyPr wrap="square" lIns="0" tIns="0" rIns="0" bIns="0" rtlCol="0" anchor="t"/>
          <a:lstStyle/>
          <a:p>
            <a:pPr algn="l">
              <a:lnSpc>
                <a:spcPts val="1680"/>
              </a:lnSpc>
            </a:pPr>
            <a:r>
              <a:rPr lang="en-US" sz="1100" dirty="0">
                <a:solidFill>
                  <a:srgbClr val="000000"/>
                </a:solidFill>
                <a:latin typeface="MiSans Semibold" pitchFamily="2" charset="-122"/>
                <a:ea typeface="MiSans Semibold" pitchFamily="2" charset="-122"/>
                <a:cs typeface="思源黑体" pitchFamily="34" charset="-120"/>
              </a:rPr>
              <a:t>增量空间巨大</a:t>
            </a:r>
            <a:endParaRPr lang="en-US" sz="1050" dirty="0">
              <a:latin typeface="MiSans Semibold" pitchFamily="2" charset="-122"/>
              <a:ea typeface="MiSans Semibold" pitchFamily="2" charset="-122"/>
            </a:endParaRPr>
          </a:p>
        </p:txBody>
      </p:sp>
      <p:sp>
        <p:nvSpPr>
          <p:cNvPr id="7" name="Shape 4"/>
          <p:cNvSpPr/>
          <p:nvPr/>
        </p:nvSpPr>
        <p:spPr>
          <a:xfrm>
            <a:off x="3161503" y="2811044"/>
            <a:ext cx="2857500" cy="2096667"/>
          </a:xfrm>
          <a:prstGeom prst="roundRect">
            <a:avLst>
              <a:gd name="adj" fmla="val 1227"/>
            </a:avLst>
          </a:prstGeom>
          <a:solidFill>
            <a:srgbClr val="FEE783"/>
          </a:solidFill>
          <a:ln/>
          <a:effectLst>
            <a:outerShdw blurRad="127000" dist="38100" dir="3600000" algn="bl" rotWithShape="0">
              <a:srgbClr val="000000">
                <a:alpha val="15000"/>
              </a:srgbClr>
            </a:outerShdw>
          </a:effectLst>
        </p:spPr>
        <p:txBody>
          <a:bodyPr/>
          <a:lstStyle/>
          <a:p>
            <a:endParaRPr lang="zh-CN" altLang="en-US"/>
          </a:p>
        </p:txBody>
      </p:sp>
      <p:sp>
        <p:nvSpPr>
          <p:cNvPr id="8" name="Shape 5"/>
          <p:cNvSpPr/>
          <p:nvPr/>
        </p:nvSpPr>
        <p:spPr>
          <a:xfrm>
            <a:off x="6134603" y="2811044"/>
            <a:ext cx="2857500" cy="2096667"/>
          </a:xfrm>
          <a:prstGeom prst="roundRect">
            <a:avLst>
              <a:gd name="adj" fmla="val 1227"/>
            </a:avLst>
          </a:prstGeom>
          <a:solidFill>
            <a:srgbClr val="FFDF65"/>
          </a:solidFill>
          <a:ln/>
          <a:effectLst>
            <a:outerShdw blurRad="127000" dist="38100" dir="3600000" algn="bl" rotWithShape="0">
              <a:srgbClr val="000000">
                <a:alpha val="15000"/>
              </a:srgbClr>
            </a:outerShdw>
          </a:effectLst>
        </p:spPr>
        <p:txBody>
          <a:bodyPr/>
          <a:lstStyle/>
          <a:p>
            <a:endParaRPr lang="zh-CN" altLang="en-US"/>
          </a:p>
        </p:txBody>
      </p:sp>
      <p:sp>
        <p:nvSpPr>
          <p:cNvPr id="9" name="Text 6"/>
          <p:cNvSpPr/>
          <p:nvPr/>
        </p:nvSpPr>
        <p:spPr>
          <a:xfrm>
            <a:off x="190500" y="272673"/>
            <a:ext cx="3809516" cy="119062"/>
          </a:xfrm>
          <a:prstGeom prst="rect">
            <a:avLst/>
          </a:prstGeom>
          <a:noFill/>
          <a:ln/>
        </p:spPr>
        <p:txBody>
          <a:bodyPr wrap="square" lIns="0" tIns="0" rIns="0" bIns="0" rtlCol="0" anchor="b"/>
          <a:lstStyle/>
          <a:p>
            <a:pPr algn="l">
              <a:lnSpc>
                <a:spcPts val="938"/>
              </a:lnSpc>
            </a:pPr>
            <a:r>
              <a:rPr lang="en-US" sz="800" dirty="0">
                <a:solidFill>
                  <a:srgbClr val="FFFFFF"/>
                </a:solidFill>
                <a:latin typeface="MiSans" pitchFamily="2" charset="-122"/>
                <a:ea typeface="MiSans" pitchFamily="2" charset="-122"/>
                <a:cs typeface="Helmet" pitchFamily="34" charset="-120"/>
              </a:rPr>
              <a:t>市场机会</a:t>
            </a:r>
            <a:endParaRPr lang="en-US" sz="750" dirty="0">
              <a:latin typeface="MiSans" pitchFamily="2" charset="-122"/>
              <a:ea typeface="MiSans" pitchFamily="2" charset="-122"/>
            </a:endParaRPr>
          </a:p>
        </p:txBody>
      </p:sp>
      <p:sp>
        <p:nvSpPr>
          <p:cNvPr id="10" name="Text 7"/>
          <p:cNvSpPr/>
          <p:nvPr/>
        </p:nvSpPr>
        <p:spPr>
          <a:xfrm>
            <a:off x="381000" y="2956471"/>
            <a:ext cx="2381250" cy="1047750"/>
          </a:xfrm>
          <a:prstGeom prst="rect">
            <a:avLst/>
          </a:prstGeom>
          <a:noFill/>
          <a:ln/>
        </p:spPr>
        <p:txBody>
          <a:bodyPr wrap="square" lIns="0" tIns="0" rIns="0" bIns="0" rtlCol="0" anchor="t"/>
          <a:lstStyle/>
          <a:p>
            <a:pPr algn="l">
              <a:lnSpc>
                <a:spcPts val="8250"/>
              </a:lnSpc>
            </a:pPr>
            <a:r>
              <a:rPr lang="en-US" sz="7200" spc="-300" dirty="0">
                <a:solidFill>
                  <a:srgbClr val="171714"/>
                </a:solidFill>
                <a:latin typeface="TCloud Number" pitchFamily="2" charset="0"/>
                <a:ea typeface="MiSans Demibold" pitchFamily="2" charset="-122"/>
                <a:cs typeface="Bebas Neue Regular" pitchFamily="34" charset="-120"/>
              </a:rPr>
              <a:t>01</a:t>
            </a:r>
            <a:endParaRPr lang="en-US" sz="7200" spc="-300" dirty="0">
              <a:latin typeface="TCloud Number" pitchFamily="2" charset="0"/>
              <a:ea typeface="MiSans Demibold" pitchFamily="2" charset="-122"/>
            </a:endParaRPr>
          </a:p>
        </p:txBody>
      </p:sp>
      <p:sp>
        <p:nvSpPr>
          <p:cNvPr id="11" name="Text 8"/>
          <p:cNvSpPr/>
          <p:nvPr/>
        </p:nvSpPr>
        <p:spPr>
          <a:xfrm>
            <a:off x="3381375" y="2956471"/>
            <a:ext cx="2381250" cy="1047750"/>
          </a:xfrm>
          <a:prstGeom prst="rect">
            <a:avLst/>
          </a:prstGeom>
          <a:noFill/>
          <a:ln/>
        </p:spPr>
        <p:txBody>
          <a:bodyPr wrap="square" lIns="0" tIns="0" rIns="0" bIns="0" rtlCol="0" anchor="t"/>
          <a:lstStyle/>
          <a:p>
            <a:pPr algn="l">
              <a:lnSpc>
                <a:spcPts val="8250"/>
              </a:lnSpc>
            </a:pPr>
            <a:r>
              <a:rPr lang="en-US" sz="7200" spc="-300" dirty="0">
                <a:solidFill>
                  <a:srgbClr val="171714"/>
                </a:solidFill>
                <a:latin typeface="TCloud Number" pitchFamily="2" charset="0"/>
                <a:ea typeface="MiSans Demibold" pitchFamily="2" charset="-122"/>
                <a:cs typeface="Bebas Neue Regular" pitchFamily="34" charset="-120"/>
              </a:rPr>
              <a:t>02</a:t>
            </a:r>
            <a:endParaRPr lang="en-US" sz="7200" spc="-300" dirty="0">
              <a:latin typeface="TCloud Number" pitchFamily="2" charset="0"/>
              <a:ea typeface="MiSans Demibold" pitchFamily="2" charset="-122"/>
            </a:endParaRPr>
          </a:p>
        </p:txBody>
      </p:sp>
      <p:sp>
        <p:nvSpPr>
          <p:cNvPr id="12" name="Text 9"/>
          <p:cNvSpPr/>
          <p:nvPr/>
        </p:nvSpPr>
        <p:spPr>
          <a:xfrm>
            <a:off x="6381750" y="2956471"/>
            <a:ext cx="2381250" cy="1047750"/>
          </a:xfrm>
          <a:prstGeom prst="rect">
            <a:avLst/>
          </a:prstGeom>
          <a:noFill/>
          <a:ln/>
        </p:spPr>
        <p:txBody>
          <a:bodyPr wrap="square" lIns="0" tIns="0" rIns="0" bIns="0" rtlCol="0" anchor="t"/>
          <a:lstStyle/>
          <a:p>
            <a:pPr algn="l">
              <a:lnSpc>
                <a:spcPts val="8250"/>
              </a:lnSpc>
            </a:pPr>
            <a:r>
              <a:rPr lang="en-US" sz="7200" spc="-300" dirty="0">
                <a:solidFill>
                  <a:srgbClr val="171714"/>
                </a:solidFill>
                <a:latin typeface="TCloud Number" pitchFamily="2" charset="0"/>
                <a:ea typeface="MiSans Demibold" pitchFamily="2" charset="-122"/>
                <a:cs typeface="Bebas Neue Regular" pitchFamily="34" charset="-120"/>
              </a:rPr>
              <a:t>03</a:t>
            </a:r>
            <a:endParaRPr lang="en-US" sz="7200" spc="-300" dirty="0">
              <a:latin typeface="TCloud Number" pitchFamily="2" charset="0"/>
              <a:ea typeface="MiSans Demibold" pitchFamily="2" charset="-122"/>
            </a:endParaRPr>
          </a:p>
        </p:txBody>
      </p:sp>
      <p:sp>
        <p:nvSpPr>
          <p:cNvPr id="13" name="Text 10"/>
          <p:cNvSpPr/>
          <p:nvPr/>
        </p:nvSpPr>
        <p:spPr>
          <a:xfrm>
            <a:off x="381000" y="4305374"/>
            <a:ext cx="2381250" cy="426690"/>
          </a:xfrm>
          <a:prstGeom prst="rect">
            <a:avLst/>
          </a:prstGeom>
          <a:noFill/>
          <a:ln/>
        </p:spPr>
        <p:txBody>
          <a:bodyPr wrap="square" lIns="0" tIns="0" rIns="0" bIns="0" rtlCol="0" anchor="t"/>
          <a:lstStyle/>
          <a:p>
            <a:pPr algn="l">
              <a:lnSpc>
                <a:spcPts val="1680"/>
              </a:lnSpc>
            </a:pPr>
            <a:r>
              <a:rPr lang="en-US" sz="1000" dirty="0">
                <a:solidFill>
                  <a:srgbClr val="000000"/>
                </a:solidFill>
                <a:latin typeface="MiSans Light" pitchFamily="2" charset="-122"/>
                <a:ea typeface="MiSans Light" pitchFamily="2" charset="-122"/>
                <a:cs typeface="思源黑体" pitchFamily="34" charset="-120"/>
              </a:rPr>
              <a:t>中国露营预计2026年将突破 800亿元</a:t>
            </a:r>
            <a:endParaRPr lang="en-US" sz="1000" dirty="0">
              <a:latin typeface="MiSans Light" pitchFamily="2" charset="-122"/>
              <a:ea typeface="MiSans Light" pitchFamily="2" charset="-122"/>
            </a:endParaRPr>
          </a:p>
        </p:txBody>
      </p:sp>
      <p:sp>
        <p:nvSpPr>
          <p:cNvPr id="14" name="Text 11"/>
          <p:cNvSpPr/>
          <p:nvPr/>
        </p:nvSpPr>
        <p:spPr>
          <a:xfrm>
            <a:off x="3384946" y="4048125"/>
            <a:ext cx="2381176" cy="213345"/>
          </a:xfrm>
          <a:prstGeom prst="rect">
            <a:avLst/>
          </a:prstGeom>
          <a:noFill/>
          <a:ln/>
        </p:spPr>
        <p:txBody>
          <a:bodyPr wrap="square" lIns="0" tIns="0" rIns="0" bIns="0" rtlCol="0" anchor="t"/>
          <a:lstStyle/>
          <a:p>
            <a:pPr algn="l">
              <a:lnSpc>
                <a:spcPts val="1680"/>
              </a:lnSpc>
            </a:pPr>
            <a:r>
              <a:rPr lang="en-US" sz="1100" dirty="0">
                <a:solidFill>
                  <a:srgbClr val="000000"/>
                </a:solidFill>
                <a:latin typeface="MiSans Semibold" pitchFamily="2" charset="-122"/>
                <a:ea typeface="MiSans Semibold" pitchFamily="2" charset="-122"/>
                <a:cs typeface="思源黑体" pitchFamily="34" charset="-120"/>
              </a:rPr>
              <a:t>消费升级</a:t>
            </a:r>
            <a:endParaRPr lang="en-US" sz="1050" dirty="0">
              <a:latin typeface="MiSans Semibold" pitchFamily="2" charset="-122"/>
              <a:ea typeface="MiSans Semibold" pitchFamily="2" charset="-122"/>
            </a:endParaRPr>
          </a:p>
        </p:txBody>
      </p:sp>
      <p:sp>
        <p:nvSpPr>
          <p:cNvPr id="15" name="Text 12"/>
          <p:cNvSpPr/>
          <p:nvPr/>
        </p:nvSpPr>
        <p:spPr>
          <a:xfrm>
            <a:off x="3384946" y="4305374"/>
            <a:ext cx="2381213" cy="426690"/>
          </a:xfrm>
          <a:prstGeom prst="rect">
            <a:avLst/>
          </a:prstGeom>
          <a:noFill/>
          <a:ln/>
        </p:spPr>
        <p:txBody>
          <a:bodyPr wrap="square" lIns="0" tIns="0" rIns="0" bIns="0" rtlCol="0" anchor="t"/>
          <a:lstStyle/>
          <a:p>
            <a:pPr algn="l">
              <a:lnSpc>
                <a:spcPts val="1680"/>
              </a:lnSpc>
            </a:pPr>
            <a:r>
              <a:rPr lang="en-US" sz="1000" dirty="0">
                <a:solidFill>
                  <a:srgbClr val="000000"/>
                </a:solidFill>
                <a:latin typeface="MiSans Light" pitchFamily="2" charset="-122"/>
                <a:ea typeface="MiSans Light" pitchFamily="2" charset="-122"/>
                <a:cs typeface="思源黑体" pitchFamily="34" charset="-120"/>
              </a:rPr>
              <a:t>精致露营(Glamping)客单价已达800-1500元，且预订量年增速超过 200%</a:t>
            </a:r>
            <a:endParaRPr lang="en-US" sz="1000" dirty="0">
              <a:latin typeface="MiSans Light" pitchFamily="2" charset="-122"/>
              <a:ea typeface="MiSans Light" pitchFamily="2" charset="-122"/>
            </a:endParaRPr>
          </a:p>
        </p:txBody>
      </p:sp>
      <p:sp>
        <p:nvSpPr>
          <p:cNvPr id="16" name="Text 13"/>
          <p:cNvSpPr/>
          <p:nvPr/>
        </p:nvSpPr>
        <p:spPr>
          <a:xfrm>
            <a:off x="6381512" y="4048125"/>
            <a:ext cx="2381176" cy="213345"/>
          </a:xfrm>
          <a:prstGeom prst="rect">
            <a:avLst/>
          </a:prstGeom>
          <a:noFill/>
          <a:ln/>
        </p:spPr>
        <p:txBody>
          <a:bodyPr wrap="square" lIns="0" tIns="0" rIns="0" bIns="0" rtlCol="0" anchor="t"/>
          <a:lstStyle/>
          <a:p>
            <a:pPr algn="l">
              <a:lnSpc>
                <a:spcPts val="1680"/>
              </a:lnSpc>
            </a:pPr>
            <a:r>
              <a:rPr lang="en-US" sz="1100" dirty="0">
                <a:solidFill>
                  <a:srgbClr val="000000"/>
                </a:solidFill>
                <a:latin typeface="MiSans Semibold" pitchFamily="2" charset="-122"/>
                <a:ea typeface="MiSans Semibold" pitchFamily="2" charset="-122"/>
                <a:cs typeface="思源黑体" pitchFamily="34" charset="-120"/>
              </a:rPr>
              <a:t>存量景区亟待盘活</a:t>
            </a:r>
            <a:endParaRPr lang="en-US" sz="1050" dirty="0">
              <a:latin typeface="MiSans Semibold" pitchFamily="2" charset="-122"/>
              <a:ea typeface="MiSans Semibold" pitchFamily="2" charset="-122"/>
            </a:endParaRPr>
          </a:p>
        </p:txBody>
      </p:sp>
      <p:sp>
        <p:nvSpPr>
          <p:cNvPr id="17" name="Text 14"/>
          <p:cNvSpPr/>
          <p:nvPr/>
        </p:nvSpPr>
        <p:spPr>
          <a:xfrm>
            <a:off x="6381512" y="4305374"/>
            <a:ext cx="2381138" cy="426690"/>
          </a:xfrm>
          <a:prstGeom prst="rect">
            <a:avLst/>
          </a:prstGeom>
          <a:noFill/>
          <a:ln/>
        </p:spPr>
        <p:txBody>
          <a:bodyPr wrap="square" lIns="0" tIns="0" rIns="0" bIns="0" rtlCol="0" anchor="t"/>
          <a:lstStyle/>
          <a:p>
            <a:pPr algn="l">
              <a:lnSpc>
                <a:spcPts val="1680"/>
              </a:lnSpc>
            </a:pPr>
            <a:r>
              <a:rPr lang="en-US" sz="1000" dirty="0">
                <a:solidFill>
                  <a:srgbClr val="000000"/>
                </a:solidFill>
                <a:latin typeface="MiSans Light" pitchFamily="2" charset="-122"/>
                <a:ea typeface="MiSans Light" pitchFamily="2" charset="-122"/>
                <a:cs typeface="思源黑体" pitchFamily="34" charset="-120"/>
              </a:rPr>
              <a:t>解决了传统文旅‘留不住人、赚不到钱’的痛点，实现了双赢</a:t>
            </a:r>
            <a:endParaRPr lang="en-US" sz="1000" dirty="0">
              <a:latin typeface="MiSans Light" pitchFamily="2" charset="-122"/>
              <a:ea typeface="MiSans Light" pitchFamily="2" charset="-122"/>
            </a:endParaRPr>
          </a:p>
        </p:txBody>
      </p:sp>
      <p:sp>
        <p:nvSpPr>
          <p:cNvPr id="18" name="Text 15"/>
          <p:cNvSpPr/>
          <p:nvPr/>
        </p:nvSpPr>
        <p:spPr>
          <a:xfrm>
            <a:off x="188403" y="644698"/>
            <a:ext cx="7715250" cy="1408279"/>
          </a:xfrm>
          <a:prstGeom prst="rect">
            <a:avLst/>
          </a:prstGeom>
          <a:noFill/>
          <a:ln/>
        </p:spPr>
        <p:txBody>
          <a:bodyPr wrap="square" lIns="0" tIns="0" rIns="0" bIns="0" rtlCol="0" anchor="t"/>
          <a:lstStyle/>
          <a:p>
            <a:pPr algn="l">
              <a:lnSpc>
                <a:spcPts val="2925"/>
              </a:lnSpc>
            </a:pPr>
            <a:r>
              <a:rPr lang="en-US" sz="2000" dirty="0">
                <a:solidFill>
                  <a:srgbClr val="FFFFFF"/>
                </a:solidFill>
                <a:latin typeface="MiSans Semibold" pitchFamily="2" charset="-122"/>
                <a:ea typeface="MiSans Semibold" pitchFamily="2" charset="-122"/>
                <a:cs typeface="思源黑体" pitchFamily="34" charset="-120"/>
              </a:rPr>
              <a:t>精品Glamping营地拎包入住给你最完美的体验。</a:t>
            </a:r>
            <a:endParaRPr lang="en-US" sz="1950" dirty="0">
              <a:latin typeface="MiSans Semibold" pitchFamily="2" charset="-122"/>
              <a:ea typeface="MiSans Semibold"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714"/>
        </a:solidFill>
        <a:effectLst/>
      </p:bgPr>
    </p:bg>
    <p:spTree>
      <p:nvGrpSpPr>
        <p:cNvPr id="1" name=""/>
        <p:cNvGrpSpPr/>
        <p:nvPr/>
      </p:nvGrpSpPr>
      <p:grpSpPr>
        <a:xfrm>
          <a:off x="0" y="0"/>
          <a:ext cx="0" cy="0"/>
          <a:chOff x="0" y="0"/>
          <a:chExt cx="0" cy="0"/>
        </a:xfrm>
      </p:grpSpPr>
      <p:pic>
        <p:nvPicPr>
          <p:cNvPr id="3" name="Image 0"/>
          <p:cNvPicPr>
            <a:picLocks noChangeAspect="1"/>
          </p:cNvPicPr>
          <p:nvPr/>
        </p:nvPicPr>
        <p:blipFill>
          <a:blip r:embed="rId3"/>
          <a:srcRect l="842" r="842"/>
          <a:stretch/>
        </p:blipFill>
        <p:spPr>
          <a:xfrm>
            <a:off x="190500" y="624685"/>
            <a:ext cx="3087498" cy="4187155"/>
          </a:xfrm>
          <a:prstGeom prst="rect">
            <a:avLst/>
          </a:prstGeom>
        </p:spPr>
      </p:pic>
      <p:sp>
        <p:nvSpPr>
          <p:cNvPr id="4" name="Shape 0"/>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5" name="Shape 1"/>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6" name="Text 2"/>
          <p:cNvSpPr/>
          <p:nvPr/>
        </p:nvSpPr>
        <p:spPr>
          <a:xfrm>
            <a:off x="190500" y="272673"/>
            <a:ext cx="3809516" cy="119062"/>
          </a:xfrm>
          <a:prstGeom prst="rect">
            <a:avLst/>
          </a:prstGeom>
          <a:noFill/>
          <a:ln/>
        </p:spPr>
        <p:txBody>
          <a:bodyPr wrap="square" lIns="0" tIns="0" rIns="0" bIns="0" rtlCol="0" anchor="b"/>
          <a:lstStyle/>
          <a:p>
            <a:pPr algn="l">
              <a:lnSpc>
                <a:spcPts val="938"/>
              </a:lnSpc>
            </a:pPr>
            <a:r>
              <a:rPr lang="en-US" sz="800" spc="300" dirty="0">
                <a:solidFill>
                  <a:srgbClr val="FFFFFF"/>
                </a:solidFill>
                <a:latin typeface="MiSans" pitchFamily="2" charset="-122"/>
                <a:ea typeface="MiSans" pitchFamily="2" charset="-122"/>
                <a:cs typeface="Helmet" pitchFamily="34" charset="-120"/>
              </a:rPr>
              <a:t>产品与体验</a:t>
            </a:r>
            <a:endParaRPr lang="en-US" sz="750" spc="300" dirty="0">
              <a:latin typeface="MiSans" pitchFamily="2" charset="-122"/>
              <a:ea typeface="MiSans" pitchFamily="2" charset="-122"/>
            </a:endParaRPr>
          </a:p>
        </p:txBody>
      </p:sp>
      <p:sp>
        <p:nvSpPr>
          <p:cNvPr id="7" name="Text 3"/>
          <p:cNvSpPr/>
          <p:nvPr/>
        </p:nvSpPr>
        <p:spPr>
          <a:xfrm>
            <a:off x="4107568" y="624820"/>
            <a:ext cx="4762277" cy="1045471"/>
          </a:xfrm>
          <a:prstGeom prst="rect">
            <a:avLst/>
          </a:prstGeom>
          <a:noFill/>
          <a:ln/>
        </p:spPr>
        <p:txBody>
          <a:bodyPr wrap="square" lIns="0" tIns="0" rIns="0" bIns="0" rtlCol="0" anchor="t"/>
          <a:lstStyle/>
          <a:p>
            <a:pPr algn="l">
              <a:lnSpc>
                <a:spcPts val="3375"/>
              </a:lnSpc>
            </a:pPr>
            <a:r>
              <a:rPr lang="en-US" sz="2300" dirty="0">
                <a:solidFill>
                  <a:srgbClr val="FFFFFF"/>
                </a:solidFill>
                <a:latin typeface="MiSans Semibold" pitchFamily="2" charset="-122"/>
                <a:ea typeface="MiSans Semibold" pitchFamily="2" charset="-122"/>
                <a:cs typeface="思源黑体" pitchFamily="34" charset="-120"/>
              </a:rPr>
              <a:t>差异化体验的设计点给你</a:t>
            </a:r>
            <a:r>
              <a:rPr lang="en-US" sz="2300" dirty="0">
                <a:solidFill>
                  <a:srgbClr val="FFDF65"/>
                </a:solidFill>
                <a:latin typeface="MiSans Semibold" pitchFamily="2" charset="-122"/>
                <a:ea typeface="MiSans Semibold" pitchFamily="2" charset="-122"/>
                <a:cs typeface="思源黑体" pitchFamily="34" charset="-120"/>
              </a:rPr>
              <a:t>全新体验</a:t>
            </a:r>
            <a:endParaRPr lang="en-US" sz="2250" dirty="0">
              <a:latin typeface="MiSans Semibold" pitchFamily="2" charset="-122"/>
              <a:ea typeface="MiSans Semibold" pitchFamily="2" charset="-122"/>
            </a:endParaRPr>
          </a:p>
        </p:txBody>
      </p:sp>
      <p:sp>
        <p:nvSpPr>
          <p:cNvPr id="8" name="Text 4"/>
          <p:cNvSpPr/>
          <p:nvPr/>
        </p:nvSpPr>
        <p:spPr>
          <a:xfrm>
            <a:off x="4105832" y="2982533"/>
            <a:ext cx="4381500" cy="198090"/>
          </a:xfrm>
          <a:prstGeom prst="rect">
            <a:avLst/>
          </a:prstGeom>
          <a:noFill/>
          <a:ln/>
        </p:spPr>
        <p:txBody>
          <a:bodyPr wrap="square" lIns="0" tIns="0" rIns="0" bIns="0" rtlCol="0" anchor="t"/>
          <a:lstStyle/>
          <a:p>
            <a:pPr algn="l">
              <a:lnSpc>
                <a:spcPts val="1560"/>
              </a:lnSpc>
            </a:pPr>
            <a:r>
              <a:rPr lang="en-US" sz="1100" b="1" dirty="0">
                <a:solidFill>
                  <a:srgbClr val="FFFFFF"/>
                </a:solidFill>
                <a:latin typeface="MiSans Light" pitchFamily="2" charset="-122"/>
                <a:ea typeface="MiSans Light" pitchFamily="2" charset="-122"/>
                <a:cs typeface="思源黑体" pitchFamily="34" charset="-120"/>
              </a:rPr>
              <a:t>你必须选择的五个理由</a:t>
            </a:r>
            <a:r>
              <a:rPr lang="en-US" sz="1000" b="1" dirty="0">
                <a:solidFill>
                  <a:srgbClr val="FFFFFF"/>
                </a:solidFill>
                <a:latin typeface="MiSans Light" pitchFamily="2" charset="-122"/>
                <a:ea typeface="MiSans Light" pitchFamily="2" charset="-122"/>
                <a:cs typeface="思源黑体" pitchFamily="34" charset="-120"/>
              </a:rPr>
              <a:t>：</a:t>
            </a:r>
            <a:endParaRPr lang="en-US" sz="975" b="1" dirty="0">
              <a:latin typeface="MiSans Light" pitchFamily="2" charset="-122"/>
              <a:ea typeface="MiSans Light" pitchFamily="2" charset="-122"/>
            </a:endParaRPr>
          </a:p>
        </p:txBody>
      </p:sp>
      <p:sp>
        <p:nvSpPr>
          <p:cNvPr id="9" name="Text 5"/>
          <p:cNvSpPr/>
          <p:nvPr/>
        </p:nvSpPr>
        <p:spPr>
          <a:xfrm>
            <a:off x="4105832" y="3473208"/>
            <a:ext cx="4380979" cy="1443555"/>
          </a:xfrm>
          <a:prstGeom prst="rect">
            <a:avLst/>
          </a:prstGeom>
          <a:noFill/>
          <a:ln/>
        </p:spPr>
        <p:txBody>
          <a:bodyPr wrap="square" lIns="0" tIns="0" rIns="0" bIns="0" rtlCol="0" anchor="t"/>
          <a:lstStyle/>
          <a:p>
            <a:pPr marL="190500" indent="-190500" algn="l">
              <a:lnSpc>
                <a:spcPts val="1880"/>
              </a:lnSpc>
              <a:buSzPct val="100000"/>
              <a:buFont typeface="+mj-lt"/>
              <a:buAutoNum type="arabicPeriod"/>
            </a:pPr>
            <a:r>
              <a:rPr lang="en-US" sz="1100" dirty="0">
                <a:solidFill>
                  <a:srgbClr val="FFFFFF"/>
                </a:solidFill>
                <a:latin typeface="MiSans Light" pitchFamily="2" charset="-122"/>
                <a:ea typeface="MiSans Light" pitchFamily="2" charset="-122"/>
                <a:cs typeface="思源黑体" pitchFamily="34" charset="-120"/>
              </a:rPr>
              <a:t>视觉：采用全景星空穹顶帐或无边界落地窗木屋</a:t>
            </a:r>
            <a:endParaRPr lang="en-US" sz="1050" dirty="0">
              <a:latin typeface="MiSans Light" pitchFamily="2" charset="-122"/>
              <a:ea typeface="MiSans Light" pitchFamily="2" charset="-122"/>
            </a:endParaRPr>
          </a:p>
          <a:p>
            <a:pPr marL="190500" indent="-190500" algn="l">
              <a:lnSpc>
                <a:spcPts val="1880"/>
              </a:lnSpc>
              <a:buSzPct val="100000"/>
              <a:buFont typeface="+mj-lt"/>
              <a:buAutoNum type="arabicPeriod"/>
            </a:pPr>
            <a:r>
              <a:rPr lang="en-US" sz="1100" dirty="0">
                <a:solidFill>
                  <a:srgbClr val="FFFFFF"/>
                </a:solidFill>
                <a:latin typeface="MiSans Light" pitchFamily="2" charset="-122"/>
                <a:ea typeface="MiSans Light" pitchFamily="2" charset="-122"/>
                <a:cs typeface="思源黑体" pitchFamily="34" charset="-120"/>
              </a:rPr>
              <a:t>味觉：主厨定制“野奢餐桌”</a:t>
            </a:r>
            <a:endParaRPr lang="en-US" sz="1050" dirty="0">
              <a:latin typeface="MiSans Light" pitchFamily="2" charset="-122"/>
              <a:ea typeface="MiSans Light" pitchFamily="2" charset="-122"/>
            </a:endParaRPr>
          </a:p>
          <a:p>
            <a:pPr marL="190500" indent="-190500" algn="l">
              <a:lnSpc>
                <a:spcPts val="1880"/>
              </a:lnSpc>
              <a:buSzPct val="100000"/>
              <a:buFont typeface="+mj-lt"/>
              <a:buAutoNum type="arabicPeriod"/>
            </a:pPr>
            <a:r>
              <a:rPr lang="en-US" sz="1100" dirty="0">
                <a:solidFill>
                  <a:srgbClr val="FFFFFF"/>
                </a:solidFill>
                <a:latin typeface="MiSans Light" pitchFamily="2" charset="-122"/>
                <a:ea typeface="MiSans Light" pitchFamily="2" charset="-122"/>
                <a:cs typeface="思源黑体" pitchFamily="34" charset="-120"/>
              </a:rPr>
              <a:t>听觉：白噪音疗愈场</a:t>
            </a:r>
            <a:endParaRPr lang="en-US" sz="1050" dirty="0">
              <a:latin typeface="MiSans Light" pitchFamily="2" charset="-122"/>
              <a:ea typeface="MiSans Light" pitchFamily="2" charset="-122"/>
            </a:endParaRPr>
          </a:p>
          <a:p>
            <a:pPr marL="190500" indent="-190500" algn="l">
              <a:lnSpc>
                <a:spcPts val="1880"/>
              </a:lnSpc>
              <a:buSzPct val="100000"/>
              <a:buFont typeface="+mj-lt"/>
              <a:buAutoNum type="arabicPeriod"/>
            </a:pPr>
            <a:r>
              <a:rPr lang="en-US" sz="1100" dirty="0">
                <a:solidFill>
                  <a:srgbClr val="FFFFFF"/>
                </a:solidFill>
                <a:latin typeface="MiSans Light" pitchFamily="2" charset="-122"/>
                <a:ea typeface="MiSans Light" pitchFamily="2" charset="-122"/>
                <a:cs typeface="思源黑体" pitchFamily="34" charset="-120"/>
              </a:rPr>
              <a:t>触觉：四季恒温舒适系统</a:t>
            </a:r>
            <a:endParaRPr lang="en-US" sz="1050" dirty="0">
              <a:latin typeface="MiSans Light" pitchFamily="2" charset="-122"/>
              <a:ea typeface="MiSans Light" pitchFamily="2" charset="-122"/>
            </a:endParaRPr>
          </a:p>
          <a:p>
            <a:pPr marL="190500" indent="-190500" algn="l">
              <a:lnSpc>
                <a:spcPts val="1880"/>
              </a:lnSpc>
              <a:buSzPct val="100000"/>
              <a:buFont typeface="+mj-lt"/>
              <a:buAutoNum type="arabicPeriod"/>
            </a:pPr>
            <a:r>
              <a:rPr lang="en-US" sz="1100" dirty="0">
                <a:solidFill>
                  <a:srgbClr val="FFFFFF"/>
                </a:solidFill>
                <a:latin typeface="MiSans Light" pitchFamily="2" charset="-122"/>
                <a:ea typeface="MiSans Light" pitchFamily="2" charset="-122"/>
                <a:cs typeface="思源黑体" pitchFamily="34" charset="-120"/>
              </a:rPr>
              <a:t>社交：策展式主题活动</a:t>
            </a:r>
            <a:endParaRPr lang="en-US" sz="1050" dirty="0">
              <a:latin typeface="MiSans Light" pitchFamily="2" charset="-122"/>
              <a:ea typeface="MiSans Light"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714"/>
        </a:solidFill>
        <a:effectLst/>
      </p:bgPr>
    </p:bg>
    <p:spTree>
      <p:nvGrpSpPr>
        <p:cNvPr id="1" name=""/>
        <p:cNvGrpSpPr/>
        <p:nvPr/>
      </p:nvGrpSpPr>
      <p:grpSpPr>
        <a:xfrm>
          <a:off x="0" y="0"/>
          <a:ext cx="0" cy="0"/>
          <a:chOff x="0" y="0"/>
          <a:chExt cx="0" cy="0"/>
        </a:xfrm>
      </p:grpSpPr>
      <p:sp>
        <p:nvSpPr>
          <p:cNvPr id="3" name="Shape 0"/>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latin typeface="MiSans Demibold" pitchFamily="2" charset="-122"/>
              <a:ea typeface="MiSans Demibold" pitchFamily="2" charset="-122"/>
            </a:endParaRPr>
          </a:p>
        </p:txBody>
      </p:sp>
      <p:sp>
        <p:nvSpPr>
          <p:cNvPr id="4" name="Shape 1"/>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latin typeface="MiSans Demibold" pitchFamily="2" charset="-122"/>
              <a:ea typeface="MiSans Demibold" pitchFamily="2" charset="-122"/>
            </a:endParaRPr>
          </a:p>
        </p:txBody>
      </p:sp>
      <p:sp>
        <p:nvSpPr>
          <p:cNvPr id="5" name="Text 2"/>
          <p:cNvSpPr/>
          <p:nvPr/>
        </p:nvSpPr>
        <p:spPr>
          <a:xfrm>
            <a:off x="188403" y="714374"/>
            <a:ext cx="2614758" cy="1190850"/>
          </a:xfrm>
          <a:prstGeom prst="rect">
            <a:avLst/>
          </a:prstGeom>
          <a:noFill/>
          <a:ln/>
        </p:spPr>
        <p:txBody>
          <a:bodyPr wrap="square" lIns="0" tIns="0" rIns="0" bIns="0" rtlCol="0" anchor="t"/>
          <a:lstStyle/>
          <a:p>
            <a:pPr algn="l"/>
            <a:r>
              <a:rPr lang="en-US" sz="2400" spc="300" dirty="0" err="1">
                <a:solidFill>
                  <a:srgbClr val="FFFFFF"/>
                </a:solidFill>
                <a:latin typeface="MiSans Demibold" pitchFamily="2" charset="-122"/>
                <a:ea typeface="MiSans Demibold" pitchFamily="2" charset="-122"/>
                <a:cs typeface="思源黑体" pitchFamily="34" charset="-120"/>
              </a:rPr>
              <a:t>定价系统</a:t>
            </a:r>
            <a:endParaRPr lang="en-US" sz="2400" spc="300" dirty="0">
              <a:latin typeface="MiSans Demibold" pitchFamily="2" charset="-122"/>
              <a:ea typeface="MiSans Demibold" pitchFamily="2" charset="-122"/>
            </a:endParaRPr>
          </a:p>
        </p:txBody>
      </p:sp>
      <p:sp>
        <p:nvSpPr>
          <p:cNvPr id="6" name="Text 3"/>
          <p:cNvSpPr/>
          <p:nvPr/>
        </p:nvSpPr>
        <p:spPr>
          <a:xfrm>
            <a:off x="190500" y="272673"/>
            <a:ext cx="3809516" cy="119062"/>
          </a:xfrm>
          <a:prstGeom prst="rect">
            <a:avLst/>
          </a:prstGeom>
          <a:noFill/>
          <a:ln/>
        </p:spPr>
        <p:txBody>
          <a:bodyPr wrap="square" lIns="0" tIns="0" rIns="0" bIns="0" rtlCol="0" anchor="b"/>
          <a:lstStyle/>
          <a:p>
            <a:pPr algn="l">
              <a:lnSpc>
                <a:spcPts val="938"/>
              </a:lnSpc>
            </a:pPr>
            <a:r>
              <a:rPr lang="en-US" sz="800" dirty="0">
                <a:solidFill>
                  <a:srgbClr val="FFFFFF"/>
                </a:solidFill>
                <a:latin typeface="MiSans" pitchFamily="2" charset="-122"/>
                <a:ea typeface="MiSans" pitchFamily="2" charset="-122"/>
                <a:cs typeface="Helmet" pitchFamily="34" charset="-120"/>
              </a:rPr>
              <a:t>商业模式</a:t>
            </a:r>
            <a:endParaRPr lang="en-US" sz="750" dirty="0">
              <a:latin typeface="MiSans" pitchFamily="2" charset="-122"/>
              <a:ea typeface="MiSans" pitchFamily="2" charset="-122"/>
            </a:endParaRPr>
          </a:p>
        </p:txBody>
      </p:sp>
      <p:sp>
        <p:nvSpPr>
          <p:cNvPr id="7" name="Text 4"/>
          <p:cNvSpPr/>
          <p:nvPr/>
        </p:nvSpPr>
        <p:spPr>
          <a:xfrm>
            <a:off x="4645530" y="765359"/>
            <a:ext cx="4310067" cy="1190853"/>
          </a:xfrm>
          <a:prstGeom prst="rect">
            <a:avLst/>
          </a:prstGeom>
          <a:noFill/>
          <a:ln/>
        </p:spPr>
        <p:txBody>
          <a:bodyPr wrap="square" lIns="0" tIns="0" rIns="0" bIns="0" rtlCol="0" anchor="t"/>
          <a:lstStyle/>
          <a:p>
            <a:pPr>
              <a:lnSpc>
                <a:spcPts val="1680"/>
              </a:lnSpc>
            </a:pPr>
            <a:r>
              <a:rPr lang="en-US" altLang="zh-CN" sz="1000" dirty="0">
                <a:solidFill>
                  <a:srgbClr val="FFFFFF"/>
                </a:solidFill>
                <a:latin typeface="MiSans ExtraLight" pitchFamily="2" charset="-122"/>
                <a:ea typeface="MiSans ExtraLight" pitchFamily="2" charset="-122"/>
                <a:cs typeface="思源黑体" pitchFamily="34" charset="-120"/>
              </a:rPr>
              <a:t>我们采用酒店级的动态收益管理，通过分时分季调节、阶梯式房型、高毛利套餐捆绑及会员锁客体系最大化单房收益并平衡淡旺季波动。我们采用酒店级的动态收益管理，通过分时分季调节、阶梯式房型、高毛利套餐捆绑及会员锁客体系最大化单房收益并平衡淡旺季波动。</a:t>
            </a:r>
            <a:endParaRPr lang="en-US" altLang="zh-CN" sz="1000" dirty="0">
              <a:latin typeface="MiSans ExtraLight" pitchFamily="2" charset="-122"/>
              <a:ea typeface="MiSans ExtraLight" pitchFamily="2" charset="-122"/>
            </a:endParaRPr>
          </a:p>
          <a:p>
            <a:pPr>
              <a:lnSpc>
                <a:spcPts val="1680"/>
              </a:lnSpc>
            </a:pPr>
            <a:endParaRPr lang="en-US" altLang="zh-CN" sz="1000" dirty="0">
              <a:latin typeface="MiSans ExtraLight" pitchFamily="2" charset="-122"/>
              <a:ea typeface="MiSans ExtraLight" pitchFamily="2" charset="-122"/>
            </a:endParaRPr>
          </a:p>
        </p:txBody>
      </p:sp>
      <p:sp>
        <p:nvSpPr>
          <p:cNvPr id="8" name="Shape 5"/>
          <p:cNvSpPr/>
          <p:nvPr/>
        </p:nvSpPr>
        <p:spPr>
          <a:xfrm>
            <a:off x="188555" y="2809875"/>
            <a:ext cx="2121093" cy="2095500"/>
          </a:xfrm>
          <a:prstGeom prst="roundRect">
            <a:avLst>
              <a:gd name="adj" fmla="val 828"/>
            </a:avLst>
          </a:prstGeom>
          <a:solidFill>
            <a:srgbClr val="FBF5D1"/>
          </a:solidFill>
          <a:ln/>
        </p:spPr>
        <p:txBody>
          <a:bodyPr/>
          <a:lstStyle/>
          <a:p>
            <a:endParaRPr lang="zh-CN" altLang="en-US">
              <a:latin typeface="MiSans Demibold" pitchFamily="2" charset="-122"/>
              <a:ea typeface="MiSans Demibold" pitchFamily="2" charset="-122"/>
            </a:endParaRPr>
          </a:p>
        </p:txBody>
      </p:sp>
      <p:sp>
        <p:nvSpPr>
          <p:cNvPr id="9" name="Shape 6"/>
          <p:cNvSpPr/>
          <p:nvPr/>
        </p:nvSpPr>
        <p:spPr>
          <a:xfrm>
            <a:off x="4645529" y="2808846"/>
            <a:ext cx="2121093" cy="2095500"/>
          </a:xfrm>
          <a:prstGeom prst="roundRect">
            <a:avLst>
              <a:gd name="adj" fmla="val 828"/>
            </a:avLst>
          </a:prstGeom>
          <a:solidFill>
            <a:srgbClr val="FEE783"/>
          </a:solidFill>
          <a:ln/>
        </p:spPr>
        <p:txBody>
          <a:bodyPr/>
          <a:lstStyle/>
          <a:p>
            <a:endParaRPr lang="zh-CN" altLang="en-US">
              <a:latin typeface="MiSans Demibold" pitchFamily="2" charset="-122"/>
              <a:ea typeface="MiSans Demibold" pitchFamily="2" charset="-122"/>
            </a:endParaRPr>
          </a:p>
        </p:txBody>
      </p:sp>
      <p:sp>
        <p:nvSpPr>
          <p:cNvPr id="10" name="Shape 7"/>
          <p:cNvSpPr/>
          <p:nvPr/>
        </p:nvSpPr>
        <p:spPr>
          <a:xfrm>
            <a:off x="2420968" y="2807933"/>
            <a:ext cx="2121093" cy="2097490"/>
          </a:xfrm>
          <a:prstGeom prst="roundRect">
            <a:avLst>
              <a:gd name="adj" fmla="val 827"/>
            </a:avLst>
          </a:prstGeom>
          <a:solidFill>
            <a:srgbClr val="FFF1B9"/>
          </a:solidFill>
          <a:ln/>
        </p:spPr>
        <p:txBody>
          <a:bodyPr/>
          <a:lstStyle/>
          <a:p>
            <a:endParaRPr lang="zh-CN" altLang="en-US">
              <a:latin typeface="MiSans Demibold" pitchFamily="2" charset="-122"/>
              <a:ea typeface="MiSans Demibold" pitchFamily="2" charset="-122"/>
            </a:endParaRPr>
          </a:p>
        </p:txBody>
      </p:sp>
      <p:sp>
        <p:nvSpPr>
          <p:cNvPr id="11" name="Text 8"/>
          <p:cNvSpPr/>
          <p:nvPr/>
        </p:nvSpPr>
        <p:spPr>
          <a:xfrm>
            <a:off x="381000" y="3472156"/>
            <a:ext cx="1707170" cy="198090"/>
          </a:xfrm>
          <a:prstGeom prst="rect">
            <a:avLst/>
          </a:prstGeom>
          <a:noFill/>
          <a:ln/>
        </p:spPr>
        <p:txBody>
          <a:bodyPr wrap="square" lIns="0" tIns="0" rIns="0" bIns="0" rtlCol="0" anchor="t"/>
          <a:lstStyle/>
          <a:p>
            <a:pPr algn="l">
              <a:lnSpc>
                <a:spcPts val="1560"/>
              </a:lnSpc>
            </a:pPr>
            <a:r>
              <a:rPr lang="en-US" sz="1000" dirty="0">
                <a:solidFill>
                  <a:srgbClr val="171714"/>
                </a:solidFill>
                <a:latin typeface="MiSans Semibold" pitchFamily="2" charset="-122"/>
                <a:ea typeface="MiSans Semibold" pitchFamily="2" charset="-122"/>
                <a:cs typeface="Jost" pitchFamily="34" charset="-120"/>
              </a:rPr>
              <a:t>基础 Safari 帐</a:t>
            </a:r>
            <a:endParaRPr lang="en-US" sz="975" dirty="0">
              <a:latin typeface="MiSans Semibold" pitchFamily="2" charset="-122"/>
              <a:ea typeface="MiSans Semibold" pitchFamily="2" charset="-122"/>
            </a:endParaRPr>
          </a:p>
        </p:txBody>
      </p:sp>
      <p:sp>
        <p:nvSpPr>
          <p:cNvPr id="12" name="Shape 9"/>
          <p:cNvSpPr/>
          <p:nvPr/>
        </p:nvSpPr>
        <p:spPr>
          <a:xfrm>
            <a:off x="6868373" y="2807933"/>
            <a:ext cx="2121093" cy="2097490"/>
          </a:xfrm>
          <a:prstGeom prst="roundRect">
            <a:avLst>
              <a:gd name="adj" fmla="val 827"/>
            </a:avLst>
          </a:prstGeom>
          <a:solidFill>
            <a:srgbClr val="FFDF65"/>
          </a:solidFill>
          <a:ln/>
        </p:spPr>
        <p:txBody>
          <a:bodyPr/>
          <a:lstStyle/>
          <a:p>
            <a:endParaRPr lang="zh-CN" altLang="en-US">
              <a:latin typeface="MiSans Demibold" pitchFamily="2" charset="-122"/>
              <a:ea typeface="MiSans Demibold" pitchFamily="2" charset="-122"/>
            </a:endParaRPr>
          </a:p>
        </p:txBody>
      </p:sp>
      <p:sp>
        <p:nvSpPr>
          <p:cNvPr id="13" name="Text 10"/>
          <p:cNvSpPr/>
          <p:nvPr/>
        </p:nvSpPr>
        <p:spPr>
          <a:xfrm>
            <a:off x="2619375" y="3471351"/>
            <a:ext cx="1707022" cy="198090"/>
          </a:xfrm>
          <a:prstGeom prst="rect">
            <a:avLst/>
          </a:prstGeom>
          <a:noFill/>
          <a:ln/>
        </p:spPr>
        <p:txBody>
          <a:bodyPr wrap="square" lIns="0" tIns="0" rIns="0" bIns="0" rtlCol="0" anchor="t"/>
          <a:lstStyle/>
          <a:p>
            <a:pPr algn="l">
              <a:lnSpc>
                <a:spcPts val="1560"/>
              </a:lnSpc>
            </a:pPr>
            <a:r>
              <a:rPr lang="en-US" sz="1000" dirty="0">
                <a:solidFill>
                  <a:srgbClr val="171714"/>
                </a:solidFill>
                <a:latin typeface="MiSans Semibold" pitchFamily="2" charset="-122"/>
                <a:ea typeface="MiSans Semibold" pitchFamily="2" charset="-122"/>
                <a:cs typeface="Jost" pitchFamily="34" charset="-120"/>
              </a:rPr>
              <a:t>湖景 / 山景帐</a:t>
            </a:r>
            <a:endParaRPr lang="en-US" sz="975" dirty="0">
              <a:latin typeface="MiSans Semibold" pitchFamily="2" charset="-122"/>
              <a:ea typeface="MiSans Semibold" pitchFamily="2" charset="-122"/>
            </a:endParaRPr>
          </a:p>
        </p:txBody>
      </p:sp>
      <p:sp>
        <p:nvSpPr>
          <p:cNvPr id="14" name="Text 11"/>
          <p:cNvSpPr/>
          <p:nvPr/>
        </p:nvSpPr>
        <p:spPr>
          <a:xfrm>
            <a:off x="2619375" y="3071812"/>
            <a:ext cx="1707022" cy="285750"/>
          </a:xfrm>
          <a:prstGeom prst="rect">
            <a:avLst/>
          </a:prstGeom>
          <a:noFill/>
          <a:ln/>
        </p:spPr>
        <p:txBody>
          <a:bodyPr wrap="square" lIns="0" tIns="0" rIns="0" bIns="0" rtlCol="0" anchor="ctr"/>
          <a:lstStyle/>
          <a:p>
            <a:pPr algn="l">
              <a:lnSpc>
                <a:spcPts val="2250"/>
              </a:lnSpc>
            </a:pPr>
            <a:r>
              <a:rPr lang="en-US" sz="2300" dirty="0">
                <a:solidFill>
                  <a:srgbClr val="000000"/>
                </a:solidFill>
                <a:latin typeface="MiSans Demibold" pitchFamily="2" charset="-122"/>
                <a:ea typeface="MiSans Demibold" pitchFamily="2" charset="-122"/>
                <a:cs typeface="Bebas Neue Regular" pitchFamily="34" charset="-120"/>
              </a:rPr>
              <a:t>¥399</a:t>
            </a:r>
            <a:endParaRPr lang="en-US" sz="2250" dirty="0">
              <a:latin typeface="MiSans Demibold" pitchFamily="2" charset="-122"/>
              <a:ea typeface="MiSans Demibold" pitchFamily="2" charset="-122"/>
            </a:endParaRPr>
          </a:p>
        </p:txBody>
      </p:sp>
      <p:sp>
        <p:nvSpPr>
          <p:cNvPr id="15" name="Text 12"/>
          <p:cNvSpPr/>
          <p:nvPr/>
        </p:nvSpPr>
        <p:spPr>
          <a:xfrm>
            <a:off x="381000" y="3071812"/>
            <a:ext cx="1707096" cy="285750"/>
          </a:xfrm>
          <a:prstGeom prst="rect">
            <a:avLst/>
          </a:prstGeom>
          <a:noFill/>
          <a:ln/>
        </p:spPr>
        <p:txBody>
          <a:bodyPr wrap="square" lIns="0" tIns="0" rIns="0" bIns="0" rtlCol="0" anchor="ctr"/>
          <a:lstStyle/>
          <a:p>
            <a:pPr algn="l">
              <a:lnSpc>
                <a:spcPts val="2250"/>
              </a:lnSpc>
            </a:pPr>
            <a:r>
              <a:rPr lang="en-US" sz="2300" dirty="0">
                <a:solidFill>
                  <a:srgbClr val="000000"/>
                </a:solidFill>
                <a:latin typeface="MiSans Demibold" pitchFamily="2" charset="-122"/>
                <a:ea typeface="MiSans Demibold" pitchFamily="2" charset="-122"/>
                <a:cs typeface="Bebas Neue Regular" pitchFamily="34" charset="-120"/>
              </a:rPr>
              <a:t>¥199</a:t>
            </a:r>
            <a:endParaRPr lang="en-US" sz="2250" dirty="0">
              <a:latin typeface="MiSans Demibold" pitchFamily="2" charset="-122"/>
              <a:ea typeface="MiSans Demibold" pitchFamily="2" charset="-122"/>
            </a:endParaRPr>
          </a:p>
        </p:txBody>
      </p:sp>
      <p:sp>
        <p:nvSpPr>
          <p:cNvPr id="16" name="Text 13"/>
          <p:cNvSpPr/>
          <p:nvPr/>
        </p:nvSpPr>
        <p:spPr>
          <a:xfrm>
            <a:off x="4857750" y="3471351"/>
            <a:ext cx="1707170" cy="198090"/>
          </a:xfrm>
          <a:prstGeom prst="rect">
            <a:avLst/>
          </a:prstGeom>
          <a:noFill/>
          <a:ln/>
        </p:spPr>
        <p:txBody>
          <a:bodyPr wrap="square" lIns="0" tIns="0" rIns="0" bIns="0" rtlCol="0" anchor="t"/>
          <a:lstStyle/>
          <a:p>
            <a:pPr algn="l">
              <a:lnSpc>
                <a:spcPts val="1560"/>
              </a:lnSpc>
            </a:pPr>
            <a:r>
              <a:rPr lang="en-US" sz="1000" dirty="0">
                <a:solidFill>
                  <a:srgbClr val="171714"/>
                </a:solidFill>
                <a:latin typeface="MiSans Semibold" pitchFamily="2" charset="-122"/>
                <a:ea typeface="MiSans Semibold" pitchFamily="2" charset="-122"/>
                <a:cs typeface="Jost" pitchFamily="34" charset="-120"/>
              </a:rPr>
              <a:t>星空穹顶 / 树屋</a:t>
            </a:r>
            <a:endParaRPr lang="en-US" sz="975" dirty="0">
              <a:latin typeface="MiSans Semibold" pitchFamily="2" charset="-122"/>
              <a:ea typeface="MiSans Semibold" pitchFamily="2" charset="-122"/>
            </a:endParaRPr>
          </a:p>
        </p:txBody>
      </p:sp>
      <p:sp>
        <p:nvSpPr>
          <p:cNvPr id="17" name="Text 14"/>
          <p:cNvSpPr/>
          <p:nvPr/>
        </p:nvSpPr>
        <p:spPr>
          <a:xfrm>
            <a:off x="4857750" y="3071812"/>
            <a:ext cx="1707022" cy="285750"/>
          </a:xfrm>
          <a:prstGeom prst="rect">
            <a:avLst/>
          </a:prstGeom>
          <a:noFill/>
          <a:ln/>
        </p:spPr>
        <p:txBody>
          <a:bodyPr wrap="square" lIns="0" tIns="0" rIns="0" bIns="0" rtlCol="0" anchor="ctr"/>
          <a:lstStyle/>
          <a:p>
            <a:pPr algn="l">
              <a:lnSpc>
                <a:spcPts val="2250"/>
              </a:lnSpc>
            </a:pPr>
            <a:r>
              <a:rPr lang="en-US" sz="2300" dirty="0">
                <a:solidFill>
                  <a:srgbClr val="000000"/>
                </a:solidFill>
                <a:latin typeface="MiSans Demibold" pitchFamily="2" charset="-122"/>
                <a:ea typeface="MiSans Demibold" pitchFamily="2" charset="-122"/>
                <a:cs typeface="Bebas Neue Regular" pitchFamily="34" charset="-120"/>
              </a:rPr>
              <a:t>¥699</a:t>
            </a:r>
            <a:endParaRPr lang="en-US" sz="2250" dirty="0">
              <a:latin typeface="MiSans Demibold" pitchFamily="2" charset="-122"/>
              <a:ea typeface="MiSans Demibold" pitchFamily="2" charset="-122"/>
            </a:endParaRPr>
          </a:p>
        </p:txBody>
      </p:sp>
      <p:sp>
        <p:nvSpPr>
          <p:cNvPr id="18" name="Text 15"/>
          <p:cNvSpPr/>
          <p:nvPr/>
        </p:nvSpPr>
        <p:spPr>
          <a:xfrm>
            <a:off x="7096125" y="3472156"/>
            <a:ext cx="1707022" cy="198090"/>
          </a:xfrm>
          <a:prstGeom prst="rect">
            <a:avLst/>
          </a:prstGeom>
          <a:noFill/>
          <a:ln/>
        </p:spPr>
        <p:txBody>
          <a:bodyPr wrap="square" lIns="0" tIns="0" rIns="0" bIns="0" rtlCol="0" anchor="t"/>
          <a:lstStyle/>
          <a:p>
            <a:pPr algn="l">
              <a:lnSpc>
                <a:spcPts val="1560"/>
              </a:lnSpc>
            </a:pPr>
            <a:r>
              <a:rPr lang="en-US" sz="1000" dirty="0">
                <a:solidFill>
                  <a:srgbClr val="171714"/>
                </a:solidFill>
                <a:latin typeface="MiSans Semibold" pitchFamily="2" charset="-122"/>
                <a:ea typeface="MiSans Semibold" pitchFamily="2" charset="-122"/>
                <a:cs typeface="Jost" pitchFamily="34" charset="-120"/>
              </a:rPr>
              <a:t>VIP 套房（带私卫浴+露台）</a:t>
            </a:r>
            <a:endParaRPr lang="en-US" sz="975" dirty="0">
              <a:latin typeface="MiSans Semibold" pitchFamily="2" charset="-122"/>
              <a:ea typeface="MiSans Semibold" pitchFamily="2" charset="-122"/>
            </a:endParaRPr>
          </a:p>
        </p:txBody>
      </p:sp>
      <p:sp>
        <p:nvSpPr>
          <p:cNvPr id="19" name="Text 16"/>
          <p:cNvSpPr/>
          <p:nvPr/>
        </p:nvSpPr>
        <p:spPr>
          <a:xfrm>
            <a:off x="7096125" y="3071812"/>
            <a:ext cx="1707133" cy="285750"/>
          </a:xfrm>
          <a:prstGeom prst="rect">
            <a:avLst/>
          </a:prstGeom>
          <a:noFill/>
          <a:ln/>
        </p:spPr>
        <p:txBody>
          <a:bodyPr wrap="square" lIns="0" tIns="0" rIns="0" bIns="0" rtlCol="0" anchor="ctr"/>
          <a:lstStyle/>
          <a:p>
            <a:pPr algn="l">
              <a:lnSpc>
                <a:spcPts val="2250"/>
              </a:lnSpc>
            </a:pPr>
            <a:r>
              <a:rPr lang="en-US" sz="2300" dirty="0">
                <a:solidFill>
                  <a:srgbClr val="000000"/>
                </a:solidFill>
                <a:latin typeface="MiSans Demibold" pitchFamily="2" charset="-122"/>
                <a:ea typeface="MiSans Demibold" pitchFamily="2" charset="-122"/>
                <a:cs typeface="Bebas Neue Regular" pitchFamily="34" charset="-120"/>
              </a:rPr>
              <a:t>¥1999</a:t>
            </a:r>
            <a:endParaRPr lang="en-US" sz="2250" dirty="0">
              <a:latin typeface="MiSans Demibold" pitchFamily="2" charset="-122"/>
              <a:ea typeface="MiSans Demibold" pitchFamily="2" charset="-122"/>
            </a:endParaRPr>
          </a:p>
        </p:txBody>
      </p:sp>
      <p:sp>
        <p:nvSpPr>
          <p:cNvPr id="20" name="Text 17"/>
          <p:cNvSpPr/>
          <p:nvPr/>
        </p:nvSpPr>
        <p:spPr>
          <a:xfrm>
            <a:off x="397373" y="3983735"/>
            <a:ext cx="1707170" cy="746879"/>
          </a:xfrm>
          <a:prstGeom prst="rect">
            <a:avLst/>
          </a:prstGeom>
          <a:noFill/>
          <a:ln/>
        </p:spPr>
        <p:txBody>
          <a:bodyPr wrap="square" lIns="0" tIns="0" rIns="0" bIns="0" rtlCol="0" anchor="t"/>
          <a:lstStyle/>
          <a:p>
            <a:pPr algn="l">
              <a:lnSpc>
                <a:spcPts val="1560"/>
              </a:lnSpc>
            </a:pPr>
            <a:r>
              <a:rPr lang="en-US" sz="1000" dirty="0">
                <a:solidFill>
                  <a:srgbClr val="171714"/>
                </a:solidFill>
                <a:latin typeface="MiSans Normal" pitchFamily="2" charset="-122"/>
                <a:ea typeface="MiSans Normal" pitchFamily="2" charset="-122"/>
                <a:cs typeface="Jost" pitchFamily="34" charset="-120"/>
              </a:rPr>
              <a:t>标准配置，平衡淡旺季，拉高满房期收益</a:t>
            </a:r>
            <a:endParaRPr lang="en-US" sz="975" dirty="0">
              <a:latin typeface="MiSans Normal" pitchFamily="2" charset="-122"/>
              <a:ea typeface="MiSans Normal" pitchFamily="2" charset="-122"/>
            </a:endParaRPr>
          </a:p>
        </p:txBody>
      </p:sp>
      <p:sp>
        <p:nvSpPr>
          <p:cNvPr id="21" name="Text 18"/>
          <p:cNvSpPr/>
          <p:nvPr/>
        </p:nvSpPr>
        <p:spPr>
          <a:xfrm>
            <a:off x="2619375" y="3983735"/>
            <a:ext cx="1707133" cy="746879"/>
          </a:xfrm>
          <a:prstGeom prst="rect">
            <a:avLst/>
          </a:prstGeom>
          <a:noFill/>
          <a:ln/>
        </p:spPr>
        <p:txBody>
          <a:bodyPr wrap="square" lIns="0" tIns="0" rIns="0" bIns="0" rtlCol="0" anchor="t"/>
          <a:lstStyle/>
          <a:p>
            <a:pPr algn="l">
              <a:lnSpc>
                <a:spcPts val="1560"/>
              </a:lnSpc>
            </a:pPr>
            <a:r>
              <a:rPr lang="en-US" sz="1000" dirty="0">
                <a:solidFill>
                  <a:srgbClr val="171714"/>
                </a:solidFill>
                <a:latin typeface="MiSans Normal" pitchFamily="2" charset="-122"/>
                <a:ea typeface="MiSans Normal" pitchFamily="2" charset="-122"/>
                <a:cs typeface="Jost" pitchFamily="34" charset="-120"/>
              </a:rPr>
              <a:t>正面景观、略大平台，联动室内活动或温泉/避暑权益</a:t>
            </a:r>
            <a:endParaRPr lang="en-US" sz="975" dirty="0">
              <a:latin typeface="MiSans Normal" pitchFamily="2" charset="-122"/>
              <a:ea typeface="MiSans Normal" pitchFamily="2" charset="-122"/>
            </a:endParaRPr>
          </a:p>
        </p:txBody>
      </p:sp>
      <p:sp>
        <p:nvSpPr>
          <p:cNvPr id="22" name="Text 19"/>
          <p:cNvSpPr/>
          <p:nvPr/>
        </p:nvSpPr>
        <p:spPr>
          <a:xfrm>
            <a:off x="4857750" y="3983735"/>
            <a:ext cx="1707170" cy="746879"/>
          </a:xfrm>
          <a:prstGeom prst="rect">
            <a:avLst/>
          </a:prstGeom>
          <a:noFill/>
          <a:ln/>
        </p:spPr>
        <p:txBody>
          <a:bodyPr wrap="square" lIns="0" tIns="0" rIns="0" bIns="0" rtlCol="0" anchor="t"/>
          <a:lstStyle/>
          <a:p>
            <a:pPr algn="l">
              <a:lnSpc>
                <a:spcPts val="1560"/>
              </a:lnSpc>
            </a:pPr>
            <a:r>
              <a:rPr lang="en-US" sz="1000" dirty="0">
                <a:solidFill>
                  <a:srgbClr val="171714"/>
                </a:solidFill>
                <a:latin typeface="MiSans Normal" pitchFamily="2" charset="-122"/>
                <a:ea typeface="MiSans Normal" pitchFamily="2" charset="-122"/>
                <a:cs typeface="Jost" pitchFamily="34" charset="-120"/>
              </a:rPr>
              <a:t>全景玻璃、浴缸、最佳位，锁定复购与提前预订，降低获客成本</a:t>
            </a:r>
            <a:endParaRPr lang="en-US" sz="975" dirty="0">
              <a:latin typeface="MiSans Normal" pitchFamily="2" charset="-122"/>
              <a:ea typeface="MiSans Normal" pitchFamily="2" charset="-122"/>
            </a:endParaRPr>
          </a:p>
        </p:txBody>
      </p:sp>
      <p:sp>
        <p:nvSpPr>
          <p:cNvPr id="23" name="Text 20"/>
          <p:cNvSpPr/>
          <p:nvPr/>
        </p:nvSpPr>
        <p:spPr>
          <a:xfrm>
            <a:off x="7096125" y="3983735"/>
            <a:ext cx="1707133" cy="746879"/>
          </a:xfrm>
          <a:prstGeom prst="rect">
            <a:avLst/>
          </a:prstGeom>
          <a:noFill/>
          <a:ln/>
        </p:spPr>
        <p:txBody>
          <a:bodyPr wrap="square" lIns="0" tIns="0" rIns="0" bIns="0" rtlCol="0" anchor="t"/>
          <a:lstStyle/>
          <a:p>
            <a:pPr algn="l">
              <a:lnSpc>
                <a:spcPts val="1560"/>
              </a:lnSpc>
            </a:pPr>
            <a:r>
              <a:rPr lang="en-US" sz="1000" dirty="0">
                <a:solidFill>
                  <a:srgbClr val="171714"/>
                </a:solidFill>
                <a:latin typeface="MiSans Normal" pitchFamily="2" charset="-122"/>
                <a:ea typeface="MiSans Normal" pitchFamily="2" charset="-122"/>
                <a:cs typeface="Jost" pitchFamily="34" charset="-120"/>
              </a:rPr>
              <a:t>家庭/蜜月专属，满足不同支付力客群，制造“升舱动机”提高 ARPU</a:t>
            </a:r>
            <a:endParaRPr lang="en-US" sz="975" dirty="0">
              <a:latin typeface="MiSans Normal" pitchFamily="2" charset="-122"/>
              <a:ea typeface="MiSans Normal"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1714"/>
        </a:solidFill>
        <a:effectLst/>
      </p:bgPr>
    </p:bg>
    <p:spTree>
      <p:nvGrpSpPr>
        <p:cNvPr id="1" name=""/>
        <p:cNvGrpSpPr/>
        <p:nvPr/>
      </p:nvGrpSpPr>
      <p:grpSpPr>
        <a:xfrm>
          <a:off x="0" y="0"/>
          <a:ext cx="0" cy="0"/>
          <a:chOff x="0" y="0"/>
          <a:chExt cx="0" cy="0"/>
        </a:xfrm>
      </p:grpSpPr>
      <p:sp>
        <p:nvSpPr>
          <p:cNvPr id="3" name="Text 0"/>
          <p:cNvSpPr/>
          <p:nvPr/>
        </p:nvSpPr>
        <p:spPr>
          <a:xfrm>
            <a:off x="2919415" y="521857"/>
            <a:ext cx="6032866" cy="4383518"/>
          </a:xfrm>
          <a:prstGeom prst="roundRect">
            <a:avLst>
              <a:gd name="adj" fmla="val 807"/>
            </a:avLst>
          </a:prstGeom>
          <a:solidFill>
            <a:srgbClr val="FBF5D1"/>
          </a:solidFill>
          <a:ln/>
        </p:spPr>
        <p:txBody>
          <a:bodyPr wrap="square" lIns="335159" tIns="517499" rIns="335159" bIns="517499" rtlCol="0" anchor="ctr"/>
          <a:lstStyle/>
          <a:p>
            <a:pPr algn="ctr">
              <a:lnSpc>
                <a:spcPts val="1560"/>
              </a:lnSpc>
            </a:pPr>
            <a:endParaRPr lang="en-US" sz="975" dirty="0"/>
          </a:p>
        </p:txBody>
      </p:sp>
      <p:sp>
        <p:nvSpPr>
          <p:cNvPr id="4" name="Shape 1"/>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5" name="Shape 2"/>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6" name="Text 3"/>
          <p:cNvSpPr/>
          <p:nvPr/>
        </p:nvSpPr>
        <p:spPr>
          <a:xfrm>
            <a:off x="188366" y="661197"/>
            <a:ext cx="2619338" cy="357188"/>
          </a:xfrm>
          <a:prstGeom prst="rect">
            <a:avLst/>
          </a:prstGeom>
          <a:noFill/>
          <a:ln/>
        </p:spPr>
        <p:txBody>
          <a:bodyPr wrap="square" lIns="0" tIns="0" rIns="0" bIns="0" rtlCol="0" anchor="t"/>
          <a:lstStyle/>
          <a:p>
            <a:pPr algn="l">
              <a:lnSpc>
                <a:spcPts val="2813"/>
              </a:lnSpc>
            </a:pPr>
            <a:r>
              <a:rPr lang="en-US" sz="2300" dirty="0">
                <a:solidFill>
                  <a:srgbClr val="FFFFFF"/>
                </a:solidFill>
                <a:latin typeface="MiSans Demibold" pitchFamily="2" charset="-122"/>
                <a:ea typeface="MiSans Demibold" pitchFamily="2" charset="-122"/>
                <a:cs typeface="思源黑体" pitchFamily="34" charset="-120"/>
              </a:rPr>
              <a:t>资源分配</a:t>
            </a:r>
            <a:endParaRPr lang="en-US" sz="2250" dirty="0">
              <a:latin typeface="MiSans Demibold" pitchFamily="2" charset="-122"/>
              <a:ea typeface="MiSans Demibold" pitchFamily="2" charset="-122"/>
            </a:endParaRPr>
          </a:p>
        </p:txBody>
      </p:sp>
      <p:sp>
        <p:nvSpPr>
          <p:cNvPr id="7" name="Text 4"/>
          <p:cNvSpPr/>
          <p:nvPr/>
        </p:nvSpPr>
        <p:spPr>
          <a:xfrm>
            <a:off x="190500" y="272673"/>
            <a:ext cx="2735498" cy="119063"/>
          </a:xfrm>
          <a:prstGeom prst="rect">
            <a:avLst/>
          </a:prstGeom>
          <a:noFill/>
          <a:ln/>
        </p:spPr>
        <p:txBody>
          <a:bodyPr wrap="square" lIns="0" tIns="0" rIns="0" bIns="0" rtlCol="0" anchor="b"/>
          <a:lstStyle/>
          <a:p>
            <a:pPr algn="l">
              <a:lnSpc>
                <a:spcPts val="938"/>
              </a:lnSpc>
            </a:pPr>
            <a:r>
              <a:rPr lang="en-US" sz="800" spc="300" dirty="0">
                <a:solidFill>
                  <a:srgbClr val="FFFFFF"/>
                </a:solidFill>
                <a:latin typeface="MiSans Demibold" pitchFamily="2" charset="-122"/>
                <a:ea typeface="MiSans Demibold" pitchFamily="2" charset="-122"/>
                <a:cs typeface="Helmet" pitchFamily="34" charset="-120"/>
              </a:rPr>
              <a:t>资源分配</a:t>
            </a:r>
            <a:endParaRPr lang="en-US" sz="750" spc="300" dirty="0">
              <a:latin typeface="MiSans Demibold" pitchFamily="2" charset="-122"/>
              <a:ea typeface="MiSans Demibold" pitchFamily="2" charset="-122"/>
            </a:endParaRPr>
          </a:p>
        </p:txBody>
      </p:sp>
      <p:sp>
        <p:nvSpPr>
          <p:cNvPr id="8" name="Text 5"/>
          <p:cNvSpPr/>
          <p:nvPr/>
        </p:nvSpPr>
        <p:spPr>
          <a:xfrm>
            <a:off x="188403" y="1856990"/>
            <a:ext cx="2331773" cy="1562713"/>
          </a:xfrm>
          <a:prstGeom prst="rect">
            <a:avLst/>
          </a:prstGeom>
          <a:noFill/>
          <a:ln/>
        </p:spPr>
        <p:txBody>
          <a:bodyPr wrap="square" lIns="0" tIns="0" rIns="0" bIns="0" rtlCol="0" anchor="t"/>
          <a:lstStyle/>
          <a:p>
            <a:pPr algn="l">
              <a:lnSpc>
                <a:spcPct val="150000"/>
              </a:lnSpc>
            </a:pPr>
            <a:r>
              <a:rPr lang="en-US" sz="1000" dirty="0">
                <a:solidFill>
                  <a:srgbClr val="FFFFFF"/>
                </a:solidFill>
                <a:latin typeface="MiSans" pitchFamily="2" charset="-122"/>
                <a:ea typeface="MiSans" pitchFamily="2" charset="-122"/>
                <a:cs typeface="思源黑体" pitchFamily="34" charset="-120"/>
              </a:rPr>
              <a:t>资金主要用于加快直营/</a:t>
            </a:r>
            <a:r>
              <a:rPr lang="en-US" sz="1000" dirty="0" err="1">
                <a:solidFill>
                  <a:srgbClr val="FFFFFF"/>
                </a:solidFill>
                <a:latin typeface="MiSans" pitchFamily="2" charset="-122"/>
                <a:ea typeface="MiSans" pitchFamily="2" charset="-122"/>
                <a:cs typeface="思源黑体" pitchFamily="34" charset="-120"/>
              </a:rPr>
              <a:t>标杆联营营地布局叠加品牌投放与数字化运营体系建设，快速确立区域头部品牌地位</a:t>
            </a:r>
            <a:r>
              <a:rPr lang="en-US" sz="1000" dirty="0">
                <a:solidFill>
                  <a:srgbClr val="FFFFFF"/>
                </a:solidFill>
                <a:latin typeface="MiSans" pitchFamily="2" charset="-122"/>
                <a:ea typeface="MiSans" pitchFamily="2" charset="-122"/>
                <a:cs typeface="思源黑体" pitchFamily="34" charset="-120"/>
              </a:rPr>
              <a:t>。</a:t>
            </a:r>
            <a:endParaRPr lang="en-US" sz="975" dirty="0">
              <a:latin typeface="MiSans" pitchFamily="2" charset="-122"/>
              <a:ea typeface="MiSans" pitchFamily="2" charset="-122"/>
            </a:endParaRPr>
          </a:p>
        </p:txBody>
      </p:sp>
      <p:graphicFrame>
        <p:nvGraphicFramePr>
          <p:cNvPr id="10" name="Chart 0"/>
          <p:cNvGraphicFramePr/>
          <p:nvPr>
            <p:extLst>
              <p:ext uri="{D42A27DB-BD31-4B8C-83A1-F6EECF244321}">
                <p14:modId xmlns:p14="http://schemas.microsoft.com/office/powerpoint/2010/main" val="72905178"/>
              </p:ext>
            </p:extLst>
          </p:nvPr>
        </p:nvGraphicFramePr>
        <p:xfrm>
          <a:off x="4322026" y="733393"/>
          <a:ext cx="3498695" cy="396044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1714"/>
        </a:solidFill>
        <a:effectLst/>
      </p:bgPr>
    </p:bg>
    <p:spTree>
      <p:nvGrpSpPr>
        <p:cNvPr id="1" name=""/>
        <p:cNvGrpSpPr/>
        <p:nvPr/>
      </p:nvGrpSpPr>
      <p:grpSpPr>
        <a:xfrm>
          <a:off x="0" y="0"/>
          <a:ext cx="0" cy="0"/>
          <a:chOff x="0" y="0"/>
          <a:chExt cx="0" cy="0"/>
        </a:xfrm>
      </p:grpSpPr>
      <p:sp>
        <p:nvSpPr>
          <p:cNvPr id="3" name="Shape 0"/>
          <p:cNvSpPr/>
          <p:nvPr/>
        </p:nvSpPr>
        <p:spPr>
          <a:xfrm>
            <a:off x="188555" y="1776576"/>
            <a:ext cx="8763726" cy="3128799"/>
          </a:xfrm>
          <a:prstGeom prst="roundRect">
            <a:avLst>
              <a:gd name="adj" fmla="val 1461"/>
            </a:avLst>
          </a:prstGeom>
          <a:solidFill>
            <a:srgbClr val="FBF5D1"/>
          </a:solidFill>
          <a:ln/>
        </p:spPr>
        <p:txBody>
          <a:bodyPr/>
          <a:lstStyle/>
          <a:p>
            <a:endParaRPr lang="zh-CN" altLang="en-US"/>
          </a:p>
        </p:txBody>
      </p:sp>
      <p:sp>
        <p:nvSpPr>
          <p:cNvPr id="4" name="Shape 1"/>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5" name="Shape 2"/>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6" name="Text 3"/>
          <p:cNvSpPr/>
          <p:nvPr/>
        </p:nvSpPr>
        <p:spPr>
          <a:xfrm>
            <a:off x="188403" y="714375"/>
            <a:ext cx="4383597" cy="769614"/>
          </a:xfrm>
          <a:prstGeom prst="rect">
            <a:avLst/>
          </a:prstGeom>
          <a:noFill/>
          <a:ln/>
        </p:spPr>
        <p:txBody>
          <a:bodyPr wrap="square" lIns="0" tIns="0" rIns="0" bIns="0" rtlCol="0" anchor="t"/>
          <a:lstStyle/>
          <a:p>
            <a:pPr algn="l">
              <a:lnSpc>
                <a:spcPts val="2813"/>
              </a:lnSpc>
            </a:pPr>
            <a:r>
              <a:rPr lang="en-US" sz="2300" dirty="0" err="1">
                <a:solidFill>
                  <a:srgbClr val="FFFFFF"/>
                </a:solidFill>
                <a:latin typeface="MiSans Semibold" pitchFamily="2" charset="-122"/>
                <a:ea typeface="MiSans Semibold" pitchFamily="2" charset="-122"/>
                <a:cs typeface="思源黑体" pitchFamily="34" charset="-120"/>
              </a:rPr>
              <a:t>近</a:t>
            </a:r>
            <a:r>
              <a:rPr lang="zh-CN" altLang="en-US" sz="2300" dirty="0">
                <a:solidFill>
                  <a:srgbClr val="FFFFFF"/>
                </a:solidFill>
                <a:latin typeface="MiSans Semibold" pitchFamily="2" charset="-122"/>
                <a:ea typeface="MiSans Semibold" pitchFamily="2" charset="-122"/>
                <a:cs typeface="思源黑体" pitchFamily="34" charset="-120"/>
              </a:rPr>
              <a:t> </a:t>
            </a:r>
            <a:r>
              <a:rPr lang="en-US" sz="2600" dirty="0">
                <a:solidFill>
                  <a:srgbClr val="FFFFFF"/>
                </a:solidFill>
                <a:latin typeface="MiSans Semibold" pitchFamily="2" charset="-122"/>
                <a:ea typeface="MiSans Semibold" pitchFamily="2" charset="-122"/>
                <a:cs typeface="思源黑体" pitchFamily="34" charset="-120"/>
              </a:rPr>
              <a:t>7</a:t>
            </a:r>
            <a:r>
              <a:rPr lang="zh-CN" altLang="en-US" sz="2600" dirty="0">
                <a:solidFill>
                  <a:srgbClr val="FFFFFF"/>
                </a:solidFill>
                <a:latin typeface="MiSans Semibold" pitchFamily="2" charset="-122"/>
                <a:ea typeface="MiSans Semibold" pitchFamily="2" charset="-122"/>
                <a:cs typeface="思源黑体" pitchFamily="34" charset="-120"/>
              </a:rPr>
              <a:t> </a:t>
            </a:r>
            <a:r>
              <a:rPr lang="en-US" sz="2300" dirty="0" err="1">
                <a:solidFill>
                  <a:srgbClr val="FFFFFF"/>
                </a:solidFill>
                <a:latin typeface="MiSans Semibold" pitchFamily="2" charset="-122"/>
                <a:ea typeface="MiSans Semibold" pitchFamily="2" charset="-122"/>
                <a:cs typeface="思源黑体" pitchFamily="34" charset="-120"/>
              </a:rPr>
              <a:t>个月的运营数据</a:t>
            </a:r>
            <a:endParaRPr lang="en-US" sz="2250" dirty="0">
              <a:latin typeface="MiSans Semibold" pitchFamily="2" charset="-122"/>
              <a:ea typeface="MiSans Semibold" pitchFamily="2" charset="-122"/>
            </a:endParaRPr>
          </a:p>
        </p:txBody>
      </p:sp>
      <p:sp>
        <p:nvSpPr>
          <p:cNvPr id="7" name="Text 4"/>
          <p:cNvSpPr/>
          <p:nvPr/>
        </p:nvSpPr>
        <p:spPr>
          <a:xfrm>
            <a:off x="190500" y="272673"/>
            <a:ext cx="3810000" cy="119062"/>
          </a:xfrm>
          <a:prstGeom prst="rect">
            <a:avLst/>
          </a:prstGeom>
          <a:noFill/>
          <a:ln/>
        </p:spPr>
        <p:txBody>
          <a:bodyPr wrap="square" lIns="0" tIns="0" rIns="0" bIns="0" rtlCol="0" anchor="b"/>
          <a:lstStyle/>
          <a:p>
            <a:pPr algn="l">
              <a:lnSpc>
                <a:spcPts val="938"/>
              </a:lnSpc>
            </a:pPr>
            <a:r>
              <a:rPr lang="en-US" sz="800" spc="300" dirty="0">
                <a:solidFill>
                  <a:srgbClr val="FFFFFF"/>
                </a:solidFill>
                <a:latin typeface="MiSans Medium" pitchFamily="2" charset="-122"/>
                <a:ea typeface="MiSans Medium" pitchFamily="2" charset="-122"/>
                <a:cs typeface="思源黑体" pitchFamily="34" charset="-120"/>
              </a:rPr>
              <a:t>运营数据与进展</a:t>
            </a:r>
            <a:endParaRPr lang="en-US" sz="750" spc="300" dirty="0">
              <a:latin typeface="MiSans Medium" pitchFamily="2" charset="-122"/>
              <a:ea typeface="MiSans Medium" pitchFamily="2" charset="-122"/>
            </a:endParaRPr>
          </a:p>
        </p:txBody>
      </p:sp>
      <p:sp>
        <p:nvSpPr>
          <p:cNvPr id="8" name="Text 5"/>
          <p:cNvSpPr/>
          <p:nvPr/>
        </p:nvSpPr>
        <p:spPr>
          <a:xfrm>
            <a:off x="5606322" y="714375"/>
            <a:ext cx="3345960" cy="750847"/>
          </a:xfrm>
          <a:prstGeom prst="rect">
            <a:avLst/>
          </a:prstGeom>
          <a:noFill/>
          <a:ln/>
        </p:spPr>
        <p:txBody>
          <a:bodyPr wrap="square" lIns="0" tIns="0" rIns="0" bIns="0" rtlCol="0" anchor="t"/>
          <a:lstStyle/>
          <a:p>
            <a:pPr>
              <a:lnSpc>
                <a:spcPts val="1680"/>
              </a:lnSpc>
            </a:pPr>
            <a:r>
              <a:rPr lang="en-US" sz="1000" dirty="0">
                <a:solidFill>
                  <a:srgbClr val="FFFFFF"/>
                </a:solidFill>
                <a:latin typeface="MiSans ExtraLight" pitchFamily="2" charset="-122"/>
                <a:ea typeface="MiSans ExtraLight" pitchFamily="2" charset="-122"/>
                <a:cs typeface="Jost" pitchFamily="34" charset="-120"/>
              </a:rPr>
              <a:t>近 7 </a:t>
            </a:r>
            <a:r>
              <a:rPr lang="en-US" sz="1000" dirty="0" err="1">
                <a:solidFill>
                  <a:srgbClr val="FFFFFF"/>
                </a:solidFill>
                <a:latin typeface="MiSans ExtraLight" pitchFamily="2" charset="-122"/>
                <a:ea typeface="MiSans ExtraLight" pitchFamily="2" charset="-122"/>
                <a:cs typeface="Jost" pitchFamily="34" charset="-120"/>
              </a:rPr>
              <a:t>个月的运营数据向好</a:t>
            </a:r>
            <a:r>
              <a:rPr lang="en-US" sz="1000" dirty="0">
                <a:solidFill>
                  <a:srgbClr val="FFFFFF"/>
                </a:solidFill>
                <a:latin typeface="MiSans ExtraLight" pitchFamily="2" charset="-122"/>
                <a:ea typeface="MiSans ExtraLight" pitchFamily="2" charset="-122"/>
                <a:cs typeface="Jost" pitchFamily="34" charset="-120"/>
              </a:rPr>
              <a:t>，</a:t>
            </a:r>
            <a:r>
              <a:rPr lang="en-US" altLang="zh-CN" sz="1000" dirty="0">
                <a:solidFill>
                  <a:srgbClr val="FFFFFF"/>
                </a:solidFill>
                <a:latin typeface="MiSans ExtraLight" pitchFamily="2" charset="-122"/>
                <a:ea typeface="MiSans ExtraLight" pitchFamily="2" charset="-122"/>
                <a:cs typeface="Jost" pitchFamily="34" charset="-120"/>
              </a:rPr>
              <a:t> </a:t>
            </a:r>
            <a:r>
              <a:rPr lang="en-US" altLang="zh-CN" sz="1000" dirty="0" err="1">
                <a:solidFill>
                  <a:srgbClr val="FFFFFF"/>
                </a:solidFill>
                <a:latin typeface="MiSans ExtraLight" pitchFamily="2" charset="-122"/>
                <a:ea typeface="MiSans ExtraLight" pitchFamily="2" charset="-122"/>
                <a:cs typeface="Jost" pitchFamily="34" charset="-120"/>
              </a:rPr>
              <a:t>已经明显快速确立各个区域头部品牌地位</a:t>
            </a:r>
            <a:r>
              <a:rPr lang="zh-CN" altLang="en-US" sz="1000" dirty="0">
                <a:solidFill>
                  <a:srgbClr val="FFFFFF"/>
                </a:solidFill>
                <a:latin typeface="MiSans ExtraLight" pitchFamily="2" charset="-122"/>
                <a:ea typeface="MiSans ExtraLight" pitchFamily="2" charset="-122"/>
                <a:cs typeface="Jost" pitchFamily="34" charset="-120"/>
              </a:rPr>
              <a:t>，</a:t>
            </a:r>
            <a:r>
              <a:rPr lang="en-US" altLang="zh-CN" sz="1000" dirty="0" err="1">
                <a:solidFill>
                  <a:srgbClr val="FFFFFF"/>
                </a:solidFill>
                <a:latin typeface="MiSans ExtraLight" pitchFamily="2" charset="-122"/>
                <a:ea typeface="MiSans ExtraLight" pitchFamily="2" charset="-122"/>
                <a:cs typeface="Jost" pitchFamily="34" charset="-120"/>
              </a:rPr>
              <a:t>已经明显快速确立各个区域头部品牌地位</a:t>
            </a:r>
            <a:r>
              <a:rPr lang="en-US" altLang="zh-CN" sz="1000" dirty="0">
                <a:solidFill>
                  <a:srgbClr val="FFFFFF"/>
                </a:solidFill>
                <a:latin typeface="MiSans ExtraLight" pitchFamily="2" charset="-122"/>
                <a:ea typeface="MiSans ExtraLight" pitchFamily="2" charset="-122"/>
                <a:cs typeface="Jost" pitchFamily="34" charset="-120"/>
              </a:rPr>
              <a:t>。</a:t>
            </a:r>
            <a:endParaRPr lang="en-US" sz="1000" dirty="0">
              <a:latin typeface="MiSans ExtraLight" pitchFamily="2" charset="-122"/>
              <a:ea typeface="MiSans ExtraLight" pitchFamily="2" charset="-122"/>
            </a:endParaRPr>
          </a:p>
        </p:txBody>
      </p:sp>
      <p:graphicFrame>
        <p:nvGraphicFramePr>
          <p:cNvPr id="14" name="Table 0"/>
          <p:cNvGraphicFramePr>
            <a:graphicFrameLocks noGrp="1"/>
          </p:cNvGraphicFramePr>
          <p:nvPr>
            <p:extLst>
              <p:ext uri="{D42A27DB-BD31-4B8C-83A1-F6EECF244321}">
                <p14:modId xmlns:p14="http://schemas.microsoft.com/office/powerpoint/2010/main" val="1148733752"/>
              </p:ext>
            </p:extLst>
          </p:nvPr>
        </p:nvGraphicFramePr>
        <p:xfrm>
          <a:off x="287605" y="1857839"/>
          <a:ext cx="8476656" cy="2926856"/>
        </p:xfrm>
        <a:graphic>
          <a:graphicData uri="http://schemas.openxmlformats.org/drawingml/2006/table">
            <a:tbl>
              <a:tblPr/>
              <a:tblGrid>
                <a:gridCol w="1059582">
                  <a:extLst>
                    <a:ext uri="{9D8B030D-6E8A-4147-A177-3AD203B41FA5}">
                      <a16:colId xmlns:a16="http://schemas.microsoft.com/office/drawing/2014/main" val="20000"/>
                    </a:ext>
                  </a:extLst>
                </a:gridCol>
                <a:gridCol w="1059582">
                  <a:extLst>
                    <a:ext uri="{9D8B030D-6E8A-4147-A177-3AD203B41FA5}">
                      <a16:colId xmlns:a16="http://schemas.microsoft.com/office/drawing/2014/main" val="20001"/>
                    </a:ext>
                  </a:extLst>
                </a:gridCol>
                <a:gridCol w="1059582">
                  <a:extLst>
                    <a:ext uri="{9D8B030D-6E8A-4147-A177-3AD203B41FA5}">
                      <a16:colId xmlns:a16="http://schemas.microsoft.com/office/drawing/2014/main" val="20002"/>
                    </a:ext>
                  </a:extLst>
                </a:gridCol>
                <a:gridCol w="1059582">
                  <a:extLst>
                    <a:ext uri="{9D8B030D-6E8A-4147-A177-3AD203B41FA5}">
                      <a16:colId xmlns:a16="http://schemas.microsoft.com/office/drawing/2014/main" val="20003"/>
                    </a:ext>
                  </a:extLst>
                </a:gridCol>
                <a:gridCol w="1059582">
                  <a:extLst>
                    <a:ext uri="{9D8B030D-6E8A-4147-A177-3AD203B41FA5}">
                      <a16:colId xmlns:a16="http://schemas.microsoft.com/office/drawing/2014/main" val="20004"/>
                    </a:ext>
                  </a:extLst>
                </a:gridCol>
                <a:gridCol w="1059582">
                  <a:extLst>
                    <a:ext uri="{9D8B030D-6E8A-4147-A177-3AD203B41FA5}">
                      <a16:colId xmlns:a16="http://schemas.microsoft.com/office/drawing/2014/main" val="20005"/>
                    </a:ext>
                  </a:extLst>
                </a:gridCol>
                <a:gridCol w="1059582">
                  <a:extLst>
                    <a:ext uri="{9D8B030D-6E8A-4147-A177-3AD203B41FA5}">
                      <a16:colId xmlns:a16="http://schemas.microsoft.com/office/drawing/2014/main" val="20006"/>
                    </a:ext>
                  </a:extLst>
                </a:gridCol>
                <a:gridCol w="1059582">
                  <a:extLst>
                    <a:ext uri="{9D8B030D-6E8A-4147-A177-3AD203B41FA5}">
                      <a16:colId xmlns:a16="http://schemas.microsoft.com/office/drawing/2014/main" val="20007"/>
                    </a:ext>
                  </a:extLst>
                </a:gridCol>
              </a:tblGrid>
              <a:tr h="731714">
                <a:tc>
                  <a:txBody>
                    <a:bodyPr/>
                    <a:lstStyle/>
                    <a:p>
                      <a:pPr algn="ct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1 </a:t>
                      </a:r>
                      <a:r>
                        <a:rPr lang="en-US" sz="800" b="0" i="0" dirty="0" err="1">
                          <a:solidFill>
                            <a:srgbClr val="000000"/>
                          </a:solidFill>
                          <a:latin typeface="MiSans Demibold" pitchFamily="2" charset="-122"/>
                          <a:ea typeface="MiSans Demibold" pitchFamily="2" charset="-122"/>
                          <a:cs typeface="思源黑体" pitchFamily="34" charset="-120"/>
                        </a:rPr>
                        <a:t>月</a:t>
                      </a:r>
                      <a:r>
                        <a:rPr lang="zh-CN" altLang="en-US" sz="800" b="0" i="0" dirty="0">
                          <a:solidFill>
                            <a:srgbClr val="000000"/>
                          </a:solidFill>
                          <a:latin typeface="MiSans Demibold" pitchFamily="2" charset="-122"/>
                          <a:ea typeface="MiSans Demibold" pitchFamily="2" charset="-122"/>
                          <a:cs typeface="思源黑体" pitchFamily="34" charset="-120"/>
                        </a:rPr>
                        <a:t> </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altLang="zh-CN" sz="800" b="0" i="0" dirty="0">
                          <a:solidFill>
                            <a:srgbClr val="000000"/>
                          </a:solidFill>
                          <a:latin typeface="MiSans Demibold" pitchFamily="2" charset="-122"/>
                          <a:ea typeface="MiSans Demibold" pitchFamily="2" charset="-122"/>
                          <a:cs typeface="思源黑体" pitchFamily="34" charset="-120"/>
                        </a:rPr>
                        <a:t>2 </a:t>
                      </a:r>
                      <a:r>
                        <a:rPr lang="en-US" altLang="zh-CN" sz="800" b="0" i="0" dirty="0" err="1">
                          <a:solidFill>
                            <a:srgbClr val="000000"/>
                          </a:solidFill>
                          <a:latin typeface="MiSans Demibold" pitchFamily="2" charset="-122"/>
                          <a:ea typeface="MiSans Demibold" pitchFamily="2" charset="-122"/>
                          <a:cs typeface="思源黑体" pitchFamily="34" charset="-120"/>
                        </a:rPr>
                        <a:t>月</a:t>
                      </a:r>
                      <a:endParaRPr lang="en-US" altLang="zh-CN"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3 </a:t>
                      </a:r>
                      <a:r>
                        <a:rPr lang="en-US" sz="800" b="0" i="0" dirty="0" err="1">
                          <a:solidFill>
                            <a:srgbClr val="000000"/>
                          </a:solidFill>
                          <a:latin typeface="MiSans Demibold" pitchFamily="2" charset="-122"/>
                          <a:ea typeface="MiSans Demibold" pitchFamily="2" charset="-122"/>
                          <a:cs typeface="思源黑体" pitchFamily="34" charset="-120"/>
                        </a:rPr>
                        <a:t>月</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4 月</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5 月</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6 月</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7 月</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extLst>
                  <a:ext uri="{0D108BD9-81ED-4DB2-BD59-A6C34878D82A}">
                    <a16:rowId xmlns:a16="http://schemas.microsoft.com/office/drawing/2014/main" val="10000"/>
                  </a:ext>
                </a:extLst>
              </a:tr>
              <a:tr h="731714">
                <a:tc>
                  <a:txBody>
                    <a:bodyPr/>
                    <a:lstStyle/>
                    <a:p>
                      <a:pPr algn="ctr"/>
                      <a:r>
                        <a:rPr lang="en-US" sz="800" b="0" i="0" dirty="0" err="1">
                          <a:solidFill>
                            <a:srgbClr val="000000"/>
                          </a:solidFill>
                          <a:latin typeface="MiSans Demibold" pitchFamily="2" charset="-122"/>
                          <a:ea typeface="MiSans Demibold" pitchFamily="2" charset="-122"/>
                          <a:cs typeface="思源黑体" pitchFamily="34" charset="-120"/>
                        </a:rPr>
                        <a:t>深圳试点</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100%</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95%</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94%</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89%</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89%</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83%</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83%</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extLst>
                  <a:ext uri="{0D108BD9-81ED-4DB2-BD59-A6C34878D82A}">
                    <a16:rowId xmlns:a16="http://schemas.microsoft.com/office/drawing/2014/main" val="10001"/>
                  </a:ext>
                </a:extLst>
              </a:tr>
              <a:tr h="731714">
                <a:tc>
                  <a:txBody>
                    <a:bodyPr/>
                    <a:lstStyle/>
                    <a:p>
                      <a:pPr algn="ctr"/>
                      <a:r>
                        <a:rPr lang="en-US" sz="800" b="0" i="0" dirty="0" err="1">
                          <a:solidFill>
                            <a:srgbClr val="000000"/>
                          </a:solidFill>
                          <a:latin typeface="MiSans Demibold" pitchFamily="2" charset="-122"/>
                          <a:ea typeface="MiSans Demibold" pitchFamily="2" charset="-122"/>
                          <a:cs typeface="思源黑体" pitchFamily="34" charset="-120"/>
                        </a:rPr>
                        <a:t>广州试点</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100%</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96%</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94%</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93%</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91%</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91%</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91%</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extLst>
                  <a:ext uri="{0D108BD9-81ED-4DB2-BD59-A6C34878D82A}">
                    <a16:rowId xmlns:a16="http://schemas.microsoft.com/office/drawing/2014/main" val="10002"/>
                  </a:ext>
                </a:extLst>
              </a:tr>
              <a:tr h="731714">
                <a:tc>
                  <a:txBody>
                    <a:bodyPr/>
                    <a:lstStyle/>
                    <a:p>
                      <a:pPr algn="ctr"/>
                      <a:r>
                        <a:rPr lang="en-US" sz="800" b="0" i="0" dirty="0" err="1">
                          <a:solidFill>
                            <a:srgbClr val="000000"/>
                          </a:solidFill>
                          <a:latin typeface="MiSans Demibold" pitchFamily="2" charset="-122"/>
                          <a:ea typeface="MiSans Demibold" pitchFamily="2" charset="-122"/>
                          <a:cs typeface="思源黑体" pitchFamily="34" charset="-120"/>
                        </a:rPr>
                        <a:t>惠州试点</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100%</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98%</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97%</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97%</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94%</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93%</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tc>
                  <a:txBody>
                    <a:bodyPr/>
                    <a:lstStyle/>
                    <a:p>
                      <a:pPr algn="ctr"/>
                      <a:r>
                        <a:rPr lang="en-US" sz="800" b="0" i="0" dirty="0">
                          <a:solidFill>
                            <a:srgbClr val="000000"/>
                          </a:solidFill>
                          <a:latin typeface="MiSans Demibold" pitchFamily="2" charset="-122"/>
                          <a:ea typeface="MiSans Demibold" pitchFamily="2" charset="-122"/>
                          <a:cs typeface="思源黑体" pitchFamily="34" charset="-120"/>
                        </a:rPr>
                        <a:t>93%</a:t>
                      </a:r>
                      <a:endParaRPr lang="en-US" sz="825" b="0" i="0" dirty="0">
                        <a:latin typeface="MiSans Demibold" pitchFamily="2" charset="-122"/>
                        <a:ea typeface="MiSans Demibold" pitchFamily="2" charset="-122"/>
                        <a:cs typeface="思源黑体" charset="0"/>
                      </a:endParaRPr>
                    </a:p>
                  </a:txBody>
                  <a:tcPr marL="52388" marR="52388" marT="52388" marB="52388" anchor="ctr">
                    <a:lnL w="9525" cap="flat" cmpd="sng" algn="ctr">
                      <a:solidFill>
                        <a:srgbClr val="000000">
                          <a:alpha val="5000"/>
                        </a:srgbClr>
                      </a:solidFill>
                      <a:prstDash val="solid"/>
                      <a:round/>
                      <a:headEnd type="none" w="med" len="med"/>
                      <a:tailEnd type="none" w="med" len="med"/>
                    </a:lnL>
                    <a:lnR w="9525" cap="flat" cmpd="sng" algn="ctr">
                      <a:solidFill>
                        <a:srgbClr val="000000">
                          <a:alpha val="5000"/>
                        </a:srgbClr>
                      </a:solidFill>
                      <a:prstDash val="solid"/>
                      <a:round/>
                      <a:headEnd type="none" w="med" len="med"/>
                      <a:tailEnd type="none" w="med" len="med"/>
                    </a:lnR>
                    <a:lnT w="9525" cap="flat" cmpd="sng" algn="ctr">
                      <a:solidFill>
                        <a:srgbClr val="000000">
                          <a:alpha val="5000"/>
                        </a:srgbClr>
                      </a:solidFill>
                      <a:prstDash val="solid"/>
                      <a:round/>
                      <a:headEnd type="none" w="med" len="med"/>
                      <a:tailEnd type="none" w="med" len="med"/>
                    </a:lnT>
                    <a:lnB w="9525" cap="flat" cmpd="sng" algn="ctr">
                      <a:solidFill>
                        <a:srgbClr val="000000">
                          <a:alpha val="5000"/>
                        </a:srgbClr>
                      </a:solidFill>
                      <a:prstDash val="solid"/>
                      <a:round/>
                      <a:headEnd type="none" w="med" len="med"/>
                      <a:tailEnd type="none" w="med" len="med"/>
                    </a:lnB>
                    <a:solidFill>
                      <a:srgbClr val="171714">
                        <a:alpha val="0"/>
                      </a:srgb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1714"/>
        </a:solidFill>
        <a:effectLst/>
      </p:bgPr>
    </p:bg>
    <p:spTree>
      <p:nvGrpSpPr>
        <p:cNvPr id="1" name=""/>
        <p:cNvGrpSpPr/>
        <p:nvPr/>
      </p:nvGrpSpPr>
      <p:grpSpPr>
        <a:xfrm>
          <a:off x="0" y="0"/>
          <a:ext cx="0" cy="0"/>
          <a:chOff x="0" y="0"/>
          <a:chExt cx="0" cy="0"/>
        </a:xfrm>
      </p:grpSpPr>
      <p:sp>
        <p:nvSpPr>
          <p:cNvPr id="3" name="Shape 0"/>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latin typeface="MiSans Demibold" pitchFamily="2" charset="-122"/>
              <a:ea typeface="MiSans Demibold" pitchFamily="2" charset="-122"/>
            </a:endParaRPr>
          </a:p>
        </p:txBody>
      </p:sp>
      <p:sp>
        <p:nvSpPr>
          <p:cNvPr id="4" name="Shape 1"/>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latin typeface="MiSans Demibold" pitchFamily="2" charset="-122"/>
              <a:ea typeface="MiSans Demibold" pitchFamily="2" charset="-122"/>
            </a:endParaRPr>
          </a:p>
        </p:txBody>
      </p:sp>
      <p:sp>
        <p:nvSpPr>
          <p:cNvPr id="5" name="Text 2"/>
          <p:cNvSpPr/>
          <p:nvPr/>
        </p:nvSpPr>
        <p:spPr>
          <a:xfrm>
            <a:off x="188366" y="713917"/>
            <a:ext cx="5238750" cy="1324737"/>
          </a:xfrm>
          <a:prstGeom prst="rect">
            <a:avLst/>
          </a:prstGeom>
          <a:noFill/>
          <a:ln/>
        </p:spPr>
        <p:txBody>
          <a:bodyPr wrap="square" lIns="0" tIns="0" rIns="0" bIns="0" rtlCol="0" anchor="t"/>
          <a:lstStyle/>
          <a:p>
            <a:pPr algn="l"/>
            <a:r>
              <a:rPr lang="en-US" sz="2300" dirty="0">
                <a:solidFill>
                  <a:srgbClr val="FFFFFF"/>
                </a:solidFill>
                <a:latin typeface="MiSans Demibold" pitchFamily="2" charset="-122"/>
                <a:ea typeface="MiSans Demibold" pitchFamily="2" charset="-122"/>
                <a:cs typeface="思源黑体" pitchFamily="34" charset="-120"/>
              </a:rPr>
              <a:t>公司关键数据展示</a:t>
            </a:r>
            <a:endParaRPr lang="en-US" sz="2250" dirty="0">
              <a:latin typeface="MiSans Demibold" pitchFamily="2" charset="-122"/>
              <a:ea typeface="MiSans Demibold" pitchFamily="2" charset="-122"/>
            </a:endParaRPr>
          </a:p>
        </p:txBody>
      </p:sp>
      <p:sp>
        <p:nvSpPr>
          <p:cNvPr id="6" name="Text 3"/>
          <p:cNvSpPr/>
          <p:nvPr/>
        </p:nvSpPr>
        <p:spPr>
          <a:xfrm>
            <a:off x="190500" y="272673"/>
            <a:ext cx="3809963" cy="119062"/>
          </a:xfrm>
          <a:prstGeom prst="rect">
            <a:avLst/>
          </a:prstGeom>
          <a:noFill/>
          <a:ln/>
        </p:spPr>
        <p:txBody>
          <a:bodyPr wrap="square" lIns="0" tIns="0" rIns="0" bIns="0" rtlCol="0" anchor="b"/>
          <a:lstStyle/>
          <a:p>
            <a:pPr algn="l">
              <a:lnSpc>
                <a:spcPts val="938"/>
              </a:lnSpc>
            </a:pPr>
            <a:r>
              <a:rPr lang="en-US" sz="800" spc="300" dirty="0">
                <a:solidFill>
                  <a:srgbClr val="FFFFFF"/>
                </a:solidFill>
                <a:latin typeface="MiSans Demibold" pitchFamily="2" charset="-122"/>
                <a:ea typeface="MiSans Demibold" pitchFamily="2" charset="-122"/>
                <a:cs typeface="Helmet" pitchFamily="34" charset="-120"/>
              </a:rPr>
              <a:t>运营数据</a:t>
            </a:r>
            <a:endParaRPr lang="en-US" sz="750" spc="300" dirty="0">
              <a:latin typeface="MiSans Demibold" pitchFamily="2" charset="-122"/>
              <a:ea typeface="MiSans Demibold" pitchFamily="2" charset="-122"/>
            </a:endParaRPr>
          </a:p>
        </p:txBody>
      </p:sp>
      <p:sp>
        <p:nvSpPr>
          <p:cNvPr id="7" name="Text 4"/>
          <p:cNvSpPr/>
          <p:nvPr/>
        </p:nvSpPr>
        <p:spPr>
          <a:xfrm>
            <a:off x="6134603" y="735724"/>
            <a:ext cx="2737153" cy="1302934"/>
          </a:xfrm>
          <a:prstGeom prst="rect">
            <a:avLst/>
          </a:prstGeom>
          <a:noFill/>
          <a:ln/>
        </p:spPr>
        <p:txBody>
          <a:bodyPr wrap="square" lIns="0" tIns="0" rIns="0" bIns="0" rtlCol="0" anchor="t"/>
          <a:lstStyle/>
          <a:p>
            <a:pPr algn="l">
              <a:lnSpc>
                <a:spcPts val="1680"/>
              </a:lnSpc>
            </a:pPr>
            <a:r>
              <a:rPr lang="en-US" sz="1000" dirty="0">
                <a:solidFill>
                  <a:srgbClr val="FFFFFF"/>
                </a:solidFill>
                <a:latin typeface="MiSans ExtraLight" pitchFamily="2" charset="-122"/>
                <a:ea typeface="MiSans ExtraLight" pitchFamily="2" charset="-122"/>
                <a:cs typeface="思源黑体" pitchFamily="34" charset="-120"/>
              </a:rPr>
              <a:t>这是一组为露营经济（Glamping）项目量身定制的6个关键运营数据（KPIs）。这些数据是投资人判断项目是否“性感”的核心指标</a:t>
            </a:r>
            <a:endParaRPr lang="en-US" sz="1000" dirty="0">
              <a:latin typeface="MiSans ExtraLight" pitchFamily="2" charset="-122"/>
              <a:ea typeface="MiSans ExtraLight" pitchFamily="2" charset="-122"/>
            </a:endParaRPr>
          </a:p>
        </p:txBody>
      </p:sp>
      <p:sp>
        <p:nvSpPr>
          <p:cNvPr id="8" name="Shape 5"/>
          <p:cNvSpPr/>
          <p:nvPr/>
        </p:nvSpPr>
        <p:spPr>
          <a:xfrm>
            <a:off x="188403" y="3718730"/>
            <a:ext cx="2857500" cy="1188902"/>
          </a:xfrm>
          <a:prstGeom prst="roundRect">
            <a:avLst>
              <a:gd name="adj" fmla="val 2564"/>
            </a:avLst>
          </a:prstGeom>
          <a:solidFill>
            <a:srgbClr val="FFF1B9"/>
          </a:solidFill>
          <a:ln/>
          <a:effectLst>
            <a:outerShdw blurRad="127000" dist="38100" dir="3600000" algn="bl" rotWithShape="0">
              <a:srgbClr val="000000">
                <a:alpha val="15000"/>
              </a:srgbClr>
            </a:outerShdw>
          </a:effectLst>
        </p:spPr>
        <p:txBody>
          <a:bodyPr/>
          <a:lstStyle/>
          <a:p>
            <a:endParaRPr lang="zh-CN" altLang="en-US">
              <a:latin typeface="MiSans Demibold" pitchFamily="2" charset="-122"/>
              <a:ea typeface="MiSans Demibold" pitchFamily="2" charset="-122"/>
            </a:endParaRPr>
          </a:p>
        </p:txBody>
      </p:sp>
      <p:sp>
        <p:nvSpPr>
          <p:cNvPr id="9" name="Text 6"/>
          <p:cNvSpPr/>
          <p:nvPr/>
        </p:nvSpPr>
        <p:spPr>
          <a:xfrm>
            <a:off x="307193" y="4558893"/>
            <a:ext cx="2381250" cy="198090"/>
          </a:xfrm>
          <a:prstGeom prst="rect">
            <a:avLst/>
          </a:prstGeom>
          <a:noFill/>
          <a:ln/>
        </p:spPr>
        <p:txBody>
          <a:bodyPr wrap="square" lIns="0" tIns="0" rIns="0" bIns="0" rtlCol="0" anchor="b"/>
          <a:lstStyle/>
          <a:p>
            <a:pPr algn="l">
              <a:lnSpc>
                <a:spcPts val="1560"/>
              </a:lnSpc>
            </a:pPr>
            <a:r>
              <a:rPr lang="en-US" sz="1000" dirty="0">
                <a:solidFill>
                  <a:srgbClr val="000000"/>
                </a:solidFill>
                <a:latin typeface="MiSans Normal" pitchFamily="2" charset="-122"/>
                <a:ea typeface="MiSans Normal" pitchFamily="2" charset="-122"/>
                <a:cs typeface="Jost" pitchFamily="34" charset="-120"/>
              </a:rPr>
              <a:t>客单价约为</a:t>
            </a:r>
            <a:endParaRPr lang="en-US" sz="975" dirty="0">
              <a:latin typeface="MiSans Normal" pitchFamily="2" charset="-122"/>
              <a:ea typeface="MiSans Normal" pitchFamily="2" charset="-122"/>
            </a:endParaRPr>
          </a:p>
        </p:txBody>
      </p:sp>
      <p:sp>
        <p:nvSpPr>
          <p:cNvPr id="10" name="Shape 7"/>
          <p:cNvSpPr/>
          <p:nvPr/>
        </p:nvSpPr>
        <p:spPr>
          <a:xfrm>
            <a:off x="3161503" y="3718810"/>
            <a:ext cx="2857500" cy="1188902"/>
          </a:xfrm>
          <a:prstGeom prst="roundRect">
            <a:avLst>
              <a:gd name="adj" fmla="val 2564"/>
            </a:avLst>
          </a:prstGeom>
          <a:solidFill>
            <a:srgbClr val="FEE783"/>
          </a:solidFill>
          <a:ln/>
          <a:effectLst>
            <a:outerShdw blurRad="127000" dist="38100" dir="3600000" algn="bl" rotWithShape="0">
              <a:srgbClr val="000000">
                <a:alpha val="15000"/>
              </a:srgbClr>
            </a:outerShdw>
          </a:effectLst>
        </p:spPr>
        <p:txBody>
          <a:bodyPr/>
          <a:lstStyle/>
          <a:p>
            <a:endParaRPr lang="zh-CN" altLang="en-US">
              <a:latin typeface="MiSans Demibold" pitchFamily="2" charset="-122"/>
              <a:ea typeface="MiSans Demibold" pitchFamily="2" charset="-122"/>
            </a:endParaRPr>
          </a:p>
        </p:txBody>
      </p:sp>
      <p:sp>
        <p:nvSpPr>
          <p:cNvPr id="11" name="Text 8"/>
          <p:cNvSpPr/>
          <p:nvPr/>
        </p:nvSpPr>
        <p:spPr>
          <a:xfrm>
            <a:off x="6134603" y="3718810"/>
            <a:ext cx="2857500" cy="1188902"/>
          </a:xfrm>
          <a:prstGeom prst="roundRect">
            <a:avLst>
              <a:gd name="adj" fmla="val 2564"/>
            </a:avLst>
          </a:prstGeom>
          <a:solidFill>
            <a:srgbClr val="FFDF65"/>
          </a:solidFill>
          <a:ln/>
          <a:effectLst>
            <a:outerShdw blurRad="127000" dist="38100" dir="3600000" algn="bl" rotWithShape="0">
              <a:srgbClr val="000000">
                <a:alpha val="15000"/>
              </a:srgbClr>
            </a:outerShdw>
          </a:effectLst>
        </p:spPr>
        <p:txBody>
          <a:bodyPr wrap="square" lIns="158750" tIns="140356" rIns="158750" bIns="140356" rtlCol="0" anchor="ctr"/>
          <a:lstStyle/>
          <a:p>
            <a:pPr algn="ctr">
              <a:lnSpc>
                <a:spcPts val="1560"/>
              </a:lnSpc>
            </a:pPr>
            <a:endParaRPr lang="en-US" sz="975" dirty="0">
              <a:latin typeface="MiSans Demibold" pitchFamily="2" charset="-122"/>
              <a:ea typeface="MiSans Demibold" pitchFamily="2" charset="-122"/>
            </a:endParaRPr>
          </a:p>
        </p:txBody>
      </p:sp>
      <p:sp>
        <p:nvSpPr>
          <p:cNvPr id="12" name="Text 9"/>
          <p:cNvSpPr/>
          <p:nvPr/>
        </p:nvSpPr>
        <p:spPr>
          <a:xfrm>
            <a:off x="307193" y="3902909"/>
            <a:ext cx="2524125" cy="599271"/>
          </a:xfrm>
          <a:prstGeom prst="rect">
            <a:avLst/>
          </a:prstGeom>
          <a:noFill/>
          <a:ln/>
        </p:spPr>
        <p:txBody>
          <a:bodyPr wrap="square" lIns="0" tIns="0" rIns="0" bIns="0" rtlCol="0" anchor="ctr"/>
          <a:lstStyle/>
          <a:p>
            <a:pPr algn="l"/>
            <a:r>
              <a:rPr lang="en-US" sz="3200" dirty="0">
                <a:solidFill>
                  <a:srgbClr val="000000"/>
                </a:solidFill>
                <a:latin typeface="MiSans Demibold" pitchFamily="2" charset="-122"/>
                <a:ea typeface="MiSans Demibold" pitchFamily="2" charset="-122"/>
                <a:cs typeface="Bebas Neue Regular" pitchFamily="34" charset="-120"/>
              </a:rPr>
              <a:t>580</a:t>
            </a:r>
            <a:endParaRPr lang="en-US" sz="3200" dirty="0">
              <a:latin typeface="MiSans Demibold" pitchFamily="2" charset="-122"/>
              <a:ea typeface="MiSans Demibold" pitchFamily="2" charset="-122"/>
            </a:endParaRPr>
          </a:p>
        </p:txBody>
      </p:sp>
      <p:sp>
        <p:nvSpPr>
          <p:cNvPr id="13" name="Text 10"/>
          <p:cNvSpPr/>
          <p:nvPr/>
        </p:nvSpPr>
        <p:spPr>
          <a:xfrm>
            <a:off x="3333750" y="3902910"/>
            <a:ext cx="2524126" cy="599272"/>
          </a:xfrm>
          <a:prstGeom prst="rect">
            <a:avLst/>
          </a:prstGeom>
          <a:noFill/>
          <a:ln/>
        </p:spPr>
        <p:txBody>
          <a:bodyPr wrap="square" lIns="0" tIns="0" rIns="0" bIns="0" rtlCol="0" anchor="ctr"/>
          <a:lstStyle/>
          <a:p>
            <a:pPr algn="l"/>
            <a:r>
              <a:rPr lang="en-US" sz="3200" dirty="0">
                <a:solidFill>
                  <a:srgbClr val="000000"/>
                </a:solidFill>
                <a:latin typeface="MiSans Demibold" pitchFamily="2" charset="-122"/>
                <a:ea typeface="MiSans Demibold" pitchFamily="2" charset="-122"/>
                <a:cs typeface="Bebas Neue Regular" pitchFamily="34" charset="-120"/>
              </a:rPr>
              <a:t>35%</a:t>
            </a:r>
            <a:endParaRPr lang="en-US" sz="3200" dirty="0">
              <a:latin typeface="MiSans Demibold" pitchFamily="2" charset="-122"/>
              <a:ea typeface="MiSans Demibold" pitchFamily="2" charset="-122"/>
            </a:endParaRPr>
          </a:p>
        </p:txBody>
      </p:sp>
      <p:sp>
        <p:nvSpPr>
          <p:cNvPr id="14" name="Text 11"/>
          <p:cNvSpPr/>
          <p:nvPr/>
        </p:nvSpPr>
        <p:spPr>
          <a:xfrm>
            <a:off x="6286500" y="3904098"/>
            <a:ext cx="2524126" cy="599271"/>
          </a:xfrm>
          <a:prstGeom prst="rect">
            <a:avLst/>
          </a:prstGeom>
          <a:noFill/>
          <a:ln/>
        </p:spPr>
        <p:txBody>
          <a:bodyPr wrap="square" lIns="0" tIns="0" rIns="0" bIns="0" rtlCol="0" anchor="ctr"/>
          <a:lstStyle/>
          <a:p>
            <a:pPr algn="l"/>
            <a:r>
              <a:rPr lang="en-US" sz="3200" dirty="0">
                <a:solidFill>
                  <a:srgbClr val="000000"/>
                </a:solidFill>
                <a:latin typeface="MiSans Demibold" pitchFamily="2" charset="-122"/>
                <a:ea typeface="MiSans Demibold" pitchFamily="2" charset="-122"/>
                <a:cs typeface="Bebas Neue Regular" pitchFamily="34" charset="-120"/>
              </a:rPr>
              <a:t>60%</a:t>
            </a:r>
            <a:endParaRPr lang="en-US" sz="3200" dirty="0">
              <a:latin typeface="MiSans Demibold" pitchFamily="2" charset="-122"/>
              <a:ea typeface="MiSans Demibold" pitchFamily="2" charset="-122"/>
            </a:endParaRPr>
          </a:p>
        </p:txBody>
      </p:sp>
      <p:sp>
        <p:nvSpPr>
          <p:cNvPr id="15" name="Text 12"/>
          <p:cNvSpPr/>
          <p:nvPr/>
        </p:nvSpPr>
        <p:spPr>
          <a:xfrm>
            <a:off x="3333281" y="4596513"/>
            <a:ext cx="2381250" cy="198090"/>
          </a:xfrm>
          <a:prstGeom prst="rect">
            <a:avLst/>
          </a:prstGeom>
          <a:noFill/>
          <a:ln/>
        </p:spPr>
        <p:txBody>
          <a:bodyPr wrap="square" lIns="0" tIns="0" rIns="0" bIns="0" rtlCol="0" anchor="b"/>
          <a:lstStyle/>
          <a:p>
            <a:pPr algn="l">
              <a:lnSpc>
                <a:spcPts val="1560"/>
              </a:lnSpc>
            </a:pPr>
            <a:r>
              <a:rPr lang="en-US" sz="1000" dirty="0">
                <a:solidFill>
                  <a:srgbClr val="000000"/>
                </a:solidFill>
                <a:latin typeface="MiSans Normal" pitchFamily="2" charset="-122"/>
                <a:ea typeface="MiSans Normal" pitchFamily="2" charset="-122"/>
                <a:cs typeface="Jost" pitchFamily="34" charset="-120"/>
              </a:rPr>
              <a:t>复购率</a:t>
            </a:r>
            <a:endParaRPr lang="en-US" sz="975" dirty="0">
              <a:latin typeface="MiSans Normal" pitchFamily="2" charset="-122"/>
              <a:ea typeface="MiSans Normal" pitchFamily="2" charset="-122"/>
            </a:endParaRPr>
          </a:p>
        </p:txBody>
      </p:sp>
      <p:sp>
        <p:nvSpPr>
          <p:cNvPr id="16" name="Text 13"/>
          <p:cNvSpPr/>
          <p:nvPr/>
        </p:nvSpPr>
        <p:spPr>
          <a:xfrm>
            <a:off x="6285563" y="4560077"/>
            <a:ext cx="2381250" cy="198091"/>
          </a:xfrm>
          <a:prstGeom prst="rect">
            <a:avLst/>
          </a:prstGeom>
          <a:noFill/>
          <a:ln/>
        </p:spPr>
        <p:txBody>
          <a:bodyPr wrap="square" lIns="0" tIns="0" rIns="0" bIns="0" rtlCol="0" anchor="b"/>
          <a:lstStyle/>
          <a:p>
            <a:pPr algn="l">
              <a:lnSpc>
                <a:spcPts val="1560"/>
              </a:lnSpc>
            </a:pPr>
            <a:r>
              <a:rPr lang="en-US" sz="1000" dirty="0">
                <a:solidFill>
                  <a:srgbClr val="000000"/>
                </a:solidFill>
                <a:latin typeface="MiSans Normal" pitchFamily="2" charset="-122"/>
                <a:ea typeface="MiSans Normal" pitchFamily="2" charset="-122"/>
                <a:cs typeface="Jost" pitchFamily="34" charset="-120"/>
              </a:rPr>
              <a:t>私域流量占比</a:t>
            </a:r>
            <a:endParaRPr lang="en-US" sz="975" dirty="0">
              <a:latin typeface="MiSans Normal" pitchFamily="2" charset="-122"/>
              <a:ea typeface="MiSans Normal" pitchFamily="2" charset="-122"/>
            </a:endParaRPr>
          </a:p>
        </p:txBody>
      </p:sp>
      <p:sp>
        <p:nvSpPr>
          <p:cNvPr id="17" name="Shape 14"/>
          <p:cNvSpPr/>
          <p:nvPr/>
        </p:nvSpPr>
        <p:spPr>
          <a:xfrm>
            <a:off x="188403" y="2387562"/>
            <a:ext cx="2857500" cy="1188902"/>
          </a:xfrm>
          <a:prstGeom prst="roundRect">
            <a:avLst>
              <a:gd name="adj" fmla="val 2564"/>
            </a:avLst>
          </a:prstGeom>
          <a:solidFill>
            <a:srgbClr val="FFF1B9"/>
          </a:solidFill>
          <a:ln/>
          <a:effectLst>
            <a:outerShdw blurRad="127000" dist="38100" dir="3600000" algn="bl" rotWithShape="0">
              <a:srgbClr val="000000">
                <a:alpha val="15000"/>
              </a:srgbClr>
            </a:outerShdw>
          </a:effectLst>
        </p:spPr>
        <p:txBody>
          <a:bodyPr/>
          <a:lstStyle/>
          <a:p>
            <a:endParaRPr lang="zh-CN" altLang="en-US">
              <a:latin typeface="MiSans Demibold" pitchFamily="2" charset="-122"/>
              <a:ea typeface="MiSans Demibold" pitchFamily="2" charset="-122"/>
            </a:endParaRPr>
          </a:p>
        </p:txBody>
      </p:sp>
      <p:sp>
        <p:nvSpPr>
          <p:cNvPr id="18" name="Text 15"/>
          <p:cNvSpPr/>
          <p:nvPr/>
        </p:nvSpPr>
        <p:spPr>
          <a:xfrm>
            <a:off x="307193" y="3227725"/>
            <a:ext cx="2381250" cy="198090"/>
          </a:xfrm>
          <a:prstGeom prst="rect">
            <a:avLst/>
          </a:prstGeom>
          <a:noFill/>
          <a:ln/>
        </p:spPr>
        <p:txBody>
          <a:bodyPr wrap="square" lIns="0" tIns="0" rIns="0" bIns="0" rtlCol="0" anchor="b"/>
          <a:lstStyle/>
          <a:p>
            <a:pPr algn="l">
              <a:lnSpc>
                <a:spcPts val="1560"/>
              </a:lnSpc>
            </a:pPr>
            <a:r>
              <a:rPr lang="en-US" sz="1000" dirty="0">
                <a:solidFill>
                  <a:srgbClr val="000000"/>
                </a:solidFill>
                <a:latin typeface="MiSans Normal" pitchFamily="2" charset="-122"/>
                <a:ea typeface="MiSans Normal" pitchFamily="2" charset="-122"/>
                <a:cs typeface="Jost" pitchFamily="34" charset="-120"/>
              </a:rPr>
              <a:t>新用户注册</a:t>
            </a:r>
            <a:endParaRPr lang="en-US" sz="975" dirty="0">
              <a:latin typeface="MiSans Normal" pitchFamily="2" charset="-122"/>
              <a:ea typeface="MiSans Normal" pitchFamily="2" charset="-122"/>
            </a:endParaRPr>
          </a:p>
        </p:txBody>
      </p:sp>
      <p:sp>
        <p:nvSpPr>
          <p:cNvPr id="19" name="Shape 16"/>
          <p:cNvSpPr/>
          <p:nvPr/>
        </p:nvSpPr>
        <p:spPr>
          <a:xfrm>
            <a:off x="3161503" y="2387641"/>
            <a:ext cx="2857500" cy="1188902"/>
          </a:xfrm>
          <a:prstGeom prst="roundRect">
            <a:avLst>
              <a:gd name="adj" fmla="val 2564"/>
            </a:avLst>
          </a:prstGeom>
          <a:solidFill>
            <a:srgbClr val="FEE783"/>
          </a:solidFill>
          <a:ln/>
          <a:effectLst>
            <a:outerShdw blurRad="127000" dist="38100" dir="3600000" algn="bl" rotWithShape="0">
              <a:srgbClr val="000000">
                <a:alpha val="15000"/>
              </a:srgbClr>
            </a:outerShdw>
          </a:effectLst>
        </p:spPr>
        <p:txBody>
          <a:bodyPr/>
          <a:lstStyle/>
          <a:p>
            <a:endParaRPr lang="zh-CN" altLang="en-US">
              <a:latin typeface="MiSans Demibold" pitchFamily="2" charset="-122"/>
              <a:ea typeface="MiSans Demibold" pitchFamily="2" charset="-122"/>
            </a:endParaRPr>
          </a:p>
        </p:txBody>
      </p:sp>
      <p:sp>
        <p:nvSpPr>
          <p:cNvPr id="20" name="Text 17"/>
          <p:cNvSpPr/>
          <p:nvPr/>
        </p:nvSpPr>
        <p:spPr>
          <a:xfrm>
            <a:off x="6134603" y="2387641"/>
            <a:ext cx="2857500" cy="1188902"/>
          </a:xfrm>
          <a:prstGeom prst="roundRect">
            <a:avLst>
              <a:gd name="adj" fmla="val 2564"/>
            </a:avLst>
          </a:prstGeom>
          <a:solidFill>
            <a:srgbClr val="FFDF65"/>
          </a:solidFill>
          <a:ln/>
          <a:effectLst>
            <a:outerShdw blurRad="127000" dist="38100" dir="3600000" algn="bl" rotWithShape="0">
              <a:srgbClr val="000000">
                <a:alpha val="15000"/>
              </a:srgbClr>
            </a:outerShdw>
          </a:effectLst>
        </p:spPr>
        <p:txBody>
          <a:bodyPr wrap="square" lIns="158750" tIns="140356" rIns="158750" bIns="140356" rtlCol="0" anchor="ctr"/>
          <a:lstStyle/>
          <a:p>
            <a:pPr algn="ctr">
              <a:lnSpc>
                <a:spcPts val="1560"/>
              </a:lnSpc>
            </a:pPr>
            <a:endParaRPr lang="en-US" sz="975" dirty="0">
              <a:latin typeface="MiSans Demibold" pitchFamily="2" charset="-122"/>
              <a:ea typeface="MiSans Demibold" pitchFamily="2" charset="-122"/>
            </a:endParaRPr>
          </a:p>
        </p:txBody>
      </p:sp>
      <p:sp>
        <p:nvSpPr>
          <p:cNvPr id="21" name="Text 18"/>
          <p:cNvSpPr/>
          <p:nvPr/>
        </p:nvSpPr>
        <p:spPr>
          <a:xfrm>
            <a:off x="307193" y="2571750"/>
            <a:ext cx="2524125" cy="599271"/>
          </a:xfrm>
          <a:prstGeom prst="rect">
            <a:avLst/>
          </a:prstGeom>
          <a:noFill/>
          <a:ln/>
        </p:spPr>
        <p:txBody>
          <a:bodyPr wrap="square" lIns="0" tIns="0" rIns="0" bIns="0" rtlCol="0" anchor="ctr"/>
          <a:lstStyle/>
          <a:p>
            <a:pPr algn="l"/>
            <a:r>
              <a:rPr lang="en-US" sz="3200" dirty="0">
                <a:solidFill>
                  <a:srgbClr val="000000"/>
                </a:solidFill>
                <a:latin typeface="MiSans Demibold" pitchFamily="2" charset="-122"/>
                <a:ea typeface="MiSans Demibold" pitchFamily="2" charset="-122"/>
                <a:cs typeface="Bebas Neue Regular" pitchFamily="34" charset="-120"/>
              </a:rPr>
              <a:t>+200% </a:t>
            </a:r>
            <a:endParaRPr lang="en-US" sz="3200" dirty="0">
              <a:latin typeface="MiSans Demibold" pitchFamily="2" charset="-122"/>
              <a:ea typeface="MiSans Demibold" pitchFamily="2" charset="-122"/>
            </a:endParaRPr>
          </a:p>
        </p:txBody>
      </p:sp>
      <p:sp>
        <p:nvSpPr>
          <p:cNvPr id="22" name="Text 19"/>
          <p:cNvSpPr/>
          <p:nvPr/>
        </p:nvSpPr>
        <p:spPr>
          <a:xfrm>
            <a:off x="3333750" y="2571741"/>
            <a:ext cx="2524125" cy="599271"/>
          </a:xfrm>
          <a:prstGeom prst="rect">
            <a:avLst/>
          </a:prstGeom>
          <a:noFill/>
          <a:ln/>
        </p:spPr>
        <p:txBody>
          <a:bodyPr wrap="square" lIns="0" tIns="0" rIns="0" bIns="0" rtlCol="0" anchor="ctr"/>
          <a:lstStyle/>
          <a:p>
            <a:pPr algn="l"/>
            <a:r>
              <a:rPr lang="en-US" sz="3200" dirty="0">
                <a:solidFill>
                  <a:srgbClr val="000000"/>
                </a:solidFill>
                <a:latin typeface="MiSans Demibold" pitchFamily="2" charset="-122"/>
                <a:ea typeface="MiSans Demibold" pitchFamily="2" charset="-122"/>
                <a:cs typeface="Bebas Neue Regular" pitchFamily="34" charset="-120"/>
              </a:rPr>
              <a:t>3,024</a:t>
            </a:r>
            <a:endParaRPr lang="en-US" sz="3200" dirty="0">
              <a:latin typeface="MiSans Demibold" pitchFamily="2" charset="-122"/>
              <a:ea typeface="MiSans Demibold" pitchFamily="2" charset="-122"/>
            </a:endParaRPr>
          </a:p>
        </p:txBody>
      </p:sp>
      <p:sp>
        <p:nvSpPr>
          <p:cNvPr id="23" name="Text 20"/>
          <p:cNvSpPr/>
          <p:nvPr/>
        </p:nvSpPr>
        <p:spPr>
          <a:xfrm>
            <a:off x="6286500" y="2572930"/>
            <a:ext cx="2524125" cy="599271"/>
          </a:xfrm>
          <a:prstGeom prst="rect">
            <a:avLst/>
          </a:prstGeom>
          <a:noFill/>
          <a:ln/>
        </p:spPr>
        <p:txBody>
          <a:bodyPr wrap="square" lIns="0" tIns="0" rIns="0" bIns="0" rtlCol="0" anchor="ctr"/>
          <a:lstStyle/>
          <a:p>
            <a:pPr algn="l"/>
            <a:r>
              <a:rPr lang="en-US" sz="3200" dirty="0">
                <a:solidFill>
                  <a:srgbClr val="000000"/>
                </a:solidFill>
                <a:latin typeface="MiSans Demibold" pitchFamily="2" charset="-122"/>
                <a:ea typeface="MiSans Demibold" pitchFamily="2" charset="-122"/>
                <a:cs typeface="Bebas Neue Regular" pitchFamily="34" charset="-120"/>
              </a:rPr>
              <a:t>900K</a:t>
            </a:r>
            <a:endParaRPr lang="en-US" sz="3200" dirty="0">
              <a:latin typeface="MiSans Demibold" pitchFamily="2" charset="-122"/>
              <a:ea typeface="MiSans Demibold" pitchFamily="2" charset="-122"/>
            </a:endParaRPr>
          </a:p>
        </p:txBody>
      </p:sp>
      <p:sp>
        <p:nvSpPr>
          <p:cNvPr id="24" name="Text 21"/>
          <p:cNvSpPr/>
          <p:nvPr/>
        </p:nvSpPr>
        <p:spPr>
          <a:xfrm>
            <a:off x="3333281" y="3228975"/>
            <a:ext cx="2381250" cy="198090"/>
          </a:xfrm>
          <a:prstGeom prst="rect">
            <a:avLst/>
          </a:prstGeom>
          <a:noFill/>
          <a:ln/>
        </p:spPr>
        <p:txBody>
          <a:bodyPr wrap="square" lIns="0" tIns="0" rIns="0" bIns="0" rtlCol="0" anchor="b"/>
          <a:lstStyle/>
          <a:p>
            <a:pPr algn="l">
              <a:lnSpc>
                <a:spcPts val="1560"/>
              </a:lnSpc>
            </a:pPr>
            <a:r>
              <a:rPr lang="en-US" sz="1000" dirty="0">
                <a:solidFill>
                  <a:srgbClr val="000000"/>
                </a:solidFill>
                <a:latin typeface="MiSans Normal" pitchFamily="2" charset="-122"/>
                <a:ea typeface="MiSans Normal" pitchFamily="2" charset="-122"/>
                <a:cs typeface="Jost" pitchFamily="34" charset="-120"/>
              </a:rPr>
              <a:t>注册体验用户</a:t>
            </a:r>
            <a:endParaRPr lang="en-US" sz="975" dirty="0">
              <a:latin typeface="MiSans Normal" pitchFamily="2" charset="-122"/>
              <a:ea typeface="MiSans Normal" pitchFamily="2" charset="-122"/>
            </a:endParaRPr>
          </a:p>
        </p:txBody>
      </p:sp>
      <p:sp>
        <p:nvSpPr>
          <p:cNvPr id="25" name="Text 22"/>
          <p:cNvSpPr/>
          <p:nvPr/>
        </p:nvSpPr>
        <p:spPr>
          <a:xfrm>
            <a:off x="6285563" y="3228909"/>
            <a:ext cx="2381250" cy="198090"/>
          </a:xfrm>
          <a:prstGeom prst="rect">
            <a:avLst/>
          </a:prstGeom>
          <a:noFill/>
          <a:ln/>
        </p:spPr>
        <p:txBody>
          <a:bodyPr wrap="square" lIns="0" tIns="0" rIns="0" bIns="0" rtlCol="0" anchor="t"/>
          <a:lstStyle/>
          <a:p>
            <a:pPr algn="l">
              <a:lnSpc>
                <a:spcPts val="1560"/>
              </a:lnSpc>
            </a:pPr>
            <a:r>
              <a:rPr lang="en-US" sz="1000" dirty="0">
                <a:solidFill>
                  <a:srgbClr val="000000"/>
                </a:solidFill>
                <a:latin typeface="MiSans Normal" pitchFamily="2" charset="-122"/>
                <a:ea typeface="MiSans Normal" pitchFamily="2" charset="-122"/>
                <a:cs typeface="Jost" pitchFamily="34" charset="-120"/>
              </a:rPr>
              <a:t>每月访客</a:t>
            </a:r>
            <a:endParaRPr lang="en-US" sz="975" dirty="0">
              <a:latin typeface="MiSans Normal" pitchFamily="2" charset="-122"/>
              <a:ea typeface="MiSans Normal"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1714"/>
        </a:solidFill>
        <a:effectLst/>
      </p:bgPr>
    </p:bg>
    <p:spTree>
      <p:nvGrpSpPr>
        <p:cNvPr id="1" name=""/>
        <p:cNvGrpSpPr/>
        <p:nvPr/>
      </p:nvGrpSpPr>
      <p:grpSpPr>
        <a:xfrm>
          <a:off x="0" y="0"/>
          <a:ext cx="0" cy="0"/>
          <a:chOff x="0" y="0"/>
          <a:chExt cx="0" cy="0"/>
        </a:xfrm>
      </p:grpSpPr>
      <p:pic>
        <p:nvPicPr>
          <p:cNvPr id="3" name="Image 0"/>
          <p:cNvPicPr>
            <a:picLocks noChangeAspect="1"/>
          </p:cNvPicPr>
          <p:nvPr/>
        </p:nvPicPr>
        <p:blipFill>
          <a:blip r:embed="rId3"/>
          <a:srcRect t="11785" b="11785"/>
          <a:stretch/>
        </p:blipFill>
        <p:spPr>
          <a:xfrm>
            <a:off x="225372" y="664705"/>
            <a:ext cx="3053220" cy="4147134"/>
          </a:xfrm>
          <a:prstGeom prst="rect">
            <a:avLst/>
          </a:prstGeom>
        </p:spPr>
      </p:pic>
      <p:sp>
        <p:nvSpPr>
          <p:cNvPr id="4" name="Shape 0"/>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latin typeface="MiSans Semibold" pitchFamily="2" charset="-122"/>
              <a:ea typeface="MiSans Semibold" pitchFamily="2" charset="-122"/>
            </a:endParaRPr>
          </a:p>
        </p:txBody>
      </p:sp>
      <p:sp>
        <p:nvSpPr>
          <p:cNvPr id="5" name="Shape 1"/>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latin typeface="MiSans Semibold" pitchFamily="2" charset="-122"/>
              <a:ea typeface="MiSans Semibold" pitchFamily="2" charset="-122"/>
            </a:endParaRPr>
          </a:p>
        </p:txBody>
      </p:sp>
      <p:sp>
        <p:nvSpPr>
          <p:cNvPr id="6" name="Text 2"/>
          <p:cNvSpPr/>
          <p:nvPr/>
        </p:nvSpPr>
        <p:spPr>
          <a:xfrm>
            <a:off x="190500" y="272673"/>
            <a:ext cx="3810000" cy="119063"/>
          </a:xfrm>
          <a:prstGeom prst="rect">
            <a:avLst/>
          </a:prstGeom>
          <a:noFill/>
          <a:ln/>
        </p:spPr>
        <p:txBody>
          <a:bodyPr wrap="square" lIns="0" tIns="0" rIns="0" bIns="0" rtlCol="0" anchor="b"/>
          <a:lstStyle/>
          <a:p>
            <a:pPr algn="l">
              <a:lnSpc>
                <a:spcPts val="938"/>
              </a:lnSpc>
            </a:pPr>
            <a:r>
              <a:rPr lang="en-US" sz="800" spc="300" dirty="0">
                <a:solidFill>
                  <a:srgbClr val="FFFFFF"/>
                </a:solidFill>
                <a:latin typeface="MiSans" pitchFamily="2" charset="-122"/>
                <a:ea typeface="MiSans" pitchFamily="2" charset="-122"/>
                <a:cs typeface="Helmet" pitchFamily="34" charset="-120"/>
              </a:rPr>
              <a:t>团队创始人</a:t>
            </a:r>
            <a:endParaRPr lang="en-US" sz="750" spc="300" dirty="0">
              <a:latin typeface="MiSans" pitchFamily="2" charset="-122"/>
              <a:ea typeface="MiSans" pitchFamily="2" charset="-122"/>
            </a:endParaRPr>
          </a:p>
        </p:txBody>
      </p:sp>
      <p:sp>
        <p:nvSpPr>
          <p:cNvPr id="7" name="Text 3"/>
          <p:cNvSpPr/>
          <p:nvPr/>
        </p:nvSpPr>
        <p:spPr>
          <a:xfrm>
            <a:off x="4285939" y="3043005"/>
            <a:ext cx="4381314" cy="1715041"/>
          </a:xfrm>
          <a:prstGeom prst="rect">
            <a:avLst/>
          </a:prstGeom>
          <a:noFill/>
          <a:ln/>
        </p:spPr>
        <p:txBody>
          <a:bodyPr wrap="square" lIns="0" tIns="0" rIns="0" bIns="0" rtlCol="0" anchor="b"/>
          <a:lstStyle/>
          <a:p>
            <a:pPr>
              <a:lnSpc>
                <a:spcPct val="150000"/>
              </a:lnSpc>
            </a:pPr>
            <a:r>
              <a:rPr lang="en-US" altLang="zh-CN" sz="1000" dirty="0" err="1">
                <a:solidFill>
                  <a:srgbClr val="FFFFFF"/>
                </a:solidFill>
                <a:latin typeface="MiSans Light" pitchFamily="2" charset="-122"/>
                <a:ea typeface="MiSans Light" pitchFamily="2" charset="-122"/>
                <a:cs typeface="思源黑体" pitchFamily="34" charset="-120"/>
              </a:rPr>
              <a:t>创始人兼具‘头部文旅集团操盘经验</a:t>
            </a:r>
            <a:r>
              <a:rPr lang="en-US" altLang="zh-CN" sz="1000" dirty="0">
                <a:solidFill>
                  <a:srgbClr val="FFFFFF"/>
                </a:solidFill>
                <a:latin typeface="MiSans Light" pitchFamily="2" charset="-122"/>
                <a:ea typeface="MiSans Light" pitchFamily="2" charset="-122"/>
                <a:cs typeface="思源黑体" pitchFamily="34" charset="-120"/>
              </a:rPr>
              <a:t> + </a:t>
            </a:r>
            <a:r>
              <a:rPr lang="en-US" altLang="zh-CN" sz="1000" dirty="0" err="1">
                <a:solidFill>
                  <a:srgbClr val="FFFFFF"/>
                </a:solidFill>
                <a:latin typeface="MiSans Light" pitchFamily="2" charset="-122"/>
                <a:ea typeface="MiSans Light" pitchFamily="2" charset="-122"/>
                <a:cs typeface="思源黑体" pitchFamily="34" charset="-120"/>
              </a:rPr>
              <a:t>互联网流量打法</a:t>
            </a:r>
            <a:r>
              <a:rPr lang="en-US" altLang="zh-CN" sz="1000" dirty="0">
                <a:solidFill>
                  <a:srgbClr val="FFFFFF"/>
                </a:solidFill>
                <a:latin typeface="MiSans Light" pitchFamily="2" charset="-122"/>
                <a:ea typeface="MiSans Light" pitchFamily="2" charset="-122"/>
                <a:cs typeface="思源黑体" pitchFamily="34" charset="-120"/>
              </a:rPr>
              <a:t> + 营地供应链管理’的复合基因，能同时驾驭重资产运营与轻资产扩张。创能同时驾驭重资产运营与轻资产扩张。创始人兼具‘头部文旅集团操盘经验 + </a:t>
            </a:r>
            <a:r>
              <a:rPr lang="en-US" altLang="zh-CN" sz="1000" dirty="0" err="1">
                <a:solidFill>
                  <a:srgbClr val="FFFFFF"/>
                </a:solidFill>
                <a:latin typeface="MiSans Light" pitchFamily="2" charset="-122"/>
                <a:ea typeface="MiSans Light" pitchFamily="2" charset="-122"/>
                <a:cs typeface="思源黑体" pitchFamily="34" charset="-120"/>
              </a:rPr>
              <a:t>互联网流量打法</a:t>
            </a:r>
            <a:r>
              <a:rPr lang="en-US" altLang="zh-CN" sz="1000" dirty="0">
                <a:solidFill>
                  <a:srgbClr val="FFFFFF"/>
                </a:solidFill>
                <a:latin typeface="MiSans Light" pitchFamily="2" charset="-122"/>
                <a:ea typeface="MiSans Light" pitchFamily="2" charset="-122"/>
                <a:cs typeface="思源黑体" pitchFamily="34" charset="-120"/>
              </a:rPr>
              <a:t> + </a:t>
            </a:r>
            <a:r>
              <a:rPr lang="en-US" altLang="zh-CN" sz="1000" dirty="0" err="1">
                <a:solidFill>
                  <a:srgbClr val="FFFFFF"/>
                </a:solidFill>
                <a:latin typeface="MiSans Light" pitchFamily="2" charset="-122"/>
                <a:ea typeface="MiSans Light" pitchFamily="2" charset="-122"/>
                <a:cs typeface="思源黑体" pitchFamily="34" charset="-120"/>
              </a:rPr>
              <a:t>营地供应链管理’的复合基因</a:t>
            </a:r>
            <a:r>
              <a:rPr lang="en-US" altLang="zh-CN" sz="1000" dirty="0">
                <a:solidFill>
                  <a:srgbClr val="FFFFFF"/>
                </a:solidFill>
                <a:latin typeface="MiSans Light" pitchFamily="2" charset="-122"/>
                <a:ea typeface="MiSans Light" pitchFamily="2" charset="-122"/>
                <a:cs typeface="思源黑体" pitchFamily="34" charset="-120"/>
              </a:rPr>
              <a:t>， </a:t>
            </a:r>
            <a:r>
              <a:rPr lang="en-US" altLang="zh-CN" sz="1000" dirty="0" err="1">
                <a:solidFill>
                  <a:srgbClr val="FFFFFF"/>
                </a:solidFill>
                <a:latin typeface="MiSans Light" pitchFamily="2" charset="-122"/>
                <a:ea typeface="MiSans Light" pitchFamily="2" charset="-122"/>
                <a:cs typeface="思源黑体" pitchFamily="34" charset="-120"/>
              </a:rPr>
              <a:t>能同时驾驭重资产运营与轻资产扩张。创能同时驾驭重资产运营与轻资产扩张</a:t>
            </a:r>
            <a:r>
              <a:rPr lang="en-US" altLang="zh-CN" sz="1000" dirty="0">
                <a:solidFill>
                  <a:srgbClr val="FFFFFF"/>
                </a:solidFill>
                <a:latin typeface="MiSans Light" pitchFamily="2" charset="-122"/>
                <a:ea typeface="MiSans Light" pitchFamily="2" charset="-122"/>
                <a:cs typeface="思源黑体" pitchFamily="34" charset="-120"/>
              </a:rPr>
              <a:t>。 </a:t>
            </a:r>
            <a:r>
              <a:rPr lang="en-US" altLang="zh-CN" sz="1000" dirty="0" err="1">
                <a:solidFill>
                  <a:srgbClr val="FFFFFF"/>
                </a:solidFill>
                <a:latin typeface="MiSans Light" pitchFamily="2" charset="-122"/>
                <a:ea typeface="MiSans Light" pitchFamily="2" charset="-122"/>
                <a:cs typeface="思源黑体" pitchFamily="34" charset="-120"/>
              </a:rPr>
              <a:t>能同时驾驭重资产运营与轻资产扩张。创能同时驾驭重资产运营与轻资产扩张</a:t>
            </a:r>
            <a:r>
              <a:rPr lang="en-US" altLang="zh-CN" sz="1000" dirty="0">
                <a:solidFill>
                  <a:srgbClr val="FFFFFF"/>
                </a:solidFill>
                <a:latin typeface="MiSans Light" pitchFamily="2" charset="-122"/>
                <a:ea typeface="MiSans Light" pitchFamily="2" charset="-122"/>
                <a:cs typeface="思源黑体" pitchFamily="34" charset="-120"/>
              </a:rPr>
              <a:t>。</a:t>
            </a:r>
            <a:endParaRPr lang="en-US" altLang="zh-CN" sz="1000" dirty="0">
              <a:latin typeface="MiSans Light" pitchFamily="2" charset="-122"/>
              <a:ea typeface="MiSans Light" pitchFamily="2" charset="-122"/>
            </a:endParaRPr>
          </a:p>
        </p:txBody>
      </p:sp>
      <p:sp>
        <p:nvSpPr>
          <p:cNvPr id="8" name="Text 4"/>
          <p:cNvSpPr/>
          <p:nvPr/>
        </p:nvSpPr>
        <p:spPr>
          <a:xfrm>
            <a:off x="4285753" y="664705"/>
            <a:ext cx="4381500" cy="941069"/>
          </a:xfrm>
          <a:prstGeom prst="rect">
            <a:avLst/>
          </a:prstGeom>
          <a:noFill/>
          <a:ln/>
        </p:spPr>
        <p:txBody>
          <a:bodyPr wrap="square" lIns="0" tIns="0" rIns="0" bIns="0" rtlCol="0" anchor="t"/>
          <a:lstStyle/>
          <a:p>
            <a:pPr algn="l">
              <a:lnSpc>
                <a:spcPts val="3680"/>
              </a:lnSpc>
            </a:pPr>
            <a:r>
              <a:rPr lang="en-US" sz="2400" dirty="0">
                <a:solidFill>
                  <a:srgbClr val="FFFFFF"/>
                </a:solidFill>
                <a:latin typeface="MiSans Semibold" pitchFamily="2" charset="-122"/>
                <a:ea typeface="MiSans Semibold" pitchFamily="2" charset="-122"/>
                <a:cs typeface="思源黑体" pitchFamily="34" charset="-120"/>
              </a:rPr>
              <a:t>遇见卢娜</a:t>
            </a:r>
            <a:endParaRPr lang="en-US" sz="2400" dirty="0">
              <a:latin typeface="MiSans Semibold" pitchFamily="2" charset="-122"/>
              <a:ea typeface="MiSans Semibold" pitchFamily="2" charset="-122"/>
            </a:endParaRPr>
          </a:p>
          <a:p>
            <a:pPr algn="l">
              <a:lnSpc>
                <a:spcPts val="3680"/>
              </a:lnSpc>
            </a:pPr>
            <a:r>
              <a:rPr lang="en-US" sz="2400" dirty="0">
                <a:solidFill>
                  <a:srgbClr val="FFFFFF"/>
                </a:solidFill>
                <a:latin typeface="MiSans Semibold" pitchFamily="2" charset="-122"/>
                <a:ea typeface="MiSans Semibold" pitchFamily="2" charset="-122"/>
                <a:cs typeface="思源黑体" pitchFamily="34" charset="-120"/>
              </a:rPr>
              <a:t>让露营成为大众的生活方式</a:t>
            </a:r>
            <a:endParaRPr lang="en-US" sz="2400" dirty="0">
              <a:latin typeface="MiSans Semibold" pitchFamily="2" charset="-122"/>
              <a:ea typeface="MiSans Semibold"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1714"/>
        </a:solidFill>
        <a:effectLst/>
      </p:bgPr>
    </p:bg>
    <p:spTree>
      <p:nvGrpSpPr>
        <p:cNvPr id="1" name=""/>
        <p:cNvGrpSpPr/>
        <p:nvPr/>
      </p:nvGrpSpPr>
      <p:grpSpPr>
        <a:xfrm>
          <a:off x="0" y="0"/>
          <a:ext cx="0" cy="0"/>
          <a:chOff x="0" y="0"/>
          <a:chExt cx="0" cy="0"/>
        </a:xfrm>
      </p:grpSpPr>
      <p:sp>
        <p:nvSpPr>
          <p:cNvPr id="3" name="Shape 0"/>
          <p:cNvSpPr/>
          <p:nvPr/>
        </p:nvSpPr>
        <p:spPr>
          <a:xfrm>
            <a:off x="56676" y="99150"/>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latin typeface="MiSans Semibold" pitchFamily="2" charset="-122"/>
              <a:ea typeface="MiSans Semibold" pitchFamily="2" charset="-122"/>
            </a:endParaRPr>
          </a:p>
        </p:txBody>
      </p:sp>
      <p:sp>
        <p:nvSpPr>
          <p:cNvPr id="4" name="Shape 1"/>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latin typeface="MiSans Semibold" pitchFamily="2" charset="-122"/>
              <a:ea typeface="MiSans Semibold" pitchFamily="2" charset="-122"/>
            </a:endParaRPr>
          </a:p>
        </p:txBody>
      </p:sp>
      <p:sp>
        <p:nvSpPr>
          <p:cNvPr id="5" name="Text 2"/>
          <p:cNvSpPr/>
          <p:nvPr/>
        </p:nvSpPr>
        <p:spPr>
          <a:xfrm>
            <a:off x="188403" y="522065"/>
            <a:ext cx="2619338" cy="357187"/>
          </a:xfrm>
          <a:prstGeom prst="rect">
            <a:avLst/>
          </a:prstGeom>
          <a:noFill/>
          <a:ln/>
        </p:spPr>
        <p:txBody>
          <a:bodyPr wrap="square" lIns="0" tIns="0" rIns="0" bIns="0" rtlCol="0" anchor="t"/>
          <a:lstStyle/>
          <a:p>
            <a:pPr algn="l">
              <a:lnSpc>
                <a:spcPts val="2813"/>
              </a:lnSpc>
            </a:pPr>
            <a:r>
              <a:rPr lang="en-US" sz="2300" dirty="0">
                <a:solidFill>
                  <a:srgbClr val="FFFFFF"/>
                </a:solidFill>
                <a:latin typeface="MiSans Semibold" pitchFamily="2" charset="-122"/>
                <a:ea typeface="MiSans Semibold" pitchFamily="2" charset="-122"/>
                <a:cs typeface="思源黑体" pitchFamily="34" charset="-120"/>
              </a:rPr>
              <a:t>预计增长</a:t>
            </a:r>
            <a:endParaRPr lang="en-US" sz="2250" dirty="0">
              <a:latin typeface="MiSans Semibold" pitchFamily="2" charset="-122"/>
              <a:ea typeface="MiSans Semibold" pitchFamily="2" charset="-122"/>
            </a:endParaRPr>
          </a:p>
        </p:txBody>
      </p:sp>
      <p:sp>
        <p:nvSpPr>
          <p:cNvPr id="6" name="Text 3"/>
          <p:cNvSpPr/>
          <p:nvPr/>
        </p:nvSpPr>
        <p:spPr>
          <a:xfrm>
            <a:off x="190500" y="272673"/>
            <a:ext cx="3809963" cy="119062"/>
          </a:xfrm>
          <a:prstGeom prst="rect">
            <a:avLst/>
          </a:prstGeom>
          <a:noFill/>
          <a:ln/>
        </p:spPr>
        <p:txBody>
          <a:bodyPr wrap="square" lIns="0" tIns="0" rIns="0" bIns="0" rtlCol="0" anchor="b"/>
          <a:lstStyle/>
          <a:p>
            <a:pPr algn="l">
              <a:lnSpc>
                <a:spcPts val="938"/>
              </a:lnSpc>
            </a:pPr>
            <a:r>
              <a:rPr lang="en-US" sz="800" spc="300" dirty="0">
                <a:solidFill>
                  <a:srgbClr val="FFFFFF"/>
                </a:solidFill>
                <a:latin typeface="MiSans" pitchFamily="2" charset="-122"/>
                <a:ea typeface="MiSans" pitchFamily="2" charset="-122"/>
                <a:cs typeface="思源黑体" pitchFamily="34" charset="-120"/>
              </a:rPr>
              <a:t>未来愿景</a:t>
            </a:r>
            <a:endParaRPr lang="en-US" sz="750" spc="300" dirty="0">
              <a:latin typeface="MiSans" pitchFamily="2" charset="-122"/>
              <a:ea typeface="MiSans" pitchFamily="2" charset="-122"/>
            </a:endParaRPr>
          </a:p>
        </p:txBody>
      </p:sp>
      <p:sp>
        <p:nvSpPr>
          <p:cNvPr id="7" name="Shape 4"/>
          <p:cNvSpPr/>
          <p:nvPr/>
        </p:nvSpPr>
        <p:spPr>
          <a:xfrm>
            <a:off x="2919415" y="521857"/>
            <a:ext cx="6032866" cy="4383518"/>
          </a:xfrm>
          <a:prstGeom prst="roundRect">
            <a:avLst>
              <a:gd name="adj" fmla="val 807"/>
            </a:avLst>
          </a:prstGeom>
          <a:solidFill>
            <a:srgbClr val="FBF5D1"/>
          </a:solidFill>
          <a:ln/>
        </p:spPr>
        <p:txBody>
          <a:bodyPr/>
          <a:lstStyle/>
          <a:p>
            <a:endParaRPr lang="zh-CN" altLang="en-US">
              <a:latin typeface="MiSans Semibold" pitchFamily="2" charset="-122"/>
              <a:ea typeface="MiSans Semibold" pitchFamily="2" charset="-122"/>
            </a:endParaRPr>
          </a:p>
        </p:txBody>
      </p:sp>
      <p:graphicFrame>
        <p:nvGraphicFramePr>
          <p:cNvPr id="8" name="Chart 0"/>
          <p:cNvGraphicFramePr/>
          <p:nvPr>
            <p:extLst>
              <p:ext uri="{D42A27DB-BD31-4B8C-83A1-F6EECF244321}">
                <p14:modId xmlns:p14="http://schemas.microsoft.com/office/powerpoint/2010/main" val="3964504950"/>
              </p:ext>
            </p:extLst>
          </p:nvPr>
        </p:nvGraphicFramePr>
        <p:xfrm>
          <a:off x="3910688" y="952500"/>
          <a:ext cx="4048125" cy="352425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5"/>
          <p:cNvSpPr/>
          <p:nvPr/>
        </p:nvSpPr>
        <p:spPr>
          <a:xfrm>
            <a:off x="189775" y="1631441"/>
            <a:ext cx="2434479" cy="2667000"/>
          </a:xfrm>
          <a:prstGeom prst="rect">
            <a:avLst/>
          </a:prstGeom>
          <a:noFill/>
          <a:ln/>
        </p:spPr>
        <p:txBody>
          <a:bodyPr wrap="square" lIns="0" tIns="0" rIns="0" bIns="0" rtlCol="0" anchor="t"/>
          <a:lstStyle/>
          <a:p>
            <a:pPr>
              <a:lnSpc>
                <a:spcPts val="1680"/>
              </a:lnSpc>
            </a:pPr>
            <a:r>
              <a:rPr lang="en-US" sz="1000" dirty="0">
                <a:solidFill>
                  <a:srgbClr val="FFFFFF"/>
                </a:solidFill>
                <a:latin typeface="MiSans ExtraLight" pitchFamily="2" charset="-122"/>
                <a:ea typeface="MiSans ExtraLight" pitchFamily="2" charset="-122"/>
                <a:cs typeface="思源黑体" pitchFamily="34" charset="-120"/>
              </a:rPr>
              <a:t>深耕大本营，新增 3-5 家直营/联营旗舰营地。重点打磨 </a:t>
            </a:r>
            <a:r>
              <a:rPr lang="en-US" sz="1000" dirty="0" err="1">
                <a:solidFill>
                  <a:srgbClr val="FFFFFF"/>
                </a:solidFill>
                <a:latin typeface="MiSans ExtraLight" pitchFamily="2" charset="-122"/>
                <a:ea typeface="MiSans ExtraLight" pitchFamily="2" charset="-122"/>
                <a:cs typeface="思源黑体" pitchFamily="34" charset="-120"/>
              </a:rPr>
              <a:t>SOP（标准作业程序</a:t>
            </a:r>
            <a:r>
              <a:rPr lang="en-US" sz="1000" dirty="0">
                <a:solidFill>
                  <a:srgbClr val="FFFFFF"/>
                </a:solidFill>
                <a:latin typeface="MiSans ExtraLight" pitchFamily="2" charset="-122"/>
                <a:ea typeface="MiSans ExtraLight" pitchFamily="2" charset="-122"/>
                <a:cs typeface="思源黑体" pitchFamily="34" charset="-120"/>
              </a:rPr>
              <a:t>）</a:t>
            </a:r>
            <a:r>
              <a:rPr lang="en-US" altLang="zh-CN" sz="1000" dirty="0">
                <a:solidFill>
                  <a:srgbClr val="FFFFFF"/>
                </a:solidFill>
                <a:latin typeface="MiSans ExtraLight" pitchFamily="2" charset="-122"/>
                <a:ea typeface="MiSans ExtraLight" pitchFamily="2" charset="-122"/>
                <a:cs typeface="思源黑体" pitchFamily="34" charset="-120"/>
              </a:rPr>
              <a:t> </a:t>
            </a:r>
            <a:r>
              <a:rPr lang="en-US" altLang="zh-CN" sz="1000" dirty="0" err="1">
                <a:solidFill>
                  <a:srgbClr val="FFFFFF"/>
                </a:solidFill>
                <a:latin typeface="MiSans ExtraLight" pitchFamily="2" charset="-122"/>
                <a:ea typeface="MiSans ExtraLight" pitchFamily="2" charset="-122"/>
                <a:cs typeface="思源黑体" pitchFamily="34" charset="-120"/>
              </a:rPr>
              <a:t>将单营地平均回本周期锁定在</a:t>
            </a:r>
            <a:r>
              <a:rPr lang="en-US" altLang="zh-CN" sz="1000" dirty="0">
                <a:solidFill>
                  <a:srgbClr val="FFFFFF"/>
                </a:solidFill>
                <a:latin typeface="MiSans ExtraLight" pitchFamily="2" charset="-122"/>
                <a:ea typeface="MiSans ExtraLight" pitchFamily="2" charset="-122"/>
                <a:cs typeface="思源黑体" pitchFamily="34" charset="-120"/>
              </a:rPr>
              <a:t> 18 </a:t>
            </a:r>
            <a:r>
              <a:rPr lang="en-US" altLang="zh-CN" sz="1000" dirty="0" err="1">
                <a:solidFill>
                  <a:srgbClr val="FFFFFF"/>
                </a:solidFill>
                <a:latin typeface="MiSans ExtraLight" pitchFamily="2" charset="-122"/>
                <a:ea typeface="MiSans ExtraLight" pitchFamily="2" charset="-122"/>
                <a:cs typeface="思源黑体" pitchFamily="34" charset="-120"/>
              </a:rPr>
              <a:t>个月以内验证模型的可复制性</a:t>
            </a:r>
            <a:r>
              <a:rPr lang="en-US" altLang="zh-CN" sz="1000" dirty="0">
                <a:solidFill>
                  <a:srgbClr val="FFFFFF"/>
                </a:solidFill>
                <a:latin typeface="MiSans ExtraLight" pitchFamily="2" charset="-122"/>
                <a:ea typeface="MiSans ExtraLight" pitchFamily="2" charset="-122"/>
                <a:cs typeface="思源黑体" pitchFamily="34" charset="-120"/>
              </a:rPr>
              <a:t>。 </a:t>
            </a:r>
            <a:r>
              <a:rPr lang="en-US" altLang="zh-CN" sz="1000" dirty="0" err="1">
                <a:solidFill>
                  <a:srgbClr val="FFFFFF"/>
                </a:solidFill>
                <a:latin typeface="MiSans ExtraLight" pitchFamily="2" charset="-122"/>
                <a:ea typeface="MiSans ExtraLight" pitchFamily="2" charset="-122"/>
                <a:cs typeface="思源黑体" pitchFamily="34" charset="-120"/>
              </a:rPr>
              <a:t>将单营地平均回本周期锁定在</a:t>
            </a:r>
            <a:r>
              <a:rPr lang="en-US" altLang="zh-CN" sz="1000" dirty="0">
                <a:solidFill>
                  <a:srgbClr val="FFFFFF"/>
                </a:solidFill>
                <a:latin typeface="MiSans ExtraLight" pitchFamily="2" charset="-122"/>
                <a:ea typeface="MiSans ExtraLight" pitchFamily="2" charset="-122"/>
                <a:cs typeface="思源黑体" pitchFamily="34" charset="-120"/>
              </a:rPr>
              <a:t> 18 </a:t>
            </a:r>
            <a:r>
              <a:rPr lang="en-US" altLang="zh-CN" sz="1000" dirty="0" err="1">
                <a:solidFill>
                  <a:srgbClr val="FFFFFF"/>
                </a:solidFill>
                <a:latin typeface="MiSans ExtraLight" pitchFamily="2" charset="-122"/>
                <a:ea typeface="MiSans ExtraLight" pitchFamily="2" charset="-122"/>
                <a:cs typeface="思源黑体" pitchFamily="34" charset="-120"/>
              </a:rPr>
              <a:t>个月以内验证模型的可复制性</a:t>
            </a:r>
            <a:r>
              <a:rPr lang="en-US" altLang="zh-CN" sz="1000" dirty="0">
                <a:solidFill>
                  <a:srgbClr val="FFFFFF"/>
                </a:solidFill>
                <a:latin typeface="MiSans ExtraLight" pitchFamily="2" charset="-122"/>
                <a:ea typeface="MiSans ExtraLight" pitchFamily="2" charset="-122"/>
                <a:cs typeface="思源黑体" pitchFamily="34" charset="-120"/>
              </a:rPr>
              <a:t>。 </a:t>
            </a:r>
            <a:r>
              <a:rPr lang="en-US" altLang="zh-CN" sz="1000" dirty="0" err="1">
                <a:solidFill>
                  <a:srgbClr val="FFFFFF"/>
                </a:solidFill>
                <a:latin typeface="MiSans ExtraLight" pitchFamily="2" charset="-122"/>
                <a:ea typeface="MiSans ExtraLight" pitchFamily="2" charset="-122"/>
                <a:cs typeface="思源黑体" pitchFamily="34" charset="-120"/>
              </a:rPr>
              <a:t>将单营地平均回本周期锁定在</a:t>
            </a:r>
            <a:r>
              <a:rPr lang="en-US" altLang="zh-CN" sz="1000" dirty="0">
                <a:solidFill>
                  <a:srgbClr val="FFFFFF"/>
                </a:solidFill>
                <a:latin typeface="MiSans ExtraLight" pitchFamily="2" charset="-122"/>
                <a:ea typeface="MiSans ExtraLight" pitchFamily="2" charset="-122"/>
                <a:cs typeface="思源黑体" pitchFamily="34" charset="-120"/>
              </a:rPr>
              <a:t> 18 </a:t>
            </a:r>
            <a:r>
              <a:rPr lang="en-US" altLang="zh-CN" sz="1000" dirty="0" err="1">
                <a:solidFill>
                  <a:srgbClr val="FFFFFF"/>
                </a:solidFill>
                <a:latin typeface="MiSans ExtraLight" pitchFamily="2" charset="-122"/>
                <a:ea typeface="MiSans ExtraLight" pitchFamily="2" charset="-122"/>
                <a:cs typeface="思源黑体" pitchFamily="34" charset="-120"/>
              </a:rPr>
              <a:t>个月以内验证模型的可复制性</a:t>
            </a:r>
            <a:r>
              <a:rPr lang="en-US" altLang="zh-CN" sz="1000" dirty="0">
                <a:solidFill>
                  <a:srgbClr val="FFFFFF"/>
                </a:solidFill>
                <a:latin typeface="MiSans ExtraLight" pitchFamily="2" charset="-122"/>
                <a:ea typeface="MiSans ExtraLight" pitchFamily="2" charset="-122"/>
                <a:cs typeface="思源黑体" pitchFamily="34" charset="-120"/>
              </a:rPr>
              <a:t>。</a:t>
            </a:r>
            <a:endParaRPr lang="en-US" sz="1000" dirty="0">
              <a:latin typeface="MiSans ExtraLight" pitchFamily="2" charset="-122"/>
              <a:ea typeface="MiSans ExtraLight"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171714"/>
        </a:solidFill>
        <a:effectLst/>
      </p:bgPr>
    </p:bg>
    <p:spTree>
      <p:nvGrpSpPr>
        <p:cNvPr id="1" name=""/>
        <p:cNvGrpSpPr/>
        <p:nvPr/>
      </p:nvGrpSpPr>
      <p:grpSpPr>
        <a:xfrm>
          <a:off x="0" y="0"/>
          <a:ext cx="0" cy="0"/>
          <a:chOff x="0" y="0"/>
          <a:chExt cx="0" cy="0"/>
        </a:xfrm>
      </p:grpSpPr>
      <p:sp>
        <p:nvSpPr>
          <p:cNvPr id="4" name="Shape 0"/>
          <p:cNvSpPr/>
          <p:nvPr/>
        </p:nvSpPr>
        <p:spPr>
          <a:xfrm>
            <a:off x="56676" y="99150"/>
            <a:ext cx="9024937" cy="0"/>
          </a:xfrm>
          <a:prstGeom prst="line">
            <a:avLst/>
          </a:prstGeom>
          <a:solidFill>
            <a:srgbClr val="FFDF65">
              <a:alpha val="20000"/>
            </a:srgbClr>
          </a:solidFill>
          <a:ln w="5292">
            <a:solidFill>
              <a:srgbClr val="FFFFFF">
                <a:alpha val="20000"/>
              </a:srgbClr>
            </a:solidFill>
            <a:prstDash val="solid"/>
            <a:headEnd type="none"/>
            <a:tailEnd type="none"/>
          </a:ln>
        </p:spPr>
        <p:txBody>
          <a:bodyPr/>
          <a:lstStyle/>
          <a:p>
            <a:endParaRPr lang="zh-CN" altLang="en-US"/>
          </a:p>
        </p:txBody>
      </p:sp>
      <p:sp>
        <p:nvSpPr>
          <p:cNvPr id="5" name="Shape 1"/>
          <p:cNvSpPr/>
          <p:nvPr/>
        </p:nvSpPr>
        <p:spPr>
          <a:xfrm>
            <a:off x="58619" y="5050631"/>
            <a:ext cx="9024937" cy="0"/>
          </a:xfrm>
          <a:prstGeom prst="line">
            <a:avLst/>
          </a:prstGeom>
          <a:solidFill>
            <a:srgbClr val="FFDF65">
              <a:alpha val="50000"/>
            </a:srgbClr>
          </a:solidFill>
          <a:ln w="5292">
            <a:solidFill>
              <a:srgbClr val="FFFFFF">
                <a:alpha val="50000"/>
              </a:srgbClr>
            </a:solidFill>
            <a:prstDash val="solid"/>
            <a:headEnd type="none"/>
            <a:tailEnd type="none"/>
          </a:ln>
        </p:spPr>
        <p:txBody>
          <a:bodyPr/>
          <a:lstStyle/>
          <a:p>
            <a:endParaRPr lang="zh-CN" altLang="en-US"/>
          </a:p>
        </p:txBody>
      </p:sp>
      <p:sp>
        <p:nvSpPr>
          <p:cNvPr id="6" name="Text 2"/>
          <p:cNvSpPr/>
          <p:nvPr/>
        </p:nvSpPr>
        <p:spPr>
          <a:xfrm>
            <a:off x="190500" y="272673"/>
            <a:ext cx="3809516" cy="119062"/>
          </a:xfrm>
          <a:prstGeom prst="rect">
            <a:avLst/>
          </a:prstGeom>
          <a:noFill/>
          <a:ln/>
        </p:spPr>
        <p:txBody>
          <a:bodyPr wrap="square" lIns="0" tIns="0" rIns="0" bIns="0" rtlCol="0" anchor="b"/>
          <a:lstStyle/>
          <a:p>
            <a:pPr algn="l">
              <a:lnSpc>
                <a:spcPts val="938"/>
              </a:lnSpc>
            </a:pPr>
            <a:r>
              <a:rPr lang="en-US" sz="800" b="0" dirty="0">
                <a:solidFill>
                  <a:srgbClr val="FFFFFF"/>
                </a:solidFill>
                <a:latin typeface="Helmet" pitchFamily="34" charset="0"/>
                <a:ea typeface="Helmet" pitchFamily="34" charset="-122"/>
                <a:cs typeface="Helmet" pitchFamily="34" charset="-120"/>
              </a:rPr>
              <a:t>TENCENT@EMAIL.COM</a:t>
            </a:r>
            <a:endParaRPr lang="en-US" sz="750" dirty="0"/>
          </a:p>
        </p:txBody>
      </p:sp>
      <p:sp>
        <p:nvSpPr>
          <p:cNvPr id="7" name="Text 3"/>
          <p:cNvSpPr/>
          <p:nvPr/>
        </p:nvSpPr>
        <p:spPr>
          <a:xfrm>
            <a:off x="458131" y="2481810"/>
            <a:ext cx="7957324" cy="2061230"/>
          </a:xfrm>
          <a:prstGeom prst="rect">
            <a:avLst/>
          </a:prstGeom>
          <a:noFill/>
          <a:ln/>
        </p:spPr>
        <p:txBody>
          <a:bodyPr wrap="square" lIns="0" tIns="0" rIns="0" bIns="0" rtlCol="0" anchor="b"/>
          <a:lstStyle/>
          <a:p>
            <a:pPr algn="ctr">
              <a:lnSpc>
                <a:spcPts val="11438"/>
              </a:lnSpc>
            </a:pPr>
            <a:r>
              <a:rPr lang="en-US" sz="6600" kern="0" dirty="0">
                <a:solidFill>
                  <a:srgbClr val="FFFFFF"/>
                </a:solidFill>
                <a:latin typeface="MiSans Demibold" pitchFamily="2" charset="-122"/>
                <a:ea typeface="MiSans Demibold" pitchFamily="2" charset="-122"/>
                <a:cs typeface="Bebas Neue Regular" pitchFamily="34" charset="-120"/>
              </a:rPr>
              <a:t>Thank you.</a:t>
            </a:r>
            <a:endParaRPr lang="en-US" sz="6600" dirty="0">
              <a:latin typeface="MiSans Demibold" pitchFamily="2" charset="-122"/>
              <a:ea typeface="MiSans Demibold" pitchFamily="2" charset="-122"/>
            </a:endParaRPr>
          </a:p>
        </p:txBody>
      </p:sp>
      <p:sp>
        <p:nvSpPr>
          <p:cNvPr id="8" name="Text 4"/>
          <p:cNvSpPr/>
          <p:nvPr/>
        </p:nvSpPr>
        <p:spPr>
          <a:xfrm>
            <a:off x="5190439" y="269985"/>
            <a:ext cx="3810000" cy="119063"/>
          </a:xfrm>
          <a:prstGeom prst="rect">
            <a:avLst/>
          </a:prstGeom>
          <a:noFill/>
          <a:ln/>
        </p:spPr>
        <p:txBody>
          <a:bodyPr wrap="square" lIns="0" tIns="0" rIns="0" bIns="0" rtlCol="0" anchor="b"/>
          <a:lstStyle/>
          <a:p>
            <a:pPr algn="r">
              <a:lnSpc>
                <a:spcPts val="938"/>
              </a:lnSpc>
            </a:pPr>
            <a:r>
              <a:rPr lang="en-US" sz="800" b="0" dirty="0">
                <a:solidFill>
                  <a:srgbClr val="FFFFFF"/>
                </a:solidFill>
                <a:latin typeface="Helmet" pitchFamily="34" charset="0"/>
                <a:ea typeface="Helmet" pitchFamily="34" charset="-122"/>
                <a:cs typeface="Helmet" pitchFamily="34" charset="-120"/>
              </a:rPr>
              <a:t>2026.06.02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TotalTime>
  <Words>433</Words>
  <Application>Microsoft Macintosh PowerPoint</Application>
  <PresentationFormat>全屏显示(16:9)</PresentationFormat>
  <Paragraphs>160</Paragraphs>
  <Slides>17</Slides>
  <Notes>17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17</vt:i4>
      </vt:variant>
    </vt:vector>
  </HeadingPairs>
  <TitlesOfParts>
    <vt:vector size="28" baseType="lpstr">
      <vt:lpstr>Helmet</vt:lpstr>
      <vt:lpstr>MiSans</vt:lpstr>
      <vt:lpstr>MiSans Demibold</vt:lpstr>
      <vt:lpstr>MiSans ExtraLight</vt:lpstr>
      <vt:lpstr>MiSans Light</vt:lpstr>
      <vt:lpstr>MiSans Medium</vt:lpstr>
      <vt:lpstr>MiSans Normal</vt:lpstr>
      <vt:lpstr>MiSans Semibold</vt:lpstr>
      <vt:lpstr>Arial</vt:lpstr>
      <vt:lpstr>TCloud Number</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新一代Glamping</dc:title>
  <dc:subject>PptxGenJS Presentation</dc:subject>
  <dc:creator>Pitch Software GmbH</dc:creator>
  <cp:lastModifiedBy>T171376</cp:lastModifiedBy>
  <cp:revision>17</cp:revision>
  <dcterms:created xsi:type="dcterms:W3CDTF">2026-06-02T14:03:38Z</dcterms:created>
  <dcterms:modified xsi:type="dcterms:W3CDTF">2026-06-16T07:54:31Z</dcterms:modified>
</cp:coreProperties>
</file>