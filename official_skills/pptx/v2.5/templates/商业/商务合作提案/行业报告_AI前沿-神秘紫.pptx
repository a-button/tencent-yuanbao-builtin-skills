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7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90" d="100"/>
          <a:sy n="90" d="100"/>
        </p:scale>
        <p:origin x="1976" y="8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 lvl="1" algn="ctr">
              <a:lnSpc>
                <a:spcPct val="100000"/>
              </a:lnSpc>
              <a:defRPr sz="1862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r>
              <a:rPr lang="zh-CN" altLang="en-US" sz="1400" b="1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PingFang SC"/>
                <a:ea typeface="PingFang SC"/>
              </a:rPr>
              <a:t>投入池结构（方向性）</a:t>
            </a:r>
            <a:endParaRPr lang="zh-CN" altLang="en-US" sz="1862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  <a:latin typeface="Arial"/>
              <a:ea typeface="宋体"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投入池结构（方向性）</c:v>
          </c:tx>
          <c:spPr>
            <a:solidFill>
              <a:srgbClr val="7879FF"/>
            </a:solidFill>
            <a:ln/>
          </c:spPr>
          <c:invertIfNegative val="1"/>
          <c:dLbls>
            <c:dLbl>
              <c:idx val="0"/>
              <c:layout>
                <c:manualLayout>
                  <c:x val="5.4687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7879FF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407-DC4D-8802-60F07FE5594C}"/>
                </c:ext>
              </c:extLst>
            </c:dLbl>
            <c:dLbl>
              <c:idx val="1"/>
              <c:layout>
                <c:manualLayout>
                  <c:x val="6.64063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7879FF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407-DC4D-8802-60F07FE5594C}"/>
                </c:ext>
              </c:extLst>
            </c:dLbl>
            <c:dLbl>
              <c:idx val="2"/>
              <c:layout>
                <c:manualLayout>
                  <c:x val="6.05469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7879FF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407-DC4D-8802-60F07FE5594C}"/>
                </c:ext>
              </c:extLst>
            </c:dLbl>
            <c:dLbl>
              <c:idx val="3"/>
              <c:layout>
                <c:manualLayout>
                  <c:x val="5.85938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7879FF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407-DC4D-8802-60F07FE5594C}"/>
                </c:ext>
              </c:extLst>
            </c:dLbl>
            <c:dLbl>
              <c:idx val="4"/>
              <c:layout>
                <c:manualLayout>
                  <c:x val="7.0312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7879FF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407-DC4D-8802-60F07FE5594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安全认证</c:v>
              </c:pt>
              <c:pt idx="1">
                <c:v>售后运维</c:v>
              </c:pt>
              <c:pt idx="2">
                <c:v>测试场与数据</c:v>
              </c:pt>
              <c:pt idx="3">
                <c:v>核心零部件</c:v>
              </c:pt>
              <c:pt idx="4">
                <c:v>整机工厂</c:v>
              </c:pt>
            </c:strLit>
          </c:cat>
          <c:val>
            <c:numLit>
              <c:formatCode>General</c:formatCode>
              <c:ptCount val="5"/>
              <c:pt idx="0">
                <c:v>26</c:v>
              </c:pt>
              <c:pt idx="1">
                <c:v>38</c:v>
              </c:pt>
              <c:pt idx="2">
                <c:v>54</c:v>
              </c:pt>
              <c:pt idx="3">
                <c:v>72</c:v>
              </c:pt>
              <c:pt idx="4">
                <c:v>100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5-3407-DC4D-8802-60F07FE559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48011"/>
        <c:axId val="14548012"/>
      </c:barChart>
      <c:catAx>
        <c:axId val="145480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endParaRPr lang="zh-CN"/>
          </a:p>
        </c:txPr>
        <c:crossAx val="14548012"/>
        <c:crosses val="autoZero"/>
        <c:auto val="1"/>
        <c:lblAlgn val="ctr"/>
        <c:lblOffset val="100"/>
        <c:noMultiLvlLbl val="1"/>
      </c:catAx>
      <c:valAx>
        <c:axId val="14548012"/>
        <c:scaling>
          <c:orientation val="minMax"/>
        </c:scaling>
        <c:delete val="0"/>
        <c:axPos val="b"/>
        <c:majorGridlines>
          <c:spPr>
            <a:ln w="6350" cap="flat" cmpd="sng">
              <a:solidFill>
                <a:srgbClr val="404040">
                  <a:alpha val="100000"/>
                </a:srgbClr>
              </a:solidFill>
              <a:prstDash val="sysDot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endParaRPr lang="zh-CN"/>
          </a:p>
        </c:txPr>
        <c:crossAx val="145480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 lvl="1" algn="ctr">
              <a:lnSpc>
                <a:spcPct val="100000"/>
              </a:lnSpc>
              <a:defRPr sz="1862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r>
              <a:rPr lang="zh-CN" sz="1400" b="1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PingFang SC"/>
                <a:ea typeface="PingFang SC"/>
              </a:rPr>
              <a:t>端侧推理成本构成（建议量化的估算占比）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端侧推理成本构成</c:v>
          </c:tx>
          <c:spPr>
            <a:solidFill>
              <a:srgbClr val="7879FF"/>
            </a:solidFill>
            <a:ln/>
          </c:spPr>
          <c:invertIfNegative val="1"/>
          <c:dLbls>
            <c:dLbl>
              <c:idx val="0"/>
              <c:layout>
                <c:manualLayout>
                  <c:x val="7.2735099999999997E-2"/>
                  <c:y val="6.8150299999999997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7879FF">
                          <a:alpha val="100000"/>
                        </a:srgbClr>
                      </a:solidFill>
                      <a:latin typeface="PingFang SC"/>
                      <a:ea typeface="PingFang SC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D0C-384A-99AC-34B88F4CBD82}"/>
                </c:ext>
              </c:extLst>
            </c:dLbl>
            <c:dLbl>
              <c:idx val="1"/>
              <c:layout>
                <c:manualLayout>
                  <c:x val="9.2632300000000001E-2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7879FF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D0C-384A-99AC-34B88F4CBD82}"/>
                </c:ext>
              </c:extLst>
            </c:dLbl>
            <c:dLbl>
              <c:idx val="2"/>
              <c:layout>
                <c:manualLayout>
                  <c:x val="7.6077800000000001E-2"/>
                  <c:y val="3.5059599999999998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7879FF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D0C-384A-99AC-34B88F4CBD82}"/>
                </c:ext>
              </c:extLst>
            </c:dLbl>
            <c:dLbl>
              <c:idx val="3"/>
              <c:layout>
                <c:manualLayout>
                  <c:x val="8.0684599999999995E-2"/>
                  <c:y val="-3.3090699999999999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7879FF">
                          <a:alpha val="100000"/>
                        </a:srgbClr>
                      </a:solidFill>
                      <a:latin typeface="PingFang SC"/>
                      <a:ea typeface="PingFang SC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D0C-384A-99AC-34B88F4CBD82}"/>
                </c:ext>
              </c:extLst>
            </c:dLbl>
            <c:dLbl>
              <c:idx val="4"/>
              <c:layout>
                <c:manualLayout>
                  <c:x val="7.9240400000000003E-2"/>
                  <c:y val="3.5059599999999998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7879FF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D0C-384A-99AC-34B88F4CBD8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云端调用</c:v>
              </c:pt>
              <c:pt idx="1">
                <c:v>故障恢复</c:v>
              </c:pt>
              <c:pt idx="2">
                <c:v>远程监控</c:v>
              </c:pt>
              <c:pt idx="3">
                <c:v>传感器</c:v>
              </c:pt>
              <c:pt idx="4">
                <c:v>算力边缘</c:v>
              </c:pt>
            </c:strLit>
          </c:cat>
          <c:val>
            <c:numLit>
              <c:formatCode>General</c:formatCode>
              <c:ptCount val="5"/>
              <c:pt idx="0">
                <c:v>0.05</c:v>
              </c:pt>
              <c:pt idx="1">
                <c:v>0.12</c:v>
              </c:pt>
              <c:pt idx="2">
                <c:v>0.15</c:v>
              </c:pt>
              <c:pt idx="3">
                <c:v>0.3</c:v>
              </c:pt>
              <c:pt idx="4">
                <c:v>0.45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5-CD0C-384A-99AC-34B88F4CBD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48011"/>
        <c:axId val="14548012"/>
      </c:barChart>
      <c:catAx>
        <c:axId val="145480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endParaRPr lang="zh-CN"/>
          </a:p>
        </c:txPr>
        <c:crossAx val="14548012"/>
        <c:crosses val="autoZero"/>
        <c:auto val="1"/>
        <c:lblAlgn val="ctr"/>
        <c:lblOffset val="100"/>
        <c:noMultiLvlLbl val="1"/>
      </c:catAx>
      <c:valAx>
        <c:axId val="14548012"/>
        <c:scaling>
          <c:orientation val="minMax"/>
        </c:scaling>
        <c:delete val="1"/>
        <c:axPos val="b"/>
        <c:majorGridlines>
          <c:spPr>
            <a:ln w="6350" cap="flat" cmpd="sng">
              <a:solidFill>
                <a:srgbClr val="404040">
                  <a:alpha val="100000"/>
                </a:srgbClr>
              </a:solidFill>
              <a:prstDash val="sysDot"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crossAx val="145480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 lvl="1" algn="ctr">
              <a:lnSpc>
                <a:spcPct val="100000"/>
              </a:lnSpc>
              <a:defRPr sz="1862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r>
              <a:rPr lang="en-US" sz="1400" b="1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rPr>
              <a:t>investment (USD B)</a:t>
            </a:r>
            <a:endParaRPr lang="en-US" sz="1862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  <a:latin typeface="Arial"/>
              <a:ea typeface="宋体"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investment USD B</c:v>
          </c:tx>
          <c:spPr>
            <a:solidFill>
              <a:srgbClr val="7879FF"/>
            </a:solidFill>
            <a:ln/>
          </c:spPr>
          <c:invertIfNegative val="1"/>
          <c:dLbls>
            <c:dLbl>
              <c:idx val="0"/>
              <c:layout>
                <c:manualLayout>
                  <c:x val="6.3569700000000007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7879FF">
                          <a:alpha val="100000"/>
                        </a:srgbClr>
                      </a:solidFill>
                      <a:latin typeface="PingFang SC"/>
                      <a:ea typeface="PingFang SC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033-A948-8F74-573BEEBDDEC1}"/>
                </c:ext>
              </c:extLst>
            </c:dLbl>
            <c:dLbl>
              <c:idx val="1"/>
              <c:layout>
                <c:manualLayout>
                  <c:x val="6.05469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7879FF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033-A948-8F74-573BEEBDDEC1}"/>
                </c:ext>
              </c:extLst>
            </c:dLbl>
            <c:dLbl>
              <c:idx val="2"/>
              <c:layout>
                <c:manualLayout>
                  <c:x val="5.4687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7879FF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033-A948-8F74-573BEEBDDEC1}"/>
                </c:ext>
              </c:extLst>
            </c:dLbl>
            <c:dLbl>
              <c:idx val="3"/>
              <c:layout>
                <c:manualLayout>
                  <c:x val="6.64063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7879FF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033-A948-8F74-573BEEBDDEC1}"/>
                </c:ext>
              </c:extLst>
            </c:dLbl>
            <c:dLbl>
              <c:idx val="4"/>
              <c:layout>
                <c:manualLayout>
                  <c:x val="6.05469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7879FF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033-A948-8F74-573BEEBDDEC1}"/>
                </c:ext>
              </c:extLst>
            </c:dLbl>
            <c:dLbl>
              <c:idx val="5"/>
              <c:layout>
                <c:manualLayout>
                  <c:x val="5.85938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7879FF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033-A948-8F74-573BEEBDDEC1}"/>
                </c:ext>
              </c:extLst>
            </c:dLbl>
            <c:dLbl>
              <c:idx val="6"/>
              <c:layout>
                <c:manualLayout>
                  <c:x val="7.0312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7879FF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033-A948-8F74-573BEEBDDE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7"/>
              <c:pt idx="0">
                <c:v>Robotics+hardware</c:v>
              </c:pt>
              <c:pt idx="1">
                <c:v>Fintech</c:v>
              </c:pt>
              <c:pt idx="2">
                <c:v>Autonomous vehicle</c:v>
              </c:pt>
              <c:pt idx="3">
                <c:v>Medical &amp; health care</c:v>
              </c:pt>
              <c:pt idx="4">
                <c:v>Data management</c:v>
              </c:pt>
              <c:pt idx="5">
                <c:v>AI infra/research</c:v>
              </c:pt>
              <c:pt idx="6">
                <c:v>Other focus areas</c:v>
              </c:pt>
            </c:strLit>
          </c:cat>
          <c:val>
            <c:numLit>
              <c:formatCode>General</c:formatCode>
              <c:ptCount val="7"/>
              <c:pt idx="0">
                <c:v>2.6</c:v>
              </c:pt>
              <c:pt idx="1">
                <c:v>6.6</c:v>
              </c:pt>
              <c:pt idx="2">
                <c:v>9.4</c:v>
              </c:pt>
              <c:pt idx="3">
                <c:v>10.8</c:v>
              </c:pt>
              <c:pt idx="4">
                <c:v>16.600000000000001</c:v>
              </c:pt>
              <c:pt idx="5">
                <c:v>37.299999999999997</c:v>
              </c:pt>
              <c:pt idx="6">
                <c:v>37.5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7-6033-A948-8F74-573BEEBDDE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48011"/>
        <c:axId val="14548012"/>
      </c:barChart>
      <c:catAx>
        <c:axId val="145480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pPr>
            <a:endParaRPr lang="zh-CN"/>
          </a:p>
        </c:txPr>
        <c:crossAx val="14548012"/>
        <c:crosses val="autoZero"/>
        <c:auto val="1"/>
        <c:lblAlgn val="ctr"/>
        <c:lblOffset val="100"/>
        <c:noMultiLvlLbl val="1"/>
      </c:catAx>
      <c:valAx>
        <c:axId val="14548012"/>
        <c:scaling>
          <c:orientation val="minMax"/>
        </c:scaling>
        <c:delete val="0"/>
        <c:axPos val="b"/>
        <c:majorGridlines>
          <c:spPr>
            <a:ln w="6350" cap="flat" cmpd="sng">
              <a:solidFill>
                <a:srgbClr val="404040">
                  <a:alpha val="100000"/>
                </a:srgbClr>
              </a:solidFill>
              <a:prstDash val="sysDot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endParaRPr lang="zh-CN"/>
          </a:p>
        </c:txPr>
        <c:crossAx val="145480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company</c:v>
          </c:tx>
          <c:spPr>
            <a:solidFill>
              <a:srgbClr val="4472C4"/>
            </a:solidFill>
            <a:ln/>
          </c:spPr>
          <c:invertIfNegative val="1"/>
          <c:dPt>
            <c:idx val="0"/>
            <c:invertIfNegative val="1"/>
            <c:bubble3D val="0"/>
            <c:spPr>
              <a:solidFill>
                <a:srgbClr val="7879FF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1-2F07-044A-BE49-D6C58F7126CC}"/>
              </c:ext>
            </c:extLst>
          </c:dPt>
          <c:dPt>
            <c:idx val="1"/>
            <c:invertIfNegative val="1"/>
            <c:bubble3D val="0"/>
            <c:spPr>
              <a:solidFill>
                <a:srgbClr val="7879FF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3-2F07-044A-BE49-D6C58F7126CC}"/>
              </c:ext>
            </c:extLst>
          </c:dPt>
          <c:dPt>
            <c:idx val="2"/>
            <c:invertIfNegative val="1"/>
            <c:bubble3D val="0"/>
            <c:spPr>
              <a:solidFill>
                <a:srgbClr val="7879FF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5-2F07-044A-BE49-D6C58F7126CC}"/>
              </c:ext>
            </c:extLst>
          </c:dPt>
          <c:dPt>
            <c:idx val="3"/>
            <c:invertIfNegative val="1"/>
            <c:bubble3D val="0"/>
            <c:spPr>
              <a:solidFill>
                <a:srgbClr val="7879FF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7-2F07-044A-BE49-D6C58F7126CC}"/>
              </c:ext>
            </c:extLst>
          </c:dPt>
          <c:dLbls>
            <c:dLbl>
              <c:idx val="0"/>
              <c:numFmt formatCode="@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F07-044A-BE49-D6C58F7126CC}"/>
                </c:ext>
              </c:extLst>
            </c:dLbl>
            <c:dLbl>
              <c:idx val="1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2F07-044A-BE49-D6C58F7126CC}"/>
                </c:ext>
              </c:extLst>
            </c:dLbl>
            <c:dLbl>
              <c:idx val="2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2F07-044A-BE49-D6C58F7126CC}"/>
                </c:ext>
              </c:extLst>
            </c:dLbl>
            <c:dLbl>
              <c:idx val="3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2F07-044A-BE49-D6C58F7126C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Amazon</c:v>
              </c:pt>
              <c:pt idx="1">
                <c:v>Microsoft</c:v>
              </c:pt>
              <c:pt idx="2">
                <c:v>Alphabet</c:v>
              </c:pt>
              <c:pt idx="3">
                <c:v>Meta</c:v>
              </c:pt>
            </c:strLit>
          </c:cat>
          <c:val>
            <c:numLit>
              <c:formatCode>General</c:formatCode>
              <c:ptCount val="4"/>
              <c:pt idx="0">
                <c:v>83</c:v>
              </c:pt>
              <c:pt idx="1">
                <c:v>44.5</c:v>
              </c:pt>
              <c:pt idx="2">
                <c:v>52.5</c:v>
              </c:pt>
              <c:pt idx="3">
                <c:v>39.200000000000003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8-2F07-044A-BE49-D6C58F7126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469726"/>
        <c:axId val="13469727"/>
      </c:barChart>
      <c:catAx>
        <c:axId val="1346972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</a:defRPr>
            </a:pPr>
            <a:endParaRPr lang="zh-CN"/>
          </a:p>
        </c:txPr>
        <c:crossAx val="13469727"/>
        <c:crosses val="autoZero"/>
        <c:auto val="1"/>
        <c:lblAlgn val="ctr"/>
        <c:lblOffset val="100"/>
        <c:noMultiLvlLbl val="1"/>
      </c:catAx>
      <c:valAx>
        <c:axId val="13469727"/>
        <c:scaling>
          <c:orientation val="minMax"/>
        </c:scaling>
        <c:delete val="0"/>
        <c:axPos val="l"/>
        <c:majorGridlines>
          <c:spPr>
            <a:ln w="6350" cap="flat" cmpd="sng">
              <a:solidFill>
                <a:schemeClr val="tx1">
                  <a:lumMod val="75000"/>
                  <a:lumOff val="25000"/>
                  <a:alpha val="100000"/>
                </a:schemeClr>
              </a:solidFill>
              <a:prstDash val="sysDot"/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 sz="1197" b="1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PingFang SC"/>
                    <a:ea typeface="PingFang SC"/>
                  </a:defRPr>
                </a:pPr>
                <a:r>
                  <a:rPr>
                    <a:latin typeface="PingFang SC"/>
                    <a:ea typeface="PingFang SC"/>
                  </a:rPr>
                  <a:t>USD B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</a:defRPr>
            </a:pPr>
            <a:endParaRPr lang="zh-CN"/>
          </a:p>
        </c:txPr>
        <c:crossAx val="1346972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8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8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8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8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8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AutoShape 5"/>
          <p:cNvSpPr/>
          <p:nvPr/>
        </p:nvSpPr>
        <p:spPr>
          <a:xfrm>
            <a:off x="7112000" y="0"/>
            <a:ext cx="5080000" cy="6858000"/>
          </a:xfrm>
          <a:prstGeom prst="roundRect">
            <a:avLst>
              <a:gd name="adj" fmla="val 0"/>
            </a:avLst>
          </a:prstGeom>
          <a:blipFill rotWithShape="1">
            <a:blip r:embed="rId3">
              <a:alphaModFix/>
              <a:extLst>
                <a:ext uri="">
                  <a14:imgProps xmlns:mc="http://schemas.openxmlformats.org/markup-compatibility/2006" xmlns:a14="http://schemas.microsoft.com/office/drawing/2010/main" xmlns="">
                    <a14:imgLayer>
                      <a14:imgEffect>
                        <a14:brightnessContrast/>
                        <a14:colorTemperature/>
                        <a14:saturation/>
                        <a14:sharpenSoften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10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64" name="AutoShape 7"/>
          <p:cNvSpPr/>
          <p:nvPr/>
        </p:nvSpPr>
        <p:spPr>
          <a:xfrm>
            <a:off x="508430" y="927100"/>
            <a:ext cx="6095139" cy="143100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50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具身智能产业观察</a:t>
            </a:r>
            <a:endParaRPr/>
          </a:p>
        </p:txBody>
      </p:sp>
      <p:sp>
        <p:nvSpPr>
          <p:cNvPr id="65" name="AutoShape 8"/>
          <p:cNvSpPr/>
          <p:nvPr/>
        </p:nvSpPr>
        <p:spPr>
          <a:xfrm>
            <a:off x="754380" y="2358105"/>
            <a:ext cx="2726690" cy="1926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 dirty="0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内容大纲</a:t>
            </a:r>
            <a:endParaRPr lang="en-US" sz="1400" b="1" i="0" u="none" strike="noStrike" dirty="0">
              <a:solidFill>
                <a:srgbClr val="FFFFFF">
                  <a:alpha val="70196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400" b="0" i="0" u="none" strike="noStrike" dirty="0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人形机器人量产</a:t>
            </a:r>
            <a:endParaRPr dirty="0"/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400" b="0" i="0" u="none" strike="noStrike" dirty="0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场景试点与商业闭环</a:t>
            </a:r>
            <a:endParaRPr dirty="0"/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400" b="0" i="0" u="none" strike="noStrike" dirty="0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核心零部件供应链</a:t>
            </a:r>
            <a:endParaRPr dirty="0"/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400" b="0" i="0" u="none" strike="noStrike" dirty="0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政策、资本与安全规范</a:t>
            </a:r>
            <a:endParaRPr dirty="0"/>
          </a:p>
        </p:txBody>
      </p:sp>
      <p:sp>
        <p:nvSpPr>
          <p:cNvPr id="66" name="AutoShape 9"/>
          <p:cNvSpPr/>
          <p:nvPr/>
        </p:nvSpPr>
        <p:spPr>
          <a:xfrm>
            <a:off x="557531" y="2451474"/>
            <a:ext cx="45719" cy="1833530"/>
          </a:xfrm>
          <a:prstGeom prst="roundRect">
            <a:avLst>
              <a:gd name="adj" fmla="val 0"/>
            </a:avLst>
          </a:prstGeom>
          <a:solidFill>
            <a:srgbClr val="7879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10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67" name="AutoShape 32"/>
          <p:cNvSpPr/>
          <p:nvPr/>
        </p:nvSpPr>
        <p:spPr>
          <a:xfrm>
            <a:off x="577850" y="583883"/>
            <a:ext cx="6025719" cy="3432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</a:rPr>
              <a:t>全球市场与技术报告</a:t>
            </a:r>
            <a:r>
              <a:rPr lang="zh-CN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（</a:t>
            </a: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2025</a:t>
            </a:r>
            <a:r>
              <a:rPr lang="zh-CN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年</a:t>
            </a: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9</a:t>
            </a:r>
            <a:r>
              <a:rPr lang="zh-CN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月－</a:t>
            </a: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2026</a:t>
            </a:r>
            <a:r>
              <a:rPr lang="zh-CN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年</a:t>
            </a: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3</a:t>
            </a:r>
            <a:r>
              <a:rPr lang="zh-CN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月）</a:t>
            </a:r>
            <a:endParaRPr/>
          </a:p>
        </p:txBody>
      </p:sp>
      <p:sp>
        <p:nvSpPr>
          <p:cNvPr id="68" name="十角星 67"/>
          <p:cNvSpPr/>
          <p:nvPr/>
        </p:nvSpPr>
        <p:spPr>
          <a:xfrm>
            <a:off x="10361306" y="-219688"/>
            <a:ext cx="2137388" cy="2137388"/>
          </a:xfrm>
          <a:prstGeom prst="star10">
            <a:avLst>
              <a:gd name="adj" fmla="val 14924"/>
              <a:gd name="hf" fmla="val 105146"/>
            </a:avLst>
          </a:prstGeom>
          <a:solidFill>
            <a:schemeClr val="bg1">
              <a:alpha val="100000"/>
            </a:scheme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>
              <a:latin typeface="PingFang SC"/>
              <a:ea typeface="PingFang SC"/>
            </a:endParaRPr>
          </a:p>
        </p:txBody>
      </p:sp>
      <p:sp>
        <p:nvSpPr>
          <p:cNvPr id="69" name="十角星 68"/>
          <p:cNvSpPr/>
          <p:nvPr/>
        </p:nvSpPr>
        <p:spPr>
          <a:xfrm>
            <a:off x="6840760" y="2577465"/>
            <a:ext cx="762000" cy="762000"/>
          </a:xfrm>
          <a:prstGeom prst="star10">
            <a:avLst>
              <a:gd name="adj" fmla="val 14669"/>
              <a:gd name="hf" fmla="val 105146"/>
            </a:avLst>
          </a:prstGeom>
          <a:solidFill>
            <a:srgbClr val="7879FF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>
              <a:latin typeface="PingFang SC"/>
              <a:ea typeface="PingFang SC"/>
            </a:endParaRPr>
          </a:p>
        </p:txBody>
      </p:sp>
      <p:sp>
        <p:nvSpPr>
          <p:cNvPr id="70" name="AutoShape 22"/>
          <p:cNvSpPr/>
          <p:nvPr/>
        </p:nvSpPr>
        <p:spPr>
          <a:xfrm>
            <a:off x="7602760" y="4506342"/>
            <a:ext cx="4098481" cy="172935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600" b="1" i="0" u="none" strike="noStrike">
                <a:solidFill>
                  <a:schemeClr val="bg1">
                    <a:alpha val="100000"/>
                  </a:schemeClr>
                </a:solidFill>
                <a:latin typeface="PingFang SC"/>
                <a:ea typeface="PingFang SC"/>
                <a:cs typeface="Arial"/>
                <a:sym typeface="Arial"/>
              </a:rPr>
              <a:t>分析报告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en-US" sz="1600" b="0" i="0" u="none" strike="noStrike">
              <a:solidFill>
                <a:schemeClr val="bg1">
                  <a:alpha val="100000"/>
                </a:scheme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chemeClr val="bg1">
                    <a:alpha val="100000"/>
                  </a:schemeClr>
                </a:solidFill>
                <a:latin typeface="PingFang SC"/>
                <a:ea typeface="PingFang SC"/>
                <a:cs typeface="Arial"/>
                <a:sym typeface="Arial"/>
              </a:rPr>
              <a:t>这是一份面向管理层的简明行业分析：从技术栈成熟、工厂投入、应用落地到监管要求，梳理具身智能进入规模化前夜的关键变化。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AutoShape 5"/>
          <p:cNvSpPr/>
          <p:nvPr/>
        </p:nvSpPr>
        <p:spPr>
          <a:xfrm>
            <a:off x="9001773" y="2265679"/>
            <a:ext cx="3190226" cy="2286000"/>
          </a:xfrm>
          <a:prstGeom prst="roundRect">
            <a:avLst>
              <a:gd name="adj" fmla="val 0"/>
            </a:avLst>
          </a:prstGeom>
          <a:solidFill>
            <a:srgbClr val="7879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2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73" name="AutoShape 4"/>
          <p:cNvSpPr/>
          <p:nvPr/>
        </p:nvSpPr>
        <p:spPr>
          <a:xfrm>
            <a:off x="5814060" y="4572000"/>
            <a:ext cx="3187713" cy="2286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2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74" name="AutoShape 5"/>
          <p:cNvSpPr/>
          <p:nvPr/>
        </p:nvSpPr>
        <p:spPr>
          <a:xfrm>
            <a:off x="5814060" y="0"/>
            <a:ext cx="3190240" cy="2286000"/>
          </a:xfrm>
          <a:prstGeom prst="roundRect">
            <a:avLst>
              <a:gd name="adj" fmla="val 0"/>
            </a:avLst>
          </a:prstGeom>
          <a:solidFill>
            <a:srgbClr val="7879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2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75" name="AutoShape 6"/>
          <p:cNvSpPr/>
          <p:nvPr/>
        </p:nvSpPr>
        <p:spPr>
          <a:xfrm>
            <a:off x="604520" y="551180"/>
            <a:ext cx="4448810" cy="17144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行业围绕“量产能力</a:t>
            </a:r>
            <a:r>
              <a:rPr lang="en-US" sz="2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 × </a:t>
            </a:r>
            <a:r>
              <a:rPr lang="zh-CN" sz="2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场景闭环”加速收敛</a:t>
            </a:r>
            <a:endParaRPr/>
          </a:p>
        </p:txBody>
      </p:sp>
      <p:sp>
        <p:nvSpPr>
          <p:cNvPr id="76" name="AutoShape 7"/>
          <p:cNvSpPr/>
          <p:nvPr/>
        </p:nvSpPr>
        <p:spPr>
          <a:xfrm>
            <a:off x="604520" y="2540000"/>
            <a:ext cx="4448810" cy="3492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7879FF">
                    <a:alpha val="100000"/>
                  </a:srgbClr>
                </a:solidFill>
                <a:latin typeface="PingFang SC"/>
                <a:ea typeface="PingFang SC"/>
              </a:rPr>
              <a:t>商业化试点</a:t>
            </a:r>
            <a:endParaRPr/>
          </a:p>
        </p:txBody>
      </p:sp>
      <p:sp>
        <p:nvSpPr>
          <p:cNvPr id="77" name="AutoShape 8"/>
          <p:cNvSpPr/>
          <p:nvPr/>
        </p:nvSpPr>
        <p:spPr>
          <a:xfrm>
            <a:off x="604520" y="2921000"/>
            <a:ext cx="4448810" cy="749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工业巡检、仓储搬运、门店补货、展厅导览等低风险场景率先进入连续试运行。</a:t>
            </a:r>
            <a:endParaRPr/>
          </a:p>
        </p:txBody>
      </p:sp>
      <p:sp>
        <p:nvSpPr>
          <p:cNvPr id="78" name="AutoShape 9"/>
          <p:cNvSpPr/>
          <p:nvPr/>
        </p:nvSpPr>
        <p:spPr>
          <a:xfrm>
            <a:off x="604520" y="3937000"/>
            <a:ext cx="4448810" cy="3492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7879FF">
                    <a:alpha val="100000"/>
                  </a:srgbClr>
                </a:solidFill>
                <a:latin typeface="PingFang SC"/>
                <a:ea typeface="PingFang SC"/>
              </a:rPr>
              <a:t>量产节奏</a:t>
            </a:r>
            <a:endParaRPr/>
          </a:p>
        </p:txBody>
      </p:sp>
      <p:sp>
        <p:nvSpPr>
          <p:cNvPr id="79" name="AutoShape 10"/>
          <p:cNvSpPr/>
          <p:nvPr/>
        </p:nvSpPr>
        <p:spPr>
          <a:xfrm>
            <a:off x="604520" y="4318000"/>
            <a:ext cx="4448810" cy="990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头部厂商从单机展示走向小批量交付，供应链开始按年度框架锁定核心零部件。</a:t>
            </a:r>
            <a:endParaRPr/>
          </a:p>
        </p:txBody>
      </p:sp>
      <p:sp>
        <p:nvSpPr>
          <p:cNvPr id="80" name="AutoShape 15"/>
          <p:cNvSpPr/>
          <p:nvPr/>
        </p:nvSpPr>
        <p:spPr>
          <a:xfrm>
            <a:off x="6450330" y="288925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&gt;50</a:t>
            </a:r>
            <a:r>
              <a:rPr lang="zh-CN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家</a:t>
            </a:r>
            <a:endParaRPr/>
          </a:p>
        </p:txBody>
      </p:sp>
      <p:sp>
        <p:nvSpPr>
          <p:cNvPr id="81" name="AutoShape 16"/>
          <p:cNvSpPr/>
          <p:nvPr/>
        </p:nvSpPr>
        <p:spPr>
          <a:xfrm>
            <a:off x="6450330" y="358775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美国风险投资交易总额的 [比例] 流向了人工智能领域。</a:t>
            </a:r>
            <a:endParaRPr/>
          </a:p>
        </p:txBody>
      </p:sp>
      <p:sp>
        <p:nvSpPr>
          <p:cNvPr id="82" name="AutoShape 17"/>
          <p:cNvSpPr/>
          <p:nvPr/>
        </p:nvSpPr>
        <p:spPr>
          <a:xfrm>
            <a:off x="9677400" y="288925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2026</a:t>
            </a:r>
            <a:endParaRPr lang="en-US" sz="1100"/>
          </a:p>
        </p:txBody>
      </p:sp>
      <p:sp>
        <p:nvSpPr>
          <p:cNvPr id="83" name="AutoShape 18"/>
          <p:cNvSpPr/>
          <p:nvPr/>
        </p:nvSpPr>
        <p:spPr>
          <a:xfrm>
            <a:off x="9677400" y="358775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欧盟《人工智能法案》大规模执法启动（8月）</a:t>
            </a:r>
            <a:endParaRPr/>
          </a:p>
        </p:txBody>
      </p:sp>
      <p:sp>
        <p:nvSpPr>
          <p:cNvPr id="84" name="AutoShape 19"/>
          <p:cNvSpPr/>
          <p:nvPr/>
        </p:nvSpPr>
        <p:spPr>
          <a:xfrm>
            <a:off x="9677400" y="5511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千亿级</a:t>
            </a:r>
            <a:endParaRPr/>
          </a:p>
        </p:txBody>
      </p:sp>
      <p:sp>
        <p:nvSpPr>
          <p:cNvPr id="85" name="AutoShape 20"/>
          <p:cNvSpPr/>
          <p:nvPr/>
        </p:nvSpPr>
        <p:spPr>
          <a:xfrm>
            <a:off x="9677400" y="124968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整机、零部件、数据平台形成新增投入池</a:t>
            </a:r>
            <a:endParaRPr/>
          </a:p>
        </p:txBody>
      </p:sp>
      <p:sp>
        <p:nvSpPr>
          <p:cNvPr id="86" name="AutoShape 21"/>
          <p:cNvSpPr/>
          <p:nvPr/>
        </p:nvSpPr>
        <p:spPr>
          <a:xfrm>
            <a:off x="6450330" y="5511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7879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3</a:t>
            </a:r>
            <a:r>
              <a:rPr lang="zh-CN" sz="3600" b="1" i="0" u="none" strike="noStrike">
                <a:solidFill>
                  <a:srgbClr val="7879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类</a:t>
            </a:r>
            <a:endParaRPr/>
          </a:p>
        </p:txBody>
      </p:sp>
      <p:sp>
        <p:nvSpPr>
          <p:cNvPr id="87" name="AutoShape 22"/>
          <p:cNvSpPr/>
          <p:nvPr/>
        </p:nvSpPr>
        <p:spPr>
          <a:xfrm>
            <a:off x="6450330" y="124968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2025年全球数据中心资本支出增长</a:t>
            </a:r>
            <a:endParaRPr/>
          </a:p>
        </p:txBody>
      </p:sp>
      <p:sp>
        <p:nvSpPr>
          <p:cNvPr id="88" name="AutoShape 23"/>
          <p:cNvSpPr/>
          <p:nvPr/>
        </p:nvSpPr>
        <p:spPr>
          <a:xfrm>
            <a:off x="9677400" y="51485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</a:t>
            </a:r>
            <a:r>
              <a:rPr lang="zh-CN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年</a:t>
            </a: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89" name="AutoShape 24"/>
          <p:cNvSpPr/>
          <p:nvPr/>
        </p:nvSpPr>
        <p:spPr>
          <a:xfrm>
            <a:off x="9677400" y="58470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具身智能从样机验证到规模采购的典型窗口期</a:t>
            </a:r>
            <a:endParaRPr/>
          </a:p>
        </p:txBody>
      </p:sp>
      <p:sp>
        <p:nvSpPr>
          <p:cNvPr id="90" name="AutoShape 25"/>
          <p:cNvSpPr/>
          <p:nvPr/>
        </p:nvSpPr>
        <p:spPr>
          <a:xfrm>
            <a:off x="6450330" y="51485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BOM</a:t>
            </a:r>
            <a:endParaRPr/>
          </a:p>
        </p:txBody>
      </p:sp>
      <p:sp>
        <p:nvSpPr>
          <p:cNvPr id="91" name="AutoShape 26"/>
          <p:cNvSpPr/>
          <p:nvPr/>
        </p:nvSpPr>
        <p:spPr>
          <a:xfrm>
            <a:off x="6450330" y="584708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BOM（物料清单）下降</a:t>
            </a: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与良率爬坡决定扩张速度</a:t>
            </a:r>
            <a:endParaRPr/>
          </a:p>
        </p:txBody>
      </p:sp>
      <p:pic>
        <p:nvPicPr>
          <p:cNvPr id="92" name="图片 91"/>
          <p:cNvPicPr/>
          <p:nvPr/>
        </p:nvPicPr>
        <p:blipFill>
          <a:blip r:embed="rId3"/>
          <a:stretch>
            <a:fillRect/>
          </a:stretch>
        </p:blipFill>
        <p:spPr>
          <a:xfrm>
            <a:off x="6153150" y="3486150"/>
            <a:ext cx="12700" cy="127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AutoShape 4"/>
          <p:cNvSpPr/>
          <p:nvPr/>
        </p:nvSpPr>
        <p:spPr>
          <a:xfrm>
            <a:off x="604520" y="576580"/>
            <a:ext cx="470535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具身大模型：能力从“可演示”走向“任务闭环”</a:t>
            </a:r>
            <a:endParaRPr/>
          </a:p>
        </p:txBody>
      </p:sp>
      <p:sp>
        <p:nvSpPr>
          <p:cNvPr id="95" name="AutoShape 5"/>
          <p:cNvSpPr/>
          <p:nvPr/>
        </p:nvSpPr>
        <p:spPr>
          <a:xfrm>
            <a:off x="604520" y="2018030"/>
            <a:ext cx="4705350" cy="4206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2500" lnSpcReduction="10000"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差异化从单点动作效果转向可靠执行。企业选择方案时，更关注任务成功率、异常恢复、接口集成和运维成本。具身智能产品叙事正在从“机器人会做什么”变成“系统能否持续完成某类工作”。
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真正的壁垒来自专有场景数据、仿真到现实的迁移能力，以及硬件、模型、控制策略的联合优化。当前市场竞争中，企业要真正实现差异化，不仅依赖技术突破，更需关注执行过程的可靠性和持续性。因此，选择解决方案时，企业更看重任务成功率、异常快速恢复、系统无缝集成和长期运维成本控制，这些构成了对“可靠执行”的全面要求。
同时，具身智能的焦点也从“机器人能做什么动作”转向“系统能否持续稳定完成工作流程”，强调智能产品需嵌入业务场景，具备长期运行和自适应调整能力。
更深层次看，行业壁垒在于专有数据积累、仿真到现实的高效迁移，以及硬件、模型和控制策略的一体化优化。只有协同突破这些维度，企业才能在复杂环境中建立难以复制的优势。</a:t>
            </a:r>
            <a:endParaRPr/>
          </a:p>
        </p:txBody>
      </p:sp>
      <p:sp>
        <p:nvSpPr>
          <p:cNvPr id="96" name="AutoShape 8"/>
          <p:cNvSpPr/>
          <p:nvPr/>
        </p:nvSpPr>
        <p:spPr>
          <a:xfrm>
            <a:off x="5935980" y="991870"/>
            <a:ext cx="3154680" cy="3154680"/>
          </a:xfrm>
          <a:prstGeom prst="ellipse">
            <a:avLst/>
          </a:prstGeom>
          <a:solidFill>
            <a:srgbClr val="7879FF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7" name="AutoShape 9"/>
          <p:cNvSpPr/>
          <p:nvPr/>
        </p:nvSpPr>
        <p:spPr>
          <a:xfrm>
            <a:off x="6370320" y="2018030"/>
            <a:ext cx="22860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200" b="1" i="0" u="none" strike="noStrike">
                <a:solidFill>
                  <a:srgbClr val="0D0D0D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任务闭环</a:t>
            </a:r>
            <a:endParaRPr/>
          </a:p>
        </p:txBody>
      </p:sp>
      <p:sp>
        <p:nvSpPr>
          <p:cNvPr id="98" name="AutoShape 10"/>
          <p:cNvSpPr/>
          <p:nvPr/>
        </p:nvSpPr>
        <p:spPr>
          <a:xfrm>
            <a:off x="6536690" y="2988310"/>
            <a:ext cx="1951989" cy="269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0D0D0D">
                    <a:alpha val="10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新评判标准</a:t>
            </a:r>
            <a:endParaRPr/>
          </a:p>
        </p:txBody>
      </p:sp>
      <p:sp>
        <p:nvSpPr>
          <p:cNvPr id="99" name="AutoShape 11"/>
          <p:cNvSpPr/>
          <p:nvPr/>
        </p:nvSpPr>
        <p:spPr>
          <a:xfrm>
            <a:off x="7250430" y="4097020"/>
            <a:ext cx="2260600" cy="226060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0" name="AutoShape 12"/>
          <p:cNvSpPr/>
          <p:nvPr/>
        </p:nvSpPr>
        <p:spPr>
          <a:xfrm>
            <a:off x="7620000" y="4906010"/>
            <a:ext cx="15240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具身系统</a:t>
            </a:r>
            <a:endParaRPr/>
          </a:p>
        </p:txBody>
      </p:sp>
      <p:sp>
        <p:nvSpPr>
          <p:cNvPr id="101" name="AutoShape 13"/>
          <p:cNvSpPr/>
          <p:nvPr/>
        </p:nvSpPr>
        <p:spPr>
          <a:xfrm>
            <a:off x="8957310" y="2396490"/>
            <a:ext cx="2404110" cy="240411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2" name="AutoShape 14"/>
          <p:cNvSpPr/>
          <p:nvPr/>
        </p:nvSpPr>
        <p:spPr>
          <a:xfrm>
            <a:off x="9271000" y="3257550"/>
            <a:ext cx="1778000" cy="723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可靠性</a:t>
            </a:r>
            <a:endParaRPr/>
          </a:p>
        </p:txBody>
      </p:sp>
      <p:sp>
        <p:nvSpPr>
          <p:cNvPr id="103" name="AutoShape 15"/>
          <p:cNvSpPr/>
          <p:nvPr/>
        </p:nvSpPr>
        <p:spPr>
          <a:xfrm>
            <a:off x="8931910" y="769620"/>
            <a:ext cx="1617980" cy="161798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4" name="AutoShape 16"/>
          <p:cNvSpPr/>
          <p:nvPr/>
        </p:nvSpPr>
        <p:spPr>
          <a:xfrm>
            <a:off x="9105900" y="1315720"/>
            <a:ext cx="1270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6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工具调用</a:t>
            </a:r>
            <a:endParaRPr/>
          </a:p>
        </p:txBody>
      </p:sp>
      <p:sp>
        <p:nvSpPr>
          <p:cNvPr id="105" name="AutoShape 17"/>
          <p:cNvSpPr/>
          <p:nvPr/>
        </p:nvSpPr>
        <p:spPr>
          <a:xfrm>
            <a:off x="5858510" y="4003040"/>
            <a:ext cx="1416050" cy="141605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6" name="AutoShape 18"/>
          <p:cNvSpPr/>
          <p:nvPr/>
        </p:nvSpPr>
        <p:spPr>
          <a:xfrm>
            <a:off x="6057900" y="4480560"/>
            <a:ext cx="10160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成本</a:t>
            </a:r>
            <a:endParaRPr/>
          </a:p>
        </p:txBody>
      </p:sp>
      <p:sp>
        <p:nvSpPr>
          <p:cNvPr id="107" name="AutoShape 19"/>
          <p:cNvSpPr/>
          <p:nvPr/>
        </p:nvSpPr>
        <p:spPr>
          <a:xfrm>
            <a:off x="9528810" y="5091430"/>
            <a:ext cx="1132840" cy="113284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8" name="AutoShape 20"/>
          <p:cNvSpPr/>
          <p:nvPr/>
        </p:nvSpPr>
        <p:spPr>
          <a:xfrm>
            <a:off x="9715500" y="5448300"/>
            <a:ext cx="7620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安全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AutoShape 4"/>
          <p:cNvSpPr/>
          <p:nvPr/>
        </p:nvSpPr>
        <p:spPr>
          <a:xfrm>
            <a:off x="609600" y="609600"/>
            <a:ext cx="114681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7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落地漏斗：试点多，规模化仍需穿越峡谷</a:t>
            </a:r>
            <a:endParaRPr/>
          </a:p>
        </p:txBody>
      </p:sp>
      <p:sp>
        <p:nvSpPr>
          <p:cNvPr id="111" name="AutoShape 5"/>
          <p:cNvSpPr/>
          <p:nvPr/>
        </p:nvSpPr>
        <p:spPr>
          <a:xfrm>
            <a:off x="609600" y="1270000"/>
            <a:ext cx="85344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多数项目已完成概念验证，但只有少数具备稳定作业、明确</a:t>
            </a:r>
            <a:r>
              <a:rPr lang="en-US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ROI</a:t>
            </a: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和可复制交付条件。领先打法是“小场景、强边界、可量化”。</a:t>
            </a:r>
            <a:endParaRPr/>
          </a:p>
        </p:txBody>
      </p:sp>
      <p:sp>
        <p:nvSpPr>
          <p:cNvPr id="112" name="AutoShape 6"/>
          <p:cNvSpPr/>
          <p:nvPr/>
        </p:nvSpPr>
        <p:spPr>
          <a:xfrm rot="10800000">
            <a:off x="1016000" y="2286000"/>
            <a:ext cx="5080000" cy="1143000"/>
          </a:xfrm>
          <a:prstGeom prst="trapezoid">
            <a:avLst>
              <a:gd name="adj" fmla="val 20"/>
            </a:avLst>
          </a:prstGeom>
          <a:solidFill>
            <a:srgbClr val="E6E8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13" name="AutoShape 7"/>
          <p:cNvSpPr/>
          <p:nvPr/>
        </p:nvSpPr>
        <p:spPr>
          <a:xfrm>
            <a:off x="1016000" y="2286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70%+</a:t>
            </a:r>
            <a:endParaRPr/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概念验证</a:t>
            </a:r>
            <a:endParaRPr/>
          </a:p>
        </p:txBody>
      </p:sp>
      <p:sp>
        <p:nvSpPr>
          <p:cNvPr id="114" name="AutoShape 8"/>
          <p:cNvSpPr/>
          <p:nvPr/>
        </p:nvSpPr>
        <p:spPr>
          <a:xfrm rot="10800000">
            <a:off x="1651000" y="3556000"/>
            <a:ext cx="3810000" cy="1143000"/>
          </a:xfrm>
          <a:prstGeom prst="trapezoid">
            <a:avLst>
              <a:gd name="adj" fmla="val 20"/>
            </a:avLst>
          </a:prstGeom>
          <a:solidFill>
            <a:srgbClr val="B4B9B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15" name="AutoShape 9"/>
          <p:cNvSpPr/>
          <p:nvPr/>
        </p:nvSpPr>
        <p:spPr>
          <a:xfrm>
            <a:off x="1651000" y="3556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25%</a:t>
            </a:r>
            <a:endParaRPr lang="en-US" sz="1100"/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小批量试运行</a:t>
            </a:r>
            <a:endParaRPr/>
          </a:p>
        </p:txBody>
      </p:sp>
      <p:sp>
        <p:nvSpPr>
          <p:cNvPr id="116" name="AutoShape 10"/>
          <p:cNvSpPr/>
          <p:nvPr/>
        </p:nvSpPr>
        <p:spPr>
          <a:xfrm rot="10800000">
            <a:off x="2286000" y="4826000"/>
            <a:ext cx="2540000" cy="1143000"/>
          </a:xfrm>
          <a:prstGeom prst="trapezoid">
            <a:avLst>
              <a:gd name="adj" fmla="val 20"/>
            </a:avLst>
          </a:prstGeom>
          <a:solidFill>
            <a:srgbClr val="1C1D1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17" name="AutoShape 11"/>
          <p:cNvSpPr/>
          <p:nvPr/>
        </p:nvSpPr>
        <p:spPr>
          <a:xfrm>
            <a:off x="2286000" y="4826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7879FF">
                    <a:alpha val="100000"/>
                  </a:srgbClr>
                </a:solidFill>
                <a:latin typeface="PingFang SC"/>
                <a:ea typeface="PingFang SC"/>
              </a:rPr>
              <a:t>&lt;10%</a:t>
            </a:r>
            <a:endParaRPr lang="en-US" sz="1100"/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FFFFFF">
                    <a:alpha val="90196"/>
                  </a:srgbClr>
                </a:solidFill>
                <a:latin typeface="PingFang SC"/>
                <a:ea typeface="PingFang SC"/>
              </a:rPr>
              <a:t>稳定规模部署</a:t>
            </a:r>
            <a:endParaRPr/>
          </a:p>
        </p:txBody>
      </p:sp>
      <p:sp>
        <p:nvSpPr>
          <p:cNvPr id="118" name="AutoShape 15"/>
          <p:cNvSpPr/>
          <p:nvPr/>
        </p:nvSpPr>
        <p:spPr>
          <a:xfrm>
            <a:off x="6731000" y="2286000"/>
            <a:ext cx="4826000" cy="36830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19" name="AutoShape 16"/>
          <p:cNvSpPr/>
          <p:nvPr/>
        </p:nvSpPr>
        <p:spPr>
          <a:xfrm>
            <a:off x="6985000" y="2730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优先起量场景</a:t>
            </a:r>
            <a:endParaRPr/>
          </a:p>
        </p:txBody>
      </p:sp>
      <p:sp>
        <p:nvSpPr>
          <p:cNvPr id="120" name="AutoShape 17"/>
          <p:cNvSpPr/>
          <p:nvPr/>
        </p:nvSpPr>
        <p:spPr>
          <a:xfrm>
            <a:off x="6985000" y="3175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</a:rPr>
              <a:t>1. </a:t>
            </a:r>
            <a:r>
              <a:rPr lang="zh-CN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</a:rPr>
              <a:t>工业巡检与质检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高频、标准化、可记录，适合先做半自主闭环</a:t>
            </a:r>
            <a:endParaRPr/>
          </a:p>
        </p:txBody>
      </p:sp>
      <p:sp>
        <p:nvSpPr>
          <p:cNvPr id="121" name="AutoShape 18"/>
          <p:cNvSpPr/>
          <p:nvPr/>
        </p:nvSpPr>
        <p:spPr>
          <a:xfrm>
            <a:off x="6985000" y="3937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2. </a:t>
            </a:r>
            <a:r>
              <a:rPr lang="zh-CN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仓储搬运与分拣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环境可控，价值来自人机协同和排班效率</a:t>
            </a:r>
            <a:endParaRPr/>
          </a:p>
        </p:txBody>
      </p:sp>
      <p:sp>
        <p:nvSpPr>
          <p:cNvPr id="122" name="AutoShape 19"/>
          <p:cNvSpPr/>
          <p:nvPr/>
        </p:nvSpPr>
        <p:spPr>
          <a:xfrm>
            <a:off x="6985000" y="4699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3. </a:t>
            </a:r>
            <a:r>
              <a:rPr lang="zh-CN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商业服务与导览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品牌展示先行，逐步沉淀交互和运营数据</a:t>
            </a:r>
            <a:endParaRPr/>
          </a:p>
        </p:txBody>
      </p:sp>
      <p:cxnSp>
        <p:nvCxnSpPr>
          <p:cNvPr id="123" name="Connector 20"/>
          <p:cNvCxnSpPr/>
          <p:nvPr/>
        </p:nvCxnSpPr>
        <p:spPr>
          <a:xfrm rot="-11459">
            <a:off x="6984376" y="38671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C1D1A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Connector 21"/>
          <p:cNvCxnSpPr/>
          <p:nvPr/>
        </p:nvCxnSpPr>
        <p:spPr>
          <a:xfrm rot="-11459">
            <a:off x="6984376" y="46291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C1D1A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AutoShape 2"/>
          <p:cNvSpPr/>
          <p:nvPr/>
        </p:nvSpPr>
        <p:spPr>
          <a:xfrm>
            <a:off x="5084637" y="0"/>
            <a:ext cx="7113712" cy="6858000"/>
          </a:xfrm>
          <a:prstGeom prst="roundRect">
            <a:avLst>
              <a:gd name="adj" fmla="val 0"/>
            </a:avLst>
          </a:prstGeom>
          <a:solidFill>
            <a:srgbClr val="0D0D0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27" name="AutoShape 3"/>
          <p:cNvSpPr/>
          <p:nvPr/>
        </p:nvSpPr>
        <p:spPr>
          <a:xfrm>
            <a:off x="5650230" y="504988"/>
            <a:ext cx="6214741" cy="40322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rgbClr val="FFFFFF">
                    <a:alpha val="87843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投入承诺跨越整机、工厂与核心零部件</a:t>
            </a:r>
            <a:endParaRPr/>
          </a:p>
        </p:txBody>
      </p:sp>
      <p:sp>
        <p:nvSpPr>
          <p:cNvPr id="128" name="AutoShape 5"/>
          <p:cNvSpPr/>
          <p:nvPr/>
        </p:nvSpPr>
        <p:spPr>
          <a:xfrm>
            <a:off x="5882640" y="6263964"/>
            <a:ext cx="5720395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7879FF">
                    <a:alpha val="100000"/>
                  </a:srgbClr>
                </a:solidFill>
                <a:latin typeface="PingFang SC"/>
                <a:ea typeface="PingFang SC"/>
              </a:rPr>
              <a:t>解读：</a:t>
            </a: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</a:t>
            </a:r>
            <a:r>
              <a:rPr lang="zh-CN" sz="1200" b="0" i="0" u="none" strike="noStrike">
                <a:solidFill>
                  <a:srgbClr val="FFFFFF">
                    <a:alpha val="54902"/>
                  </a:srgbClr>
                </a:solidFill>
                <a:latin typeface="PingFang SC"/>
                <a:ea typeface="PingFang SC"/>
              </a:rPr>
              <a:t>整机工厂”的投入度为基准值（100），其他环节按比例呈现。产能爬坡设定供给上限，关键件交付节奏决定毛利与稳定性。</a:t>
            </a:r>
            <a:endParaRPr/>
          </a:p>
        </p:txBody>
      </p:sp>
      <p:sp>
        <p:nvSpPr>
          <p:cNvPr id="129" name="AutoShape 6"/>
          <p:cNvSpPr/>
          <p:nvPr/>
        </p:nvSpPr>
        <p:spPr>
          <a:xfrm>
            <a:off x="604520" y="2249170"/>
            <a:ext cx="1233713" cy="5867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3</a:t>
            </a:r>
            <a:r>
              <a:rPr lang="zh-CN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条</a:t>
            </a:r>
            <a:endParaRPr/>
          </a:p>
        </p:txBody>
      </p:sp>
      <p:sp>
        <p:nvSpPr>
          <p:cNvPr id="130" name="AutoShape 7"/>
          <p:cNvSpPr/>
          <p:nvPr/>
        </p:nvSpPr>
        <p:spPr>
          <a:xfrm>
            <a:off x="2032000" y="252222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1" i="0" u="none" strike="noStrike">
                <a:solidFill>
                  <a:srgbClr val="1C1D1A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PingFang SC"/>
                <a:ea typeface="PingFang SC"/>
                <a:cs typeface="Arial"/>
                <a:sym typeface="Arial"/>
              </a:rPr>
              <a:t>核心投资线</a:t>
            </a:r>
            <a:endParaRPr/>
          </a:p>
        </p:txBody>
      </p:sp>
      <p:sp>
        <p:nvSpPr>
          <p:cNvPr id="131" name="AutoShape 8"/>
          <p:cNvSpPr/>
          <p:nvPr/>
        </p:nvSpPr>
        <p:spPr>
          <a:xfrm>
            <a:off x="604520" y="2973070"/>
            <a:ext cx="3937000" cy="1219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72157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整机厂开始从样机团队转向制造体系建设；上游电机、丝杠、减速器、力控传感器进入年度锁量。</a:t>
            </a:r>
            <a:endParaRPr/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en-US" sz="1200" b="0" i="0" u="none" strike="noStrike">
              <a:solidFill>
                <a:srgbClr val="1C1D1A">
                  <a:alpha val="72157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>
                <a:solidFill>
                  <a:srgbClr val="1C1D1A">
                    <a:alpha val="72157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结论：行业瓶颈从算法演示转为供应链、良率和售后体系。</a:t>
            </a:r>
            <a:endParaRPr/>
          </a:p>
        </p:txBody>
      </p:sp>
      <p:sp>
        <p:nvSpPr>
          <p:cNvPr id="132" name="AutoShape 9"/>
          <p:cNvSpPr/>
          <p:nvPr/>
        </p:nvSpPr>
        <p:spPr>
          <a:xfrm>
            <a:off x="604520" y="4518660"/>
            <a:ext cx="1233741" cy="5867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2-3</a:t>
            </a:r>
            <a:r>
              <a:rPr lang="zh-CN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年</a:t>
            </a:r>
            <a:endParaRPr/>
          </a:p>
        </p:txBody>
      </p:sp>
      <p:sp>
        <p:nvSpPr>
          <p:cNvPr id="133" name="AutoShape 10"/>
          <p:cNvSpPr/>
          <p:nvPr/>
        </p:nvSpPr>
        <p:spPr>
          <a:xfrm>
            <a:off x="2006600" y="480060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量产窗口</a:t>
            </a:r>
            <a:endParaRPr/>
          </a:p>
        </p:txBody>
      </p:sp>
      <p:sp>
        <p:nvSpPr>
          <p:cNvPr id="134" name="AutoShape 11"/>
          <p:cNvSpPr/>
          <p:nvPr/>
        </p:nvSpPr>
        <p:spPr>
          <a:xfrm>
            <a:off x="604520" y="5217160"/>
            <a:ext cx="3937000" cy="990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72157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头部厂商的核心任务不仅是技术攻关，更是抢占产业化先机，通过规模化落地来绑定核心供应链与客户生态。谁能率先实现产品的稳定交付，谁就能在接下来的市场洗牌中占据主导地位。</a:t>
            </a:r>
            <a:endParaRPr/>
          </a:p>
        </p:txBody>
      </p:sp>
      <p:sp>
        <p:nvSpPr>
          <p:cNvPr id="135" name="AutoShape 12"/>
          <p:cNvSpPr/>
          <p:nvPr/>
        </p:nvSpPr>
        <p:spPr>
          <a:xfrm>
            <a:off x="495965" y="806768"/>
            <a:ext cx="3937000" cy="1056640"/>
          </a:xfrm>
          <a:prstGeom prst="rect">
            <a:avLst/>
          </a:prstGeom>
          <a:gradFill rotWithShape="1">
            <a:gsLst>
              <a:gs pos="0">
                <a:srgbClr val="FFFFFF">
                  <a:alpha val="11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 spc="100">
                <a:solidFill>
                  <a:srgbClr val="000000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PingFang SC"/>
                <a:ea typeface="PingFang SC"/>
              </a:rPr>
              <a:t>“产能爬坡”成为当前主线任务</a:t>
            </a:r>
            <a:endParaRPr/>
          </a:p>
        </p:txBody>
      </p:sp>
      <p:sp>
        <p:nvSpPr>
          <p:cNvPr id="136" name="AutoShape 13"/>
          <p:cNvSpPr/>
          <p:nvPr/>
        </p:nvSpPr>
        <p:spPr>
          <a:xfrm>
            <a:off x="495965" y="372743"/>
            <a:ext cx="3681163" cy="4622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l">
              <a:lnSpc>
                <a:spcPts val="1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 spc="50">
                <a:solidFill>
                  <a:srgbClr val="1C1D1A">
                    <a:alpha val="60000"/>
                  </a:srgbClr>
                </a:solidFill>
                <a:highlight>
                  <a:srgbClr val="000000">
                    <a:alpha val="0"/>
                  </a:srgbClr>
                </a:highlight>
                <a:latin typeface="PingFang SC"/>
                <a:ea typeface="PingFang SC"/>
              </a:rPr>
              <a:t>供应链与制造：</a:t>
            </a:r>
            <a:endParaRPr/>
          </a:p>
        </p:txBody>
      </p:sp>
      <p:graphicFrame>
        <p:nvGraphicFramePr>
          <p:cNvPr id="137" name="137"/>
          <p:cNvGraphicFramePr/>
          <p:nvPr/>
        </p:nvGraphicFramePr>
        <p:xfrm>
          <a:off x="5634035" y="1244600"/>
          <a:ext cx="5969000" cy="4613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8" name="AutoShape 3"/>
          <p:cNvSpPr/>
          <p:nvPr/>
        </p:nvSpPr>
        <p:spPr>
          <a:xfrm>
            <a:off x="5634035" y="879956"/>
            <a:ext cx="5969000" cy="21589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FFFFFF">
                    <a:alpha val="5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产业链新增产能与选型锁定（方向性观察）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AutoShape 5"/>
          <p:cNvSpPr/>
          <p:nvPr/>
        </p:nvSpPr>
        <p:spPr>
          <a:xfrm>
            <a:off x="604520" y="588010"/>
            <a:ext cx="6130256" cy="7099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FFFFFF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转向：从云端训练到边缘推理</a:t>
            </a:r>
            <a:endParaRPr/>
          </a:p>
        </p:txBody>
      </p:sp>
      <p:sp>
        <p:nvSpPr>
          <p:cNvPr id="141" name="AutoShape 6"/>
          <p:cNvSpPr/>
          <p:nvPr/>
        </p:nvSpPr>
        <p:spPr>
          <a:xfrm>
            <a:off x="604520" y="5533390"/>
            <a:ext cx="6130256" cy="70992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7879FF">
                    <a:alpha val="10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解读</a:t>
            </a: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：具身系统的单位经济性由云端模型、边缘算力、传感器和运维共同决定。训练成本逐步摊薄，长期费用集中在端侧推理、远程监控和故障恢复。</a:t>
            </a:r>
            <a:endParaRPr/>
          </a:p>
        </p:txBody>
      </p:sp>
      <p:sp>
        <p:nvSpPr>
          <p:cNvPr id="142" name="AutoShape 7"/>
          <p:cNvSpPr/>
          <p:nvPr/>
        </p:nvSpPr>
        <p:spPr>
          <a:xfrm>
            <a:off x="7665720" y="588010"/>
            <a:ext cx="4030693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000" b="1" i="0" u="none" strike="noStrike">
                <a:solidFill>
                  <a:srgbClr val="7879FF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成本结构</a:t>
            </a:r>
            <a:endParaRPr/>
          </a:p>
        </p:txBody>
      </p:sp>
      <p:sp>
        <p:nvSpPr>
          <p:cNvPr id="143" name="AutoShape 8"/>
          <p:cNvSpPr/>
          <p:nvPr/>
        </p:nvSpPr>
        <p:spPr>
          <a:xfrm>
            <a:off x="7665720" y="1231900"/>
            <a:ext cx="4030693" cy="787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边缘控制器与云端大模型协同；推理效率直接影响续航、响应和服务毛利。</a:t>
            </a:r>
            <a:endParaRPr/>
          </a:p>
        </p:txBody>
      </p:sp>
      <p:sp>
        <p:nvSpPr>
          <p:cNvPr id="144" name="AutoShape 9"/>
          <p:cNvSpPr/>
          <p:nvPr/>
        </p:nvSpPr>
        <p:spPr>
          <a:xfrm>
            <a:off x="7665720" y="2120900"/>
            <a:ext cx="4030693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000" b="1" i="0" u="none" strike="noStrike">
                <a:solidFill>
                  <a:srgbClr val="7879FF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供应链</a:t>
            </a:r>
            <a:endParaRPr/>
          </a:p>
        </p:txBody>
      </p:sp>
      <p:sp>
        <p:nvSpPr>
          <p:cNvPr id="145" name="AutoShape 10"/>
          <p:cNvSpPr/>
          <p:nvPr/>
        </p:nvSpPr>
        <p:spPr>
          <a:xfrm>
            <a:off x="7665720" y="2755900"/>
            <a:ext cx="4030693" cy="787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执行器、力控、视觉模组与电池仍是硬约束；轻量化和热管理影响续航。</a:t>
            </a:r>
            <a:endParaRPr/>
          </a:p>
        </p:txBody>
      </p:sp>
      <p:sp>
        <p:nvSpPr>
          <p:cNvPr id="146" name="AutoShape 11"/>
          <p:cNvSpPr/>
          <p:nvPr/>
        </p:nvSpPr>
        <p:spPr>
          <a:xfrm>
            <a:off x="7665720" y="3644900"/>
            <a:ext cx="4030693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000" b="1" i="0" u="none" strike="noStrike">
                <a:solidFill>
                  <a:srgbClr val="7879FF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风险因素</a:t>
            </a:r>
            <a:endParaRPr/>
          </a:p>
        </p:txBody>
      </p:sp>
      <p:sp>
        <p:nvSpPr>
          <p:cNvPr id="147" name="AutoShape 12"/>
          <p:cNvSpPr/>
          <p:nvPr/>
        </p:nvSpPr>
        <p:spPr>
          <a:xfrm>
            <a:off x="7665720" y="4279900"/>
            <a:ext cx="4030693" cy="990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若订单密度不足，维护与调度成本会吞噬效率收益；需以场景利用率化解。</a:t>
            </a:r>
            <a:endParaRPr/>
          </a:p>
        </p:txBody>
      </p:sp>
      <p:graphicFrame>
        <p:nvGraphicFramePr>
          <p:cNvPr id="148" name="148"/>
          <p:cNvGraphicFramePr/>
          <p:nvPr/>
        </p:nvGraphicFramePr>
        <p:xfrm>
          <a:off x="604520" y="1324610"/>
          <a:ext cx="6130256" cy="3740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1" name="AutoShape 3"/>
          <p:cNvSpPr/>
          <p:nvPr/>
        </p:nvSpPr>
        <p:spPr>
          <a:xfrm>
            <a:off x="609600" y="609600"/>
            <a:ext cx="114681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企业采用：部署热度与价值兑现仍有落差</a:t>
            </a:r>
            <a:endParaRPr/>
          </a:p>
        </p:txBody>
      </p:sp>
      <p:sp>
        <p:nvSpPr>
          <p:cNvPr id="152" name="AutoShape 4"/>
          <p:cNvSpPr/>
          <p:nvPr/>
        </p:nvSpPr>
        <p:spPr>
          <a:xfrm>
            <a:off x="609600" y="1270000"/>
            <a:ext cx="101600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真正的价值来自流程重构，而不是把机器人作为单点设备采购。企业必须从“愿意试”走向“能持续完成任务”。</a:t>
            </a:r>
            <a:endParaRPr/>
          </a:p>
        </p:txBody>
      </p:sp>
      <p:sp>
        <p:nvSpPr>
          <p:cNvPr id="153" name="AutoShape 5"/>
          <p:cNvSpPr/>
          <p:nvPr/>
        </p:nvSpPr>
        <p:spPr>
          <a:xfrm>
            <a:off x="1270000" y="2527300"/>
            <a:ext cx="2794000" cy="2540000"/>
          </a:xfrm>
          <a:prstGeom prst="roundRect">
            <a:avLst>
              <a:gd name="adj" fmla="val 5000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zh-CN" sz="1400" b="1" i="0" u="none" strike="noStrike">
              <a:solidFill>
                <a:srgbClr val="1C1D1A">
                  <a:alpha val="50196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企业试点意愿</a:t>
            </a:r>
            <a:endParaRPr/>
          </a:p>
          <a:p>
            <a:pPr indent="0" algn="ctr">
              <a:lnSpc>
                <a:spcPct val="125000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70%</a:t>
            </a:r>
            <a:endParaRPr/>
          </a:p>
        </p:txBody>
      </p:sp>
      <p:sp>
        <p:nvSpPr>
          <p:cNvPr id="154" name="AutoShape 6"/>
          <p:cNvSpPr/>
          <p:nvPr/>
        </p:nvSpPr>
        <p:spPr>
          <a:xfrm>
            <a:off x="4572000" y="3162300"/>
            <a:ext cx="2794000" cy="1905000"/>
          </a:xfrm>
          <a:prstGeom prst="roundRect">
            <a:avLst>
              <a:gd name="adj" fmla="val 6666"/>
            </a:avLst>
          </a:prstGeom>
          <a:solidFill>
            <a:srgbClr val="C8CDD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看见效率</a:t>
            </a:r>
            <a:endParaRPr/>
          </a:p>
          <a:p>
            <a:pPr indent="0" algn="ctr">
              <a:lnSpc>
                <a:spcPct val="125000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45%</a:t>
            </a:r>
            <a:endParaRPr/>
          </a:p>
        </p:txBody>
      </p:sp>
      <p:sp>
        <p:nvSpPr>
          <p:cNvPr id="155" name="AutoShape 7"/>
          <p:cNvSpPr/>
          <p:nvPr/>
        </p:nvSpPr>
        <p:spPr>
          <a:xfrm>
            <a:off x="7874000" y="3797300"/>
            <a:ext cx="2794000" cy="1270000"/>
          </a:xfrm>
          <a:prstGeom prst="roundRect">
            <a:avLst>
              <a:gd name="adj" fmla="val 10000"/>
            </a:avLst>
          </a:prstGeom>
          <a:solidFill>
            <a:srgbClr val="7879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0" rIns="0" bIns="0" rtlCol="0" anchor="t" anchorCtr="0">
            <a:normAutofit/>
          </a:bodyPr>
          <a:lstStyle/>
          <a:p>
            <a:pPr indent="0" algn="ctr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财务影响</a:t>
            </a:r>
            <a:endParaRPr/>
          </a:p>
          <a:p>
            <a:pPr indent="0" algn="ctr">
              <a:lnSpc>
                <a:spcPct val="116666"/>
              </a:lnSpc>
              <a:spcBef>
                <a:spcPts val="5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20%</a:t>
            </a:r>
            <a:endParaRPr/>
          </a:p>
        </p:txBody>
      </p:sp>
      <p:sp>
        <p:nvSpPr>
          <p:cNvPr id="156" name="AutoShape 9"/>
          <p:cNvSpPr/>
          <p:nvPr/>
        </p:nvSpPr>
        <p:spPr>
          <a:xfrm>
            <a:off x="7874000" y="31623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落差</a:t>
            </a:r>
            <a:r>
              <a:rPr lang="en-US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: </a:t>
            </a:r>
            <a:r>
              <a:rPr lang="zh-CN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约</a:t>
            </a:r>
            <a:r>
              <a:rPr lang="en-US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50</a:t>
            </a:r>
            <a:r>
              <a:rPr lang="zh-CN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个百分点</a:t>
            </a:r>
            <a:endParaRPr/>
          </a:p>
          <a:p>
            <a:pPr indent="0" algn="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000" b="0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意愿</a:t>
            </a:r>
            <a:r>
              <a:rPr lang="en-US" sz="1000" b="0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 vs </a:t>
            </a:r>
            <a:r>
              <a:rPr lang="zh-CN" sz="1000" b="0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价值</a:t>
            </a:r>
            <a:endParaRPr/>
          </a:p>
        </p:txBody>
      </p:sp>
      <p:cxnSp>
        <p:nvCxnSpPr>
          <p:cNvPr id="157" name="Connector 10"/>
          <p:cNvCxnSpPr/>
          <p:nvPr/>
        </p:nvCxnSpPr>
        <p:spPr>
          <a:xfrm rot="-3978">
            <a:off x="608334" y="5467350"/>
            <a:ext cx="109728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C1D1A">
                <a:alpha val="1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158" name="AutoShape 11"/>
          <p:cNvSpPr/>
          <p:nvPr/>
        </p:nvSpPr>
        <p:spPr>
          <a:xfrm>
            <a:off x="1270000" y="5693315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阻碍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8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场景边界不清、维护责任不明、现场安全与保险流程尚未标准化。</a:t>
            </a:r>
            <a:endParaRPr/>
          </a:p>
        </p:txBody>
      </p:sp>
      <p:sp>
        <p:nvSpPr>
          <p:cNvPr id="159" name="AutoShape 12"/>
          <p:cNvSpPr/>
          <p:nvPr/>
        </p:nvSpPr>
        <p:spPr>
          <a:xfrm>
            <a:off x="7874000" y="5693315"/>
            <a:ext cx="3707144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7879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解法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8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围绕单一任务建立作业剧本，按任务成功率、接管率、停机时长衡量。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62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3" name="AutoShape 4"/>
          <p:cNvSpPr/>
          <p:nvPr/>
        </p:nvSpPr>
        <p:spPr>
          <a:xfrm>
            <a:off x="4064000" y="0"/>
            <a:ext cx="8128000" cy="6858000"/>
          </a:xfrm>
          <a:prstGeom prst="roundRect">
            <a:avLst>
              <a:gd name="adj" fmla="val 0"/>
            </a:avLst>
          </a:prstGeom>
          <a:solidFill>
            <a:srgbClr val="0D0D0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0D0D0D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</p:txBody>
      </p:sp>
      <p:sp>
        <p:nvSpPr>
          <p:cNvPr id="164" name="AutoShape 6"/>
          <p:cNvSpPr/>
          <p:nvPr/>
        </p:nvSpPr>
        <p:spPr>
          <a:xfrm>
            <a:off x="508000" y="2172427"/>
            <a:ext cx="3048000" cy="20178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0" i="0" u="none" strike="noStrike">
                <a:solidFill>
                  <a:srgbClr val="1C1D1A">
                    <a:alpha val="8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尽管整体风险投资正趋于稳定，但人工智能领域却占据了极高的份额。关注焦点已从泛泛的“AI”概念，转向了具体的底层基础设施与应用层。</a:t>
            </a:r>
            <a:endParaRPr/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300" b="0" i="0" u="none" strike="noStrike">
              <a:solidFill>
                <a:srgbClr val="1C1D1A">
                  <a:alpha val="85098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0" i="0" u="none" strike="noStrike">
                <a:solidFill>
                  <a:srgbClr val="1C1D1A">
                    <a:alpha val="8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具身智能资金更偏向硬件平台、供应链和垂直场景；概念型项目融资难度上升。</a:t>
            </a:r>
            <a:endParaRPr/>
          </a:p>
        </p:txBody>
      </p:sp>
      <p:sp>
        <p:nvSpPr>
          <p:cNvPr id="165" name="AutoShape 7"/>
          <p:cNvSpPr/>
          <p:nvPr/>
        </p:nvSpPr>
        <p:spPr>
          <a:xfrm>
            <a:off x="508000" y="4584699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7500" lnSpcReduction="10000"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56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$109B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AI</a:t>
            </a:r>
            <a:r>
              <a:rPr lang="zh-CN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领域美元私募投资额</a:t>
            </a:r>
            <a:r>
              <a:rPr lang="en-US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(2024)</a:t>
            </a:r>
            <a:endParaRPr/>
          </a:p>
        </p:txBody>
      </p:sp>
      <p:cxnSp>
        <p:nvCxnSpPr>
          <p:cNvPr id="166" name="Connector 10"/>
          <p:cNvCxnSpPr/>
          <p:nvPr/>
        </p:nvCxnSpPr>
        <p:spPr>
          <a:xfrm rot="-6138">
            <a:off x="4570736" y="5835650"/>
            <a:ext cx="711201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167" name="AutoShape 11"/>
          <p:cNvSpPr/>
          <p:nvPr/>
        </p:nvSpPr>
        <p:spPr>
          <a:xfrm>
            <a:off x="4572000" y="60325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7879FF">
                    <a:alpha val="100000"/>
                  </a:srgbClr>
                </a:solidFill>
                <a:latin typeface="PingFang SC"/>
                <a:ea typeface="PingFang SC"/>
              </a:rPr>
              <a:t>解读：</a:t>
            </a:r>
            <a:r>
              <a:rPr lang="zh-CN" sz="1200" b="0" i="0" u="none" strike="noStrike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</a:rPr>
              <a:t>基础设施与治理（370亿美元）处于领跑地位，紧随其后的是数据运营（160亿美元）。硬件与机器人领域依然属于小众市场，其吸引的资本尚不足软件层面的3%。</a:t>
            </a:r>
            <a:endParaRPr/>
          </a:p>
        </p:txBody>
      </p:sp>
      <p:sp>
        <p:nvSpPr>
          <p:cNvPr id="168" name="AutoShape 5"/>
          <p:cNvSpPr/>
          <p:nvPr/>
        </p:nvSpPr>
        <p:spPr>
          <a:xfrm>
            <a:off x="508000" y="886179"/>
            <a:ext cx="3048000" cy="8918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资本向</a:t>
            </a:r>
            <a:r>
              <a:rPr lang="en-US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AI基础设施与研发</a:t>
            </a: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集中</a:t>
            </a:r>
            <a:endParaRPr/>
          </a:p>
        </p:txBody>
      </p:sp>
      <p:sp>
        <p:nvSpPr>
          <p:cNvPr id="169" name="AutoShape 5"/>
          <p:cNvSpPr/>
          <p:nvPr/>
        </p:nvSpPr>
        <p:spPr>
          <a:xfrm>
            <a:off x="508000" y="592668"/>
            <a:ext cx="3302000" cy="16933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ts val="1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1" i="0" u="none" strike="noStrike" spc="10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INVESTMENT LANDSCAPE</a:t>
            </a:r>
            <a:endParaRPr lang="en-US" sz="1100"/>
          </a:p>
        </p:txBody>
      </p:sp>
      <p:graphicFrame>
        <p:nvGraphicFramePr>
          <p:cNvPr id="170" name="170"/>
          <p:cNvGraphicFramePr/>
          <p:nvPr>
            <p:extLst>
              <p:ext uri="{D42A27DB-BD31-4B8C-83A1-F6EECF244321}">
                <p14:modId xmlns:p14="http://schemas.microsoft.com/office/powerpoint/2010/main" val="4276652477"/>
              </p:ext>
            </p:extLst>
          </p:nvPr>
        </p:nvGraphicFramePr>
        <p:xfrm>
          <a:off x="4572000" y="1326057"/>
          <a:ext cx="7110751" cy="42058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1" name="AutoShape 3"/>
          <p:cNvSpPr/>
          <p:nvPr/>
        </p:nvSpPr>
        <p:spPr>
          <a:xfrm>
            <a:off x="4594545" y="437839"/>
            <a:ext cx="6214741" cy="40322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全球私人投资的分布情况</a:t>
            </a:r>
            <a:endParaRPr/>
          </a:p>
        </p:txBody>
      </p:sp>
      <p:sp>
        <p:nvSpPr>
          <p:cNvPr id="172" name="AutoShape 3"/>
          <p:cNvSpPr/>
          <p:nvPr/>
        </p:nvSpPr>
        <p:spPr>
          <a:xfrm>
            <a:off x="4572000" y="812807"/>
            <a:ext cx="5969000" cy="21589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2024 年全年的数据明细</a:t>
            </a:r>
            <a:r>
              <a:rPr lang="zh-CN" sz="12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（十亿美元级别）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349250" y="5105400"/>
            <a:ext cx="68453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7879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解读：</a:t>
            </a:r>
            <a:r>
              <a:rPr lang="en-US" sz="1200" b="0" i="0" u="none" strike="noStrike">
                <a:solidFill>
                  <a:srgbClr val="FFFFFF">
                    <a:alpha val="6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r>
              <a:rPr lang="zh-CN" sz="1200" b="0" i="0" u="none" strike="noStrike">
                <a:solidFill>
                  <a:srgbClr val="FFFFFF">
                    <a:alpha val="6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各大超大规模厂商 2024 财年（FY2024）资本支出概览</a:t>
            </a:r>
            <a:endParaRPr/>
          </a:p>
        </p:txBody>
      </p:sp>
      <p:sp>
        <p:nvSpPr>
          <p:cNvPr id="3" name="AutoShape 6"/>
          <p:cNvSpPr/>
          <p:nvPr/>
        </p:nvSpPr>
        <p:spPr>
          <a:xfrm>
            <a:off x="349250" y="5533390"/>
            <a:ext cx="68453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28600" indent="-228600" algn="l">
              <a:lnSpc>
                <a:spcPct val="116666"/>
              </a:lnSpc>
              <a:buClr>
                <a:srgbClr val="FFFFFF">
                  <a:alpha val="100000"/>
                </a:srgbClr>
              </a:buClr>
              <a:buFont typeface="Arial"/>
              <a:buAutoNum type="arabicPeriod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提供了一个基准，用于了解在下一次支出激增前的当前运行率水平。</a:t>
            </a:r>
            <a:endParaRPr/>
          </a:p>
          <a:p>
            <a:pPr marL="228600" indent="-228600" algn="l">
              <a:lnSpc>
                <a:spcPct val="116666"/>
              </a:lnSpc>
              <a:buClr>
                <a:srgbClr val="FFFFFF">
                  <a:alpha val="100000"/>
                </a:srgbClr>
              </a:buClr>
              <a:buFont typeface="Arial"/>
              <a:buAutoNum type="arabicPeriod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右侧的</a:t>
            </a:r>
            <a:r>
              <a:rPr lang="en-US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$650B </a:t>
            </a: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勾勒出了未来的阶梯式变化（预测 2026 年的合并资本支出）。</a:t>
            </a:r>
            <a:endParaRPr/>
          </a:p>
          <a:p>
            <a:pPr marL="228600" indent="-228600" algn="l">
              <a:lnSpc>
                <a:spcPct val="116666"/>
              </a:lnSpc>
              <a:buClr>
                <a:srgbClr val="FFFFFF">
                  <a:alpha val="100000"/>
                </a:srgbClr>
              </a:buClr>
              <a:buFont typeface="Arial"/>
              <a:buAutoNum type="arabicPeriod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请将其视为数量级信号；各公司的财务报表统计口径存在差异。</a:t>
            </a:r>
            <a:endParaRPr/>
          </a:p>
        </p:txBody>
      </p:sp>
      <p:sp>
        <p:nvSpPr>
          <p:cNvPr id="4" name="AutoShape 7"/>
          <p:cNvSpPr/>
          <p:nvPr/>
        </p:nvSpPr>
        <p:spPr>
          <a:xfrm>
            <a:off x="433070" y="525780"/>
            <a:ext cx="6355826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超大规模云厂商的历史级资本支出规模</a:t>
            </a:r>
            <a:endParaRPr/>
          </a:p>
        </p:txBody>
      </p:sp>
      <p:sp>
        <p:nvSpPr>
          <p:cNvPr id="5" name="AutoShape 8"/>
          <p:cNvSpPr/>
          <p:nvPr/>
        </p:nvSpPr>
        <p:spPr>
          <a:xfrm>
            <a:off x="7665720" y="58801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400" b="1" i="0" u="none" strike="noStrike">
                <a:solidFill>
                  <a:srgbClr val="7879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$650B</a:t>
            </a:r>
            <a:endParaRPr lang="en-US" sz="1100"/>
          </a:p>
        </p:txBody>
      </p:sp>
      <p:sp>
        <p:nvSpPr>
          <p:cNvPr id="6" name="AutoShape 9"/>
          <p:cNvSpPr/>
          <p:nvPr/>
        </p:nvSpPr>
        <p:spPr>
          <a:xfrm>
            <a:off x="7665720" y="1324610"/>
            <a:ext cx="420116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6500亿美元。预测微软、谷歌、Meta 和亚马逊在 2026 年的合并资本支出总额。</a:t>
            </a:r>
            <a:endParaRPr/>
          </a:p>
        </p:txBody>
      </p:sp>
      <p:sp>
        <p:nvSpPr>
          <p:cNvPr id="7" name="AutoShape 10"/>
          <p:cNvSpPr/>
          <p:nvPr/>
        </p:nvSpPr>
        <p:spPr>
          <a:xfrm>
            <a:off x="7665720" y="207391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200" b="1" i="0" u="none" strike="noStrike">
                <a:solidFill>
                  <a:srgbClr val="7879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主权推动</a:t>
            </a:r>
            <a:endParaRPr/>
          </a:p>
        </p:txBody>
      </p:sp>
      <p:sp>
        <p:nvSpPr>
          <p:cNvPr id="8" name="AutoShape 11"/>
          <p:cNvSpPr/>
          <p:nvPr/>
        </p:nvSpPr>
        <p:spPr>
          <a:xfrm>
            <a:off x="7665720" y="2807970"/>
            <a:ext cx="420116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公共部门的算力计划带来了增量需求，但超大规模厂商的资本支出仍是主要驱动力。</a:t>
            </a:r>
            <a:endParaRPr/>
          </a:p>
        </p:txBody>
      </p:sp>
      <p:sp>
        <p:nvSpPr>
          <p:cNvPr id="9" name="AutoShape 12"/>
          <p:cNvSpPr/>
          <p:nvPr/>
        </p:nvSpPr>
        <p:spPr>
          <a:xfrm>
            <a:off x="7665720" y="353695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200" b="1" i="0" u="none" strike="noStrike">
                <a:solidFill>
                  <a:srgbClr val="7879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能源</a:t>
            </a:r>
            <a:endParaRPr/>
          </a:p>
        </p:txBody>
      </p:sp>
      <p:sp>
        <p:nvSpPr>
          <p:cNvPr id="10" name="AutoShape 13"/>
          <p:cNvSpPr/>
          <p:nvPr/>
        </p:nvSpPr>
        <p:spPr>
          <a:xfrm>
            <a:off x="7665720" y="427863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电力供应是新建数据中心集群的关键约束，其稳定性和充裕性直接决定运行效率、可靠性及未来数字基础设施的扩展与产业布局。</a:t>
            </a:r>
            <a:endParaRPr/>
          </a:p>
        </p:txBody>
      </p:sp>
      <p:sp>
        <p:nvSpPr>
          <p:cNvPr id="11" name="AutoShape 14"/>
          <p:cNvSpPr/>
          <p:nvPr/>
        </p:nvSpPr>
        <p:spPr>
          <a:xfrm>
            <a:off x="7665720" y="507111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200" b="1" i="0" u="none" strike="noStrike">
                <a:solidFill>
                  <a:srgbClr val="7879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自研芯片</a:t>
            </a:r>
            <a:endParaRPr/>
          </a:p>
        </p:txBody>
      </p:sp>
      <p:sp>
        <p:nvSpPr>
          <p:cNvPr id="12" name="AutoShape 15"/>
          <p:cNvSpPr/>
          <p:nvPr/>
        </p:nvSpPr>
        <p:spPr>
          <a:xfrm>
            <a:off x="7665720" y="5761990"/>
            <a:ext cx="420116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转向定制化自研芯片（如 TPU、Maia、Trainium）以控制单位经济成本。</a:t>
            </a:r>
            <a:endParaRPr/>
          </a:p>
        </p:txBody>
      </p:sp>
      <p:graphicFrame>
        <p:nvGraphicFramePr>
          <p:cNvPr id="13" name="13"/>
          <p:cNvGraphicFramePr/>
          <p:nvPr/>
        </p:nvGraphicFramePr>
        <p:xfrm>
          <a:off x="349250" y="1350010"/>
          <a:ext cx="6439646" cy="3480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utoShape 2"/>
          <p:cNvSpPr/>
          <p:nvPr/>
        </p:nvSpPr>
        <p:spPr>
          <a:xfrm>
            <a:off x="609600" y="609600"/>
            <a:ext cx="10972800" cy="1016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政策时间线与安全合规工作流</a:t>
            </a:r>
            <a:endParaRPr/>
          </a:p>
          <a:p>
            <a:pPr indent="0" algn="l"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固定节点倒逼企业把机器人安全、数据合规、责任划分做成可审计流程。</a:t>
            </a:r>
            <a:endParaRPr/>
          </a:p>
        </p:txBody>
      </p:sp>
      <p:cxnSp>
        <p:nvCxnSpPr>
          <p:cNvPr id="16" name="Connector 3"/>
          <p:cNvCxnSpPr/>
          <p:nvPr/>
        </p:nvCxnSpPr>
        <p:spPr>
          <a:xfrm rot="-3978">
            <a:off x="556264" y="2470150"/>
            <a:ext cx="1097282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C1D1A">
                <a:alpha val="20000"/>
              </a:srgbClr>
            </a:solidFill>
            <a:prstDash val="solid"/>
            <a:miter lim="8000000"/>
            <a:headEnd type="none" w="lg" len="lg"/>
            <a:tailEnd type="none" w="lg" len="lg"/>
          </a:ln>
        </p:spPr>
      </p:cxnSp>
      <p:sp>
        <p:nvSpPr>
          <p:cNvPr id="17" name="AutoShape 4"/>
          <p:cNvSpPr/>
          <p:nvPr/>
        </p:nvSpPr>
        <p:spPr>
          <a:xfrm>
            <a:off x="2184400" y="2349500"/>
            <a:ext cx="254000" cy="254000"/>
          </a:xfrm>
          <a:prstGeom prst="ellipse">
            <a:avLst/>
          </a:prstGeom>
          <a:solidFill>
            <a:srgbClr val="7879FF">
              <a:alpha val="100000"/>
            </a:srgbClr>
          </a:solidFill>
          <a:ln w="12700">
            <a:solidFill>
              <a:schemeClr val="bg1">
                <a:lumMod val="95000"/>
                <a:alpha val="100000"/>
              </a:schemeClr>
            </a:solidFill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8" name="AutoShape 5"/>
          <p:cNvSpPr/>
          <p:nvPr/>
        </p:nvSpPr>
        <p:spPr>
          <a:xfrm>
            <a:off x="1041400" y="1460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2025</a:t>
            </a:r>
            <a:r>
              <a:rPr lang="zh-CN" sz="1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下半年</a:t>
            </a:r>
            <a:endParaRPr/>
          </a:p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场景示范规范</a:t>
            </a:r>
            <a:endParaRPr/>
          </a:p>
        </p:txBody>
      </p:sp>
      <p:sp>
        <p:nvSpPr>
          <p:cNvPr id="19" name="AutoShape 6"/>
          <p:cNvSpPr/>
          <p:nvPr/>
        </p:nvSpPr>
        <p:spPr>
          <a:xfrm>
            <a:off x="5994400" y="2349500"/>
            <a:ext cx="254000" cy="254000"/>
          </a:xfrm>
          <a:prstGeom prst="ellipse">
            <a:avLst/>
          </a:prstGeom>
          <a:solidFill>
            <a:srgbClr val="7879FF">
              <a:alpha val="100000"/>
            </a:srgbClr>
          </a:solidFill>
          <a:ln w="25400" cap="flat" cmpd="sng">
            <a:solidFill>
              <a:schemeClr val="bg1">
                <a:lumMod val="95000"/>
                <a:alpha val="100000"/>
              </a:scheme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4851400" y="1460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2026</a:t>
            </a:r>
            <a:endParaRPr/>
          </a:p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人机协同安全评估</a:t>
            </a:r>
            <a:endParaRPr/>
          </a:p>
        </p:txBody>
      </p:sp>
      <p:sp>
        <p:nvSpPr>
          <p:cNvPr id="21" name="AutoShape 8"/>
          <p:cNvSpPr/>
          <p:nvPr/>
        </p:nvSpPr>
        <p:spPr>
          <a:xfrm>
            <a:off x="9804400" y="2349500"/>
            <a:ext cx="254000" cy="254000"/>
          </a:xfrm>
          <a:prstGeom prst="ellipse">
            <a:avLst/>
          </a:prstGeom>
          <a:solidFill>
            <a:srgbClr val="7879FF">
              <a:alpha val="100000"/>
            </a:srgbClr>
          </a:solidFill>
          <a:ln w="25400" cap="flat" cmpd="sng">
            <a:solidFill>
              <a:schemeClr val="bg1">
                <a:lumMod val="95000"/>
                <a:alpha val="100000"/>
              </a:scheme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22" name="AutoShape 9"/>
          <p:cNvSpPr/>
          <p:nvPr/>
        </p:nvSpPr>
        <p:spPr>
          <a:xfrm>
            <a:off x="8661400" y="1460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2026-2027</a:t>
            </a:r>
            <a:endParaRPr/>
          </a:p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行业标准与保险机制</a:t>
            </a:r>
            <a:endParaRPr/>
          </a:p>
        </p:txBody>
      </p:sp>
      <p:sp>
        <p:nvSpPr>
          <p:cNvPr id="23" name="AutoShape 10"/>
          <p:cNvSpPr/>
          <p:nvPr/>
        </p:nvSpPr>
        <p:spPr>
          <a:xfrm>
            <a:off x="0" y="2730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运营工作流与交付物</a:t>
            </a:r>
            <a:endParaRPr/>
          </a:p>
        </p:txBody>
      </p:sp>
      <p:sp>
        <p:nvSpPr>
          <p:cNvPr id="24" name="AutoShape 11"/>
          <p:cNvSpPr/>
          <p:nvPr/>
        </p:nvSpPr>
        <p:spPr>
          <a:xfrm>
            <a:off x="762000" y="3810000"/>
            <a:ext cx="2659472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>
                <a:solidFill>
                  <a:srgbClr val="7879FF">
                    <a:alpha val="100000"/>
                  </a:srgbClr>
                </a:solidFill>
                <a:latin typeface="PingFang SC"/>
                <a:ea typeface="PingFang SC"/>
              </a:rPr>
              <a:t>01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界定场景</a:t>
            </a:r>
            <a:endParaRPr/>
          </a:p>
          <a:p>
            <a:pPr indent="0" algn="l">
              <a:lnSpc>
                <a:spcPct val="108332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明确作业边界、风险等级、人员接管机制。</a:t>
            </a:r>
            <a:endParaRPr/>
          </a:p>
          <a:p>
            <a:pPr indent="0" algn="l">
              <a:lnSpc>
                <a:spcPct val="108332"/>
              </a:lnSpc>
              <a:spcBef>
                <a:spcPts val="2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输出</a:t>
            </a:r>
            <a:r>
              <a:rPr lang="en-US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: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场景风险表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任务边界说明</a:t>
            </a:r>
            <a:endParaRPr/>
          </a:p>
        </p:txBody>
      </p:sp>
      <p:cxnSp>
        <p:nvCxnSpPr>
          <p:cNvPr id="25" name="Connector 12"/>
          <p:cNvCxnSpPr/>
          <p:nvPr/>
        </p:nvCxnSpPr>
        <p:spPr>
          <a:xfrm rot="5378515">
            <a:off x="3060641" y="4992512"/>
            <a:ext cx="203211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C1D1A">
                <a:alpha val="1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26" name="AutoShape 13"/>
          <p:cNvSpPr/>
          <p:nvPr/>
        </p:nvSpPr>
        <p:spPr>
          <a:xfrm>
            <a:off x="4826000" y="3810000"/>
            <a:ext cx="2659472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>
                <a:solidFill>
                  <a:srgbClr val="7879FF">
                    <a:alpha val="100000"/>
                  </a:srgbClr>
                </a:solidFill>
                <a:latin typeface="PingFang SC"/>
                <a:ea typeface="PingFang SC"/>
              </a:rPr>
              <a:t>02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测试验证</a:t>
            </a:r>
            <a:endParaRPr/>
          </a:p>
          <a:p>
            <a:pPr indent="0" algn="l">
              <a:lnSpc>
                <a:spcPct val="108332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进行安全测试、异常工况演练和性能回归。</a:t>
            </a:r>
            <a:endParaRPr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zh-CN" sz="1200" b="1" i="0" u="none" strike="noStrike">
              <a:solidFill>
                <a:srgbClr val="1C1D1A">
                  <a:alpha val="100000"/>
                </a:srgbClr>
              </a:solidFill>
              <a:latin typeface="PingFang SC"/>
              <a:ea typeface="PingFang SC"/>
            </a:endParaRPr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输出</a:t>
            </a:r>
            <a:r>
              <a:rPr lang="en-US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:</a:t>
            </a:r>
            <a:endParaRPr sz="1400" b="0" i="0" u="none" strike="noStrike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评测报告</a:t>
            </a:r>
            <a:endParaRPr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整改闭环</a:t>
            </a:r>
            <a:endParaRPr/>
          </a:p>
        </p:txBody>
      </p:sp>
      <p:cxnSp>
        <p:nvCxnSpPr>
          <p:cNvPr id="27" name="Connector 14"/>
          <p:cNvCxnSpPr/>
          <p:nvPr/>
        </p:nvCxnSpPr>
        <p:spPr>
          <a:xfrm rot="5378515">
            <a:off x="7150040" y="4992512"/>
            <a:ext cx="203211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C1D1A">
                <a:alpha val="1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28" name="AutoShape 15"/>
          <p:cNvSpPr/>
          <p:nvPr/>
        </p:nvSpPr>
        <p:spPr>
          <a:xfrm>
            <a:off x="8890000" y="3810000"/>
            <a:ext cx="2659472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>
                <a:solidFill>
                  <a:srgbClr val="7879FF">
                    <a:alpha val="100000"/>
                  </a:srgbClr>
                </a:solidFill>
                <a:latin typeface="PingFang SC"/>
                <a:ea typeface="PingFang SC"/>
              </a:rPr>
              <a:t>03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上线监控</a:t>
            </a:r>
            <a:endParaRPr/>
          </a:p>
          <a:p>
            <a:pPr indent="0" algn="l">
              <a:lnSpc>
                <a:spcPct val="108332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部署日志、远程运维、事故复盘与版本回滚。</a:t>
            </a:r>
            <a:endParaRPr/>
          </a:p>
          <a:p>
            <a:pPr lvl="0" indent="0" algn="l">
              <a:lnSpc>
                <a:spcPct val="108332"/>
              </a:lnSpc>
              <a:spcBef>
                <a:spcPts val="0"/>
              </a:spcBef>
              <a:buClr>
                <a:srgbClr val="000000">
                  <a:alpha val="100000"/>
                </a:srgbClr>
              </a:buClr>
              <a:buFont typeface="Arial"/>
            </a:pPr>
            <a:endParaRPr lang="en-US" sz="1200" b="1" i="0" u="none" strike="noStrike">
              <a:solidFill>
                <a:srgbClr val="1C1D1A">
                  <a:alpha val="100000"/>
                </a:srgbClr>
              </a:solidFill>
              <a:latin typeface="PingFang SC"/>
              <a:ea typeface="PingFang SC"/>
            </a:endParaRPr>
          </a:p>
          <a:p>
            <a:pPr lvl="0" indent="0" algn="l">
              <a:lnSpc>
                <a:spcPct val="108332"/>
              </a:lnSpc>
              <a:spcBef>
                <a:spcPts val="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输出</a:t>
            </a:r>
            <a:r>
              <a:rPr lang="en-US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:</a:t>
            </a:r>
            <a:endParaRPr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运维台账</a:t>
            </a:r>
            <a:endParaRPr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审计记录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4"/>
          <p:cNvSpPr/>
          <p:nvPr/>
        </p:nvSpPr>
        <p:spPr>
          <a:xfrm>
            <a:off x="604520" y="576580"/>
            <a:ext cx="470535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管理层启示：下一阶段该把赌注押在哪里</a:t>
            </a:r>
            <a:endParaRPr/>
          </a:p>
        </p:txBody>
      </p:sp>
      <p:sp>
        <p:nvSpPr>
          <p:cNvPr id="31" name="AutoShape 5"/>
          <p:cNvSpPr/>
          <p:nvPr/>
        </p:nvSpPr>
        <p:spPr>
          <a:xfrm>
            <a:off x="604520" y="2018030"/>
            <a:ext cx="4705350" cy="4206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85750" indent="-28575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赢家会把具身智能当作运营能力建设，而不是一次性采购一台会动的设备。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buNone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b="0" i="0" u="none" strike="noStrike">
              <a:solidFill>
                <a:srgbClr val="1C1D1A">
                  <a:alpha val="70196"/>
                </a:srgbClr>
              </a:solidFill>
              <a:latin typeface="PingFang SC"/>
              <a:ea typeface="PingFang SC"/>
            </a:endParaRPr>
          </a:p>
          <a:p>
            <a:pPr marL="285750" indent="-28575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安全与责任不可后置。进入真实作业现场前，必须完成风险评估、接管策略、日志留存和事故响应机制。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buNone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b="0" i="0" u="none" strike="noStrike">
              <a:solidFill>
                <a:srgbClr val="1C1D1A">
                  <a:alpha val="70196"/>
                </a:srgbClr>
              </a:solidFill>
              <a:latin typeface="PingFang SC"/>
              <a:ea typeface="PingFang SC"/>
            </a:endParaRPr>
          </a:p>
          <a:p>
            <a:pPr marL="285750" indent="-28575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基础设施与供应链已成为董事会议题：谁能锁定关键件、测试场和任务数据，谁就能更快穿越量产爬坡。</a:t>
            </a:r>
            <a:endParaRPr/>
          </a:p>
        </p:txBody>
      </p:sp>
      <p:sp>
        <p:nvSpPr>
          <p:cNvPr id="32" name="AutoShape 8"/>
          <p:cNvSpPr/>
          <p:nvPr/>
        </p:nvSpPr>
        <p:spPr>
          <a:xfrm>
            <a:off x="5935980" y="991870"/>
            <a:ext cx="3154680" cy="3154680"/>
          </a:xfrm>
          <a:prstGeom prst="ellipse">
            <a:avLst/>
          </a:prstGeom>
          <a:solidFill>
            <a:srgbClr val="7879FF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33" name="AutoShape 9"/>
          <p:cNvSpPr/>
          <p:nvPr/>
        </p:nvSpPr>
        <p:spPr>
          <a:xfrm>
            <a:off x="6370320" y="2018030"/>
            <a:ext cx="22860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200" b="1" i="0" u="none" strike="noStrike">
                <a:solidFill>
                  <a:srgbClr val="0D0D0D">
                    <a:alpha val="100000"/>
                  </a:srgbClr>
                </a:solidFill>
                <a:latin typeface="PingFang SC"/>
                <a:ea typeface="PingFang SC"/>
              </a:rPr>
              <a:t>2026</a:t>
            </a:r>
            <a:r>
              <a:rPr lang="zh-CN" sz="2200" b="1" i="0" u="none" strike="noStrike">
                <a:solidFill>
                  <a:srgbClr val="0D0D0D">
                    <a:alpha val="100000"/>
                  </a:srgbClr>
                </a:solidFill>
                <a:latin typeface="PingFang SC"/>
                <a:ea typeface="PingFang SC"/>
              </a:rPr>
              <a:t>行动</a:t>
            </a:r>
            <a:endParaRPr/>
          </a:p>
        </p:txBody>
      </p:sp>
      <p:sp>
        <p:nvSpPr>
          <p:cNvPr id="34" name="AutoShape 10"/>
          <p:cNvSpPr/>
          <p:nvPr/>
        </p:nvSpPr>
        <p:spPr>
          <a:xfrm>
            <a:off x="6536690" y="2988310"/>
            <a:ext cx="1951989" cy="269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0D0D0D">
                    <a:alpha val="100000"/>
                  </a:srgbClr>
                </a:solidFill>
                <a:latin typeface="PingFang SC"/>
                <a:ea typeface="PingFang SC"/>
              </a:rPr>
              <a:t>战略聚焦</a:t>
            </a:r>
            <a:endParaRPr/>
          </a:p>
        </p:txBody>
      </p:sp>
      <p:sp>
        <p:nvSpPr>
          <p:cNvPr id="35" name="AutoShape 11"/>
          <p:cNvSpPr/>
          <p:nvPr/>
        </p:nvSpPr>
        <p:spPr>
          <a:xfrm>
            <a:off x="7250430" y="4097020"/>
            <a:ext cx="2260600" cy="226060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36" name="AutoShape 12"/>
          <p:cNvSpPr/>
          <p:nvPr/>
        </p:nvSpPr>
        <p:spPr>
          <a:xfrm>
            <a:off x="7620000" y="4906010"/>
            <a:ext cx="15240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供应链策略</a:t>
            </a:r>
            <a:endParaRPr/>
          </a:p>
        </p:txBody>
      </p:sp>
      <p:sp>
        <p:nvSpPr>
          <p:cNvPr id="37" name="AutoShape 13"/>
          <p:cNvSpPr/>
          <p:nvPr/>
        </p:nvSpPr>
        <p:spPr>
          <a:xfrm>
            <a:off x="8957310" y="2396490"/>
            <a:ext cx="2404110" cy="240411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38" name="AutoShape 14"/>
          <p:cNvSpPr/>
          <p:nvPr/>
        </p:nvSpPr>
        <p:spPr>
          <a:xfrm>
            <a:off x="9271000" y="3257550"/>
            <a:ext cx="1778000" cy="723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安全治理</a:t>
            </a:r>
            <a:endParaRPr/>
          </a:p>
        </p:txBody>
      </p:sp>
      <p:sp>
        <p:nvSpPr>
          <p:cNvPr id="39" name="AutoShape 15"/>
          <p:cNvSpPr/>
          <p:nvPr/>
        </p:nvSpPr>
        <p:spPr>
          <a:xfrm>
            <a:off x="8931910" y="769620"/>
            <a:ext cx="1617980" cy="161798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40" name="AutoShape 16"/>
          <p:cNvSpPr/>
          <p:nvPr/>
        </p:nvSpPr>
        <p:spPr>
          <a:xfrm>
            <a:off x="9105900" y="1315720"/>
            <a:ext cx="1270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6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作业流程</a:t>
            </a:r>
            <a:endParaRPr/>
          </a:p>
        </p:txBody>
      </p:sp>
      <p:sp>
        <p:nvSpPr>
          <p:cNvPr id="41" name="AutoShape 17"/>
          <p:cNvSpPr/>
          <p:nvPr/>
        </p:nvSpPr>
        <p:spPr>
          <a:xfrm>
            <a:off x="5858510" y="4003040"/>
            <a:ext cx="1416050" cy="141605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42" name="AutoShape 18"/>
          <p:cNvSpPr/>
          <p:nvPr/>
        </p:nvSpPr>
        <p:spPr>
          <a:xfrm>
            <a:off x="6057900" y="4480560"/>
            <a:ext cx="10160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KPI</a:t>
            </a:r>
            <a:endParaRPr/>
          </a:p>
        </p:txBody>
      </p:sp>
      <p:sp>
        <p:nvSpPr>
          <p:cNvPr id="43" name="AutoShape 19"/>
          <p:cNvSpPr/>
          <p:nvPr/>
        </p:nvSpPr>
        <p:spPr>
          <a:xfrm>
            <a:off x="9528810" y="5091430"/>
            <a:ext cx="1132840" cy="113284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44" name="AutoShape 20"/>
          <p:cNvSpPr/>
          <p:nvPr/>
        </p:nvSpPr>
        <p:spPr>
          <a:xfrm>
            <a:off x="9715500" y="5448300"/>
            <a:ext cx="7620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人才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extLst>
              <a:ext uri="{FF2B5EF4-FFF2-40B4-BE49-F238E27FC236}">
                <a16:creationId xmlns:a16="http://schemas.microsoft.com/office/drawing/2014/main" id="{0F5E6DBC-72DD-C06F-1993-4D5DF5B952F9}"/>
              </a:ext>
            </a:extLst>
          </p:cNvPr>
          <p:cNvSpPr/>
          <p:nvPr/>
        </p:nvSpPr>
        <p:spPr>
          <a:xfrm>
            <a:off x="7112000" y="0"/>
            <a:ext cx="5080000" cy="6858000"/>
          </a:xfrm>
          <a:prstGeom prst="roundRect">
            <a:avLst>
              <a:gd name="adj" fmla="val 0"/>
            </a:avLst>
          </a:prstGeom>
          <a:blipFill rotWithShape="1">
            <a:blip r:embed="rId3">
              <a:alphaModFix/>
              <a:extLst>
                <a:ext uri="">
                  <a14:imgProps xmlns:mc="http://schemas.openxmlformats.org/markup-compatibility/2006" xmlns:a14="http://schemas.microsoft.com/office/drawing/2010/main" xmlns="">
                    <a14:imgLayer>
                      <a14:imgEffect>
                        <a14:brightnessContrast/>
                        <a14:colorTemperature/>
                        <a14:saturation/>
                        <a14:sharpenSoften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10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47" name="AutoShape 7"/>
          <p:cNvSpPr/>
          <p:nvPr/>
        </p:nvSpPr>
        <p:spPr>
          <a:xfrm>
            <a:off x="539750" y="609600"/>
            <a:ext cx="5747123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Thanks</a:t>
            </a:r>
            <a:endParaRPr dirty="0"/>
          </a:p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For Watching</a:t>
            </a:r>
            <a:endParaRPr dirty="0"/>
          </a:p>
        </p:txBody>
      </p:sp>
      <p:sp>
        <p:nvSpPr>
          <p:cNvPr id="48" name="AutoShape 8"/>
          <p:cNvSpPr/>
          <p:nvPr/>
        </p:nvSpPr>
        <p:spPr>
          <a:xfrm>
            <a:off x="754380" y="2752372"/>
            <a:ext cx="2159000" cy="8036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欢迎参与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交流与讨论</a:t>
            </a:r>
            <a:endParaRPr/>
          </a:p>
        </p:txBody>
      </p:sp>
      <p:sp>
        <p:nvSpPr>
          <p:cNvPr id="49" name="AutoShape 9"/>
          <p:cNvSpPr/>
          <p:nvPr/>
        </p:nvSpPr>
        <p:spPr>
          <a:xfrm>
            <a:off x="539750" y="2834408"/>
            <a:ext cx="25400" cy="677142"/>
          </a:xfrm>
          <a:prstGeom prst="roundRect">
            <a:avLst>
              <a:gd name="adj" fmla="val 0"/>
            </a:avLst>
          </a:prstGeom>
          <a:solidFill>
            <a:srgbClr val="6F88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50" name="AutoShape 23"/>
          <p:cNvSpPr/>
          <p:nvPr/>
        </p:nvSpPr>
        <p:spPr>
          <a:xfrm>
            <a:off x="9036050" y="6096000"/>
            <a:ext cx="2726690" cy="340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 dirty="0">
                <a:solidFill>
                  <a:srgbClr val="7879FF"/>
                </a:solidFill>
                <a:latin typeface="PingFang SC"/>
                <a:ea typeface="PingFang SC"/>
              </a:rPr>
              <a:t>2026</a:t>
            </a:r>
            <a:endParaRPr dirty="0">
              <a:solidFill>
                <a:srgbClr val="7879FF"/>
              </a:solidFill>
            </a:endParaRPr>
          </a:p>
        </p:txBody>
      </p:sp>
      <p:sp>
        <p:nvSpPr>
          <p:cNvPr id="3" name="十角星 2">
            <a:extLst>
              <a:ext uri="{FF2B5EF4-FFF2-40B4-BE49-F238E27FC236}">
                <a16:creationId xmlns:a16="http://schemas.microsoft.com/office/drawing/2014/main" id="{67C58E9F-9CF1-79B8-F0D3-3338797E5F35}"/>
              </a:ext>
            </a:extLst>
          </p:cNvPr>
          <p:cNvSpPr/>
          <p:nvPr/>
        </p:nvSpPr>
        <p:spPr>
          <a:xfrm>
            <a:off x="7514612" y="3429000"/>
            <a:ext cx="2137388" cy="2137388"/>
          </a:xfrm>
          <a:prstGeom prst="star10">
            <a:avLst>
              <a:gd name="adj" fmla="val 14924"/>
              <a:gd name="hf" fmla="val 105146"/>
            </a:avLst>
          </a:prstGeom>
          <a:solidFill>
            <a:schemeClr val="bg1">
              <a:alpha val="100000"/>
            </a:scheme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>
              <a:latin typeface="PingFang SC"/>
              <a:ea typeface="PingFang SC"/>
            </a:endParaRPr>
          </a:p>
        </p:txBody>
      </p:sp>
      <p:sp>
        <p:nvSpPr>
          <p:cNvPr id="4" name="十角星 3">
            <a:extLst>
              <a:ext uri="{FF2B5EF4-FFF2-40B4-BE49-F238E27FC236}">
                <a16:creationId xmlns:a16="http://schemas.microsoft.com/office/drawing/2014/main" id="{92E0A3CB-B173-C20B-2903-43449819F2F9}"/>
              </a:ext>
            </a:extLst>
          </p:cNvPr>
          <p:cNvSpPr/>
          <p:nvPr/>
        </p:nvSpPr>
        <p:spPr>
          <a:xfrm>
            <a:off x="4181049" y="1373963"/>
            <a:ext cx="762000" cy="762000"/>
          </a:xfrm>
          <a:prstGeom prst="star10">
            <a:avLst>
              <a:gd name="adj" fmla="val 14669"/>
              <a:gd name="hf" fmla="val 105146"/>
            </a:avLst>
          </a:prstGeom>
          <a:solidFill>
            <a:srgbClr val="7879FF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1603</Words>
  <Application>Microsoft Macintosh PowerPoint</Application>
  <PresentationFormat>宽屏</PresentationFormat>
  <Paragraphs>204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Inter</vt:lpstr>
      <vt:lpstr>PingFang SC</vt:lpstr>
      <vt:lpstr>Space Grotesk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1</cp:revision>
  <dcterms:created xsi:type="dcterms:W3CDTF">2026-05-27T17:23:03Z</dcterms:created>
  <dcterms:modified xsi:type="dcterms:W3CDTF">2026-05-27T12:45:06Z</dcterms:modified>
</cp:coreProperties>
</file>