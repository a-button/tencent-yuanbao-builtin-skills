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66" r:id="rId4"/>
    <p:sldId id="267" r:id="rId5"/>
    <p:sldId id="257" r:id="rId6"/>
    <p:sldId id="258" r:id="rId7"/>
    <p:sldId id="268" r:id="rId8"/>
    <p:sldId id="274" r:id="rId9"/>
    <p:sldId id="259" r:id="rId10"/>
    <p:sldId id="260" r:id="rId11"/>
    <p:sldId id="269" r:id="rId12"/>
    <p:sldId id="261" r:id="rId13"/>
    <p:sldId id="272" r:id="rId14"/>
    <p:sldId id="270" r:id="rId15"/>
    <p:sldId id="262" r:id="rId16"/>
    <p:sldId id="273" r:id="rId17"/>
    <p:sldId id="271" r:id="rId18"/>
    <p:sldId id="263" r:id="rId19"/>
    <p:sldId id="26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FF"/>
    <a:srgbClr val="A8D2FF"/>
    <a:srgbClr val="1B71FF"/>
    <a:srgbClr val="4C7BFF"/>
    <a:srgbClr val="3A80FF"/>
    <a:srgbClr val="4880E4"/>
    <a:srgbClr val="3F64D6"/>
    <a:srgbClr val="253BB0"/>
    <a:srgbClr val="304DB0"/>
    <a:srgbClr val="405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98" d="100"/>
          <a:sy n="98" d="100"/>
        </p:scale>
        <p:origin x="640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008E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008EFF"/>
              </a:solidFill>
              <a:ln w="28575">
                <a:solidFill>
                  <a:srgbClr val="008EFF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0" i="0">
                    <a:solidFill>
                      <a:srgbClr val="008EFF"/>
                    </a:solidFill>
                    <a:latin typeface="MiSans VF Regular" pitchFamily="2" charset="-122"/>
                    <a:ea typeface="MiSans VF Regular" pitchFamily="2" charset="-122"/>
                    <a:cs typeface="MiSans VF Regular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1B0-AF4D-B01C-219CDB3C67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chemeClr val="bg1">
                <a:alpha val="60000"/>
              </a:scheme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bg1">
                    <a:alpha val="59834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alpha val="10000"/>
                </a:scheme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0" i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7C97-C188-B2C3-78F2-738DE653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>
            <a:extLst>
              <a:ext uri="{FF2B5EF4-FFF2-40B4-BE49-F238E27FC236}">
                <a16:creationId xmlns:a16="http://schemas.microsoft.com/office/drawing/2014/main" id="{36B01051-D845-05E1-D068-B7D31D803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>
            <a:extLst>
              <a:ext uri="{FF2B5EF4-FFF2-40B4-BE49-F238E27FC236}">
                <a16:creationId xmlns:a16="http://schemas.microsoft.com/office/drawing/2014/main" id="{D2457FAF-6B5E-201C-FF77-D4C5BB318F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>
            <a:extLst>
              <a:ext uri="{FF2B5EF4-FFF2-40B4-BE49-F238E27FC236}">
                <a16:creationId xmlns:a16="http://schemas.microsoft.com/office/drawing/2014/main" id="{0157175A-0567-2D29-6D85-720B9FD9F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>
            <a:extLst>
              <a:ext uri="{FF2B5EF4-FFF2-40B4-BE49-F238E27FC236}">
                <a16:creationId xmlns:a16="http://schemas.microsoft.com/office/drawing/2014/main" id="{F5EDF15F-0637-F05D-8954-0C1E3C020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FFF67831-D57F-399B-5579-B8CB4BC96D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72EBB623-6B3A-3227-0377-1F099127F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4183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C135-1A13-8107-F832-A8D59945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>
            <a:extLst>
              <a:ext uri="{FF2B5EF4-FFF2-40B4-BE49-F238E27FC236}">
                <a16:creationId xmlns:a16="http://schemas.microsoft.com/office/drawing/2014/main" id="{3D495595-A72A-CA45-2F0F-D45E217E32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>
            <a:extLst>
              <a:ext uri="{FF2B5EF4-FFF2-40B4-BE49-F238E27FC236}">
                <a16:creationId xmlns:a16="http://schemas.microsoft.com/office/drawing/2014/main" id="{60ABD64D-3951-8C73-9EC9-8866CE529F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>
            <a:extLst>
              <a:ext uri="{FF2B5EF4-FFF2-40B4-BE49-F238E27FC236}">
                <a16:creationId xmlns:a16="http://schemas.microsoft.com/office/drawing/2014/main" id="{1D6C5B67-2DE6-655C-AFF7-9F786A383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>
            <a:extLst>
              <a:ext uri="{FF2B5EF4-FFF2-40B4-BE49-F238E27FC236}">
                <a16:creationId xmlns:a16="http://schemas.microsoft.com/office/drawing/2014/main" id="{9CD18570-0849-9656-24DC-7A66FD394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>
            <a:extLst>
              <a:ext uri="{FF2B5EF4-FFF2-40B4-BE49-F238E27FC236}">
                <a16:creationId xmlns:a16="http://schemas.microsoft.com/office/drawing/2014/main" id="{3FDE5F78-B09D-FE30-2B16-F17BE4019F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>
            <a:extLst>
              <a:ext uri="{FF2B5EF4-FFF2-40B4-BE49-F238E27FC236}">
                <a16:creationId xmlns:a16="http://schemas.microsoft.com/office/drawing/2014/main" id="{D9BE9926-35B6-388C-2FB7-BCCAFED5D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7086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D97E-2AED-0825-2B81-515B5BEA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>
            <a:extLst>
              <a:ext uri="{FF2B5EF4-FFF2-40B4-BE49-F238E27FC236}">
                <a16:creationId xmlns:a16="http://schemas.microsoft.com/office/drawing/2014/main" id="{B953A035-1AED-BFA3-AF28-A4EE1922E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ABAE38D3-3B80-E3E5-D902-F62E32BF1A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>
            <a:extLst>
              <a:ext uri="{FF2B5EF4-FFF2-40B4-BE49-F238E27FC236}">
                <a16:creationId xmlns:a16="http://schemas.microsoft.com/office/drawing/2014/main" id="{04DBBF4D-B79C-FBA2-BFAB-10C36BF45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>
            <a:extLst>
              <a:ext uri="{FF2B5EF4-FFF2-40B4-BE49-F238E27FC236}">
                <a16:creationId xmlns:a16="http://schemas.microsoft.com/office/drawing/2014/main" id="{12B4D88E-03B5-FCF3-7D12-DD3B60C3D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>
            <a:extLst>
              <a:ext uri="{FF2B5EF4-FFF2-40B4-BE49-F238E27FC236}">
                <a16:creationId xmlns:a16="http://schemas.microsoft.com/office/drawing/2014/main" id="{53F88EE7-3DB8-CDA1-C635-2F5D250270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>
            <a:extLst>
              <a:ext uri="{FF2B5EF4-FFF2-40B4-BE49-F238E27FC236}">
                <a16:creationId xmlns:a16="http://schemas.microsoft.com/office/drawing/2014/main" id="{4A6C6A6E-5220-80A9-74F6-E256A9CBA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280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2138-4977-DA8F-A653-4EC63266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>
            <a:extLst>
              <a:ext uri="{FF2B5EF4-FFF2-40B4-BE49-F238E27FC236}">
                <a16:creationId xmlns:a16="http://schemas.microsoft.com/office/drawing/2014/main" id="{F489B7AD-FBFA-23F9-5ADC-0D68D7204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CCE37A0-5FED-25A2-7241-5D457421A7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>
            <a:extLst>
              <a:ext uri="{FF2B5EF4-FFF2-40B4-BE49-F238E27FC236}">
                <a16:creationId xmlns:a16="http://schemas.microsoft.com/office/drawing/2014/main" id="{38DA8C98-CA1A-4E4C-09DA-6396A3873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>
            <a:extLst>
              <a:ext uri="{FF2B5EF4-FFF2-40B4-BE49-F238E27FC236}">
                <a16:creationId xmlns:a16="http://schemas.microsoft.com/office/drawing/2014/main" id="{C9A3B546-B58F-5256-803D-FC06160DD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>
            <a:extLst>
              <a:ext uri="{FF2B5EF4-FFF2-40B4-BE49-F238E27FC236}">
                <a16:creationId xmlns:a16="http://schemas.microsoft.com/office/drawing/2014/main" id="{4555C281-19E1-9851-A647-7A2C6AA57A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>
            <a:extLst>
              <a:ext uri="{FF2B5EF4-FFF2-40B4-BE49-F238E27FC236}">
                <a16:creationId xmlns:a16="http://schemas.microsoft.com/office/drawing/2014/main" id="{EBAFFD1C-F7F7-B1C0-E884-657623B83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8054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0E21"/>
            </a:gs>
            <a:gs pos="59000">
              <a:srgbClr val="22377E"/>
            </a:gs>
            <a:gs pos="100000">
              <a:srgbClr val="3F64D6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gradFill flip="none" rotWithShape="1">
          <a:gsLst>
            <a:gs pos="0">
              <a:srgbClr val="0D0E21"/>
            </a:gs>
            <a:gs pos="59000">
              <a:srgbClr val="22377E"/>
            </a:gs>
            <a:gs pos="100000">
              <a:srgbClr val="3F64D6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D3C3308-6883-4ADF-BC90-57CD5C862E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3" name="组合 62">
            <a:extLst>
              <a:ext uri="{FF2B5EF4-FFF2-40B4-BE49-F238E27FC236}">
                <a16:creationId xmlns:a16="http://schemas.microsoft.com/office/drawing/2014/main" id="{8D95A0D8-40DB-F6E4-6E2C-E7BC7E7665C4}"/>
              </a:ext>
            </a:extLst>
          </p:cNvPr>
          <p:cNvGrpSpPr/>
          <p:nvPr/>
        </p:nvGrpSpPr>
        <p:grpSpPr>
          <a:xfrm>
            <a:off x="3240911" y="-20937"/>
            <a:ext cx="8951089" cy="8398021"/>
            <a:chOff x="3240911" y="-20937"/>
            <a:chExt cx="8951089" cy="839802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52AE2C5-3056-D85C-CDA3-865071625DAC}"/>
                </a:ext>
              </a:extLst>
            </p:cNvPr>
            <p:cNvSpPr/>
            <p:nvPr/>
          </p:nvSpPr>
          <p:spPr>
            <a:xfrm>
              <a:off x="9865216" y="1378040"/>
              <a:ext cx="695459" cy="695459"/>
            </a:xfrm>
            <a:prstGeom prst="rect">
              <a:avLst/>
            </a:prstGeom>
            <a:solidFill>
              <a:srgbClr val="A8D2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7CC64F9B-E174-50B2-8D0E-8DC6455E759E}"/>
                </a:ext>
              </a:extLst>
            </p:cNvPr>
            <p:cNvCxnSpPr>
              <a:cxnSpLocks/>
            </p:cNvCxnSpPr>
            <p:nvPr/>
          </p:nvCxnSpPr>
          <p:spPr>
            <a:xfrm>
              <a:off x="3240911" y="1378040"/>
              <a:ext cx="895108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F408B84B-6C06-4FD2-3054-DBADE7903FA5}"/>
                </a:ext>
              </a:extLst>
            </p:cNvPr>
            <p:cNvCxnSpPr>
              <a:cxnSpLocks/>
            </p:cNvCxnSpPr>
            <p:nvPr/>
          </p:nvCxnSpPr>
          <p:spPr>
            <a:xfrm>
              <a:off x="5856790" y="2073499"/>
              <a:ext cx="6335210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8213508-B1C0-CCA0-F4EB-E3D79003C2FE}"/>
                </a:ext>
              </a:extLst>
            </p:cNvPr>
            <p:cNvSpPr/>
            <p:nvPr/>
          </p:nvSpPr>
          <p:spPr>
            <a:xfrm>
              <a:off x="9169757" y="682582"/>
              <a:ext cx="695459" cy="695459"/>
            </a:xfrm>
            <a:prstGeom prst="rect">
              <a:avLst/>
            </a:prstGeom>
            <a:solidFill>
              <a:srgbClr val="A8D2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FA3DE727-D48C-344C-438E-DC8196CB3A5E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01" y="679853"/>
              <a:ext cx="675189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7000">
                    <a:srgbClr val="A8D2FF">
                      <a:alpha val="10470"/>
                    </a:srgbClr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22BA05F-B3AF-2EC9-62DB-8EF942771355}"/>
                </a:ext>
              </a:extLst>
            </p:cNvPr>
            <p:cNvSpPr/>
            <p:nvPr/>
          </p:nvSpPr>
          <p:spPr>
            <a:xfrm>
              <a:off x="10560675" y="2079497"/>
              <a:ext cx="695459" cy="695459"/>
            </a:xfrm>
            <a:prstGeom prst="rect">
              <a:avLst/>
            </a:prstGeom>
            <a:solidFill>
              <a:srgbClr val="A8D2FF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FDE750B1-B507-B666-2255-3FA6206CCFC5}"/>
                </a:ext>
              </a:extLst>
            </p:cNvPr>
            <p:cNvCxnSpPr/>
            <p:nvPr/>
          </p:nvCxnSpPr>
          <p:spPr>
            <a:xfrm>
              <a:off x="5267459" y="2774956"/>
              <a:ext cx="6924541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736EE62-C24D-95F4-BA46-AFEA7F25059B}"/>
                </a:ext>
              </a:extLst>
            </p:cNvPr>
            <p:cNvSpPr/>
            <p:nvPr/>
          </p:nvSpPr>
          <p:spPr>
            <a:xfrm>
              <a:off x="9169757" y="2780955"/>
              <a:ext cx="695459" cy="695459"/>
            </a:xfrm>
            <a:prstGeom prst="rect">
              <a:avLst/>
            </a:prstGeom>
            <a:solidFill>
              <a:srgbClr val="A8D2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429D16B7-17E6-AE5E-C0E8-4B197365E459}"/>
                </a:ext>
              </a:extLst>
            </p:cNvPr>
            <p:cNvCxnSpPr>
              <a:cxnSpLocks/>
            </p:cNvCxnSpPr>
            <p:nvPr/>
          </p:nvCxnSpPr>
          <p:spPr>
            <a:xfrm>
              <a:off x="7029450" y="3476414"/>
              <a:ext cx="5162550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986F0F-2FA9-814E-8BB3-0FAC309CCC35}"/>
                </a:ext>
              </a:extLst>
            </p:cNvPr>
            <p:cNvSpPr/>
            <p:nvPr/>
          </p:nvSpPr>
          <p:spPr>
            <a:xfrm>
              <a:off x="4572000" y="-20937"/>
              <a:ext cx="695459" cy="695459"/>
            </a:xfrm>
            <a:prstGeom prst="rect">
              <a:avLst/>
            </a:prstGeom>
            <a:solidFill>
              <a:srgbClr val="A8D2FF">
                <a:alpha val="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D3B2B785-DAD1-D8B8-676B-1B36A18BCFD9}"/>
                </a:ext>
              </a:extLst>
            </p:cNvPr>
            <p:cNvCxnSpPr>
              <a:cxnSpLocks/>
            </p:cNvCxnSpPr>
            <p:nvPr/>
          </p:nvCxnSpPr>
          <p:spPr>
            <a:xfrm>
              <a:off x="8152327" y="4177871"/>
              <a:ext cx="4039673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B470DEC-A0FA-3AB8-2A0E-33687903F4A3}"/>
                </a:ext>
              </a:extLst>
            </p:cNvPr>
            <p:cNvSpPr/>
            <p:nvPr/>
          </p:nvSpPr>
          <p:spPr>
            <a:xfrm>
              <a:off x="8466825" y="4183868"/>
              <a:ext cx="695459" cy="695459"/>
            </a:xfrm>
            <a:prstGeom prst="rect">
              <a:avLst/>
            </a:prstGeom>
            <a:solidFill>
              <a:srgbClr val="A8D2FF">
                <a:alpha val="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D92A1DDC-797F-A26C-377C-AF4989012987}"/>
                </a:ext>
              </a:extLst>
            </p:cNvPr>
            <p:cNvCxnSpPr>
              <a:cxnSpLocks/>
            </p:cNvCxnSpPr>
            <p:nvPr/>
          </p:nvCxnSpPr>
          <p:spPr>
            <a:xfrm>
              <a:off x="6415088" y="4879327"/>
              <a:ext cx="5776912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B00BA2CB-081A-8083-8B9B-D2E42CCA74BC}"/>
                </a:ext>
              </a:extLst>
            </p:cNvPr>
            <p:cNvCxnSpPr/>
            <p:nvPr/>
          </p:nvCxnSpPr>
          <p:spPr>
            <a:xfrm>
              <a:off x="5267459" y="5580784"/>
              <a:ext cx="6924541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1CC02766-0FBA-0E06-1A19-0D9508C3417A}"/>
                </a:ext>
              </a:extLst>
            </p:cNvPr>
            <p:cNvCxnSpPr>
              <a:cxnSpLocks/>
            </p:cNvCxnSpPr>
            <p:nvPr/>
          </p:nvCxnSpPr>
          <p:spPr>
            <a:xfrm>
              <a:off x="8152327" y="6264771"/>
              <a:ext cx="4039673" cy="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100000">
                    <a:srgbClr val="A8D2FF">
                      <a:alpha val="0"/>
                    </a:srgbClr>
                  </a:gs>
                  <a:gs pos="58000">
                    <a:srgbClr val="A8D2FF">
                      <a:alpha val="20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A000FE4-746D-F85A-052A-6603F452887A}"/>
                </a:ext>
              </a:extLst>
            </p:cNvPr>
            <p:cNvCxnSpPr/>
            <p:nvPr/>
          </p:nvCxnSpPr>
          <p:spPr>
            <a:xfrm>
              <a:off x="9169757" y="-20937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67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11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809C6757-049A-9831-E8AF-082B63F02582}"/>
                </a:ext>
              </a:extLst>
            </p:cNvPr>
            <p:cNvCxnSpPr/>
            <p:nvPr/>
          </p:nvCxnSpPr>
          <p:spPr>
            <a:xfrm>
              <a:off x="9865948" y="-20937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67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11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24C69E91-C743-81D4-BA00-74A31A354738}"/>
                </a:ext>
              </a:extLst>
            </p:cNvPr>
            <p:cNvCxnSpPr>
              <a:cxnSpLocks/>
            </p:cNvCxnSpPr>
            <p:nvPr/>
          </p:nvCxnSpPr>
          <p:spPr>
            <a:xfrm>
              <a:off x="10560675" y="0"/>
              <a:ext cx="0" cy="8377084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67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11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2D2815D4-A346-8B82-BD13-422928AA6B6D}"/>
                </a:ext>
              </a:extLst>
            </p:cNvPr>
            <p:cNvCxnSpPr/>
            <p:nvPr/>
          </p:nvCxnSpPr>
          <p:spPr>
            <a:xfrm>
              <a:off x="11253619" y="0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74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00BF0B15-63A8-ACC9-353B-C46DC4F28459}"/>
                </a:ext>
              </a:extLst>
            </p:cNvPr>
            <p:cNvCxnSpPr/>
            <p:nvPr/>
          </p:nvCxnSpPr>
          <p:spPr>
            <a:xfrm>
              <a:off x="11917988" y="0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74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26B4188D-FC91-4CD7-F754-E36723C4DE75}"/>
                </a:ext>
              </a:extLst>
            </p:cNvPr>
            <p:cNvCxnSpPr>
              <a:cxnSpLocks/>
            </p:cNvCxnSpPr>
            <p:nvPr/>
          </p:nvCxnSpPr>
          <p:spPr>
            <a:xfrm>
              <a:off x="6383695" y="-20937"/>
              <a:ext cx="0" cy="3334802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74000">
                    <a:srgbClr val="A8D2FF">
                      <a:alpha val="9814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CBD8AD3F-56E2-08DE-678B-995D8C8C55F0}"/>
                </a:ext>
              </a:extLst>
            </p:cNvPr>
            <p:cNvCxnSpPr>
              <a:cxnSpLocks/>
            </p:cNvCxnSpPr>
            <p:nvPr/>
          </p:nvCxnSpPr>
          <p:spPr>
            <a:xfrm>
              <a:off x="7079886" y="-20937"/>
              <a:ext cx="0" cy="5070900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74000">
                    <a:srgbClr val="A8D2FF">
                      <a:alpha val="1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B8D931C1-B02F-912D-18E6-986238BB166A}"/>
                </a:ext>
              </a:extLst>
            </p:cNvPr>
            <p:cNvCxnSpPr/>
            <p:nvPr/>
          </p:nvCxnSpPr>
          <p:spPr>
            <a:xfrm>
              <a:off x="7774613" y="0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74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2594EA57-CE61-47B1-265E-FBA8F7EB814D}"/>
                </a:ext>
              </a:extLst>
            </p:cNvPr>
            <p:cNvCxnSpPr/>
            <p:nvPr/>
          </p:nvCxnSpPr>
          <p:spPr>
            <a:xfrm>
              <a:off x="8467557" y="0"/>
              <a:ext cx="0" cy="6110841"/>
            </a:xfrm>
            <a:prstGeom prst="line">
              <a:avLst/>
            </a:prstGeom>
            <a:ln>
              <a:gradFill>
                <a:gsLst>
                  <a:gs pos="0">
                    <a:srgbClr val="A8D2FF">
                      <a:alpha val="0"/>
                    </a:srgbClr>
                  </a:gs>
                  <a:gs pos="67000">
                    <a:srgbClr val="A8D2FF">
                      <a:alpha val="20000"/>
                    </a:srgbClr>
                  </a:gs>
                  <a:gs pos="100000">
                    <a:srgbClr val="A8D2FF">
                      <a:alpha val="0"/>
                    </a:srgbClr>
                  </a:gs>
                </a:gsLst>
                <a:lin ang="11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utoShape 2"/>
          <p:cNvSpPr/>
          <p:nvPr/>
        </p:nvSpPr>
        <p:spPr>
          <a:xfrm>
            <a:off x="524798" y="1967343"/>
            <a:ext cx="7627529" cy="26930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7000"/>
              </a:lnSpc>
              <a:defRPr/>
            </a:pPr>
            <a:r>
              <a:rPr lang="zh-CN" altLang="en-US" sz="66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从</a:t>
            </a:r>
            <a:r>
              <a:rPr lang="zh-CN" altLang="en-US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工具依赖</a:t>
            </a:r>
            <a:endParaRPr lang="en-US" altLang="zh-CN" sz="6600" dirty="0">
              <a:solidFill>
                <a:srgbClr val="A8D2FF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  <a:p>
            <a:pPr indent="0" algn="l">
              <a:lnSpc>
                <a:spcPts val="7000"/>
              </a:lnSpc>
              <a:defRPr/>
            </a:pPr>
            <a:r>
              <a:rPr lang="zh-CN" altLang="en-US" sz="66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到</a:t>
            </a:r>
            <a:r>
              <a:rPr lang="zh-CN" altLang="en-US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人机共生</a:t>
            </a:r>
            <a:endParaRPr lang="en-US" altLang="zh-CN" sz="6600" dirty="0">
              <a:solidFill>
                <a:srgbClr val="A8D2FF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  <a:p>
            <a:pPr indent="0" algn="l">
              <a:lnSpc>
                <a:spcPts val="7000"/>
              </a:lnSpc>
              <a:defRPr/>
            </a:pPr>
            <a:r>
              <a:rPr lang="zh-CN" altLang="en-US" sz="66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重塑你的核心竞争力</a:t>
            </a:r>
            <a:endParaRPr lang="en-US" sz="6600" dirty="0">
              <a:solidFill>
                <a:schemeClr val="bg1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</a:endParaRPr>
          </a:p>
        </p:txBody>
      </p:sp>
      <p:sp>
        <p:nvSpPr>
          <p:cNvPr id="19" name="AutoShape 4"/>
          <p:cNvSpPr/>
          <p:nvPr/>
        </p:nvSpPr>
        <p:spPr>
          <a:xfrm>
            <a:off x="524797" y="4890657"/>
            <a:ext cx="6647195" cy="31861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</a:t>
            </a:r>
            <a:r>
              <a:rPr lang="zh-CN" altLang="en-US" sz="1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时代的高效工作方式</a:t>
            </a:r>
            <a:r>
              <a:rPr lang="en-US" sz="1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:</a:t>
            </a:r>
            <a:r>
              <a:rPr lang="zh-CN" altLang="en-US" sz="1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 从工具使用到流程重构</a:t>
            </a:r>
            <a:endParaRPr lang="en-US" sz="1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26AB343-E565-A6F0-0474-683A17688F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61B6C08E-21A8-D1FF-5EC1-9A47F47BB4BD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CA9788D-A002-580F-C6FA-13EF9270711A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16349C4-1F10-B2AC-36BE-64C0B6469154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8" name="AutoShape 2">
            <a:extLst>
              <a:ext uri="{FF2B5EF4-FFF2-40B4-BE49-F238E27FC236}">
                <a16:creationId xmlns:a16="http://schemas.microsoft.com/office/drawing/2014/main" id="{1F4D8D0B-E825-E86E-FF98-9A64E74986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C71B677C-46B0-AD9E-DA2B-01E08F4FA0B8}"/>
              </a:ext>
            </a:extLst>
          </p:cNvPr>
          <p:cNvSpPr/>
          <p:nvPr/>
        </p:nvSpPr>
        <p:spPr>
          <a:xfrm>
            <a:off x="457420" y="2086306"/>
            <a:ext cx="4652461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CONTENTS</a:t>
            </a:r>
            <a:r>
              <a:rPr lang="zh-CN" altLang="en-US" sz="66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目录</a:t>
            </a:r>
            <a:endParaRPr lang="en-US" altLang="zh-CN" sz="6600" dirty="0">
              <a:solidFill>
                <a:schemeClr val="bg1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B4BB6DB-9838-20C6-27C3-3D251855BBD2}"/>
              </a:ext>
            </a:extLst>
          </p:cNvPr>
          <p:cNvGrpSpPr/>
          <p:nvPr/>
        </p:nvGrpSpPr>
        <p:grpSpPr>
          <a:xfrm>
            <a:off x="6269231" y="2086306"/>
            <a:ext cx="5465348" cy="585457"/>
            <a:chOff x="6269231" y="2086306"/>
            <a:chExt cx="5465348" cy="585457"/>
          </a:xfrm>
        </p:grpSpPr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F0949F24-5985-E338-F0C3-6F0ECAC9D52F}"/>
                </a:ext>
              </a:extLst>
            </p:cNvPr>
            <p:cNvSpPr/>
            <p:nvPr/>
          </p:nvSpPr>
          <p:spPr>
            <a:xfrm>
              <a:off x="6714186" y="2086306"/>
              <a:ext cx="3841140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altLang="zh-CN" sz="2000" dirty="0" err="1">
                  <a:solidFill>
                    <a:srgbClr val="FFFF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所有人的工作方式</a:t>
              </a:r>
              <a:r>
                <a:rPr lang="zh-CN" altLang="en-US" sz="2000" dirty="0">
                  <a:solidFill>
                    <a:srgbClr val="FFFF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都在</a:t>
              </a:r>
              <a:r>
                <a:rPr lang="en-US" altLang="zh-CN" sz="2000" dirty="0" err="1">
                  <a:solidFill>
                    <a:srgbClr val="FFFF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升级</a:t>
              </a:r>
              <a:endParaRPr lang="zh-CN" altLang="en-US" sz="20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10" name="AutoShape 4">
              <a:extLst>
                <a:ext uri="{FF2B5EF4-FFF2-40B4-BE49-F238E27FC236}">
                  <a16:creationId xmlns:a16="http://schemas.microsoft.com/office/drawing/2014/main" id="{8DF223B4-07E0-CEA1-B839-957F95B1F669}"/>
                </a:ext>
              </a:extLst>
            </p:cNvPr>
            <p:cNvSpPr/>
            <p:nvPr/>
          </p:nvSpPr>
          <p:spPr>
            <a:xfrm>
              <a:off x="10948737" y="2086306"/>
              <a:ext cx="785842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20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001</a:t>
              </a:r>
              <a:endParaRPr lang="zh-CN" altLang="en-US" sz="20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67EF390-5288-F844-0C71-65F44903AE85}"/>
                </a:ext>
              </a:extLst>
            </p:cNvPr>
            <p:cNvGrpSpPr/>
            <p:nvPr/>
          </p:nvGrpSpPr>
          <p:grpSpPr>
            <a:xfrm>
              <a:off x="6269231" y="2153094"/>
              <a:ext cx="248250" cy="248250"/>
              <a:chOff x="5971404" y="2153094"/>
              <a:chExt cx="248250" cy="248250"/>
            </a:xfrm>
          </p:grpSpPr>
          <p:cxnSp>
            <p:nvCxnSpPr>
              <p:cNvPr id="11" name="Connector 12">
                <a:extLst>
                  <a:ext uri="{FF2B5EF4-FFF2-40B4-BE49-F238E27FC236}">
                    <a16:creationId xmlns:a16="http://schemas.microsoft.com/office/drawing/2014/main" id="{735266E5-66A3-1CD3-66F1-D0EE4DC7AF61}"/>
                  </a:ext>
                </a:extLst>
              </p:cNvPr>
              <p:cNvCxnSpPr/>
              <p:nvPr/>
            </p:nvCxnSpPr>
            <p:spPr>
              <a:xfrm rot="-176140">
                <a:off x="5972004" y="2271006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12" name="Connector 13">
                <a:extLst>
                  <a:ext uri="{FF2B5EF4-FFF2-40B4-BE49-F238E27FC236}">
                    <a16:creationId xmlns:a16="http://schemas.microsoft.com/office/drawing/2014/main" id="{A9E366E7-D875-DBD5-38B1-19BAA8B1D429}"/>
                  </a:ext>
                </a:extLst>
              </p:cNvPr>
              <p:cNvCxnSpPr/>
              <p:nvPr/>
            </p:nvCxnSpPr>
            <p:spPr>
              <a:xfrm rot="5223859">
                <a:off x="5971841" y="2271169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13" name="Connector 14">
                <a:extLst>
                  <a:ext uri="{FF2B5EF4-FFF2-40B4-BE49-F238E27FC236}">
                    <a16:creationId xmlns:a16="http://schemas.microsoft.com/office/drawing/2014/main" id="{6D427FD6-D94D-E930-D633-2DD13148640E}"/>
                  </a:ext>
                </a:extLst>
              </p:cNvPr>
              <p:cNvCxnSpPr/>
              <p:nvPr/>
            </p:nvCxnSpPr>
            <p:spPr>
              <a:xfrm rot="2524005">
                <a:off x="5971404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14" name="Connector 15">
                <a:extLst>
                  <a:ext uri="{FF2B5EF4-FFF2-40B4-BE49-F238E27FC236}">
                    <a16:creationId xmlns:a16="http://schemas.microsoft.com/office/drawing/2014/main" id="{562C21BB-73BB-2534-8CDF-E523076140F0}"/>
                  </a:ext>
                </a:extLst>
              </p:cNvPr>
              <p:cNvCxnSpPr/>
              <p:nvPr/>
            </p:nvCxnSpPr>
            <p:spPr>
              <a:xfrm rot="7924005">
                <a:off x="5972073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</p:grp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759C4A03-D3AD-6D05-1EC9-F3E8379EA744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3F6EC3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130F0B5-3E73-D18A-1521-03180D0145E8}"/>
              </a:ext>
            </a:extLst>
          </p:cNvPr>
          <p:cNvGrpSpPr/>
          <p:nvPr/>
        </p:nvGrpSpPr>
        <p:grpSpPr>
          <a:xfrm>
            <a:off x="6269231" y="2987259"/>
            <a:ext cx="5465348" cy="585457"/>
            <a:chOff x="6269231" y="2086306"/>
            <a:chExt cx="5465348" cy="585457"/>
          </a:xfrm>
        </p:grpSpPr>
        <p:sp>
          <p:nvSpPr>
            <p:cNvPr id="20" name="AutoShape 4">
              <a:extLst>
                <a:ext uri="{FF2B5EF4-FFF2-40B4-BE49-F238E27FC236}">
                  <a16:creationId xmlns:a16="http://schemas.microsoft.com/office/drawing/2014/main" id="{808D2D52-C3E2-73A5-D402-64D0C0104B69}"/>
                </a:ext>
              </a:extLst>
            </p:cNvPr>
            <p:cNvSpPr/>
            <p:nvPr/>
          </p:nvSpPr>
          <p:spPr>
            <a:xfrm>
              <a:off x="6714186" y="2086306"/>
              <a:ext cx="3841140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000" dirty="0">
                  <a:solidFill>
                    <a:srgbClr val="FFFF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重构工作流</a:t>
              </a:r>
              <a:endParaRPr lang="zh-CN" altLang="en-US" sz="20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21" name="AutoShape 4">
              <a:extLst>
                <a:ext uri="{FF2B5EF4-FFF2-40B4-BE49-F238E27FC236}">
                  <a16:creationId xmlns:a16="http://schemas.microsoft.com/office/drawing/2014/main" id="{2A1C39EB-9118-9003-93DC-480EA33B409E}"/>
                </a:ext>
              </a:extLst>
            </p:cNvPr>
            <p:cNvSpPr/>
            <p:nvPr/>
          </p:nvSpPr>
          <p:spPr>
            <a:xfrm>
              <a:off x="10948737" y="2086306"/>
              <a:ext cx="785842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20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002</a:t>
              </a:r>
              <a:endParaRPr lang="zh-CN" altLang="en-US" sz="20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70FFF92-9D5E-3631-A0A8-82BA142E8409}"/>
                </a:ext>
              </a:extLst>
            </p:cNvPr>
            <p:cNvGrpSpPr/>
            <p:nvPr/>
          </p:nvGrpSpPr>
          <p:grpSpPr>
            <a:xfrm>
              <a:off x="6269231" y="2153094"/>
              <a:ext cx="248250" cy="248250"/>
              <a:chOff x="5971404" y="2153094"/>
              <a:chExt cx="248250" cy="248250"/>
            </a:xfrm>
          </p:grpSpPr>
          <p:cxnSp>
            <p:nvCxnSpPr>
              <p:cNvPr id="24" name="Connector 12">
                <a:extLst>
                  <a:ext uri="{FF2B5EF4-FFF2-40B4-BE49-F238E27FC236}">
                    <a16:creationId xmlns:a16="http://schemas.microsoft.com/office/drawing/2014/main" id="{8BD75E6F-4122-B5E0-34D5-35ABC0A4ED4C}"/>
                  </a:ext>
                </a:extLst>
              </p:cNvPr>
              <p:cNvCxnSpPr/>
              <p:nvPr/>
            </p:nvCxnSpPr>
            <p:spPr>
              <a:xfrm rot="-176140">
                <a:off x="5972004" y="2271006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25" name="Connector 13">
                <a:extLst>
                  <a:ext uri="{FF2B5EF4-FFF2-40B4-BE49-F238E27FC236}">
                    <a16:creationId xmlns:a16="http://schemas.microsoft.com/office/drawing/2014/main" id="{B6F26145-FD4F-AE7F-D2A8-A7A3259E8458}"/>
                  </a:ext>
                </a:extLst>
              </p:cNvPr>
              <p:cNvCxnSpPr/>
              <p:nvPr/>
            </p:nvCxnSpPr>
            <p:spPr>
              <a:xfrm rot="5223859">
                <a:off x="5971841" y="2271169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26" name="Connector 14">
                <a:extLst>
                  <a:ext uri="{FF2B5EF4-FFF2-40B4-BE49-F238E27FC236}">
                    <a16:creationId xmlns:a16="http://schemas.microsoft.com/office/drawing/2014/main" id="{A200057B-79DF-5632-D25D-D3C9B12D2D91}"/>
                  </a:ext>
                </a:extLst>
              </p:cNvPr>
              <p:cNvCxnSpPr/>
              <p:nvPr/>
            </p:nvCxnSpPr>
            <p:spPr>
              <a:xfrm rot="2524005">
                <a:off x="5971404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27" name="Connector 15">
                <a:extLst>
                  <a:ext uri="{FF2B5EF4-FFF2-40B4-BE49-F238E27FC236}">
                    <a16:creationId xmlns:a16="http://schemas.microsoft.com/office/drawing/2014/main" id="{51961471-3951-4FA5-19EF-DC97EC939FE8}"/>
                  </a:ext>
                </a:extLst>
              </p:cNvPr>
              <p:cNvCxnSpPr/>
              <p:nvPr/>
            </p:nvCxnSpPr>
            <p:spPr>
              <a:xfrm rot="7924005">
                <a:off x="5972073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</p:grp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0F791CA2-B4DA-F22B-EF68-8854C4C441D9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3F6EC3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051B058-8058-3146-96BE-F61A0BFDAC6A}"/>
              </a:ext>
            </a:extLst>
          </p:cNvPr>
          <p:cNvGrpSpPr/>
          <p:nvPr/>
        </p:nvGrpSpPr>
        <p:grpSpPr>
          <a:xfrm>
            <a:off x="6269231" y="3882452"/>
            <a:ext cx="5465348" cy="585457"/>
            <a:chOff x="6269231" y="2086306"/>
            <a:chExt cx="5465348" cy="585457"/>
          </a:xfrm>
        </p:grpSpPr>
        <p:sp>
          <p:nvSpPr>
            <p:cNvPr id="29" name="AutoShape 4">
              <a:extLst>
                <a:ext uri="{FF2B5EF4-FFF2-40B4-BE49-F238E27FC236}">
                  <a16:creationId xmlns:a16="http://schemas.microsoft.com/office/drawing/2014/main" id="{76A3AC50-E763-6E4D-A6AD-4A411AE35E8B}"/>
                </a:ext>
              </a:extLst>
            </p:cNvPr>
            <p:cNvSpPr/>
            <p:nvPr/>
          </p:nvSpPr>
          <p:spPr>
            <a:xfrm>
              <a:off x="6714186" y="2086306"/>
              <a:ext cx="3841140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企业级落地场景</a:t>
              </a:r>
            </a:p>
          </p:txBody>
        </p:sp>
        <p:sp>
          <p:nvSpPr>
            <p:cNvPr id="30" name="AutoShape 4">
              <a:extLst>
                <a:ext uri="{FF2B5EF4-FFF2-40B4-BE49-F238E27FC236}">
                  <a16:creationId xmlns:a16="http://schemas.microsoft.com/office/drawing/2014/main" id="{CED8087A-FD78-B78B-FFBF-D9CECEF9B264}"/>
                </a:ext>
              </a:extLst>
            </p:cNvPr>
            <p:cNvSpPr/>
            <p:nvPr/>
          </p:nvSpPr>
          <p:spPr>
            <a:xfrm>
              <a:off x="10948737" y="2086306"/>
              <a:ext cx="785842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20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003</a:t>
              </a:r>
              <a:endParaRPr lang="zh-CN" altLang="en-US" sz="20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C8EBA14-C55B-0EAC-CF74-C2B81D84C469}"/>
                </a:ext>
              </a:extLst>
            </p:cNvPr>
            <p:cNvGrpSpPr/>
            <p:nvPr/>
          </p:nvGrpSpPr>
          <p:grpSpPr>
            <a:xfrm>
              <a:off x="6269231" y="2153094"/>
              <a:ext cx="248250" cy="248250"/>
              <a:chOff x="5971404" y="2153094"/>
              <a:chExt cx="248250" cy="248250"/>
            </a:xfrm>
          </p:grpSpPr>
          <p:cxnSp>
            <p:nvCxnSpPr>
              <p:cNvPr id="33" name="Connector 12">
                <a:extLst>
                  <a:ext uri="{FF2B5EF4-FFF2-40B4-BE49-F238E27FC236}">
                    <a16:creationId xmlns:a16="http://schemas.microsoft.com/office/drawing/2014/main" id="{D05FE57D-3FF5-E95F-A361-7BAAE36B1499}"/>
                  </a:ext>
                </a:extLst>
              </p:cNvPr>
              <p:cNvCxnSpPr/>
              <p:nvPr/>
            </p:nvCxnSpPr>
            <p:spPr>
              <a:xfrm rot="-176140">
                <a:off x="5972004" y="2271006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34" name="Connector 13">
                <a:extLst>
                  <a:ext uri="{FF2B5EF4-FFF2-40B4-BE49-F238E27FC236}">
                    <a16:creationId xmlns:a16="http://schemas.microsoft.com/office/drawing/2014/main" id="{F96CD8B3-E873-D5DB-7A3E-1468CE332DB3}"/>
                  </a:ext>
                </a:extLst>
              </p:cNvPr>
              <p:cNvCxnSpPr/>
              <p:nvPr/>
            </p:nvCxnSpPr>
            <p:spPr>
              <a:xfrm rot="5223859">
                <a:off x="5971841" y="2271169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35" name="Connector 14">
                <a:extLst>
                  <a:ext uri="{FF2B5EF4-FFF2-40B4-BE49-F238E27FC236}">
                    <a16:creationId xmlns:a16="http://schemas.microsoft.com/office/drawing/2014/main" id="{031C56F8-C59A-8732-4214-E22D60E0ADBB}"/>
                  </a:ext>
                </a:extLst>
              </p:cNvPr>
              <p:cNvCxnSpPr/>
              <p:nvPr/>
            </p:nvCxnSpPr>
            <p:spPr>
              <a:xfrm rot="2524005">
                <a:off x="5971404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36" name="Connector 15">
                <a:extLst>
                  <a:ext uri="{FF2B5EF4-FFF2-40B4-BE49-F238E27FC236}">
                    <a16:creationId xmlns:a16="http://schemas.microsoft.com/office/drawing/2014/main" id="{5E64B298-DFF9-77BA-8F02-926945D41796}"/>
                  </a:ext>
                </a:extLst>
              </p:cNvPr>
              <p:cNvCxnSpPr/>
              <p:nvPr/>
            </p:nvCxnSpPr>
            <p:spPr>
              <a:xfrm rot="7924005">
                <a:off x="5972073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</p:grp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02F0D38B-DCBE-2BAD-0B1F-BDBE88B09B40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3F6EC3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EBFA1EC-73D8-5AC9-F9B5-E5EE4CA76101}"/>
              </a:ext>
            </a:extLst>
          </p:cNvPr>
          <p:cNvGrpSpPr/>
          <p:nvPr/>
        </p:nvGrpSpPr>
        <p:grpSpPr>
          <a:xfrm>
            <a:off x="6269231" y="4700022"/>
            <a:ext cx="5465348" cy="585457"/>
            <a:chOff x="6269231" y="2086306"/>
            <a:chExt cx="5465348" cy="585457"/>
          </a:xfrm>
        </p:grpSpPr>
        <p:sp>
          <p:nvSpPr>
            <p:cNvPr id="38" name="AutoShape 4">
              <a:extLst>
                <a:ext uri="{FF2B5EF4-FFF2-40B4-BE49-F238E27FC236}">
                  <a16:creationId xmlns:a16="http://schemas.microsoft.com/office/drawing/2014/main" id="{9BCDDA64-556B-3A40-E60C-C84C51248CD0}"/>
                </a:ext>
              </a:extLst>
            </p:cNvPr>
            <p:cNvSpPr/>
            <p:nvPr/>
          </p:nvSpPr>
          <p:spPr>
            <a:xfrm>
              <a:off x="6714186" y="2086306"/>
              <a:ext cx="3841140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000" dirty="0">
                  <a:solidFill>
                    <a:srgbClr val="FFFF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企业渗透率</a:t>
              </a:r>
              <a:endParaRPr lang="zh-CN" altLang="en-US" sz="20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39" name="AutoShape 4">
              <a:extLst>
                <a:ext uri="{FF2B5EF4-FFF2-40B4-BE49-F238E27FC236}">
                  <a16:creationId xmlns:a16="http://schemas.microsoft.com/office/drawing/2014/main" id="{193E80F7-18B6-D21A-3BE1-C774719DE225}"/>
                </a:ext>
              </a:extLst>
            </p:cNvPr>
            <p:cNvSpPr/>
            <p:nvPr/>
          </p:nvSpPr>
          <p:spPr>
            <a:xfrm>
              <a:off x="10948737" y="2086306"/>
              <a:ext cx="785842" cy="35400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20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004</a:t>
              </a:r>
              <a:endParaRPr lang="zh-CN" altLang="en-US" sz="20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64A27F18-F20E-9205-3C6D-9BB82D06FCD8}"/>
                </a:ext>
              </a:extLst>
            </p:cNvPr>
            <p:cNvGrpSpPr/>
            <p:nvPr/>
          </p:nvGrpSpPr>
          <p:grpSpPr>
            <a:xfrm>
              <a:off x="6269231" y="2153094"/>
              <a:ext cx="248250" cy="248250"/>
              <a:chOff x="5971404" y="2153094"/>
              <a:chExt cx="248250" cy="248250"/>
            </a:xfrm>
          </p:grpSpPr>
          <p:cxnSp>
            <p:nvCxnSpPr>
              <p:cNvPr id="42" name="Connector 12">
                <a:extLst>
                  <a:ext uri="{FF2B5EF4-FFF2-40B4-BE49-F238E27FC236}">
                    <a16:creationId xmlns:a16="http://schemas.microsoft.com/office/drawing/2014/main" id="{D1150469-8A62-FB18-7F5B-7BC42901DE91}"/>
                  </a:ext>
                </a:extLst>
              </p:cNvPr>
              <p:cNvCxnSpPr/>
              <p:nvPr/>
            </p:nvCxnSpPr>
            <p:spPr>
              <a:xfrm rot="-176140">
                <a:off x="5972004" y="2271006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43" name="Connector 13">
                <a:extLst>
                  <a:ext uri="{FF2B5EF4-FFF2-40B4-BE49-F238E27FC236}">
                    <a16:creationId xmlns:a16="http://schemas.microsoft.com/office/drawing/2014/main" id="{09D7379B-5427-9311-C64A-1FB0DA5AC8E8}"/>
                  </a:ext>
                </a:extLst>
              </p:cNvPr>
              <p:cNvCxnSpPr/>
              <p:nvPr/>
            </p:nvCxnSpPr>
            <p:spPr>
              <a:xfrm rot="5223859">
                <a:off x="5971841" y="2271169"/>
                <a:ext cx="24765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44" name="Connector 14">
                <a:extLst>
                  <a:ext uri="{FF2B5EF4-FFF2-40B4-BE49-F238E27FC236}">
                    <a16:creationId xmlns:a16="http://schemas.microsoft.com/office/drawing/2014/main" id="{58D49624-E393-B941-20E2-EBA820DB7605}"/>
                  </a:ext>
                </a:extLst>
              </p:cNvPr>
              <p:cNvCxnSpPr/>
              <p:nvPr/>
            </p:nvCxnSpPr>
            <p:spPr>
              <a:xfrm rot="2524005">
                <a:off x="5971404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  <p:cxnSp>
            <p:nvCxnSpPr>
              <p:cNvPr id="45" name="Connector 15">
                <a:extLst>
                  <a:ext uri="{FF2B5EF4-FFF2-40B4-BE49-F238E27FC236}">
                    <a16:creationId xmlns:a16="http://schemas.microsoft.com/office/drawing/2014/main" id="{F9AF6A77-C93C-83F5-7265-82D74F05A9CF}"/>
                  </a:ext>
                </a:extLst>
              </p:cNvPr>
              <p:cNvCxnSpPr/>
              <p:nvPr/>
            </p:nvCxnSpPr>
            <p:spPr>
              <a:xfrm rot="7924005">
                <a:off x="5972073" y="2270672"/>
                <a:ext cx="247855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5875" cap="flat" cmpd="sng">
                <a:solidFill>
                  <a:srgbClr val="3F64D6"/>
                </a:solidFill>
                <a:prstDash val="solid"/>
                <a:miter lim="80000000"/>
                <a:headEnd type="none" w="lg" len="lg"/>
                <a:tailEnd type="none" w="lg" len="lg"/>
              </a:ln>
            </p:spPr>
          </p:cxnSp>
        </p:grp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002079F8-2DCD-9A60-85DD-72F2903D16CE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3F6EC3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A48ED0F-6F3F-F11C-9BF2-04BDB65E40F4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95DBE2A3-0C43-E065-6C4E-6546A22390E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9FDE8BBB-A705-B143-A291-9951854BFD3B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61A9EEF5-BCA9-5B48-7139-E46F98363A3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01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8A34D563-4CDB-1273-B335-52FC82E351FC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342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7B95-7B36-ED03-3E7C-E662844A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E13856F-E773-F6B5-E121-E1C9ACE50E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E247B1B0-CF87-61B9-B5CA-ED64C2F10BD6}"/>
              </a:ext>
            </a:extLst>
          </p:cNvPr>
          <p:cNvSpPr/>
          <p:nvPr/>
        </p:nvSpPr>
        <p:spPr>
          <a:xfrm>
            <a:off x="457419" y="2005533"/>
            <a:ext cx="6723309" cy="284693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001</a:t>
            </a:r>
          </a:p>
          <a:p>
            <a:pPr>
              <a:lnSpc>
                <a:spcPts val="7000"/>
              </a:lnSpc>
              <a:spcBef>
                <a:spcPts val="1200"/>
              </a:spcBef>
              <a:defRPr/>
            </a:pPr>
            <a:r>
              <a:rPr lang="en-US" altLang="zh-CN" sz="6600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所有人的工作方式</a:t>
            </a:r>
            <a:r>
              <a:rPr lang="zh-CN" altLang="en-US" sz="6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都在</a:t>
            </a:r>
            <a:r>
              <a:rPr lang="en-US" altLang="zh-CN" sz="6600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升级</a:t>
            </a:r>
            <a:endParaRPr lang="zh-CN" altLang="en-US" sz="66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704408-9D70-105A-9C92-CA428663819C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6E2C5807-3CC7-B5F3-B770-1C72617D2ED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9" name="AutoShape 2">
              <a:extLst>
                <a:ext uri="{FF2B5EF4-FFF2-40B4-BE49-F238E27FC236}">
                  <a16:creationId xmlns:a16="http://schemas.microsoft.com/office/drawing/2014/main" id="{D32FDB43-A4A8-CECB-B6A7-DD8E47B8E97F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0" name="AutoShape 2">
              <a:extLst>
                <a:ext uri="{FF2B5EF4-FFF2-40B4-BE49-F238E27FC236}">
                  <a16:creationId xmlns:a16="http://schemas.microsoft.com/office/drawing/2014/main" id="{BBD863EC-34D1-DE4A-5D21-EE4FC23061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02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3" name="AutoShape 2">
            <a:extLst>
              <a:ext uri="{FF2B5EF4-FFF2-40B4-BE49-F238E27FC236}">
                <a16:creationId xmlns:a16="http://schemas.microsoft.com/office/drawing/2014/main" id="{733EE9A0-1CB1-3204-EACF-333AF958B63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20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AD628A2-65BC-FB80-B5FF-367AD4335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22" name="AutoShape 2"/>
          <p:cNvSpPr/>
          <p:nvPr/>
        </p:nvSpPr>
        <p:spPr>
          <a:xfrm>
            <a:off x="457419" y="1129238"/>
            <a:ext cx="4975193" cy="9848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u="none" strike="noStrike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不是少数人的工具</a:t>
            </a:r>
            <a:r>
              <a:rPr lang="en-US" sz="3200" u="none" strike="noStrike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，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sz="3200" u="none" strike="noStrike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而是所有人的工作方式升级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BB4AF55-FDE2-0A2A-FF22-E358855E503E}"/>
              </a:ext>
            </a:extLst>
          </p:cNvPr>
          <p:cNvSpPr/>
          <p:nvPr/>
        </p:nvSpPr>
        <p:spPr>
          <a:xfrm>
            <a:off x="459958" y="2526101"/>
            <a:ext cx="4856171" cy="13849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8800" u="none" strike="noStrike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3亿</a:t>
            </a:r>
            <a:endParaRPr lang="en-US" sz="8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5" name="Connector 7">
            <a:extLst>
              <a:ext uri="{FF2B5EF4-FFF2-40B4-BE49-F238E27FC236}">
                <a16:creationId xmlns:a16="http://schemas.microsoft.com/office/drawing/2014/main" id="{20ECC4BA-4410-3994-FD0E-3C74CF0D134F}"/>
              </a:ext>
            </a:extLst>
          </p:cNvPr>
          <p:cNvCxnSpPr>
            <a:cxnSpLocks/>
          </p:cNvCxnSpPr>
          <p:nvPr/>
        </p:nvCxnSpPr>
        <p:spPr>
          <a:xfrm>
            <a:off x="457419" y="4035098"/>
            <a:ext cx="4858711" cy="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7507578-5F64-329C-BD9B-3A4B1B744D9E}"/>
              </a:ext>
            </a:extLst>
          </p:cNvPr>
          <p:cNvSpPr txBox="1"/>
          <p:nvPr/>
        </p:nvSpPr>
        <p:spPr>
          <a:xfrm>
            <a:off x="457419" y="4394307"/>
            <a:ext cx="502898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全职岗虽受自动化影响，但岗位并未消失，而是被拆解与提效。</a:t>
            </a: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endParaRPr lang="zh-CN" altLang="en-US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从写作、检索、会议纪要，到数据分析、客户沟通、知识管理，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正在成为新一代通用工作基础设施。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BD4930-19D7-FA74-7336-AD3A6539DB8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C45FF20-3CB3-221C-C736-0939E5C2981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3A1F120F-B36F-3E09-ED59-ED780A7790AC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F8C859C5-54EE-911A-DF92-A78EA807A3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xmlns:a16="http://schemas.microsoft.com/office/drawing/2014/main" id="{7D606542-F970-2936-E570-56B1622351CC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BD099A-D85A-2E2E-8438-D4BC73EC84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2" name="Connector 3"/>
          <p:cNvCxnSpPr/>
          <p:nvPr/>
        </p:nvCxnSpPr>
        <p:spPr>
          <a:xfrm rot="-3997">
            <a:off x="633734" y="1263650"/>
            <a:ext cx="10922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33" name="AutoShape 4"/>
          <p:cNvSpPr/>
          <p:nvPr/>
        </p:nvSpPr>
        <p:spPr>
          <a:xfrm>
            <a:off x="484456" y="2540000"/>
            <a:ext cx="5508969" cy="30099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894827" y="3030260"/>
            <a:ext cx="4619769" cy="4406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2800" u="none" strike="noStrike" dirty="0" err="1">
                <a:solidFill>
                  <a:srgbClr val="2644CA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DINGothic SemiBold"/>
              </a:rPr>
              <a:t>个人效率升级</a:t>
            </a:r>
            <a:endParaRPr lang="en-US" sz="1100" dirty="0">
              <a:solidFill>
                <a:srgbClr val="2644CA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6" name="AutoShape 7"/>
          <p:cNvSpPr/>
          <p:nvPr/>
        </p:nvSpPr>
        <p:spPr>
          <a:xfrm>
            <a:off x="894827" y="3792430"/>
            <a:ext cx="4619769" cy="108119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203200" indent="-203200" algn="l">
              <a:lnSpc>
                <a:spcPct val="133333"/>
              </a:lnSpc>
              <a:buClr>
                <a:schemeClr val="tx1"/>
              </a:buClr>
              <a:buChar char="•"/>
              <a:defRPr/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写作、搜索、总结、计划、学习、时间管理</a:t>
            </a:r>
            <a:r>
              <a:rPr lang="en-US" sz="16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 marL="203200" indent="-203200" algn="l">
              <a:lnSpc>
                <a:spcPct val="133333"/>
              </a:lnSpc>
              <a:spcBef>
                <a:spcPts val="1000"/>
              </a:spcBef>
              <a:buClr>
                <a:schemeClr val="tx1"/>
              </a:buClr>
              <a:buChar char="•"/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重点强调个体的启动速度、信息处理速度与输出速度</a:t>
            </a:r>
            <a:r>
              <a:rPr lang="en-US" sz="16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。</a:t>
            </a:r>
            <a:endParaRPr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8"/>
          <p:cNvSpPr/>
          <p:nvPr/>
        </p:nvSpPr>
        <p:spPr>
          <a:xfrm>
            <a:off x="6096000" y="1524000"/>
            <a:ext cx="5454022" cy="4826000"/>
          </a:xfrm>
          <a:prstGeom prst="roundRect">
            <a:avLst>
              <a:gd name="adj" fmla="val 210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A51F1AC-D592-85C2-E40D-4512E5AB990D}"/>
              </a:ext>
            </a:extLst>
          </p:cNvPr>
          <p:cNvSpPr/>
          <p:nvPr/>
        </p:nvSpPr>
        <p:spPr>
          <a:xfrm>
            <a:off x="457420" y="1129238"/>
            <a:ext cx="10364494" cy="9848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不是少数人的工具</a:t>
            </a:r>
            <a:r>
              <a:rPr lang="en-US" sz="3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，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sz="3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而是所有人的工作方式升级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DD35597C-480F-3367-152C-99D1F5988B6F}"/>
              </a:ext>
            </a:extLst>
          </p:cNvPr>
          <p:cNvSpPr/>
          <p:nvPr/>
        </p:nvSpPr>
        <p:spPr>
          <a:xfrm>
            <a:off x="6342815" y="2540000"/>
            <a:ext cx="5508969" cy="30099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C22C733C-C95C-72C5-833D-7B61BBF7F451}"/>
              </a:ext>
            </a:extLst>
          </p:cNvPr>
          <p:cNvSpPr/>
          <p:nvPr/>
        </p:nvSpPr>
        <p:spPr>
          <a:xfrm>
            <a:off x="6753186" y="3030260"/>
            <a:ext cx="4619769" cy="4406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2800" u="none" strike="noStrike" dirty="0">
                <a:solidFill>
                  <a:srgbClr val="2644CA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DINGothic SemiBold"/>
              </a:rPr>
              <a:t>组织效率升级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18D00464-5083-0936-86AF-4484CF1AC0E2}"/>
              </a:ext>
            </a:extLst>
          </p:cNvPr>
          <p:cNvSpPr/>
          <p:nvPr/>
        </p:nvSpPr>
        <p:spPr>
          <a:xfrm>
            <a:off x="6753186" y="3792430"/>
            <a:ext cx="4619769" cy="108119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203200" indent="-203200" algn="l">
              <a:lnSpc>
                <a:spcPct val="133333"/>
              </a:lnSpc>
              <a:buClr>
                <a:schemeClr val="tx1"/>
              </a:buClr>
              <a:buChar char="•"/>
              <a:defRPr/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流程自动化、知识库建设、跨部门协作、数据辅助决策。</a:t>
            </a:r>
          </a:p>
          <a:p>
            <a:pPr marL="203200" indent="-203200">
              <a:lnSpc>
                <a:spcPct val="133333"/>
              </a:lnSpc>
              <a:spcBef>
                <a:spcPts val="1000"/>
              </a:spcBef>
              <a:buClr>
                <a:schemeClr val="tx1"/>
              </a:buClr>
              <a:buFont typeface="Arial"/>
              <a:buChar char="•"/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重点强调团队协同与复用能力。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7179C7F-2880-D9AE-3A86-7800FCC9CB56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3" name="AutoShape 2">
              <a:extLst>
                <a:ext uri="{FF2B5EF4-FFF2-40B4-BE49-F238E27FC236}">
                  <a16:creationId xmlns:a16="http://schemas.microsoft.com/office/drawing/2014/main" id="{1068642E-AFAE-96E6-FEC4-4A3A4DE2B0D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4" name="AutoShape 2">
              <a:extLst>
                <a:ext uri="{FF2B5EF4-FFF2-40B4-BE49-F238E27FC236}">
                  <a16:creationId xmlns:a16="http://schemas.microsoft.com/office/drawing/2014/main" id="{070C2003-AE8E-D32A-5777-0CCE2519244C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5" name="AutoShape 2">
              <a:extLst>
                <a:ext uri="{FF2B5EF4-FFF2-40B4-BE49-F238E27FC236}">
                  <a16:creationId xmlns:a16="http://schemas.microsoft.com/office/drawing/2014/main" id="{A50EDCC2-9497-1E14-F27B-A0F781014DA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>
            <a:extLst>
              <a:ext uri="{FF2B5EF4-FFF2-40B4-BE49-F238E27FC236}">
                <a16:creationId xmlns:a16="http://schemas.microsoft.com/office/drawing/2014/main" id="{A5606997-2E22-5662-E654-7506BFB8F14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0DAF-E5A2-63BD-8D7A-E175F4D4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C9E98B9-58E4-9099-E481-39BE3BF161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AC10C1D9-7020-904C-5CC9-D1765AEDCB7E}"/>
              </a:ext>
            </a:extLst>
          </p:cNvPr>
          <p:cNvSpPr/>
          <p:nvPr/>
        </p:nvSpPr>
        <p:spPr>
          <a:xfrm>
            <a:off x="457419" y="2005533"/>
            <a:ext cx="6723309" cy="194925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002</a:t>
            </a:r>
          </a:p>
          <a:p>
            <a:pPr>
              <a:lnSpc>
                <a:spcPts val="7000"/>
              </a:lnSpc>
              <a:spcBef>
                <a:spcPts val="1200"/>
              </a:spcBef>
              <a:defRPr/>
            </a:pPr>
            <a:r>
              <a:rPr lang="zh-CN" altLang="en-US" sz="6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重构工作流</a:t>
            </a:r>
            <a:endParaRPr lang="zh-CN" altLang="en-US" sz="66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756B43-12DB-B51D-7B77-C45848722E2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B7E8DB74-7E7F-5BE0-4817-281F3DDA1B5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ACB5FF5A-9B3D-672A-065C-1491F0461B6D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635A7ED1-D1F6-0904-9D55-9EDC04513E9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5</a:t>
              </a: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3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xmlns:a16="http://schemas.microsoft.com/office/drawing/2014/main" id="{C5E6C425-EACB-EAFA-C858-90C36BE05BCC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60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062F-1E83-3B56-06F6-6AB92D97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8EF103F-5C64-8941-1745-52C924A5D2A7}"/>
              </a:ext>
            </a:extLst>
          </p:cNvPr>
          <p:cNvSpPr/>
          <p:nvPr/>
        </p:nvSpPr>
        <p:spPr>
          <a:xfrm>
            <a:off x="457418" y="1129238"/>
            <a:ext cx="10515381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AI </a:t>
            </a:r>
            <a:r>
              <a:rPr lang="zh-CN" altLang="en-US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如何重塑工作效率</a:t>
            </a:r>
            <a:r>
              <a:rPr lang="en-US" altLang="zh-CN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 </a:t>
            </a:r>
            <a:r>
              <a:rPr lang="en-US" altLang="zh-CN" sz="3200" dirty="0">
                <a:solidFill>
                  <a:srgbClr val="008E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TIMELINE</a:t>
            </a:r>
            <a:endParaRPr lang="zh-CN" altLang="en-US" sz="3200" dirty="0">
              <a:solidFill>
                <a:srgbClr val="008E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2F234B1D-6D60-7D1E-3B75-DC3F98E5E24C}"/>
              </a:ext>
            </a:extLst>
          </p:cNvPr>
          <p:cNvCxnSpPr>
            <a:cxnSpLocks/>
          </p:cNvCxnSpPr>
          <p:nvPr/>
        </p:nvCxnSpPr>
        <p:spPr>
          <a:xfrm>
            <a:off x="0" y="3337066"/>
            <a:ext cx="1219200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1B7767A-99BB-FD57-BC69-BC42B3E13B95}"/>
              </a:ext>
            </a:extLst>
          </p:cNvPr>
          <p:cNvSpPr txBox="1"/>
          <p:nvPr/>
        </p:nvSpPr>
        <p:spPr>
          <a:xfrm>
            <a:off x="457420" y="3664069"/>
            <a:ext cx="2156228" cy="298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工具数字化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16E4CC-ABB5-878C-B6AA-31966BD54055}"/>
              </a:ext>
            </a:extLst>
          </p:cNvPr>
          <p:cNvSpPr txBox="1"/>
          <p:nvPr/>
        </p:nvSpPr>
        <p:spPr>
          <a:xfrm>
            <a:off x="457419" y="2554756"/>
            <a:ext cx="2156229" cy="5214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en-US" altLang="zh-CN" sz="2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2000s</a:t>
            </a:r>
            <a:endParaRPr lang="zh-CN" altLang="en-US" sz="20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4081D7-3987-5477-4807-32B2FFA2FF8F}"/>
              </a:ext>
            </a:extLst>
          </p:cNvPr>
          <p:cNvSpPr txBox="1"/>
          <p:nvPr/>
        </p:nvSpPr>
        <p:spPr>
          <a:xfrm>
            <a:off x="457420" y="4170163"/>
            <a:ext cx="2156229" cy="714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办公软件普及，但流程依赖人工，跨部门协作滞后，重复劳动繁重。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EF3082-5DB5-836A-9081-68DDE87A19A3}"/>
              </a:ext>
            </a:extLst>
          </p:cNvPr>
          <p:cNvSpPr txBox="1"/>
          <p:nvPr/>
        </p:nvSpPr>
        <p:spPr>
          <a:xfrm>
            <a:off x="3521855" y="3664069"/>
            <a:ext cx="2156228" cy="298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2301ED-F9C4-04B2-5B79-2CC5FC521BA0}"/>
              </a:ext>
            </a:extLst>
          </p:cNvPr>
          <p:cNvSpPr txBox="1"/>
          <p:nvPr/>
        </p:nvSpPr>
        <p:spPr>
          <a:xfrm>
            <a:off x="3521854" y="2554756"/>
            <a:ext cx="2156229" cy="5214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en-US" altLang="zh-CN" sz="2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2009</a:t>
            </a:r>
            <a:endParaRPr lang="zh-CN" altLang="en-US" sz="2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E0DB9D-2BB7-10FF-2C83-85409192671F}"/>
              </a:ext>
            </a:extLst>
          </p:cNvPr>
          <p:cNvSpPr txBox="1"/>
          <p:nvPr/>
        </p:nvSpPr>
        <p:spPr>
          <a:xfrm>
            <a:off x="3521855" y="4170163"/>
            <a:ext cx="2156229" cy="714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云计算与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SaaS</a:t>
            </a: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兴起，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RPA</a:t>
            </a: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（机器人流程自动化）开始接管数据录入等重复性任务。</a:t>
            </a:r>
            <a:endParaRPr lang="en-US" altLang="zh-CN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B91310-DF4E-A9E1-F6FA-AD627BBED4B4}"/>
              </a:ext>
            </a:extLst>
          </p:cNvPr>
          <p:cNvSpPr txBox="1"/>
          <p:nvPr/>
        </p:nvSpPr>
        <p:spPr>
          <a:xfrm>
            <a:off x="6586290" y="3664069"/>
            <a:ext cx="2156228" cy="298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zh-CN" altLang="en-US" sz="16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智能辅助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D0B2671-53C0-95C8-EBE5-29C211B4C3FF}"/>
              </a:ext>
            </a:extLst>
          </p:cNvPr>
          <p:cNvSpPr txBox="1"/>
          <p:nvPr/>
        </p:nvSpPr>
        <p:spPr>
          <a:xfrm>
            <a:off x="6586289" y="2554756"/>
            <a:ext cx="2156229" cy="5214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en-US" altLang="zh-CN" sz="2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2021</a:t>
            </a:r>
            <a:endParaRPr lang="zh-CN" altLang="en-US" sz="2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51407F-690E-2639-D331-D8D492A41D61}"/>
              </a:ext>
            </a:extLst>
          </p:cNvPr>
          <p:cNvSpPr txBox="1"/>
          <p:nvPr/>
        </p:nvSpPr>
        <p:spPr>
          <a:xfrm>
            <a:off x="6586290" y="4170163"/>
            <a:ext cx="2156229" cy="714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疫情加速远程办公，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初步应用于语音转写、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OCR</a:t>
            </a: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识别，但仍处于单点工具阶段。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C210CC-FB11-5A1A-53B3-A0E49796BD8B}"/>
              </a:ext>
            </a:extLst>
          </p:cNvPr>
          <p:cNvSpPr txBox="1"/>
          <p:nvPr/>
        </p:nvSpPr>
        <p:spPr>
          <a:xfrm>
            <a:off x="9650725" y="3664069"/>
            <a:ext cx="2156228" cy="298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en-US" altLang="zh-CN" sz="16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altLang="en-US" sz="16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原生工作流​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62AD87-F975-515A-AC36-C83EE6A737E0}"/>
              </a:ext>
            </a:extLst>
          </p:cNvPr>
          <p:cNvSpPr txBox="1"/>
          <p:nvPr/>
        </p:nvSpPr>
        <p:spPr>
          <a:xfrm>
            <a:off x="9650724" y="2554756"/>
            <a:ext cx="2156229" cy="5214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</a:pPr>
            <a:r>
              <a:rPr lang="en-US" altLang="zh-CN" sz="2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endParaRPr lang="zh-CN" altLang="en-US" sz="2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B8571B-3235-A6B2-9E5C-786800DEA1C3}"/>
              </a:ext>
            </a:extLst>
          </p:cNvPr>
          <p:cNvSpPr txBox="1"/>
          <p:nvPr/>
        </p:nvSpPr>
        <p:spPr>
          <a:xfrm>
            <a:off x="9650725" y="4170163"/>
            <a:ext cx="2156229" cy="714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全流程智能化：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助手直接生成文档、分析数据、总结会议，人类转向决策与创造。</a:t>
            </a:r>
            <a:endParaRPr lang="en-US" altLang="zh-CN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9C63B59-90C4-7E40-0AE9-FE9C9C4DCD08}"/>
              </a:ext>
            </a:extLst>
          </p:cNvPr>
          <p:cNvSpPr/>
          <p:nvPr/>
        </p:nvSpPr>
        <p:spPr>
          <a:xfrm>
            <a:off x="457419" y="3260979"/>
            <a:ext cx="152173" cy="152173"/>
          </a:xfrm>
          <a:prstGeom prst="ellipse">
            <a:avLst/>
          </a:prstGeom>
          <a:solidFill>
            <a:srgbClr val="A8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4D338F1-97EC-CD76-D5BC-7990AC272CD4}"/>
              </a:ext>
            </a:extLst>
          </p:cNvPr>
          <p:cNvSpPr/>
          <p:nvPr/>
        </p:nvSpPr>
        <p:spPr>
          <a:xfrm>
            <a:off x="3519596" y="3260979"/>
            <a:ext cx="152173" cy="152173"/>
          </a:xfrm>
          <a:prstGeom prst="ellipse">
            <a:avLst/>
          </a:prstGeom>
          <a:solidFill>
            <a:srgbClr val="A8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583CA46-3694-7AFD-C5DD-ED88FC74DB3E}"/>
              </a:ext>
            </a:extLst>
          </p:cNvPr>
          <p:cNvSpPr/>
          <p:nvPr/>
        </p:nvSpPr>
        <p:spPr>
          <a:xfrm>
            <a:off x="6583651" y="3260979"/>
            <a:ext cx="152173" cy="152173"/>
          </a:xfrm>
          <a:prstGeom prst="ellipse">
            <a:avLst/>
          </a:prstGeom>
          <a:solidFill>
            <a:srgbClr val="A8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5A361EC-633D-2D4A-5DB0-4E334A67E69B}"/>
              </a:ext>
            </a:extLst>
          </p:cNvPr>
          <p:cNvSpPr/>
          <p:nvPr/>
        </p:nvSpPr>
        <p:spPr>
          <a:xfrm>
            <a:off x="9645827" y="3260979"/>
            <a:ext cx="152173" cy="152173"/>
          </a:xfrm>
          <a:prstGeom prst="ellipse">
            <a:avLst/>
          </a:prstGeom>
          <a:solidFill>
            <a:srgbClr val="A8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1E0F116-9FAE-D64A-53F8-B8B17C24F760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0" name="AutoShape 2">
              <a:extLst>
                <a:ext uri="{FF2B5EF4-FFF2-40B4-BE49-F238E27FC236}">
                  <a16:creationId xmlns:a16="http://schemas.microsoft.com/office/drawing/2014/main" id="{5F8CE496-E529-BD37-EA3A-E44AD4831D3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1" name="AutoShape 2">
              <a:extLst>
                <a:ext uri="{FF2B5EF4-FFF2-40B4-BE49-F238E27FC236}">
                  <a16:creationId xmlns:a16="http://schemas.microsoft.com/office/drawing/2014/main" id="{709F5719-AC44-831E-0D40-ABB5C852E8E0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C8558F0-DF35-8006-6B46-BEACE06A410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6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2E5CCEB5-5CC6-43B4-997F-20F523BDB038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88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0CD466-D8F2-66C5-B5A2-B4DFF04640D8}"/>
              </a:ext>
            </a:extLst>
          </p:cNvPr>
          <p:cNvSpPr/>
          <p:nvPr/>
        </p:nvSpPr>
        <p:spPr>
          <a:xfrm>
            <a:off x="457419" y="1129238"/>
            <a:ext cx="10802252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从尝鲜到沉淀，三步重构工作流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77140EA-41BA-1665-FAAB-258CCD721EF1}"/>
              </a:ext>
            </a:extLst>
          </p:cNvPr>
          <p:cNvSpPr/>
          <p:nvPr/>
        </p:nvSpPr>
        <p:spPr>
          <a:xfrm>
            <a:off x="484456" y="2351109"/>
            <a:ext cx="3630345" cy="3009900"/>
          </a:xfrm>
          <a:prstGeom prst="roundRect">
            <a:avLst>
              <a:gd name="adj" fmla="val 6522"/>
            </a:avLst>
          </a:prstGeom>
          <a:gradFill>
            <a:gsLst>
              <a:gs pos="0">
                <a:srgbClr val="3F466F">
                  <a:lumMod val="90000"/>
                  <a:lumOff val="10000"/>
                  <a:alpha val="70000"/>
                </a:srgbClr>
              </a:gs>
              <a:gs pos="100000">
                <a:srgbClr val="304DB0">
                  <a:alpha val="60208"/>
                </a:srgbClr>
              </a:gs>
            </a:gsLst>
            <a:lin ang="4800000" scaled="0"/>
          </a:gra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360000" rIns="360000" bIns="180000" rtlCol="0" anchor="t" anchorCtr="0">
            <a:normAutofit/>
          </a:bodyPr>
          <a:lstStyle/>
          <a:p>
            <a:pPr algn="ctr">
              <a:buClr>
                <a:schemeClr val="bg1"/>
              </a:buClr>
              <a:defRPr/>
            </a:pPr>
            <a:endParaRPr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1B611D8F-EDB1-4EBE-8DA2-EE14AEDCE84D}"/>
              </a:ext>
            </a:extLst>
          </p:cNvPr>
          <p:cNvSpPr/>
          <p:nvPr/>
        </p:nvSpPr>
        <p:spPr>
          <a:xfrm>
            <a:off x="4280827" y="2351109"/>
            <a:ext cx="3630345" cy="3009900"/>
          </a:xfrm>
          <a:prstGeom prst="roundRect">
            <a:avLst>
              <a:gd name="adj" fmla="val 6522"/>
            </a:avLst>
          </a:prstGeom>
          <a:gradFill>
            <a:gsLst>
              <a:gs pos="0">
                <a:srgbClr val="3F466F">
                  <a:lumMod val="90000"/>
                  <a:lumOff val="10000"/>
                  <a:alpha val="70000"/>
                </a:srgbClr>
              </a:gs>
              <a:gs pos="100000">
                <a:srgbClr val="304DB0">
                  <a:alpha val="60208"/>
                </a:srgbClr>
              </a:gs>
            </a:gsLst>
            <a:lin ang="4800000" scaled="0"/>
          </a:gra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360000" rIns="360000" bIns="180000" rtlCol="0" anchor="t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EC96CDA-1404-FEA5-B98E-3859F0FAED76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A69BD73E-B74F-8968-B71A-136B16BF899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38B57675-C604-C4DB-2BB1-2AF526DF6795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090363E2-CF9A-C5AA-C5A4-1067C470BD3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8" name="AutoShape 2">
            <a:extLst>
              <a:ext uri="{FF2B5EF4-FFF2-40B4-BE49-F238E27FC236}">
                <a16:creationId xmlns:a16="http://schemas.microsoft.com/office/drawing/2014/main" id="{8B265208-0F51-5B2D-DD08-5139F78C0F28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151F4B-8976-3CDF-B716-FDE89C8D5238}"/>
              </a:ext>
            </a:extLst>
          </p:cNvPr>
          <p:cNvSpPr txBox="1"/>
          <p:nvPr/>
        </p:nvSpPr>
        <p:spPr>
          <a:xfrm>
            <a:off x="717177" y="2741601"/>
            <a:ext cx="3191436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任务识别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A30D5D-1B40-39DD-5287-5207D3074AD7}"/>
              </a:ext>
            </a:extLst>
          </p:cNvPr>
          <p:cNvSpPr txBox="1"/>
          <p:nvPr/>
        </p:nvSpPr>
        <p:spPr>
          <a:xfrm>
            <a:off x="717177" y="3271700"/>
            <a:ext cx="3191436" cy="11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判断哪些工作适合交给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</a:t>
            </a: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Char char="•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重复性高、规则明确</a:t>
            </a: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Char char="•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信息密集、反馈周期短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F3559E-4EDC-B9FB-880B-51A5A606E503}"/>
              </a:ext>
            </a:extLst>
          </p:cNvPr>
          <p:cNvSpPr txBox="1"/>
          <p:nvPr/>
        </p:nvSpPr>
        <p:spPr>
          <a:xfrm>
            <a:off x="4518213" y="2741601"/>
            <a:ext cx="3191436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333"/>
              </a:lnSpc>
              <a:buClr>
                <a:srgbClr val="FFFFFF"/>
              </a:buClr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工具协作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D9ABB2-7CDA-12FF-158A-6F82F3319997}"/>
              </a:ext>
            </a:extLst>
          </p:cNvPr>
          <p:cNvSpPr txBox="1"/>
          <p:nvPr/>
        </p:nvSpPr>
        <p:spPr>
          <a:xfrm>
            <a:off x="4518213" y="3271700"/>
            <a:ext cx="3191436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spcBef>
                <a:spcPts val="1000"/>
              </a:spcBef>
              <a:buClr>
                <a:srgbClr val="FFFFFF"/>
              </a:buClr>
              <a:buFont typeface="Arial"/>
              <a:buChar char="•"/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让 </a:t>
            </a:r>
            <a:r>
              <a:rPr lang="en-US" altLang="zh-CN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参与搜索、分析、生成、复盘</a:t>
            </a:r>
          </a:p>
          <a:p>
            <a:pPr marL="203200" indent="-203200">
              <a:spcBef>
                <a:spcPts val="1000"/>
              </a:spcBef>
              <a:buClr>
                <a:srgbClr val="FFFFFF"/>
              </a:buClr>
              <a:buFont typeface="Arial"/>
              <a:buChar char="•"/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把工具嵌入真实工作流，而不是停留在尝鲜</a:t>
            </a:r>
          </a:p>
          <a:p>
            <a:pPr marL="203200" indent="-203200">
              <a:spcBef>
                <a:spcPts val="1000"/>
              </a:spcBef>
              <a:buClr>
                <a:srgbClr val="FFFFFF"/>
              </a:buClr>
              <a:buFont typeface="Arial"/>
              <a:buChar char="•"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C8445E91-1879-2199-4C27-6966D44BE8BA}"/>
              </a:ext>
            </a:extLst>
          </p:cNvPr>
          <p:cNvSpPr/>
          <p:nvPr/>
        </p:nvSpPr>
        <p:spPr>
          <a:xfrm>
            <a:off x="8077198" y="2351109"/>
            <a:ext cx="3630345" cy="3009900"/>
          </a:xfrm>
          <a:prstGeom prst="roundRect">
            <a:avLst>
              <a:gd name="adj" fmla="val 6522"/>
            </a:avLst>
          </a:prstGeom>
          <a:gradFill>
            <a:gsLst>
              <a:gs pos="0">
                <a:srgbClr val="3F466F">
                  <a:lumMod val="90000"/>
                  <a:lumOff val="10000"/>
                  <a:alpha val="70000"/>
                </a:srgbClr>
              </a:gs>
              <a:gs pos="100000">
                <a:srgbClr val="304DB0">
                  <a:alpha val="60208"/>
                </a:srgbClr>
              </a:gs>
            </a:gsLst>
            <a:lin ang="4800000" scaled="0"/>
          </a:gra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360000" rIns="360000" bIns="180000" rtlCol="0" anchor="t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46D79E-D2DD-93F8-EAD6-5CE7DE81D72C}"/>
              </a:ext>
            </a:extLst>
          </p:cNvPr>
          <p:cNvSpPr txBox="1"/>
          <p:nvPr/>
        </p:nvSpPr>
        <p:spPr>
          <a:xfrm>
            <a:off x="8314584" y="2741601"/>
            <a:ext cx="3191436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333"/>
              </a:lnSpc>
              <a:buClr>
                <a:srgbClr val="FFFFFF"/>
              </a:buClr>
              <a:defRPr/>
            </a:pPr>
            <a:r>
              <a:rPr lang="zh-CN" altLang="en-US" sz="2000" dirty="0">
                <a:solidFill>
                  <a:srgbClr val="FFFFFF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流程沉淀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95631E-324C-28C6-4366-3D170DEAE2D8}"/>
              </a:ext>
            </a:extLst>
          </p:cNvPr>
          <p:cNvSpPr txBox="1"/>
          <p:nvPr/>
        </p:nvSpPr>
        <p:spPr>
          <a:xfrm>
            <a:off x="8314584" y="3271700"/>
            <a:ext cx="3191436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spcBef>
                <a:spcPts val="1000"/>
              </a:spcBef>
              <a:buClr>
                <a:srgbClr val="FFFFFF"/>
              </a:buClr>
              <a:buFont typeface="Arial"/>
              <a:buChar char="•"/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把一次性提效变成可复用 </a:t>
            </a:r>
            <a:r>
              <a:rPr lang="en-US" altLang="zh-CN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SOP</a:t>
            </a:r>
          </a:p>
          <a:p>
            <a:pPr marL="203200" lvl="0" indent="-203200">
              <a:spcBef>
                <a:spcPts val="1000"/>
              </a:spcBef>
              <a:buClr>
                <a:srgbClr val="FFFFFF"/>
              </a:buClr>
              <a:buFont typeface="Arial"/>
              <a:buChar char="•"/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让团队能够复制、训练、优化并持续迭代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C90EEF1D-795E-3F12-6FB5-656924A3DE2B}"/>
              </a:ext>
            </a:extLst>
          </p:cNvPr>
          <p:cNvSpPr/>
          <p:nvPr/>
        </p:nvSpPr>
        <p:spPr>
          <a:xfrm>
            <a:off x="457419" y="1129238"/>
            <a:ext cx="10803248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3200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场景落地的优先级矩阵</a:t>
            </a:r>
            <a:endParaRPr lang="en-US" altLang="zh-CN" sz="3200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81E89CE-D190-F6BA-D56B-08C8AC1A1434}"/>
              </a:ext>
            </a:extLst>
          </p:cNvPr>
          <p:cNvSpPr/>
          <p:nvPr/>
        </p:nvSpPr>
        <p:spPr>
          <a:xfrm>
            <a:off x="484456" y="2351109"/>
            <a:ext cx="5540184" cy="1724945"/>
          </a:xfrm>
          <a:prstGeom prst="roundRect">
            <a:avLst>
              <a:gd name="adj" fmla="val 11341"/>
            </a:avLst>
          </a:prstGeom>
          <a:gradFill>
            <a:gsLst>
              <a:gs pos="0">
                <a:srgbClr val="3F466F">
                  <a:lumMod val="90000"/>
                  <a:lumOff val="10000"/>
                  <a:alpha val="70000"/>
                </a:srgbClr>
              </a:gs>
              <a:gs pos="100000">
                <a:srgbClr val="304DB0">
                  <a:alpha val="60208"/>
                </a:srgbClr>
              </a:gs>
            </a:gsLst>
            <a:lin ang="4800000" scaled="0"/>
          </a:gra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849B722-2D7D-A5FC-056D-C0EDAE8BC043}"/>
              </a:ext>
            </a:extLst>
          </p:cNvPr>
          <p:cNvSpPr/>
          <p:nvPr/>
        </p:nvSpPr>
        <p:spPr>
          <a:xfrm>
            <a:off x="6167360" y="2351109"/>
            <a:ext cx="5540184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6DEFD345-B55F-F436-90A1-BA72684E8300}"/>
              </a:ext>
            </a:extLst>
          </p:cNvPr>
          <p:cNvSpPr/>
          <p:nvPr/>
        </p:nvSpPr>
        <p:spPr>
          <a:xfrm>
            <a:off x="484456" y="4201175"/>
            <a:ext cx="5540184" cy="1724945"/>
          </a:xfrm>
          <a:prstGeom prst="roundRect">
            <a:avLst>
              <a:gd name="adj" fmla="val 11341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2FE31A14-C033-6D0E-2CD1-425D3F04C1BF}"/>
              </a:ext>
            </a:extLst>
          </p:cNvPr>
          <p:cNvSpPr/>
          <p:nvPr/>
        </p:nvSpPr>
        <p:spPr>
          <a:xfrm>
            <a:off x="5005897" y="2518820"/>
            <a:ext cx="829101" cy="304800"/>
          </a:xfrm>
          <a:prstGeom prst="roundRect">
            <a:avLst>
              <a:gd name="adj" fmla="val 25490"/>
            </a:avLst>
          </a:prstGeom>
          <a:solidFill>
            <a:srgbClr val="4C7BFF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000" b="1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核心优先</a:t>
            </a:r>
            <a:endParaRPr lang="en-US" sz="1100" b="1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345093E-D9DF-0335-1ADE-E09162FBDA18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ED98C25D-9607-375C-8891-4650EBDE9426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792FAF08-69DA-28E9-EB6A-0BC1E1FB18B8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77887BC2-FCD8-31E5-0067-EFFEF2697FB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8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xmlns:a16="http://schemas.microsoft.com/office/drawing/2014/main" id="{D3F0416F-0F92-CDE4-996C-BE25FE66D304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652C89-CEED-E957-79DC-CBFE5A4CDDC1}"/>
              </a:ext>
            </a:extLst>
          </p:cNvPr>
          <p:cNvSpPr txBox="1"/>
          <p:nvPr/>
        </p:nvSpPr>
        <p:spPr>
          <a:xfrm>
            <a:off x="766885" y="2671220"/>
            <a:ext cx="501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I.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低难度 </a:t>
            </a: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/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高收益</a:t>
            </a: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99D26D-7DCF-F929-BB9B-8CCFFB40DED3}"/>
              </a:ext>
            </a:extLst>
          </p:cNvPr>
          <p:cNvSpPr txBox="1"/>
          <p:nvPr/>
        </p:nvSpPr>
        <p:spPr>
          <a:xfrm>
            <a:off x="766885" y="3143731"/>
            <a:ext cx="5017314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典型场景：</a:t>
            </a:r>
          </a:p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会议纪要、文档总结、邮件草稿、资料初筛。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3FDEF9-05C4-6CC0-D7C8-ADB124C54116}"/>
              </a:ext>
            </a:extLst>
          </p:cNvPr>
          <p:cNvSpPr txBox="1"/>
          <p:nvPr/>
        </p:nvSpPr>
        <p:spPr>
          <a:xfrm>
            <a:off x="6428795" y="2671220"/>
            <a:ext cx="501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II.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高难度 </a:t>
            </a: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/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高收益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8CD8C7-7967-ABC5-9A74-C3E127DDA9E7}"/>
              </a:ext>
            </a:extLst>
          </p:cNvPr>
          <p:cNvSpPr txBox="1"/>
          <p:nvPr/>
        </p:nvSpPr>
        <p:spPr>
          <a:xfrm>
            <a:off x="6428795" y="3143731"/>
            <a:ext cx="5017314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典型场景：</a:t>
            </a:r>
          </a:p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自动化工作流、智能客服、数据分析助手、知识库问答。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9A8E93-0348-7429-DE97-A60A91C942A6}"/>
              </a:ext>
            </a:extLst>
          </p:cNvPr>
          <p:cNvSpPr txBox="1"/>
          <p:nvPr/>
        </p:nvSpPr>
        <p:spPr>
          <a:xfrm>
            <a:off x="817684" y="4516953"/>
            <a:ext cx="501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III.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低难度 </a:t>
            </a: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/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低收益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0671B3-5CBC-7BEB-E683-AAD213665112}"/>
              </a:ext>
            </a:extLst>
          </p:cNvPr>
          <p:cNvSpPr txBox="1"/>
          <p:nvPr/>
        </p:nvSpPr>
        <p:spPr>
          <a:xfrm>
            <a:off x="817684" y="4989464"/>
            <a:ext cx="5017314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典型场景：</a:t>
            </a:r>
          </a:p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简单润色、格式整理、低价值摘要。</a:t>
            </a:r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18314012-A54C-B426-2230-D8F79EC5A632}"/>
              </a:ext>
            </a:extLst>
          </p:cNvPr>
          <p:cNvSpPr/>
          <p:nvPr/>
        </p:nvSpPr>
        <p:spPr>
          <a:xfrm>
            <a:off x="6190990" y="4201175"/>
            <a:ext cx="5540184" cy="1724945"/>
          </a:xfrm>
          <a:prstGeom prst="roundRect">
            <a:avLst>
              <a:gd name="adj" fmla="val 11341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575184-0B22-08EC-46BB-1DF172982AB3}"/>
              </a:ext>
            </a:extLst>
          </p:cNvPr>
          <p:cNvSpPr txBox="1"/>
          <p:nvPr/>
        </p:nvSpPr>
        <p:spPr>
          <a:xfrm>
            <a:off x="6524218" y="4516953"/>
            <a:ext cx="501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IV.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高难度 </a:t>
            </a: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/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低收益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9E115E-124D-E1D0-1AC5-C301D3838138}"/>
              </a:ext>
            </a:extLst>
          </p:cNvPr>
          <p:cNvSpPr txBox="1"/>
          <p:nvPr/>
        </p:nvSpPr>
        <p:spPr>
          <a:xfrm>
            <a:off x="6524218" y="4989464"/>
            <a:ext cx="5017314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典型场景：</a:t>
            </a:r>
          </a:p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过度定制、目标不清的 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系统、缺少业务闭环的复杂方案。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485D9-5217-550C-E65A-31E4B079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682D1958-D8AE-006D-61B8-C35ABB9E8748}"/>
              </a:ext>
            </a:extLst>
          </p:cNvPr>
          <p:cNvSpPr/>
          <p:nvPr/>
        </p:nvSpPr>
        <p:spPr>
          <a:xfrm>
            <a:off x="457418" y="1129238"/>
            <a:ext cx="10701647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3200" dirty="0" err="1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场景落地的优先级矩阵</a:t>
            </a:r>
            <a:endParaRPr lang="en-US" altLang="zh-CN" sz="3200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FC5F17B-A8A6-7B0C-4863-5FBEC4762004}"/>
              </a:ext>
            </a:extLst>
          </p:cNvPr>
          <p:cNvCxnSpPr>
            <a:cxnSpLocks/>
          </p:cNvCxnSpPr>
          <p:nvPr/>
        </p:nvCxnSpPr>
        <p:spPr>
          <a:xfrm flipH="1">
            <a:off x="5650382" y="3862745"/>
            <a:ext cx="6071959" cy="0"/>
          </a:xfrm>
          <a:prstGeom prst="line">
            <a:avLst/>
          </a:prstGeom>
          <a:ln w="19050">
            <a:solidFill>
              <a:srgbClr val="3A80FF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4A28BB3-6A5D-1E06-3C07-5D1F35F63967}"/>
              </a:ext>
            </a:extLst>
          </p:cNvPr>
          <p:cNvCxnSpPr>
            <a:cxnSpLocks/>
          </p:cNvCxnSpPr>
          <p:nvPr/>
        </p:nvCxnSpPr>
        <p:spPr>
          <a:xfrm>
            <a:off x="8686361" y="1779814"/>
            <a:ext cx="0" cy="4165863"/>
          </a:xfrm>
          <a:prstGeom prst="line">
            <a:avLst/>
          </a:prstGeom>
          <a:ln w="19050">
            <a:solidFill>
              <a:srgbClr val="3A80FF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30542A3-D663-1C03-18E7-0B2F3B180411}"/>
              </a:ext>
            </a:extLst>
          </p:cNvPr>
          <p:cNvSpPr txBox="1"/>
          <p:nvPr/>
        </p:nvSpPr>
        <p:spPr>
          <a:xfrm>
            <a:off x="457419" y="2673165"/>
            <a:ext cx="3983952" cy="236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低难度 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/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高收益：会议纪要、文档总结、邮件草稿、资料初筛</a:t>
            </a: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高难度 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/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高收益：自动化工作流、智能客服、数据分析助手、知识库问答</a:t>
            </a: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低难度 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/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低收益：简单润色、格式整理、低价值摘要</a:t>
            </a: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342900" indent="-3429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高难度 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/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低收益：过度定制、目标不清的 </a:t>
            </a:r>
            <a:r>
              <a:rPr lang="en-US" altLang="zh-CN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系统、缺少业务闭环的复杂方案。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201A42F-F2D2-4A2E-9731-5C7A0F53871E}"/>
              </a:ext>
            </a:extLst>
          </p:cNvPr>
          <p:cNvSpPr txBox="1"/>
          <p:nvPr/>
        </p:nvSpPr>
        <p:spPr>
          <a:xfrm>
            <a:off x="5573089" y="3550328"/>
            <a:ext cx="1006921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  <a:sym typeface="SimHei"/>
              </a:rPr>
              <a:t>难度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850634-373D-615B-3FAE-6524192D3807}"/>
              </a:ext>
            </a:extLst>
          </p:cNvPr>
          <p:cNvSpPr txBox="1"/>
          <p:nvPr/>
        </p:nvSpPr>
        <p:spPr>
          <a:xfrm>
            <a:off x="7029839" y="3241379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7991A0-8F36-B2BF-4974-29EBFEEC9C10}"/>
              </a:ext>
            </a:extLst>
          </p:cNvPr>
          <p:cNvSpPr txBox="1"/>
          <p:nvPr/>
        </p:nvSpPr>
        <p:spPr>
          <a:xfrm>
            <a:off x="7363419" y="2336299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A7CF213-8982-560A-B845-19D07F31772B}"/>
              </a:ext>
            </a:extLst>
          </p:cNvPr>
          <p:cNvSpPr txBox="1"/>
          <p:nvPr/>
        </p:nvSpPr>
        <p:spPr>
          <a:xfrm>
            <a:off x="7448834" y="3981025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1B09B3-7583-3101-3E5A-8CAD77F68EDC}"/>
              </a:ext>
            </a:extLst>
          </p:cNvPr>
          <p:cNvSpPr txBox="1"/>
          <p:nvPr/>
        </p:nvSpPr>
        <p:spPr>
          <a:xfrm>
            <a:off x="6244847" y="4508271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5BFE1E0-171C-FD1F-653A-12D8A616911A}"/>
              </a:ext>
            </a:extLst>
          </p:cNvPr>
          <p:cNvSpPr txBox="1"/>
          <p:nvPr/>
        </p:nvSpPr>
        <p:spPr>
          <a:xfrm>
            <a:off x="7405431" y="4930302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0E601AB-40F0-BBD1-96E4-C0DD9E595E29}"/>
              </a:ext>
            </a:extLst>
          </p:cNvPr>
          <p:cNvSpPr txBox="1"/>
          <p:nvPr/>
        </p:nvSpPr>
        <p:spPr>
          <a:xfrm>
            <a:off x="8768238" y="4165371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D2F86D0-77B7-BB82-01FC-8F9172ED50B2}"/>
              </a:ext>
            </a:extLst>
          </p:cNvPr>
          <p:cNvSpPr txBox="1"/>
          <p:nvPr/>
        </p:nvSpPr>
        <p:spPr>
          <a:xfrm>
            <a:off x="9840899" y="4508271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94F087E-5D91-5E9A-DDBC-B4A2329AA025}"/>
              </a:ext>
            </a:extLst>
          </p:cNvPr>
          <p:cNvSpPr txBox="1"/>
          <p:nvPr/>
        </p:nvSpPr>
        <p:spPr>
          <a:xfrm>
            <a:off x="9923889" y="3152001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18FE2EE-5F1F-DDF3-07D7-D5B12EDEEE88}"/>
              </a:ext>
            </a:extLst>
          </p:cNvPr>
          <p:cNvSpPr txBox="1"/>
          <p:nvPr/>
        </p:nvSpPr>
        <p:spPr>
          <a:xfrm>
            <a:off x="8714490" y="2643504"/>
            <a:ext cx="1006921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spcBef>
                <a:spcPts val="1000"/>
              </a:spcBef>
              <a:buClr>
                <a:schemeClr val="bg1"/>
              </a:buClr>
            </a:pP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CONTENT</a:t>
            </a:r>
            <a:endParaRPr lang="zh-CN" altLang="en-US" sz="1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A393F73-2D5A-FFCC-FD4A-4948FC914E99}"/>
              </a:ext>
            </a:extLst>
          </p:cNvPr>
          <p:cNvSpPr txBox="1"/>
          <p:nvPr/>
        </p:nvSpPr>
        <p:spPr>
          <a:xfrm>
            <a:off x="8720268" y="5700348"/>
            <a:ext cx="1006921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>
              <a:spcBef>
                <a:spcPts val="1000"/>
              </a:spcBef>
              <a:buClr>
                <a:schemeClr val="bg1"/>
              </a:buClr>
            </a:pPr>
            <a:r>
              <a:rPr lang="zh-CN" altLang="en-US" dirty="0">
                <a:solidFill>
                  <a:schemeClr val="bg1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  <a:sym typeface="SimHei"/>
              </a:rPr>
              <a:t>收益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820A4A-3D06-CA07-E03F-405B3899AD45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C87CAE69-0767-B8E5-0BBB-42DECCA847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07C92393-834B-593A-11C5-1B64FB96BC5C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5602FBAA-AF96-8E9D-8BD5-CA0C64DCA32C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9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6EC13234-1725-475A-EC67-AE67CA5AAF7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2492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08DC2CC-9FE4-1FB1-6BAC-CD0796080365}"/>
              </a:ext>
            </a:extLst>
          </p:cNvPr>
          <p:cNvSpPr/>
          <p:nvPr/>
        </p:nvSpPr>
        <p:spPr>
          <a:xfrm>
            <a:off x="457419" y="1129238"/>
            <a:ext cx="6039634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AI</a:t>
            </a:r>
            <a:r>
              <a:rPr lang="zh-CN" altLang="en-US" sz="32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在日常工作中的核心落地场景</a:t>
            </a:r>
            <a:endParaRPr lang="en-US" altLang="zh-CN" sz="3200" dirty="0">
              <a:solidFill>
                <a:srgbClr val="FFFF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AD04D0D4-569B-D980-02BF-391A4FD32AFB}"/>
              </a:ext>
            </a:extLst>
          </p:cNvPr>
          <p:cNvSpPr/>
          <p:nvPr/>
        </p:nvSpPr>
        <p:spPr>
          <a:xfrm>
            <a:off x="487457" y="226938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EAF72CC-3EAE-05D9-AFCE-DE85FC0D092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0" name="AutoShape 2">
              <a:extLst>
                <a:ext uri="{FF2B5EF4-FFF2-40B4-BE49-F238E27FC236}">
                  <a16:creationId xmlns:a16="http://schemas.microsoft.com/office/drawing/2014/main" id="{1D571B62-493D-FE98-6B04-DA6B87AE982B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1" name="AutoShape 2">
              <a:extLst>
                <a:ext uri="{FF2B5EF4-FFF2-40B4-BE49-F238E27FC236}">
                  <a16:creationId xmlns:a16="http://schemas.microsoft.com/office/drawing/2014/main" id="{C996206D-5E15-9421-865C-C63D9EDE758C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2" name="AutoShape 2">
              <a:extLst>
                <a:ext uri="{FF2B5EF4-FFF2-40B4-BE49-F238E27FC236}">
                  <a16:creationId xmlns:a16="http://schemas.microsoft.com/office/drawing/2014/main" id="{041DF7C5-63D0-3AC4-D754-935BA16D376D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10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3" name="AutoShape 2">
            <a:extLst>
              <a:ext uri="{FF2B5EF4-FFF2-40B4-BE49-F238E27FC236}">
                <a16:creationId xmlns:a16="http://schemas.microsoft.com/office/drawing/2014/main" id="{638BF4A8-0862-0C6D-D844-73893B69567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CFE765-CDAF-34B8-9374-5E200F4895DD}"/>
              </a:ext>
            </a:extLst>
          </p:cNvPr>
          <p:cNvSpPr txBox="1"/>
          <p:nvPr/>
        </p:nvSpPr>
        <p:spPr>
          <a:xfrm>
            <a:off x="732210" y="266004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01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内容生成</a:t>
            </a: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37AAD6-26C9-2DE4-2AF3-947EB37CC20A}"/>
              </a:ext>
            </a:extLst>
          </p:cNvPr>
          <p:cNvSpPr txBox="1"/>
          <p:nvPr/>
        </p:nvSpPr>
        <p:spPr>
          <a:xfrm>
            <a:off x="732210" y="3123152"/>
            <a:ext cx="3107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从空白页到初稿，降低启动成本。</a:t>
            </a: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154D63DA-59B5-BCA5-E30A-895CA829FFAF}"/>
              </a:ext>
            </a:extLst>
          </p:cNvPr>
          <p:cNvSpPr/>
          <p:nvPr/>
        </p:nvSpPr>
        <p:spPr>
          <a:xfrm>
            <a:off x="4288748" y="226938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013B03-5F9A-FDB1-770C-96909BC29AFE}"/>
              </a:ext>
            </a:extLst>
          </p:cNvPr>
          <p:cNvSpPr txBox="1"/>
          <p:nvPr/>
        </p:nvSpPr>
        <p:spPr>
          <a:xfrm>
            <a:off x="4533501" y="266004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02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数据分析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4C999F-C4AF-90AF-CAC4-011B466E8694}"/>
              </a:ext>
            </a:extLst>
          </p:cNvPr>
          <p:cNvSpPr txBox="1"/>
          <p:nvPr/>
        </p:nvSpPr>
        <p:spPr>
          <a:xfrm>
            <a:off x="4533501" y="3123152"/>
            <a:ext cx="3107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从表格与文本中提炼趋势、异常和洞察。</a:t>
            </a:r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EA09440A-9D60-E3D9-7D1A-6663D67F901F}"/>
              </a:ext>
            </a:extLst>
          </p:cNvPr>
          <p:cNvSpPr/>
          <p:nvPr/>
        </p:nvSpPr>
        <p:spPr>
          <a:xfrm>
            <a:off x="8090040" y="226938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E1B1C0-A12B-6AE8-B55B-BA15B6E1941E}"/>
              </a:ext>
            </a:extLst>
          </p:cNvPr>
          <p:cNvSpPr txBox="1"/>
          <p:nvPr/>
        </p:nvSpPr>
        <p:spPr>
          <a:xfrm>
            <a:off x="8334793" y="266004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03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客户沟通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423324-1EAD-E3E7-31E1-07533D859E1D}"/>
              </a:ext>
            </a:extLst>
          </p:cNvPr>
          <p:cNvSpPr txBox="1"/>
          <p:nvPr/>
        </p:nvSpPr>
        <p:spPr>
          <a:xfrm>
            <a:off x="8334793" y="3123152"/>
            <a:ext cx="3107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辅助撰写回复、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FAQ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、跟进记录与服务摘要。</a:t>
            </a:r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AF344B51-EC95-C01D-0040-63ADD929143D}"/>
              </a:ext>
            </a:extLst>
          </p:cNvPr>
          <p:cNvSpPr/>
          <p:nvPr/>
        </p:nvSpPr>
        <p:spPr>
          <a:xfrm>
            <a:off x="487457" y="418667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39B71D-6D43-68CA-DEED-1AA36FE84B39}"/>
              </a:ext>
            </a:extLst>
          </p:cNvPr>
          <p:cNvSpPr txBox="1"/>
          <p:nvPr/>
        </p:nvSpPr>
        <p:spPr>
          <a:xfrm>
            <a:off x="732210" y="457733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04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项目管理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800A08-E4D1-F535-D422-0479EC31B53B}"/>
              </a:ext>
            </a:extLst>
          </p:cNvPr>
          <p:cNvSpPr txBox="1"/>
          <p:nvPr/>
        </p:nvSpPr>
        <p:spPr>
          <a:xfrm>
            <a:off x="732210" y="5040442"/>
            <a:ext cx="3107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拆解任务、生成计划、追踪风险与复盘结果。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C8606388-B14B-C304-E306-C40FC8FCE97A}"/>
              </a:ext>
            </a:extLst>
          </p:cNvPr>
          <p:cNvSpPr/>
          <p:nvPr/>
        </p:nvSpPr>
        <p:spPr>
          <a:xfrm>
            <a:off x="4288748" y="418667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24492C3-90BA-15AD-E8A4-95A50F15B6F6}"/>
              </a:ext>
            </a:extLst>
          </p:cNvPr>
          <p:cNvSpPr txBox="1"/>
          <p:nvPr/>
        </p:nvSpPr>
        <p:spPr>
          <a:xfrm>
            <a:off x="4533501" y="457733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05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知识沉淀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358518-B85B-4741-A7E4-D62A5F580A45}"/>
              </a:ext>
            </a:extLst>
          </p:cNvPr>
          <p:cNvSpPr txBox="1"/>
          <p:nvPr/>
        </p:nvSpPr>
        <p:spPr>
          <a:xfrm>
            <a:off x="4533501" y="5040442"/>
            <a:ext cx="3107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把分散文档、会议与经验整理成可检索资产。</a:t>
            </a:r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3162A79E-570F-2D25-CFFA-F04273A5D4F0}"/>
              </a:ext>
            </a:extLst>
          </p:cNvPr>
          <p:cNvSpPr/>
          <p:nvPr/>
        </p:nvSpPr>
        <p:spPr>
          <a:xfrm>
            <a:off x="8090039" y="4186671"/>
            <a:ext cx="3597057" cy="1724945"/>
          </a:xfrm>
          <a:prstGeom prst="roundRect">
            <a:avLst>
              <a:gd name="adj" fmla="val 11398"/>
            </a:avLst>
          </a:prstGeom>
          <a:solidFill>
            <a:schemeClr val="tx1">
              <a:alpha val="5000"/>
            </a:scheme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180000" rIns="360000" bIns="180000" rtlCol="0" anchor="ctr" anchorCtr="0">
            <a:normAutofit/>
          </a:bodyPr>
          <a:lstStyle/>
          <a:p>
            <a:pPr>
              <a:buClr>
                <a:schemeClr val="bg1"/>
              </a:buClr>
              <a:defRPr/>
            </a:pPr>
            <a:endParaRPr lang="zh-CN" altLang="en-US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45EF986-4DD1-7348-23E8-1840344E4B1F}"/>
              </a:ext>
            </a:extLst>
          </p:cNvPr>
          <p:cNvSpPr txBox="1"/>
          <p:nvPr/>
        </p:nvSpPr>
        <p:spPr>
          <a:xfrm>
            <a:off x="8334792" y="4577336"/>
            <a:ext cx="310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defRPr/>
            </a:pPr>
            <a:r>
              <a:rPr lang="en-US" altLang="zh-CN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06 </a:t>
            </a:r>
            <a:r>
              <a:rPr lang="zh-CN" altLang="en-US" sz="2000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SimHei"/>
              </a:rPr>
              <a:t>个人学习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2347BA-244B-B02B-24AA-CEA614FDC2DF}"/>
              </a:ext>
            </a:extLst>
          </p:cNvPr>
          <p:cNvSpPr txBox="1"/>
          <p:nvPr/>
        </p:nvSpPr>
        <p:spPr>
          <a:xfrm>
            <a:off x="8334792" y="5040442"/>
            <a:ext cx="3107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生成学习路径、解释概念、模拟练习与复盘。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7E4C-5E63-365A-9E7C-8BB83D2A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6DA2970-A3CB-7CDB-AA4D-AAF2917290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9078C0C6-1705-D83C-2E42-046E4643D283}"/>
              </a:ext>
            </a:extLst>
          </p:cNvPr>
          <p:cNvSpPr/>
          <p:nvPr/>
        </p:nvSpPr>
        <p:spPr>
          <a:xfrm>
            <a:off x="457419" y="2005533"/>
            <a:ext cx="6723309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003</a:t>
            </a:r>
          </a:p>
          <a:p>
            <a:pPr>
              <a:lnSpc>
                <a:spcPts val="7000"/>
              </a:lnSpc>
              <a:defRPr/>
            </a:pPr>
            <a:r>
              <a:rPr lang="zh-CN" altLang="en-US" sz="6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企业落地场景</a:t>
            </a:r>
            <a:endParaRPr lang="zh-CN" altLang="en-US" sz="66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6928D83-6A9A-A1D4-8428-2A78B33E54C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1" name="AutoShape 2">
              <a:extLst>
                <a:ext uri="{FF2B5EF4-FFF2-40B4-BE49-F238E27FC236}">
                  <a16:creationId xmlns:a16="http://schemas.microsoft.com/office/drawing/2014/main" id="{176AAE30-BDA5-6E20-5FB6-31E80B29365B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2" name="AutoShape 2">
              <a:extLst>
                <a:ext uri="{FF2B5EF4-FFF2-40B4-BE49-F238E27FC236}">
                  <a16:creationId xmlns:a16="http://schemas.microsoft.com/office/drawing/2014/main" id="{B02B0D27-295A-C50A-0080-E6B60128D4C5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3" name="AutoShape 2">
              <a:extLst>
                <a:ext uri="{FF2B5EF4-FFF2-40B4-BE49-F238E27FC236}">
                  <a16:creationId xmlns:a16="http://schemas.microsoft.com/office/drawing/2014/main" id="{AEEF9AF1-89A0-D30B-F99D-B2E4569E4D2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11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4" name="AutoShape 2">
            <a:extLst>
              <a:ext uri="{FF2B5EF4-FFF2-40B4-BE49-F238E27FC236}">
                <a16:creationId xmlns:a16="http://schemas.microsoft.com/office/drawing/2014/main" id="{41843782-50A5-B5AC-A4A0-5BE238E82334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4379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DE58-E2DB-F266-2C1C-9BF4EE9D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89D2B1-D0AE-6B04-B2E8-E9F0B608A2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2" name="Connector 3">
            <a:extLst>
              <a:ext uri="{FF2B5EF4-FFF2-40B4-BE49-F238E27FC236}">
                <a16:creationId xmlns:a16="http://schemas.microsoft.com/office/drawing/2014/main" id="{1F6F3923-611A-E096-9E46-D8CD902DC1B5}"/>
              </a:ext>
            </a:extLst>
          </p:cNvPr>
          <p:cNvCxnSpPr/>
          <p:nvPr/>
        </p:nvCxnSpPr>
        <p:spPr>
          <a:xfrm rot="-3997">
            <a:off x="633734" y="1263650"/>
            <a:ext cx="10922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3" name="AutoShape 2">
            <a:extLst>
              <a:ext uri="{FF2B5EF4-FFF2-40B4-BE49-F238E27FC236}">
                <a16:creationId xmlns:a16="http://schemas.microsoft.com/office/drawing/2014/main" id="{F8150B06-6EFE-B7E0-67E0-A91AA64B4CDB}"/>
              </a:ext>
            </a:extLst>
          </p:cNvPr>
          <p:cNvSpPr/>
          <p:nvPr/>
        </p:nvSpPr>
        <p:spPr>
          <a:xfrm>
            <a:off x="457419" y="1129238"/>
            <a:ext cx="10738965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传统方式 </a:t>
            </a:r>
            <a:r>
              <a:rPr lang="en-US" sz="3200" u="none" strike="noStrike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VS</a:t>
            </a:r>
            <a:r>
              <a:rPr lang="en-US" sz="3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 AI </a:t>
            </a:r>
            <a:r>
              <a:rPr lang="zh-CN" altLang="en-US" sz="3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辅助</a:t>
            </a:r>
          </a:p>
        </p:txBody>
      </p:sp>
      <p:cxnSp>
        <p:nvCxnSpPr>
          <p:cNvPr id="44" name="Connector 3">
            <a:extLst>
              <a:ext uri="{FF2B5EF4-FFF2-40B4-BE49-F238E27FC236}">
                <a16:creationId xmlns:a16="http://schemas.microsoft.com/office/drawing/2014/main" id="{6705126C-42E5-0BA7-F466-1842C177B0BC}"/>
              </a:ext>
            </a:extLst>
          </p:cNvPr>
          <p:cNvCxnSpPr>
            <a:cxnSpLocks/>
          </p:cNvCxnSpPr>
          <p:nvPr/>
        </p:nvCxnSpPr>
        <p:spPr>
          <a:xfrm>
            <a:off x="457419" y="3114160"/>
            <a:ext cx="110265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45" name="Connector 4">
            <a:extLst>
              <a:ext uri="{FF2B5EF4-FFF2-40B4-BE49-F238E27FC236}">
                <a16:creationId xmlns:a16="http://schemas.microsoft.com/office/drawing/2014/main" id="{74C2403D-99DC-E115-C34D-D89BAD7F7771}"/>
              </a:ext>
            </a:extLst>
          </p:cNvPr>
          <p:cNvCxnSpPr>
            <a:cxnSpLocks/>
          </p:cNvCxnSpPr>
          <p:nvPr/>
        </p:nvCxnSpPr>
        <p:spPr>
          <a:xfrm>
            <a:off x="457419" y="4097346"/>
            <a:ext cx="110265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46" name="Connector 5">
            <a:extLst>
              <a:ext uri="{FF2B5EF4-FFF2-40B4-BE49-F238E27FC236}">
                <a16:creationId xmlns:a16="http://schemas.microsoft.com/office/drawing/2014/main" id="{4AA02575-9879-A2DB-62AB-D391787C33E9}"/>
              </a:ext>
            </a:extLst>
          </p:cNvPr>
          <p:cNvCxnSpPr>
            <a:cxnSpLocks/>
          </p:cNvCxnSpPr>
          <p:nvPr/>
        </p:nvCxnSpPr>
        <p:spPr>
          <a:xfrm>
            <a:off x="457419" y="5080532"/>
            <a:ext cx="110265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48" name="AutoShape 8">
            <a:extLst>
              <a:ext uri="{FF2B5EF4-FFF2-40B4-BE49-F238E27FC236}">
                <a16:creationId xmlns:a16="http://schemas.microsoft.com/office/drawing/2014/main" id="{1CF9E7B6-8294-B1BC-3439-DD3AB1F7EB9D}"/>
              </a:ext>
            </a:extLst>
          </p:cNvPr>
          <p:cNvSpPr/>
          <p:nvPr/>
        </p:nvSpPr>
        <p:spPr>
          <a:xfrm>
            <a:off x="1234600" y="2426352"/>
            <a:ext cx="10249382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4D116317-D1A4-CFFE-B465-86DA30AEE174}"/>
              </a:ext>
            </a:extLst>
          </p:cNvPr>
          <p:cNvGrpSpPr/>
          <p:nvPr/>
        </p:nvGrpSpPr>
        <p:grpSpPr>
          <a:xfrm>
            <a:off x="633730" y="2504792"/>
            <a:ext cx="248250" cy="248250"/>
            <a:chOff x="1154628" y="2517338"/>
            <a:chExt cx="248250" cy="248250"/>
          </a:xfrm>
        </p:grpSpPr>
        <p:cxnSp>
          <p:nvCxnSpPr>
            <p:cNvPr id="52" name="Connector 12">
              <a:extLst>
                <a:ext uri="{FF2B5EF4-FFF2-40B4-BE49-F238E27FC236}">
                  <a16:creationId xmlns:a16="http://schemas.microsoft.com/office/drawing/2014/main" id="{0054C9F0-2115-A56F-7127-8E1A2C94829F}"/>
                </a:ext>
              </a:extLst>
            </p:cNvPr>
            <p:cNvCxnSpPr/>
            <p:nvPr/>
          </p:nvCxnSpPr>
          <p:spPr>
            <a:xfrm rot="21423860">
              <a:off x="1155228" y="263525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53" name="Connector 13">
              <a:extLst>
                <a:ext uri="{FF2B5EF4-FFF2-40B4-BE49-F238E27FC236}">
                  <a16:creationId xmlns:a16="http://schemas.microsoft.com/office/drawing/2014/main" id="{A138BCBD-B2F5-FA1A-6C58-9A532192AA47}"/>
                </a:ext>
              </a:extLst>
            </p:cNvPr>
            <p:cNvCxnSpPr/>
            <p:nvPr/>
          </p:nvCxnSpPr>
          <p:spPr>
            <a:xfrm rot="5223859">
              <a:off x="1155065" y="263541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54" name="Connector 14">
              <a:extLst>
                <a:ext uri="{FF2B5EF4-FFF2-40B4-BE49-F238E27FC236}">
                  <a16:creationId xmlns:a16="http://schemas.microsoft.com/office/drawing/2014/main" id="{3557BAC9-4998-9FDF-4849-F5B94E8475F8}"/>
                </a:ext>
              </a:extLst>
            </p:cNvPr>
            <p:cNvCxnSpPr/>
            <p:nvPr/>
          </p:nvCxnSpPr>
          <p:spPr>
            <a:xfrm rot="2524005">
              <a:off x="1154628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55" name="Connector 15">
              <a:extLst>
                <a:ext uri="{FF2B5EF4-FFF2-40B4-BE49-F238E27FC236}">
                  <a16:creationId xmlns:a16="http://schemas.microsoft.com/office/drawing/2014/main" id="{C8DA51D9-C684-F8EB-063E-C13077E58089}"/>
                </a:ext>
              </a:extLst>
            </p:cNvPr>
            <p:cNvCxnSpPr/>
            <p:nvPr/>
          </p:nvCxnSpPr>
          <p:spPr>
            <a:xfrm rot="7924005">
              <a:off x="1155297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49" name="AutoShape 9">
            <a:extLst>
              <a:ext uri="{FF2B5EF4-FFF2-40B4-BE49-F238E27FC236}">
                <a16:creationId xmlns:a16="http://schemas.microsoft.com/office/drawing/2014/main" id="{33F11519-4260-1F3A-4E3F-7842F859F0B8}"/>
              </a:ext>
            </a:extLst>
          </p:cNvPr>
          <p:cNvSpPr/>
          <p:nvPr/>
        </p:nvSpPr>
        <p:spPr>
          <a:xfrm>
            <a:off x="1234600" y="3409538"/>
            <a:ext cx="10249382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4BA3238-B8DA-1E91-6417-2DA90C6253D3}"/>
              </a:ext>
            </a:extLst>
          </p:cNvPr>
          <p:cNvGrpSpPr/>
          <p:nvPr/>
        </p:nvGrpSpPr>
        <p:grpSpPr>
          <a:xfrm>
            <a:off x="640235" y="3487978"/>
            <a:ext cx="248250" cy="248250"/>
            <a:chOff x="1154628" y="2517338"/>
            <a:chExt cx="248250" cy="248250"/>
          </a:xfrm>
        </p:grpSpPr>
        <p:cxnSp>
          <p:nvCxnSpPr>
            <p:cNvPr id="73" name="Connector 12">
              <a:extLst>
                <a:ext uri="{FF2B5EF4-FFF2-40B4-BE49-F238E27FC236}">
                  <a16:creationId xmlns:a16="http://schemas.microsoft.com/office/drawing/2014/main" id="{A1F6CCA1-EA65-0891-92FE-416AC6D9BE5A}"/>
                </a:ext>
              </a:extLst>
            </p:cNvPr>
            <p:cNvCxnSpPr/>
            <p:nvPr/>
          </p:nvCxnSpPr>
          <p:spPr>
            <a:xfrm rot="21423860">
              <a:off x="1155228" y="263525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74" name="Connector 13">
              <a:extLst>
                <a:ext uri="{FF2B5EF4-FFF2-40B4-BE49-F238E27FC236}">
                  <a16:creationId xmlns:a16="http://schemas.microsoft.com/office/drawing/2014/main" id="{A86BD229-98D9-A86D-E759-CD228543CAC2}"/>
                </a:ext>
              </a:extLst>
            </p:cNvPr>
            <p:cNvCxnSpPr/>
            <p:nvPr/>
          </p:nvCxnSpPr>
          <p:spPr>
            <a:xfrm rot="5223859">
              <a:off x="1155065" y="263541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75" name="Connector 14">
              <a:extLst>
                <a:ext uri="{FF2B5EF4-FFF2-40B4-BE49-F238E27FC236}">
                  <a16:creationId xmlns:a16="http://schemas.microsoft.com/office/drawing/2014/main" id="{A73CE363-4198-3289-E525-B1A04BB9D6C1}"/>
                </a:ext>
              </a:extLst>
            </p:cNvPr>
            <p:cNvCxnSpPr/>
            <p:nvPr/>
          </p:nvCxnSpPr>
          <p:spPr>
            <a:xfrm rot="2524005">
              <a:off x="1154628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76" name="Connector 15">
              <a:extLst>
                <a:ext uri="{FF2B5EF4-FFF2-40B4-BE49-F238E27FC236}">
                  <a16:creationId xmlns:a16="http://schemas.microsoft.com/office/drawing/2014/main" id="{CF3A7AB3-7212-E668-EA38-7F12D7E9BFEA}"/>
                </a:ext>
              </a:extLst>
            </p:cNvPr>
            <p:cNvCxnSpPr/>
            <p:nvPr/>
          </p:nvCxnSpPr>
          <p:spPr>
            <a:xfrm rot="7924005">
              <a:off x="1155297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50" name="AutoShape 10">
            <a:extLst>
              <a:ext uri="{FF2B5EF4-FFF2-40B4-BE49-F238E27FC236}">
                <a16:creationId xmlns:a16="http://schemas.microsoft.com/office/drawing/2014/main" id="{9CA50F9B-2A25-A1C2-08D3-8225033B139A}"/>
              </a:ext>
            </a:extLst>
          </p:cNvPr>
          <p:cNvSpPr/>
          <p:nvPr/>
        </p:nvSpPr>
        <p:spPr>
          <a:xfrm>
            <a:off x="1234599" y="4392724"/>
            <a:ext cx="10249382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BC3CC5D-E3AB-CAEF-7D32-30E4C5A0AF9B}"/>
              </a:ext>
            </a:extLst>
          </p:cNvPr>
          <p:cNvGrpSpPr/>
          <p:nvPr/>
        </p:nvGrpSpPr>
        <p:grpSpPr>
          <a:xfrm>
            <a:off x="640235" y="4471164"/>
            <a:ext cx="248250" cy="248250"/>
            <a:chOff x="1154628" y="2517338"/>
            <a:chExt cx="248250" cy="248250"/>
          </a:xfrm>
        </p:grpSpPr>
        <p:cxnSp>
          <p:nvCxnSpPr>
            <p:cNvPr id="83" name="Connector 12">
              <a:extLst>
                <a:ext uri="{FF2B5EF4-FFF2-40B4-BE49-F238E27FC236}">
                  <a16:creationId xmlns:a16="http://schemas.microsoft.com/office/drawing/2014/main" id="{A8A2E8C6-9D48-7848-1E0F-2AC2731C98C7}"/>
                </a:ext>
              </a:extLst>
            </p:cNvPr>
            <p:cNvCxnSpPr/>
            <p:nvPr/>
          </p:nvCxnSpPr>
          <p:spPr>
            <a:xfrm rot="21423860">
              <a:off x="1155228" y="263525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84" name="Connector 13">
              <a:extLst>
                <a:ext uri="{FF2B5EF4-FFF2-40B4-BE49-F238E27FC236}">
                  <a16:creationId xmlns:a16="http://schemas.microsoft.com/office/drawing/2014/main" id="{31A6B85A-E2C2-20DB-1B0F-322A6120A5E0}"/>
                </a:ext>
              </a:extLst>
            </p:cNvPr>
            <p:cNvCxnSpPr/>
            <p:nvPr/>
          </p:nvCxnSpPr>
          <p:spPr>
            <a:xfrm rot="5223859">
              <a:off x="1155065" y="263541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85" name="Connector 14">
              <a:extLst>
                <a:ext uri="{FF2B5EF4-FFF2-40B4-BE49-F238E27FC236}">
                  <a16:creationId xmlns:a16="http://schemas.microsoft.com/office/drawing/2014/main" id="{B25DDFB3-A810-2C50-8D3D-7AA35E5CC671}"/>
                </a:ext>
              </a:extLst>
            </p:cNvPr>
            <p:cNvCxnSpPr/>
            <p:nvPr/>
          </p:nvCxnSpPr>
          <p:spPr>
            <a:xfrm rot="2524005">
              <a:off x="1154628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86" name="Connector 15">
              <a:extLst>
                <a:ext uri="{FF2B5EF4-FFF2-40B4-BE49-F238E27FC236}">
                  <a16:creationId xmlns:a16="http://schemas.microsoft.com/office/drawing/2014/main" id="{BE72F618-4AF2-4253-5823-B4CAA8E329CD}"/>
                </a:ext>
              </a:extLst>
            </p:cNvPr>
            <p:cNvCxnSpPr/>
            <p:nvPr/>
          </p:nvCxnSpPr>
          <p:spPr>
            <a:xfrm rot="7924005">
              <a:off x="1155297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51" name="AutoShape 11">
            <a:extLst>
              <a:ext uri="{FF2B5EF4-FFF2-40B4-BE49-F238E27FC236}">
                <a16:creationId xmlns:a16="http://schemas.microsoft.com/office/drawing/2014/main" id="{70D9718C-6F69-9C58-F3F4-C93688FF4A3C}"/>
              </a:ext>
            </a:extLst>
          </p:cNvPr>
          <p:cNvSpPr/>
          <p:nvPr/>
        </p:nvSpPr>
        <p:spPr>
          <a:xfrm>
            <a:off x="1234599" y="5375909"/>
            <a:ext cx="10249382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CEF249DB-4261-4AD4-6776-62C3D443299C}"/>
              </a:ext>
            </a:extLst>
          </p:cNvPr>
          <p:cNvGrpSpPr/>
          <p:nvPr/>
        </p:nvGrpSpPr>
        <p:grpSpPr>
          <a:xfrm>
            <a:off x="640235" y="5454349"/>
            <a:ext cx="248250" cy="248250"/>
            <a:chOff x="1154628" y="2517338"/>
            <a:chExt cx="248250" cy="248250"/>
          </a:xfrm>
        </p:grpSpPr>
        <p:cxnSp>
          <p:nvCxnSpPr>
            <p:cNvPr id="89" name="Connector 12">
              <a:extLst>
                <a:ext uri="{FF2B5EF4-FFF2-40B4-BE49-F238E27FC236}">
                  <a16:creationId xmlns:a16="http://schemas.microsoft.com/office/drawing/2014/main" id="{483FBF1E-698A-B2EA-53CA-90FE06A7B925}"/>
                </a:ext>
              </a:extLst>
            </p:cNvPr>
            <p:cNvCxnSpPr/>
            <p:nvPr/>
          </p:nvCxnSpPr>
          <p:spPr>
            <a:xfrm rot="21423860">
              <a:off x="1155228" y="263525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90" name="Connector 13">
              <a:extLst>
                <a:ext uri="{FF2B5EF4-FFF2-40B4-BE49-F238E27FC236}">
                  <a16:creationId xmlns:a16="http://schemas.microsoft.com/office/drawing/2014/main" id="{8338F971-30E9-827A-B1EC-FEC5D8ACBB14}"/>
                </a:ext>
              </a:extLst>
            </p:cNvPr>
            <p:cNvCxnSpPr/>
            <p:nvPr/>
          </p:nvCxnSpPr>
          <p:spPr>
            <a:xfrm rot="5223859">
              <a:off x="1155065" y="263541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91" name="Connector 14">
              <a:extLst>
                <a:ext uri="{FF2B5EF4-FFF2-40B4-BE49-F238E27FC236}">
                  <a16:creationId xmlns:a16="http://schemas.microsoft.com/office/drawing/2014/main" id="{C32C4733-5091-C06F-D656-A76142D5ADD8}"/>
                </a:ext>
              </a:extLst>
            </p:cNvPr>
            <p:cNvCxnSpPr/>
            <p:nvPr/>
          </p:nvCxnSpPr>
          <p:spPr>
            <a:xfrm rot="2524005">
              <a:off x="1154628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92" name="Connector 15">
              <a:extLst>
                <a:ext uri="{FF2B5EF4-FFF2-40B4-BE49-F238E27FC236}">
                  <a16:creationId xmlns:a16="http://schemas.microsoft.com/office/drawing/2014/main" id="{17AF8B24-4B42-0055-66B6-66B633685467}"/>
                </a:ext>
              </a:extLst>
            </p:cNvPr>
            <p:cNvCxnSpPr/>
            <p:nvPr/>
          </p:nvCxnSpPr>
          <p:spPr>
            <a:xfrm rot="7924005">
              <a:off x="1155297" y="263491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B7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97E4A9-4188-4BDB-69AF-4444DAE587E5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0" name="AutoShape 2">
              <a:extLst>
                <a:ext uri="{FF2B5EF4-FFF2-40B4-BE49-F238E27FC236}">
                  <a16:creationId xmlns:a16="http://schemas.microsoft.com/office/drawing/2014/main" id="{0A18DDD8-9231-2B35-75BA-88202F22A1C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1" name="AutoShape 2">
              <a:extLst>
                <a:ext uri="{FF2B5EF4-FFF2-40B4-BE49-F238E27FC236}">
                  <a16:creationId xmlns:a16="http://schemas.microsoft.com/office/drawing/2014/main" id="{8B6272DB-D78E-4DB1-51E3-06C3C83D1C93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2" name="AutoShape 2">
              <a:extLst>
                <a:ext uri="{FF2B5EF4-FFF2-40B4-BE49-F238E27FC236}">
                  <a16:creationId xmlns:a16="http://schemas.microsoft.com/office/drawing/2014/main" id="{D5311548-3A4F-352C-1A65-8239B01CA1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3" name="AutoShape 2">
            <a:extLst>
              <a:ext uri="{FF2B5EF4-FFF2-40B4-BE49-F238E27FC236}">
                <a16:creationId xmlns:a16="http://schemas.microsoft.com/office/drawing/2014/main" id="{AE242652-CBAF-09FB-1DF2-0052872E3A4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151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Table 4"/>
          <p:cNvGraphicFramePr/>
          <p:nvPr>
            <p:extLst>
              <p:ext uri="{D42A27DB-BD31-4B8C-83A1-F6EECF244321}">
                <p14:modId xmlns:p14="http://schemas.microsoft.com/office/powerpoint/2010/main" val="2437197500"/>
              </p:ext>
            </p:extLst>
          </p:nvPr>
        </p:nvGraphicFramePr>
        <p:xfrm>
          <a:off x="457419" y="2221175"/>
          <a:ext cx="11284008" cy="3715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2100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821002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2821002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21002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FFFFFF"/>
                          </a:solidFill>
                          <a:latin typeface="MiSans VF Demibold" pitchFamily="2" charset="-122"/>
                          <a:ea typeface="MiSans VF Demibold" pitchFamily="2" charset="-122"/>
                          <a:cs typeface="MiSans VF D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latin typeface="MiSans VF Demibold" pitchFamily="2" charset="-122"/>
                        <a:ea typeface="MiSans VF Demibold" pitchFamily="2" charset="-122"/>
                        <a:cs typeface="MiSans VF Demibold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FFFFFF"/>
                          </a:solidFill>
                          <a:latin typeface="MiSans VF Demibold" pitchFamily="2" charset="-122"/>
                          <a:ea typeface="MiSans VF Demibold" pitchFamily="2" charset="-122"/>
                          <a:cs typeface="MiSans VF D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latin typeface="MiSans VF Demibold" pitchFamily="2" charset="-122"/>
                        <a:ea typeface="MiSans VF Demibold" pitchFamily="2" charset="-122"/>
                        <a:cs typeface="MiSans VF Demibold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latin typeface="MiSans VF Demibold" pitchFamily="2" charset="-122"/>
                          <a:ea typeface="MiSans VF Demibold" pitchFamily="2" charset="-122"/>
                          <a:cs typeface="MiSans VF D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rgbClr val="FFFFFF"/>
                          </a:solidFill>
                          <a:latin typeface="MiSans VF Demibold" pitchFamily="2" charset="-122"/>
                          <a:ea typeface="MiSans VF Demibold" pitchFamily="2" charset="-122"/>
                          <a:cs typeface="MiSans VF D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latin typeface="MiSans VF Demibold" pitchFamily="2" charset="-122"/>
                        <a:ea typeface="MiSans VF Demibold" pitchFamily="2" charset="-122"/>
                        <a:cs typeface="MiSans VF Demibold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FFFFFF"/>
                          </a:solidFill>
                          <a:latin typeface="MiSans VF Demibold" pitchFamily="2" charset="-122"/>
                          <a:ea typeface="MiSans VF Demibold" pitchFamily="2" charset="-122"/>
                          <a:cs typeface="MiSans VF D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latin typeface="MiSans VF Demibold" pitchFamily="2" charset="-122"/>
                        <a:ea typeface="MiSans VF Demibold" pitchFamily="2" charset="-122"/>
                        <a:cs typeface="MiSans VF Demibold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>
                              <a:alpha val="9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>
                              <a:alpha val="7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chemeClr val="bg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>
                              <a:alpha val="9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>
                              <a:alpha val="7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chemeClr val="bg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>
                              <a:alpha val="9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>
                              <a:alpha val="7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chemeClr val="bg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>
                              <a:alpha val="9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>
                              <a:alpha val="7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chemeClr val="bg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19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>
                              <a:alpha val="9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CF1FF">
                              <a:alpha val="70196"/>
                            </a:srgbClr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CF1F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chemeClr val="bg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E3B8973-D882-6FDA-A093-990BBF428A83}"/>
              </a:ext>
            </a:extLst>
          </p:cNvPr>
          <p:cNvSpPr/>
          <p:nvPr/>
        </p:nvSpPr>
        <p:spPr>
          <a:xfrm>
            <a:off x="457419" y="1129238"/>
            <a:ext cx="5638581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>
              <a:lnSpc>
                <a:spcPct val="100000"/>
              </a:lnSpc>
              <a:defRPr/>
            </a:pPr>
            <a:r>
              <a:rPr lang="zh-CN" altLang="en-US" sz="3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传统方式 </a:t>
            </a:r>
            <a:r>
              <a:rPr lang="en-US" sz="3200" u="none" strike="noStrike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VS</a:t>
            </a:r>
            <a:r>
              <a:rPr lang="en-US" sz="3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 AI </a:t>
            </a:r>
            <a:r>
              <a:rPr lang="zh-CN" altLang="en-US" sz="3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3DBA8AC-2BC3-9292-8379-AFBF6AC83C78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34BBAEF4-1E9D-6188-1591-B8562471C498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D7105E7C-3A57-34E2-57CD-3CC1BCB57F97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968D146F-25BC-77AB-0D86-15742423EA6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13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D45F905C-66C1-A937-7E2B-FFD09E41870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1E26-A254-1E9F-851D-103ABFC7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BF5EA11-DE62-0843-640E-6D035347EE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F3D6A25A-0FB6-D09D-3306-1DDE6B47BF00}"/>
              </a:ext>
            </a:extLst>
          </p:cNvPr>
          <p:cNvSpPr/>
          <p:nvPr/>
        </p:nvSpPr>
        <p:spPr>
          <a:xfrm>
            <a:off x="457419" y="2005533"/>
            <a:ext cx="6723309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004</a:t>
            </a:r>
          </a:p>
          <a:p>
            <a:pPr>
              <a:lnSpc>
                <a:spcPts val="7000"/>
              </a:lnSpc>
              <a:defRPr/>
            </a:pPr>
            <a:r>
              <a:rPr lang="zh-CN" altLang="en-US" sz="6600" dirty="0">
                <a:solidFill>
                  <a:srgbClr val="FFFF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企业渗透率</a:t>
            </a:r>
            <a:endParaRPr lang="zh-CN" altLang="en-US" sz="66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BAF4C26-986E-E617-4F03-8D10F0335A1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5C38D9CC-0EC4-2A97-38DC-1B62242B3C7F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AB031DC-575A-CC08-E099-0D4EF1264550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A841B403-FEC5-923D-CED0-F0D831A8D75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14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xmlns:a16="http://schemas.microsoft.com/office/drawing/2014/main" id="{30A9ADFC-5637-7087-EA9F-2A78DB2CFA2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70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534C-BB28-FA2F-9634-18D4E7C6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260B4AE-07AF-BF2D-12C9-02C0F69D39F6}"/>
              </a:ext>
            </a:extLst>
          </p:cNvPr>
          <p:cNvSpPr/>
          <p:nvPr/>
        </p:nvSpPr>
        <p:spPr>
          <a:xfrm>
            <a:off x="0" y="0"/>
            <a:ext cx="1223489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98018E0-4785-322A-3D80-E57BCA503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651" y="-10634"/>
            <a:ext cx="5174876" cy="68974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253236FA-DB14-E6D4-FB11-6E375262B840}"/>
              </a:ext>
            </a:extLst>
          </p:cNvPr>
          <p:cNvSpPr/>
          <p:nvPr/>
        </p:nvSpPr>
        <p:spPr>
          <a:xfrm>
            <a:off x="457419" y="1129238"/>
            <a:ext cx="5799690" cy="9848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尝鲜期已过，</a:t>
            </a:r>
            <a:endParaRPr lang="en-US" altLang="zh-CN" sz="32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多职能渗透</a:t>
            </a:r>
            <a:r>
              <a:rPr lang="zh-CN" altLang="en-US" sz="3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仍在路上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896749-33C4-0C2E-36FA-2E3956177E08}"/>
              </a:ext>
            </a:extLst>
          </p:cNvPr>
          <p:cNvSpPr txBox="1"/>
          <p:nvPr/>
        </p:nvSpPr>
        <p:spPr>
          <a:xfrm>
            <a:off x="484455" y="2267387"/>
            <a:ext cx="5799689" cy="283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r>
              <a:rPr lang="en-US" altLang="zh-CN" sz="6600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DINGothic SemiBold"/>
              </a:rPr>
              <a:t>72%</a:t>
            </a:r>
            <a:br>
              <a:rPr lang="en-US" altLang="zh-CN" sz="18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</a:br>
            <a:endParaRPr lang="en-US" altLang="zh-CN" sz="18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麦肯锡 </a:t>
            </a:r>
            <a:r>
              <a:rPr lang="en-US" altLang="zh-CN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2024 </a:t>
            </a:r>
            <a:r>
              <a:rPr lang="zh-CN" altLang="en-US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年全球调研：</a:t>
            </a:r>
            <a:r>
              <a:rPr lang="en-US" altLang="zh-CN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72% </a:t>
            </a:r>
            <a:r>
              <a:rPr lang="zh-CN" altLang="en-US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受访组织已在至少一个业务职能中使用 </a:t>
            </a:r>
            <a:r>
              <a:rPr lang="en-US" altLang="zh-CN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</a:t>
            </a:r>
          </a:p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endParaRPr lang="en-US" altLang="zh-CN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r>
              <a:rPr lang="en-US" altLang="zh-CN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不再只是技术团队的工具，而正在进入营销、产品、</a:t>
            </a:r>
            <a:r>
              <a:rPr lang="en-US" altLang="zh-CN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IT</a:t>
            </a:r>
            <a:r>
              <a:rPr lang="zh-CN" altLang="en-US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、运营与管理决策等日常场景。</a:t>
            </a:r>
          </a:p>
        </p:txBody>
      </p:sp>
      <p:cxnSp>
        <p:nvCxnSpPr>
          <p:cNvPr id="14" name="Connector 7">
            <a:extLst>
              <a:ext uri="{FF2B5EF4-FFF2-40B4-BE49-F238E27FC236}">
                <a16:creationId xmlns:a16="http://schemas.microsoft.com/office/drawing/2014/main" id="{FB1225C7-4FF2-2666-A19C-A26FE666E5D5}"/>
              </a:ext>
            </a:extLst>
          </p:cNvPr>
          <p:cNvCxnSpPr>
            <a:cxnSpLocks/>
          </p:cNvCxnSpPr>
          <p:nvPr/>
        </p:nvCxnSpPr>
        <p:spPr>
          <a:xfrm>
            <a:off x="457419" y="3658703"/>
            <a:ext cx="483019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bg1">
                <a:lumMod val="85000"/>
                <a:alpha val="80000"/>
              </a:schemeClr>
            </a:solidFill>
            <a:prstDash val="solid"/>
            <a:miter lim="8000000"/>
            <a:headEnd type="none" w="med" len="med"/>
            <a:tailEnd type="none" w="med" len="med"/>
          </a:ln>
        </p:spPr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E67B4D7-D743-D05A-DCD1-F0C6AF988BA8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2" name="AutoShape 2">
              <a:extLst>
                <a:ext uri="{FF2B5EF4-FFF2-40B4-BE49-F238E27FC236}">
                  <a16:creationId xmlns:a16="http://schemas.microsoft.com/office/drawing/2014/main" id="{56D83020-C99A-47AE-71E5-D648D20D85D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5" name="AutoShape 2">
              <a:extLst>
                <a:ext uri="{FF2B5EF4-FFF2-40B4-BE49-F238E27FC236}">
                  <a16:creationId xmlns:a16="http://schemas.microsoft.com/office/drawing/2014/main" id="{5BE91331-61EA-CDCF-63FA-9F6C68B2EE45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17" name="AutoShape 2">
              <a:extLst>
                <a:ext uri="{FF2B5EF4-FFF2-40B4-BE49-F238E27FC236}">
                  <a16:creationId xmlns:a16="http://schemas.microsoft.com/office/drawing/2014/main" id="{B4911F31-C03F-EBE4-8874-7BDBAEA57A3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8" name="AutoShape 2">
            <a:extLst>
              <a:ext uri="{FF2B5EF4-FFF2-40B4-BE49-F238E27FC236}">
                <a16:creationId xmlns:a16="http://schemas.microsoft.com/office/drawing/2014/main" id="{C7B7A400-8895-2ED8-7C22-5D83FBC2F2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38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554F8F3-5B5D-C3A5-9EAF-09D56738ED95}"/>
              </a:ext>
            </a:extLst>
          </p:cNvPr>
          <p:cNvSpPr/>
          <p:nvPr/>
        </p:nvSpPr>
        <p:spPr>
          <a:xfrm>
            <a:off x="457418" y="1129238"/>
            <a:ext cx="10815827" cy="9848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AI</a:t>
            </a:r>
            <a:r>
              <a:rPr lang="zh-CN" altLang="en-US" sz="3200" dirty="0">
                <a:solidFill>
                  <a:srgbClr val="1B71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 应用</a:t>
            </a:r>
            <a:r>
              <a:rPr lang="zh-CN" altLang="en-US" sz="3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从试点，</a:t>
            </a:r>
            <a:endParaRPr lang="en-US" altLang="zh-CN" sz="32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ChillYunmoGothicBold"/>
            </a:endParaRPr>
          </a:p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YunmoGothicBold"/>
              </a:rPr>
              <a:t>进入更广泛的组织级普及阶段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65A6D6CF-CDD9-589A-4712-42D43484B610}"/>
              </a:ext>
            </a:extLst>
          </p:cNvPr>
          <p:cNvSpPr/>
          <p:nvPr/>
        </p:nvSpPr>
        <p:spPr>
          <a:xfrm>
            <a:off x="484456" y="2450553"/>
            <a:ext cx="4511614" cy="3473169"/>
          </a:xfrm>
          <a:prstGeom prst="roundRect">
            <a:avLst>
              <a:gd name="adj" fmla="val 6522"/>
            </a:avLst>
          </a:prstGeom>
          <a:gradFill>
            <a:gsLst>
              <a:gs pos="0">
                <a:srgbClr val="3F466F">
                  <a:lumMod val="90000"/>
                  <a:lumOff val="10000"/>
                  <a:alpha val="70000"/>
                </a:srgbClr>
              </a:gs>
              <a:gs pos="100000">
                <a:srgbClr val="304DB0">
                  <a:alpha val="60208"/>
                </a:srgbClr>
              </a:gs>
            </a:gsLst>
            <a:lin ang="4800000" scaled="0"/>
          </a:gra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  <a:effectLst>
            <a:outerShdw blurRad="444500" dist="101600" dir="5400000" algn="t" rotWithShape="0">
              <a:prstClr val="black">
                <a:alpha val="5000"/>
              </a:prstClr>
            </a:outerShdw>
          </a:effectLst>
        </p:spPr>
        <p:txBody>
          <a:bodyPr vert="horz" wrap="square" lIns="360000" tIns="72000" rIns="360000" bIns="180000" rtlCol="0" anchor="t" anchorCtr="0">
            <a:normAutofit/>
          </a:bodyPr>
          <a:lstStyle/>
          <a:p>
            <a:pPr algn="ctr">
              <a:buClr>
                <a:schemeClr val="bg1"/>
              </a:buClr>
              <a:defRPr/>
            </a:pPr>
            <a:endParaRPr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4" name="Connector 7">
            <a:extLst>
              <a:ext uri="{FF2B5EF4-FFF2-40B4-BE49-F238E27FC236}">
                <a16:creationId xmlns:a16="http://schemas.microsoft.com/office/drawing/2014/main" id="{4C1313C2-EB8A-C68D-A2D9-417763E0346B}"/>
              </a:ext>
            </a:extLst>
          </p:cNvPr>
          <p:cNvCxnSpPr>
            <a:cxnSpLocks/>
          </p:cNvCxnSpPr>
          <p:nvPr/>
        </p:nvCxnSpPr>
        <p:spPr>
          <a:xfrm>
            <a:off x="700697" y="3936999"/>
            <a:ext cx="388436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graphicFrame>
        <p:nvGraphicFramePr>
          <p:cNvPr id="92" name="50">
            <a:extLst>
              <a:ext uri="{FF2B5EF4-FFF2-40B4-BE49-F238E27FC236}">
                <a16:creationId xmlns:a16="http://schemas.microsoft.com/office/drawing/2014/main" id="{E7EBAEF6-AE7B-9258-0414-E554D1C11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4338442"/>
              </p:ext>
            </p:extLst>
          </p:nvPr>
        </p:nvGraphicFramePr>
        <p:xfrm>
          <a:off x="5566611" y="2450552"/>
          <a:ext cx="6140933" cy="3964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35179FF7-95AF-CBFC-F94E-5CE249B4461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6F8C7C7C-3EA0-5ECB-167D-132946CD2EC8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5D64EAB9-41E3-C26D-9C22-379A794D02AE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F4C6DAF8-DE97-9B6B-A9C1-D42484FFDD3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</a:t>
              </a: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16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xmlns:a16="http://schemas.microsoft.com/office/drawing/2014/main" id="{A47F494F-C413-44C2-6839-D824CC37B08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56B32C-73C3-D3D2-D8D8-C7DC057423C8}"/>
              </a:ext>
            </a:extLst>
          </p:cNvPr>
          <p:cNvSpPr txBox="1"/>
          <p:nvPr/>
        </p:nvSpPr>
        <p:spPr>
          <a:xfrm>
            <a:off x="687046" y="2716426"/>
            <a:ext cx="41064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ChillDINGothic SemiBold"/>
              </a:rPr>
              <a:t>88%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38B8C9-AE95-3E8F-BE1A-FD432FF81379}"/>
              </a:ext>
            </a:extLst>
          </p:cNvPr>
          <p:cNvSpPr txBox="1"/>
          <p:nvPr/>
        </p:nvSpPr>
        <p:spPr>
          <a:xfrm>
            <a:off x="751771" y="4155746"/>
            <a:ext cx="4002520" cy="1499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麦肯锡 全球调研：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2025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年，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88% 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受访组织已在至少一个业务职能中使用 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</a:t>
            </a:r>
          </a:p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endParaRPr lang="en-US" altLang="zh-CN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lnSpc>
                <a:spcPct val="133333"/>
              </a:lnSpc>
              <a:buClr>
                <a:schemeClr val="bg1"/>
              </a:buClr>
              <a:defRPr/>
            </a:pP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AI 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不再只是技术团队的工具，而正在进入营销、产品、</a:t>
            </a:r>
            <a:r>
              <a:rPr lang="en-US" altLang="zh-CN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IT</a:t>
            </a:r>
            <a:r>
              <a:rPr lang="zh-CN" altLang="en-US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、运营与管理决策等日常场景。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60E2ADF-CF25-1EC0-EDC6-CBB53C42B311}"/>
              </a:ext>
            </a:extLst>
          </p:cNvPr>
          <p:cNvSpPr/>
          <p:nvPr/>
        </p:nvSpPr>
        <p:spPr>
          <a:xfrm>
            <a:off x="1782636" y="2698611"/>
            <a:ext cx="8358712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ctr">
              <a:lnSpc>
                <a:spcPts val="7000"/>
              </a:lnSpc>
              <a:defRPr/>
            </a:pPr>
            <a:r>
              <a:rPr lang="zh-CN" altLang="en-US" sz="66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重新定义</a:t>
            </a:r>
            <a:r>
              <a:rPr lang="zh-CN" altLang="en-US" sz="6600" dirty="0">
                <a:solidFill>
                  <a:srgbClr val="A8D2FF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效率</a:t>
            </a:r>
            <a:endParaRPr lang="en-US" sz="6600" dirty="0">
              <a:solidFill>
                <a:srgbClr val="A8D2FF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FA41AA0-1A50-1A9D-6E8A-16747B61D15B}"/>
              </a:ext>
            </a:extLst>
          </p:cNvPr>
          <p:cNvSpPr/>
          <p:nvPr/>
        </p:nvSpPr>
        <p:spPr>
          <a:xfrm>
            <a:off x="2050650" y="3429000"/>
            <a:ext cx="8090698" cy="8041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altLang="zh-CN" sz="32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·</a:t>
            </a:r>
            <a:r>
              <a:rPr lang="zh-CN" altLang="en-US" sz="32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    </a:t>
            </a:r>
            <a:r>
              <a:rPr lang="en-US" altLang="zh-CN" sz="32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Thanks for Watching</a:t>
            </a:r>
            <a:r>
              <a:rPr lang="zh-CN" altLang="en-US" sz="32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    </a:t>
            </a:r>
            <a:r>
              <a:rPr lang="en-US" altLang="zh-CN" sz="3200" dirty="0">
                <a:solidFill>
                  <a:schemeClr val="bg1"/>
                </a:solidFill>
                <a:latin typeface="MiSans VF ExtraLight" pitchFamily="2" charset="-122"/>
                <a:ea typeface="MiSans VF ExtraLight" pitchFamily="2" charset="-122"/>
                <a:cs typeface="MiSans VF ExtraLight" pitchFamily="2" charset="-122"/>
                <a:sym typeface="ChillYunmoGothicBold"/>
              </a:rPr>
              <a:t>·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2178C7C-A86C-542E-4E96-F69BEE003A50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18550985-FF16-44EB-92EE-C55BF1D7DC5F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26BE7ECB-EAAB-AE09-80A0-41FC6BFB9395}"/>
                </a:ext>
              </a:extLst>
            </p:cNvPr>
            <p:cNvSpPr/>
            <p:nvPr/>
          </p:nvSpPr>
          <p:spPr>
            <a:xfrm>
              <a:off x="5640314" y="385358"/>
              <a:ext cx="911371" cy="141129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AI ​​ERA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xmlns:a16="http://schemas.microsoft.com/office/drawing/2014/main" id="{15AE1488-641E-F12A-494A-551A84886F2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A8D2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THANKS</a:t>
              </a:r>
              <a:endPara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8" name="AutoShape 2">
            <a:extLst>
              <a:ext uri="{FF2B5EF4-FFF2-40B4-BE49-F238E27FC236}">
                <a16:creationId xmlns:a16="http://schemas.microsoft.com/office/drawing/2014/main" id="{B4967EAF-3FC7-E4EE-E541-929779290F4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rgbClr val="A8D2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rgbClr val="A8D2FF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987</Words>
  <Application>Microsoft Macintosh PowerPoint</Application>
  <PresentationFormat>宽屏</PresentationFormat>
  <Paragraphs>247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MiSans VF Demibold</vt:lpstr>
      <vt:lpstr>MiSans VF ExtraLight</vt:lpstr>
      <vt:lpstr>MiSans VF Light</vt:lpstr>
      <vt:lpstr>MISANS VF MEDIUM</vt:lpstr>
      <vt:lpstr>MiSans VF Regular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16</cp:revision>
  <dcterms:created xsi:type="dcterms:W3CDTF">2026-05-27T22:16:41Z</dcterms:created>
  <dcterms:modified xsi:type="dcterms:W3CDTF">2026-06-12T10:27:27Z</dcterms:modified>
</cp:coreProperties>
</file>