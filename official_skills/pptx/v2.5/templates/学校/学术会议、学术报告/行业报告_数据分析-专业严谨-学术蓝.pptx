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A447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37-AD45-892F-FF54AECE6C18}"/>
              </c:ext>
            </c:extLst>
          </c:dPt>
          <c:dPt>
            <c:idx val="1"/>
            <c:invertIfNegative val="0"/>
            <c:bubble3D val="0"/>
            <c:spPr>
              <a:solidFill>
                <a:srgbClr val="2B64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37-AD45-892F-FF54AECE6C18}"/>
              </c:ext>
            </c:extLst>
          </c:dPt>
          <c:dPt>
            <c:idx val="2"/>
            <c:invertIfNegative val="0"/>
            <c:bubble3D val="0"/>
            <c:spPr>
              <a:solidFill>
                <a:srgbClr val="3D82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37-AD45-892F-FF54AECE6C18}"/>
              </c:ext>
            </c:extLst>
          </c:dPt>
          <c:dPt>
            <c:idx val="3"/>
            <c:invertIfNegative val="0"/>
            <c:bubble3D val="0"/>
            <c:spPr>
              <a:solidFill>
                <a:srgbClr val="5A9F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37-AD45-892F-FF54AECE6C18}"/>
              </c:ext>
            </c:extLst>
          </c:dPt>
          <c:cat>
            <c:strRef>
              <c:f>Sheet1!$A$2:$A$5</c:f>
              <c:strCache>
                <c:ptCount val="4"/>
                <c:pt idx="0">
                  <c:v>4个及以上职能</c:v>
                </c:pt>
                <c:pt idx="1">
                  <c:v>3个及以上职能</c:v>
                </c:pt>
                <c:pt idx="2">
                  <c:v>2个及以上职能</c:v>
                </c:pt>
                <c:pt idx="3">
                  <c:v>至少1个职能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27</c:v>
                </c:pt>
                <c:pt idx="2">
                  <c:v>50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37-AD45-892F-FF54AECE6C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 cap="flat">
            <a:solidFill>
              <a:srgbClr val="0F2B46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3D6E8"/>
              </a:solidFill>
              <a:prstDash val="dash"/>
              <a:round/>
            </a:ln>
          </c:spPr>
        </c:majorGridlines>
        <c:numFmt formatCode="###,###,###,###,###,###,###" sourceLinked="0"/>
        <c:majorTickMark val="out"/>
        <c:minorTickMark val="none"/>
        <c:tickLblPos val="low"/>
        <c:spPr>
          <a:ln w="6350" cap="flat">
            <a:solidFill>
              <a:srgbClr val="0F2B46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F2B46"/>
                </a:solidFill>
                <a:latin typeface="Public Sans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 b="0" i="0">
              <a:solidFill>
                <a:srgbClr val="0F2B46"/>
              </a:solidFill>
              <a:latin typeface="MiSans Normal" pitchFamily="2" charset="-122"/>
              <a:ea typeface="MiSans Normal" pitchFamily="2" charset="-122"/>
              <a:cs typeface="Public Sans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AI使用率</c:v>
                </c:pt>
              </c:strCache>
            </c:strRef>
          </c:tx>
          <c:spPr>
            <a:ln w="25400" cap="flat">
              <a:solidFill>
                <a:srgbClr val="1A447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50</c:v>
                </c:pt>
                <c:pt idx="2">
                  <c:v>55</c:v>
                </c:pt>
                <c:pt idx="3">
                  <c:v>78</c:v>
                </c:pt>
                <c:pt idx="4">
                  <c:v>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0EF-B34D-808D-143046F3F6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0F2B46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F2B46"/>
                </a:solidFill>
                <a:latin typeface="Public Sans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3D6E8"/>
              </a:solidFill>
              <a:prstDash val="dash"/>
              <a:round/>
            </a:ln>
          </c:spPr>
        </c:majorGridlines>
        <c:numFmt formatCode="###,###,###,###,###,###,###" sourceLinked="0"/>
        <c:majorTickMark val="out"/>
        <c:minorTickMark val="none"/>
        <c:tickLblPos val="nextTo"/>
        <c:spPr>
          <a:ln w="6350" cap="flat">
            <a:solidFill>
              <a:srgbClr val="0F2B46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F2B46"/>
                </a:solidFill>
                <a:latin typeface="Public Sans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 b="0" i="0">
              <a:solidFill>
                <a:srgbClr val="0F2B46"/>
              </a:solidFill>
              <a:latin typeface="MiSans" pitchFamily="2" charset="-122"/>
              <a:ea typeface="MiSans" pitchFamily="2" charset="-122"/>
              <a:cs typeface="Public Sans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15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FF9917F-0394-3C4B-E97F-C2C2B1A1F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" contras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3914" y="261257"/>
            <a:ext cx="66627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775"/>
              </a:lnSpc>
            </a:pPr>
            <a:r>
              <a:rPr lang="en-US" sz="4800" kern="0" spc="-36" dirty="0" err="1">
                <a:solidFill>
                  <a:srgbClr val="0F2B46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AI时代的高效</a:t>
            </a:r>
            <a:endParaRPr lang="en-US" sz="4800" dirty="0">
              <a:latin typeface="MiSans Semibold" pitchFamily="2" charset="-122"/>
              <a:ea typeface="MiSans Semibold" pitchFamily="2" charset="-122"/>
            </a:endParaRPr>
          </a:p>
          <a:p>
            <a:pPr algn="l">
              <a:lnSpc>
                <a:spcPts val="5775"/>
              </a:lnSpc>
            </a:pPr>
            <a:r>
              <a:rPr lang="en-US" sz="4800" kern="0" spc="-36" dirty="0">
                <a:solidFill>
                  <a:srgbClr val="0F2B46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工作方式</a:t>
            </a:r>
            <a:endParaRPr lang="en-US" sz="48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293914" y="1882691"/>
            <a:ext cx="666270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kern="0" spc="12" dirty="0">
                <a:solidFill>
                  <a:srgbClr val="0F2B46"/>
                </a:solidFill>
                <a:latin typeface="MiSans Light" pitchFamily="2" charset="-122"/>
                <a:ea typeface="MiSans Light" pitchFamily="2" charset="-122"/>
                <a:cs typeface="思源黑体" pitchFamily="34" charset="-120"/>
              </a:rPr>
              <a:t>从工具使用到流程重构，重新定义个人与组织的效率标准</a:t>
            </a:r>
            <a:endParaRPr lang="en-US" sz="1050" dirty="0">
              <a:latin typeface="MiSans Light" pitchFamily="2" charset="-122"/>
              <a:ea typeface="MiSans Light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70513" y="1794439"/>
            <a:ext cx="3659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000" kern="0" spc="-36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3</a:t>
            </a:r>
            <a:r>
              <a:rPr lang="en-US" sz="3600" kern="0" spc="-36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亿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 rot="10800000">
            <a:off x="5370512" y="2430307"/>
            <a:ext cx="3658989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370513" y="2901827"/>
            <a:ext cx="3659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3600" kern="0" spc="-36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重新定义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6" name="Shape 3"/>
          <p:cNvSpPr/>
          <p:nvPr/>
        </p:nvSpPr>
        <p:spPr>
          <a:xfrm rot="10800000">
            <a:off x="5370513" y="3537695"/>
            <a:ext cx="3658989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370513" y="4009215"/>
            <a:ext cx="3659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3600" kern="0" spc="-36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系统升级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8" name="Shape 5"/>
          <p:cNvSpPr/>
          <p:nvPr/>
        </p:nvSpPr>
        <p:spPr>
          <a:xfrm rot="10800000">
            <a:off x="5370512" y="4645083"/>
            <a:ext cx="3658989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209562" y="367224"/>
            <a:ext cx="4591038" cy="1196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思源黑体" pitchFamily="34" charset="-120"/>
              </a:rPr>
              <a:t>不是少数人的工具，而是所有人的工作方式升级</a:t>
            </a:r>
            <a:endParaRPr lang="en-US" sz="2400" dirty="0"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09562" y="3020527"/>
            <a:ext cx="2908288" cy="16505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高盛研究预计，生成式 AI 可能使相当于 3 亿个全职岗位的工作内容暴露于自动化影响之下。这并不意味着岗位消失，而是大量工作正在被重新拆解、重组与提效。</a:t>
            </a:r>
            <a:endParaRPr lang="en-US" sz="7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99887" y="1563741"/>
            <a:ext cx="352979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思源黑体" pitchFamily="34" charset="-120"/>
              </a:rPr>
              <a:t>全职岗位受影响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2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1617111"/>
            <a:ext cx="76200" cy="76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99887" y="2671137"/>
            <a:ext cx="352979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思源黑体" pitchFamily="34" charset="-120"/>
              </a:rPr>
              <a:t>工作方式变革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4" name="Image 1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2724507"/>
            <a:ext cx="76200" cy="76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99887" y="3775961"/>
            <a:ext cx="352979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思源黑体" pitchFamily="34" charset="-120"/>
              </a:rPr>
              <a:t>流程重构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6" name="Image 2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3829331"/>
            <a:ext cx="76200" cy="76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Geist" pitchFamily="34" charset="-120"/>
              </a:rPr>
              <a:t>SOURCE: GOLDMAN SACHS RESEARCH, 2023</a:t>
            </a:r>
            <a:endParaRPr lang="en-US" sz="525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" pitchFamily="2" charset="-122"/>
              <a:ea typeface="MiSans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0047" y="289974"/>
            <a:ext cx="3659163" cy="1295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 err="1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</a:rPr>
              <a:t>从工具使用到流程重构</a:t>
            </a:r>
            <a:endParaRPr lang="en-US" sz="2400" dirty="0">
              <a:solidFill>
                <a:srgbClr val="0F2B46"/>
              </a:solidFill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4" name="Image 0" descr="https://pitch-assets-ccb95893-de3f-4266-973c-20049231b248.s3.eu-west-1.amazonaws.com/852d211f-0aae-4ac4-87b5-35ddd67017dd?pitch-bytes=9989423&amp;pitch-content-type=image%2Fjpeg"/>
          <p:cNvPicPr>
            <a:picLocks noChangeAspect="1"/>
          </p:cNvPicPr>
          <p:nvPr/>
        </p:nvPicPr>
        <p:blipFill>
          <a:blip r:embed="rId3"/>
          <a:srcRect l="38489" r="243"/>
          <a:stretch/>
        </p:blipFill>
        <p:spPr>
          <a:xfrm>
            <a:off x="4239491" y="292128"/>
            <a:ext cx="4790208" cy="4399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0047" y="3452924"/>
            <a:ext cx="2700483" cy="112929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这并不意味着 3 亿个岗位会消失，而是意味着大量工作正在被重新拆解、重组与提效。从写作、检索、会议纪要，到数据分析、客户沟通、知识管理，AI 正在成为新一代通用工作基础设施。</a:t>
            </a:r>
            <a:endParaRPr lang="en-US" sz="7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9" name="Text 5"/>
          <p:cNvSpPr/>
          <p:nvPr/>
        </p:nvSpPr>
        <p:spPr>
          <a:xfrm>
            <a:off x="210047" y="2833274"/>
            <a:ext cx="270052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核心观点</a:t>
            </a:r>
            <a:endParaRPr lang="en-US" sz="9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10120" y="3072004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85EE254-C713-35F4-593A-8E69E458BA71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spc="-12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</a:t>
            </a: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EB2E06B8-CBEC-2348-63DF-20AE4E7C6543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spc="-12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61257" y="3643384"/>
            <a:ext cx="3659163" cy="1115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altLang="zh-CN" sz="900" kern="0" spc="-12" dirty="0" err="1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写作、搜索、总结、计划、学习、时间管理。重点强调个体的启动速度、信息处理速度与输出速度，让每个人都能借助</a:t>
            </a:r>
            <a:r>
              <a:rPr lang="en-US" altLang="zh-CN" sz="900" kern="0" spc="-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 AI </a:t>
            </a:r>
            <a:r>
              <a:rPr lang="en-US" altLang="zh-CN" sz="900" kern="0" spc="-12" dirty="0" err="1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提升个人生产力。写作、搜索、总结、计划、学习、时间管理。重点强调个体的启动速度、信息处理速度与输出速度，让每个人都能借助</a:t>
            </a:r>
            <a:r>
              <a:rPr lang="en-US" altLang="zh-CN" sz="900" kern="0" spc="-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 AI </a:t>
            </a:r>
            <a:r>
              <a:rPr lang="en-US" altLang="zh-CN" sz="900" kern="0" spc="-12" dirty="0" err="1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提升个人生产力</a:t>
            </a:r>
            <a:r>
              <a:rPr lang="en-US" altLang="zh-CN" sz="900" kern="0" spc="-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。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350"/>
              </a:lnSpc>
            </a:pP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61257" y="3329567"/>
            <a:ext cx="3754413" cy="0"/>
          </a:xfrm>
          <a:prstGeom prst="line">
            <a:avLst/>
          </a:prstGeom>
          <a:solidFill>
            <a:srgbClr val="F5F7FA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61257" y="3065896"/>
            <a:ext cx="383381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个人效率升级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19625" y="3643188"/>
            <a:ext cx="3659125" cy="1115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altLang="zh-CN" sz="900" kern="0" spc="-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流程自动化、知识库建设、跨部门协作、数据辅助决策。重点强调团队协同与复用能力，让组织效率实现系统性提升。流程自动化、知识库建设、跨部门协作、数据辅助决策。重点强调团队协同与复用能力，让组织效率实现系统性提升。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350"/>
              </a:lnSpc>
            </a:pP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19625" y="3329371"/>
            <a:ext cx="3640079" cy="0"/>
          </a:xfrm>
          <a:prstGeom prst="line">
            <a:avLst/>
          </a:prstGeom>
          <a:solidFill>
            <a:srgbClr val="F5F7FA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619625" y="3065700"/>
            <a:ext cx="3659163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组织效率升级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17BDEEB-E435-179B-99AC-25A7469783B5}"/>
              </a:ext>
            </a:extLst>
          </p:cNvPr>
          <p:cNvSpPr/>
          <p:nvPr/>
        </p:nvSpPr>
        <p:spPr>
          <a:xfrm>
            <a:off x="261257" y="241228"/>
            <a:ext cx="4310743" cy="93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400" dirty="0" err="1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效率升级的两个层</a:t>
            </a:r>
            <a:r>
              <a:rPr lang="zh-CN" altLang="en-US" sz="2400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面  </a:t>
            </a:r>
            <a:endParaRPr lang="en-US" altLang="zh-CN" sz="2400" dirty="0">
              <a:latin typeface="MiSans Demibold" pitchFamily="2" charset="-122"/>
              <a:ea typeface="MiSans Demibold" pitchFamily="2" charset="-122"/>
            </a:endParaRPr>
          </a:p>
          <a:p>
            <a:pPr algn="l"/>
            <a:endParaRPr lang="en-US" sz="2400" dirty="0">
              <a:solidFill>
                <a:srgbClr val="0F2B46"/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806EF21-087F-905B-F52A-CC4DB15CF266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spc="-12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</a:t>
            </a: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A959505-CEE7-B940-DB5D-95A5541E232F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spc="-12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121400" y="1688172"/>
            <a:ext cx="2908300" cy="3122013"/>
          </a:xfrm>
          <a:prstGeom prst="roundRect">
            <a:avLst>
              <a:gd name="adj" fmla="val -31441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14300" y="1688172"/>
            <a:ext cx="2908300" cy="3122013"/>
          </a:xfrm>
          <a:prstGeom prst="roundRect">
            <a:avLst>
              <a:gd name="adj" fmla="val -31441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09652" y="2975552"/>
            <a:ext cx="2592325" cy="1589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575"/>
              </a:lnSpc>
            </a:pPr>
            <a:r>
              <a:rPr lang="en-US" sz="900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判断哪些工作适合交给 AI：重复性高、规则明确、信息密集、反馈周期短。识别这些特征是有效应用 AI 的第一步。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8209" y="2041088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347231" y="1802358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01 任务识别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9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9652" y="1855690"/>
            <a:ext cx="76200" cy="76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17850" y="1688172"/>
            <a:ext cx="2908300" cy="3122013"/>
          </a:xfrm>
          <a:prstGeom prst="roundRect">
            <a:avLst>
              <a:gd name="adj" fmla="val -31441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3213202" y="2975552"/>
            <a:ext cx="2592325" cy="1589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575"/>
              </a:lnSpc>
            </a:pPr>
            <a:r>
              <a:rPr lang="en-US" sz="900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让 AI 参与搜索、分析、生成、复盘，把工具嵌入真实工作流，而不是停留在尝鲜阶段，实现真正的效率提升。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221759" y="2041088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3350781" y="1802358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02 工具协作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1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3202" y="1855690"/>
            <a:ext cx="76200" cy="76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4331" y="1802358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03 流程沉淀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6" name="Image 2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16752" y="1855690"/>
            <a:ext cx="76200" cy="76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6752" y="2975552"/>
            <a:ext cx="2639541" cy="1589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575"/>
              </a:lnSpc>
            </a:pPr>
            <a:r>
              <a:rPr lang="en-US" sz="900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把一次性提效变成可复用 SOP，让团队能够复制、训练、优化并持续迭代，形成组织级的 AI 能力。让团队能够复制形成组织级的 AI 能力。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225309" y="2041088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7CAE222-7DC1-EB96-7C6D-A7B2DCDE2F58}"/>
              </a:ext>
            </a:extLst>
          </p:cNvPr>
          <p:cNvSpPr/>
          <p:nvPr/>
        </p:nvSpPr>
        <p:spPr>
          <a:xfrm>
            <a:off x="209652" y="247753"/>
            <a:ext cx="4077535" cy="75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400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</a:rPr>
              <a:t>AI </a:t>
            </a:r>
            <a:r>
              <a:rPr lang="en-US" altLang="zh-CN" sz="2400" dirty="0" err="1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</a:rPr>
              <a:t>提效的三个关键步骤</a:t>
            </a:r>
            <a:r>
              <a:rPr lang="zh-CN" altLang="en-US" sz="2400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</a:rPr>
              <a:t> </a:t>
            </a:r>
            <a:endParaRPr lang="en-US" altLang="zh-CN" sz="2400" dirty="0">
              <a:solidFill>
                <a:srgbClr val="0F2B46"/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9EAB6E73-86F1-2AED-34D3-07788EF31C06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2B23C695-43E9-2ACE-4FE9-68B2E5F26E36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846810" y="3670150"/>
            <a:ext cx="3266412" cy="1252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13"/>
              </a:lnSpc>
            </a:pPr>
            <a:r>
              <a:rPr lang="en-US" sz="800" b="1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01 提升个人效率</a:t>
            </a:r>
            <a:endParaRPr lang="en-US" sz="750" b="1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313"/>
              </a:lnSpc>
            </a:pPr>
            <a:r>
              <a:rPr lang="en-US" sz="800" dirty="0" err="1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写作、搜索、总结、计划、学习、时间管理。重点强调个体的启动速度、输出速度，让每个人都能借助AI提升个人生产力</a:t>
            </a: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。</a:t>
            </a:r>
          </a:p>
          <a:p>
            <a:pPr algn="l">
              <a:lnSpc>
                <a:spcPts val="1313"/>
              </a:lnSpc>
            </a:pPr>
            <a:endParaRPr lang="en-US" sz="750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413"/>
              </a:lnSpc>
            </a:pPr>
            <a:r>
              <a:rPr lang="en-US" sz="800" b="1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02 组织效率升级</a:t>
            </a:r>
            <a:endParaRPr lang="en-US" sz="750" b="1" dirty="0">
              <a:latin typeface="MiSans Normal" pitchFamily="2" charset="-122"/>
              <a:ea typeface="MiSans Normal" pitchFamily="2" charset="-122"/>
            </a:endParaRPr>
          </a:p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流程自动化、知识库建设、跨部门协作、数据辅助决策。重点强调团队协同与复用能力，让组织效率实现系统性提升。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t="6250" b="6250"/>
          <a:stretch/>
        </p:blipFill>
        <p:spPr>
          <a:xfrm>
            <a:off x="114300" y="114300"/>
            <a:ext cx="8915400" cy="33432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70513" y="4922527"/>
            <a:ext cx="2157412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2902F2B-EE5F-3BFA-0A02-442C58C6F7C4}"/>
              </a:ext>
            </a:extLst>
          </p:cNvPr>
          <p:cNvSpPr/>
          <p:nvPr/>
        </p:nvSpPr>
        <p:spPr>
          <a:xfrm>
            <a:off x="114300" y="3670150"/>
            <a:ext cx="4182891" cy="37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400" dirty="0" err="1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效率升级的两个层面</a:t>
            </a:r>
            <a:r>
              <a:rPr lang="zh-CN" altLang="en-US" sz="2400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 </a:t>
            </a:r>
            <a:endParaRPr lang="en-US" altLang="zh-CN" sz="2400" dirty="0">
              <a:solidFill>
                <a:srgbClr val="0F2B46"/>
              </a:solidFill>
              <a:latin typeface="MiSans Demibold" pitchFamily="2" charset="-122"/>
              <a:ea typeface="MiSans Demibold" pitchFamily="2" charset="-122"/>
              <a:cs typeface="Geist" pitchFamily="34" charset="-120"/>
            </a:endParaRPr>
          </a:p>
          <a:p>
            <a:pPr algn="l"/>
            <a:endParaRPr lang="en-US" sz="2400" dirty="0">
              <a:solidFill>
                <a:srgbClr val="0F2B46"/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4B12CB2C-C984-9792-4DEF-2C8C37BC1541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2C03B4F7-B980-A894-F228-FD72E5A32F01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121400" y="1649520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121400" y="3290203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14300" y="1649520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09652" y="2268287"/>
            <a:ext cx="259232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从空白页到初稿，降低启动成本。AI </a:t>
            </a:r>
            <a:r>
              <a:rPr lang="en-US" sz="800" dirty="0" err="1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帮助快速生成文案初稿，让创作者专注于优化与打磨。从空白页到初稿，降低启动成本</a:t>
            </a: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8209" y="2002436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9652" y="1817039"/>
            <a:ext cx="76200" cy="7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4300" y="3290203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209652" y="3908970"/>
            <a:ext cx="259232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拆解任务、生成计划、追踪风险与复盘结果。让项目管理更加精细化和数据驱动。拆解任务、生成计划、追踪风险与复盘结果。让项目管理更加精细化和数据驱动。拆解任务、生成计划、追踪风险与复盘结果。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18209" y="3643119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347231" y="3404389"/>
            <a:ext cx="2571341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04 项目管理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3" name="Image 1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9652" y="3457721"/>
            <a:ext cx="76200" cy="76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117850" y="1649520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3213202" y="2268287"/>
            <a:ext cx="259232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从表格与文本中提炼趋势、异常和洞察。AI 让数据分析不再是专业人员的专属技能。从表格与文本中提炼趋势、异常和洞察。AI </a:t>
            </a:r>
            <a:r>
              <a:rPr lang="en-US" sz="800" dirty="0" err="1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让数据分析不再是专业人员的专属技能。从表格与文本中提炼趋势、异常和洞察</a:t>
            </a: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221759" y="2002436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3350781" y="1763706"/>
            <a:ext cx="2571341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02 数据分析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8" name="Image 2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3202" y="1817039"/>
            <a:ext cx="76200" cy="76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17850" y="3290203"/>
            <a:ext cx="2908300" cy="1524408"/>
          </a:xfrm>
          <a:prstGeom prst="roundRect">
            <a:avLst>
              <a:gd name="adj" fmla="val -59984"/>
            </a:avLst>
          </a:prstGeom>
          <a:solidFill>
            <a:srgbClr val="CFE2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3213202" y="3908970"/>
            <a:ext cx="259232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把分散文档、会议与经验整理成可检索资产。让组织知识不再依赖个人记忆。把分散文档、会议与经验整理成可检索资产。让组织知识不再依赖个人记忆。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3221759" y="3643119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6"/>
          <p:cNvSpPr/>
          <p:nvPr/>
        </p:nvSpPr>
        <p:spPr>
          <a:xfrm>
            <a:off x="3350781" y="3404389"/>
            <a:ext cx="2571304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05 知识沉淀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3" name="Image 3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3202" y="3457721"/>
            <a:ext cx="76200" cy="76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54331" y="1763706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03 客户沟通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5" name="Image 4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16752" y="1817039"/>
            <a:ext cx="76200" cy="76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54331" y="3404389"/>
            <a:ext cx="2571341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06 个人学习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7" name="Image 5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16752" y="3457721"/>
            <a:ext cx="76200" cy="76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16752" y="2268287"/>
            <a:ext cx="2592326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 err="1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辅助撰写回复、FAQ、跟进记录与服务摘要。提升客户服务效率与响应速度。辅助撰写回复、FAQ、跟进记录与服务摘要</a:t>
            </a: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6225309" y="2002436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1"/>
          <p:cNvSpPr/>
          <p:nvPr/>
        </p:nvSpPr>
        <p:spPr>
          <a:xfrm>
            <a:off x="6216752" y="3908970"/>
            <a:ext cx="2592326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生成学习路径、解释概念、模拟练习与复盘。让每个人都能拥有个性化的学习助手。生成学习路径、解释概念、模拟练习与复盘。让每个人都能拥有个性化的学习助手。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6225309" y="3643119"/>
            <a:ext cx="2700483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35" name="Text 26"/>
          <p:cNvSpPr/>
          <p:nvPr/>
        </p:nvSpPr>
        <p:spPr>
          <a:xfrm>
            <a:off x="114300" y="240306"/>
            <a:ext cx="5911850" cy="856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zh-CN" altLang="en-US" sz="2400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 </a:t>
            </a:r>
            <a:r>
              <a:rPr lang="en-US" sz="2400" dirty="0" err="1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AI的六大应用场景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347472" y="1763706"/>
            <a:ext cx="257145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Geist Mono" pitchFamily="34" charset="-120"/>
              </a:rPr>
              <a:t>01 内容生成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D861389C-55B8-0227-7EA7-9C9E4AA88235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868A822-C616-02C9-3945-5CC629C50663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48328"/>
              </p:ext>
            </p:extLst>
          </p:nvPr>
        </p:nvGraphicFramePr>
        <p:xfrm>
          <a:off x="1380744" y="1370316"/>
          <a:ext cx="6341976" cy="2345798"/>
        </p:xfrm>
        <a:graphic>
          <a:graphicData uri="http://schemas.openxmlformats.org/drawingml/2006/table">
            <a:tbl>
              <a:tblPr/>
              <a:tblGrid>
                <a:gridCol w="1585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998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CFE2F0"/>
                          </a:solidFill>
                          <a:latin typeface="Microsoft YaHei Light" panose="020B0503020204020204" pitchFamily="34" charset="-122"/>
                          <a:ea typeface="Microsoft YaHei Light" panose="020B0503020204020204" pitchFamily="34" charset="-122"/>
                          <a:cs typeface="思源黑体" pitchFamily="34" charset="-120"/>
                        </a:rPr>
                        <a:t>场景</a:t>
                      </a:r>
                      <a:endParaRPr lang="en-US" sz="900" b="0" i="0" dirty="0">
                        <a:latin typeface="Microsoft YaHei Light" panose="020B0503020204020204" pitchFamily="34" charset="-122"/>
                        <a:ea typeface="Microsoft YaHei Light" panose="020B0503020204020204" pitchFamily="34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CFE2F0"/>
                          </a:solidFill>
                          <a:latin typeface="Microsoft YaHei Light" panose="020B0503020204020204" pitchFamily="34" charset="-122"/>
                          <a:ea typeface="Microsoft YaHei Light" panose="020B0503020204020204" pitchFamily="34" charset="-122"/>
                          <a:cs typeface="思源黑体" pitchFamily="34" charset="-120"/>
                        </a:rPr>
                        <a:t>传统方式</a:t>
                      </a:r>
                      <a:endParaRPr lang="en-US" sz="900" b="0" i="0" dirty="0">
                        <a:latin typeface="Microsoft YaHei Light" panose="020B0503020204020204" pitchFamily="34" charset="-122"/>
                        <a:ea typeface="Microsoft YaHei Light" panose="020B0503020204020204" pitchFamily="34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CFE2F0"/>
                          </a:solidFill>
                          <a:latin typeface="Microsoft YaHei Light" panose="020B0503020204020204" pitchFamily="34" charset="-122"/>
                          <a:ea typeface="Microsoft YaHei Light" panose="020B0503020204020204" pitchFamily="34" charset="-122"/>
                          <a:cs typeface="思源黑体" pitchFamily="34" charset="-120"/>
                        </a:rPr>
                        <a:t>AI 辅助方式</a:t>
                      </a:r>
                      <a:endParaRPr lang="en-US" sz="900" b="0" i="0" dirty="0">
                        <a:latin typeface="Microsoft YaHei Light" panose="020B0503020204020204" pitchFamily="34" charset="-122"/>
                        <a:ea typeface="Microsoft YaHei Light" panose="020B0503020204020204" pitchFamily="34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CFE2F0"/>
                          </a:solidFill>
                          <a:latin typeface="Microsoft YaHei Light" panose="020B0503020204020204" pitchFamily="34" charset="-122"/>
                          <a:ea typeface="Microsoft YaHei Light" panose="020B0503020204020204" pitchFamily="34" charset="-122"/>
                          <a:cs typeface="思源黑体" pitchFamily="34" charset="-120"/>
                        </a:rPr>
                        <a:t>提效价值</a:t>
                      </a:r>
                      <a:endParaRPr lang="en-US" sz="900" b="0" i="0" dirty="0">
                        <a:latin typeface="Microsoft YaHei Light" panose="020B0503020204020204" pitchFamily="34" charset="-122"/>
                        <a:ea typeface="Microsoft YaHei Light" panose="020B0503020204020204" pitchFamily="34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会议纪要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人工记录整理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自动转写与摘要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节省整理时间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市场调研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手动搜索资料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快速汇总多来源信息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提升信息密度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文案撰写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从零起草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先生成初稿再修改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降低启动成本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数据分析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手动筛选图表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自动提炼趋势与异常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辅助判断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6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知识管理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依赖个人经验查找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知识库问答与自动归档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i="0" dirty="0">
                          <a:solidFill>
                            <a:srgbClr val="0F2B46"/>
                          </a:solidFill>
                          <a:latin typeface="MiSans Normal" pitchFamily="2" charset="-122"/>
                          <a:ea typeface="MiSans Normal" pitchFamily="2" charset="-122"/>
                          <a:cs typeface="思源黑体" pitchFamily="34" charset="-120"/>
                        </a:rPr>
                        <a:t>提高复用率</a:t>
                      </a:r>
                      <a:endParaRPr lang="en-US" sz="900" b="0" i="0" dirty="0">
                        <a:latin typeface="MiSans Normal" pitchFamily="2" charset="-122"/>
                        <a:ea typeface="MiSans Normal" pitchFamily="2" charset="-122"/>
                        <a:cs typeface="思源黑体" charset="0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2B46">
                          <a:alpha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384473" y="4113603"/>
            <a:ext cx="638175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080"/>
              </a:lnSpc>
            </a:pPr>
            <a:r>
              <a:rPr lang="en-US" sz="700" kern="0" spc="-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通过 AI 辅助，各场景均可实现显著效率提升</a:t>
            </a:r>
            <a:endParaRPr lang="en-US" sz="675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80744" y="163903"/>
            <a:ext cx="6341976" cy="47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4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传统方式 VS AI 辅助方式</a:t>
            </a:r>
            <a:endParaRPr lang="en-US" sz="13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D6E4F3D6-A01C-C07B-189B-E387D1CDDF7A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D1D583B4-7970-7AEC-20A0-B1AF29C99E81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300" y="114300"/>
            <a:ext cx="4037729" cy="4723440"/>
          </a:xfrm>
          <a:prstGeom prst="roundRect">
            <a:avLst>
              <a:gd name="adj" fmla="val -22646"/>
            </a:avLst>
          </a:prstGeom>
          <a:solidFill>
            <a:srgbClr val="CFE2F0"/>
          </a:solidFill>
          <a:ln/>
        </p:spPr>
        <p:txBody>
          <a:bodyPr wrap="square" lIns="224318" tIns="557628" rIns="224318" bIns="557628" rtlCol="0" anchor="ctr"/>
          <a:lstStyle/>
          <a:p>
            <a:pPr algn="ctr">
              <a:lnSpc>
                <a:spcPts val="1313"/>
              </a:lnSpc>
            </a:pP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571999" y="184269"/>
            <a:ext cx="4037729" cy="41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AI 已进入主流工作流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0" y="758518"/>
            <a:ext cx="3208714" cy="155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麦肯锡全球调研显示，72% 的受访组织已在至少一个业务职能中使用 AI。AI 不再只是技术团队的工具，而正在进入营销、产品、IT、运营与管理决策等日常工作场景。AI 采用已经过了尝鲜期，但真正深入多职能协同的组织还在少数。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640815592"/>
              </p:ext>
            </p:extLst>
          </p:nvPr>
        </p:nvGraphicFramePr>
        <p:xfrm>
          <a:off x="565356" y="1041835"/>
          <a:ext cx="3208131" cy="305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324718" y="179418"/>
            <a:ext cx="3276600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ADOPTION DEPTH / 采用深度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8" name="Shape 4"/>
          <p:cNvSpPr/>
          <p:nvPr/>
        </p:nvSpPr>
        <p:spPr>
          <a:xfrm rot="10800000">
            <a:off x="207279" y="411998"/>
            <a:ext cx="3818906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5344" y="232788"/>
            <a:ext cx="76200" cy="76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59EBB553-583F-DD6D-04F1-55B9FCBEE7BB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D241E80-FDCC-44BF-DF54-751F44182B5A}"/>
              </a:ext>
            </a:extLst>
          </p:cNvPr>
          <p:cNvSpPr/>
          <p:nvPr/>
        </p:nvSpPr>
        <p:spPr>
          <a:xfrm>
            <a:off x="4619549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SOURCE: GOLDMAN SACHS RESEARCH, 2023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BBCFA52-F13E-F411-08CC-25B35A9BA9DE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思源黑体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5" name="Text 2"/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300" y="114300"/>
            <a:ext cx="4037729" cy="4723440"/>
          </a:xfrm>
          <a:prstGeom prst="roundRect">
            <a:avLst>
              <a:gd name="adj" fmla="val -22646"/>
            </a:avLst>
          </a:prstGeom>
          <a:solidFill>
            <a:srgbClr val="CFE2F0"/>
          </a:solidFill>
          <a:ln/>
        </p:spPr>
        <p:txBody>
          <a:bodyPr wrap="square" lIns="224318" tIns="557628" rIns="224318" bIns="557628" rtlCol="0" anchor="ctr"/>
          <a:lstStyle/>
          <a:p>
            <a:pPr algn="ctr">
              <a:lnSpc>
                <a:spcPts val="1313"/>
              </a:lnSpc>
            </a:pP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 rot="10800000">
            <a:off x="207279" y="411998"/>
            <a:ext cx="3818906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344" y="232788"/>
            <a:ext cx="76200" cy="76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232788"/>
            <a:ext cx="3657600" cy="40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AI 使用率加速上升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23850" y="180975"/>
            <a:ext cx="3276600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2021-2025 年趋势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1940640830"/>
              </p:ext>
            </p:extLst>
          </p:nvPr>
        </p:nvGraphicFramePr>
        <p:xfrm>
          <a:off x="887730" y="1348740"/>
          <a:ext cx="2888933" cy="2446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7"/>
          <p:cNvSpPr/>
          <p:nvPr/>
        </p:nvSpPr>
        <p:spPr>
          <a:xfrm>
            <a:off x="4572000" y="737298"/>
            <a:ext cx="3657600" cy="61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到 2025 年，88% 的受访组织表示已在至少一个业务职能中常规使用 AI。AI 采用不再是线性增长，而是在 2023 年后明显提速。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572000" y="2098752"/>
            <a:ext cx="3657600" cy="69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500" kern="0" spc="-36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Geist" pitchFamily="34" charset="-120"/>
              </a:rPr>
              <a:t>88%</a:t>
            </a:r>
            <a:endParaRPr lang="en-US" sz="45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572988" y="2853278"/>
            <a:ext cx="3657600" cy="61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13"/>
              </a:lnSpc>
            </a:pPr>
            <a:r>
              <a:rPr lang="en-US" sz="800" dirty="0">
                <a:solidFill>
                  <a:srgbClr val="0F2B46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采用率提升不等于价值兑现，真正的差距在于是否把 AI 嵌入核心工作流。生成式 AI 正在推动组织采用进入新阶段。</a:t>
            </a:r>
            <a:endParaRPr lang="en-US" sz="7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572000" y="4922526"/>
            <a:ext cx="36576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SOURCE: MCKINSEY GLOBAL SURVEY ON THE STATE OF AI, 2017-2025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9B1C5E42-8CB3-C224-1357-C615652ECD80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4044" y="307872"/>
            <a:ext cx="3965442" cy="95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四个关键洞察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194045" y="3214078"/>
            <a:ext cx="1712826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采用加速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4367" y="3624292"/>
            <a:ext cx="1712458" cy="113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kern="0" spc="-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AI 使用率在 2023 年后明显加速，说明生成式 AI 正在推动组织采用进入新阶段。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Shape 3"/>
          <p:cNvSpPr/>
          <p:nvPr/>
        </p:nvSpPr>
        <p:spPr>
          <a:xfrm rot="5400000">
            <a:off x="-940857" y="3700116"/>
            <a:ext cx="2115076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94044" y="2619375"/>
            <a:ext cx="1326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500" b="0" kern="0" spc="-36" dirty="0">
                <a:solidFill>
                  <a:srgbClr val="CFE2F0"/>
                </a:solidFill>
                <a:latin typeface="TCloud Number" pitchFamily="2" charset="0"/>
                <a:ea typeface="FontName" panose="02010600010101010101" pitchFamily="2" charset="-122"/>
                <a:cs typeface="Noto Sans" pitchFamily="34" charset="-120"/>
              </a:rPr>
              <a:t>01</a:t>
            </a:r>
            <a:endParaRPr lang="en-US" sz="4500" dirty="0">
              <a:latin typeface="TCloud Number" pitchFamily="2" charset="0"/>
              <a:ea typeface="FontName" panose="02010600010101010101" pitchFamily="2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46708" y="3214078"/>
            <a:ext cx="171278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价值兑现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2447030" y="3647495"/>
            <a:ext cx="1712458" cy="113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kern="0" spc="-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采用率提升不等于价值兑现，真正的差距在于是否把 AI 嵌入核心工作流。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Shape 7"/>
          <p:cNvSpPr/>
          <p:nvPr/>
        </p:nvSpPr>
        <p:spPr>
          <a:xfrm rot="5400000">
            <a:off x="1311806" y="3726134"/>
            <a:ext cx="2115076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446706" y="2642578"/>
            <a:ext cx="1326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500" b="0" kern="0" spc="-36" dirty="0">
                <a:solidFill>
                  <a:srgbClr val="CFE2F0"/>
                </a:solidFill>
                <a:latin typeface="TCloud Number" pitchFamily="2" charset="0"/>
                <a:ea typeface="FontName" panose="02010600010101010101" pitchFamily="2" charset="-122"/>
                <a:cs typeface="Noto Sans" pitchFamily="34" charset="-120"/>
              </a:rPr>
              <a:t>02</a:t>
            </a:r>
            <a:endParaRPr lang="en-US" sz="4500" dirty="0">
              <a:latin typeface="TCloud Number" pitchFamily="2" charset="0"/>
              <a:ea typeface="FontName" panose="02010600010101010101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99370" y="3214078"/>
            <a:ext cx="171278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流程重构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99692" y="3624349"/>
            <a:ext cx="1712458" cy="113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kern="0" spc="-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从单点工具到跨职能协作，AI 的价值正在从“个人提效”转向“流程重构”。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 rot="5400000">
            <a:off x="3564468" y="3700180"/>
            <a:ext cx="2115076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699369" y="2619432"/>
            <a:ext cx="1326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500" b="0" kern="0" spc="-36" dirty="0">
                <a:solidFill>
                  <a:srgbClr val="CFE2F0"/>
                </a:solidFill>
                <a:latin typeface="TCloud Number" pitchFamily="2" charset="0"/>
                <a:ea typeface="FontName" panose="02010600010101010101" pitchFamily="2" charset="-122"/>
                <a:cs typeface="Noto Sans" pitchFamily="34" charset="-120"/>
              </a:rPr>
              <a:t>03</a:t>
            </a:r>
            <a:endParaRPr lang="en-US" sz="4500" dirty="0">
              <a:latin typeface="TCloud Number" pitchFamily="2" charset="0"/>
              <a:ea typeface="FontName" panose="02010600010101010101" pitchFamily="2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52033" y="3214078"/>
            <a:ext cx="171278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竞争重点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952355" y="3624349"/>
            <a:ext cx="1712458" cy="11360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350"/>
              </a:lnSpc>
            </a:pPr>
            <a:r>
              <a:rPr lang="en-US" sz="900" kern="0" spc="-12" dirty="0">
                <a:solidFill>
                  <a:srgbClr val="FFFFFF"/>
                </a:solidFill>
                <a:latin typeface="MiSans Normal" pitchFamily="2" charset="-122"/>
                <a:ea typeface="MiSans Normal" pitchFamily="2" charset="-122"/>
                <a:cs typeface="思源黑体" pitchFamily="34" charset="-120"/>
              </a:rPr>
              <a:t>下一阶段的竞争重点，不是谁先使用 AI，而是谁能更快完成规模化落地。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 rot="5400000">
            <a:off x="5817131" y="3700180"/>
            <a:ext cx="2115076" cy="0"/>
          </a:xfrm>
          <a:prstGeom prst="line">
            <a:avLst/>
          </a:prstGeom>
          <a:solidFill>
            <a:srgbClr val="CFE2F0"/>
          </a:solidFill>
          <a:ln w="5292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952031" y="2619432"/>
            <a:ext cx="1326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050"/>
              </a:lnSpc>
            </a:pPr>
            <a:r>
              <a:rPr lang="en-US" sz="4500" b="0" kern="0" spc="-36" dirty="0">
                <a:solidFill>
                  <a:srgbClr val="CFE2F0"/>
                </a:solidFill>
                <a:latin typeface="TCloud Number" pitchFamily="2" charset="0"/>
                <a:ea typeface="FontName" panose="02010600010101010101" pitchFamily="2" charset="-122"/>
                <a:cs typeface="Noto Sans" pitchFamily="34" charset="-120"/>
              </a:rPr>
              <a:t>04</a:t>
            </a:r>
            <a:endParaRPr lang="en-US" sz="4500" dirty="0">
              <a:latin typeface="TCloud Number" pitchFamily="2" charset="0"/>
              <a:ea typeface="FontName" panose="02010600010101010101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FFFFFF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00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2" name="Text 19"/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FFFFFF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2026-06-01</a:t>
            </a:r>
            <a:endParaRPr lang="en-US" sz="500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t="4409" b="4409"/>
          <a:stretch/>
        </p:blipFill>
        <p:spPr>
          <a:xfrm>
            <a:off x="3868737" y="114300"/>
            <a:ext cx="5160963" cy="470588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9575" y="218208"/>
            <a:ext cx="2908287" cy="116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效率提升的本质</a:t>
            </a:r>
            <a:endParaRPr lang="en-US" sz="24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209574" y="3688776"/>
            <a:ext cx="2908288" cy="104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lang="en-US" sz="800" kern="0" spc="-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效率提升不只是用了什么工具，而是任务拆解、工具协作、流程沉淀的系统升级。AI 不只是提高单点任务效率，而是在改变个人、团队与组织的工作方式。</a:t>
            </a:r>
            <a:endParaRPr lang="en-US" sz="7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209574" y="3104459"/>
            <a:ext cx="2908288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" pitchFamily="2" charset="-122"/>
                <a:ea typeface="MiSans" pitchFamily="2" charset="-122"/>
                <a:cs typeface="思源黑体" pitchFamily="34" charset="-120"/>
              </a:rPr>
              <a:t>核心观点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09647" y="3343189"/>
            <a:ext cx="2909159" cy="0"/>
          </a:xfrm>
          <a:prstGeom prst="line">
            <a:avLst/>
          </a:prstGeom>
          <a:solidFill>
            <a:srgbClr val="F5F7FA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5370513" y="4922527"/>
            <a:ext cx="2157413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E93AC5C-91C6-E1EF-F5B4-CD0B4CB5BE43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E2BAF4E-1E95-7485-529B-509921C6DB20}"/>
              </a:ext>
            </a:extLst>
          </p:cNvPr>
          <p:cNvSpPr/>
          <p:nvPr/>
        </p:nvSpPr>
        <p:spPr>
          <a:xfrm>
            <a:off x="3870326" y="4922526"/>
            <a:ext cx="36576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SOURCE: MCKINSEY GLOBAL SURVEY ON THE STATE OF AI, 2017-2025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DF4FCA6-81BF-9960-5351-2C1DE8089E41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6838" y="2428295"/>
            <a:ext cx="7505503" cy="2334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225"/>
              </a:lnSpc>
            </a:pPr>
            <a:r>
              <a:rPr lang="en-US" sz="4500" dirty="0" err="1">
                <a:solidFill>
                  <a:srgbClr val="CFE2F0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从工具使用到流程</a:t>
            </a:r>
            <a:r>
              <a:rPr lang="en-US" altLang="zh-CN" sz="4500" dirty="0" err="1">
                <a:solidFill>
                  <a:srgbClr val="CFE2F0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重构重新定重构重新定</a:t>
            </a:r>
            <a:r>
              <a:rPr lang="en-US" sz="4500" dirty="0" err="1">
                <a:solidFill>
                  <a:srgbClr val="CFE2F0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义个人与组织的效率标准</a:t>
            </a:r>
            <a:r>
              <a:rPr lang="en-US" sz="4500" dirty="0">
                <a:solidFill>
                  <a:srgbClr val="CFE2F0"/>
                </a:solidFill>
                <a:latin typeface="MiSans Semibold" pitchFamily="2" charset="-122"/>
                <a:ea typeface="MiSans Semibold" pitchFamily="2" charset="-122"/>
                <a:cs typeface="思源黑体" pitchFamily="34" charset="-120"/>
              </a:rPr>
              <a:t>.</a:t>
            </a:r>
            <a:endParaRPr lang="en-US" sz="45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414417" y="2085396"/>
            <a:ext cx="6342906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FFFFFF"/>
                </a:solidFill>
                <a:latin typeface="MiSans" pitchFamily="2" charset="-122"/>
                <a:ea typeface="MiSans" pitchFamily="2" charset="-122"/>
                <a:cs typeface="Geist Mono" pitchFamily="34" charset="-120"/>
              </a:rPr>
              <a:t>– AI 时代的高效工作方式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235578" y="223024"/>
            <a:ext cx="242521" cy="662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6075"/>
              </a:lnSpc>
            </a:pPr>
            <a:r>
              <a:rPr lang="en-US" sz="6800" b="0" kern="0" spc="-36" dirty="0">
                <a:solidFill>
                  <a:srgbClr val="CFE2F0"/>
                </a:solidFill>
                <a:latin typeface="FontName" panose="02010600010101010101" pitchFamily="2" charset="-122"/>
                <a:ea typeface="FontName" panose="02010600010101010101" pitchFamily="2" charset="-122"/>
                <a:cs typeface="Geist" pitchFamily="34" charset="-120"/>
              </a:rPr>
              <a:t>“</a:t>
            </a:r>
            <a:endParaRPr lang="en-US" sz="6750" dirty="0">
              <a:latin typeface="FontName" panose="02010600010101010101" pitchFamily="2" charset="-122"/>
              <a:ea typeface="FontName" panose="02010600010101010101" pitchFamily="2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70513" y="4922527"/>
            <a:ext cx="2157412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17">
            <a:extLst>
              <a:ext uri="{FF2B5EF4-FFF2-40B4-BE49-F238E27FC236}">
                <a16:creationId xmlns:a16="http://schemas.microsoft.com/office/drawing/2014/main" id="{0B0992C1-5A96-AF8C-7480-6FF541980F4B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FFFFFF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AI时代的高效工作方式</a:t>
            </a:r>
            <a:endParaRPr lang="en-US" sz="500" dirty="0">
              <a:latin typeface="MiSans ExtraLight" pitchFamily="2" charset="-122"/>
              <a:ea typeface="MiSans ExtraLight" pitchFamily="2" charset="-122"/>
            </a:endParaRPr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F8ADCA64-2724-63F3-1F5F-54A1205D2525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FFFFFF"/>
                </a:solidFill>
                <a:latin typeface="MiSans ExtraLight" pitchFamily="2" charset="-122"/>
                <a:ea typeface="MiSans ExtraLight" pitchFamily="2" charset="-122"/>
                <a:cs typeface="Geist" pitchFamily="34" charset="-120"/>
              </a:rPr>
              <a:t>2026-06-01</a:t>
            </a:r>
            <a:endParaRPr lang="en-US" sz="500" dirty="0">
              <a:latin typeface="MiSans ExtraLight" pitchFamily="2" charset="-122"/>
              <a:ea typeface="MiSans ExtraLight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FE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70513" y="238404"/>
            <a:ext cx="2911555" cy="138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3200" kern="0" spc="-36" dirty="0" err="1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感谢聆听</a:t>
            </a:r>
            <a:endParaRPr lang="en-US" sz="3200" kern="0" spc="-36" dirty="0">
              <a:solidFill>
                <a:srgbClr val="0F2B46"/>
              </a:solidFill>
              <a:latin typeface="MiSans Demibold" pitchFamily="2" charset="-122"/>
              <a:ea typeface="MiSans Demibold" pitchFamily="2" charset="-122"/>
              <a:cs typeface="思源黑体" pitchFamily="34" charset="-120"/>
            </a:endParaRPr>
          </a:p>
          <a:p>
            <a:pPr algn="l"/>
            <a:r>
              <a:rPr lang="en-US" sz="3200" kern="0" spc="-36" dirty="0" err="1">
                <a:solidFill>
                  <a:srgbClr val="0F2B46"/>
                </a:solidFill>
                <a:latin typeface="MiSans Demibold" pitchFamily="2" charset="-122"/>
                <a:ea typeface="MiSans Demibold" pitchFamily="2" charset="-122"/>
                <a:cs typeface="思源黑体" pitchFamily="34" charset="-120"/>
              </a:rPr>
              <a:t>联系我们</a:t>
            </a:r>
            <a:endParaRPr lang="en-US" sz="32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0513" y="2777757"/>
            <a:ext cx="29116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25"/>
              </a:lnSpc>
            </a:pPr>
            <a:r>
              <a:rPr lang="en-US" sz="800" kern="0" spc="-12" dirty="0" err="1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</a:rPr>
              <a:t>广东省深圳市南山区</a:t>
            </a:r>
            <a:endParaRPr lang="en-US" sz="800" kern="0" spc="-12" dirty="0">
              <a:solidFill>
                <a:srgbClr val="0F2B46"/>
              </a:solidFill>
              <a:latin typeface="MiSans Medium" pitchFamily="2" charset="-122"/>
              <a:ea typeface="MiSans Medium" pitchFamily="2" charset="-122"/>
            </a:endParaRPr>
          </a:p>
          <a:p>
            <a:pPr algn="l">
              <a:lnSpc>
                <a:spcPts val="1125"/>
              </a:lnSpc>
            </a:pPr>
            <a:r>
              <a:rPr lang="en-US" sz="800" kern="0" spc="-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</a:rPr>
              <a:t>深南大道</a:t>
            </a:r>
            <a:r>
              <a:rPr lang="en-US" altLang="zh-CN" sz="800" kern="0" spc="-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</a:rPr>
              <a:t>10000 </a:t>
            </a:r>
            <a:r>
              <a:rPr lang="zh-CN" altLang="en-US" sz="800" kern="0" spc="-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</a:rPr>
              <a:t>号</a:t>
            </a:r>
            <a:endParaRPr lang="en-US" altLang="zh-CN" sz="800" kern="0" spc="-12" dirty="0">
              <a:solidFill>
                <a:srgbClr val="0F2B46"/>
              </a:solidFill>
              <a:latin typeface="MiSans Medium" pitchFamily="2" charset="-122"/>
              <a:ea typeface="MiSans Medium" pitchFamily="2" charset="-122"/>
            </a:endParaRPr>
          </a:p>
          <a:p>
            <a:pPr algn="l">
              <a:lnSpc>
                <a:spcPts val="1125"/>
              </a:lnSpc>
            </a:pPr>
            <a:r>
              <a:rPr lang="zh-CN" altLang="en-US" sz="800" kern="0" spc="-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</a:rPr>
              <a:t>腾讯大厦</a:t>
            </a:r>
            <a:endParaRPr lang="en-US" sz="750" dirty="0"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70513" y="3331059"/>
            <a:ext cx="2911686" cy="0"/>
          </a:xfrm>
          <a:prstGeom prst="line">
            <a:avLst/>
          </a:prstGeom>
          <a:solidFill>
            <a:srgbClr val="F5F7FA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473458" y="2539860"/>
            <a:ext cx="2808722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地址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7" name="Image 0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2593230"/>
            <a:ext cx="76200" cy="76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0513" y="3689081"/>
            <a:ext cx="2911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25"/>
              </a:lnSpc>
            </a:pPr>
            <a:r>
              <a:rPr lang="en-US" sz="800" kern="0" spc="-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very@nice.email</a:t>
            </a:r>
            <a:endParaRPr lang="en-US" sz="750" dirty="0"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70513" y="3971639"/>
            <a:ext cx="2911686" cy="0"/>
          </a:xfrm>
          <a:prstGeom prst="line">
            <a:avLst/>
          </a:prstGeom>
          <a:solidFill>
            <a:srgbClr val="F5F7FA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5473458" y="3451184"/>
            <a:ext cx="2808610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邮箱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1" name="Image 1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3504554"/>
            <a:ext cx="762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70513" y="4641490"/>
            <a:ext cx="2911686" cy="0"/>
          </a:xfrm>
          <a:prstGeom prst="line">
            <a:avLst/>
          </a:prstGeom>
          <a:solidFill>
            <a:srgbClr val="F5F7FA"/>
          </a:solidFill>
          <a:ln w="5292">
            <a:solidFill>
              <a:srgbClr val="0F2B4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5473458" y="4121035"/>
            <a:ext cx="2808610" cy="18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电话</a:t>
            </a:r>
            <a:endParaRPr lang="en-US" sz="90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4" name="Image 2" descr="https://pitch-assets-ccb95893-de3f-4266-973c-20049231b248.s3.eu-west-1.amazonaws.com/47b92206-0306-41e4-9ea7-5deb64286475?pitch-bytes=500&amp;pitch-content-type=image%2Fsvg%2Bxm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70513" y="4174405"/>
            <a:ext cx="76200" cy="76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70513" y="4359116"/>
            <a:ext cx="2911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25"/>
              </a:lnSpc>
            </a:pPr>
            <a:r>
              <a:rPr lang="en-US" sz="800" kern="0" spc="-12" dirty="0">
                <a:solidFill>
                  <a:srgbClr val="0F2B46"/>
                </a:solidFill>
                <a:latin typeface="MiSans Medium" pitchFamily="2" charset="-122"/>
                <a:ea typeface="MiSans Medium" pitchFamily="2" charset="-122"/>
                <a:cs typeface="Geist Mono" pitchFamily="34" charset="-120"/>
              </a:rPr>
              <a:t>+1 800 314 159 265</a:t>
            </a:r>
            <a:endParaRPr lang="en-US" sz="750" dirty="0">
              <a:latin typeface="MiSans Medium" pitchFamily="2" charset="-122"/>
              <a:ea typeface="MiSans Medium" pitchFamily="2" charset="-122"/>
            </a:endParaRPr>
          </a:p>
        </p:txBody>
      </p:sp>
      <p:pic>
        <p:nvPicPr>
          <p:cNvPr id="16" name="Imag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" contrast="10000"/>
                    </a14:imgEffect>
                  </a14:imgLayer>
                </a14:imgProps>
              </a:ext>
            </a:extLst>
          </a:blip>
          <a:srcRect l="23956" r="23956"/>
          <a:stretch/>
        </p:blipFill>
        <p:spPr>
          <a:xfrm>
            <a:off x="114300" y="114300"/>
            <a:ext cx="4410075" cy="4762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70513" y="4922527"/>
            <a:ext cx="2157412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endParaRPr lang="en-US" sz="525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ABD02DE6-9DEC-CE31-E5C3-C59E2FC08C00}"/>
              </a:ext>
            </a:extLst>
          </p:cNvPr>
          <p:cNvSpPr/>
          <p:nvPr/>
        </p:nvSpPr>
        <p:spPr>
          <a:xfrm>
            <a:off x="7623200" y="4922527"/>
            <a:ext cx="1406500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2026-06-01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A5F08AF-8162-CA2C-6ACD-3048A13251B8}"/>
              </a:ext>
            </a:extLst>
          </p:cNvPr>
          <p:cNvSpPr/>
          <p:nvPr/>
        </p:nvSpPr>
        <p:spPr>
          <a:xfrm>
            <a:off x="114300" y="4922527"/>
            <a:ext cx="2908288" cy="10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40"/>
              </a:lnSpc>
            </a:pPr>
            <a:r>
              <a:rPr lang="en-US" sz="500" kern="0" dirty="0">
                <a:solidFill>
                  <a:srgbClr val="0F2B46"/>
                </a:solidFill>
                <a:latin typeface="MiSans Thin" pitchFamily="2" charset="-122"/>
                <a:ea typeface="MiSans Thin" pitchFamily="2" charset="-122"/>
                <a:cs typeface="Geist" pitchFamily="34" charset="-120"/>
              </a:rPr>
              <a:t>AI时代的高效工作方式</a:t>
            </a:r>
            <a:endParaRPr lang="en-US" sz="525" dirty="0">
              <a:latin typeface="MiSans Thin" pitchFamily="2" charset="-122"/>
              <a:ea typeface="MiSans Thin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4A90D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599</Words>
  <Application>Microsoft Macintosh PowerPoint</Application>
  <PresentationFormat>全屏显示(16:9)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FontName</vt:lpstr>
      <vt:lpstr>Microsoft YaHei Light</vt:lpstr>
      <vt:lpstr>MiSans</vt:lpstr>
      <vt:lpstr>MiSans Demibold</vt:lpstr>
      <vt:lpstr>MiSans ExtraLight</vt:lpstr>
      <vt:lpstr>MiSans Light</vt:lpstr>
      <vt:lpstr>MiSans Medium</vt:lpstr>
      <vt:lpstr>MiSans Normal</vt:lpstr>
      <vt:lpstr>MiSans Semibold</vt:lpstr>
      <vt:lpstr>MiSans Thin</vt:lpstr>
      <vt:lpstr>Arial</vt:lpstr>
      <vt:lpstr>TCloud Number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时代的高效工作方式</dc:title>
  <dc:subject>PptxGenJS Presentation</dc:subject>
  <dc:creator>Pitch Software GmbH</dc:creator>
  <cp:lastModifiedBy>T171376</cp:lastModifiedBy>
  <cp:revision>11</cp:revision>
  <dcterms:created xsi:type="dcterms:W3CDTF">2026-06-01T16:27:52Z</dcterms:created>
  <dcterms:modified xsi:type="dcterms:W3CDTF">2026-06-16T07:46:37Z</dcterms:modified>
</cp:coreProperties>
</file>