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6" r:id="rId10"/>
    <p:sldId id="263" r:id="rId11"/>
    <p:sldId id="264" r:id="rId12"/>
    <p:sldId id="265" r:id="rId13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2828"/>
    <a:srgbClr val="E8FC9C"/>
    <a:srgbClr val="C7F7F6"/>
    <a:srgbClr val="C1FCFB"/>
    <a:srgbClr val="BCEBEB"/>
    <a:srgbClr val="B8E3FD"/>
    <a:srgbClr val="A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51"/>
    <p:restoredTop sz="95338"/>
  </p:normalViewPr>
  <p:slideViewPr>
    <p:cSldViewPr snapToGrid="0">
      <p:cViewPr varScale="1">
        <p:scale>
          <a:sx n="78" d="100"/>
          <a:sy n="78" d="100"/>
        </p:scale>
        <p:origin x="208" y="5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AI使用率</c:v>
          </c:tx>
          <c:spPr>
            <a:ln w="28575" cap="rnd" cmpd="sng">
              <a:solidFill>
                <a:srgbClr val="332828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332828"/>
              </a:solidFill>
              <a:ln w="28575">
                <a:solidFill>
                  <a:srgbClr val="332828"/>
                </a:solidFill>
              </a:ln>
            </c:spPr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400" b="1">
                    <a:solidFill>
                      <a:srgbClr val="332828"/>
                    </a:solidFill>
                    <a:latin typeface="Andale Mono" panose="020B0509000000000004" pitchFamily="49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strLit>
          </c:cat>
          <c:val>
            <c:numLit>
              <c:formatCode>General</c:formatCode>
              <c:ptCount val="5"/>
              <c:pt idx="0">
                <c:v>0.56000000000000005</c:v>
              </c:pt>
              <c:pt idx="1">
                <c:v>0.5</c:v>
              </c:pt>
              <c:pt idx="2">
                <c:v>0.55000000000000004</c:v>
              </c:pt>
              <c:pt idx="3">
                <c:v>0.78</c:v>
              </c:pt>
              <c:pt idx="4">
                <c:v>0.88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09A6-E146-9C72-130F636526D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199473"/>
        <c:axId val="7199474"/>
      </c:lineChart>
      <c:catAx>
        <c:axId val="719947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332828">
                <a:alpha val="59791"/>
              </a:srgbClr>
            </a:solidFill>
            <a:round/>
          </a:ln>
          <a:effectLst/>
        </c:spPr>
        <c:txPr>
          <a:bodyPr/>
          <a:lstStyle/>
          <a:p>
            <a:pPr>
              <a:defRPr sz="1197" b="1" i="0" strike="noStrike">
                <a:solidFill>
                  <a:srgbClr val="332828">
                    <a:alpha val="59834"/>
                  </a:srgbClr>
                </a:solidFill>
                <a:latin typeface="Andale Mono" panose="020B0509000000000004" pitchFamily="49" charset="0"/>
              </a:defRPr>
            </a:pPr>
            <a:endParaRPr lang="zh-CN"/>
          </a:p>
        </c:txPr>
        <c:crossAx val="7199474"/>
        <c:crosses val="autoZero"/>
        <c:auto val="1"/>
        <c:lblAlgn val="ctr"/>
        <c:lblOffset val="100"/>
        <c:noMultiLvlLbl val="1"/>
      </c:catAx>
      <c:valAx>
        <c:axId val="7199474"/>
        <c:scaling>
          <c:orientation val="minMax"/>
        </c:scaling>
        <c:delete val="0"/>
        <c:axPos val="l"/>
        <c:majorGridlines>
          <c:spPr>
            <a:ln>
              <a:solidFill>
                <a:srgbClr val="332828">
                  <a:alpha val="20000"/>
                </a:srgbClr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>
                <a:solidFill>
                  <a:srgbClr val="332828">
                    <a:alpha val="50000"/>
                  </a:srgbClr>
                </a:solidFill>
              </a:defRPr>
            </a:pPr>
            <a:endParaRPr lang="zh-CN"/>
          </a:p>
        </c:txPr>
        <c:crossAx val="719947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/>
          <a:lstStyle/>
          <a:p>
            <a:pPr>
              <a:defRPr sz="1197" b="1" i="0" strike="noStrike">
                <a:solidFill>
                  <a:srgbClr val="332828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/>
        <a:lstStyle/>
        <a:p>
          <a:pPr>
            <a:defRPr sz="1197" b="0" i="0" strike="noStrike">
              <a:solidFill>
                <a:schemeClr val="tx1">
                  <a:lumMod val="65000"/>
                  <a:lumOff val="35000"/>
                  <a:alpha val="100000"/>
                </a:schemeClr>
              </a:solidFill>
            </a:defRPr>
          </a:pPr>
          <a:endParaRPr lang="zh-CN"/>
        </a:p>
      </c:txPr>
    </c:legend>
    <c:plotVisOnly val="1"/>
    <c:dispBlanksAs val="gap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794FB-8FE9-8861-D786-1280F15BE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3E1709-804A-C8CD-1E5A-27A315FE9F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6D0420-8DB1-50C5-6D12-80D2AB8BEC1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207590F-D504-D31C-DA92-42445E137D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4A3A769-1BAE-6A0D-DEE7-ACAB27BAFC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314F5-50BD-A8FC-7054-1AC060AE45C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69694-378A-0AE0-A313-09C354ACA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681287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B6A60-0C98-32AC-6E53-D058E1F7B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F322AD-4A5A-D7A1-3B9B-BE7A839A30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5CB14B-1CE2-3943-B29B-0F78223EFD8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EEEC244-DB1B-4FDA-B313-2564084F31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0E0C869-445B-B541-3F41-49A26B924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89751-9F87-35C7-3004-612E47FB1C4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63DFC-6CB2-3AE4-3DC2-6B63E4152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03298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82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15843"/>
            <a:ext cx="2559713" cy="609600"/>
          </a:xfrm>
          <a:prstGeom prst="roundRect">
            <a:avLst>
              <a:gd name="adj" fmla="val 2081250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332828"/>
                </a:solidFill>
                <a:latin typeface="Andale Mono" panose="020B0509000000000004" pitchFamily="49" charset="0"/>
                <a:ea typeface="SimHei"/>
                <a:cs typeface="SimHei"/>
                <a:sym typeface="SimHei"/>
              </a:rPr>
              <a:t>Automation</a:t>
            </a:r>
            <a:endParaRPr lang="en-US" sz="1600" b="1" dirty="0">
              <a:latin typeface="Andale Mono" panose="020B0509000000000004" pitchFamily="49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314766" y="515843"/>
            <a:ext cx="4197105" cy="609600"/>
          </a:xfrm>
          <a:prstGeom prst="roundRect">
            <a:avLst>
              <a:gd name="adj" fmla="val 2081250"/>
            </a:avLst>
          </a:prstGeom>
          <a:solidFill>
            <a:srgbClr val="E8FC9C">
              <a:alpha val="100000"/>
            </a:srgbClr>
          </a:solidFill>
          <a:ln w="25400" cap="flat" cmpd="sng">
            <a:solidFill>
              <a:srgbClr val="E8FC9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332828"/>
                </a:solidFill>
                <a:latin typeface="Andale Mono" panose="020B0509000000000004" pitchFamily="49" charset="0"/>
                <a:ea typeface="SimHei"/>
                <a:cs typeface="SimHei"/>
                <a:sym typeface="SimHei"/>
              </a:rPr>
              <a:t>Knowledge Management</a:t>
            </a:r>
            <a:endParaRPr lang="en-US" sz="1600" dirty="0">
              <a:latin typeface="Andale Mono" panose="020B0509000000000004" pitchFamily="49" charset="0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solidFill>
                <a:srgbClr val="E8FC9C"/>
              </a:solidFill>
              <a:latin typeface="Andale Mono" panose="020B0509000000000004" pitchFamily="49" charset="0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567184" y="511649"/>
            <a:ext cx="2558197" cy="609600"/>
          </a:xfrm>
          <a:prstGeom prst="roundRect">
            <a:avLst>
              <a:gd name="adj" fmla="val 2081250"/>
            </a:avLst>
          </a:prstGeom>
          <a:noFill/>
          <a:ln w="12700" cap="flat" cmpd="sng">
            <a:solidFill>
              <a:srgbClr val="E8FC9C"/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SimHei"/>
                <a:cs typeface="SimHei"/>
                <a:sym typeface="SimHei"/>
              </a:rPr>
              <a:t>Cooperation</a:t>
            </a:r>
            <a:endParaRPr lang="en-US" sz="1600" dirty="0">
              <a:solidFill>
                <a:srgbClr val="E8FC9C"/>
              </a:solidFill>
              <a:latin typeface="Andale Mono" panose="020B0509000000000004" pitchFamily="49" charset="0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12800" y="1353344"/>
            <a:ext cx="6500884" cy="609600"/>
          </a:xfrm>
          <a:prstGeom prst="roundRect">
            <a:avLst>
              <a:gd name="adj" fmla="val 2081250"/>
            </a:avLst>
          </a:prstGeom>
          <a:noFill/>
          <a:ln w="12700" cap="flat" cmpd="sng">
            <a:solidFill>
              <a:srgbClr val="E8FC9C"/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Enhancing Decision-Making Efficiency</a:t>
            </a:r>
            <a:endParaRPr lang="en-US" sz="1600" dirty="0">
              <a:solidFill>
                <a:srgbClr val="E8FC9C"/>
              </a:solidFill>
              <a:latin typeface="Andale Mono" panose="020B0509000000000004" pitchFamily="49" charset="0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503068" y="1353344"/>
            <a:ext cx="4197105" cy="609600"/>
          </a:xfrm>
          <a:prstGeom prst="roundRect">
            <a:avLst>
              <a:gd name="adj" fmla="val 2081250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332828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Reduce Repetitive Work</a:t>
            </a:r>
            <a:endParaRPr lang="en-US" sz="1600" dirty="0">
              <a:latin typeface="Andale Mono" panose="020B0509000000000004" pitchFamily="49" charset="0"/>
            </a:endParaRPr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1F48537A-85F9-2517-9E50-6F9E74781471}"/>
              </a:ext>
            </a:extLst>
          </p:cNvPr>
          <p:cNvSpPr/>
          <p:nvPr/>
        </p:nvSpPr>
        <p:spPr>
          <a:xfrm>
            <a:off x="812800" y="2999598"/>
            <a:ext cx="14630400" cy="26618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defRPr/>
            </a:pPr>
            <a:r>
              <a:rPr lang="en-US" sz="8000" u="none" strike="noStrike" dirty="0">
                <a:solidFill>
                  <a:schemeClr val="bg1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AI </a:t>
            </a:r>
            <a:r>
              <a:rPr lang="en-US" sz="8000" u="none" strike="noStrike" dirty="0" err="1">
                <a:solidFill>
                  <a:schemeClr val="bg1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时代的</a:t>
            </a:r>
            <a:endParaRPr lang="en-US" sz="8000" dirty="0">
              <a:solidFill>
                <a:schemeClr val="bg1"/>
              </a:solidFill>
              <a:latin typeface="FZLanTingHeiS Heavy" panose="02000500000000000000" pitchFamily="2" charset="-122"/>
              <a:ea typeface="FZLanTingHeiS Heavy" panose="02000500000000000000" pitchFamily="2" charset="-122"/>
            </a:endParaRPr>
          </a:p>
          <a:p>
            <a:pPr indent="0" algn="l"/>
            <a:r>
              <a:rPr lang="en-US" sz="8000" u="none" strike="noStrike" dirty="0" err="1">
                <a:solidFill>
                  <a:srgbClr val="E8FC9C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高效</a:t>
            </a:r>
            <a:r>
              <a:rPr lang="en-US" sz="8000" u="none" strike="noStrike" dirty="0" err="1">
                <a:solidFill>
                  <a:schemeClr val="bg1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工作方式</a:t>
            </a:r>
            <a:endParaRPr lang="en-US" sz="8000" u="none" strike="noStrike" dirty="0">
              <a:solidFill>
                <a:schemeClr val="bg1"/>
              </a:solidFill>
              <a:latin typeface="FZLanTingHeiS Heavy" panose="02000500000000000000" pitchFamily="2" charset="-122"/>
              <a:ea typeface="FZLanTingHeiS Heavy" panose="02000500000000000000" pitchFamily="2" charset="-122"/>
              <a:cs typeface="Bricolage Grotesque"/>
              <a:sym typeface="Bricolage Grotesque"/>
            </a:endParaRPr>
          </a:p>
        </p:txBody>
      </p:sp>
      <p:sp>
        <p:nvSpPr>
          <p:cNvPr id="11" name="AutoShape 5">
            <a:extLst>
              <a:ext uri="{FF2B5EF4-FFF2-40B4-BE49-F238E27FC236}">
                <a16:creationId xmlns:a16="http://schemas.microsoft.com/office/drawing/2014/main" id="{D08D6987-8F38-F120-14DB-85EE2D4C3569}"/>
              </a:ext>
            </a:extLst>
          </p:cNvPr>
          <p:cNvSpPr/>
          <p:nvPr/>
        </p:nvSpPr>
        <p:spPr>
          <a:xfrm>
            <a:off x="812800" y="5661451"/>
            <a:ext cx="14630400" cy="572849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 dirty="0" err="1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从工具使用到流程重构，重新定义个人与组织的效率标准</a:t>
            </a:r>
            <a:endParaRPr lang="en-US" sz="3200" dirty="0">
              <a:solidFill>
                <a:schemeClr val="bg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82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6">
            <a:extLst>
              <a:ext uri="{FF2B5EF4-FFF2-40B4-BE49-F238E27FC236}">
                <a16:creationId xmlns:a16="http://schemas.microsoft.com/office/drawing/2014/main" id="{67535A47-2813-9B8B-2361-F7ECC8554B70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solidFill>
                <a:srgbClr val="E8FC9C"/>
              </a:solidFill>
              <a:latin typeface="Andale Mono" panose="020B0509000000000004" pitchFamily="49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5C2CDC15-3CAE-28F3-53B3-CCEA18853A57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C7F7F6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C7F7F6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600" b="1" i="0" u="none" strike="noStrike" dirty="0">
                <a:solidFill>
                  <a:srgbClr val="C7F7F6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C7F7F6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C7F7F6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A SHIFT FOR EVERYONE</a:t>
            </a:r>
            <a:endParaRPr lang="en-US" sz="1600" b="1" dirty="0">
              <a:solidFill>
                <a:srgbClr val="C7F7F6"/>
              </a:solidFill>
              <a:latin typeface="Andale Mono" panose="020B0509000000000004" pitchFamily="49" charset="0"/>
            </a:endParaRPr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1360F5AE-DF5E-7BE2-1B1A-E26D55855920}"/>
              </a:ext>
            </a:extLst>
          </p:cNvPr>
          <p:cNvSpPr/>
          <p:nvPr/>
        </p:nvSpPr>
        <p:spPr>
          <a:xfrm>
            <a:off x="812800" y="1310737"/>
            <a:ext cx="14630400" cy="196464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不是少数人的工具，</a:t>
            </a:r>
            <a:endParaRPr lang="en-US" altLang="zh-CN" sz="6000" b="1" u="none" strike="noStrike" dirty="0">
              <a:solidFill>
                <a:srgbClr val="FFFFFF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是</a:t>
            </a:r>
            <a:r>
              <a:rPr lang="zh-CN" altLang="en-US" sz="6000" b="1" u="none" strike="noStrike" dirty="0">
                <a:solidFill>
                  <a:srgbClr val="E8FC9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所有人</a:t>
            </a: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的工作方式升级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5FE78423-AECB-A94F-48A6-178F23CDFB61}"/>
              </a:ext>
            </a:extLst>
          </p:cNvPr>
          <p:cNvSpPr/>
          <p:nvPr/>
        </p:nvSpPr>
        <p:spPr>
          <a:xfrm>
            <a:off x="812800" y="4201741"/>
            <a:ext cx="4787900" cy="2745945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16000" b="1" u="none" strike="noStrike" dirty="0">
                <a:solidFill>
                  <a:srgbClr val="E8FC9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Instrument Serif"/>
                <a:sym typeface="Instrument Serif"/>
              </a:rPr>
              <a:t>3</a:t>
            </a:r>
            <a:r>
              <a:rPr lang="en-US" sz="6000" b="1" u="none" strike="noStrike" dirty="0">
                <a:solidFill>
                  <a:srgbClr val="E8FC9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Instrument Serif"/>
                <a:sym typeface="Instrument Serif"/>
              </a:rPr>
              <a:t>亿</a:t>
            </a:r>
            <a:endParaRPr lang="en-US" sz="6000" b="1" dirty="0">
              <a:solidFill>
                <a:srgbClr val="E8FC9C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77EB6B5D-DC95-0CB3-C234-B39BA53A57D8}"/>
              </a:ext>
            </a:extLst>
          </p:cNvPr>
          <p:cNvSpPr/>
          <p:nvPr/>
        </p:nvSpPr>
        <p:spPr>
          <a:xfrm>
            <a:off x="6604000" y="5041987"/>
            <a:ext cx="8839200" cy="165327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 indent="0" algn="l">
              <a:lnSpc>
                <a:spcPts val="2600"/>
              </a:lnSpc>
              <a:defRPr/>
            </a:pPr>
            <a:r>
              <a:rPr lang="en-US" sz="2000" u="none" strike="noStrike" dirty="0" err="1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高盛研究预计，生成式</a:t>
            </a:r>
            <a:r>
              <a:rPr lang="en-US" sz="20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AI </a:t>
            </a:r>
            <a:r>
              <a:rPr lang="en-US" sz="2000" u="none" strike="noStrike" dirty="0" err="1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可能使相当于</a:t>
            </a:r>
            <a:r>
              <a:rPr lang="en-US" sz="20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3 </a:t>
            </a:r>
            <a:r>
              <a:rPr lang="en-US" sz="2000" u="none" strike="noStrike" dirty="0" err="1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亿个全职岗位的工作内容暴露于自动化影响之下</a:t>
            </a:r>
            <a:r>
              <a:rPr lang="en-US" sz="20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  <a:endParaRPr lang="en-US" sz="20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ts val="2600"/>
              </a:lnSpc>
            </a:pPr>
            <a:endParaRPr lang="en-US" sz="20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ts val="2600"/>
              </a:lnSpc>
            </a:pPr>
            <a:r>
              <a:rPr lang="en-US" sz="2000" u="none" strike="noStrike" dirty="0" err="1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这并不意味着岗位会消失，而是意味着大量工作正在被重新拆解、重组与提效</a:t>
            </a:r>
            <a:r>
              <a:rPr lang="en-US" sz="20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——AI </a:t>
            </a:r>
            <a:r>
              <a:rPr lang="en-US" sz="2000" u="none" strike="noStrike" dirty="0" err="1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正在成为新一代通用工作基础设施</a:t>
            </a:r>
            <a:r>
              <a:rPr lang="en-US" sz="20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2828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332828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1600" b="1" i="0" u="none" strike="noStrike" dirty="0">
                <a:solidFill>
                  <a:srgbClr val="332828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332828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332828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TRIAL TO HABIT</a:t>
            </a:r>
            <a:endParaRPr lang="en-US" sz="1600" b="1" dirty="0">
              <a:latin typeface="Andale Mono" panose="020B0509000000000004" pitchFamily="49" charset="0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12800" y="3347634"/>
            <a:ext cx="4572000" cy="4602996"/>
          </a:xfrm>
          <a:prstGeom prst="roundRect">
            <a:avLst>
              <a:gd name="adj" fmla="val 8750"/>
            </a:avLst>
          </a:prstGeom>
          <a:solidFill>
            <a:srgbClr val="3328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06400" tIns="406400" rIns="4064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FZLanTingHeiS Bold" panose="02000500000000000000" pitchFamily="2" charset="-122"/>
                <a:cs typeface="SimHei"/>
                <a:sym typeface="SimHei"/>
              </a:rPr>
              <a:t>01</a:t>
            </a:r>
            <a:endParaRPr lang="en-US" sz="2000" i="0" u="none" strike="noStrike" dirty="0">
              <a:solidFill>
                <a:srgbClr val="E8FC9C"/>
              </a:solidFill>
              <a:latin typeface="Andale Mono" panose="020B0509000000000004" pitchFamily="49" charset="0"/>
              <a:ea typeface="FZLanTingHeiS Bold" panose="02000500000000000000" pitchFamily="2" charset="-122"/>
              <a:cs typeface="SimHei"/>
              <a:sym typeface="SimHei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E8FC9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任务识别</a:t>
            </a:r>
            <a:br>
              <a:rPr lang="en-US" sz="2800" b="0" i="0" u="none" strike="noStrike" dirty="0">
                <a:solidFill>
                  <a:srgbClr val="E8FC9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ChillDuanHeiSong_CompactRegular"/>
                <a:sym typeface="ChillDuanHeiSong_CompactRegular"/>
              </a:rPr>
            </a:br>
            <a:r>
              <a:rPr lang="en-US" sz="2000" b="0" i="0" u="none" strike="noStrike" dirty="0" err="1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先判断哪些值得交给AI</a:t>
            </a:r>
            <a:endParaRPr lang="en-US" sz="1100" dirty="0">
              <a:solidFill>
                <a:schemeClr val="bg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en-US" sz="1600" b="0" i="0" u="none" strike="noStrike" dirty="0" err="1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将复杂图解转化为自然语言，降低学习门槛</a:t>
            </a:r>
            <a:r>
              <a:rPr 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600" b="0" i="0" u="none" strike="noStrike" dirty="0" err="1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支持左利手镜像视频模式、动态字体与高对比度，并引入语音控制播放与AI图像辅助创作</a:t>
            </a:r>
            <a:r>
              <a:rPr 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6B20E9CA-3BEE-6EBD-BEB8-6986212DDF32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2828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solidFill>
                <a:srgbClr val="332828"/>
              </a:solidFill>
              <a:latin typeface="Andale Mono" panose="020B0509000000000004" pitchFamily="49" charset="0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4A902F7E-59C8-01D3-D6F9-B3BE7DC046DB}"/>
              </a:ext>
            </a:extLst>
          </p:cNvPr>
          <p:cNvSpPr/>
          <p:nvPr/>
        </p:nvSpPr>
        <p:spPr>
          <a:xfrm>
            <a:off x="5857875" y="3347634"/>
            <a:ext cx="4572000" cy="4602996"/>
          </a:xfrm>
          <a:prstGeom prst="roundRect">
            <a:avLst>
              <a:gd name="adj" fmla="val 8750"/>
            </a:avLst>
          </a:prstGeom>
          <a:solidFill>
            <a:srgbClr val="3328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06400" tIns="406400" rIns="4064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FZLanTingHeiS Bold" panose="02000500000000000000" pitchFamily="2" charset="-122"/>
                <a:cs typeface="SimHei"/>
                <a:sym typeface="SimHei"/>
              </a:rPr>
              <a:t>02</a:t>
            </a:r>
            <a:endParaRPr lang="en-US" sz="2000" i="0" u="none" strike="noStrike" dirty="0">
              <a:solidFill>
                <a:srgbClr val="E8FC9C"/>
              </a:solidFill>
              <a:latin typeface="Andale Mono" panose="020B0509000000000004" pitchFamily="49" charset="0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E8FC9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工具协作</a:t>
            </a:r>
            <a:br>
              <a:rPr lang="en-US" sz="2800" b="0" i="0" u="none" strike="noStrike" dirty="0">
                <a:solidFill>
                  <a:srgbClr val="E8FC9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ChillDuanHeiSong_CompactRegular"/>
                <a:sym typeface="ChillDuanHeiSong_CompactRegular"/>
              </a:rPr>
            </a:br>
            <a:r>
              <a:rPr lang="zh-CN" altLang="en-US" sz="2000" b="0" i="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把工具嵌入真实工作流</a:t>
            </a:r>
          </a:p>
          <a:p>
            <a:pPr>
              <a:lnSpc>
                <a:spcPct val="125000"/>
              </a:lnSpc>
              <a:defRPr/>
            </a:pP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让 </a:t>
            </a:r>
            <a:r>
              <a:rPr 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参与搜索、分析、生成、复盘的全过程，把工具嵌入真实工作流。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不要停留在尝鲜，而是与现有协同方式深度融合。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endParaRPr lang="en-US" sz="1600" b="0" i="0" u="none" strike="noStrike" dirty="0">
              <a:solidFill>
                <a:srgbClr val="F6EDDC">
                  <a:alpha val="80000"/>
                </a:srgbClr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E25B9A99-0C1A-E856-CA50-AD1E7AF4B0EE}"/>
              </a:ext>
            </a:extLst>
          </p:cNvPr>
          <p:cNvSpPr/>
          <p:nvPr/>
        </p:nvSpPr>
        <p:spPr>
          <a:xfrm>
            <a:off x="10871200" y="3347634"/>
            <a:ext cx="4572000" cy="4602996"/>
          </a:xfrm>
          <a:prstGeom prst="roundRect">
            <a:avLst>
              <a:gd name="adj" fmla="val 8750"/>
            </a:avLst>
          </a:prstGeom>
          <a:solidFill>
            <a:srgbClr val="3328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06400" tIns="406400" rIns="4064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FZLanTingHeiS Bold" panose="02000500000000000000" pitchFamily="2" charset="-122"/>
                <a:cs typeface="SimHei"/>
                <a:sym typeface="SimHei"/>
              </a:rPr>
              <a:t>03</a:t>
            </a:r>
            <a:endParaRPr lang="en-US" sz="2000" i="0" u="none" strike="noStrike" dirty="0">
              <a:solidFill>
                <a:srgbClr val="E8FC9C"/>
              </a:solidFill>
              <a:latin typeface="Andale Mono" panose="020B0509000000000004" pitchFamily="49" charset="0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E8FC9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任务识别</a:t>
            </a:r>
            <a:br>
              <a:rPr lang="en-US" sz="2800" b="0" i="0" u="none" strike="noStrike" dirty="0">
                <a:solidFill>
                  <a:srgbClr val="E8FC9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ChillDuanHeiSong_CompactRegular"/>
                <a:sym typeface="ChillDuanHeiSong_CompactRegular"/>
              </a:rPr>
            </a:br>
            <a:r>
              <a:rPr lang="zh-CN" altLang="en-US" sz="2000" b="0" i="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让一次性提效变可复用 </a:t>
            </a:r>
            <a:r>
              <a:rPr lang="en-US" sz="2000" b="0" i="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SOP</a:t>
            </a:r>
          </a:p>
          <a:p>
            <a:pPr>
              <a:lnSpc>
                <a:spcPct val="125000"/>
              </a:lnSpc>
              <a:defRPr/>
            </a:pP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把一次性提效变成可复用 </a:t>
            </a:r>
            <a:r>
              <a:rPr 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SOP，</a:t>
            </a: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让团队能够复制、训练、优化。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组织能力的提升，源自每一次沉淀的迭代积累。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endParaRPr lang="en-US" sz="1600" b="0" i="0" u="none" strike="noStrike" dirty="0">
              <a:solidFill>
                <a:srgbClr val="F6EDDC">
                  <a:alpha val="80000"/>
                </a:srgbClr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5B01522A-2018-29E6-8618-CC2B2F606186}"/>
              </a:ext>
            </a:extLst>
          </p:cNvPr>
          <p:cNvSpPr/>
          <p:nvPr/>
        </p:nvSpPr>
        <p:spPr>
          <a:xfrm>
            <a:off x="812800" y="1433524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332828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从尝鲜到沉淀，</a:t>
            </a:r>
            <a:r>
              <a:rPr lang="zh-CN" altLang="en-US" sz="6000" b="1" strike="noStrike" dirty="0">
                <a:solidFill>
                  <a:srgbClr val="332828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三步重构</a:t>
            </a:r>
            <a:r>
              <a:rPr lang="zh-CN" altLang="en-US" sz="6000" b="1" u="none" strike="noStrike" dirty="0">
                <a:solidFill>
                  <a:srgbClr val="332828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工作流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solidFill>
                <a:srgbClr val="332828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82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812799" y="3899191"/>
            <a:ext cx="7137831" cy="3634465"/>
          </a:xfrm>
          <a:prstGeom prst="roundRect">
            <a:avLst>
              <a:gd name="adj" fmla="val 10769"/>
            </a:avLst>
          </a:prstGeom>
          <a:noFill/>
          <a:ln w="25400" cap="flat" cmpd="sng">
            <a:solidFill>
              <a:srgbClr val="E8FC9C"/>
            </a:solidFill>
            <a:prstDash val="solid"/>
            <a:round/>
          </a:ln>
        </p:spPr>
        <p:txBody>
          <a:bodyPr vert="horz" wrap="square" lIns="508000" tIns="508000" rIns="508000" bIns="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3200" b="1" u="none" strike="noStrike" dirty="0">
                <a:solidFill>
                  <a:srgbClr val="E8FC9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个人效率升级 </a:t>
            </a:r>
            <a:r>
              <a:rPr lang="en-US" sz="2000" b="0" i="0" u="none" strike="noStrike" dirty="0">
                <a:solidFill>
                  <a:srgbClr val="E8FC9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Strengths</a:t>
            </a:r>
            <a:endParaRPr lang="en-US" sz="2000" dirty="0">
              <a:solidFill>
                <a:srgbClr val="E8FC9C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zh-CN" altLang="en-US" sz="2000" b="0" i="0" u="none" strike="noStrike" dirty="0">
                <a:solidFill>
                  <a:srgbClr val="E8FC9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写作、搜索、总结、计划、学习、时间管理</a:t>
            </a:r>
            <a:r>
              <a:rPr lang="en-US" altLang="zh-CN" sz="2000" b="0" i="0" u="none" strike="noStrike" dirty="0">
                <a:solidFill>
                  <a:srgbClr val="E8FC9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E8FC9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从启动到产出全链路加速。重点是个体的启动速度、信息处理速度与输出速度。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8305369" y="3899191"/>
            <a:ext cx="7137831" cy="3634465"/>
          </a:xfrm>
          <a:prstGeom prst="roundRect">
            <a:avLst>
              <a:gd name="adj" fmla="val 10769"/>
            </a:avLst>
          </a:prstGeom>
          <a:solidFill>
            <a:srgbClr val="E8F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508000" tIns="508000" rIns="508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u="none" strike="noStrike" dirty="0" err="1">
                <a:solidFill>
                  <a:srgbClr val="332828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组织效率升级</a:t>
            </a:r>
            <a:r>
              <a:rPr lang="en-US" sz="3200" b="0" i="0" u="none" strike="noStrike" dirty="0">
                <a:solidFill>
                  <a:srgbClr val="332828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r>
              <a:rPr lang="en-US" sz="2000" b="0" i="0" u="none" strike="noStrike" dirty="0">
                <a:solidFill>
                  <a:srgbClr val="332828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Organization</a:t>
            </a:r>
            <a:endParaRPr lang="en-US" sz="20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zh-CN" altLang="en-US" sz="2000" b="0" i="0" u="none" strike="noStrike" dirty="0">
                <a:solidFill>
                  <a:srgbClr val="332828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流程自动化、知识库建设、跨部门协作、数据辅助决策</a:t>
            </a:r>
            <a:r>
              <a:rPr lang="en-US" altLang="zh-CN" sz="2000" b="0" i="0" u="none" strike="noStrike" dirty="0">
                <a:solidFill>
                  <a:srgbClr val="332828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332828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把个体经验沉淀为团队资产。重点是团队协同与复用能力。</a:t>
            </a:r>
          </a:p>
          <a:p>
            <a:pPr>
              <a:lnSpc>
                <a:spcPct val="125000"/>
              </a:lnSpc>
              <a:spcBef>
                <a:spcPts val="1600"/>
              </a:spcBef>
            </a:pPr>
            <a:endParaRPr lang="en-US" sz="2000" b="0" i="0" u="none" strike="noStrike" dirty="0">
              <a:solidFill>
                <a:srgbClr val="332828">
                  <a:alpha val="80000"/>
                </a:srgbClr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34B6C7E9-1583-C93C-494F-71D27CBEBE99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3</a:t>
            </a:r>
            <a:r>
              <a:rPr lang="en-US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PERSONAL </a:t>
            </a:r>
            <a:r>
              <a:rPr lang="en-US" altLang="zh-CN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&amp;</a:t>
            </a:r>
            <a:r>
              <a:rPr lang="en-US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ORGANIZATION</a:t>
            </a:r>
            <a:endParaRPr lang="en-US" sz="1600" b="1" dirty="0">
              <a:solidFill>
                <a:srgbClr val="E8FC9C"/>
              </a:solidFill>
              <a:latin typeface="Andale Mono" panose="020B0509000000000004" pitchFamily="49" charset="0"/>
            </a:endParaRPr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D9AAFF3F-8CA5-6D9A-F339-EC14B0A55F1D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solidFill>
                <a:srgbClr val="E8FC9C"/>
              </a:solidFill>
              <a:latin typeface="Andale Mono" panose="020B0509000000000004" pitchFamily="49" charset="0"/>
            </a:endParaRP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735CBB26-AC16-1F9F-6884-6E17D0E3BCFE}"/>
              </a:ext>
            </a:extLst>
          </p:cNvPr>
          <p:cNvSpPr/>
          <p:nvPr/>
        </p:nvSpPr>
        <p:spPr>
          <a:xfrm>
            <a:off x="812800" y="2463109"/>
            <a:ext cx="14630400" cy="35804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个体改变速度，组织改变能力</a:t>
            </a:r>
            <a:r>
              <a:rPr lang="en-US" altLang="zh-CN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两层叠加，才是真正的工作方式重构。</a:t>
            </a:r>
            <a:endParaRPr lang="en-US" sz="2000" dirty="0">
              <a:solidFill>
                <a:srgbClr val="FFFF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5313702-7108-F1CA-1771-A8B1EB764F50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从</a:t>
            </a:r>
            <a:r>
              <a:rPr lang="zh-CN" altLang="en-US" sz="6000" b="1" u="none" strike="noStrike" dirty="0">
                <a:solidFill>
                  <a:srgbClr val="E8FC9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个人</a:t>
            </a: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到</a:t>
            </a:r>
            <a:r>
              <a:rPr lang="zh-CN" altLang="en-US" sz="6000" b="1" u="none" strike="noStrike" dirty="0">
                <a:solidFill>
                  <a:srgbClr val="E8FC9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组织</a:t>
            </a: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，两层效率升级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9"/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282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/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0409E238-AF65-5EAD-F851-84F41577E6A4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2828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332828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4</a:t>
            </a:r>
            <a:r>
              <a:rPr lang="en-US" sz="1600" b="1" i="0" u="none" strike="noStrike" dirty="0">
                <a:solidFill>
                  <a:srgbClr val="332828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332828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332828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EFFORT, HIGH RETURN</a:t>
            </a:r>
            <a:endParaRPr lang="en-US" sz="1600" b="1" dirty="0">
              <a:latin typeface="Andale Mono" panose="020B0509000000000004" pitchFamily="49" charset="0"/>
            </a:endParaRPr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30D961F6-208C-AA28-E024-38F04CBA6FF7}"/>
              </a:ext>
            </a:extLst>
          </p:cNvPr>
          <p:cNvSpPr/>
          <p:nvPr/>
        </p:nvSpPr>
        <p:spPr>
          <a:xfrm>
            <a:off x="812800" y="3556002"/>
            <a:ext cx="7137831" cy="2111073"/>
          </a:xfrm>
          <a:prstGeom prst="roundRect">
            <a:avLst>
              <a:gd name="adj" fmla="val 10769"/>
            </a:avLst>
          </a:prstGeom>
          <a:solidFill>
            <a:srgbClr val="332828"/>
          </a:solidFill>
          <a:ln w="25400" cap="flat" cmpd="sng">
            <a:solidFill>
              <a:srgbClr val="332828"/>
            </a:solidFill>
            <a:prstDash val="solid"/>
            <a:round/>
          </a:ln>
        </p:spPr>
        <p:txBody>
          <a:bodyPr vert="horz" wrap="square" lIns="180000" tIns="180000" rIns="216000" bIns="180000" rtlCol="0" anchor="t" anchorCtr="0">
            <a:normAutofit fontScale="92500" lnSpcReduction="10000"/>
          </a:bodyPr>
          <a:lstStyle/>
          <a:p>
            <a:pPr>
              <a:lnSpc>
                <a:spcPct val="125000"/>
              </a:lnSpc>
              <a:defRPr/>
            </a:pP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E8FC9C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低难度 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E8FC9C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E8FC9C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高收益</a:t>
            </a:r>
            <a:endParaRPr lang="en-US" altLang="zh-CN" sz="1700" b="1" u="none" strike="noStrike" dirty="0">
              <a:solidFill>
                <a:srgbClr val="E8FC9C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3200" b="1" u="none" strike="noStrike" dirty="0">
                <a:solidFill>
                  <a:schemeClr val="bg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优先级最高</a:t>
            </a:r>
            <a:endParaRPr lang="en-US" sz="2000" dirty="0">
              <a:solidFill>
                <a:schemeClr val="bg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b="0" i="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会议纪要、文档总结、邮件草稿、资料初筛</a:t>
            </a:r>
            <a:r>
              <a:rPr lang="en-US" altLang="zh-CN" sz="2000" b="0" i="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</a:t>
            </a:r>
            <a:r>
              <a:rPr lang="zh-CN" altLang="en-US" sz="2000" b="0" i="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立刻可用，立刻见效。</a:t>
            </a:r>
          </a:p>
        </p:txBody>
      </p:sp>
      <p:sp>
        <p:nvSpPr>
          <p:cNvPr id="22" name="AutoShape 5">
            <a:extLst>
              <a:ext uri="{FF2B5EF4-FFF2-40B4-BE49-F238E27FC236}">
                <a16:creationId xmlns:a16="http://schemas.microsoft.com/office/drawing/2014/main" id="{501D3E45-688A-C106-A13F-98CF4C19E4C6}"/>
              </a:ext>
            </a:extLst>
          </p:cNvPr>
          <p:cNvSpPr/>
          <p:nvPr/>
        </p:nvSpPr>
        <p:spPr>
          <a:xfrm>
            <a:off x="812800" y="5905501"/>
            <a:ext cx="7137831" cy="2111073"/>
          </a:xfrm>
          <a:prstGeom prst="roundRect">
            <a:avLst>
              <a:gd name="adj" fmla="val 10769"/>
            </a:avLst>
          </a:prstGeom>
          <a:noFill/>
          <a:ln w="25400" cap="flat" cmpd="sng">
            <a:solidFill>
              <a:srgbClr val="332828"/>
            </a:solidFill>
            <a:prstDash val="solid"/>
            <a:round/>
          </a:ln>
        </p:spPr>
        <p:txBody>
          <a:bodyPr vert="horz" wrap="square" lIns="180000" tIns="180000" rIns="216000" bIns="18000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332828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低难度 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332828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</a:t>
            </a:r>
            <a:r>
              <a:rPr lang="zh-CN" altLang="en-US" sz="1700" dirty="0">
                <a:solidFill>
                  <a:srgbClr val="332828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低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332828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收益</a:t>
            </a:r>
            <a:endParaRPr lang="en-US" altLang="zh-CN" sz="1700" b="1" u="none" strike="noStrike" dirty="0">
              <a:solidFill>
                <a:srgbClr val="332828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3200" b="1" u="none" strike="noStrike" dirty="0">
                <a:solidFill>
                  <a:srgbClr val="332828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尝试不浪费</a:t>
            </a:r>
            <a:endParaRPr lang="en-US" sz="2000" dirty="0">
              <a:solidFill>
                <a:srgbClr val="332828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b="0" i="0" u="none" strike="noStrike" dirty="0">
                <a:solidFill>
                  <a:srgbClr val="332828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简单润色、格式整理、低价值摘要</a:t>
            </a:r>
            <a:r>
              <a:rPr lang="en-US" altLang="zh-CN" sz="2000" b="0" i="0" u="none" strike="noStrike" dirty="0">
                <a:solidFill>
                  <a:srgbClr val="332828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332828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可做但别投入心力。</a:t>
            </a:r>
          </a:p>
        </p:txBody>
      </p:sp>
      <p:sp>
        <p:nvSpPr>
          <p:cNvPr id="23" name="AutoShape 5">
            <a:extLst>
              <a:ext uri="{FF2B5EF4-FFF2-40B4-BE49-F238E27FC236}">
                <a16:creationId xmlns:a16="http://schemas.microsoft.com/office/drawing/2014/main" id="{0DDF4941-01BA-C365-F324-78CE638F6450}"/>
              </a:ext>
            </a:extLst>
          </p:cNvPr>
          <p:cNvSpPr/>
          <p:nvPr/>
        </p:nvSpPr>
        <p:spPr>
          <a:xfrm>
            <a:off x="8300528" y="3556002"/>
            <a:ext cx="7137831" cy="2111073"/>
          </a:xfrm>
          <a:prstGeom prst="roundRect">
            <a:avLst>
              <a:gd name="adj" fmla="val 10769"/>
            </a:avLst>
          </a:prstGeom>
          <a:noFill/>
          <a:ln w="25400" cap="flat" cmpd="sng">
            <a:solidFill>
              <a:srgbClr val="332828"/>
            </a:solidFill>
            <a:prstDash val="solid"/>
            <a:round/>
          </a:ln>
        </p:spPr>
        <p:txBody>
          <a:bodyPr vert="horz" wrap="square" lIns="180000" tIns="180000" rIns="216000" bIns="180000" rtlCol="0" anchor="t" anchorCtr="0">
            <a:normAutofit fontScale="92500" lnSpcReduction="10000"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1700" dirty="0">
                <a:solidFill>
                  <a:srgbClr val="332828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332828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难度 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332828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332828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高收益</a:t>
            </a:r>
            <a:endParaRPr lang="en-US" altLang="zh-CN" sz="1700" b="1" u="none" strike="noStrike" dirty="0">
              <a:solidFill>
                <a:srgbClr val="332828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3200" b="1" u="none" strike="noStrike" dirty="0">
                <a:solidFill>
                  <a:srgbClr val="332828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系统化能力</a:t>
            </a:r>
            <a:endParaRPr lang="en-US" altLang="zh-CN" sz="3200" b="1" u="none" strike="noStrike" dirty="0">
              <a:solidFill>
                <a:srgbClr val="332828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2000" b="0" i="0" u="none" strike="noStrike" dirty="0">
                <a:solidFill>
                  <a:srgbClr val="332828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自动化工作流、智能客服、数据分析助手、知识库问答</a:t>
            </a:r>
            <a:r>
              <a:rPr lang="en-US" altLang="zh-CN" sz="2000" b="0" i="0" u="none" strike="noStrike" dirty="0">
                <a:solidFill>
                  <a:srgbClr val="332828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</a:t>
            </a:r>
            <a:r>
              <a:rPr lang="zh-CN" altLang="en-US" sz="2000" b="0" i="0" u="none" strike="noStrike" dirty="0">
                <a:solidFill>
                  <a:srgbClr val="332828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值得投入资源做长期建设。</a:t>
            </a:r>
          </a:p>
        </p:txBody>
      </p:sp>
      <p:sp>
        <p:nvSpPr>
          <p:cNvPr id="24" name="AutoShape 5">
            <a:extLst>
              <a:ext uri="{FF2B5EF4-FFF2-40B4-BE49-F238E27FC236}">
                <a16:creationId xmlns:a16="http://schemas.microsoft.com/office/drawing/2014/main" id="{E19D8799-CC16-E507-2227-F050429C61C7}"/>
              </a:ext>
            </a:extLst>
          </p:cNvPr>
          <p:cNvSpPr/>
          <p:nvPr/>
        </p:nvSpPr>
        <p:spPr>
          <a:xfrm>
            <a:off x="8300528" y="5905501"/>
            <a:ext cx="7137831" cy="2111073"/>
          </a:xfrm>
          <a:prstGeom prst="roundRect">
            <a:avLst>
              <a:gd name="adj" fmla="val 10769"/>
            </a:avLst>
          </a:prstGeom>
          <a:noFill/>
          <a:ln w="25400" cap="flat" cmpd="sng">
            <a:solidFill>
              <a:srgbClr val="332828"/>
            </a:solidFill>
            <a:prstDash val="solid"/>
            <a:round/>
          </a:ln>
        </p:spPr>
        <p:txBody>
          <a:bodyPr vert="horz" wrap="square" lIns="180000" tIns="180000" rIns="216000" bIns="18000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1700" dirty="0">
                <a:solidFill>
                  <a:srgbClr val="332828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332828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难度 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332828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332828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低收益</a:t>
            </a:r>
            <a:endParaRPr lang="en-US" altLang="zh-CN" sz="1700" b="1" u="none" strike="noStrike" dirty="0">
              <a:solidFill>
                <a:srgbClr val="332828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3200" b="1" u="none" strike="noStrike" dirty="0">
                <a:solidFill>
                  <a:srgbClr val="332828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应当避免</a:t>
            </a:r>
            <a:endParaRPr lang="en-US" sz="2000" dirty="0">
              <a:solidFill>
                <a:srgbClr val="332828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b="0" i="0" u="none" strike="noStrike" dirty="0">
                <a:solidFill>
                  <a:srgbClr val="332828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过度定制、目标不清的</a:t>
            </a:r>
            <a:r>
              <a:rPr lang="en-US" altLang="zh-CN" sz="2000" b="0" i="0" u="none" strike="noStrike" dirty="0">
                <a:solidFill>
                  <a:srgbClr val="332828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2000" b="0" i="0" u="none" strike="noStrike" dirty="0">
                <a:solidFill>
                  <a:srgbClr val="332828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系统、缺少业务闭环的复杂方案。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F5154F91-809D-B6C7-4CBA-3345D62D1F63}"/>
              </a:ext>
            </a:extLst>
          </p:cNvPr>
          <p:cNvSpPr/>
          <p:nvPr/>
        </p:nvSpPr>
        <p:spPr>
          <a:xfrm>
            <a:off x="807959" y="2434009"/>
            <a:ext cx="14630400" cy="35804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000" b="0" i="0" u="none" strike="noStrike" dirty="0">
                <a:solidFill>
                  <a:srgbClr val="332828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个体改变速度，组织改变能力</a:t>
            </a:r>
            <a:r>
              <a:rPr lang="en-US" altLang="zh-CN" sz="2000" b="0" i="0" u="none" strike="noStrike" dirty="0">
                <a:solidFill>
                  <a:srgbClr val="332828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332828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两层叠加，才是真正的工作方式重构。</a:t>
            </a:r>
            <a:r>
              <a:rPr lang="en-US" altLang="zh-CN" sz="2000" b="0" i="0" u="none" strike="noStrike" dirty="0">
                <a:solidFill>
                  <a:srgbClr val="332828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2000" b="0" i="0" u="none" strike="noStrike" dirty="0">
                <a:solidFill>
                  <a:srgbClr val="332828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落地不能贪多，要按价值密度排序。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E798AAF-E080-723E-3747-94D00BF75666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332828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先打高</a:t>
            </a:r>
            <a:r>
              <a:rPr lang="en-US" altLang="zh-CN" sz="6000" b="1" u="none" strike="noStrike" dirty="0">
                <a:solidFill>
                  <a:srgbClr val="332828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ROI</a:t>
            </a:r>
            <a:r>
              <a:rPr lang="zh-CN" altLang="en-US" sz="6000" b="1" u="none" strike="noStrike" dirty="0">
                <a:solidFill>
                  <a:srgbClr val="332828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，再筑高壁垒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solidFill>
                <a:srgbClr val="332828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82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10"/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8FC9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/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62F056FE-6DD7-75CB-58BE-43EC7CF96607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5</a:t>
            </a:r>
            <a:r>
              <a:rPr lang="en-US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ACROSS DAILY WORKFLOWS</a:t>
            </a:r>
            <a:endParaRPr lang="en-US" sz="1600" b="1" dirty="0">
              <a:solidFill>
                <a:srgbClr val="E8FC9C"/>
              </a:solidFill>
              <a:latin typeface="Andale Mono" panose="020B0509000000000004" pitchFamily="49" charset="0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392B173-F56F-7CEE-CF25-408345612170}"/>
              </a:ext>
            </a:extLst>
          </p:cNvPr>
          <p:cNvGrpSpPr/>
          <p:nvPr/>
        </p:nvGrpSpPr>
        <p:grpSpPr>
          <a:xfrm>
            <a:off x="811529" y="2966083"/>
            <a:ext cx="4381573" cy="1757548"/>
            <a:chOff x="811529" y="2966083"/>
            <a:chExt cx="4381573" cy="1757548"/>
          </a:xfrm>
        </p:grpSpPr>
        <p:cxnSp>
          <p:nvCxnSpPr>
            <p:cNvPr id="4" name="Connector 4"/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8FC9C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1F67BCB-76CD-7D55-6048-44495BADDFC1}"/>
                </a:ext>
              </a:extLst>
            </p:cNvPr>
            <p:cNvSpPr txBox="1"/>
            <p:nvPr/>
          </p:nvSpPr>
          <p:spPr>
            <a:xfrm>
              <a:off x="811529" y="3141371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E8FC9C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内容生成</a:t>
              </a:r>
              <a:endParaRPr lang="en-US" altLang="zh-CN" sz="2000" b="1" dirty="0">
                <a:solidFill>
                  <a:srgbClr val="E8FC9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chemeClr val="bg1"/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从空白页到初稿，降低启动成本。</a:t>
              </a:r>
              <a:endParaRPr lang="en-US" altLang="zh-CN" sz="1400" b="0" i="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常用于：新媒体运营、内容编辑、文案策划、市场推广专员、公关专员、售前工程师、学术研究人员</a:t>
              </a:r>
              <a:endParaRPr lang="en-US" altLang="zh-CN" sz="1400" b="0" i="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B152AE1-2243-5259-ADBD-E2B9AF39B085}"/>
              </a:ext>
            </a:extLst>
          </p:cNvPr>
          <p:cNvGrpSpPr/>
          <p:nvPr/>
        </p:nvGrpSpPr>
        <p:grpSpPr>
          <a:xfrm>
            <a:off x="5951088" y="2966083"/>
            <a:ext cx="4381573" cy="1757548"/>
            <a:chOff x="811529" y="2966083"/>
            <a:chExt cx="4381573" cy="1757548"/>
          </a:xfrm>
        </p:grpSpPr>
        <p:cxnSp>
          <p:nvCxnSpPr>
            <p:cNvPr id="21" name="Connector 4">
              <a:extLst>
                <a:ext uri="{FF2B5EF4-FFF2-40B4-BE49-F238E27FC236}">
                  <a16:creationId xmlns:a16="http://schemas.microsoft.com/office/drawing/2014/main" id="{DAB913AE-DF9B-5FDC-00A4-9DD8C52863AE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8FC9C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A573E52-DFEA-3D83-3E3F-A280672D6360}"/>
                </a:ext>
              </a:extLst>
            </p:cNvPr>
            <p:cNvSpPr txBox="1"/>
            <p:nvPr/>
          </p:nvSpPr>
          <p:spPr>
            <a:xfrm>
              <a:off x="811529" y="3141371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E8FC9C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数据分析</a:t>
              </a:r>
              <a:endParaRPr lang="en-US" altLang="zh-CN" sz="2000" b="1" dirty="0">
                <a:solidFill>
                  <a:srgbClr val="E8FC9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chemeClr val="bg1"/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从表格与文本中提炼趋势、异常和洞察。</a:t>
              </a:r>
              <a:endParaRPr lang="en-US" altLang="zh-CN" sz="1400" b="0" i="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常用于：数据分析师、商业分析师（</a:t>
              </a:r>
              <a:r>
                <a:rPr lang="en-US" altLang="zh-CN" dirty="0">
                  <a:solidFill>
                    <a:schemeClr val="bg1"/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BA</a:t>
              </a:r>
              <a:r>
                <a:rPr lang="zh-CN" altLang="en-US" dirty="0">
                  <a:solidFill>
                    <a:schemeClr val="bg1"/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）、市场运营、产品经理、电商运营、财务人员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AE1904E-B6D7-6B54-D743-32FD692DAB8B}"/>
              </a:ext>
            </a:extLst>
          </p:cNvPr>
          <p:cNvGrpSpPr/>
          <p:nvPr/>
        </p:nvGrpSpPr>
        <p:grpSpPr>
          <a:xfrm>
            <a:off x="11059116" y="2966083"/>
            <a:ext cx="4381573" cy="1757548"/>
            <a:chOff x="811529" y="2966083"/>
            <a:chExt cx="4381573" cy="1757548"/>
          </a:xfrm>
        </p:grpSpPr>
        <p:cxnSp>
          <p:nvCxnSpPr>
            <p:cNvPr id="24" name="Connector 4">
              <a:extLst>
                <a:ext uri="{FF2B5EF4-FFF2-40B4-BE49-F238E27FC236}">
                  <a16:creationId xmlns:a16="http://schemas.microsoft.com/office/drawing/2014/main" id="{E3ABB71C-7EF3-AD5F-0C7E-9D17E997564E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8FC9C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C4F0E6E-5AB0-50B7-07DE-9672C909A745}"/>
                </a:ext>
              </a:extLst>
            </p:cNvPr>
            <p:cNvSpPr txBox="1"/>
            <p:nvPr/>
          </p:nvSpPr>
          <p:spPr>
            <a:xfrm>
              <a:off x="811529" y="3141371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E8FC9C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客户沟通</a:t>
              </a:r>
              <a:endParaRPr lang="en-US" altLang="zh-CN" sz="2000" b="1" dirty="0">
                <a:solidFill>
                  <a:srgbClr val="E8FC9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chemeClr val="bg1"/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辅助撰写回复、</a:t>
              </a:r>
              <a:r>
                <a:rPr lang="en-US" altLang="zh-CN" sz="1400" b="0" i="0" u="none" strike="noStrike" dirty="0">
                  <a:solidFill>
                    <a:schemeClr val="bg1"/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FAQ</a:t>
              </a:r>
              <a:r>
                <a:rPr lang="zh-CN" altLang="en-US" sz="1400" b="0" i="0" u="none" strike="noStrike" dirty="0">
                  <a:solidFill>
                    <a:schemeClr val="bg1"/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、跟进记录与服务摘要。</a:t>
              </a:r>
              <a:endParaRPr lang="en-US" altLang="zh-CN" sz="1400" b="0" i="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常用于：客服专员、客户关系管理（</a:t>
              </a:r>
              <a:r>
                <a:rPr lang="en-US" altLang="zh-CN" dirty="0">
                  <a:solidFill>
                    <a:schemeClr val="bg1"/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CRM</a:t>
              </a:r>
              <a:r>
                <a:rPr lang="zh-CN" altLang="en-US" dirty="0">
                  <a:solidFill>
                    <a:schemeClr val="bg1"/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）专员、销售代表、技术支持、社群运营、电话销售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D34DA30-0EDB-0FAD-5271-7C1F00DEF018}"/>
              </a:ext>
            </a:extLst>
          </p:cNvPr>
          <p:cNvGrpSpPr/>
          <p:nvPr/>
        </p:nvGrpSpPr>
        <p:grpSpPr>
          <a:xfrm>
            <a:off x="811529" y="5788712"/>
            <a:ext cx="4381573" cy="1757547"/>
            <a:chOff x="811529" y="2966083"/>
            <a:chExt cx="4381573" cy="1757547"/>
          </a:xfrm>
        </p:grpSpPr>
        <p:cxnSp>
          <p:nvCxnSpPr>
            <p:cNvPr id="27" name="Connector 4">
              <a:extLst>
                <a:ext uri="{FF2B5EF4-FFF2-40B4-BE49-F238E27FC236}">
                  <a16:creationId xmlns:a16="http://schemas.microsoft.com/office/drawing/2014/main" id="{338259FD-697A-ADB2-C4DF-68217B84EE35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8FC9C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EDF2866-A980-95A4-96E8-C501E1827FF9}"/>
                </a:ext>
              </a:extLst>
            </p:cNvPr>
            <p:cNvSpPr txBox="1"/>
            <p:nvPr/>
          </p:nvSpPr>
          <p:spPr>
            <a:xfrm>
              <a:off x="811529" y="3141370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E8FC9C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项目管理</a:t>
              </a:r>
              <a:endParaRPr lang="en-US" altLang="zh-CN" sz="2000" b="1" dirty="0">
                <a:solidFill>
                  <a:srgbClr val="E8FC9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chemeClr val="bg1"/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拆解任务、生成计划、追踪风险与复盘结果。</a:t>
              </a:r>
              <a:endParaRPr lang="en-US" altLang="zh-CN" sz="1400" b="0" i="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常用于：项目经理（</a:t>
              </a:r>
              <a:r>
                <a:rPr lang="en-US" altLang="zh-CN" dirty="0">
                  <a:solidFill>
                    <a:schemeClr val="bg1"/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PM</a:t>
              </a:r>
              <a:r>
                <a:rPr lang="zh-CN" altLang="en-US" dirty="0">
                  <a:solidFill>
                    <a:schemeClr val="bg1"/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）、项目助理、实施顾问、部门主管、活动策划、研发团队负责人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C3EA5B1-C9B0-9245-F3F6-83E6A63D7451}"/>
              </a:ext>
            </a:extLst>
          </p:cNvPr>
          <p:cNvGrpSpPr/>
          <p:nvPr/>
        </p:nvGrpSpPr>
        <p:grpSpPr>
          <a:xfrm>
            <a:off x="5951088" y="5788712"/>
            <a:ext cx="4381573" cy="1757547"/>
            <a:chOff x="811529" y="2966083"/>
            <a:chExt cx="4381573" cy="1757547"/>
          </a:xfrm>
        </p:grpSpPr>
        <p:cxnSp>
          <p:nvCxnSpPr>
            <p:cNvPr id="30" name="Connector 4">
              <a:extLst>
                <a:ext uri="{FF2B5EF4-FFF2-40B4-BE49-F238E27FC236}">
                  <a16:creationId xmlns:a16="http://schemas.microsoft.com/office/drawing/2014/main" id="{5335B428-472C-132D-CC19-9AB88B5BDFD8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8FC9C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12BC6C0B-6C0E-C7F4-9635-DA89FD56AA00}"/>
                </a:ext>
              </a:extLst>
            </p:cNvPr>
            <p:cNvSpPr txBox="1"/>
            <p:nvPr/>
          </p:nvSpPr>
          <p:spPr>
            <a:xfrm>
              <a:off x="811529" y="3141370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E8FC9C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知识沉淀</a:t>
              </a:r>
              <a:endParaRPr lang="en-US" altLang="zh-CN" sz="2000" b="1" dirty="0">
                <a:solidFill>
                  <a:srgbClr val="E8FC9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chemeClr val="bg1"/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把分散文档、会议与经验整理成可检索资产。</a:t>
              </a:r>
              <a:endParaRPr lang="en-US" altLang="zh-CN" sz="1400" b="0" i="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常用于：企业知识管理员、培训专员、行政助理、售前顾问、人力资源、律师、科研人员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6E9DF2C1-58E7-DB61-9243-F6D16B81AEEE}"/>
              </a:ext>
            </a:extLst>
          </p:cNvPr>
          <p:cNvGrpSpPr/>
          <p:nvPr/>
        </p:nvGrpSpPr>
        <p:grpSpPr>
          <a:xfrm>
            <a:off x="11059116" y="5788712"/>
            <a:ext cx="4381573" cy="1757547"/>
            <a:chOff x="811529" y="2966083"/>
            <a:chExt cx="4381573" cy="1757547"/>
          </a:xfrm>
        </p:grpSpPr>
        <p:cxnSp>
          <p:nvCxnSpPr>
            <p:cNvPr id="33" name="Connector 4">
              <a:extLst>
                <a:ext uri="{FF2B5EF4-FFF2-40B4-BE49-F238E27FC236}">
                  <a16:creationId xmlns:a16="http://schemas.microsoft.com/office/drawing/2014/main" id="{632F575E-6E32-04E8-2463-87D36533AD7E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8FC9C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9F64137D-6838-5F15-2E32-A7E8D164F595}"/>
                </a:ext>
              </a:extLst>
            </p:cNvPr>
            <p:cNvSpPr txBox="1"/>
            <p:nvPr/>
          </p:nvSpPr>
          <p:spPr>
            <a:xfrm>
              <a:off x="811529" y="3141370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E8FC9C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个人学习</a:t>
              </a:r>
              <a:endParaRPr lang="en-US" altLang="zh-CN" sz="2000" b="1" dirty="0">
                <a:solidFill>
                  <a:srgbClr val="E8FC9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chemeClr val="bg1"/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生成学习路径、解释概念、模拟练习与复盘。</a:t>
              </a:r>
              <a:endParaRPr lang="en-US" altLang="zh-CN" sz="1400" b="0" i="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常用于：实习生</a:t>
              </a:r>
              <a:r>
                <a:rPr lang="en-US" altLang="zh-CN" dirty="0">
                  <a:solidFill>
                    <a:schemeClr val="bg1"/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/</a:t>
              </a:r>
              <a:r>
                <a:rPr lang="zh-CN" altLang="en-US" dirty="0">
                  <a:solidFill>
                    <a:schemeClr val="bg1"/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职场新人、在校学生、备考人群、专业技能学习者、需要跨领域了解的管理者、销售</a:t>
              </a:r>
            </a:p>
          </p:txBody>
        </p:sp>
      </p:grpSp>
      <p:sp>
        <p:nvSpPr>
          <p:cNvPr id="3" name="AutoShape 3">
            <a:extLst>
              <a:ext uri="{FF2B5EF4-FFF2-40B4-BE49-F238E27FC236}">
                <a16:creationId xmlns:a16="http://schemas.microsoft.com/office/drawing/2014/main" id="{541E03B9-4321-EC80-F088-A1F0D7B13EDE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en-US" altLang="zh-CN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已经渗透到</a:t>
            </a:r>
            <a:r>
              <a:rPr lang="zh-CN" altLang="en-US" sz="6000" b="1" u="none" strike="noStrike" dirty="0">
                <a:solidFill>
                  <a:srgbClr val="E8FC9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六类</a:t>
            </a: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日常工作场景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82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E8FC9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2C566726-4465-C6EC-957E-7152611EB08B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6</a:t>
            </a:r>
            <a:r>
              <a:rPr lang="en-US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OLD WAY VS NEW WAY</a:t>
            </a:r>
            <a:endParaRPr lang="en-US" sz="1600" b="1" dirty="0">
              <a:solidFill>
                <a:srgbClr val="E8FC9C"/>
              </a:solidFill>
              <a:latin typeface="Andale Mono" panose="020B0509000000000004" pitchFamily="49" charset="0"/>
            </a:endParaRPr>
          </a:p>
        </p:txBody>
      </p:sp>
      <p:sp>
        <p:nvSpPr>
          <p:cNvPr id="2" name="AutoShape 5">
            <a:extLst>
              <a:ext uri="{FF2B5EF4-FFF2-40B4-BE49-F238E27FC236}">
                <a16:creationId xmlns:a16="http://schemas.microsoft.com/office/drawing/2014/main" id="{63963D0F-D7FD-A213-CACC-5EE1853E078F}"/>
              </a:ext>
            </a:extLst>
          </p:cNvPr>
          <p:cNvSpPr/>
          <p:nvPr/>
        </p:nvSpPr>
        <p:spPr>
          <a:xfrm>
            <a:off x="2230437" y="4064000"/>
            <a:ext cx="11795125" cy="1998368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33333"/>
              </a:lnSpc>
              <a:spcAft>
                <a:spcPts val="1200"/>
              </a:spcAft>
              <a:defRPr/>
            </a:pPr>
            <a:r>
              <a:rPr lang="en-US" altLang="zh-CN" sz="4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3 </a:t>
            </a:r>
            <a:r>
              <a:rPr lang="zh-CN" altLang="en-US" sz="4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亿个岗位，正在被重新定义。</a:t>
            </a:r>
            <a:endParaRPr lang="en-US" altLang="zh-CN" sz="4000" b="1" u="none" strike="noStrike" dirty="0">
              <a:solidFill>
                <a:srgbClr val="FFFFFF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33333"/>
              </a:lnSpc>
              <a:defRPr/>
            </a:pPr>
            <a:r>
              <a:rPr lang="zh-CN" altLang="en-US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会议纪要从人工记录走向</a:t>
            </a:r>
            <a:r>
              <a:rPr lang="zh-CN" altLang="en-US" sz="2000" b="0" i="0" u="none" strike="noStrike" dirty="0">
                <a:solidFill>
                  <a:srgbClr val="E8FC9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自动转写与摘要</a:t>
            </a:r>
            <a:r>
              <a:rPr lang="zh-CN" altLang="en-US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；市场调研从手动搜索走向</a:t>
            </a:r>
            <a:r>
              <a:rPr lang="zh-CN" altLang="en-US" sz="2000" b="0" i="0" u="none" strike="noStrike" dirty="0">
                <a:solidFill>
                  <a:srgbClr val="E8FC9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多源汇总</a:t>
            </a:r>
            <a:r>
              <a:rPr lang="zh-CN" altLang="en-US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；文案撰写从从零起草走向</a:t>
            </a:r>
            <a:r>
              <a:rPr lang="zh-CN" altLang="en-US" sz="2000" b="0" i="0" u="none" strike="noStrike" dirty="0">
                <a:solidFill>
                  <a:srgbClr val="E8FC9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初稿生成与精修</a:t>
            </a:r>
            <a:r>
              <a:rPr lang="zh-CN" altLang="en-US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。每一项变化，都是工作方式的重构。</a:t>
            </a:r>
            <a:endParaRPr lang="en-US" altLang="zh-CN" sz="2000" b="0" i="0" u="none" strike="noStrike" dirty="0">
              <a:solidFill>
                <a:srgbClr val="FFFFFF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33333"/>
              </a:lnSpc>
              <a:defRPr/>
            </a:pP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518F469-7BE5-A430-F4C6-E5DD47013553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传统方式 与 </a:t>
            </a:r>
            <a:r>
              <a:rPr lang="en-US" altLang="zh-CN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方式的</a:t>
            </a:r>
            <a:r>
              <a:rPr lang="zh-CN" altLang="en-US" sz="6000" b="1" u="none" strike="noStrike" dirty="0">
                <a:solidFill>
                  <a:srgbClr val="E8FC9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本质差异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78ABBACB-73CD-2364-6EC7-16EB5B9FB274}"/>
              </a:ext>
            </a:extLst>
          </p:cNvPr>
          <p:cNvSpPr/>
          <p:nvPr/>
        </p:nvSpPr>
        <p:spPr>
          <a:xfrm>
            <a:off x="0" y="2725643"/>
            <a:ext cx="1543050" cy="133835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08333"/>
              </a:lnSpc>
              <a:defRPr/>
            </a:pPr>
            <a:r>
              <a:rPr lang="zh-CN" altLang="en-US" sz="14000" b="1" u="none" strike="noStrike" dirty="0">
                <a:solidFill>
                  <a:srgbClr val="E8FC9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“</a:t>
            </a:r>
          </a:p>
          <a:p>
            <a:pPr algn="ctr"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82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4F72B-623D-C432-A6A8-5C987D915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7E15C78B-5377-6B6F-E8CD-10AC12DAD235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E8FC9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03377B77-E5F2-4EA4-BC89-2979384B9429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7</a:t>
            </a:r>
            <a:r>
              <a:rPr lang="en-US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OLD WAY VS NEW </a:t>
            </a:r>
            <a:r>
              <a:rPr lang="en-US" sz="1600" b="1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WAY</a:t>
            </a:r>
            <a:r>
              <a:rPr lang="zh-CN" altLang="en-US" sz="1600" b="1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CHART</a:t>
            </a:r>
            <a:endParaRPr lang="en-US" sz="1600" b="1" dirty="0">
              <a:solidFill>
                <a:srgbClr val="E8FC9C"/>
              </a:solidFill>
              <a:latin typeface="Andale Mono" panose="020B0509000000000004" pitchFamily="49" charset="0"/>
            </a:endParaRP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D423366E-2058-8618-BC4D-20DE4EA981DC}"/>
              </a:ext>
            </a:extLst>
          </p:cNvPr>
          <p:cNvSpPr/>
          <p:nvPr/>
        </p:nvSpPr>
        <p:spPr>
          <a:xfrm>
            <a:off x="812800" y="1379013"/>
            <a:ext cx="14630400" cy="1270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E8FC9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传统方式 </a:t>
            </a:r>
            <a:r>
              <a:rPr lang="en-US" altLang="zh-CN" sz="600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VS</a:t>
            </a:r>
            <a:r>
              <a:rPr lang="en-US" altLang="zh-CN" sz="6000" b="1" u="none" strike="noStrike" dirty="0">
                <a:solidFill>
                  <a:srgbClr val="E8FC9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AI </a:t>
            </a:r>
            <a:r>
              <a:rPr lang="zh-CN" altLang="en-US" sz="6000" b="1" u="none" strike="noStrike" dirty="0">
                <a:solidFill>
                  <a:srgbClr val="E8FC9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辅助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081D79-ABC7-BA8A-8066-E2BD381F7A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4068400"/>
              </p:ext>
            </p:extLst>
          </p:nvPr>
        </p:nvGraphicFramePr>
        <p:xfrm>
          <a:off x="812800" y="2957669"/>
          <a:ext cx="14630399" cy="475237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81693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3742659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5103628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3402419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742134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rgbClr val="E8FC9C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场景</a:t>
                      </a:r>
                      <a:endParaRPr lang="en-US" sz="1100" b="1" dirty="0">
                        <a:solidFill>
                          <a:srgbClr val="E8FC9C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C9C">
                        <a:alpha val="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rgbClr val="E8FC9C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传统方式</a:t>
                      </a:r>
                      <a:endParaRPr lang="en-US" sz="1100" b="1" dirty="0">
                        <a:solidFill>
                          <a:srgbClr val="E8FC9C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C9C">
                        <a:alpha val="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>
                          <a:solidFill>
                            <a:srgbClr val="E8FC9C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AI </a:t>
                      </a:r>
                      <a:r>
                        <a:rPr lang="en-US" sz="1600" b="1" u="none" strike="noStrike" dirty="0" err="1">
                          <a:solidFill>
                            <a:srgbClr val="E8FC9C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辅助方式</a:t>
                      </a:r>
                      <a:endParaRPr lang="en-US" sz="1100" b="1" dirty="0">
                        <a:solidFill>
                          <a:srgbClr val="E8FC9C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C9C">
                        <a:alpha val="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rgbClr val="E8FC9C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提效价值</a:t>
                      </a:r>
                      <a:endParaRPr lang="en-US" sz="1100" b="1" dirty="0">
                        <a:solidFill>
                          <a:srgbClr val="E8FC9C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C9C">
                        <a:alpha val="470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会议纪要</a:t>
                      </a:r>
                      <a:endParaRPr lang="en-US" sz="11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人工记录整理</a:t>
                      </a:r>
                      <a:endParaRPr lang="en-US" sz="11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自动转写与摘要</a:t>
                      </a:r>
                      <a:endParaRPr lang="en-US" sz="11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E8FC9C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节省整理时间</a:t>
                      </a:r>
                      <a:endParaRPr lang="en-US" sz="1100" b="0" dirty="0">
                        <a:solidFill>
                          <a:srgbClr val="E8FC9C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市场调研</a:t>
                      </a:r>
                      <a:endParaRPr lang="en-US" sz="11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手动搜索资料</a:t>
                      </a:r>
                      <a:endParaRPr lang="en-US" sz="11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快速汇总多来源信息</a:t>
                      </a:r>
                      <a:endParaRPr lang="en-US" sz="11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E8FC9C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提升信息密度</a:t>
                      </a:r>
                      <a:endParaRPr lang="en-US" sz="1100" b="0" dirty="0">
                        <a:solidFill>
                          <a:srgbClr val="E8FC9C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文案撰写</a:t>
                      </a:r>
                      <a:endParaRPr lang="en-US" sz="11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从零起草</a:t>
                      </a:r>
                      <a:endParaRPr lang="en-US" sz="11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先生成初稿再修改</a:t>
                      </a:r>
                      <a:endParaRPr lang="en-US" sz="11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E8FC9C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降低启动成本</a:t>
                      </a:r>
                      <a:endParaRPr lang="en-US" sz="1100" b="0" dirty="0">
                        <a:solidFill>
                          <a:srgbClr val="E8FC9C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数据分析</a:t>
                      </a:r>
                      <a:endParaRPr lang="en-US" sz="11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手动筛选图表</a:t>
                      </a:r>
                      <a:endParaRPr lang="en-US" sz="11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自动提炼趋势与异常</a:t>
                      </a:r>
                      <a:endParaRPr lang="en-US" sz="11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E8FC9C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辅助判断</a:t>
                      </a:r>
                      <a:endParaRPr lang="en-US" sz="1100" b="0" dirty="0">
                        <a:solidFill>
                          <a:srgbClr val="E8FC9C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知识管理</a:t>
                      </a:r>
                      <a:endParaRPr lang="en-US" sz="11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T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依赖个人经验查找</a:t>
                      </a:r>
                      <a:endParaRPr lang="en-US" sz="1100" b="0">
                        <a:solidFill>
                          <a:schemeClr val="bg1">
                            <a:lumMod val="95000"/>
                          </a:schemeClr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知识库问答与自动归档</a:t>
                      </a:r>
                      <a:endParaRPr lang="en-US" sz="11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E8FC9C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提高复用率</a:t>
                      </a:r>
                      <a:endParaRPr lang="en-US" sz="1100" b="0" dirty="0">
                        <a:solidFill>
                          <a:srgbClr val="E8FC9C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C9C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9950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82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695E54A5-F8CD-A34D-36F5-4A1C45291799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8</a:t>
            </a:r>
            <a:r>
              <a:rPr lang="en-US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altLang="zh-CN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BEYOND</a:t>
            </a:r>
            <a:r>
              <a:rPr lang="zh-CN" altLang="en-US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EARLY ADOPTION</a:t>
            </a:r>
            <a:endParaRPr lang="en-US" sz="1600" b="1" dirty="0">
              <a:solidFill>
                <a:srgbClr val="E8FC9C"/>
              </a:solidFill>
              <a:latin typeface="Andale Mono" panose="020B0509000000000004" pitchFamily="49" charset="0"/>
            </a:endParaRP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BFF99BB1-50D9-C2CE-AA80-E5E5576DAF23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E8FC9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147212F-20CA-7645-2789-3FA43FCE918E}"/>
              </a:ext>
            </a:extLst>
          </p:cNvPr>
          <p:cNvGrpSpPr/>
          <p:nvPr/>
        </p:nvGrpSpPr>
        <p:grpSpPr>
          <a:xfrm>
            <a:off x="8604250" y="4867402"/>
            <a:ext cx="6807200" cy="578920"/>
            <a:chOff x="8604250" y="5650212"/>
            <a:chExt cx="6807200" cy="578920"/>
          </a:xfrm>
        </p:grpSpPr>
        <p:cxnSp>
          <p:nvCxnSpPr>
            <p:cNvPr id="13" name="Connector 4">
              <a:extLst>
                <a:ext uri="{FF2B5EF4-FFF2-40B4-BE49-F238E27FC236}">
                  <a16:creationId xmlns:a16="http://schemas.microsoft.com/office/drawing/2014/main" id="{F4E86C68-EA4E-931D-87F2-4632EAE76EB0}"/>
                </a:ext>
              </a:extLst>
            </p:cNvPr>
            <p:cNvCxnSpPr>
              <a:cxnSpLocks/>
            </p:cNvCxnSpPr>
            <p:nvPr/>
          </p:nvCxnSpPr>
          <p:spPr>
            <a:xfrm>
              <a:off x="8604250" y="6229132"/>
              <a:ext cx="6807200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8FC9C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5" name="AutoShape 5">
              <a:extLst>
                <a:ext uri="{FF2B5EF4-FFF2-40B4-BE49-F238E27FC236}">
                  <a16:creationId xmlns:a16="http://schemas.microsoft.com/office/drawing/2014/main" id="{D5C0398D-3768-5773-51BD-7DAE8B0A7490}"/>
                </a:ext>
              </a:extLst>
            </p:cNvPr>
            <p:cNvSpPr/>
            <p:nvPr/>
          </p:nvSpPr>
          <p:spPr>
            <a:xfrm>
              <a:off x="8604250" y="5650212"/>
              <a:ext cx="824563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zh-CN" altLang="en-US" sz="1600" u="none" strike="noStrike" dirty="0">
                  <a:solidFill>
                    <a:srgbClr val="E8FC9C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≥ </a:t>
              </a:r>
              <a:r>
                <a:rPr lang="en-US" altLang="zh-CN" sz="1600" u="none" strike="noStrike" dirty="0">
                  <a:solidFill>
                    <a:srgbClr val="E8FC9C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1</a:t>
              </a:r>
              <a:r>
                <a:rPr lang="zh-CN" altLang="en-US" sz="1600" u="none" strike="noStrike" dirty="0">
                  <a:solidFill>
                    <a:srgbClr val="E8FC9C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个</a:t>
              </a:r>
              <a:endParaRPr lang="en-US" sz="160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16" name="圆角矩形 15">
              <a:extLst>
                <a:ext uri="{FF2B5EF4-FFF2-40B4-BE49-F238E27FC236}">
                  <a16:creationId xmlns:a16="http://schemas.microsoft.com/office/drawing/2014/main" id="{F7CA1E1A-AFD6-125B-AC64-AB47B8862EF0}"/>
                </a:ext>
              </a:extLst>
            </p:cNvPr>
            <p:cNvSpPr/>
            <p:nvPr/>
          </p:nvSpPr>
          <p:spPr>
            <a:xfrm>
              <a:off x="9598054" y="5766189"/>
              <a:ext cx="5056287" cy="117834"/>
            </a:xfrm>
            <a:prstGeom prst="roundRect">
              <a:avLst>
                <a:gd name="adj" fmla="val 50000"/>
              </a:avLst>
            </a:prstGeom>
            <a:solidFill>
              <a:srgbClr val="E8FC9C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7" name="AutoShape 5">
              <a:extLst>
                <a:ext uri="{FF2B5EF4-FFF2-40B4-BE49-F238E27FC236}">
                  <a16:creationId xmlns:a16="http://schemas.microsoft.com/office/drawing/2014/main" id="{F773D933-FE67-86F8-0C6E-49244D7628F6}"/>
                </a:ext>
              </a:extLst>
            </p:cNvPr>
            <p:cNvSpPr/>
            <p:nvPr/>
          </p:nvSpPr>
          <p:spPr>
            <a:xfrm>
              <a:off x="14823583" y="5650212"/>
              <a:ext cx="587867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 algn="r"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en-US" altLang="zh-CN" sz="1600" u="none" strike="noStrike" dirty="0">
                  <a:solidFill>
                    <a:srgbClr val="E8FC9C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72%</a:t>
              </a:r>
              <a:endParaRPr lang="en-US" sz="160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18" name="圆角矩形 17">
              <a:extLst>
                <a:ext uri="{FF2B5EF4-FFF2-40B4-BE49-F238E27FC236}">
                  <a16:creationId xmlns:a16="http://schemas.microsoft.com/office/drawing/2014/main" id="{A3C996C8-0F74-1781-A9A0-FEF580E7BBAC}"/>
                </a:ext>
              </a:extLst>
            </p:cNvPr>
            <p:cNvSpPr/>
            <p:nvPr/>
          </p:nvSpPr>
          <p:spPr>
            <a:xfrm>
              <a:off x="9598054" y="5766189"/>
              <a:ext cx="3958441" cy="117834"/>
            </a:xfrm>
            <a:prstGeom prst="roundRect">
              <a:avLst>
                <a:gd name="adj" fmla="val 50000"/>
              </a:avLst>
            </a:prstGeom>
            <a:solidFill>
              <a:srgbClr val="E8FC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3A6ECE6-9414-EB77-89AB-3AFAE51F7785}"/>
              </a:ext>
            </a:extLst>
          </p:cNvPr>
          <p:cNvGrpSpPr/>
          <p:nvPr/>
        </p:nvGrpSpPr>
        <p:grpSpPr>
          <a:xfrm>
            <a:off x="8604250" y="5656322"/>
            <a:ext cx="6807200" cy="578920"/>
            <a:chOff x="8604250" y="5650212"/>
            <a:chExt cx="6807200" cy="578920"/>
          </a:xfrm>
        </p:grpSpPr>
        <p:cxnSp>
          <p:nvCxnSpPr>
            <p:cNvPr id="21" name="Connector 4">
              <a:extLst>
                <a:ext uri="{FF2B5EF4-FFF2-40B4-BE49-F238E27FC236}">
                  <a16:creationId xmlns:a16="http://schemas.microsoft.com/office/drawing/2014/main" id="{80884F51-A4DC-A395-7F7D-5F6D9A3CA24A}"/>
                </a:ext>
              </a:extLst>
            </p:cNvPr>
            <p:cNvCxnSpPr>
              <a:cxnSpLocks/>
            </p:cNvCxnSpPr>
            <p:nvPr/>
          </p:nvCxnSpPr>
          <p:spPr>
            <a:xfrm>
              <a:off x="8604250" y="6229132"/>
              <a:ext cx="6807200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8FC9C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2" name="AutoShape 5">
              <a:extLst>
                <a:ext uri="{FF2B5EF4-FFF2-40B4-BE49-F238E27FC236}">
                  <a16:creationId xmlns:a16="http://schemas.microsoft.com/office/drawing/2014/main" id="{6A4E80F2-263B-1A16-120C-08E78EE1D706}"/>
                </a:ext>
              </a:extLst>
            </p:cNvPr>
            <p:cNvSpPr/>
            <p:nvPr/>
          </p:nvSpPr>
          <p:spPr>
            <a:xfrm>
              <a:off x="8604250" y="5650212"/>
              <a:ext cx="824563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zh-CN" altLang="en-US" sz="1600" u="none" strike="noStrike" dirty="0">
                  <a:solidFill>
                    <a:srgbClr val="E8FC9C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≥ </a:t>
              </a:r>
              <a:r>
                <a:rPr lang="en-US" altLang="zh-CN" sz="1600" u="none" strike="noStrike" dirty="0">
                  <a:solidFill>
                    <a:srgbClr val="E8FC9C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2</a:t>
              </a:r>
              <a:r>
                <a:rPr lang="zh-CN" altLang="en-US" sz="1600" u="none" strike="noStrike" dirty="0">
                  <a:solidFill>
                    <a:srgbClr val="E8FC9C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个</a:t>
              </a:r>
              <a:endParaRPr lang="en-US" sz="160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23" name="圆角矩形 22">
              <a:extLst>
                <a:ext uri="{FF2B5EF4-FFF2-40B4-BE49-F238E27FC236}">
                  <a16:creationId xmlns:a16="http://schemas.microsoft.com/office/drawing/2014/main" id="{B32AC603-167A-2F6C-F5F9-70BFCB97BBAE}"/>
                </a:ext>
              </a:extLst>
            </p:cNvPr>
            <p:cNvSpPr/>
            <p:nvPr/>
          </p:nvSpPr>
          <p:spPr>
            <a:xfrm>
              <a:off x="9598054" y="5766189"/>
              <a:ext cx="5056287" cy="117834"/>
            </a:xfrm>
            <a:prstGeom prst="roundRect">
              <a:avLst>
                <a:gd name="adj" fmla="val 50000"/>
              </a:avLst>
            </a:prstGeom>
            <a:solidFill>
              <a:srgbClr val="E8FC9C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4" name="AutoShape 5">
              <a:extLst>
                <a:ext uri="{FF2B5EF4-FFF2-40B4-BE49-F238E27FC236}">
                  <a16:creationId xmlns:a16="http://schemas.microsoft.com/office/drawing/2014/main" id="{590B50AF-3B61-F446-149F-CE4D6E12A07A}"/>
                </a:ext>
              </a:extLst>
            </p:cNvPr>
            <p:cNvSpPr/>
            <p:nvPr/>
          </p:nvSpPr>
          <p:spPr>
            <a:xfrm>
              <a:off x="14823583" y="5650212"/>
              <a:ext cx="587867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 algn="r"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en-US" altLang="zh-CN" sz="1600" u="none" strike="noStrike" dirty="0">
                  <a:solidFill>
                    <a:srgbClr val="E8FC9C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50%</a:t>
              </a:r>
              <a:endParaRPr lang="en-US" sz="160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25" name="圆角矩形 24">
              <a:extLst>
                <a:ext uri="{FF2B5EF4-FFF2-40B4-BE49-F238E27FC236}">
                  <a16:creationId xmlns:a16="http://schemas.microsoft.com/office/drawing/2014/main" id="{31FF4DD5-D2CF-378A-E6A8-2589FDEB2FA1}"/>
                </a:ext>
              </a:extLst>
            </p:cNvPr>
            <p:cNvSpPr/>
            <p:nvPr/>
          </p:nvSpPr>
          <p:spPr>
            <a:xfrm>
              <a:off x="9598054" y="5766189"/>
              <a:ext cx="2560908" cy="117834"/>
            </a:xfrm>
            <a:prstGeom prst="roundRect">
              <a:avLst>
                <a:gd name="adj" fmla="val 50000"/>
              </a:avLst>
            </a:prstGeom>
            <a:solidFill>
              <a:srgbClr val="E8FC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9AA61005-3C0F-792F-25FD-5AA9EA3F5C11}"/>
              </a:ext>
            </a:extLst>
          </p:cNvPr>
          <p:cNvGrpSpPr/>
          <p:nvPr/>
        </p:nvGrpSpPr>
        <p:grpSpPr>
          <a:xfrm>
            <a:off x="8604250" y="6445242"/>
            <a:ext cx="6807200" cy="578920"/>
            <a:chOff x="8604250" y="5650212"/>
            <a:chExt cx="6807200" cy="578920"/>
          </a:xfrm>
        </p:grpSpPr>
        <p:cxnSp>
          <p:nvCxnSpPr>
            <p:cNvPr id="27" name="Connector 4">
              <a:extLst>
                <a:ext uri="{FF2B5EF4-FFF2-40B4-BE49-F238E27FC236}">
                  <a16:creationId xmlns:a16="http://schemas.microsoft.com/office/drawing/2014/main" id="{55195534-96C0-1690-B57B-87E38B2B4B4E}"/>
                </a:ext>
              </a:extLst>
            </p:cNvPr>
            <p:cNvCxnSpPr>
              <a:cxnSpLocks/>
            </p:cNvCxnSpPr>
            <p:nvPr/>
          </p:nvCxnSpPr>
          <p:spPr>
            <a:xfrm>
              <a:off x="8604250" y="6229132"/>
              <a:ext cx="6807200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8FC9C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8" name="AutoShape 5">
              <a:extLst>
                <a:ext uri="{FF2B5EF4-FFF2-40B4-BE49-F238E27FC236}">
                  <a16:creationId xmlns:a16="http://schemas.microsoft.com/office/drawing/2014/main" id="{45536B61-662B-E52D-02C1-3C103E75D45A}"/>
                </a:ext>
              </a:extLst>
            </p:cNvPr>
            <p:cNvSpPr/>
            <p:nvPr/>
          </p:nvSpPr>
          <p:spPr>
            <a:xfrm>
              <a:off x="8604250" y="5650212"/>
              <a:ext cx="824563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zh-CN" altLang="en-US" sz="1600" u="none" strike="noStrike" dirty="0">
                  <a:solidFill>
                    <a:srgbClr val="E8FC9C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≥ </a:t>
              </a:r>
              <a:r>
                <a:rPr lang="en-US" altLang="zh-CN" sz="1600" dirty="0">
                  <a:solidFill>
                    <a:srgbClr val="E8FC9C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3</a:t>
              </a:r>
              <a:r>
                <a:rPr lang="zh-CN" altLang="en-US" sz="1600" u="none" strike="noStrike" dirty="0">
                  <a:solidFill>
                    <a:srgbClr val="E8FC9C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个</a:t>
              </a:r>
              <a:endParaRPr lang="en-US" sz="160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29" name="圆角矩形 28">
              <a:extLst>
                <a:ext uri="{FF2B5EF4-FFF2-40B4-BE49-F238E27FC236}">
                  <a16:creationId xmlns:a16="http://schemas.microsoft.com/office/drawing/2014/main" id="{0C945262-5612-F1B4-4451-AA24D8D01B25}"/>
                </a:ext>
              </a:extLst>
            </p:cNvPr>
            <p:cNvSpPr/>
            <p:nvPr/>
          </p:nvSpPr>
          <p:spPr>
            <a:xfrm>
              <a:off x="9598054" y="5766189"/>
              <a:ext cx="5056287" cy="117834"/>
            </a:xfrm>
            <a:prstGeom prst="roundRect">
              <a:avLst>
                <a:gd name="adj" fmla="val 50000"/>
              </a:avLst>
            </a:prstGeom>
            <a:solidFill>
              <a:srgbClr val="E8FC9C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0" name="AutoShape 5">
              <a:extLst>
                <a:ext uri="{FF2B5EF4-FFF2-40B4-BE49-F238E27FC236}">
                  <a16:creationId xmlns:a16="http://schemas.microsoft.com/office/drawing/2014/main" id="{6F9BCA8B-2D4D-556A-0AA5-BE6A7D89882A}"/>
                </a:ext>
              </a:extLst>
            </p:cNvPr>
            <p:cNvSpPr/>
            <p:nvPr/>
          </p:nvSpPr>
          <p:spPr>
            <a:xfrm>
              <a:off x="14823583" y="5650212"/>
              <a:ext cx="587867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 algn="r"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en-US" altLang="zh-CN" sz="1600" u="none" strike="noStrike" dirty="0">
                  <a:solidFill>
                    <a:srgbClr val="E8FC9C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27%</a:t>
              </a:r>
              <a:endParaRPr lang="en-US" sz="160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31" name="圆角矩形 30">
              <a:extLst>
                <a:ext uri="{FF2B5EF4-FFF2-40B4-BE49-F238E27FC236}">
                  <a16:creationId xmlns:a16="http://schemas.microsoft.com/office/drawing/2014/main" id="{6AE31034-9D4E-38A2-F91D-01E487E43B97}"/>
                </a:ext>
              </a:extLst>
            </p:cNvPr>
            <p:cNvSpPr/>
            <p:nvPr/>
          </p:nvSpPr>
          <p:spPr>
            <a:xfrm>
              <a:off x="9598055" y="5766189"/>
              <a:ext cx="1379364" cy="117834"/>
            </a:xfrm>
            <a:prstGeom prst="roundRect">
              <a:avLst>
                <a:gd name="adj" fmla="val 50000"/>
              </a:avLst>
            </a:prstGeom>
            <a:solidFill>
              <a:srgbClr val="E8FC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8B54C02-E94C-8C6B-A834-4081DBC905D8}"/>
              </a:ext>
            </a:extLst>
          </p:cNvPr>
          <p:cNvGrpSpPr/>
          <p:nvPr/>
        </p:nvGrpSpPr>
        <p:grpSpPr>
          <a:xfrm>
            <a:off x="8586587" y="7234163"/>
            <a:ext cx="6807200" cy="350534"/>
            <a:chOff x="8604250" y="5650212"/>
            <a:chExt cx="6807200" cy="350534"/>
          </a:xfrm>
        </p:grpSpPr>
        <p:sp>
          <p:nvSpPr>
            <p:cNvPr id="34" name="AutoShape 5">
              <a:extLst>
                <a:ext uri="{FF2B5EF4-FFF2-40B4-BE49-F238E27FC236}">
                  <a16:creationId xmlns:a16="http://schemas.microsoft.com/office/drawing/2014/main" id="{64C06C25-E2CB-D612-16BC-99969732F449}"/>
                </a:ext>
              </a:extLst>
            </p:cNvPr>
            <p:cNvSpPr/>
            <p:nvPr/>
          </p:nvSpPr>
          <p:spPr>
            <a:xfrm>
              <a:off x="8604250" y="5650212"/>
              <a:ext cx="824563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zh-CN" altLang="en-US" sz="1600" u="none" strike="noStrike" dirty="0">
                  <a:solidFill>
                    <a:srgbClr val="E8FC9C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≥ </a:t>
              </a:r>
              <a:r>
                <a:rPr lang="en-US" altLang="zh-CN" sz="1600" u="none" strike="noStrike" dirty="0">
                  <a:solidFill>
                    <a:srgbClr val="E8FC9C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4</a:t>
              </a:r>
              <a:r>
                <a:rPr lang="zh-CN" altLang="en-US" sz="1600" u="none" strike="noStrike" dirty="0">
                  <a:solidFill>
                    <a:srgbClr val="E8FC9C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个</a:t>
              </a:r>
              <a:endParaRPr lang="en-US" sz="160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35" name="圆角矩形 34">
              <a:extLst>
                <a:ext uri="{FF2B5EF4-FFF2-40B4-BE49-F238E27FC236}">
                  <a16:creationId xmlns:a16="http://schemas.microsoft.com/office/drawing/2014/main" id="{16F603C7-2E37-A3B0-9B86-BBC848B0A376}"/>
                </a:ext>
              </a:extLst>
            </p:cNvPr>
            <p:cNvSpPr/>
            <p:nvPr/>
          </p:nvSpPr>
          <p:spPr>
            <a:xfrm>
              <a:off x="9598054" y="5766189"/>
              <a:ext cx="5056287" cy="117834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AutoShape 5">
              <a:extLst>
                <a:ext uri="{FF2B5EF4-FFF2-40B4-BE49-F238E27FC236}">
                  <a16:creationId xmlns:a16="http://schemas.microsoft.com/office/drawing/2014/main" id="{CB9C368D-A862-6FA5-E149-586044F8EF1F}"/>
                </a:ext>
              </a:extLst>
            </p:cNvPr>
            <p:cNvSpPr/>
            <p:nvPr/>
          </p:nvSpPr>
          <p:spPr>
            <a:xfrm>
              <a:off x="14823583" y="5650212"/>
              <a:ext cx="587867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 algn="r"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en-US" altLang="zh-CN" sz="1600" u="none" strike="noStrike" dirty="0">
                  <a:solidFill>
                    <a:srgbClr val="E8FC9C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15%</a:t>
              </a:r>
              <a:endParaRPr lang="en-US" sz="1600" u="none" strike="noStrike" dirty="0">
                <a:solidFill>
                  <a:srgbClr val="E8FC9C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37" name="圆角矩形 36">
              <a:extLst>
                <a:ext uri="{FF2B5EF4-FFF2-40B4-BE49-F238E27FC236}">
                  <a16:creationId xmlns:a16="http://schemas.microsoft.com/office/drawing/2014/main" id="{9B332D6D-4AD0-B844-6E50-542B220DDE9D}"/>
                </a:ext>
              </a:extLst>
            </p:cNvPr>
            <p:cNvSpPr/>
            <p:nvPr/>
          </p:nvSpPr>
          <p:spPr>
            <a:xfrm>
              <a:off x="9598055" y="5766189"/>
              <a:ext cx="764336" cy="1178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2" name="AutoShape 3">
            <a:extLst>
              <a:ext uri="{FF2B5EF4-FFF2-40B4-BE49-F238E27FC236}">
                <a16:creationId xmlns:a16="http://schemas.microsoft.com/office/drawing/2014/main" id="{A2275622-CBD9-3D2E-C52C-CED611B56D83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尝鲜期已过，</a:t>
            </a:r>
            <a:r>
              <a:rPr lang="zh-CN" altLang="en-US" sz="6000" b="1" dirty="0">
                <a:solidFill>
                  <a:srgbClr val="E8FC9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多职能渗透</a:t>
            </a: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仍在路上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C620837-D773-7AE9-CE77-5DDFE28A5ED4}"/>
              </a:ext>
            </a:extLst>
          </p:cNvPr>
          <p:cNvSpPr/>
          <p:nvPr/>
        </p:nvSpPr>
        <p:spPr>
          <a:xfrm>
            <a:off x="812800" y="2552355"/>
            <a:ext cx="6807200" cy="2745945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16000" b="1" u="none" strike="noStrike" dirty="0">
                <a:solidFill>
                  <a:srgbClr val="E8FC9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Bricolage Grotesque"/>
                <a:sym typeface="Bricolage Grotesque"/>
              </a:rPr>
              <a:t>72</a:t>
            </a:r>
            <a:r>
              <a:rPr lang="en-US" altLang="zh-CN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Instrument Serif"/>
                <a:sym typeface="Instrument Serif"/>
              </a:rPr>
              <a:t>%</a:t>
            </a:r>
            <a:endParaRPr lang="en-US" sz="6000" b="1" dirty="0">
              <a:solidFill>
                <a:srgbClr val="FFFFFF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4A35D889-095F-250E-4524-E9443A76678B}"/>
              </a:ext>
            </a:extLst>
          </p:cNvPr>
          <p:cNvSpPr/>
          <p:nvPr/>
        </p:nvSpPr>
        <p:spPr>
          <a:xfrm>
            <a:off x="812800" y="5970734"/>
            <a:ext cx="6350000" cy="161396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ts val="2600"/>
              </a:lnSpc>
              <a:spcAft>
                <a:spcPts val="1200"/>
              </a:spcAft>
              <a:defRPr/>
            </a:pPr>
            <a:r>
              <a:rPr lang="en-US" sz="160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WHAT THIS MEASURES</a:t>
            </a:r>
          </a:p>
          <a:p>
            <a:pPr>
              <a:lnSpc>
                <a:spcPts val="2600"/>
              </a:lnSpc>
            </a:pP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麦肯锡 </a:t>
            </a:r>
            <a:r>
              <a:rPr lang="en-US" altLang="zh-CN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2024 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年全球调研：</a:t>
            </a:r>
            <a:r>
              <a:rPr lang="en-US" altLang="zh-CN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72% 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受访组织已在至少一个业务职能中使用 </a:t>
            </a:r>
            <a:r>
              <a:rPr 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AI——AI 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不再只是技术团队的工具，而正在进入营销、产品、</a:t>
            </a:r>
            <a:r>
              <a:rPr 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IT、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运营与管理决策等日常场景。</a:t>
            </a:r>
          </a:p>
          <a:p>
            <a:pPr>
              <a:lnSpc>
                <a:spcPts val="2600"/>
              </a:lnSpc>
            </a:pPr>
            <a:endParaRPr lang="en-US" sz="1600" u="none" strike="noStrike" dirty="0">
              <a:solidFill>
                <a:srgbClr val="FFFFFF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6FA21665-05CB-ABDD-357A-D7C2F2C10556}"/>
              </a:ext>
            </a:extLst>
          </p:cNvPr>
          <p:cNvSpPr/>
          <p:nvPr/>
        </p:nvSpPr>
        <p:spPr>
          <a:xfrm>
            <a:off x="8604250" y="3398625"/>
            <a:ext cx="6807200" cy="69397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err="1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企业对AI的</a:t>
            </a:r>
            <a:r>
              <a:rPr lang="zh-CN" altLang="en-US" sz="1600" dirty="0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采用深度（使用</a:t>
            </a:r>
            <a:r>
              <a:rPr lang="en-US" altLang="zh-CN" sz="1600" dirty="0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1600" dirty="0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的职能业务数量）</a:t>
            </a:r>
            <a:endParaRPr lang="en-US" sz="1600" u="none" strike="noStrike" dirty="0">
              <a:solidFill>
                <a:srgbClr val="FFFFFF"/>
              </a:solidFill>
              <a:latin typeface="Andale Mono" panose="020B0509000000000004" pitchFamily="49" charset="0"/>
              <a:ea typeface="FZLanTingHeiS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50000"/>
              </a:lnSpc>
              <a:defRPr/>
            </a:pPr>
            <a:r>
              <a:rPr lang="en-US" sz="160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SOURCE: MCKINSEY GLOBAL SURVEY ON AI, 2024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82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4A3DBF-1519-01B0-325A-E64353001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1426FB2-8850-497B-C99A-3C1B962F5DED}"/>
              </a:ext>
            </a:extLst>
          </p:cNvPr>
          <p:cNvSpPr/>
          <p:nvPr/>
        </p:nvSpPr>
        <p:spPr>
          <a:xfrm>
            <a:off x="0" y="0"/>
            <a:ext cx="9701561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8" name="50">
            <a:extLst>
              <a:ext uri="{FF2B5EF4-FFF2-40B4-BE49-F238E27FC236}">
                <a16:creationId xmlns:a16="http://schemas.microsoft.com/office/drawing/2014/main" id="{10FF72F4-C4C6-C16C-5F76-EF32E3D78E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886936"/>
              </p:ext>
            </p:extLst>
          </p:nvPr>
        </p:nvGraphicFramePr>
        <p:xfrm>
          <a:off x="644738" y="3798826"/>
          <a:ext cx="8293522" cy="4456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AutoShape 2">
            <a:extLst>
              <a:ext uri="{FF2B5EF4-FFF2-40B4-BE49-F238E27FC236}">
                <a16:creationId xmlns:a16="http://schemas.microsoft.com/office/drawing/2014/main" id="{653AC4D6-A48E-3EA8-D6F1-403C11D237C1}"/>
              </a:ext>
            </a:extLst>
          </p:cNvPr>
          <p:cNvSpPr/>
          <p:nvPr/>
        </p:nvSpPr>
        <p:spPr>
          <a:xfrm>
            <a:off x="812800" y="566643"/>
            <a:ext cx="7535134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2828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332828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9</a:t>
            </a:r>
            <a:r>
              <a:rPr lang="en-US" sz="1600" b="1" i="0" u="none" strike="noStrike" dirty="0">
                <a:solidFill>
                  <a:srgbClr val="332828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332828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332828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MAINSTREAM BY 2025</a:t>
            </a:r>
            <a:endParaRPr lang="en-US" sz="1600" b="1" dirty="0">
              <a:latin typeface="Andale Mono" panose="020B0509000000000004" pitchFamily="49" charset="0"/>
            </a:endParaRPr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6032581D-445F-3593-6CAC-FD062C39265F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2828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solidFill>
                <a:srgbClr val="332828"/>
              </a:solidFill>
              <a:latin typeface="Andale Mono" panose="020B0509000000000004" pitchFamily="49" charset="0"/>
            </a:endParaRP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CDA6994B-BC5D-C809-6A7D-7423D01CB56D}"/>
              </a:ext>
            </a:extLst>
          </p:cNvPr>
          <p:cNvSpPr/>
          <p:nvPr/>
        </p:nvSpPr>
        <p:spPr>
          <a:xfrm>
            <a:off x="812800" y="2629191"/>
            <a:ext cx="8125460" cy="788635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000" b="0" i="0" u="none" strike="noStrike" dirty="0">
                <a:solidFill>
                  <a:srgbClr val="332828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到 </a:t>
            </a:r>
            <a:r>
              <a:rPr lang="en-US" altLang="zh-CN" sz="2000" b="0" i="0" u="none" strike="noStrike" dirty="0">
                <a:solidFill>
                  <a:srgbClr val="332828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2025 </a:t>
            </a:r>
            <a:r>
              <a:rPr lang="zh-CN" altLang="en-US" sz="2000" b="0" i="0" u="none" strike="noStrike" dirty="0">
                <a:solidFill>
                  <a:srgbClr val="332828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年，</a:t>
            </a:r>
            <a:r>
              <a:rPr lang="en-US" altLang="zh-CN" sz="2000" b="0" i="0" u="none" strike="noStrike" dirty="0">
                <a:solidFill>
                  <a:srgbClr val="332828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88% </a:t>
            </a:r>
            <a:r>
              <a:rPr lang="zh-CN" altLang="en-US" sz="2000" b="0" i="0" u="none" strike="noStrike" dirty="0">
                <a:solidFill>
                  <a:srgbClr val="332828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的受访组织表示已在至少一个业务职能中常规使用 </a:t>
            </a:r>
            <a:r>
              <a:rPr lang="en-US" altLang="zh-CN" sz="2000" b="0" i="0" u="none" strike="noStrike" dirty="0">
                <a:solidFill>
                  <a:srgbClr val="332828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AI——AI </a:t>
            </a:r>
            <a:r>
              <a:rPr lang="zh-CN" altLang="en-US" sz="2000" b="0" i="0" u="none" strike="noStrike" dirty="0">
                <a:solidFill>
                  <a:srgbClr val="332828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采用已经从试点探索，进入更广泛的组织级普及阶段。</a:t>
            </a:r>
            <a:endParaRPr lang="en-US" sz="2000" dirty="0">
              <a:solidFill>
                <a:srgbClr val="332828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" name="AutoShape 5">
            <a:extLst>
              <a:ext uri="{FF2B5EF4-FFF2-40B4-BE49-F238E27FC236}">
                <a16:creationId xmlns:a16="http://schemas.microsoft.com/office/drawing/2014/main" id="{70A65752-0D23-2742-5FDF-D14D52F16B07}"/>
              </a:ext>
            </a:extLst>
          </p:cNvPr>
          <p:cNvSpPr/>
          <p:nvPr/>
        </p:nvSpPr>
        <p:spPr>
          <a:xfrm>
            <a:off x="10346298" y="8064502"/>
            <a:ext cx="5264964" cy="571498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>
              <a:buClr>
                <a:srgbClr val="AAFAFA"/>
              </a:buClr>
              <a:defRPr/>
            </a:pPr>
            <a:r>
              <a:rPr lang="en-US" sz="1600" u="none" strike="noStrike" dirty="0">
                <a:solidFill>
                  <a:schemeClr val="bg1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SOURCE: </a:t>
            </a:r>
          </a:p>
          <a:p>
            <a:pPr>
              <a:buClr>
                <a:srgbClr val="AAFAFA"/>
              </a:buClr>
              <a:defRPr/>
            </a:pPr>
            <a:r>
              <a:rPr lang="en-US" sz="1600" u="none" strike="noStrike" dirty="0">
                <a:solidFill>
                  <a:schemeClr val="bg1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MCKINSEY GLOBAL SURVEY ON AI, </a:t>
            </a:r>
            <a:r>
              <a:rPr lang="en-US" altLang="zh-CN" sz="1600" u="none" strike="noStrike" dirty="0">
                <a:solidFill>
                  <a:schemeClr val="bg1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2017-2-25</a:t>
            </a:r>
            <a:endParaRPr lang="en-US" sz="1600" u="none" strike="noStrike" dirty="0">
              <a:solidFill>
                <a:schemeClr val="bg1"/>
              </a:solidFill>
              <a:latin typeface="Andale Mono" panose="020B0509000000000004" pitchFamily="49" charset="0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2319E6C7-D6C2-104D-9160-F4C878C13C58}"/>
              </a:ext>
            </a:extLst>
          </p:cNvPr>
          <p:cNvSpPr/>
          <p:nvPr/>
        </p:nvSpPr>
        <p:spPr>
          <a:xfrm>
            <a:off x="10262267" y="2629191"/>
            <a:ext cx="5433026" cy="4427592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342900" indent="-342900">
              <a:lnSpc>
                <a:spcPct val="125000"/>
              </a:lnSpc>
              <a:buClr>
                <a:srgbClr val="E8FC9C"/>
              </a:buClr>
              <a:buFont typeface="Wingdings" pitchFamily="2" charset="2"/>
              <a:buChar char="l"/>
              <a:defRPr/>
            </a:pPr>
            <a:r>
              <a:rPr lang="en-US" altLang="zh-CN" sz="160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160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使用率在 </a:t>
            </a:r>
            <a:r>
              <a:rPr lang="en-US" altLang="zh-CN" sz="1600" u="none" strike="noStrike" dirty="0">
                <a:solidFill>
                  <a:srgbClr val="E8FC9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2023 </a:t>
            </a:r>
            <a:r>
              <a:rPr lang="zh-CN" altLang="en-US" sz="1600" u="none" strike="noStrike" dirty="0">
                <a:solidFill>
                  <a:srgbClr val="E8FC9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年后明显加速</a:t>
            </a:r>
            <a:r>
              <a:rPr lang="zh-CN" altLang="en-US" sz="160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，说明生成式 </a:t>
            </a:r>
            <a:r>
              <a:rPr lang="en-US" altLang="zh-CN" sz="160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160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正在推动组织采用进入新阶段。</a:t>
            </a:r>
            <a:endParaRPr lang="en-US" altLang="zh-CN" sz="1600" u="none" strike="noStrike" dirty="0">
              <a:solidFill>
                <a:schemeClr val="bg1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E8FC9C"/>
              </a:buClr>
              <a:buFont typeface="Wingdings" pitchFamily="2" charset="2"/>
              <a:buChar char="l"/>
              <a:defRPr/>
            </a:pPr>
            <a:endParaRPr lang="zh-CN" altLang="en-US" sz="1600" u="none" strike="noStrike" dirty="0">
              <a:solidFill>
                <a:srgbClr val="C7F7F6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E8FC9C"/>
              </a:buClr>
              <a:buFont typeface="Wingdings" pitchFamily="2" charset="2"/>
              <a:buChar char="l"/>
              <a:defRPr/>
            </a:pPr>
            <a:r>
              <a:rPr lang="zh-CN" altLang="en-US" sz="160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采用率提升不等于价值兑现，真正的差距在于是否把 </a:t>
            </a:r>
            <a:r>
              <a:rPr lang="en-US" altLang="zh-CN" sz="160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1600" u="none" strike="noStrike" dirty="0">
                <a:solidFill>
                  <a:srgbClr val="E8FC9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嵌入核心工作流</a:t>
            </a:r>
            <a:r>
              <a:rPr lang="zh-CN" altLang="en-US" sz="160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  <a:endParaRPr lang="en-US" altLang="zh-CN" sz="1600" u="none" strike="noStrike" dirty="0">
              <a:solidFill>
                <a:schemeClr val="bg1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E8FC9C"/>
              </a:buClr>
              <a:buFont typeface="Wingdings" pitchFamily="2" charset="2"/>
              <a:buChar char="l"/>
              <a:defRPr/>
            </a:pPr>
            <a:endParaRPr lang="zh-CN" altLang="en-US" sz="1600" u="none" strike="noStrike" dirty="0">
              <a:solidFill>
                <a:srgbClr val="C7F7F6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E8FC9C"/>
              </a:buClr>
              <a:buFont typeface="Wingdings" pitchFamily="2" charset="2"/>
              <a:buChar char="l"/>
              <a:defRPr/>
            </a:pPr>
            <a:r>
              <a:rPr lang="zh-CN" altLang="en-US" sz="160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从单点工具到跨职能协作，</a:t>
            </a:r>
            <a:r>
              <a:rPr lang="en-US" altLang="zh-CN" sz="160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160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的价值正在</a:t>
            </a:r>
            <a:r>
              <a:rPr lang="zh-CN" altLang="en-US" sz="1600" u="none" strike="noStrike" dirty="0">
                <a:solidFill>
                  <a:srgbClr val="E8FC9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从</a:t>
            </a:r>
            <a:r>
              <a:rPr lang="en-US" altLang="zh-CN" sz="1600" u="none" strike="noStrike" dirty="0">
                <a:solidFill>
                  <a:srgbClr val="E8FC9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"</a:t>
            </a:r>
            <a:r>
              <a:rPr lang="zh-CN" altLang="en-US" sz="1600" u="none" strike="noStrike" dirty="0">
                <a:solidFill>
                  <a:srgbClr val="E8FC9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个人提效</a:t>
            </a:r>
            <a:r>
              <a:rPr lang="en-US" altLang="zh-CN" sz="1600" u="none" strike="noStrike" dirty="0">
                <a:solidFill>
                  <a:srgbClr val="E8FC9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"</a:t>
            </a:r>
            <a:r>
              <a:rPr lang="zh-CN" altLang="en-US" sz="1600" u="none" strike="noStrike" dirty="0">
                <a:solidFill>
                  <a:srgbClr val="E8FC9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转向</a:t>
            </a:r>
            <a:r>
              <a:rPr lang="en-US" altLang="zh-CN" sz="1600" u="none" strike="noStrike" dirty="0">
                <a:solidFill>
                  <a:srgbClr val="E8FC9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"</a:t>
            </a:r>
            <a:r>
              <a:rPr lang="zh-CN" altLang="en-US" sz="1600" u="none" strike="noStrike" dirty="0">
                <a:solidFill>
                  <a:srgbClr val="E8FC9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流程重构</a:t>
            </a:r>
            <a:r>
              <a:rPr lang="en-US" altLang="zh-CN" sz="1600" u="none" strike="noStrike" dirty="0">
                <a:solidFill>
                  <a:srgbClr val="E8FC9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"</a:t>
            </a:r>
            <a:r>
              <a:rPr lang="zh-CN" altLang="en-US" sz="160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  <a:endParaRPr lang="en-US" altLang="zh-CN" sz="1600" u="none" strike="noStrike" dirty="0">
              <a:solidFill>
                <a:schemeClr val="bg1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E8FC9C"/>
              </a:buClr>
              <a:buFont typeface="Wingdings" pitchFamily="2" charset="2"/>
              <a:buChar char="l"/>
              <a:defRPr/>
            </a:pPr>
            <a:endParaRPr lang="zh-CN" altLang="en-US" sz="1600" u="none" strike="noStrike" dirty="0">
              <a:solidFill>
                <a:srgbClr val="C7F7F6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E8FC9C"/>
              </a:buClr>
              <a:buFont typeface="Wingdings" pitchFamily="2" charset="2"/>
              <a:buChar char="l"/>
              <a:defRPr/>
            </a:pPr>
            <a:r>
              <a:rPr lang="zh-CN" altLang="en-US" sz="160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下一阶段的竞争重点，不是谁先使用 </a:t>
            </a:r>
            <a:r>
              <a:rPr lang="en-US" altLang="zh-CN" sz="160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1600" u="none" strike="noStrike" dirty="0">
                <a:solidFill>
                  <a:schemeClr val="bg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，而是谁能更快</a:t>
            </a:r>
            <a:r>
              <a:rPr lang="zh-CN" altLang="en-US" sz="1600" u="none" strike="noStrike" dirty="0">
                <a:solidFill>
                  <a:srgbClr val="E8FC9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完成规模化落地</a:t>
            </a:r>
            <a:r>
              <a:rPr lang="zh-CN" altLang="en-US" sz="1600" u="none" strike="noStrike" dirty="0">
                <a:solidFill>
                  <a:srgbClr val="C7F7F6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F7D3CD3E-0A67-1BAF-04F7-FF545062DCF6}"/>
              </a:ext>
            </a:extLst>
          </p:cNvPr>
          <p:cNvSpPr/>
          <p:nvPr/>
        </p:nvSpPr>
        <p:spPr>
          <a:xfrm>
            <a:off x="812800" y="1234441"/>
            <a:ext cx="8125460" cy="1249316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7200" u="none" strike="noStrike" dirty="0">
                <a:solidFill>
                  <a:srgbClr val="332828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88</a:t>
            </a:r>
            <a:r>
              <a:rPr lang="en-US" altLang="zh-CN" sz="7200" u="none" strike="noStrike" dirty="0">
                <a:solidFill>
                  <a:srgbClr val="332828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Instrument Serif"/>
                <a:sym typeface="Instrument Serif"/>
              </a:rPr>
              <a:t>%</a:t>
            </a:r>
            <a:endParaRPr lang="en-US" sz="7200" dirty="0">
              <a:solidFill>
                <a:srgbClr val="332828"/>
              </a:solidFill>
              <a:latin typeface="FZLanTingHeiS Heavy" panose="02000500000000000000" pitchFamily="2" charset="-122"/>
              <a:ea typeface="FZLanTingHeiS Heavy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7227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82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8EB8AB-DF33-A2B2-7EBA-250123519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extLst>
              <a:ext uri="{FF2B5EF4-FFF2-40B4-BE49-F238E27FC236}">
                <a16:creationId xmlns:a16="http://schemas.microsoft.com/office/drawing/2014/main" id="{44A3CCFD-12A5-51F4-D4A0-DC8EEC39F96C}"/>
              </a:ext>
            </a:extLst>
          </p:cNvPr>
          <p:cNvSpPr/>
          <p:nvPr/>
        </p:nvSpPr>
        <p:spPr>
          <a:xfrm>
            <a:off x="3048000" y="4909213"/>
            <a:ext cx="1016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chemeClr val="bg1"/>
                </a:solidFill>
                <a:latin typeface="Andale Mono" panose="020B0509000000000004" pitchFamily="49" charset="0"/>
                <a:ea typeface="Noto Sans SC"/>
                <a:cs typeface="Noto Sans SC"/>
                <a:sym typeface="Noto Sans SC"/>
              </a:rPr>
              <a:t>Thanks for Watching</a:t>
            </a:r>
            <a:endParaRPr lang="en-US" sz="3200" dirty="0">
              <a:solidFill>
                <a:schemeClr val="bg1"/>
              </a:solidFill>
              <a:latin typeface="Andale Mono" panose="020B0509000000000004" pitchFamily="49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ED7BF579-9902-4536-C9AB-452F438D8174}"/>
              </a:ext>
            </a:extLst>
          </p:cNvPr>
          <p:cNvSpPr/>
          <p:nvPr/>
        </p:nvSpPr>
        <p:spPr>
          <a:xfrm>
            <a:off x="4360433" y="566643"/>
            <a:ext cx="7535134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125000"/>
              </a:lnSpc>
              <a:defRPr/>
            </a:pPr>
            <a:r>
              <a:rPr lang="en-US" altLang="zh-CN" sz="1600" dirty="0">
                <a:solidFill>
                  <a:srgbClr val="E8FC9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lang="zh-CN" altLang="en-US" sz="1600" dirty="0">
                <a:solidFill>
                  <a:srgbClr val="E8FC9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altLang="zh-CN" sz="1600" dirty="0">
                <a:solidFill>
                  <a:srgbClr val="E8FC9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TOOLS TO WORKFLOWS</a:t>
            </a:r>
            <a:endParaRPr lang="en-US" altLang="zh-CN" sz="900" dirty="0">
              <a:solidFill>
                <a:srgbClr val="E8FC9C"/>
              </a:solidFill>
            </a:endParaRPr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39C1099D-DAB4-34F0-E09E-8E8ED0461E9D}"/>
              </a:ext>
            </a:extLst>
          </p:cNvPr>
          <p:cNvSpPr/>
          <p:nvPr/>
        </p:nvSpPr>
        <p:spPr>
          <a:xfrm>
            <a:off x="812800" y="3639213"/>
            <a:ext cx="14630400" cy="1270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108333"/>
              </a:lnSpc>
              <a:defRPr/>
            </a:pPr>
            <a:r>
              <a:rPr lang="zh-CN" altLang="en-US" sz="7200" b="1" u="none" strike="noStrike" dirty="0">
                <a:solidFill>
                  <a:schemeClr val="bg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重新定义</a:t>
            </a:r>
            <a:r>
              <a:rPr lang="zh-CN" altLang="en-US" sz="7200" b="1" u="none" strike="noStrike" dirty="0">
                <a:solidFill>
                  <a:srgbClr val="E8FC9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效率</a:t>
            </a:r>
          </a:p>
          <a:p>
            <a:pPr algn="ctr">
              <a:lnSpc>
                <a:spcPct val="108333"/>
              </a:lnSpc>
              <a:defRPr/>
            </a:pPr>
            <a:endParaRPr lang="en-US" sz="1100" b="1" dirty="0">
              <a:solidFill>
                <a:srgbClr val="C7F7F6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5CCA3239-C63C-02AD-C01B-C12D80CB9EA1}"/>
              </a:ext>
            </a:extLst>
          </p:cNvPr>
          <p:cNvSpPr/>
          <p:nvPr/>
        </p:nvSpPr>
        <p:spPr>
          <a:xfrm>
            <a:off x="49530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E8FC9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34449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33282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33282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33282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1085</Words>
  <Application>Microsoft Macintosh PowerPoint</Application>
  <PresentationFormat>自定义</PresentationFormat>
  <Paragraphs>165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FZLanTingHeiS</vt:lpstr>
      <vt:lpstr>FZLanTingHeiS Bold</vt:lpstr>
      <vt:lpstr>FZLanTingHeiS Heavy</vt:lpstr>
      <vt:lpstr>JetBrains Mono</vt:lpstr>
      <vt:lpstr>Andale Mono</vt:lpstr>
      <vt:lpstr>Arial</vt:lpstr>
      <vt:lpstr>Wingdings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T209833</cp:lastModifiedBy>
  <cp:revision>10</cp:revision>
  <dcterms:modified xsi:type="dcterms:W3CDTF">2026-05-29T09:08:10Z</dcterms:modified>
</cp:coreProperties>
</file>