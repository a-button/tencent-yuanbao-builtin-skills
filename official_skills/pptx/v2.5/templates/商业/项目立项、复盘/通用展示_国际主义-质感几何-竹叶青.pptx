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9"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83" r:id="rId19"/>
    <p:sldId id="290" r:id="rId20"/>
    <p:sldId id="275" r:id="rId21"/>
    <p:sldId id="278" r:id="rId22"/>
    <p:sldId id="279" r:id="rId23"/>
    <p:sldId id="280" r:id="rId24"/>
    <p:sldId id="281" r:id="rId25"/>
    <p:sldId id="282" r:id="rId26"/>
    <p:sldId id="286"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FF2"/>
    <a:srgbClr val="2F5745"/>
    <a:srgbClr val="FFFFFF"/>
    <a:srgbClr val="000000"/>
    <a:srgbClr val="65BE97"/>
    <a:srgbClr val="519979"/>
    <a:srgbClr val="40785F"/>
    <a:srgbClr val="385723"/>
    <a:srgbClr val="292624"/>
    <a:srgbClr val="FFF8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8"/>
    <p:restoredTop sz="94610"/>
  </p:normalViewPr>
  <p:slideViewPr>
    <p:cSldViewPr snapToGrid="0" snapToObjects="1">
      <p:cViewPr varScale="1">
        <p:scale>
          <a:sx n="185" d="100"/>
          <a:sy n="185" d="100"/>
        </p:scale>
        <p:origin x="184"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strCache>
            </c:strRef>
          </c:tx>
          <c:spPr>
            <a:solidFill>
              <a:srgbClr val="C97A40"/>
            </a:solidFill>
            <a:effectLst/>
          </c:spPr>
          <c:invertIfNegative val="0"/>
          <c:dPt>
            <c:idx val="0"/>
            <c:invertIfNegative val="0"/>
            <c:bubble3D val="0"/>
            <c:spPr>
              <a:solidFill>
                <a:srgbClr val="65BE97"/>
              </a:solidFill>
              <a:effectLst/>
            </c:spPr>
            <c:extLst>
              <c:ext xmlns:c16="http://schemas.microsoft.com/office/drawing/2014/chart" uri="{C3380CC4-5D6E-409C-BE32-E72D297353CC}">
                <c16:uniqueId val="{00000000-99BD-264F-93DC-2453DE25D216}"/>
              </c:ext>
            </c:extLst>
          </c:dPt>
          <c:dPt>
            <c:idx val="1"/>
            <c:invertIfNegative val="0"/>
            <c:bubble3D val="0"/>
            <c:spPr>
              <a:solidFill>
                <a:srgbClr val="519979"/>
              </a:solidFill>
              <a:effectLst/>
            </c:spPr>
            <c:extLst>
              <c:ext xmlns:c16="http://schemas.microsoft.com/office/drawing/2014/chart" uri="{C3380CC4-5D6E-409C-BE32-E72D297353CC}">
                <c16:uniqueId val="{00000002-99BD-264F-93DC-2453DE25D216}"/>
              </c:ext>
            </c:extLst>
          </c:dPt>
          <c:dPt>
            <c:idx val="2"/>
            <c:invertIfNegative val="0"/>
            <c:bubble3D val="0"/>
            <c:spPr>
              <a:solidFill>
                <a:srgbClr val="40785F"/>
              </a:solidFill>
              <a:effectLst/>
            </c:spPr>
            <c:extLst>
              <c:ext xmlns:c16="http://schemas.microsoft.com/office/drawing/2014/chart" uri="{C3380CC4-5D6E-409C-BE32-E72D297353CC}">
                <c16:uniqueId val="{00000004-99BD-264F-93DC-2453DE25D216}"/>
              </c:ext>
            </c:extLst>
          </c:dPt>
          <c:dPt>
            <c:idx val="3"/>
            <c:invertIfNegative val="0"/>
            <c:bubble3D val="0"/>
            <c:spPr>
              <a:solidFill>
                <a:srgbClr val="2F5745"/>
              </a:solidFill>
              <a:effectLst/>
            </c:spPr>
            <c:extLst>
              <c:ext xmlns:c16="http://schemas.microsoft.com/office/drawing/2014/chart" uri="{C3380CC4-5D6E-409C-BE32-E72D297353CC}">
                <c16:uniqueId val="{00000006-99BD-264F-93DC-2453DE25D216}"/>
              </c:ext>
            </c:extLst>
          </c:dPt>
          <c:cat>
            <c:strRef>
              <c:f>Sheet1!$A$2:$A$5</c:f>
              <c:strCache>
                <c:ptCount val="4"/>
                <c:pt idx="0">
                  <c:v>4个及以上业务职能使用AI</c:v>
                </c:pt>
                <c:pt idx="1">
                  <c:v>3个及以上业务职能使用AI</c:v>
                </c:pt>
                <c:pt idx="2">
                  <c:v>2个及以上业务职能使用AI</c:v>
                </c:pt>
                <c:pt idx="3">
                  <c:v>至少1个业务职能使用AI</c:v>
                </c:pt>
              </c:strCache>
            </c:strRef>
          </c:cat>
          <c:val>
            <c:numRef>
              <c:f>Sheet1!$B$2:$B$5</c:f>
              <c:numCache>
                <c:formatCode>General</c:formatCode>
                <c:ptCount val="4"/>
                <c:pt idx="0">
                  <c:v>15</c:v>
                </c:pt>
                <c:pt idx="1">
                  <c:v>27</c:v>
                </c:pt>
                <c:pt idx="2">
                  <c:v>50</c:v>
                </c:pt>
                <c:pt idx="3">
                  <c:v>72</c:v>
                </c:pt>
              </c:numCache>
            </c:numRef>
          </c:val>
          <c:extLst>
            <c:ext xmlns:c16="http://schemas.microsoft.com/office/drawing/2014/chart" uri="{C3380CC4-5D6E-409C-BE32-E72D297353CC}">
              <c16:uniqueId val="{00000007-99BD-264F-93DC-2453DE25D21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scaling>
        <c:delete val="0"/>
        <c:axPos val="b"/>
        <c:majorGridlines>
          <c:spPr>
            <a:ln w="6350" cap="flat">
              <a:solidFill>
                <a:srgbClr val="DBCBC4"/>
              </a:solidFill>
              <a:prstDash val="dash"/>
              <a:round/>
            </a:ln>
          </c:spPr>
        </c:majorGridlines>
        <c:numFmt formatCode="###,###,###,###,###,###,###" sourceLinked="0"/>
        <c:majorTickMark val="out"/>
        <c:minorTickMark val="none"/>
        <c:tickLblPos val="low"/>
        <c:spPr>
          <a:ln w="6350" cap="flat">
            <a:solidFill>
              <a:srgbClr val="2B1F1A"/>
            </a:solidFill>
            <a:prstDash val="solid"/>
            <a:round/>
          </a:ln>
        </c:spPr>
        <c:txPr>
          <a:bodyPr/>
          <a:lstStyle/>
          <a:p>
            <a:pPr>
              <a:defRPr sz="900" b="0" i="0" u="none" strike="noStrike">
                <a:solidFill>
                  <a:srgbClr val="2B1F1A"/>
                </a:solidFill>
                <a:latin typeface="Geist"/>
              </a:defRPr>
            </a:pPr>
            <a:endParaRPr lang="zh-CN"/>
          </a:p>
        </c:txPr>
        <c:crossAx val="2094734554"/>
        <c:crosses val="autoZero"/>
        <c:crossBetween val="between"/>
      </c:valAx>
      <c:spPr>
        <a:noFill/>
        <a:ln>
          <a:noFill/>
        </a:ln>
        <a:effectLst/>
      </c:spPr>
    </c:plotArea>
    <c:legend>
      <c:legendPos val="t"/>
      <c:layout>
        <c:manualLayout>
          <c:xMode val="edge"/>
          <c:yMode val="edge"/>
          <c:x val="2.557754813099114E-2"/>
          <c:y val="2.318840579710145E-2"/>
          <c:w val="0.92140999036969717"/>
          <c:h val="0.12463859408878238"/>
        </c:manualLayout>
      </c:layout>
      <c:overlay val="0"/>
      <c:txPr>
        <a:bodyPr/>
        <a:lstStyle/>
        <a:p>
          <a:pPr>
            <a:defRPr sz="800" b="0" i="0">
              <a:solidFill>
                <a:srgbClr val="2B1F1A"/>
              </a:solidFill>
              <a:latin typeface="MiSans Light" pitchFamily="2" charset="-122"/>
              <a:ea typeface="MiSans Light" pitchFamily="2" charset="-122"/>
              <a:cs typeface="Geist"/>
            </a:defRPr>
          </a:pPr>
          <a:endParaRPr lang="zh-CN"/>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62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31662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544"/>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1369170E-C3ED-7FC8-9EA5-E601E8CCE682}"/>
              </a:ext>
            </a:extLst>
          </p:cNvPr>
          <p:cNvPicPr>
            <a:picLocks noChangeAspect="1"/>
          </p:cNvPicPr>
          <p:nvPr/>
        </p:nvPicPr>
        <p:blipFill>
          <a:blip r:embed="rId3"/>
          <a:stretch>
            <a:fillRect/>
          </a:stretch>
        </p:blipFill>
        <p:spPr>
          <a:xfrm>
            <a:off x="0" y="7647"/>
            <a:ext cx="9144000" cy="5147733"/>
          </a:xfrm>
          <a:prstGeom prst="rect">
            <a:avLst/>
          </a:prstGeom>
        </p:spPr>
      </p:pic>
      <p:sp>
        <p:nvSpPr>
          <p:cNvPr id="4" name="Text 0"/>
          <p:cNvSpPr/>
          <p:nvPr/>
        </p:nvSpPr>
        <p:spPr>
          <a:xfrm>
            <a:off x="238125" y="3451225"/>
            <a:ext cx="8667750" cy="762000"/>
          </a:xfrm>
          <a:prstGeom prst="rect">
            <a:avLst/>
          </a:prstGeom>
          <a:noFill/>
          <a:ln/>
        </p:spPr>
        <p:txBody>
          <a:bodyPr wrap="square" lIns="0" tIns="0" rIns="0" bIns="0" rtlCol="0" anchor="b"/>
          <a:lstStyle/>
          <a:p>
            <a:pPr algn="l">
              <a:lnSpc>
                <a:spcPts val="6000"/>
              </a:lnSpc>
            </a:pPr>
            <a:r>
              <a:rPr lang="en-US" sz="4800" kern="0" spc="-24" dirty="0" err="1">
                <a:solidFill>
                  <a:srgbClr val="FFFFFF"/>
                </a:solidFill>
                <a:latin typeface="MiSans Demibold" pitchFamily="2" charset="-122"/>
                <a:ea typeface="MiSans Demibold" pitchFamily="2" charset="-122"/>
                <a:cs typeface="MiSans" pitchFamily="34" charset="-120"/>
              </a:rPr>
              <a:t>人工智能软件销售</a:t>
            </a:r>
            <a:endParaRPr lang="en-US" sz="4800" dirty="0">
              <a:latin typeface="MiSans Demibold" pitchFamily="2" charset="-122"/>
              <a:ea typeface="MiSans Demibold" pitchFamily="2" charset="-122"/>
            </a:endParaRPr>
          </a:p>
        </p:txBody>
      </p:sp>
      <p:sp>
        <p:nvSpPr>
          <p:cNvPr id="5" name="Shape 1"/>
          <p:cNvSpPr/>
          <p:nvPr/>
        </p:nvSpPr>
        <p:spPr>
          <a:xfrm>
            <a:off x="238125" y="4553215"/>
            <a:ext cx="8667845" cy="0"/>
          </a:xfrm>
          <a:prstGeom prst="line">
            <a:avLst/>
          </a:prstGeom>
          <a:solidFill>
            <a:srgbClr val="FFFFFF"/>
          </a:solidFill>
          <a:ln w="5292">
            <a:solidFill>
              <a:srgbClr val="FFFFFF">
                <a:alpha val="30000"/>
              </a:srgbClr>
            </a:solidFill>
            <a:prstDash val="solid"/>
            <a:headEnd type="none"/>
            <a:tailEnd type="none"/>
          </a:ln>
        </p:spPr>
        <p:txBody>
          <a:bodyPr/>
          <a:lstStyle/>
          <a:p>
            <a:endParaRPr/>
          </a:p>
        </p:txBody>
      </p:sp>
      <p:sp>
        <p:nvSpPr>
          <p:cNvPr id="6" name="Text 2"/>
          <p:cNvSpPr/>
          <p:nvPr/>
        </p:nvSpPr>
        <p:spPr>
          <a:xfrm>
            <a:off x="238125" y="4772025"/>
            <a:ext cx="8667824" cy="133350"/>
          </a:xfrm>
          <a:prstGeom prst="rect">
            <a:avLst/>
          </a:prstGeom>
          <a:noFill/>
          <a:ln/>
        </p:spPr>
        <p:txBody>
          <a:bodyPr wrap="square" lIns="0" tIns="0" rIns="0" bIns="0" rtlCol="0" anchor="b"/>
          <a:lstStyle/>
          <a:p>
            <a:pPr algn="l">
              <a:lnSpc>
                <a:spcPts val="1050"/>
              </a:lnSpc>
            </a:pPr>
            <a:r>
              <a:rPr lang="en-US" sz="800" b="0" kern="0" spc="300" dirty="0">
                <a:solidFill>
                  <a:srgbClr val="FFFFFF"/>
                </a:solidFill>
                <a:latin typeface="MiSans" pitchFamily="34" charset="0"/>
                <a:ea typeface="MiSans" pitchFamily="34" charset="-122"/>
                <a:cs typeface="MiSans" pitchFamily="34" charset="-120"/>
              </a:rPr>
              <a:t>公司名称 • </a:t>
            </a:r>
            <a:r>
              <a:rPr lang="en-US" altLang="zh-CN" sz="800" b="0" kern="0" spc="300" dirty="0">
                <a:solidFill>
                  <a:srgbClr val="FFFFFF"/>
                </a:solidFill>
                <a:latin typeface="MiSans" pitchFamily="34" charset="0"/>
                <a:ea typeface="MiSans" pitchFamily="34" charset="-122"/>
                <a:cs typeface="MiSans" pitchFamily="34" charset="-120"/>
              </a:rPr>
              <a:t>2026</a:t>
            </a:r>
            <a:r>
              <a:rPr lang="en-US" sz="800" b="0" kern="0" spc="300" dirty="0">
                <a:solidFill>
                  <a:srgbClr val="FFFFFF"/>
                </a:solidFill>
                <a:latin typeface="MiSans" pitchFamily="34" charset="0"/>
                <a:ea typeface="MiSans" pitchFamily="34" charset="-122"/>
                <a:cs typeface="MiSans" pitchFamily="34" charset="-120"/>
              </a:rPr>
              <a:t>年</a:t>
            </a:r>
            <a:r>
              <a:rPr lang="en-US" altLang="zh-CN" sz="800" b="0" kern="0" spc="300" dirty="0">
                <a:solidFill>
                  <a:srgbClr val="FFFFFF"/>
                </a:solidFill>
                <a:latin typeface="MiSans" pitchFamily="34" charset="0"/>
                <a:ea typeface="MiSans" pitchFamily="34" charset="-122"/>
                <a:cs typeface="MiSans" pitchFamily="34" charset="-120"/>
              </a:rPr>
              <a:t>06</a:t>
            </a:r>
            <a:r>
              <a:rPr lang="en-US" sz="800" b="0" kern="0" spc="300" dirty="0">
                <a:solidFill>
                  <a:srgbClr val="FFFFFF"/>
                </a:solidFill>
                <a:latin typeface="MiSans" pitchFamily="34" charset="0"/>
                <a:ea typeface="MiSans" pitchFamily="34" charset="-122"/>
                <a:cs typeface="MiSans" pitchFamily="34" charset="-120"/>
              </a:rPr>
              <a:t>月</a:t>
            </a:r>
            <a:endParaRPr lang="en-US" sz="750" spc="300" dirty="0"/>
          </a:p>
        </p:txBody>
      </p:sp>
      <p:sp>
        <p:nvSpPr>
          <p:cNvPr id="2" name="矩形 1">
            <a:extLst>
              <a:ext uri="{FF2B5EF4-FFF2-40B4-BE49-F238E27FC236}">
                <a16:creationId xmlns:a16="http://schemas.microsoft.com/office/drawing/2014/main" id="{86E1A8CE-479A-95E4-598A-8A083B001A22}"/>
              </a:ext>
            </a:extLst>
          </p:cNvPr>
          <p:cNvSpPr/>
          <p:nvPr/>
        </p:nvSpPr>
        <p:spPr>
          <a:xfrm>
            <a:off x="238125" y="238125"/>
            <a:ext cx="504031" cy="388104"/>
          </a:xfrm>
          <a:prstGeom prst="rect">
            <a:avLst/>
          </a:prstGeom>
          <a:solidFill>
            <a:srgbClr val="FFFFFF">
              <a:alpha val="89804"/>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800" b="1" dirty="0">
                <a:solidFill>
                  <a:schemeClr val="accent6">
                    <a:lumMod val="50000"/>
                  </a:schemeClr>
                </a:solidFill>
              </a:rPr>
              <a:t>LOGO</a:t>
            </a:r>
            <a:endParaRPr kumimoji="1" lang="zh-CN" altLang="en-US" sz="800" b="1" dirty="0">
              <a:solidFill>
                <a:schemeClr val="accent6">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5544"/>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CC98812-5289-5226-3826-924254861ABB}"/>
              </a:ext>
            </a:extLst>
          </p:cNvPr>
          <p:cNvPicPr>
            <a:picLocks noChangeAspect="1"/>
          </p:cNvPicPr>
          <p:nvPr/>
        </p:nvPicPr>
        <p:blipFill>
          <a:blip r:embed="rId3"/>
          <a:stretch>
            <a:fillRect/>
          </a:stretch>
        </p:blipFill>
        <p:spPr>
          <a:xfrm>
            <a:off x="0" y="7647"/>
            <a:ext cx="9144000" cy="5147733"/>
          </a:xfrm>
          <a:prstGeom prst="rect">
            <a:avLst/>
          </a:prstGeom>
        </p:spPr>
      </p:pic>
      <p:pic>
        <p:nvPicPr>
          <p:cNvPr id="1028" name="Picture 4" descr="Light becomes the subject when we slow down enough to see.&#10;What shapes are you noticing today?&#10;&#10;Something shifts when creativity becomes a shared experience. That’s the spirit behind Develop with Light — a space where photography moves beyond perfection and becomes an exploration of presence, curiosity, and connection.&#10;&#10;“Art is something that makes you breathe with a different kind of happiness.” ~ Anni Albers&#10;&#10;We are a creative community exploring light, curiosity, and personal vision throug...">
            <a:extLst>
              <a:ext uri="{FF2B5EF4-FFF2-40B4-BE49-F238E27FC236}">
                <a16:creationId xmlns:a16="http://schemas.microsoft.com/office/drawing/2014/main" id="{2F36726F-36C7-F50B-5995-6B086A784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8984" y="468818"/>
            <a:ext cx="3310628" cy="4412354"/>
          </a:xfrm>
          <a:prstGeom prst="rect">
            <a:avLst/>
          </a:prstGeom>
          <a:noFill/>
          <a:extLst>
            <a:ext uri="{909E8E84-426E-40DD-AFC4-6F175D3DCCD1}">
              <a14:hiddenFill xmlns:a14="http://schemas.microsoft.com/office/drawing/2010/main">
                <a:solidFill>
                  <a:srgbClr val="FFFFFF"/>
                </a:solidFill>
              </a14:hiddenFill>
            </a:ext>
          </a:extLst>
        </p:spPr>
      </p:pic>
      <p:sp>
        <p:nvSpPr>
          <p:cNvPr id="7" name="Text 1"/>
          <p:cNvSpPr/>
          <p:nvPr/>
        </p:nvSpPr>
        <p:spPr>
          <a:xfrm>
            <a:off x="238125" y="263525"/>
            <a:ext cx="4214813" cy="1524000"/>
          </a:xfrm>
          <a:prstGeom prst="rect">
            <a:avLst/>
          </a:prstGeom>
          <a:noFill/>
          <a:ln/>
        </p:spPr>
        <p:txBody>
          <a:bodyPr wrap="square" lIns="0" tIns="0" rIns="0" bIns="0" rtlCol="0" anchor="t"/>
          <a:lstStyle/>
          <a:p>
            <a:pPr algn="l">
              <a:lnSpc>
                <a:spcPts val="6000"/>
              </a:lnSpc>
            </a:pPr>
            <a:r>
              <a:rPr lang="en-US" sz="4400" kern="0" spc="-24" dirty="0" err="1">
                <a:solidFill>
                  <a:srgbClr val="FFFFFF"/>
                </a:solidFill>
                <a:latin typeface="MiSans Demibold" pitchFamily="2" charset="-122"/>
                <a:ea typeface="MiSans Demibold" pitchFamily="2" charset="-122"/>
                <a:cs typeface="MiSans" pitchFamily="34" charset="-120"/>
              </a:rPr>
              <a:t>人工智能软件</a:t>
            </a:r>
            <a:endParaRPr lang="en-US" sz="4400" kern="0" spc="-24" dirty="0">
              <a:solidFill>
                <a:srgbClr val="FFFFFF"/>
              </a:solidFill>
              <a:latin typeface="MiSans Demibold" pitchFamily="2" charset="-122"/>
              <a:ea typeface="MiSans Demibold" pitchFamily="2" charset="-122"/>
              <a:cs typeface="MiSans" pitchFamily="34" charset="-120"/>
            </a:endParaRPr>
          </a:p>
          <a:p>
            <a:pPr algn="l">
              <a:lnSpc>
                <a:spcPts val="6000"/>
              </a:lnSpc>
            </a:pPr>
            <a:r>
              <a:rPr lang="en-US" sz="4400" kern="0" spc="-24" dirty="0" err="1">
                <a:solidFill>
                  <a:srgbClr val="FFFFFF"/>
                </a:solidFill>
                <a:latin typeface="MiSans Demibold" pitchFamily="2" charset="-122"/>
                <a:ea typeface="MiSans Demibold" pitchFamily="2" charset="-122"/>
                <a:cs typeface="MiSans" pitchFamily="34" charset="-120"/>
              </a:rPr>
              <a:t>销售</a:t>
            </a:r>
            <a:endParaRPr lang="en-US" sz="4400" dirty="0">
              <a:latin typeface="MiSans Demibold" pitchFamily="2" charset="-122"/>
              <a:ea typeface="MiSans Demibold" pitchFamily="2" charset="-122"/>
            </a:endParaRPr>
          </a:p>
        </p:txBody>
      </p:sp>
      <p:sp>
        <p:nvSpPr>
          <p:cNvPr id="2" name="矩形 1">
            <a:extLst>
              <a:ext uri="{FF2B5EF4-FFF2-40B4-BE49-F238E27FC236}">
                <a16:creationId xmlns:a16="http://schemas.microsoft.com/office/drawing/2014/main" id="{58E76CE7-C9D4-7032-6AC0-201A7D20353F}"/>
              </a:ext>
            </a:extLst>
          </p:cNvPr>
          <p:cNvSpPr/>
          <p:nvPr/>
        </p:nvSpPr>
        <p:spPr>
          <a:xfrm>
            <a:off x="238125" y="4493068"/>
            <a:ext cx="504031" cy="388104"/>
          </a:xfrm>
          <a:prstGeom prst="rect">
            <a:avLst/>
          </a:prstGeom>
          <a:solidFill>
            <a:srgbClr val="FFFFFF">
              <a:alpha val="89804"/>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800" b="1" dirty="0">
                <a:solidFill>
                  <a:schemeClr val="accent6">
                    <a:lumMod val="50000"/>
                  </a:schemeClr>
                </a:solidFill>
              </a:rPr>
              <a:t>LOGO</a:t>
            </a:r>
            <a:endParaRPr kumimoji="1" lang="zh-CN" altLang="en-US" sz="800" b="1" dirty="0">
              <a:solidFill>
                <a:schemeClr val="accent6">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8F3"/>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f6199118-61b0-49b6-88fb-3e13a3d4bc7f?pitch-bytes=1627228&amp;pitch-content-type=image%2Fpng"/>
          <p:cNvPicPr>
            <a:picLocks noChangeAspect="1"/>
          </p:cNvPicPr>
          <p:nvPr/>
        </p:nvPicPr>
        <p:blipFill>
          <a:blip r:embed="rId3"/>
          <a:srcRect t="2332" b="9240"/>
          <a:stretch/>
        </p:blipFill>
        <p:spPr>
          <a:xfrm>
            <a:off x="0" y="0"/>
            <a:ext cx="4572000" cy="5143500"/>
          </a:xfrm>
          <a:prstGeom prst="rect">
            <a:avLst/>
          </a:prstGeom>
        </p:spPr>
      </p:pic>
      <p:sp>
        <p:nvSpPr>
          <p:cNvPr id="4" name="Text 0"/>
          <p:cNvSpPr/>
          <p:nvPr/>
        </p:nvSpPr>
        <p:spPr>
          <a:xfrm>
            <a:off x="4929188" y="2736643"/>
            <a:ext cx="3238500" cy="486242"/>
          </a:xfrm>
          <a:prstGeom prst="rect">
            <a:avLst/>
          </a:prstGeom>
          <a:noFill/>
          <a:ln/>
        </p:spPr>
        <p:txBody>
          <a:bodyPr wrap="square" lIns="0" tIns="0" rIns="0" bIns="0" rtlCol="0" anchor="t"/>
          <a:lstStyle/>
          <a:p>
            <a:pPr algn="l">
              <a:lnSpc>
                <a:spcPts val="3218"/>
              </a:lnSpc>
            </a:pPr>
            <a:r>
              <a:rPr lang="en-US" sz="2800" kern="0" spc="-24" dirty="0">
                <a:solidFill>
                  <a:srgbClr val="292624"/>
                </a:solidFill>
                <a:latin typeface="MiSans Demibold" pitchFamily="2" charset="-122"/>
                <a:ea typeface="MiSans Demibold" pitchFamily="2" charset="-122"/>
                <a:cs typeface="MiSans" pitchFamily="34" charset="-120"/>
              </a:rPr>
              <a:t>公司概览</a:t>
            </a:r>
            <a:endParaRPr lang="en-US" sz="2800" dirty="0">
              <a:latin typeface="MiSans Demibold" pitchFamily="2" charset="-122"/>
              <a:ea typeface="MiSans Demibold" pitchFamily="2" charset="-122"/>
            </a:endParaRPr>
          </a:p>
        </p:txBody>
      </p:sp>
      <p:sp>
        <p:nvSpPr>
          <p:cNvPr id="5" name="Text 1"/>
          <p:cNvSpPr/>
          <p:nvPr/>
        </p:nvSpPr>
        <p:spPr>
          <a:xfrm>
            <a:off x="4929188" y="3367688"/>
            <a:ext cx="3238500" cy="1348438"/>
          </a:xfrm>
          <a:prstGeom prst="rect">
            <a:avLst/>
          </a:prstGeom>
          <a:noFill/>
          <a:ln/>
        </p:spPr>
        <p:txBody>
          <a:bodyPr wrap="square" lIns="0" tIns="0" rIns="0" bIns="0" rtlCol="0" anchor="t"/>
          <a:lstStyle/>
          <a:p>
            <a:pPr algn="l">
              <a:lnSpc>
                <a:spcPts val="1614"/>
              </a:lnSpc>
            </a:pPr>
            <a:r>
              <a:rPr lang="en-US" sz="1000" dirty="0">
                <a:solidFill>
                  <a:srgbClr val="292624">
                    <a:alpha val="75000"/>
                  </a:srgbClr>
                </a:solidFill>
                <a:latin typeface="MiSans" pitchFamily="2" charset="-122"/>
                <a:ea typeface="MiSans" pitchFamily="2" charset="-122"/>
                <a:cs typeface="MiSans" pitchFamily="34" charset="-120"/>
              </a:rPr>
              <a:t>要让人们对你是谁、能提供什么心动，往往意味着讲述一个鼓舞人心的故事。</a:t>
            </a:r>
            <a:endParaRPr lang="en-US" sz="1000" dirty="0">
              <a:latin typeface="MiSans" pitchFamily="2" charset="-122"/>
              <a:ea typeface="MiSans" pitchFamily="2" charset="-122"/>
            </a:endParaRPr>
          </a:p>
          <a:p>
            <a:pPr algn="l">
              <a:lnSpc>
                <a:spcPts val="1614"/>
              </a:lnSpc>
            </a:pPr>
            <a:r>
              <a:rPr lang="en-US" sz="1000" dirty="0">
                <a:solidFill>
                  <a:srgbClr val="292624">
                    <a:alpha val="75000"/>
                  </a:srgbClr>
                </a:solidFill>
                <a:latin typeface="MiSans" pitchFamily="2" charset="-122"/>
                <a:ea typeface="MiSans" pitchFamily="2" charset="-122"/>
                <a:cs typeface="MiSans" pitchFamily="34" charset="-120"/>
              </a:rPr>
              <a:t>分享团队意识到现有 AI 工具在解决错误问题的那些具体瞬间。正是关于 AI 应如何融入真实工作流的信念，驱动着你的每一个产品决策。</a:t>
            </a:r>
            <a:endParaRPr lang="en-US" sz="1000" dirty="0">
              <a:latin typeface="MiSans" pitchFamily="2" charset="-122"/>
              <a:ea typeface="MiSans"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A5544"/>
        </a:solidFill>
        <a:effectLst/>
      </p:bgPr>
    </p:bg>
    <p:spTree>
      <p:nvGrpSpPr>
        <p:cNvPr id="1" name=""/>
        <p:cNvGrpSpPr/>
        <p:nvPr/>
      </p:nvGrpSpPr>
      <p:grpSpPr>
        <a:xfrm>
          <a:off x="0" y="0"/>
          <a:ext cx="0" cy="0"/>
          <a:chOff x="0" y="0"/>
          <a:chExt cx="0" cy="0"/>
        </a:xfrm>
      </p:grpSpPr>
      <p:pic>
        <p:nvPicPr>
          <p:cNvPr id="5" name="Image 0" descr="https://pitch-assets-ccb95893-de3f-4266-973c-20049231b248.s3.eu-west-1.amazonaws.com/f6199118-61b0-49b6-88fb-3e13a3d4bc7f?pitch-bytes=1627228&amp;pitch-content-type=image%2Fpng"/>
          <p:cNvPicPr>
            <a:picLocks noChangeAspect="1"/>
          </p:cNvPicPr>
          <p:nvPr/>
        </p:nvPicPr>
        <p:blipFill>
          <a:blip r:embed="rId3"/>
          <a:srcRect t="2332" b="9240"/>
          <a:stretch/>
        </p:blipFill>
        <p:spPr>
          <a:xfrm>
            <a:off x="0" y="0"/>
            <a:ext cx="4572000" cy="5143500"/>
          </a:xfrm>
          <a:prstGeom prst="rect">
            <a:avLst/>
          </a:prstGeom>
        </p:spPr>
      </p:pic>
      <p:sp>
        <p:nvSpPr>
          <p:cNvPr id="2" name="Text 0">
            <a:extLst>
              <a:ext uri="{FF2B5EF4-FFF2-40B4-BE49-F238E27FC236}">
                <a16:creationId xmlns:a16="http://schemas.microsoft.com/office/drawing/2014/main" id="{336CCDB3-6196-FA09-38FF-0F8D3AF05E80}"/>
              </a:ext>
            </a:extLst>
          </p:cNvPr>
          <p:cNvSpPr/>
          <p:nvPr/>
        </p:nvSpPr>
        <p:spPr>
          <a:xfrm>
            <a:off x="4929188" y="2736643"/>
            <a:ext cx="3238500" cy="486242"/>
          </a:xfrm>
          <a:prstGeom prst="rect">
            <a:avLst/>
          </a:prstGeom>
          <a:noFill/>
          <a:ln/>
        </p:spPr>
        <p:txBody>
          <a:bodyPr wrap="square" lIns="0" tIns="0" rIns="0" bIns="0" rtlCol="0" anchor="t"/>
          <a:lstStyle/>
          <a:p>
            <a:pPr>
              <a:lnSpc>
                <a:spcPts val="3218"/>
              </a:lnSpc>
            </a:pPr>
            <a:r>
              <a:rPr lang="en-US" sz="2800" kern="0" spc="-24" dirty="0" err="1">
                <a:solidFill>
                  <a:srgbClr val="FFFFFF"/>
                </a:solidFill>
                <a:latin typeface="MiSans Demibold" pitchFamily="2" charset="-122"/>
                <a:ea typeface="MiSans Demibold" pitchFamily="2" charset="-122"/>
              </a:rPr>
              <a:t>公司概览</a:t>
            </a:r>
            <a:endParaRPr lang="en-US" sz="2800" kern="0" spc="-24" dirty="0">
              <a:solidFill>
                <a:srgbClr val="FFFFFF"/>
              </a:solidFill>
              <a:latin typeface="MiSans Demibold" pitchFamily="2" charset="-122"/>
              <a:ea typeface="MiSans Demibold" pitchFamily="2" charset="-122"/>
            </a:endParaRPr>
          </a:p>
        </p:txBody>
      </p:sp>
      <p:sp>
        <p:nvSpPr>
          <p:cNvPr id="6" name="Text 1">
            <a:extLst>
              <a:ext uri="{FF2B5EF4-FFF2-40B4-BE49-F238E27FC236}">
                <a16:creationId xmlns:a16="http://schemas.microsoft.com/office/drawing/2014/main" id="{CCED1231-CD41-AE68-4F07-6D68957BFA9E}"/>
              </a:ext>
            </a:extLst>
          </p:cNvPr>
          <p:cNvSpPr/>
          <p:nvPr/>
        </p:nvSpPr>
        <p:spPr>
          <a:xfrm>
            <a:off x="4929188" y="3367688"/>
            <a:ext cx="3238500" cy="1348438"/>
          </a:xfrm>
          <a:prstGeom prst="rect">
            <a:avLst/>
          </a:prstGeom>
          <a:noFill/>
          <a:ln/>
        </p:spPr>
        <p:txBody>
          <a:bodyPr wrap="square" lIns="0" tIns="0" rIns="0" bIns="0" rtlCol="0" anchor="t"/>
          <a:lstStyle/>
          <a:p>
            <a:pPr>
              <a:lnSpc>
                <a:spcPts val="1614"/>
              </a:lnSpc>
            </a:pPr>
            <a:r>
              <a:rPr lang="en-US" sz="1000" dirty="0" err="1">
                <a:solidFill>
                  <a:srgbClr val="F7F8F3"/>
                </a:solidFill>
                <a:latin typeface="MiSans" pitchFamily="34" charset="0"/>
                <a:ea typeface="MiSans" pitchFamily="34" charset="-122"/>
              </a:rPr>
              <a:t>要让人们对你是谁、能提供什么心动，往往意味着讲述一个鼓舞人心的故事</a:t>
            </a:r>
            <a:r>
              <a:rPr lang="en-US" sz="1000" dirty="0">
                <a:solidFill>
                  <a:srgbClr val="F7F8F3"/>
                </a:solidFill>
                <a:latin typeface="MiSans" pitchFamily="34" charset="0"/>
                <a:ea typeface="MiSans" pitchFamily="34" charset="-122"/>
              </a:rPr>
              <a:t>。</a:t>
            </a:r>
          </a:p>
          <a:p>
            <a:pPr>
              <a:lnSpc>
                <a:spcPts val="1614"/>
              </a:lnSpc>
            </a:pPr>
            <a:r>
              <a:rPr lang="en-US" sz="1000" dirty="0">
                <a:solidFill>
                  <a:srgbClr val="F7F8F3"/>
                </a:solidFill>
                <a:latin typeface="MiSans" pitchFamily="34" charset="0"/>
                <a:ea typeface="MiSans" pitchFamily="34" charset="-122"/>
              </a:rPr>
              <a:t>分享团队意识到现有 AI 工具在解决错误问题的那些具体瞬间。正是关于 AI </a:t>
            </a:r>
            <a:r>
              <a:rPr lang="en-US" sz="1000" dirty="0" err="1">
                <a:solidFill>
                  <a:srgbClr val="F7F8F3"/>
                </a:solidFill>
                <a:latin typeface="MiSans" pitchFamily="34" charset="0"/>
                <a:ea typeface="MiSans" pitchFamily="34" charset="-122"/>
              </a:rPr>
              <a:t>应如何融入真实工作流的信念，驱动着你的每一个产品决策</a:t>
            </a:r>
            <a:r>
              <a:rPr lang="en-US" sz="1000" dirty="0">
                <a:solidFill>
                  <a:srgbClr val="F7F8F3"/>
                </a:solidFill>
                <a:latin typeface="MiSans" pitchFamily="34" charset="0"/>
                <a:ea typeface="MiSans" pitchFamily="34"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8F3"/>
        </a:solidFill>
        <a:effectLst/>
      </p:bgPr>
    </p:bg>
    <p:spTree>
      <p:nvGrpSpPr>
        <p:cNvPr id="1" name=""/>
        <p:cNvGrpSpPr/>
        <p:nvPr/>
      </p:nvGrpSpPr>
      <p:grpSpPr>
        <a:xfrm>
          <a:off x="0" y="0"/>
          <a:ext cx="0" cy="0"/>
          <a:chOff x="0" y="0"/>
          <a:chExt cx="0" cy="0"/>
        </a:xfrm>
      </p:grpSpPr>
      <p:pic>
        <p:nvPicPr>
          <p:cNvPr id="5" name="Image 0" descr="https://pitch-assets-ccb95893-de3f-4266-973c-20049231b248.s3.eu-west-1.amazonaws.com/33978900-cc32-4c7e-85dd-b6cd4fa9ef51?pitch-bytes=1616728&amp;pitch-content-type=image%2Fpng"/>
          <p:cNvPicPr>
            <a:picLocks noChangeAspect="1"/>
          </p:cNvPicPr>
          <p:nvPr/>
        </p:nvPicPr>
        <p:blipFill>
          <a:blip r:embed="rId3"/>
          <a:srcRect t="4823" b="4687"/>
          <a:stretch/>
        </p:blipFill>
        <p:spPr>
          <a:xfrm>
            <a:off x="4572000" y="0"/>
            <a:ext cx="4572000" cy="5143500"/>
          </a:xfrm>
          <a:prstGeom prst="rect">
            <a:avLst/>
          </a:prstGeom>
        </p:spPr>
      </p:pic>
      <p:sp>
        <p:nvSpPr>
          <p:cNvPr id="2" name="Text 0">
            <a:extLst>
              <a:ext uri="{FF2B5EF4-FFF2-40B4-BE49-F238E27FC236}">
                <a16:creationId xmlns:a16="http://schemas.microsoft.com/office/drawing/2014/main" id="{9C4470A2-4146-3726-C1D7-5C1217E3F213}"/>
              </a:ext>
            </a:extLst>
          </p:cNvPr>
          <p:cNvSpPr/>
          <p:nvPr/>
        </p:nvSpPr>
        <p:spPr>
          <a:xfrm>
            <a:off x="312218" y="2736643"/>
            <a:ext cx="3238500" cy="486242"/>
          </a:xfrm>
          <a:prstGeom prst="rect">
            <a:avLst/>
          </a:prstGeom>
          <a:noFill/>
          <a:ln/>
        </p:spPr>
        <p:txBody>
          <a:bodyPr wrap="square" lIns="0" tIns="0" rIns="0" bIns="0" rtlCol="0" anchor="t"/>
          <a:lstStyle/>
          <a:p>
            <a:pPr algn="l">
              <a:lnSpc>
                <a:spcPts val="3218"/>
              </a:lnSpc>
            </a:pPr>
            <a:r>
              <a:rPr lang="en-US" sz="2800" kern="0" spc="-24" dirty="0">
                <a:solidFill>
                  <a:srgbClr val="292624"/>
                </a:solidFill>
                <a:latin typeface="MiSans Demibold" pitchFamily="2" charset="-122"/>
                <a:ea typeface="MiSans Demibold" pitchFamily="2" charset="-122"/>
                <a:cs typeface="MiSans" pitchFamily="34" charset="-120"/>
              </a:rPr>
              <a:t>公司概览</a:t>
            </a:r>
            <a:endParaRPr lang="en-US" sz="2800" dirty="0">
              <a:latin typeface="MiSans Demibold" pitchFamily="2" charset="-122"/>
              <a:ea typeface="MiSans Demibold" pitchFamily="2" charset="-122"/>
            </a:endParaRPr>
          </a:p>
        </p:txBody>
      </p:sp>
      <p:sp>
        <p:nvSpPr>
          <p:cNvPr id="6" name="Text 1">
            <a:extLst>
              <a:ext uri="{FF2B5EF4-FFF2-40B4-BE49-F238E27FC236}">
                <a16:creationId xmlns:a16="http://schemas.microsoft.com/office/drawing/2014/main" id="{D9BCEA17-F3A1-84C5-F043-EF229CCD99A8}"/>
              </a:ext>
            </a:extLst>
          </p:cNvPr>
          <p:cNvSpPr/>
          <p:nvPr/>
        </p:nvSpPr>
        <p:spPr>
          <a:xfrm>
            <a:off x="312218" y="3367688"/>
            <a:ext cx="3238500" cy="1348438"/>
          </a:xfrm>
          <a:prstGeom prst="rect">
            <a:avLst/>
          </a:prstGeom>
          <a:noFill/>
          <a:ln/>
        </p:spPr>
        <p:txBody>
          <a:bodyPr wrap="square" lIns="0" tIns="0" rIns="0" bIns="0" rtlCol="0" anchor="t"/>
          <a:lstStyle/>
          <a:p>
            <a:pPr algn="l">
              <a:lnSpc>
                <a:spcPts val="1614"/>
              </a:lnSpc>
            </a:pPr>
            <a:r>
              <a:rPr lang="en-US" sz="1000" dirty="0">
                <a:solidFill>
                  <a:srgbClr val="292624">
                    <a:alpha val="75000"/>
                  </a:srgbClr>
                </a:solidFill>
                <a:latin typeface="MiSans" pitchFamily="2" charset="-122"/>
                <a:ea typeface="MiSans" pitchFamily="2" charset="-122"/>
                <a:cs typeface="MiSans" pitchFamily="34" charset="-120"/>
              </a:rPr>
              <a:t>要让人们对你是谁、能提供什么心动，往往意味着讲述一个鼓舞人心的故事。</a:t>
            </a:r>
            <a:endParaRPr lang="en-US" sz="1000" dirty="0">
              <a:latin typeface="MiSans" pitchFamily="2" charset="-122"/>
              <a:ea typeface="MiSans" pitchFamily="2" charset="-122"/>
            </a:endParaRPr>
          </a:p>
          <a:p>
            <a:pPr algn="l">
              <a:lnSpc>
                <a:spcPts val="1614"/>
              </a:lnSpc>
            </a:pPr>
            <a:r>
              <a:rPr lang="en-US" sz="1000" dirty="0">
                <a:solidFill>
                  <a:srgbClr val="292624">
                    <a:alpha val="75000"/>
                  </a:srgbClr>
                </a:solidFill>
                <a:latin typeface="MiSans" pitchFamily="2" charset="-122"/>
                <a:ea typeface="MiSans" pitchFamily="2" charset="-122"/>
                <a:cs typeface="MiSans" pitchFamily="34" charset="-120"/>
              </a:rPr>
              <a:t>分享团队意识到现有 AI 工具在解决错误问题的那些具体瞬间。正是关于 AI 应如何融入真实工作流的信念，驱动着你的每一个产品决策。</a:t>
            </a:r>
            <a:endParaRPr lang="en-US" sz="1000" dirty="0">
              <a:latin typeface="MiSans" pitchFamily="2" charset="-122"/>
              <a:ea typeface="MiSans"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01b19e21-eaf8-4876-a7c7-e1a6dc01a706?pitch-bytes=1616728&amp;pitch-content-type=image%2Fpng"/>
          <p:cNvPicPr>
            <a:picLocks noChangeAspect="1"/>
          </p:cNvPicPr>
          <p:nvPr/>
        </p:nvPicPr>
        <p:blipFill>
          <a:blip r:embed="rId3"/>
          <a:srcRect t="4823" b="4687"/>
          <a:stretch/>
        </p:blipFill>
        <p:spPr>
          <a:xfrm>
            <a:off x="4572000" y="0"/>
            <a:ext cx="4572000" cy="5143500"/>
          </a:xfrm>
          <a:prstGeom prst="rect">
            <a:avLst/>
          </a:prstGeom>
        </p:spPr>
      </p:pic>
      <p:sp>
        <p:nvSpPr>
          <p:cNvPr id="2" name="Text 0">
            <a:extLst>
              <a:ext uri="{FF2B5EF4-FFF2-40B4-BE49-F238E27FC236}">
                <a16:creationId xmlns:a16="http://schemas.microsoft.com/office/drawing/2014/main" id="{CE841D41-54E0-EEAB-2156-BE9457CF4002}"/>
              </a:ext>
            </a:extLst>
          </p:cNvPr>
          <p:cNvSpPr/>
          <p:nvPr/>
        </p:nvSpPr>
        <p:spPr>
          <a:xfrm>
            <a:off x="312218" y="2736643"/>
            <a:ext cx="3238500" cy="486242"/>
          </a:xfrm>
          <a:prstGeom prst="rect">
            <a:avLst/>
          </a:prstGeom>
          <a:noFill/>
          <a:ln/>
        </p:spPr>
        <p:txBody>
          <a:bodyPr wrap="square" lIns="0" tIns="0" rIns="0" bIns="0" rtlCol="0" anchor="t"/>
          <a:lstStyle/>
          <a:p>
            <a:pPr>
              <a:lnSpc>
                <a:spcPts val="3218"/>
              </a:lnSpc>
            </a:pPr>
            <a:r>
              <a:rPr lang="en-US" sz="2800" kern="0" spc="-24" dirty="0" err="1">
                <a:solidFill>
                  <a:srgbClr val="FFFFFF"/>
                </a:solidFill>
                <a:latin typeface="MiSans Demibold" pitchFamily="2" charset="-122"/>
                <a:ea typeface="MiSans Demibold" pitchFamily="2" charset="-122"/>
              </a:rPr>
              <a:t>公司概览</a:t>
            </a:r>
            <a:endParaRPr lang="en-US" sz="2800" kern="0" spc="-24" dirty="0">
              <a:solidFill>
                <a:srgbClr val="FFFFFF"/>
              </a:solidFill>
              <a:latin typeface="MiSans Demibold" pitchFamily="2" charset="-122"/>
              <a:ea typeface="MiSans Demibold" pitchFamily="2" charset="-122"/>
            </a:endParaRPr>
          </a:p>
        </p:txBody>
      </p:sp>
      <p:sp>
        <p:nvSpPr>
          <p:cNvPr id="6" name="Text 1">
            <a:extLst>
              <a:ext uri="{FF2B5EF4-FFF2-40B4-BE49-F238E27FC236}">
                <a16:creationId xmlns:a16="http://schemas.microsoft.com/office/drawing/2014/main" id="{3252FD8C-8611-D1C9-2F1A-2DFA0397493F}"/>
              </a:ext>
            </a:extLst>
          </p:cNvPr>
          <p:cNvSpPr/>
          <p:nvPr/>
        </p:nvSpPr>
        <p:spPr>
          <a:xfrm>
            <a:off x="312218" y="3367688"/>
            <a:ext cx="3238500" cy="1348438"/>
          </a:xfrm>
          <a:prstGeom prst="rect">
            <a:avLst/>
          </a:prstGeom>
          <a:noFill/>
          <a:ln/>
        </p:spPr>
        <p:txBody>
          <a:bodyPr wrap="square" lIns="0" tIns="0" rIns="0" bIns="0" rtlCol="0" anchor="t"/>
          <a:lstStyle/>
          <a:p>
            <a:pPr>
              <a:lnSpc>
                <a:spcPts val="1614"/>
              </a:lnSpc>
            </a:pPr>
            <a:r>
              <a:rPr lang="en-US" sz="1000" dirty="0" err="1">
                <a:solidFill>
                  <a:srgbClr val="F7F8F3"/>
                </a:solidFill>
                <a:latin typeface="MiSans" pitchFamily="34" charset="0"/>
                <a:ea typeface="MiSans" pitchFamily="34" charset="-122"/>
              </a:rPr>
              <a:t>要让人们对你是谁、能提供什么心动，往往意味着讲述一个鼓舞人心的故事</a:t>
            </a:r>
            <a:r>
              <a:rPr lang="en-US" sz="1000" dirty="0">
                <a:solidFill>
                  <a:srgbClr val="F7F8F3"/>
                </a:solidFill>
                <a:latin typeface="MiSans" pitchFamily="34" charset="0"/>
                <a:ea typeface="MiSans" pitchFamily="34" charset="-122"/>
              </a:rPr>
              <a:t>。</a:t>
            </a:r>
          </a:p>
          <a:p>
            <a:pPr>
              <a:lnSpc>
                <a:spcPts val="1614"/>
              </a:lnSpc>
            </a:pPr>
            <a:r>
              <a:rPr lang="en-US" sz="1000" dirty="0">
                <a:solidFill>
                  <a:srgbClr val="F7F8F3"/>
                </a:solidFill>
                <a:latin typeface="MiSans" pitchFamily="34" charset="0"/>
                <a:ea typeface="MiSans" pitchFamily="34" charset="-122"/>
              </a:rPr>
              <a:t>分享团队意识到现有 AI 工具在解决错误问题的那些具体瞬间。正是关于 AI </a:t>
            </a:r>
            <a:r>
              <a:rPr lang="en-US" sz="1000" dirty="0" err="1">
                <a:solidFill>
                  <a:srgbClr val="F7F8F3"/>
                </a:solidFill>
                <a:latin typeface="MiSans" pitchFamily="34" charset="0"/>
                <a:ea typeface="MiSans" pitchFamily="34" charset="-122"/>
              </a:rPr>
              <a:t>应如何融入真实工作流的信念，驱动着你的每一个产品决策</a:t>
            </a:r>
            <a:r>
              <a:rPr lang="en-US" sz="1000" dirty="0">
                <a:solidFill>
                  <a:srgbClr val="F7F8F3"/>
                </a:solidFill>
                <a:latin typeface="MiSans" pitchFamily="34" charset="0"/>
                <a:ea typeface="MiSans" pitchFamily="34"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248717" y="264903"/>
            <a:ext cx="5809969" cy="871147"/>
          </a:xfrm>
          <a:prstGeom prst="rect">
            <a:avLst/>
          </a:prstGeom>
          <a:noFill/>
          <a:ln/>
        </p:spPr>
        <p:txBody>
          <a:bodyPr wrap="square" lIns="0" tIns="0" rIns="0" bIns="0" rtlCol="0" anchor="t"/>
          <a:lstStyle/>
          <a:p>
            <a:pPr algn="l">
              <a:lnSpc>
                <a:spcPts val="3218"/>
              </a:lnSpc>
            </a:pPr>
            <a:r>
              <a:rPr lang="en-US" sz="2800" kern="0" spc="-24" dirty="0">
                <a:solidFill>
                  <a:srgbClr val="292624"/>
                </a:solidFill>
                <a:latin typeface="MiSans Demibold" pitchFamily="2" charset="-122"/>
                <a:ea typeface="MiSans Demibold" pitchFamily="2" charset="-122"/>
                <a:cs typeface="MiSans" pitchFamily="34" charset="-120"/>
              </a:rPr>
              <a:t>我们行业正在面临的问题</a:t>
            </a:r>
            <a:endParaRPr lang="en-US" sz="2925" dirty="0">
              <a:latin typeface="MiSans Demibold" pitchFamily="2" charset="-122"/>
              <a:ea typeface="MiSans Demibold" pitchFamily="2" charset="-122"/>
            </a:endParaRPr>
          </a:p>
        </p:txBody>
      </p:sp>
      <p:sp>
        <p:nvSpPr>
          <p:cNvPr id="4" name="Text 1"/>
          <p:cNvSpPr/>
          <p:nvPr/>
        </p:nvSpPr>
        <p:spPr>
          <a:xfrm>
            <a:off x="248717" y="3545174"/>
            <a:ext cx="2605088" cy="1360201"/>
          </a:xfrm>
          <a:prstGeom prst="rect">
            <a:avLst/>
          </a:prstGeom>
          <a:noFill/>
          <a:ln/>
        </p:spPr>
        <p:txBody>
          <a:bodyPr wrap="square" lIns="0" tIns="0" rIns="0" bIns="0" rtlCol="0" anchor="t"/>
          <a:lstStyle/>
          <a:p>
            <a:pPr>
              <a:lnSpc>
                <a:spcPts val="1614"/>
              </a:lnSpc>
            </a:pPr>
            <a:r>
              <a:rPr lang="en-US" sz="1000" dirty="0" err="1">
                <a:solidFill>
                  <a:srgbClr val="292624">
                    <a:alpha val="75000"/>
                  </a:srgbClr>
                </a:solidFill>
                <a:latin typeface="MiSans Normal" pitchFamily="2" charset="-122"/>
                <a:ea typeface="MiSans Normal" pitchFamily="2" charset="-122"/>
                <a:cs typeface="MiSans" pitchFamily="34" charset="-120"/>
              </a:rPr>
              <a:t>团队正在个人层面快速采用</a:t>
            </a:r>
            <a:r>
              <a:rPr lang="en-US"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a:solidFill>
                  <a:srgbClr val="292624">
                    <a:alpha val="75000"/>
                  </a:srgbClr>
                </a:solidFill>
                <a:latin typeface="MiSans Normal" pitchFamily="2" charset="-122"/>
                <a:ea typeface="MiSans Normal" pitchFamily="2" charset="-122"/>
                <a:cs typeface="MiSans" pitchFamily="34" charset="-120"/>
              </a:rPr>
              <a:t>AI </a:t>
            </a:r>
            <a:r>
              <a:rPr lang="en-US" altLang="zh-CN" sz="1000" dirty="0" err="1">
                <a:solidFill>
                  <a:srgbClr val="292624">
                    <a:alpha val="75000"/>
                  </a:srgbClr>
                </a:solidFill>
                <a:latin typeface="MiSans Normal" pitchFamily="2" charset="-122"/>
                <a:ea typeface="MiSans Normal" pitchFamily="2" charset="-122"/>
                <a:cs typeface="MiSans" pitchFamily="34" charset="-120"/>
              </a:rPr>
              <a:t>智能体，但组织级的工作流仍然碎片化、高度依赖人工</a:t>
            </a:r>
            <a:r>
              <a:rPr lang="en-US" altLang="zh-CN" sz="1000" dirty="0">
                <a:solidFill>
                  <a:srgbClr val="292624">
                    <a:alpha val="75000"/>
                  </a:srgbClr>
                </a:solidFill>
                <a:latin typeface="MiSans Normal" pitchFamily="2" charset="-122"/>
                <a:ea typeface="MiSans Normal" pitchFamily="2" charset="-122"/>
                <a:cs typeface="MiSans" pitchFamily="34" charset="-120"/>
              </a:rPr>
              <a:t> AI </a:t>
            </a:r>
            <a:r>
              <a:rPr lang="en-US" altLang="zh-CN" sz="1000" dirty="0" err="1">
                <a:solidFill>
                  <a:srgbClr val="292624">
                    <a:alpha val="75000"/>
                  </a:srgbClr>
                </a:solidFill>
                <a:latin typeface="MiSans Normal" pitchFamily="2" charset="-122"/>
                <a:ea typeface="MiSans Normal" pitchFamily="2" charset="-122"/>
                <a:cs typeface="MiSans" pitchFamily="34" charset="-120"/>
              </a:rPr>
              <a:t>智能体，但组织级的工作流仍然碎片化、高度依赖人工</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sz="1000" dirty="0">
                <a:solidFill>
                  <a:srgbClr val="292624">
                    <a:alpha val="75000"/>
                  </a:srgbClr>
                </a:solidFill>
                <a:latin typeface="MiSans Normal" pitchFamily="2" charset="-122"/>
                <a:ea typeface="MiSans Normal" pitchFamily="2" charset="-122"/>
                <a:cs typeface="MiSans" pitchFamily="34" charset="-120"/>
              </a:rPr>
              <a:t>。</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知识上下文与决策依旧被困在彼此割裂的工具和流程之中</a:t>
            </a:r>
            <a:r>
              <a:rPr lang="en-US" altLang="zh-CN" sz="1000" dirty="0">
                <a:solidFill>
                  <a:srgbClr val="292624">
                    <a:alpha val="75000"/>
                  </a:srgbClr>
                </a:solidFill>
                <a:latin typeface="MiSans Normal" pitchFamily="2" charset="-122"/>
                <a:ea typeface="MiSans Normal" pitchFamily="2" charset="-122"/>
                <a:cs typeface="MiSans" pitchFamily="34" charset="-120"/>
              </a:rPr>
              <a:t>。</a:t>
            </a:r>
            <a:endParaRPr lang="en-US" sz="975" dirty="0">
              <a:latin typeface="MiSans Normal" pitchFamily="2" charset="-122"/>
              <a:ea typeface="MiSans Normal" pitchFamily="2" charset="-122"/>
            </a:endParaRPr>
          </a:p>
        </p:txBody>
      </p:sp>
      <p:sp>
        <p:nvSpPr>
          <p:cNvPr id="5" name="Text 2"/>
          <p:cNvSpPr/>
          <p:nvPr/>
        </p:nvSpPr>
        <p:spPr>
          <a:xfrm>
            <a:off x="3326054" y="3545020"/>
            <a:ext cx="2495550" cy="1360201"/>
          </a:xfrm>
          <a:prstGeom prst="rect">
            <a:avLst/>
          </a:prstGeom>
          <a:noFill/>
          <a:ln/>
        </p:spPr>
        <p:txBody>
          <a:bodyPr wrap="square" lIns="0" tIns="0" rIns="0" bIns="0" rtlCol="0" anchor="t"/>
          <a:lstStyle/>
          <a:p>
            <a:pPr>
              <a:lnSpc>
                <a:spcPts val="1614"/>
              </a:lnSpc>
            </a:pPr>
            <a:r>
              <a:rPr lang="en-US" sz="1000" dirty="0" err="1">
                <a:solidFill>
                  <a:srgbClr val="292624">
                    <a:alpha val="75000"/>
                  </a:srgbClr>
                </a:solidFill>
                <a:latin typeface="MiSans Normal" pitchFamily="2" charset="-122"/>
                <a:ea typeface="MiSans Normal" pitchFamily="2" charset="-122"/>
                <a:cs typeface="MiSans" pitchFamily="34" charset="-120"/>
              </a:rPr>
              <a:t>大多数现有工作流是围绕人类顺序操作设计的，而非智能体跨系统持续协作</a:t>
            </a:r>
            <a:r>
              <a:rPr lang="en-US" sz="1000" dirty="0">
                <a:solidFill>
                  <a:srgbClr val="292624">
                    <a:alpha val="75000"/>
                  </a:srgbClr>
                </a:solidFill>
                <a:latin typeface="MiSans Normal" pitchFamily="2" charset="-122"/>
                <a:ea typeface="MiSans Normal" pitchFamily="2" charset="-122"/>
                <a:cs typeface="MiSans" pitchFamily="34" charset="-120"/>
              </a:rPr>
              <a:t>。</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引入智能体所需的编排能力</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引入智能体所需的编排能力</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引入智能体所需的编排能力</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sz="1000" dirty="0">
                <a:solidFill>
                  <a:srgbClr val="292624">
                    <a:alpha val="75000"/>
                  </a:srgbClr>
                </a:solidFill>
                <a:latin typeface="MiSans Normal" pitchFamily="2" charset="-122"/>
                <a:ea typeface="MiSans Normal" pitchFamily="2" charset="-122"/>
                <a:cs typeface="MiSans" pitchFamily="34" charset="-120"/>
              </a:rPr>
              <a:t>，正是当下许多组织所欠缺的。</a:t>
            </a:r>
            <a:endParaRPr lang="en-US" sz="975" dirty="0">
              <a:latin typeface="MiSans Normal" pitchFamily="2" charset="-122"/>
              <a:ea typeface="MiSans Normal" pitchFamily="2" charset="-122"/>
            </a:endParaRPr>
          </a:p>
        </p:txBody>
      </p:sp>
      <p:sp>
        <p:nvSpPr>
          <p:cNvPr id="6" name="Text 3"/>
          <p:cNvSpPr/>
          <p:nvPr/>
        </p:nvSpPr>
        <p:spPr>
          <a:xfrm>
            <a:off x="6294438" y="3545174"/>
            <a:ext cx="2611413" cy="1360201"/>
          </a:xfrm>
          <a:prstGeom prst="rect">
            <a:avLst/>
          </a:prstGeom>
          <a:noFill/>
          <a:ln/>
        </p:spPr>
        <p:txBody>
          <a:bodyPr wrap="square" lIns="0" tIns="0" rIns="0" bIns="0" rtlCol="0" anchor="t"/>
          <a:lstStyle/>
          <a:p>
            <a:pPr>
              <a:lnSpc>
                <a:spcPts val="1614"/>
              </a:lnSpc>
            </a:pPr>
            <a:r>
              <a:rPr lang="en-US" sz="1000" dirty="0" err="1">
                <a:solidFill>
                  <a:srgbClr val="292624">
                    <a:alpha val="75000"/>
                  </a:srgbClr>
                </a:solidFill>
                <a:latin typeface="MiSans Normal" pitchFamily="2" charset="-122"/>
                <a:ea typeface="MiSans Normal" pitchFamily="2" charset="-122"/>
                <a:cs typeface="MiSans" pitchFamily="34" charset="-120"/>
              </a:rPr>
              <a:t>个人效率提升与组织转型之间的鸿沟持续扩大团队花在管理工作流、校验产出、重建上下文上的时间</a:t>
            </a:r>
            <a:r>
              <a:rPr lang="en-US" sz="1000" dirty="0">
                <a:solidFill>
                  <a:srgbClr val="292624">
                    <a:alpha val="75000"/>
                  </a:srgbClr>
                </a:solidFill>
                <a:latin typeface="MiSans Normal" pitchFamily="2" charset="-122"/>
                <a:ea typeface="MiSans Normal" pitchFamily="2" charset="-122"/>
                <a:cs typeface="MiSans" pitchFamily="34" charset="-120"/>
              </a:rPr>
              <a:t>，</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反而超过了加速交付本身</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反而超过了加速交付本身</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反而超过了加速交付本身</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sz="1000" dirty="0" err="1">
                <a:solidFill>
                  <a:srgbClr val="292624">
                    <a:alpha val="75000"/>
                  </a:srgbClr>
                </a:solidFill>
                <a:latin typeface="MiSans Normal" pitchFamily="2" charset="-122"/>
                <a:ea typeface="MiSans Normal" pitchFamily="2" charset="-122"/>
                <a:cs typeface="MiSans" pitchFamily="34" charset="-120"/>
              </a:rPr>
              <a:t>反而超过了加速交付本身</a:t>
            </a:r>
            <a:r>
              <a:rPr lang="en-US" sz="1000" dirty="0">
                <a:solidFill>
                  <a:srgbClr val="292624">
                    <a:alpha val="75000"/>
                  </a:srgbClr>
                </a:solidFill>
                <a:latin typeface="MiSans Normal" pitchFamily="2" charset="-122"/>
                <a:ea typeface="MiSans Normal" pitchFamily="2" charset="-122"/>
                <a:cs typeface="MiSans" pitchFamily="34" charset="-120"/>
              </a:rPr>
              <a:t>。</a:t>
            </a:r>
            <a:endParaRPr lang="en-US" sz="975" dirty="0">
              <a:latin typeface="MiSans Normal" pitchFamily="2" charset="-122"/>
              <a:ea typeface="MiSans Normal" pitchFamily="2" charset="-122"/>
            </a:endParaRPr>
          </a:p>
        </p:txBody>
      </p:sp>
      <p:sp>
        <p:nvSpPr>
          <p:cNvPr id="7" name="Text 4"/>
          <p:cNvSpPr/>
          <p:nvPr/>
        </p:nvSpPr>
        <p:spPr>
          <a:xfrm>
            <a:off x="248717" y="2431542"/>
            <a:ext cx="2605088" cy="723887"/>
          </a:xfrm>
          <a:prstGeom prst="rect">
            <a:avLst/>
          </a:prstGeom>
          <a:noFill/>
          <a:ln/>
        </p:spPr>
        <p:txBody>
          <a:bodyPr wrap="square" lIns="0" tIns="0" rIns="0" bIns="0" rtlCol="0" anchor="t"/>
          <a:lstStyle/>
          <a:p>
            <a:pPr algn="l">
              <a:lnSpc>
                <a:spcPts val="1856"/>
              </a:lnSpc>
            </a:pPr>
            <a:r>
              <a:rPr lang="en-US" altLang="zh-CN" sz="1700" kern="0" spc="-12" dirty="0">
                <a:solidFill>
                  <a:srgbClr val="292624"/>
                </a:solidFill>
                <a:latin typeface="MiSans Demibold" pitchFamily="2" charset="-122"/>
                <a:ea typeface="MiSans Demibold" pitchFamily="2" charset="-122"/>
                <a:cs typeface="MiSans" pitchFamily="34" charset="-120"/>
              </a:rPr>
              <a:t>01</a:t>
            </a:r>
            <a:r>
              <a:rPr lang="zh-CN" altLang="en-US" sz="1700" kern="0" spc="-12" dirty="0">
                <a:solidFill>
                  <a:srgbClr val="292624"/>
                </a:solidFill>
                <a:latin typeface="MiSans Demibold" pitchFamily="2" charset="-122"/>
                <a:ea typeface="MiSans Demibold" pitchFamily="2" charset="-122"/>
                <a:cs typeface="MiSans" pitchFamily="34" charset="-120"/>
              </a:rPr>
              <a:t> </a:t>
            </a:r>
            <a:r>
              <a:rPr lang="en-US" sz="1700" kern="0" spc="-12" dirty="0" err="1">
                <a:solidFill>
                  <a:srgbClr val="292624"/>
                </a:solidFill>
                <a:latin typeface="MiSans Demibold" pitchFamily="2" charset="-122"/>
                <a:ea typeface="MiSans Demibold" pitchFamily="2" charset="-122"/>
                <a:cs typeface="MiSans" pitchFamily="34" charset="-120"/>
              </a:rPr>
              <a:t>问题</a:t>
            </a:r>
            <a:endParaRPr lang="en-US" sz="1688" dirty="0">
              <a:latin typeface="MiSans Demibold" pitchFamily="2" charset="-122"/>
              <a:ea typeface="MiSans Demibold" pitchFamily="2" charset="-122"/>
            </a:endParaRPr>
          </a:p>
        </p:txBody>
      </p:sp>
      <p:sp>
        <p:nvSpPr>
          <p:cNvPr id="8" name="Text 5"/>
          <p:cNvSpPr/>
          <p:nvPr/>
        </p:nvSpPr>
        <p:spPr>
          <a:xfrm>
            <a:off x="3326054" y="2431388"/>
            <a:ext cx="2495550" cy="723887"/>
          </a:xfrm>
          <a:prstGeom prst="rect">
            <a:avLst/>
          </a:prstGeom>
          <a:noFill/>
          <a:ln/>
        </p:spPr>
        <p:txBody>
          <a:bodyPr wrap="square" lIns="0" tIns="0" rIns="0" bIns="0" rtlCol="0" anchor="t"/>
          <a:lstStyle/>
          <a:p>
            <a:pPr algn="l">
              <a:lnSpc>
                <a:spcPts val="1856"/>
              </a:lnSpc>
            </a:pPr>
            <a:r>
              <a:rPr lang="en-US" altLang="zh-CN" sz="1700" kern="0" spc="-12" dirty="0">
                <a:solidFill>
                  <a:srgbClr val="292624"/>
                </a:solidFill>
                <a:latin typeface="MiSans Demibold" pitchFamily="2" charset="-122"/>
                <a:ea typeface="MiSans Demibold" pitchFamily="2" charset="-122"/>
                <a:cs typeface="MiSans" pitchFamily="34" charset="-120"/>
              </a:rPr>
              <a:t>02</a:t>
            </a:r>
            <a:r>
              <a:rPr lang="zh-CN" altLang="en-US" sz="1700" kern="0" spc="-12" dirty="0">
                <a:solidFill>
                  <a:srgbClr val="292624"/>
                </a:solidFill>
                <a:latin typeface="MiSans Demibold" pitchFamily="2" charset="-122"/>
                <a:ea typeface="MiSans Demibold" pitchFamily="2" charset="-122"/>
                <a:cs typeface="MiSans" pitchFamily="34" charset="-120"/>
              </a:rPr>
              <a:t> </a:t>
            </a:r>
            <a:r>
              <a:rPr lang="en-US" sz="1700" kern="0" spc="-12" dirty="0" err="1">
                <a:solidFill>
                  <a:srgbClr val="292624"/>
                </a:solidFill>
                <a:latin typeface="MiSans Demibold" pitchFamily="2" charset="-122"/>
                <a:ea typeface="MiSans Demibold" pitchFamily="2" charset="-122"/>
                <a:cs typeface="MiSans" pitchFamily="34" charset="-120"/>
              </a:rPr>
              <a:t>挑战</a:t>
            </a:r>
            <a:endParaRPr lang="en-US" sz="1688" dirty="0">
              <a:latin typeface="MiSans Demibold" pitchFamily="2" charset="-122"/>
              <a:ea typeface="MiSans Demibold" pitchFamily="2" charset="-122"/>
            </a:endParaRPr>
          </a:p>
        </p:txBody>
      </p:sp>
      <p:sp>
        <p:nvSpPr>
          <p:cNvPr id="9" name="Text 6"/>
          <p:cNvSpPr/>
          <p:nvPr/>
        </p:nvSpPr>
        <p:spPr>
          <a:xfrm>
            <a:off x="6294438" y="2431542"/>
            <a:ext cx="2611413" cy="723887"/>
          </a:xfrm>
          <a:prstGeom prst="rect">
            <a:avLst/>
          </a:prstGeom>
          <a:noFill/>
          <a:ln/>
        </p:spPr>
        <p:txBody>
          <a:bodyPr wrap="square" lIns="0" tIns="0" rIns="0" bIns="0" rtlCol="0" anchor="t"/>
          <a:lstStyle/>
          <a:p>
            <a:pPr algn="l">
              <a:lnSpc>
                <a:spcPts val="1856"/>
              </a:lnSpc>
            </a:pPr>
            <a:r>
              <a:rPr lang="en-US" altLang="zh-CN" sz="1700" kern="0" spc="-12" dirty="0">
                <a:solidFill>
                  <a:srgbClr val="292624"/>
                </a:solidFill>
                <a:latin typeface="MiSans Demibold" pitchFamily="2" charset="-122"/>
                <a:ea typeface="MiSans Demibold" pitchFamily="2" charset="-122"/>
                <a:cs typeface="MiSans" pitchFamily="34" charset="-120"/>
              </a:rPr>
              <a:t>03</a:t>
            </a:r>
            <a:r>
              <a:rPr lang="zh-CN" altLang="en-US" sz="1700" kern="0" spc="-12" dirty="0">
                <a:solidFill>
                  <a:srgbClr val="292624"/>
                </a:solidFill>
                <a:latin typeface="MiSans Demibold" pitchFamily="2" charset="-122"/>
                <a:ea typeface="MiSans Demibold" pitchFamily="2" charset="-122"/>
                <a:cs typeface="MiSans" pitchFamily="34" charset="-120"/>
              </a:rPr>
              <a:t> </a:t>
            </a:r>
            <a:r>
              <a:rPr lang="en-US" sz="1700" kern="0" spc="-12" dirty="0" err="1">
                <a:solidFill>
                  <a:srgbClr val="292624"/>
                </a:solidFill>
                <a:latin typeface="MiSans Demibold" pitchFamily="2" charset="-122"/>
                <a:ea typeface="MiSans Demibold" pitchFamily="2" charset="-122"/>
                <a:cs typeface="MiSans" pitchFamily="34" charset="-120"/>
              </a:rPr>
              <a:t>影响</a:t>
            </a:r>
            <a:endParaRPr lang="en-US" sz="1688" dirty="0">
              <a:latin typeface="MiSans Demibold" pitchFamily="2" charset="-122"/>
              <a:ea typeface="MiSans Demibold" pitchFamily="2" charset="-122"/>
            </a:endParaRPr>
          </a:p>
        </p:txBody>
      </p:sp>
      <p:sp>
        <p:nvSpPr>
          <p:cNvPr id="10" name="Shape 7"/>
          <p:cNvSpPr/>
          <p:nvPr/>
        </p:nvSpPr>
        <p:spPr>
          <a:xfrm rot="5400000">
            <a:off x="1860093" y="3648621"/>
            <a:ext cx="2459951"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1" name="Shape 8"/>
          <p:cNvSpPr/>
          <p:nvPr/>
        </p:nvSpPr>
        <p:spPr>
          <a:xfrm rot="5400000">
            <a:off x="4828718" y="3648421"/>
            <a:ext cx="2459951"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249108" y="313076"/>
            <a:ext cx="2719388" cy="1245901"/>
          </a:xfrm>
          <a:prstGeom prst="rect">
            <a:avLst/>
          </a:prstGeom>
          <a:noFill/>
          <a:ln/>
        </p:spPr>
        <p:txBody>
          <a:bodyPr wrap="square" lIns="0" tIns="0" rIns="0" bIns="0" rtlCol="0" anchor="t"/>
          <a:lstStyle/>
          <a:p>
            <a:pPr algn="l">
              <a:lnSpc>
                <a:spcPts val="3418"/>
              </a:lnSpc>
            </a:pPr>
            <a:r>
              <a:rPr lang="en-US" sz="2800" kern="0" spc="-24" dirty="0" err="1">
                <a:solidFill>
                  <a:srgbClr val="292624"/>
                </a:solidFill>
                <a:latin typeface="MiSans Demibold" pitchFamily="2" charset="-122"/>
                <a:ea typeface="MiSans Demibold" pitchFamily="2" charset="-122"/>
              </a:rPr>
              <a:t>我们行业正在面临的问题</a:t>
            </a:r>
            <a:endParaRPr lang="en-US" sz="2800" kern="0" spc="-24" dirty="0">
              <a:solidFill>
                <a:srgbClr val="292624"/>
              </a:solidFill>
              <a:latin typeface="MiSans Demibold" pitchFamily="2" charset="-122"/>
              <a:ea typeface="MiSans Demibold" pitchFamily="2" charset="-122"/>
            </a:endParaRPr>
          </a:p>
        </p:txBody>
      </p:sp>
      <p:sp>
        <p:nvSpPr>
          <p:cNvPr id="4" name="Text 1"/>
          <p:cNvSpPr/>
          <p:nvPr/>
        </p:nvSpPr>
        <p:spPr>
          <a:xfrm>
            <a:off x="4691063" y="1873250"/>
            <a:ext cx="3995737" cy="718096"/>
          </a:xfrm>
          <a:prstGeom prst="rect">
            <a:avLst/>
          </a:prstGeom>
          <a:noFill/>
          <a:ln/>
        </p:spPr>
        <p:txBody>
          <a:bodyPr wrap="square" lIns="0" tIns="0" rIns="0" bIns="0" rtlCol="0" anchor="t"/>
          <a:lstStyle/>
          <a:p>
            <a:pPr algn="l">
              <a:lnSpc>
                <a:spcPts val="1414"/>
              </a:lnSpc>
            </a:pPr>
            <a:r>
              <a:rPr lang="en-US" sz="1000" dirty="0">
                <a:solidFill>
                  <a:srgbClr val="292624">
                    <a:alpha val="75000"/>
                  </a:srgbClr>
                </a:solidFill>
                <a:latin typeface="MiSans Normal" pitchFamily="2" charset="-122"/>
                <a:ea typeface="MiSans Normal" pitchFamily="2" charset="-122"/>
                <a:cs typeface="MiSans" pitchFamily="34" charset="-120"/>
              </a:rPr>
              <a:t>团队正在个人层面快速采用 AI 智能体，但组织级的工作流仍然碎片化、高度依赖人工。知识、上下文与决策依旧被困在彼此割裂的工具、流程与人之间。</a:t>
            </a:r>
            <a:endParaRPr lang="en-US" sz="975" dirty="0">
              <a:latin typeface="MiSans Normal" pitchFamily="2" charset="-122"/>
              <a:ea typeface="MiSans Normal" pitchFamily="2" charset="-122"/>
            </a:endParaRPr>
          </a:p>
        </p:txBody>
      </p:sp>
      <p:sp>
        <p:nvSpPr>
          <p:cNvPr id="5" name="Text 2"/>
          <p:cNvSpPr/>
          <p:nvPr/>
        </p:nvSpPr>
        <p:spPr>
          <a:xfrm>
            <a:off x="4691062" y="2970597"/>
            <a:ext cx="3995701" cy="718096"/>
          </a:xfrm>
          <a:prstGeom prst="rect">
            <a:avLst/>
          </a:prstGeom>
          <a:noFill/>
          <a:ln/>
        </p:spPr>
        <p:txBody>
          <a:bodyPr wrap="square" lIns="0" tIns="0" rIns="0" bIns="0" rtlCol="0" anchor="t"/>
          <a:lstStyle/>
          <a:p>
            <a:pPr algn="l">
              <a:lnSpc>
                <a:spcPts val="1414"/>
              </a:lnSpc>
            </a:pPr>
            <a:r>
              <a:rPr lang="en-US" sz="1000" dirty="0">
                <a:solidFill>
                  <a:srgbClr val="292624">
                    <a:alpha val="75000"/>
                  </a:srgbClr>
                </a:solidFill>
                <a:latin typeface="MiSans Normal" pitchFamily="2" charset="-122"/>
                <a:ea typeface="MiSans Normal" pitchFamily="2" charset="-122"/>
                <a:cs typeface="MiSans" pitchFamily="34" charset="-120"/>
              </a:rPr>
              <a:t>大多数现有工作流是围绕人类顺序操作设计的，而非智能体跨系统持续协作将智能体引入规划、实现、测试与评审环节所需的编排能力，正是当下许多组织所欠缺的。</a:t>
            </a:r>
            <a:endParaRPr lang="en-US" sz="975" dirty="0">
              <a:latin typeface="MiSans Normal" pitchFamily="2" charset="-122"/>
              <a:ea typeface="MiSans Normal" pitchFamily="2" charset="-122"/>
            </a:endParaRPr>
          </a:p>
        </p:txBody>
      </p:sp>
      <p:sp>
        <p:nvSpPr>
          <p:cNvPr id="6" name="Text 3"/>
          <p:cNvSpPr/>
          <p:nvPr/>
        </p:nvSpPr>
        <p:spPr>
          <a:xfrm>
            <a:off x="4691063" y="4067945"/>
            <a:ext cx="3995701" cy="718096"/>
          </a:xfrm>
          <a:prstGeom prst="rect">
            <a:avLst/>
          </a:prstGeom>
          <a:noFill/>
          <a:ln/>
        </p:spPr>
        <p:txBody>
          <a:bodyPr wrap="square" lIns="0" tIns="0" rIns="0" bIns="0" rtlCol="0" anchor="t"/>
          <a:lstStyle/>
          <a:p>
            <a:pPr algn="l">
              <a:lnSpc>
                <a:spcPts val="1414"/>
              </a:lnSpc>
            </a:pPr>
            <a:r>
              <a:rPr lang="en-US" sz="1000" dirty="0">
                <a:solidFill>
                  <a:srgbClr val="292624">
                    <a:alpha val="75000"/>
                  </a:srgbClr>
                </a:solidFill>
                <a:latin typeface="MiSans Normal" pitchFamily="2" charset="-122"/>
                <a:ea typeface="MiSans Normal" pitchFamily="2" charset="-122"/>
                <a:cs typeface="MiSans" pitchFamily="34" charset="-120"/>
              </a:rPr>
              <a:t>个人效率提升与组织转型之间的鸿沟持续扩大。团队花在管理工作流、校验产出、重建上下文上的时间，反而超过了加速交付本身。</a:t>
            </a:r>
            <a:endParaRPr lang="en-US" sz="975" dirty="0">
              <a:latin typeface="MiSans Normal" pitchFamily="2" charset="-122"/>
              <a:ea typeface="MiSans Normal" pitchFamily="2" charset="-122"/>
            </a:endParaRPr>
          </a:p>
        </p:txBody>
      </p:sp>
      <p:sp>
        <p:nvSpPr>
          <p:cNvPr id="7" name="Text 4"/>
          <p:cNvSpPr/>
          <p:nvPr/>
        </p:nvSpPr>
        <p:spPr>
          <a:xfrm>
            <a:off x="3206750" y="1895426"/>
            <a:ext cx="1246175" cy="383067"/>
          </a:xfrm>
          <a:prstGeom prst="rect">
            <a:avLst/>
          </a:prstGeom>
          <a:noFill/>
          <a:ln/>
        </p:spPr>
        <p:txBody>
          <a:bodyPr wrap="square" lIns="0" tIns="0" rIns="0" bIns="0" rtlCol="0" anchor="t"/>
          <a:lstStyle/>
          <a:p>
            <a:pPr algn="l">
              <a:lnSpc>
                <a:spcPts val="1856"/>
              </a:lnSpc>
            </a:pPr>
            <a:r>
              <a:rPr lang="en-US" altLang="zh-CN" sz="1600" kern="0" spc="-12" dirty="0">
                <a:solidFill>
                  <a:srgbClr val="292624"/>
                </a:solidFill>
                <a:latin typeface="MiSans Demibold" pitchFamily="2" charset="-122"/>
                <a:ea typeface="MiSans Demibold" pitchFamily="2" charset="-122"/>
                <a:cs typeface="MiSans" pitchFamily="34" charset="-120"/>
              </a:rPr>
              <a:t>01</a:t>
            </a:r>
            <a:r>
              <a:rPr lang="zh-CN" altLang="en-US" sz="1600" kern="0" spc="-12" dirty="0">
                <a:solidFill>
                  <a:srgbClr val="292624"/>
                </a:solidFill>
                <a:latin typeface="MiSans Demibold" pitchFamily="2" charset="-122"/>
                <a:ea typeface="MiSans Demibold" pitchFamily="2" charset="-122"/>
                <a:cs typeface="MiSans" pitchFamily="34" charset="-120"/>
              </a:rPr>
              <a:t> </a:t>
            </a:r>
            <a:r>
              <a:rPr lang="en-US" sz="1600" kern="0" spc="-12" dirty="0" err="1">
                <a:solidFill>
                  <a:srgbClr val="292624"/>
                </a:solidFill>
                <a:latin typeface="MiSans Demibold" pitchFamily="2" charset="-122"/>
                <a:ea typeface="MiSans Demibold" pitchFamily="2" charset="-122"/>
                <a:cs typeface="MiSans" pitchFamily="34" charset="-120"/>
              </a:rPr>
              <a:t>问题</a:t>
            </a:r>
            <a:endParaRPr lang="en-US" sz="1600" dirty="0">
              <a:latin typeface="MiSans Demibold" pitchFamily="2" charset="-122"/>
              <a:ea typeface="MiSans Demibold" pitchFamily="2" charset="-122"/>
            </a:endParaRPr>
          </a:p>
        </p:txBody>
      </p:sp>
      <p:sp>
        <p:nvSpPr>
          <p:cNvPr id="8" name="Text 5"/>
          <p:cNvSpPr/>
          <p:nvPr/>
        </p:nvSpPr>
        <p:spPr>
          <a:xfrm>
            <a:off x="3206750" y="2976429"/>
            <a:ext cx="1245989" cy="383067"/>
          </a:xfrm>
          <a:prstGeom prst="rect">
            <a:avLst/>
          </a:prstGeom>
          <a:noFill/>
          <a:ln/>
        </p:spPr>
        <p:txBody>
          <a:bodyPr wrap="square" lIns="0" tIns="0" rIns="0" bIns="0" rtlCol="0" anchor="t"/>
          <a:lstStyle/>
          <a:p>
            <a:pPr algn="l">
              <a:lnSpc>
                <a:spcPts val="1856"/>
              </a:lnSpc>
            </a:pPr>
            <a:r>
              <a:rPr lang="en-US" altLang="zh-CN" sz="1600" kern="0" spc="-12" dirty="0">
                <a:solidFill>
                  <a:srgbClr val="292624"/>
                </a:solidFill>
                <a:latin typeface="MiSans Demibold" pitchFamily="2" charset="-122"/>
                <a:ea typeface="MiSans Demibold" pitchFamily="2" charset="-122"/>
                <a:cs typeface="MiSans" pitchFamily="34" charset="-120"/>
              </a:rPr>
              <a:t>02</a:t>
            </a:r>
            <a:r>
              <a:rPr lang="zh-CN" altLang="en-US" sz="1600" kern="0" spc="-12" dirty="0">
                <a:solidFill>
                  <a:srgbClr val="292624"/>
                </a:solidFill>
                <a:latin typeface="MiSans Demibold" pitchFamily="2" charset="-122"/>
                <a:ea typeface="MiSans Demibold" pitchFamily="2" charset="-122"/>
                <a:cs typeface="MiSans" pitchFamily="34" charset="-120"/>
              </a:rPr>
              <a:t> </a:t>
            </a:r>
            <a:r>
              <a:rPr lang="en-US" sz="1600" kern="0" spc="-12" dirty="0" err="1">
                <a:solidFill>
                  <a:srgbClr val="292624"/>
                </a:solidFill>
                <a:latin typeface="MiSans Demibold" pitchFamily="2" charset="-122"/>
                <a:ea typeface="MiSans Demibold" pitchFamily="2" charset="-122"/>
                <a:cs typeface="MiSans" pitchFamily="34" charset="-120"/>
              </a:rPr>
              <a:t>挑战</a:t>
            </a:r>
            <a:endParaRPr lang="en-US" sz="1600" dirty="0">
              <a:latin typeface="MiSans Demibold" pitchFamily="2" charset="-122"/>
              <a:ea typeface="MiSans Demibold" pitchFamily="2" charset="-122"/>
            </a:endParaRPr>
          </a:p>
        </p:txBody>
      </p:sp>
      <p:sp>
        <p:nvSpPr>
          <p:cNvPr id="9" name="Text 6"/>
          <p:cNvSpPr/>
          <p:nvPr/>
        </p:nvSpPr>
        <p:spPr>
          <a:xfrm>
            <a:off x="3206750" y="4081090"/>
            <a:ext cx="1245803" cy="383067"/>
          </a:xfrm>
          <a:prstGeom prst="rect">
            <a:avLst/>
          </a:prstGeom>
          <a:noFill/>
          <a:ln/>
        </p:spPr>
        <p:txBody>
          <a:bodyPr wrap="square" lIns="0" tIns="0" rIns="0" bIns="0" rtlCol="0" anchor="t"/>
          <a:lstStyle/>
          <a:p>
            <a:pPr algn="l">
              <a:lnSpc>
                <a:spcPts val="1856"/>
              </a:lnSpc>
            </a:pPr>
            <a:r>
              <a:rPr lang="en-US" altLang="zh-CN" sz="1600" kern="0" spc="-12" dirty="0">
                <a:solidFill>
                  <a:srgbClr val="292624"/>
                </a:solidFill>
                <a:latin typeface="MiSans Demibold" pitchFamily="2" charset="-122"/>
                <a:ea typeface="MiSans Demibold" pitchFamily="2" charset="-122"/>
                <a:cs typeface="MiSans" pitchFamily="34" charset="-120"/>
              </a:rPr>
              <a:t>03</a:t>
            </a:r>
            <a:r>
              <a:rPr lang="zh-CN" altLang="en-US" sz="1600" kern="0" spc="-12" dirty="0">
                <a:solidFill>
                  <a:srgbClr val="292624"/>
                </a:solidFill>
                <a:latin typeface="MiSans Demibold" pitchFamily="2" charset="-122"/>
                <a:ea typeface="MiSans Demibold" pitchFamily="2" charset="-122"/>
                <a:cs typeface="MiSans" pitchFamily="34" charset="-120"/>
              </a:rPr>
              <a:t> </a:t>
            </a:r>
            <a:r>
              <a:rPr lang="en-US" sz="1600" kern="0" spc="-12" dirty="0" err="1">
                <a:solidFill>
                  <a:srgbClr val="292624"/>
                </a:solidFill>
                <a:latin typeface="MiSans Demibold" pitchFamily="2" charset="-122"/>
                <a:ea typeface="MiSans Demibold" pitchFamily="2" charset="-122"/>
                <a:cs typeface="MiSans" pitchFamily="34" charset="-120"/>
              </a:rPr>
              <a:t>影响</a:t>
            </a:r>
            <a:endParaRPr lang="en-US" sz="1600" dirty="0">
              <a:latin typeface="MiSans Demibold" pitchFamily="2" charset="-122"/>
              <a:ea typeface="MiSans Demibold" pitchFamily="2" charset="-122"/>
            </a:endParaRPr>
          </a:p>
        </p:txBody>
      </p:sp>
      <p:sp>
        <p:nvSpPr>
          <p:cNvPr id="10" name="Shape 7"/>
          <p:cNvSpPr/>
          <p:nvPr/>
        </p:nvSpPr>
        <p:spPr>
          <a:xfrm>
            <a:off x="3206750" y="2771446"/>
            <a:ext cx="5480013" cy="1733"/>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1" name="Shape 8"/>
          <p:cNvSpPr/>
          <p:nvPr/>
        </p:nvSpPr>
        <p:spPr>
          <a:xfrm>
            <a:off x="3206750" y="3873555"/>
            <a:ext cx="5480013" cy="1401"/>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4" name="Text 0"/>
          <p:cNvSpPr/>
          <p:nvPr/>
        </p:nvSpPr>
        <p:spPr>
          <a:xfrm>
            <a:off x="248717" y="238125"/>
            <a:ext cx="5603714" cy="1077144"/>
          </a:xfrm>
          <a:prstGeom prst="rect">
            <a:avLst/>
          </a:prstGeom>
          <a:noFill/>
          <a:ln/>
        </p:spPr>
        <p:txBody>
          <a:bodyPr wrap="square" lIns="0" tIns="0" rIns="0" bIns="0" rtlCol="0" anchor="t"/>
          <a:lstStyle/>
          <a:p>
            <a:pPr algn="l">
              <a:lnSpc>
                <a:spcPts val="3218"/>
              </a:lnSpc>
            </a:pPr>
            <a:r>
              <a:rPr lang="en-US" sz="2800" kern="0" spc="-24" dirty="0">
                <a:solidFill>
                  <a:srgbClr val="FFFFFF"/>
                </a:solidFill>
                <a:latin typeface="MiSans Demibold" pitchFamily="2" charset="-122"/>
                <a:ea typeface="MiSans Demibold" pitchFamily="2" charset="-122"/>
                <a:cs typeface="MiSans" pitchFamily="34" charset="-120"/>
              </a:rPr>
              <a:t>我们行业正在面临的问题</a:t>
            </a:r>
            <a:endParaRPr lang="en-US" sz="2800" dirty="0">
              <a:latin typeface="MiSans Demibold" pitchFamily="2" charset="-122"/>
              <a:ea typeface="MiSans Demibold" pitchFamily="2" charset="-122"/>
            </a:endParaRPr>
          </a:p>
        </p:txBody>
      </p:sp>
      <p:sp>
        <p:nvSpPr>
          <p:cNvPr id="5" name="Text 1"/>
          <p:cNvSpPr/>
          <p:nvPr/>
        </p:nvSpPr>
        <p:spPr>
          <a:xfrm>
            <a:off x="248717" y="3522689"/>
            <a:ext cx="2605088" cy="1382686"/>
          </a:xfrm>
          <a:prstGeom prst="rect">
            <a:avLst/>
          </a:prstGeom>
          <a:noFill/>
          <a:ln/>
        </p:spPr>
        <p:txBody>
          <a:bodyPr wrap="square" lIns="0" tIns="0" rIns="0" bIns="0" rtlCol="0" anchor="t"/>
          <a:lstStyle/>
          <a:p>
            <a:pPr>
              <a:lnSpc>
                <a:spcPts val="1614"/>
              </a:lnSpc>
            </a:pPr>
            <a:r>
              <a:rPr lang="en-US" sz="1000" b="0" dirty="0">
                <a:solidFill>
                  <a:srgbClr val="F7F8F3"/>
                </a:solidFill>
                <a:latin typeface="MiSans" pitchFamily="34" charset="0"/>
                <a:ea typeface="MiSans" pitchFamily="34" charset="-122"/>
                <a:cs typeface="MiSans" pitchFamily="34" charset="-120"/>
              </a:rPr>
              <a:t>团队正在个人层面快速采用 AI 智能体，但组织级的工作流仍然碎片化、高度依赖人工。知识、上下文与决策依旧被困在</a:t>
            </a:r>
            <a:r>
              <a:rPr lang="en-US" altLang="zh-CN" sz="1000" dirty="0">
                <a:solidFill>
                  <a:srgbClr val="F7F8F3"/>
                </a:solidFill>
                <a:latin typeface="MiSans" pitchFamily="34" charset="0"/>
                <a:ea typeface="MiSans" pitchFamily="34" charset="-122"/>
                <a:cs typeface="MiSans" pitchFamily="34" charset="-120"/>
              </a:rPr>
              <a:t>知识、上下文与决策依旧被困在知识、上下文与决策依旧被困在</a:t>
            </a:r>
            <a:r>
              <a:rPr lang="en-US" sz="1000" b="0" dirty="0">
                <a:solidFill>
                  <a:srgbClr val="F7F8F3"/>
                </a:solidFill>
                <a:latin typeface="MiSans" pitchFamily="34" charset="0"/>
                <a:ea typeface="MiSans" pitchFamily="34" charset="-122"/>
                <a:cs typeface="MiSans" pitchFamily="34" charset="-120"/>
              </a:rPr>
              <a:t>彼此割裂的工具和流程之中。</a:t>
            </a:r>
            <a:endParaRPr lang="en-US" sz="975" dirty="0"/>
          </a:p>
        </p:txBody>
      </p:sp>
      <p:sp>
        <p:nvSpPr>
          <p:cNvPr id="6" name="Text 2"/>
          <p:cNvSpPr/>
          <p:nvPr/>
        </p:nvSpPr>
        <p:spPr>
          <a:xfrm>
            <a:off x="3326054" y="3522535"/>
            <a:ext cx="2495550" cy="1382686"/>
          </a:xfrm>
          <a:prstGeom prst="rect">
            <a:avLst/>
          </a:prstGeom>
          <a:noFill/>
          <a:ln/>
        </p:spPr>
        <p:txBody>
          <a:bodyPr wrap="square" lIns="0" tIns="0" rIns="0" bIns="0" rtlCol="0" anchor="t"/>
          <a:lstStyle/>
          <a:p>
            <a:pPr>
              <a:lnSpc>
                <a:spcPts val="1614"/>
              </a:lnSpc>
            </a:pPr>
            <a:r>
              <a:rPr lang="en-US" sz="1000" b="0" dirty="0" err="1">
                <a:solidFill>
                  <a:srgbClr val="F7F8F3"/>
                </a:solidFill>
                <a:latin typeface="MiSans" pitchFamily="34" charset="0"/>
                <a:ea typeface="MiSans" pitchFamily="34" charset="-122"/>
                <a:cs typeface="MiSans" pitchFamily="34" charset="-120"/>
              </a:rPr>
              <a:t>大多数现有工作流是围绕人类顺序操作设计的，而非智能体跨系统持续协作。引入智能体所需的编排能力</a:t>
            </a:r>
            <a:r>
              <a:rPr lang="en-US" sz="1000" b="0" dirty="0">
                <a:solidFill>
                  <a:srgbClr val="F7F8F3"/>
                </a:solidFill>
                <a:latin typeface="MiSans" pitchFamily="34" charset="0"/>
                <a:ea typeface="MiSans" pitchFamily="34" charset="-122"/>
                <a:cs typeface="MiSans" pitchFamily="34" charset="-120"/>
              </a:rPr>
              <a:t>，</a:t>
            </a:r>
            <a:r>
              <a:rPr lang="en-US" altLang="zh-CN" sz="1000" dirty="0">
                <a:solidFill>
                  <a:srgbClr val="F7F8F3"/>
                </a:solidFill>
                <a:latin typeface="MiSans" pitchFamily="34" charset="0"/>
                <a:ea typeface="MiSans" pitchFamily="34" charset="-122"/>
                <a:cs typeface="MiSans" pitchFamily="34" charset="-120"/>
              </a:rPr>
              <a:t> </a:t>
            </a:r>
            <a:r>
              <a:rPr lang="en-US" altLang="zh-CN" sz="1000" dirty="0" err="1">
                <a:solidFill>
                  <a:srgbClr val="F7F8F3"/>
                </a:solidFill>
                <a:latin typeface="MiSans" pitchFamily="34" charset="0"/>
                <a:ea typeface="MiSans" pitchFamily="34" charset="-122"/>
                <a:cs typeface="MiSans" pitchFamily="34" charset="-120"/>
              </a:rPr>
              <a:t>引入智能体所需的编排能力</a:t>
            </a:r>
            <a:r>
              <a:rPr lang="en-US" altLang="zh-CN" sz="1000" dirty="0">
                <a:solidFill>
                  <a:srgbClr val="F7F8F3"/>
                </a:solidFill>
                <a:latin typeface="MiSans" pitchFamily="34" charset="0"/>
                <a:ea typeface="MiSans" pitchFamily="34" charset="-122"/>
                <a:cs typeface="MiSans" pitchFamily="34" charset="-120"/>
              </a:rPr>
              <a:t>， </a:t>
            </a:r>
            <a:r>
              <a:rPr lang="en-US" altLang="zh-CN" sz="1000" dirty="0" err="1">
                <a:solidFill>
                  <a:srgbClr val="F7F8F3"/>
                </a:solidFill>
                <a:latin typeface="MiSans" pitchFamily="34" charset="0"/>
                <a:ea typeface="MiSans" pitchFamily="34" charset="-122"/>
                <a:cs typeface="MiSans" pitchFamily="34" charset="-120"/>
              </a:rPr>
              <a:t>引入智能体所需的编排能力</a:t>
            </a:r>
            <a:r>
              <a:rPr lang="en-US" altLang="zh-CN" sz="1000" dirty="0">
                <a:solidFill>
                  <a:srgbClr val="F7F8F3"/>
                </a:solidFill>
                <a:latin typeface="MiSans" pitchFamily="34" charset="0"/>
                <a:ea typeface="MiSans" pitchFamily="34" charset="-122"/>
                <a:cs typeface="MiSans" pitchFamily="34" charset="-120"/>
              </a:rPr>
              <a:t>， </a:t>
            </a:r>
            <a:r>
              <a:rPr lang="en-US" sz="1000" b="0" dirty="0" err="1">
                <a:solidFill>
                  <a:srgbClr val="F7F8F3"/>
                </a:solidFill>
                <a:latin typeface="MiSans" pitchFamily="34" charset="0"/>
                <a:ea typeface="MiSans" pitchFamily="34" charset="-122"/>
                <a:cs typeface="MiSans" pitchFamily="34" charset="-120"/>
              </a:rPr>
              <a:t>正是当下许多组织所欠缺的</a:t>
            </a:r>
            <a:r>
              <a:rPr lang="en-US" sz="1000" b="0" dirty="0">
                <a:solidFill>
                  <a:srgbClr val="F7F8F3"/>
                </a:solidFill>
                <a:latin typeface="MiSans" pitchFamily="34" charset="0"/>
                <a:ea typeface="MiSans" pitchFamily="34" charset="-122"/>
                <a:cs typeface="MiSans" pitchFamily="34" charset="-120"/>
              </a:rPr>
              <a:t>。</a:t>
            </a:r>
            <a:endParaRPr lang="en-US" sz="975" dirty="0"/>
          </a:p>
        </p:txBody>
      </p:sp>
      <p:sp>
        <p:nvSpPr>
          <p:cNvPr id="7" name="Text 3"/>
          <p:cNvSpPr/>
          <p:nvPr/>
        </p:nvSpPr>
        <p:spPr>
          <a:xfrm>
            <a:off x="6294438" y="3522689"/>
            <a:ext cx="2611413" cy="1382686"/>
          </a:xfrm>
          <a:prstGeom prst="rect">
            <a:avLst/>
          </a:prstGeom>
          <a:noFill/>
          <a:ln/>
        </p:spPr>
        <p:txBody>
          <a:bodyPr wrap="square" lIns="0" tIns="0" rIns="0" bIns="0" rtlCol="0" anchor="t"/>
          <a:lstStyle/>
          <a:p>
            <a:pPr>
              <a:lnSpc>
                <a:spcPts val="1614"/>
              </a:lnSpc>
            </a:pPr>
            <a:r>
              <a:rPr lang="en-US" sz="1000" b="0" dirty="0">
                <a:solidFill>
                  <a:srgbClr val="F7F8F3"/>
                </a:solidFill>
                <a:latin typeface="MiSans" pitchFamily="34" charset="0"/>
                <a:ea typeface="MiSans" pitchFamily="34" charset="-122"/>
                <a:cs typeface="MiSans" pitchFamily="34" charset="-120"/>
              </a:rPr>
              <a:t>个人效率提升与组织转型之间的鸿沟持续扩大团队花在</a:t>
            </a:r>
            <a:r>
              <a:rPr lang="en-US" altLang="zh-CN" sz="1000" dirty="0">
                <a:solidFill>
                  <a:srgbClr val="F7F8F3"/>
                </a:solidFill>
                <a:latin typeface="MiSans" pitchFamily="34" charset="0"/>
                <a:ea typeface="MiSans" pitchFamily="34" charset="-122"/>
                <a:cs typeface="MiSans" pitchFamily="34" charset="-120"/>
              </a:rPr>
              <a:t>管理工作流、校验产出、重建上下文上的时间管理工作流、校验产出、重建上下文上的时间管理工作流、校验产出、重建上下文上的时间</a:t>
            </a:r>
            <a:r>
              <a:rPr lang="en-US" sz="1000" b="0" dirty="0">
                <a:solidFill>
                  <a:srgbClr val="F7F8F3"/>
                </a:solidFill>
                <a:latin typeface="MiSans" pitchFamily="34" charset="0"/>
                <a:ea typeface="MiSans" pitchFamily="34" charset="-122"/>
                <a:cs typeface="MiSans" pitchFamily="34" charset="-120"/>
              </a:rPr>
              <a:t>，反而超过了加速交付本身。</a:t>
            </a:r>
            <a:endParaRPr lang="en-US" sz="975" dirty="0"/>
          </a:p>
        </p:txBody>
      </p:sp>
      <p:sp>
        <p:nvSpPr>
          <p:cNvPr id="8" name="Text 4"/>
          <p:cNvSpPr/>
          <p:nvPr/>
        </p:nvSpPr>
        <p:spPr>
          <a:xfrm>
            <a:off x="248717" y="2431542"/>
            <a:ext cx="2605088" cy="573985"/>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01</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问题</a:t>
            </a:r>
            <a:endParaRPr lang="en-US" sz="1600" dirty="0">
              <a:latin typeface="MiSans Demibold" pitchFamily="2" charset="-122"/>
              <a:ea typeface="MiSans Demibold" pitchFamily="2" charset="-122"/>
            </a:endParaRPr>
          </a:p>
        </p:txBody>
      </p:sp>
      <p:sp>
        <p:nvSpPr>
          <p:cNvPr id="9" name="Text 5"/>
          <p:cNvSpPr/>
          <p:nvPr/>
        </p:nvSpPr>
        <p:spPr>
          <a:xfrm>
            <a:off x="3326054" y="2431388"/>
            <a:ext cx="2495550" cy="573985"/>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02</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挑战</a:t>
            </a:r>
            <a:endParaRPr lang="en-US" sz="1600" dirty="0">
              <a:latin typeface="MiSans Demibold" pitchFamily="2" charset="-122"/>
              <a:ea typeface="MiSans Demibold" pitchFamily="2" charset="-122"/>
            </a:endParaRPr>
          </a:p>
        </p:txBody>
      </p:sp>
      <p:sp>
        <p:nvSpPr>
          <p:cNvPr id="10" name="Text 6"/>
          <p:cNvSpPr/>
          <p:nvPr/>
        </p:nvSpPr>
        <p:spPr>
          <a:xfrm>
            <a:off x="6294438" y="2431542"/>
            <a:ext cx="2611413" cy="573985"/>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03</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影响</a:t>
            </a:r>
            <a:endParaRPr lang="en-US" sz="1600" dirty="0">
              <a:latin typeface="MiSans Demibold" pitchFamily="2" charset="-122"/>
              <a:ea typeface="MiSans Demibold" pitchFamily="2" charset="-122"/>
            </a:endParaRPr>
          </a:p>
        </p:txBody>
      </p:sp>
      <p:sp>
        <p:nvSpPr>
          <p:cNvPr id="11" name="Shape 7"/>
          <p:cNvSpPr/>
          <p:nvPr/>
        </p:nvSpPr>
        <p:spPr>
          <a:xfrm rot="5400000">
            <a:off x="1860093" y="3648621"/>
            <a:ext cx="2459951" cy="0"/>
          </a:xfrm>
          <a:prstGeom prst="line">
            <a:avLst/>
          </a:prstGeom>
          <a:solidFill>
            <a:srgbClr val="FFFFFF"/>
          </a:solidFill>
          <a:ln w="5292">
            <a:solidFill>
              <a:srgbClr val="FFFFFF">
                <a:alpha val="30000"/>
              </a:srgbClr>
            </a:solidFill>
            <a:prstDash val="solid"/>
            <a:headEnd type="none"/>
            <a:tailEnd type="none"/>
          </a:ln>
        </p:spPr>
        <p:txBody>
          <a:bodyPr/>
          <a:lstStyle/>
          <a:p>
            <a:endParaRPr/>
          </a:p>
        </p:txBody>
      </p:sp>
      <p:sp>
        <p:nvSpPr>
          <p:cNvPr id="12" name="Shape 8"/>
          <p:cNvSpPr/>
          <p:nvPr/>
        </p:nvSpPr>
        <p:spPr>
          <a:xfrm rot="5400000">
            <a:off x="4828718" y="3648421"/>
            <a:ext cx="2459951" cy="0"/>
          </a:xfrm>
          <a:prstGeom prst="line">
            <a:avLst/>
          </a:prstGeom>
          <a:solidFill>
            <a:srgbClr val="FFFFFF"/>
          </a:solidFill>
          <a:ln w="5292">
            <a:solidFill>
              <a:srgbClr val="FFFFFF">
                <a:alpha val="30000"/>
              </a:srgbClr>
            </a:solidFill>
            <a:prstDash val="solid"/>
            <a:headEnd type="none"/>
            <a:tailEnd type="none"/>
          </a:ln>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4" name="Text 0"/>
          <p:cNvSpPr/>
          <p:nvPr/>
        </p:nvSpPr>
        <p:spPr>
          <a:xfrm>
            <a:off x="249108" y="238125"/>
            <a:ext cx="2719388" cy="1225823"/>
          </a:xfrm>
          <a:prstGeom prst="rect">
            <a:avLst/>
          </a:prstGeom>
          <a:noFill/>
          <a:ln/>
        </p:spPr>
        <p:txBody>
          <a:bodyPr wrap="square" lIns="0" tIns="0" rIns="0" bIns="0" rtlCol="0" anchor="t"/>
          <a:lstStyle/>
          <a:p>
            <a:pPr algn="l">
              <a:lnSpc>
                <a:spcPts val="3418"/>
              </a:lnSpc>
            </a:pPr>
            <a:r>
              <a:rPr lang="en-US" sz="2800" kern="0" spc="-24" dirty="0">
                <a:solidFill>
                  <a:srgbClr val="FFFFFF"/>
                </a:solidFill>
                <a:latin typeface="MiSans Demibold" pitchFamily="2" charset="-122"/>
                <a:ea typeface="MiSans Demibold" pitchFamily="2" charset="-122"/>
                <a:cs typeface="MiSans" pitchFamily="34" charset="-120"/>
              </a:rPr>
              <a:t>我们行业正在面临的问题</a:t>
            </a:r>
            <a:endParaRPr lang="en-US" sz="2800" dirty="0">
              <a:latin typeface="MiSans Demibold" pitchFamily="2" charset="-122"/>
              <a:ea typeface="MiSans Demibold" pitchFamily="2" charset="-122"/>
            </a:endParaRPr>
          </a:p>
        </p:txBody>
      </p:sp>
      <p:sp>
        <p:nvSpPr>
          <p:cNvPr id="5" name="Text 1"/>
          <p:cNvSpPr/>
          <p:nvPr/>
        </p:nvSpPr>
        <p:spPr>
          <a:xfrm>
            <a:off x="4691063" y="1873250"/>
            <a:ext cx="3913291" cy="718096"/>
          </a:xfrm>
          <a:prstGeom prst="rect">
            <a:avLst/>
          </a:prstGeom>
          <a:noFill/>
          <a:ln/>
        </p:spPr>
        <p:txBody>
          <a:bodyPr wrap="square" lIns="0" tIns="0" rIns="0" bIns="0" rtlCol="0" anchor="t"/>
          <a:lstStyle/>
          <a:p>
            <a:pPr algn="l">
              <a:lnSpc>
                <a:spcPts val="1414"/>
              </a:lnSpc>
            </a:pPr>
            <a:r>
              <a:rPr lang="en-US" sz="1000" dirty="0">
                <a:solidFill>
                  <a:srgbClr val="F7F8F3"/>
                </a:solidFill>
                <a:latin typeface="MiSans Light" pitchFamily="2" charset="-122"/>
                <a:ea typeface="MiSans Light" pitchFamily="2" charset="-122"/>
                <a:cs typeface="MiSans" pitchFamily="34" charset="-120"/>
              </a:rPr>
              <a:t>团队正在个人层面快速采用 AI </a:t>
            </a:r>
            <a:r>
              <a:rPr lang="en-US" sz="1000" dirty="0" err="1">
                <a:solidFill>
                  <a:srgbClr val="F7F8F3"/>
                </a:solidFill>
                <a:latin typeface="MiSans Light" pitchFamily="2" charset="-122"/>
                <a:ea typeface="MiSans Light" pitchFamily="2" charset="-122"/>
                <a:cs typeface="MiSans" pitchFamily="34" charset="-120"/>
              </a:rPr>
              <a:t>智能体，但组织级的工作流仍然碎片化高度依赖人工。知识、上下文与决策依旧被困在彼此割裂的工具、流程与人之间</a:t>
            </a:r>
            <a:r>
              <a:rPr lang="en-US" sz="1000" dirty="0">
                <a:solidFill>
                  <a:srgbClr val="F7F8F3"/>
                </a:solidFill>
                <a:latin typeface="MiSans Light" pitchFamily="2" charset="-122"/>
                <a:ea typeface="MiSans Light" pitchFamily="2" charset="-122"/>
                <a:cs typeface="MiSans" pitchFamily="34" charset="-120"/>
              </a:rPr>
              <a:t>。</a:t>
            </a:r>
            <a:endParaRPr lang="en-US" sz="975" dirty="0">
              <a:latin typeface="MiSans Light" pitchFamily="2" charset="-122"/>
              <a:ea typeface="MiSans Light" pitchFamily="2" charset="-122"/>
            </a:endParaRPr>
          </a:p>
        </p:txBody>
      </p:sp>
      <p:sp>
        <p:nvSpPr>
          <p:cNvPr id="6" name="Text 2"/>
          <p:cNvSpPr/>
          <p:nvPr/>
        </p:nvSpPr>
        <p:spPr>
          <a:xfrm>
            <a:off x="4691063" y="2970597"/>
            <a:ext cx="3913256" cy="718096"/>
          </a:xfrm>
          <a:prstGeom prst="rect">
            <a:avLst/>
          </a:prstGeom>
          <a:noFill/>
          <a:ln/>
        </p:spPr>
        <p:txBody>
          <a:bodyPr wrap="square" lIns="0" tIns="0" rIns="0" bIns="0" rtlCol="0" anchor="t"/>
          <a:lstStyle/>
          <a:p>
            <a:pPr algn="l">
              <a:lnSpc>
                <a:spcPts val="1414"/>
              </a:lnSpc>
            </a:pPr>
            <a:r>
              <a:rPr lang="en-US" sz="1000" dirty="0">
                <a:solidFill>
                  <a:srgbClr val="F7F8F3"/>
                </a:solidFill>
                <a:latin typeface="MiSans Light" pitchFamily="2" charset="-122"/>
                <a:ea typeface="MiSans Light" pitchFamily="2" charset="-122"/>
                <a:cs typeface="MiSans" pitchFamily="34" charset="-120"/>
              </a:rPr>
              <a:t>大多数现有工作流是围绕人类顺序操作设计的，而非智能体跨系统持续协作。将智能体引入规划、实现、测试与评审环节所需的编排能力正是当下许多组织所欠缺的。</a:t>
            </a:r>
            <a:endParaRPr lang="en-US" sz="975" dirty="0">
              <a:latin typeface="MiSans Light" pitchFamily="2" charset="-122"/>
              <a:ea typeface="MiSans Light" pitchFamily="2" charset="-122"/>
            </a:endParaRPr>
          </a:p>
        </p:txBody>
      </p:sp>
      <p:sp>
        <p:nvSpPr>
          <p:cNvPr id="7" name="Text 3"/>
          <p:cNvSpPr/>
          <p:nvPr/>
        </p:nvSpPr>
        <p:spPr>
          <a:xfrm>
            <a:off x="4691064" y="4067945"/>
            <a:ext cx="3913256" cy="718096"/>
          </a:xfrm>
          <a:prstGeom prst="rect">
            <a:avLst/>
          </a:prstGeom>
          <a:noFill/>
          <a:ln/>
        </p:spPr>
        <p:txBody>
          <a:bodyPr wrap="square" lIns="0" tIns="0" rIns="0" bIns="0" rtlCol="0" anchor="t"/>
          <a:lstStyle/>
          <a:p>
            <a:pPr algn="l">
              <a:lnSpc>
                <a:spcPts val="1414"/>
              </a:lnSpc>
            </a:pPr>
            <a:r>
              <a:rPr lang="en-US" sz="1000" dirty="0" err="1">
                <a:solidFill>
                  <a:srgbClr val="F7F8F3"/>
                </a:solidFill>
                <a:latin typeface="MiSans Light" pitchFamily="2" charset="-122"/>
                <a:ea typeface="MiSans Light" pitchFamily="2" charset="-122"/>
                <a:cs typeface="MiSans" pitchFamily="34" charset="-120"/>
              </a:rPr>
              <a:t>个人效率提升与组织转型之间的鸿沟持续扩大。团队花在管理工作流校验产出、重建上下文上的时间，反而超过了加速交付本身</a:t>
            </a:r>
            <a:r>
              <a:rPr lang="en-US" sz="1000" dirty="0">
                <a:solidFill>
                  <a:srgbClr val="F7F8F3"/>
                </a:solidFill>
                <a:latin typeface="MiSans Light" pitchFamily="2" charset="-122"/>
                <a:ea typeface="MiSans Light" pitchFamily="2" charset="-122"/>
                <a:cs typeface="MiSans" pitchFamily="34" charset="-120"/>
              </a:rPr>
              <a:t>。</a:t>
            </a:r>
            <a:endParaRPr lang="en-US" sz="975" dirty="0">
              <a:latin typeface="MiSans Light" pitchFamily="2" charset="-122"/>
              <a:ea typeface="MiSans Light" pitchFamily="2" charset="-122"/>
            </a:endParaRPr>
          </a:p>
        </p:txBody>
      </p:sp>
      <p:sp>
        <p:nvSpPr>
          <p:cNvPr id="8" name="Text 4"/>
          <p:cNvSpPr/>
          <p:nvPr/>
        </p:nvSpPr>
        <p:spPr>
          <a:xfrm>
            <a:off x="3206750" y="1895426"/>
            <a:ext cx="1246175" cy="476627"/>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01</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问题</a:t>
            </a:r>
            <a:endParaRPr lang="en-US" sz="1600" dirty="0">
              <a:latin typeface="MiSans Demibold" pitchFamily="2" charset="-122"/>
              <a:ea typeface="MiSans Demibold" pitchFamily="2" charset="-122"/>
            </a:endParaRPr>
          </a:p>
        </p:txBody>
      </p:sp>
      <p:sp>
        <p:nvSpPr>
          <p:cNvPr id="9" name="Text 5"/>
          <p:cNvSpPr/>
          <p:nvPr/>
        </p:nvSpPr>
        <p:spPr>
          <a:xfrm>
            <a:off x="3206750" y="2976429"/>
            <a:ext cx="1245989" cy="476627"/>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02</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挑战</a:t>
            </a:r>
            <a:endParaRPr lang="en-US" sz="1600" dirty="0">
              <a:latin typeface="MiSans Demibold" pitchFamily="2" charset="-122"/>
              <a:ea typeface="MiSans Demibold" pitchFamily="2" charset="-122"/>
            </a:endParaRPr>
          </a:p>
        </p:txBody>
      </p:sp>
      <p:sp>
        <p:nvSpPr>
          <p:cNvPr id="10" name="Text 6"/>
          <p:cNvSpPr/>
          <p:nvPr/>
        </p:nvSpPr>
        <p:spPr>
          <a:xfrm>
            <a:off x="3206750" y="4081090"/>
            <a:ext cx="1245803" cy="476627"/>
          </a:xfrm>
          <a:prstGeom prst="rect">
            <a:avLst/>
          </a:prstGeom>
          <a:noFill/>
          <a:ln/>
        </p:spPr>
        <p:txBody>
          <a:bodyPr wrap="square" lIns="0" tIns="0" rIns="0" bIns="0" rtlCol="0" anchor="t"/>
          <a:lstStyle/>
          <a:p>
            <a:pPr algn="l">
              <a:lnSpc>
                <a:spcPts val="1856"/>
              </a:lnSpc>
            </a:pPr>
            <a:r>
              <a:rPr lang="en-US" altLang="zh-CN" sz="1600" kern="0" spc="-12" dirty="0">
                <a:solidFill>
                  <a:srgbClr val="FFFFFF"/>
                </a:solidFill>
                <a:latin typeface="MiSans Demibold" pitchFamily="2" charset="-122"/>
                <a:ea typeface="MiSans Demibold" pitchFamily="2" charset="-122"/>
                <a:cs typeface="MiSans" pitchFamily="34" charset="-120"/>
              </a:rPr>
              <a:t>03</a:t>
            </a:r>
            <a:r>
              <a:rPr lang="zh-CN" altLang="en-US" sz="1600" kern="0" spc="-12" dirty="0">
                <a:solidFill>
                  <a:srgbClr val="FFFFFF"/>
                </a:solidFill>
                <a:latin typeface="MiSans Demibold" pitchFamily="2" charset="-122"/>
                <a:ea typeface="MiSans Demibold" pitchFamily="2" charset="-122"/>
                <a:cs typeface="MiSans" pitchFamily="34" charset="-120"/>
              </a:rPr>
              <a:t> </a:t>
            </a:r>
            <a:r>
              <a:rPr lang="en-US" sz="1600" kern="0" spc="-12" dirty="0" err="1">
                <a:solidFill>
                  <a:srgbClr val="FFFFFF"/>
                </a:solidFill>
                <a:latin typeface="MiSans Demibold" pitchFamily="2" charset="-122"/>
                <a:ea typeface="MiSans Demibold" pitchFamily="2" charset="-122"/>
                <a:cs typeface="MiSans" pitchFamily="34" charset="-120"/>
              </a:rPr>
              <a:t>影响</a:t>
            </a:r>
            <a:endParaRPr lang="en-US" sz="1600" dirty="0">
              <a:latin typeface="MiSans Demibold" pitchFamily="2" charset="-122"/>
              <a:ea typeface="MiSans Demibold" pitchFamily="2" charset="-122"/>
            </a:endParaRPr>
          </a:p>
        </p:txBody>
      </p:sp>
      <p:sp>
        <p:nvSpPr>
          <p:cNvPr id="11" name="Shape 7"/>
          <p:cNvSpPr/>
          <p:nvPr/>
        </p:nvSpPr>
        <p:spPr>
          <a:xfrm>
            <a:off x="3206750" y="2771446"/>
            <a:ext cx="5397569" cy="10581"/>
          </a:xfrm>
          <a:prstGeom prst="line">
            <a:avLst/>
          </a:prstGeom>
          <a:solidFill>
            <a:srgbClr val="FFFFFF"/>
          </a:solidFill>
          <a:ln w="5292">
            <a:solidFill>
              <a:srgbClr val="FFFFFF">
                <a:alpha val="30000"/>
              </a:srgbClr>
            </a:solidFill>
            <a:prstDash val="solid"/>
            <a:headEnd type="none"/>
            <a:tailEnd type="none"/>
          </a:ln>
        </p:spPr>
        <p:txBody>
          <a:bodyPr/>
          <a:lstStyle/>
          <a:p>
            <a:endParaRPr/>
          </a:p>
        </p:txBody>
      </p:sp>
      <p:sp>
        <p:nvSpPr>
          <p:cNvPr id="12" name="Shape 8"/>
          <p:cNvSpPr/>
          <p:nvPr/>
        </p:nvSpPr>
        <p:spPr>
          <a:xfrm>
            <a:off x="3206750" y="3873555"/>
            <a:ext cx="5397569" cy="3707"/>
          </a:xfrm>
          <a:prstGeom prst="line">
            <a:avLst/>
          </a:prstGeom>
          <a:solidFill>
            <a:srgbClr val="FFFFFF"/>
          </a:solidFill>
          <a:ln w="5292">
            <a:solidFill>
              <a:srgbClr val="FFFFFF">
                <a:alpha val="30000"/>
              </a:srgbClr>
            </a:solidFill>
            <a:prstDash val="solid"/>
            <a:headEnd type="none"/>
            <a:tailEnd type="none"/>
          </a:ln>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238125" y="561861"/>
            <a:ext cx="3472644" cy="2653529"/>
          </a:xfrm>
          <a:prstGeom prst="rect">
            <a:avLst/>
          </a:prstGeom>
          <a:noFill/>
          <a:ln/>
        </p:spPr>
        <p:txBody>
          <a:bodyPr wrap="square" lIns="0" tIns="0" rIns="0" bIns="0" rtlCol="0" anchor="t"/>
          <a:lstStyle/>
          <a:p>
            <a:pPr algn="l">
              <a:lnSpc>
                <a:spcPts val="3418"/>
              </a:lnSpc>
            </a:pPr>
            <a:r>
              <a:rPr lang="en-US" sz="2800" kern="0" spc="-24" dirty="0">
                <a:solidFill>
                  <a:srgbClr val="292624"/>
                </a:solidFill>
                <a:latin typeface="MiSans Medium" pitchFamily="2" charset="-122"/>
                <a:ea typeface="MiSans Medium" pitchFamily="2" charset="-122"/>
                <a:cs typeface="MiSans" pitchFamily="34" charset="-120"/>
              </a:rPr>
              <a:t>你的团队正在做出</a:t>
            </a:r>
            <a:endParaRPr lang="en-US" sz="2800" dirty="0">
              <a:latin typeface="MiSans Medium" pitchFamily="2" charset="-122"/>
              <a:ea typeface="MiSans Medium" pitchFamily="2" charset="-122"/>
            </a:endParaRPr>
          </a:p>
          <a:p>
            <a:pPr algn="l">
              <a:lnSpc>
                <a:spcPts val="3418"/>
              </a:lnSpc>
            </a:pPr>
            <a:r>
              <a:rPr lang="en-US" sz="2800" kern="0" spc="-24" dirty="0">
                <a:solidFill>
                  <a:srgbClr val="292624"/>
                </a:solidFill>
                <a:latin typeface="MiSans Medium" pitchFamily="2" charset="-122"/>
                <a:ea typeface="MiSans Medium" pitchFamily="2" charset="-122"/>
                <a:cs typeface="MiSans" pitchFamily="34" charset="-120"/>
              </a:rPr>
              <a:t>实时决策</a:t>
            </a:r>
            <a:endParaRPr lang="en-US" sz="2800" dirty="0">
              <a:latin typeface="MiSans Medium" pitchFamily="2" charset="-122"/>
              <a:ea typeface="MiSans Medium" pitchFamily="2" charset="-122"/>
            </a:endParaRPr>
          </a:p>
          <a:p>
            <a:pPr algn="l">
              <a:lnSpc>
                <a:spcPts val="3418"/>
              </a:lnSpc>
            </a:pPr>
            <a:r>
              <a:rPr lang="en-US" sz="2800" kern="0" spc="-24" dirty="0">
                <a:solidFill>
                  <a:srgbClr val="292624"/>
                </a:solidFill>
                <a:latin typeface="MiSans Medium" pitchFamily="2" charset="-122"/>
                <a:ea typeface="MiSans Medium" pitchFamily="2" charset="-122"/>
                <a:cs typeface="MiSans" pitchFamily="34" charset="-120"/>
              </a:rPr>
              <a:t>依据的却是上季度的数据</a:t>
            </a:r>
            <a:endParaRPr lang="en-US" sz="2800" dirty="0">
              <a:latin typeface="MiSans Medium" pitchFamily="2" charset="-122"/>
              <a:ea typeface="MiSans Medium" pitchFamily="2" charset="-122"/>
            </a:endParaRPr>
          </a:p>
        </p:txBody>
      </p:sp>
      <p:sp>
        <p:nvSpPr>
          <p:cNvPr id="4" name="Text 1"/>
          <p:cNvSpPr/>
          <p:nvPr/>
        </p:nvSpPr>
        <p:spPr>
          <a:xfrm>
            <a:off x="247802" y="238125"/>
            <a:ext cx="3462970" cy="133350"/>
          </a:xfrm>
          <a:prstGeom prst="rect">
            <a:avLst/>
          </a:prstGeom>
          <a:noFill/>
          <a:ln/>
        </p:spPr>
        <p:txBody>
          <a:bodyPr wrap="square" lIns="0" tIns="0" rIns="0" bIns="0" rtlCol="0" anchor="t"/>
          <a:lstStyle/>
          <a:p>
            <a:pPr algn="l">
              <a:lnSpc>
                <a:spcPts val="1050"/>
              </a:lnSpc>
            </a:pPr>
            <a:r>
              <a:rPr lang="en-US" sz="800" kern="0" spc="300" dirty="0" err="1">
                <a:solidFill>
                  <a:srgbClr val="292624"/>
                </a:solidFill>
                <a:latin typeface="MiSans Light" pitchFamily="2" charset="-122"/>
                <a:ea typeface="MiSans Light" pitchFamily="2" charset="-122"/>
                <a:cs typeface="MiSans" pitchFamily="34" charset="-120"/>
              </a:rPr>
              <a:t>在你当前的解决方案提供商那里</a:t>
            </a:r>
            <a:endParaRPr lang="en-US" sz="750" spc="300" dirty="0">
              <a:latin typeface="MiSans Light" pitchFamily="2" charset="-122"/>
              <a:ea typeface="MiSans Light" pitchFamily="2" charset="-122"/>
            </a:endParaRPr>
          </a:p>
        </p:txBody>
      </p:sp>
      <p:sp>
        <p:nvSpPr>
          <p:cNvPr id="5" name="Text 2"/>
          <p:cNvSpPr/>
          <p:nvPr/>
        </p:nvSpPr>
        <p:spPr>
          <a:xfrm>
            <a:off x="238125" y="4661074"/>
            <a:ext cx="3472644" cy="248580"/>
          </a:xfrm>
          <a:prstGeom prst="rect">
            <a:avLst/>
          </a:prstGeom>
          <a:noFill/>
          <a:ln/>
        </p:spPr>
        <p:txBody>
          <a:bodyPr wrap="square" lIns="0" tIns="0" rIns="0" bIns="0" rtlCol="0" anchor="b"/>
          <a:lstStyle/>
          <a:p>
            <a:pPr algn="l">
              <a:lnSpc>
                <a:spcPts val="1958"/>
              </a:lnSpc>
            </a:pPr>
            <a:r>
              <a:rPr lang="en-US" sz="1400" dirty="0">
                <a:solidFill>
                  <a:srgbClr val="292624"/>
                </a:solidFill>
                <a:latin typeface="MiSans Light" pitchFamily="2" charset="-122"/>
                <a:ea typeface="MiSans Light" pitchFamily="2" charset="-122"/>
                <a:cs typeface="MiSans" pitchFamily="34" charset="-120"/>
              </a:rPr>
              <a:t>在 AI 时代，这远远不够</a:t>
            </a:r>
            <a:endParaRPr lang="en-US" sz="1350" dirty="0">
              <a:latin typeface="MiSans Light" pitchFamily="2" charset="-122"/>
              <a:ea typeface="MiSans Light" pitchFamily="2" charset="-122"/>
            </a:endParaRPr>
          </a:p>
        </p:txBody>
      </p:sp>
      <p:pic>
        <p:nvPicPr>
          <p:cNvPr id="6" name="Image 0" descr="https://pitch-assets-ccb95893-de3f-4266-973c-20049231b248.s3.eu-west-1.amazonaws.com/b773eef6-3c9c-4b31-9f38-cf01a6fedd53?pitch-bytes=2064188&amp;pitch-content-type=image%2Fjpeg"/>
          <p:cNvPicPr>
            <a:picLocks noChangeAspect="1"/>
          </p:cNvPicPr>
          <p:nvPr/>
        </p:nvPicPr>
        <p:blipFill>
          <a:blip r:embed="rId3"/>
          <a:srcRect b="2160"/>
          <a:stretch/>
        </p:blipFill>
        <p:spPr>
          <a:xfrm>
            <a:off x="4691062" y="0"/>
            <a:ext cx="4452938"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1A5544"/>
        </a:solidFill>
        <a:effectLst/>
      </p:bgPr>
    </p:bg>
    <p:spTree>
      <p:nvGrpSpPr>
        <p:cNvPr id="1" name=""/>
        <p:cNvGrpSpPr/>
        <p:nvPr/>
      </p:nvGrpSpPr>
      <p:grpSpPr>
        <a:xfrm>
          <a:off x="0" y="0"/>
          <a:ext cx="0" cy="0"/>
          <a:chOff x="0" y="0"/>
          <a:chExt cx="0" cy="0"/>
        </a:xfrm>
      </p:grpSpPr>
      <p:sp>
        <p:nvSpPr>
          <p:cNvPr id="3" name="Text 0"/>
          <p:cNvSpPr/>
          <p:nvPr/>
        </p:nvSpPr>
        <p:spPr>
          <a:xfrm>
            <a:off x="238125" y="561861"/>
            <a:ext cx="3472644" cy="2496132"/>
          </a:xfrm>
          <a:prstGeom prst="rect">
            <a:avLst/>
          </a:prstGeom>
          <a:noFill/>
          <a:ln/>
        </p:spPr>
        <p:txBody>
          <a:bodyPr wrap="square" lIns="0" tIns="0" rIns="0" bIns="0" rtlCol="0" anchor="t"/>
          <a:lstStyle/>
          <a:p>
            <a:pPr algn="l">
              <a:lnSpc>
                <a:spcPts val="3418"/>
              </a:lnSpc>
            </a:pPr>
            <a:r>
              <a:rPr lang="en-US" sz="2800" kern="0" spc="-24" dirty="0">
                <a:solidFill>
                  <a:srgbClr val="FFFFFF"/>
                </a:solidFill>
                <a:latin typeface="MiSans Medium" pitchFamily="2" charset="-122"/>
                <a:ea typeface="MiSans Medium" pitchFamily="2" charset="-122"/>
                <a:cs typeface="MiSans" pitchFamily="34" charset="-120"/>
              </a:rPr>
              <a:t>你的团队正在做出</a:t>
            </a:r>
            <a:endParaRPr lang="en-US" sz="2800" dirty="0">
              <a:latin typeface="MiSans Medium" pitchFamily="2" charset="-122"/>
              <a:ea typeface="MiSans Medium" pitchFamily="2" charset="-122"/>
            </a:endParaRPr>
          </a:p>
          <a:p>
            <a:pPr algn="l">
              <a:lnSpc>
                <a:spcPts val="3418"/>
              </a:lnSpc>
            </a:pPr>
            <a:r>
              <a:rPr lang="en-US" sz="2800" kern="0" spc="-24" dirty="0">
                <a:solidFill>
                  <a:srgbClr val="FFFFFF"/>
                </a:solidFill>
                <a:latin typeface="MiSans Medium" pitchFamily="2" charset="-122"/>
                <a:ea typeface="MiSans Medium" pitchFamily="2" charset="-122"/>
                <a:cs typeface="MiSans" pitchFamily="34" charset="-120"/>
              </a:rPr>
              <a:t>实时决策</a:t>
            </a:r>
            <a:endParaRPr lang="en-US" sz="2800" dirty="0">
              <a:latin typeface="MiSans Medium" pitchFamily="2" charset="-122"/>
              <a:ea typeface="MiSans Medium" pitchFamily="2" charset="-122"/>
            </a:endParaRPr>
          </a:p>
          <a:p>
            <a:pPr algn="l">
              <a:lnSpc>
                <a:spcPts val="3418"/>
              </a:lnSpc>
            </a:pPr>
            <a:r>
              <a:rPr lang="en-US" sz="2800" kern="0" spc="-24" dirty="0">
                <a:solidFill>
                  <a:srgbClr val="FFFFFF"/>
                </a:solidFill>
                <a:latin typeface="MiSans Medium" pitchFamily="2" charset="-122"/>
                <a:ea typeface="MiSans Medium" pitchFamily="2" charset="-122"/>
                <a:cs typeface="MiSans" pitchFamily="34" charset="-120"/>
              </a:rPr>
              <a:t>依据的却是上季度的数据</a:t>
            </a:r>
            <a:endParaRPr lang="en-US" sz="2800" dirty="0">
              <a:latin typeface="MiSans Medium" pitchFamily="2" charset="-122"/>
              <a:ea typeface="MiSans Medium" pitchFamily="2" charset="-122"/>
            </a:endParaRPr>
          </a:p>
        </p:txBody>
      </p:sp>
      <p:sp>
        <p:nvSpPr>
          <p:cNvPr id="4" name="Text 1"/>
          <p:cNvSpPr/>
          <p:nvPr/>
        </p:nvSpPr>
        <p:spPr>
          <a:xfrm>
            <a:off x="247802" y="238125"/>
            <a:ext cx="3462970" cy="133350"/>
          </a:xfrm>
          <a:prstGeom prst="rect">
            <a:avLst/>
          </a:prstGeom>
          <a:noFill/>
          <a:ln/>
        </p:spPr>
        <p:txBody>
          <a:bodyPr wrap="square" lIns="0" tIns="0" rIns="0" bIns="0" rtlCol="0" anchor="t"/>
          <a:lstStyle/>
          <a:p>
            <a:pPr algn="l">
              <a:lnSpc>
                <a:spcPts val="1050"/>
              </a:lnSpc>
            </a:pPr>
            <a:r>
              <a:rPr lang="en-US" sz="800" kern="0" spc="120" dirty="0" err="1">
                <a:solidFill>
                  <a:srgbClr val="FFFFFF"/>
                </a:solidFill>
                <a:latin typeface="MiSans Light" pitchFamily="2" charset="-122"/>
                <a:ea typeface="MiSans Light" pitchFamily="2" charset="-122"/>
                <a:cs typeface="MiSans" pitchFamily="34" charset="-120"/>
              </a:rPr>
              <a:t>在你当前的解决方案提供商那里</a:t>
            </a:r>
            <a:endParaRPr lang="en-US" sz="750" dirty="0">
              <a:latin typeface="MiSans Light" pitchFamily="2" charset="-122"/>
              <a:ea typeface="MiSans Light" pitchFamily="2" charset="-122"/>
            </a:endParaRPr>
          </a:p>
        </p:txBody>
      </p:sp>
      <p:sp>
        <p:nvSpPr>
          <p:cNvPr id="5" name="Text 2"/>
          <p:cNvSpPr/>
          <p:nvPr/>
        </p:nvSpPr>
        <p:spPr>
          <a:xfrm>
            <a:off x="238125" y="4661074"/>
            <a:ext cx="3472644" cy="248580"/>
          </a:xfrm>
          <a:prstGeom prst="rect">
            <a:avLst/>
          </a:prstGeom>
          <a:noFill/>
          <a:ln/>
        </p:spPr>
        <p:txBody>
          <a:bodyPr wrap="square" lIns="0" tIns="0" rIns="0" bIns="0" rtlCol="0" anchor="b"/>
          <a:lstStyle/>
          <a:p>
            <a:pPr algn="l">
              <a:lnSpc>
                <a:spcPts val="1958"/>
              </a:lnSpc>
            </a:pPr>
            <a:r>
              <a:rPr lang="en-US" sz="1400" dirty="0">
                <a:solidFill>
                  <a:srgbClr val="F7F8F3"/>
                </a:solidFill>
                <a:latin typeface="MiSans Light" pitchFamily="2" charset="-122"/>
                <a:ea typeface="MiSans Light" pitchFamily="2" charset="-122"/>
                <a:cs typeface="MiSans" pitchFamily="34" charset="-120"/>
              </a:rPr>
              <a:t>在 AI 时代，这远远不够</a:t>
            </a:r>
            <a:endParaRPr lang="en-US" sz="1350" dirty="0">
              <a:latin typeface="MiSans Light" pitchFamily="2" charset="-122"/>
              <a:ea typeface="MiSans Light" pitchFamily="2" charset="-122"/>
            </a:endParaRPr>
          </a:p>
        </p:txBody>
      </p:sp>
      <p:pic>
        <p:nvPicPr>
          <p:cNvPr id="6" name="Image 0" descr="https://pitch-assets-ccb95893-de3f-4266-973c-20049231b248.s3.eu-west-1.amazonaws.com/526f9b5e-6d7d-49d2-b055-a7a1d6a54067?pitch-bytes=2064188&amp;pitch-content-type=image%2Fjpeg"/>
          <p:cNvPicPr>
            <a:picLocks noChangeAspect="1"/>
          </p:cNvPicPr>
          <p:nvPr/>
        </p:nvPicPr>
        <p:blipFill>
          <a:blip r:embed="rId3"/>
          <a:srcRect b="2160"/>
          <a:stretch/>
        </p:blipFill>
        <p:spPr>
          <a:xfrm>
            <a:off x="4691062" y="0"/>
            <a:ext cx="4452938"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7F8F3"/>
        </a:solidFill>
        <a:effectLst/>
      </p:bgPr>
    </p:bg>
    <p:spTree>
      <p:nvGrpSpPr>
        <p:cNvPr id="1" name=""/>
        <p:cNvGrpSpPr/>
        <p:nvPr/>
      </p:nvGrpSpPr>
      <p:grpSpPr>
        <a:xfrm>
          <a:off x="0" y="0"/>
          <a:ext cx="0" cy="0"/>
          <a:chOff x="0" y="0"/>
          <a:chExt cx="0" cy="0"/>
        </a:xfrm>
      </p:grpSpPr>
      <p:sp>
        <p:nvSpPr>
          <p:cNvPr id="4" name="Text 0"/>
          <p:cNvSpPr/>
          <p:nvPr/>
        </p:nvSpPr>
        <p:spPr>
          <a:xfrm>
            <a:off x="3325673" y="3657762"/>
            <a:ext cx="2490453" cy="1241143"/>
          </a:xfrm>
          <a:prstGeom prst="rect">
            <a:avLst/>
          </a:prstGeom>
          <a:noFill/>
          <a:ln/>
        </p:spPr>
        <p:txBody>
          <a:bodyPr wrap="square" lIns="0" tIns="0" rIns="0" bIns="0" rtlCol="0" anchor="b"/>
          <a:lstStyle/>
          <a:p>
            <a:pPr>
              <a:lnSpc>
                <a:spcPts val="1614"/>
              </a:lnSpc>
            </a:pPr>
            <a:r>
              <a:rPr lang="en-US" sz="1000" dirty="0" err="1">
                <a:solidFill>
                  <a:srgbClr val="292624">
                    <a:alpha val="75000"/>
                  </a:srgbClr>
                </a:solidFill>
                <a:latin typeface="MiSans Normal" pitchFamily="2" charset="-122"/>
                <a:ea typeface="MiSans Normal" pitchFamily="2" charset="-122"/>
                <a:cs typeface="MiSans" pitchFamily="34" charset="-120"/>
              </a:rPr>
              <a:t>指出这个问题造成的业务成本。</a:t>
            </a:r>
            <a:r>
              <a:rPr lang="en-US" altLang="zh-CN" sz="1000" dirty="0" err="1">
                <a:solidFill>
                  <a:srgbClr val="292624">
                    <a:alpha val="75000"/>
                  </a:srgbClr>
                </a:solidFill>
                <a:latin typeface="MiSans Normal" pitchFamily="2" charset="-122"/>
                <a:ea typeface="MiSans Normal" pitchFamily="2" charset="-122"/>
                <a:cs typeface="MiSans" pitchFamily="34" charset="-120"/>
              </a:rPr>
              <a:t>比如为那些并未接入所需工作流的基础设施持续比如为那些并未接入所需工作流的基础设施持续</a:t>
            </a:r>
            <a:r>
              <a:rPr lang="en-US" sz="1000" dirty="0" err="1">
                <a:solidFill>
                  <a:srgbClr val="292624">
                    <a:alpha val="75000"/>
                  </a:srgbClr>
                </a:solidFill>
                <a:latin typeface="MiSans Normal" pitchFamily="2" charset="-122"/>
                <a:ea typeface="MiSans Normal" pitchFamily="2" charset="-122"/>
                <a:cs typeface="MiSans" pitchFamily="34" charset="-120"/>
              </a:rPr>
              <a:t>付费</a:t>
            </a:r>
            <a:r>
              <a:rPr lang="en-US" sz="1000" dirty="0">
                <a:solidFill>
                  <a:srgbClr val="292624">
                    <a:alpha val="75000"/>
                  </a:srgbClr>
                </a:solidFill>
                <a:latin typeface="MiSans Normal" pitchFamily="2" charset="-122"/>
                <a:ea typeface="MiSans Normal" pitchFamily="2" charset="-122"/>
                <a:cs typeface="MiSans" pitchFamily="34" charset="-120"/>
              </a:rPr>
              <a:t>。</a:t>
            </a:r>
            <a:endParaRPr lang="en-US" sz="975" dirty="0">
              <a:latin typeface="MiSans Normal" pitchFamily="2" charset="-122"/>
              <a:ea typeface="MiSans Normal" pitchFamily="2" charset="-122"/>
            </a:endParaRPr>
          </a:p>
        </p:txBody>
      </p:sp>
      <p:sp>
        <p:nvSpPr>
          <p:cNvPr id="6" name="Text 1"/>
          <p:cNvSpPr/>
          <p:nvPr/>
        </p:nvSpPr>
        <p:spPr>
          <a:xfrm>
            <a:off x="238125" y="3657875"/>
            <a:ext cx="2529855" cy="1241143"/>
          </a:xfrm>
          <a:prstGeom prst="rect">
            <a:avLst/>
          </a:prstGeom>
          <a:noFill/>
          <a:ln/>
        </p:spPr>
        <p:txBody>
          <a:bodyPr wrap="square" lIns="0" tIns="0" rIns="0" bIns="0" rtlCol="0" anchor="b"/>
          <a:lstStyle/>
          <a:p>
            <a:pPr>
              <a:lnSpc>
                <a:spcPts val="1614"/>
              </a:lnSpc>
            </a:pPr>
            <a:r>
              <a:rPr lang="en-US" sz="1000" dirty="0">
                <a:solidFill>
                  <a:srgbClr val="292624">
                    <a:alpha val="75000"/>
                  </a:srgbClr>
                </a:solidFill>
                <a:latin typeface="MiSans Normal" pitchFamily="2" charset="-122"/>
                <a:ea typeface="MiSans Normal" pitchFamily="2" charset="-122"/>
                <a:cs typeface="MiSans" pitchFamily="34" charset="-120"/>
              </a:rPr>
              <a:t>他们是真正想看到成果的人，对 AI </a:t>
            </a:r>
            <a:r>
              <a:rPr lang="en-US" sz="1000" dirty="0" err="1">
                <a:solidFill>
                  <a:srgbClr val="292624">
                    <a:alpha val="75000"/>
                  </a:srgbClr>
                </a:solidFill>
                <a:latin typeface="MiSans Normal" pitchFamily="2" charset="-122"/>
                <a:ea typeface="MiSans Normal" pitchFamily="2" charset="-122"/>
                <a:cs typeface="MiSans" pitchFamily="34" charset="-120"/>
              </a:rPr>
              <a:t>落地的投资回报负责，需要向董事会证明它确实奏效</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对</a:t>
            </a:r>
            <a:r>
              <a:rPr lang="en-US" altLang="zh-CN" sz="1000" dirty="0">
                <a:solidFill>
                  <a:srgbClr val="292624">
                    <a:alpha val="75000"/>
                  </a:srgbClr>
                </a:solidFill>
                <a:latin typeface="MiSans Normal" pitchFamily="2" charset="-122"/>
                <a:ea typeface="MiSans Normal" pitchFamily="2" charset="-122"/>
                <a:cs typeface="MiSans" pitchFamily="34" charset="-120"/>
              </a:rPr>
              <a:t> AI </a:t>
            </a:r>
            <a:r>
              <a:rPr lang="en-US" altLang="zh-CN" sz="1000" dirty="0" err="1">
                <a:solidFill>
                  <a:srgbClr val="292624">
                    <a:alpha val="75000"/>
                  </a:srgbClr>
                </a:solidFill>
                <a:latin typeface="MiSans Normal" pitchFamily="2" charset="-122"/>
                <a:ea typeface="MiSans Normal" pitchFamily="2" charset="-122"/>
                <a:cs typeface="MiSans" pitchFamily="34" charset="-120"/>
              </a:rPr>
              <a:t>落地的投资回报负责，需要向董事会证明它确实奏效</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sz="1000" dirty="0">
                <a:solidFill>
                  <a:srgbClr val="292624">
                    <a:alpha val="75000"/>
                  </a:srgbClr>
                </a:solidFill>
                <a:latin typeface="MiSans Normal" pitchFamily="2" charset="-122"/>
                <a:ea typeface="MiSans Normal" pitchFamily="2" charset="-122"/>
                <a:cs typeface="MiSans" pitchFamily="34" charset="-120"/>
              </a:rPr>
              <a:t>。</a:t>
            </a:r>
            <a:endParaRPr lang="en-US" sz="975" dirty="0">
              <a:latin typeface="MiSans Normal" pitchFamily="2" charset="-122"/>
              <a:ea typeface="MiSans Normal" pitchFamily="2" charset="-122"/>
            </a:endParaRPr>
          </a:p>
        </p:txBody>
      </p:sp>
      <p:sp>
        <p:nvSpPr>
          <p:cNvPr id="8" name="Text 2"/>
          <p:cNvSpPr/>
          <p:nvPr/>
        </p:nvSpPr>
        <p:spPr>
          <a:xfrm>
            <a:off x="6295161" y="3657875"/>
            <a:ext cx="2610706" cy="1241143"/>
          </a:xfrm>
          <a:prstGeom prst="rect">
            <a:avLst/>
          </a:prstGeom>
          <a:noFill/>
          <a:ln/>
        </p:spPr>
        <p:txBody>
          <a:bodyPr wrap="square" lIns="0" tIns="0" rIns="0" bIns="0" rtlCol="0" anchor="b"/>
          <a:lstStyle/>
          <a:p>
            <a:pPr>
              <a:lnSpc>
                <a:spcPts val="1614"/>
              </a:lnSpc>
            </a:pPr>
            <a:r>
              <a:rPr lang="en-US" sz="1000" dirty="0" err="1">
                <a:solidFill>
                  <a:srgbClr val="292624">
                    <a:alpha val="75000"/>
                  </a:srgbClr>
                </a:solidFill>
                <a:latin typeface="MiSans Normal" pitchFamily="2" charset="-122"/>
                <a:ea typeface="MiSans Normal" pitchFamily="2" charset="-122"/>
                <a:cs typeface="MiSans" pitchFamily="34" charset="-120"/>
              </a:rPr>
              <a:t>描述你正为他们解决的摩擦点。比如把耗时数小时的手动取数</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altLang="zh-CN" sz="1000" dirty="0" err="1">
                <a:solidFill>
                  <a:srgbClr val="292624">
                    <a:alpha val="75000"/>
                  </a:srgbClr>
                </a:solidFill>
                <a:latin typeface="MiSans Normal" pitchFamily="2" charset="-122"/>
                <a:ea typeface="MiSans Normal" pitchFamily="2" charset="-122"/>
                <a:cs typeface="MiSans" pitchFamily="34" charset="-120"/>
              </a:rPr>
              <a:t>描述你正为他们解决的摩擦点。比如把耗时数小时的手动取数</a:t>
            </a:r>
            <a:r>
              <a:rPr lang="en-US" altLang="zh-CN" sz="1000" dirty="0">
                <a:solidFill>
                  <a:srgbClr val="292624">
                    <a:alpha val="75000"/>
                  </a:srgbClr>
                </a:solidFill>
                <a:latin typeface="MiSans Normal" pitchFamily="2" charset="-122"/>
                <a:ea typeface="MiSans Normal" pitchFamily="2" charset="-122"/>
                <a:cs typeface="MiSans" pitchFamily="34" charset="-120"/>
              </a:rPr>
              <a:t> </a:t>
            </a:r>
            <a:r>
              <a:rPr lang="en-US" sz="1000" dirty="0">
                <a:solidFill>
                  <a:srgbClr val="292624">
                    <a:alpha val="75000"/>
                  </a:srgbClr>
                </a:solidFill>
                <a:latin typeface="MiSans Normal" pitchFamily="2" charset="-122"/>
                <a:ea typeface="MiSans Normal" pitchFamily="2" charset="-122"/>
                <a:cs typeface="MiSans" pitchFamily="34" charset="-120"/>
              </a:rPr>
              <a:t>，交给模型几秒完成。</a:t>
            </a:r>
            <a:endParaRPr lang="en-US" sz="975" dirty="0">
              <a:latin typeface="MiSans Normal" pitchFamily="2" charset="-122"/>
              <a:ea typeface="MiSans Normal" pitchFamily="2" charset="-122"/>
            </a:endParaRPr>
          </a:p>
        </p:txBody>
      </p:sp>
      <p:sp>
        <p:nvSpPr>
          <p:cNvPr id="9" name="Text 3"/>
          <p:cNvSpPr/>
          <p:nvPr/>
        </p:nvSpPr>
        <p:spPr>
          <a:xfrm>
            <a:off x="238125" y="238125"/>
            <a:ext cx="5820568" cy="1174769"/>
          </a:xfrm>
          <a:prstGeom prst="rect">
            <a:avLst/>
          </a:prstGeom>
          <a:noFill/>
          <a:ln/>
        </p:spPr>
        <p:txBody>
          <a:bodyPr wrap="square" lIns="0" tIns="0" rIns="0" bIns="0" rtlCol="0" anchor="t"/>
          <a:lstStyle/>
          <a:p>
            <a:pPr algn="l">
              <a:lnSpc>
                <a:spcPts val="4440"/>
              </a:lnSpc>
            </a:pPr>
            <a:r>
              <a:rPr lang="en-US" sz="3200" kern="0" spc="-24" dirty="0">
                <a:solidFill>
                  <a:srgbClr val="2F5745"/>
                </a:solidFill>
                <a:latin typeface="MiSans Demibold" pitchFamily="2" charset="-122"/>
                <a:ea typeface="MiSans Demibold" pitchFamily="2" charset="-122"/>
                <a:cs typeface="MiSans" pitchFamily="34" charset="-120"/>
              </a:rPr>
              <a:t>3000万 </a:t>
            </a:r>
            <a:r>
              <a:rPr lang="en-US" sz="3200" kern="0" spc="-24" dirty="0">
                <a:solidFill>
                  <a:srgbClr val="292624"/>
                </a:solidFill>
                <a:latin typeface="MiSans Demibold" pitchFamily="2" charset="-122"/>
                <a:ea typeface="MiSans Demibold" pitchFamily="2" charset="-122"/>
                <a:cs typeface="MiSans" pitchFamily="34" charset="-120"/>
              </a:rPr>
              <a:t>潜在客户</a:t>
            </a:r>
            <a:endParaRPr lang="en-US" sz="3200" dirty="0">
              <a:latin typeface="MiSans Demibold" pitchFamily="2" charset="-122"/>
              <a:ea typeface="MiSans Demibold" pitchFamily="2" charset="-122"/>
            </a:endParaRPr>
          </a:p>
          <a:p>
            <a:pPr algn="l">
              <a:lnSpc>
                <a:spcPts val="4440"/>
              </a:lnSpc>
            </a:pPr>
            <a:r>
              <a:rPr lang="en-US" sz="3200" kern="0" spc="-24" dirty="0">
                <a:solidFill>
                  <a:srgbClr val="2F5745"/>
                </a:solidFill>
                <a:latin typeface="MiSans Demibold" pitchFamily="2" charset="-122"/>
                <a:ea typeface="MiSans Demibold" pitchFamily="2" charset="-122"/>
                <a:cs typeface="MiSans" pitchFamily="34" charset="-120"/>
              </a:rPr>
              <a:t>3</a:t>
            </a:r>
            <a:r>
              <a:rPr lang="en-US" sz="3200" kern="0" spc="-24" dirty="0">
                <a:solidFill>
                  <a:srgbClr val="292624"/>
                </a:solidFill>
                <a:latin typeface="MiSans Demibold" pitchFamily="2" charset="-122"/>
                <a:ea typeface="MiSans Demibold" pitchFamily="2" charset="-122"/>
                <a:cs typeface="MiSans" pitchFamily="34" charset="-120"/>
              </a:rPr>
              <a:t> 类不同画像</a:t>
            </a:r>
            <a:endParaRPr lang="en-US" sz="3200" dirty="0">
              <a:latin typeface="MiSans Demibold" pitchFamily="2" charset="-122"/>
              <a:ea typeface="MiSans Demibold" pitchFamily="2" charset="-122"/>
            </a:endParaRPr>
          </a:p>
        </p:txBody>
      </p:sp>
      <p:sp>
        <p:nvSpPr>
          <p:cNvPr id="10" name="Text 4"/>
          <p:cNvSpPr/>
          <p:nvPr/>
        </p:nvSpPr>
        <p:spPr>
          <a:xfrm>
            <a:off x="238125" y="3119304"/>
            <a:ext cx="2529855" cy="538571"/>
          </a:xfrm>
          <a:prstGeom prst="rect">
            <a:avLst/>
          </a:prstGeom>
          <a:noFill/>
          <a:ln/>
        </p:spPr>
        <p:txBody>
          <a:bodyPr wrap="square" lIns="0" tIns="0" rIns="0" bIns="0" rtlCol="0" anchor="t"/>
          <a:lstStyle/>
          <a:p>
            <a:pPr algn="l">
              <a:lnSpc>
                <a:spcPts val="1856"/>
              </a:lnSpc>
            </a:pPr>
            <a:r>
              <a:rPr lang="en-US" sz="1600" kern="0" spc="-12" dirty="0">
                <a:solidFill>
                  <a:srgbClr val="292624"/>
                </a:solidFill>
                <a:latin typeface="MiSans Demibold" pitchFamily="2" charset="-122"/>
                <a:ea typeface="MiSans Demibold" pitchFamily="2" charset="-122"/>
                <a:cs typeface="MiSans" pitchFamily="34" charset="-120"/>
              </a:rPr>
              <a:t>决策者</a:t>
            </a:r>
            <a:endParaRPr lang="en-US" sz="1600" dirty="0">
              <a:latin typeface="MiSans Demibold" pitchFamily="2" charset="-122"/>
              <a:ea typeface="MiSans Demibold" pitchFamily="2" charset="-122"/>
            </a:endParaRPr>
          </a:p>
        </p:txBody>
      </p:sp>
      <p:sp>
        <p:nvSpPr>
          <p:cNvPr id="11" name="Text 5"/>
          <p:cNvSpPr/>
          <p:nvPr/>
        </p:nvSpPr>
        <p:spPr>
          <a:xfrm>
            <a:off x="3325700" y="3119304"/>
            <a:ext cx="2490750" cy="538571"/>
          </a:xfrm>
          <a:prstGeom prst="rect">
            <a:avLst/>
          </a:prstGeom>
          <a:noFill/>
          <a:ln/>
        </p:spPr>
        <p:txBody>
          <a:bodyPr wrap="square" lIns="0" tIns="0" rIns="0" bIns="0" rtlCol="0" anchor="t"/>
          <a:lstStyle/>
          <a:p>
            <a:pPr algn="l">
              <a:lnSpc>
                <a:spcPts val="1856"/>
              </a:lnSpc>
            </a:pPr>
            <a:r>
              <a:rPr lang="en-US" sz="1600" kern="0" spc="-12" dirty="0">
                <a:solidFill>
                  <a:srgbClr val="292624"/>
                </a:solidFill>
                <a:latin typeface="MiSans Demibold" pitchFamily="2" charset="-122"/>
                <a:ea typeface="MiSans Demibold" pitchFamily="2" charset="-122"/>
                <a:cs typeface="MiSans" pitchFamily="34" charset="-120"/>
              </a:rPr>
              <a:t>企业</a:t>
            </a:r>
            <a:endParaRPr lang="en-US" sz="1600" dirty="0">
              <a:latin typeface="MiSans Demibold" pitchFamily="2" charset="-122"/>
              <a:ea typeface="MiSans Demibold" pitchFamily="2" charset="-122"/>
            </a:endParaRPr>
          </a:p>
        </p:txBody>
      </p:sp>
      <p:sp>
        <p:nvSpPr>
          <p:cNvPr id="12" name="Text 6"/>
          <p:cNvSpPr/>
          <p:nvPr/>
        </p:nvSpPr>
        <p:spPr>
          <a:xfrm>
            <a:off x="6295173" y="3119304"/>
            <a:ext cx="2610669" cy="538571"/>
          </a:xfrm>
          <a:prstGeom prst="rect">
            <a:avLst/>
          </a:prstGeom>
          <a:noFill/>
          <a:ln/>
        </p:spPr>
        <p:txBody>
          <a:bodyPr wrap="square" lIns="0" tIns="0" rIns="0" bIns="0" rtlCol="0" anchor="t"/>
          <a:lstStyle/>
          <a:p>
            <a:pPr algn="l">
              <a:lnSpc>
                <a:spcPts val="1856"/>
              </a:lnSpc>
            </a:pPr>
            <a:r>
              <a:rPr lang="en-US" sz="1600" kern="0" spc="-12" dirty="0">
                <a:solidFill>
                  <a:srgbClr val="292624"/>
                </a:solidFill>
                <a:latin typeface="MiSans Demibold" pitchFamily="2" charset="-122"/>
                <a:ea typeface="MiSans Demibold" pitchFamily="2" charset="-122"/>
                <a:cs typeface="MiSans" pitchFamily="34" charset="-120"/>
              </a:rPr>
              <a:t>使用者</a:t>
            </a:r>
            <a:endParaRPr lang="en-US" sz="1600" dirty="0">
              <a:latin typeface="MiSans Demibold" pitchFamily="2" charset="-122"/>
              <a:ea typeface="MiSans Demibold" pitchFamily="2" charset="-122"/>
            </a:endParaRPr>
          </a:p>
        </p:txBody>
      </p:sp>
      <p:sp>
        <p:nvSpPr>
          <p:cNvPr id="13" name="Shape 7"/>
          <p:cNvSpPr/>
          <p:nvPr/>
        </p:nvSpPr>
        <p:spPr>
          <a:xfrm rot="5400000">
            <a:off x="1846527" y="3661833"/>
            <a:ext cx="2487083"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4" name="Shape 8"/>
          <p:cNvSpPr/>
          <p:nvPr/>
        </p:nvSpPr>
        <p:spPr>
          <a:xfrm rot="5400000">
            <a:off x="4815152" y="3661833"/>
            <a:ext cx="2487083"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2" name="圆角矩形 1">
            <a:extLst>
              <a:ext uri="{FF2B5EF4-FFF2-40B4-BE49-F238E27FC236}">
                <a16:creationId xmlns:a16="http://schemas.microsoft.com/office/drawing/2014/main" id="{509A3C3A-1FFC-4006-0B37-9B1B1EC6E5D6}"/>
              </a:ext>
            </a:extLst>
          </p:cNvPr>
          <p:cNvSpPr/>
          <p:nvPr/>
        </p:nvSpPr>
        <p:spPr>
          <a:xfrm>
            <a:off x="238125" y="2418291"/>
            <a:ext cx="545041" cy="538572"/>
          </a:xfrm>
          <a:prstGeom prst="roundRect">
            <a:avLst>
              <a:gd name="adj" fmla="val 18059"/>
            </a:avLst>
          </a:prstGeom>
          <a:solidFill>
            <a:srgbClr val="000000">
              <a:alpha val="9804"/>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15BF860D-D111-54E6-B130-0C153385E5BE}"/>
              </a:ext>
            </a:extLst>
          </p:cNvPr>
          <p:cNvSpPr/>
          <p:nvPr/>
        </p:nvSpPr>
        <p:spPr>
          <a:xfrm>
            <a:off x="3319653" y="2418291"/>
            <a:ext cx="545041" cy="538572"/>
          </a:xfrm>
          <a:prstGeom prst="roundRect">
            <a:avLst>
              <a:gd name="adj" fmla="val 18059"/>
            </a:avLst>
          </a:prstGeom>
          <a:solidFill>
            <a:srgbClr val="000000">
              <a:alpha val="9804"/>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8FC0AA7B-7F03-3624-B612-D896E9323163}"/>
              </a:ext>
            </a:extLst>
          </p:cNvPr>
          <p:cNvSpPr/>
          <p:nvPr/>
        </p:nvSpPr>
        <p:spPr>
          <a:xfrm>
            <a:off x="6291453" y="2418291"/>
            <a:ext cx="545041" cy="538572"/>
          </a:xfrm>
          <a:prstGeom prst="roundRect">
            <a:avLst>
              <a:gd name="adj" fmla="val 18059"/>
            </a:avLst>
          </a:prstGeom>
          <a:solidFill>
            <a:srgbClr val="000000">
              <a:alpha val="9804"/>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16" name="Text 0">
            <a:extLst>
              <a:ext uri="{FF2B5EF4-FFF2-40B4-BE49-F238E27FC236}">
                <a16:creationId xmlns:a16="http://schemas.microsoft.com/office/drawing/2014/main" id="{178F21DF-044A-84F4-4436-F6CF2C2DA543}"/>
              </a:ext>
            </a:extLst>
          </p:cNvPr>
          <p:cNvSpPr/>
          <p:nvPr/>
        </p:nvSpPr>
        <p:spPr>
          <a:xfrm>
            <a:off x="3325673" y="3657762"/>
            <a:ext cx="2490453" cy="1241143"/>
          </a:xfrm>
          <a:prstGeom prst="rect">
            <a:avLst/>
          </a:prstGeom>
          <a:noFill/>
          <a:ln/>
        </p:spPr>
        <p:txBody>
          <a:bodyPr wrap="square" lIns="0" tIns="0" rIns="0" bIns="0" rtlCol="0" anchor="b"/>
          <a:lstStyle/>
          <a:p>
            <a:pPr>
              <a:lnSpc>
                <a:spcPts val="1614"/>
              </a:lnSpc>
            </a:pPr>
            <a:r>
              <a:rPr lang="en-US" sz="1000" dirty="0" err="1">
                <a:solidFill>
                  <a:schemeClr val="bg1">
                    <a:lumMod val="95000"/>
                  </a:schemeClr>
                </a:solidFill>
                <a:latin typeface="MiSans Normal" pitchFamily="2" charset="-122"/>
                <a:ea typeface="MiSans Normal" pitchFamily="2" charset="-122"/>
                <a:cs typeface="MiSans" pitchFamily="34" charset="-120"/>
              </a:rPr>
              <a:t>指出这个问题造成的业务成本。</a:t>
            </a:r>
            <a:r>
              <a:rPr lang="en-US" altLang="zh-CN" sz="1000" dirty="0" err="1">
                <a:solidFill>
                  <a:schemeClr val="bg1">
                    <a:lumMod val="95000"/>
                  </a:schemeClr>
                </a:solidFill>
                <a:latin typeface="MiSans Normal" pitchFamily="2" charset="-122"/>
                <a:ea typeface="MiSans Normal" pitchFamily="2" charset="-122"/>
                <a:cs typeface="MiSans" pitchFamily="34" charset="-120"/>
              </a:rPr>
              <a:t>比如为那些并未接入所需工作流的基础设施持续比如为那些并未接入所需工作流的基础设施持续</a:t>
            </a:r>
            <a:r>
              <a:rPr lang="en-US" sz="1000" dirty="0" err="1">
                <a:solidFill>
                  <a:schemeClr val="bg1">
                    <a:lumMod val="95000"/>
                  </a:schemeClr>
                </a:solidFill>
                <a:latin typeface="MiSans Normal" pitchFamily="2" charset="-122"/>
                <a:ea typeface="MiSans Normal" pitchFamily="2" charset="-122"/>
                <a:cs typeface="MiSans" pitchFamily="34" charset="-120"/>
              </a:rPr>
              <a:t>付费</a:t>
            </a:r>
            <a:r>
              <a:rPr lang="en-US" sz="1000" dirty="0">
                <a:solidFill>
                  <a:schemeClr val="bg1">
                    <a:lumMod val="95000"/>
                  </a:schemeClr>
                </a:solidFill>
                <a:latin typeface="MiSans Normal" pitchFamily="2" charset="-122"/>
                <a:ea typeface="MiSans Normal" pitchFamily="2" charset="-122"/>
                <a:cs typeface="MiSans" pitchFamily="34" charset="-120"/>
              </a:rPr>
              <a:t>。</a:t>
            </a:r>
            <a:endParaRPr lang="en-US" sz="975" dirty="0">
              <a:solidFill>
                <a:schemeClr val="bg1">
                  <a:lumMod val="95000"/>
                </a:schemeClr>
              </a:solidFill>
              <a:latin typeface="MiSans Normal" pitchFamily="2" charset="-122"/>
              <a:ea typeface="MiSans Normal" pitchFamily="2" charset="-122"/>
            </a:endParaRPr>
          </a:p>
        </p:txBody>
      </p:sp>
      <p:sp>
        <p:nvSpPr>
          <p:cNvPr id="17" name="Text 1">
            <a:extLst>
              <a:ext uri="{FF2B5EF4-FFF2-40B4-BE49-F238E27FC236}">
                <a16:creationId xmlns:a16="http://schemas.microsoft.com/office/drawing/2014/main" id="{7801E3D4-BDBF-CEF2-0EF3-D867FF1E2E84}"/>
              </a:ext>
            </a:extLst>
          </p:cNvPr>
          <p:cNvSpPr/>
          <p:nvPr/>
        </p:nvSpPr>
        <p:spPr>
          <a:xfrm>
            <a:off x="238125" y="3657875"/>
            <a:ext cx="2529855" cy="1241143"/>
          </a:xfrm>
          <a:prstGeom prst="rect">
            <a:avLst/>
          </a:prstGeom>
          <a:noFill/>
          <a:ln/>
        </p:spPr>
        <p:txBody>
          <a:bodyPr wrap="square" lIns="0" tIns="0" rIns="0" bIns="0" rtlCol="0" anchor="b"/>
          <a:lstStyle/>
          <a:p>
            <a:pPr>
              <a:lnSpc>
                <a:spcPts val="1614"/>
              </a:lnSpc>
            </a:pPr>
            <a:r>
              <a:rPr lang="en-US" sz="1000" dirty="0">
                <a:solidFill>
                  <a:schemeClr val="bg1">
                    <a:lumMod val="95000"/>
                  </a:schemeClr>
                </a:solidFill>
                <a:latin typeface="MiSans Normal" pitchFamily="2" charset="-122"/>
                <a:ea typeface="MiSans Normal" pitchFamily="2" charset="-122"/>
                <a:cs typeface="MiSans" pitchFamily="34" charset="-120"/>
              </a:rPr>
              <a:t>他们是真正想看到成果的人，对 AI </a:t>
            </a:r>
            <a:r>
              <a:rPr lang="en-US" sz="1000" dirty="0" err="1">
                <a:solidFill>
                  <a:schemeClr val="bg1">
                    <a:lumMod val="95000"/>
                  </a:schemeClr>
                </a:solidFill>
                <a:latin typeface="MiSans Normal" pitchFamily="2" charset="-122"/>
                <a:ea typeface="MiSans Normal" pitchFamily="2" charset="-122"/>
                <a:cs typeface="MiSans" pitchFamily="34" charset="-120"/>
              </a:rPr>
              <a:t>落地的投资回报负责，需要向董事会证明它确实奏效</a:t>
            </a:r>
            <a:r>
              <a:rPr lang="en-US" altLang="zh-CN" sz="1000" dirty="0">
                <a:solidFill>
                  <a:schemeClr val="bg1">
                    <a:lumMod val="95000"/>
                  </a:schemeClr>
                </a:solidFill>
                <a:latin typeface="MiSans Normal" pitchFamily="2" charset="-122"/>
                <a:ea typeface="MiSans Normal" pitchFamily="2" charset="-122"/>
                <a:cs typeface="MiSans" pitchFamily="34" charset="-120"/>
              </a:rPr>
              <a:t> </a:t>
            </a:r>
            <a:r>
              <a:rPr lang="en-US" altLang="zh-CN" sz="1000" dirty="0" err="1">
                <a:solidFill>
                  <a:schemeClr val="bg1">
                    <a:lumMod val="95000"/>
                  </a:schemeClr>
                </a:solidFill>
                <a:latin typeface="MiSans Normal" pitchFamily="2" charset="-122"/>
                <a:ea typeface="MiSans Normal" pitchFamily="2" charset="-122"/>
                <a:cs typeface="MiSans" pitchFamily="34" charset="-120"/>
              </a:rPr>
              <a:t>对</a:t>
            </a:r>
            <a:r>
              <a:rPr lang="en-US" altLang="zh-CN" sz="1000" dirty="0">
                <a:solidFill>
                  <a:schemeClr val="bg1">
                    <a:lumMod val="95000"/>
                  </a:schemeClr>
                </a:solidFill>
                <a:latin typeface="MiSans Normal" pitchFamily="2" charset="-122"/>
                <a:ea typeface="MiSans Normal" pitchFamily="2" charset="-122"/>
                <a:cs typeface="MiSans" pitchFamily="34" charset="-120"/>
              </a:rPr>
              <a:t> AI </a:t>
            </a:r>
            <a:r>
              <a:rPr lang="en-US" altLang="zh-CN" sz="1000" dirty="0" err="1">
                <a:solidFill>
                  <a:schemeClr val="bg1">
                    <a:lumMod val="95000"/>
                  </a:schemeClr>
                </a:solidFill>
                <a:latin typeface="MiSans Normal" pitchFamily="2" charset="-122"/>
                <a:ea typeface="MiSans Normal" pitchFamily="2" charset="-122"/>
                <a:cs typeface="MiSans" pitchFamily="34" charset="-120"/>
              </a:rPr>
              <a:t>落地的投资回报负责，需要向董事会证明它确实奏效</a:t>
            </a:r>
            <a:r>
              <a:rPr lang="en-US" altLang="zh-CN" sz="1000" dirty="0">
                <a:solidFill>
                  <a:schemeClr val="bg1">
                    <a:lumMod val="95000"/>
                  </a:schemeClr>
                </a:solidFill>
                <a:latin typeface="MiSans Normal" pitchFamily="2" charset="-122"/>
                <a:ea typeface="MiSans Normal" pitchFamily="2" charset="-122"/>
                <a:cs typeface="MiSans" pitchFamily="34" charset="-120"/>
              </a:rPr>
              <a:t> </a:t>
            </a:r>
            <a:r>
              <a:rPr lang="en-US" sz="1000" dirty="0">
                <a:solidFill>
                  <a:schemeClr val="bg1">
                    <a:lumMod val="95000"/>
                  </a:schemeClr>
                </a:solidFill>
                <a:latin typeface="MiSans Normal" pitchFamily="2" charset="-122"/>
                <a:ea typeface="MiSans Normal" pitchFamily="2" charset="-122"/>
                <a:cs typeface="MiSans" pitchFamily="34" charset="-120"/>
              </a:rPr>
              <a:t>。</a:t>
            </a:r>
            <a:endParaRPr lang="en-US" sz="975" dirty="0">
              <a:solidFill>
                <a:schemeClr val="bg1">
                  <a:lumMod val="95000"/>
                </a:schemeClr>
              </a:solidFill>
              <a:latin typeface="MiSans Normal" pitchFamily="2" charset="-122"/>
              <a:ea typeface="MiSans Normal" pitchFamily="2" charset="-122"/>
            </a:endParaRPr>
          </a:p>
        </p:txBody>
      </p:sp>
      <p:sp>
        <p:nvSpPr>
          <p:cNvPr id="18" name="Text 2">
            <a:extLst>
              <a:ext uri="{FF2B5EF4-FFF2-40B4-BE49-F238E27FC236}">
                <a16:creationId xmlns:a16="http://schemas.microsoft.com/office/drawing/2014/main" id="{87801DCB-D682-9B9B-38A4-0502BEF8C715}"/>
              </a:ext>
            </a:extLst>
          </p:cNvPr>
          <p:cNvSpPr/>
          <p:nvPr/>
        </p:nvSpPr>
        <p:spPr>
          <a:xfrm>
            <a:off x="6295161" y="3657875"/>
            <a:ext cx="2610706" cy="1241143"/>
          </a:xfrm>
          <a:prstGeom prst="rect">
            <a:avLst/>
          </a:prstGeom>
          <a:noFill/>
          <a:ln/>
        </p:spPr>
        <p:txBody>
          <a:bodyPr wrap="square" lIns="0" tIns="0" rIns="0" bIns="0" rtlCol="0" anchor="b"/>
          <a:lstStyle/>
          <a:p>
            <a:pPr>
              <a:lnSpc>
                <a:spcPts val="1614"/>
              </a:lnSpc>
            </a:pPr>
            <a:r>
              <a:rPr lang="en-US" sz="1000" dirty="0" err="1">
                <a:solidFill>
                  <a:schemeClr val="bg1">
                    <a:lumMod val="95000"/>
                  </a:schemeClr>
                </a:solidFill>
                <a:latin typeface="MiSans Normal" pitchFamily="2" charset="-122"/>
                <a:ea typeface="MiSans Normal" pitchFamily="2" charset="-122"/>
                <a:cs typeface="MiSans" pitchFamily="34" charset="-120"/>
              </a:rPr>
              <a:t>描述你正为他们解决的摩擦点。比如把耗时数小时的手动取数</a:t>
            </a:r>
            <a:r>
              <a:rPr lang="en-US" altLang="zh-CN" sz="1000" dirty="0">
                <a:solidFill>
                  <a:schemeClr val="bg1">
                    <a:lumMod val="95000"/>
                  </a:schemeClr>
                </a:solidFill>
                <a:latin typeface="MiSans Normal" pitchFamily="2" charset="-122"/>
                <a:ea typeface="MiSans Normal" pitchFamily="2" charset="-122"/>
                <a:cs typeface="MiSans" pitchFamily="34" charset="-120"/>
              </a:rPr>
              <a:t> </a:t>
            </a:r>
            <a:r>
              <a:rPr lang="en-US" altLang="zh-CN" sz="1000" dirty="0" err="1">
                <a:solidFill>
                  <a:schemeClr val="bg1">
                    <a:lumMod val="95000"/>
                  </a:schemeClr>
                </a:solidFill>
                <a:latin typeface="MiSans Normal" pitchFamily="2" charset="-122"/>
                <a:ea typeface="MiSans Normal" pitchFamily="2" charset="-122"/>
                <a:cs typeface="MiSans" pitchFamily="34" charset="-120"/>
              </a:rPr>
              <a:t>描述你正为他们解决的摩擦点。比如把耗时数小时的手动取数</a:t>
            </a:r>
            <a:r>
              <a:rPr lang="en-US" altLang="zh-CN" sz="1000" dirty="0">
                <a:solidFill>
                  <a:schemeClr val="bg1">
                    <a:lumMod val="95000"/>
                  </a:schemeClr>
                </a:solidFill>
                <a:latin typeface="MiSans Normal" pitchFamily="2" charset="-122"/>
                <a:ea typeface="MiSans Normal" pitchFamily="2" charset="-122"/>
                <a:cs typeface="MiSans" pitchFamily="34" charset="-120"/>
              </a:rPr>
              <a:t> </a:t>
            </a:r>
            <a:r>
              <a:rPr lang="en-US" sz="1000" dirty="0">
                <a:solidFill>
                  <a:schemeClr val="bg1">
                    <a:lumMod val="95000"/>
                  </a:schemeClr>
                </a:solidFill>
                <a:latin typeface="MiSans Normal" pitchFamily="2" charset="-122"/>
                <a:ea typeface="MiSans Normal" pitchFamily="2" charset="-122"/>
                <a:cs typeface="MiSans" pitchFamily="34" charset="-120"/>
              </a:rPr>
              <a:t>，交给模型几秒完成。</a:t>
            </a:r>
            <a:endParaRPr lang="en-US" sz="975" dirty="0">
              <a:solidFill>
                <a:schemeClr val="bg1">
                  <a:lumMod val="95000"/>
                </a:schemeClr>
              </a:solidFill>
              <a:latin typeface="MiSans Normal" pitchFamily="2" charset="-122"/>
              <a:ea typeface="MiSans Normal" pitchFamily="2" charset="-122"/>
            </a:endParaRPr>
          </a:p>
        </p:txBody>
      </p:sp>
      <p:sp>
        <p:nvSpPr>
          <p:cNvPr id="19" name="Text 3">
            <a:extLst>
              <a:ext uri="{FF2B5EF4-FFF2-40B4-BE49-F238E27FC236}">
                <a16:creationId xmlns:a16="http://schemas.microsoft.com/office/drawing/2014/main" id="{56C0AAA9-7FBA-F05F-F670-D0E20951A986}"/>
              </a:ext>
            </a:extLst>
          </p:cNvPr>
          <p:cNvSpPr/>
          <p:nvPr/>
        </p:nvSpPr>
        <p:spPr>
          <a:xfrm>
            <a:off x="238125" y="238125"/>
            <a:ext cx="5820568" cy="1174769"/>
          </a:xfrm>
          <a:prstGeom prst="rect">
            <a:avLst/>
          </a:prstGeom>
          <a:noFill/>
          <a:ln/>
        </p:spPr>
        <p:txBody>
          <a:bodyPr wrap="square" lIns="0" tIns="0" rIns="0" bIns="0" rtlCol="0" anchor="t"/>
          <a:lstStyle/>
          <a:p>
            <a:pPr algn="l">
              <a:lnSpc>
                <a:spcPts val="4440"/>
              </a:lnSpc>
            </a:pPr>
            <a:r>
              <a:rPr lang="en-US" sz="3200" kern="0" spc="-24" dirty="0">
                <a:solidFill>
                  <a:schemeClr val="bg1">
                    <a:lumMod val="95000"/>
                  </a:schemeClr>
                </a:solidFill>
                <a:latin typeface="MiSans Demibold" pitchFamily="2" charset="-122"/>
                <a:ea typeface="MiSans Demibold" pitchFamily="2" charset="-122"/>
                <a:cs typeface="MiSans" pitchFamily="34" charset="-120"/>
              </a:rPr>
              <a:t>3000万 潜在客户</a:t>
            </a:r>
            <a:endParaRPr lang="en-US" sz="3200" dirty="0">
              <a:solidFill>
                <a:schemeClr val="bg1">
                  <a:lumMod val="95000"/>
                </a:schemeClr>
              </a:solidFill>
              <a:latin typeface="MiSans Demibold" pitchFamily="2" charset="-122"/>
              <a:ea typeface="MiSans Demibold" pitchFamily="2" charset="-122"/>
            </a:endParaRPr>
          </a:p>
          <a:p>
            <a:pPr algn="l">
              <a:lnSpc>
                <a:spcPts val="4440"/>
              </a:lnSpc>
            </a:pPr>
            <a:r>
              <a:rPr lang="en-US" sz="3200" kern="0" spc="-24" dirty="0">
                <a:solidFill>
                  <a:schemeClr val="bg1">
                    <a:lumMod val="95000"/>
                  </a:schemeClr>
                </a:solidFill>
                <a:latin typeface="MiSans Demibold" pitchFamily="2" charset="-122"/>
                <a:ea typeface="MiSans Demibold" pitchFamily="2" charset="-122"/>
                <a:cs typeface="MiSans" pitchFamily="34" charset="-120"/>
              </a:rPr>
              <a:t>3 类不同画像</a:t>
            </a:r>
            <a:endParaRPr lang="en-US" sz="3200" dirty="0">
              <a:solidFill>
                <a:schemeClr val="bg1">
                  <a:lumMod val="95000"/>
                </a:schemeClr>
              </a:solidFill>
              <a:latin typeface="MiSans Demibold" pitchFamily="2" charset="-122"/>
              <a:ea typeface="MiSans Demibold" pitchFamily="2" charset="-122"/>
            </a:endParaRPr>
          </a:p>
        </p:txBody>
      </p:sp>
      <p:sp>
        <p:nvSpPr>
          <p:cNvPr id="20" name="Text 4">
            <a:extLst>
              <a:ext uri="{FF2B5EF4-FFF2-40B4-BE49-F238E27FC236}">
                <a16:creationId xmlns:a16="http://schemas.microsoft.com/office/drawing/2014/main" id="{19003511-0E49-5056-DB53-3805E6D85523}"/>
              </a:ext>
            </a:extLst>
          </p:cNvPr>
          <p:cNvSpPr/>
          <p:nvPr/>
        </p:nvSpPr>
        <p:spPr>
          <a:xfrm>
            <a:off x="238125" y="3119304"/>
            <a:ext cx="2529855" cy="538571"/>
          </a:xfrm>
          <a:prstGeom prst="rect">
            <a:avLst/>
          </a:prstGeom>
          <a:noFill/>
          <a:ln/>
        </p:spPr>
        <p:txBody>
          <a:bodyPr wrap="square" lIns="0" tIns="0" rIns="0" bIns="0" rtlCol="0" anchor="t"/>
          <a:lstStyle/>
          <a:p>
            <a:pPr algn="l">
              <a:lnSpc>
                <a:spcPts val="1856"/>
              </a:lnSpc>
            </a:pPr>
            <a:r>
              <a:rPr lang="en-US" sz="1600" kern="0" spc="-12" dirty="0">
                <a:solidFill>
                  <a:schemeClr val="bg1">
                    <a:lumMod val="95000"/>
                  </a:schemeClr>
                </a:solidFill>
                <a:latin typeface="MiSans Demibold" pitchFamily="2" charset="-122"/>
                <a:ea typeface="MiSans Demibold" pitchFamily="2" charset="-122"/>
                <a:cs typeface="MiSans" pitchFamily="34" charset="-120"/>
              </a:rPr>
              <a:t>决策者</a:t>
            </a:r>
            <a:endParaRPr lang="en-US" sz="1600" dirty="0">
              <a:solidFill>
                <a:schemeClr val="bg1">
                  <a:lumMod val="95000"/>
                </a:schemeClr>
              </a:solidFill>
              <a:latin typeface="MiSans Demibold" pitchFamily="2" charset="-122"/>
              <a:ea typeface="MiSans Demibold" pitchFamily="2" charset="-122"/>
            </a:endParaRPr>
          </a:p>
        </p:txBody>
      </p:sp>
      <p:sp>
        <p:nvSpPr>
          <p:cNvPr id="21" name="Text 5">
            <a:extLst>
              <a:ext uri="{FF2B5EF4-FFF2-40B4-BE49-F238E27FC236}">
                <a16:creationId xmlns:a16="http://schemas.microsoft.com/office/drawing/2014/main" id="{9D82E87D-6E08-2EB6-D05E-2037F995B5AA}"/>
              </a:ext>
            </a:extLst>
          </p:cNvPr>
          <p:cNvSpPr/>
          <p:nvPr/>
        </p:nvSpPr>
        <p:spPr>
          <a:xfrm>
            <a:off x="3325700" y="3119304"/>
            <a:ext cx="2490750" cy="538571"/>
          </a:xfrm>
          <a:prstGeom prst="rect">
            <a:avLst/>
          </a:prstGeom>
          <a:noFill/>
          <a:ln/>
        </p:spPr>
        <p:txBody>
          <a:bodyPr wrap="square" lIns="0" tIns="0" rIns="0" bIns="0" rtlCol="0" anchor="t"/>
          <a:lstStyle/>
          <a:p>
            <a:pPr algn="l">
              <a:lnSpc>
                <a:spcPts val="1856"/>
              </a:lnSpc>
            </a:pPr>
            <a:r>
              <a:rPr lang="en-US" sz="1600" kern="0" spc="-12" dirty="0">
                <a:solidFill>
                  <a:schemeClr val="bg1">
                    <a:lumMod val="95000"/>
                  </a:schemeClr>
                </a:solidFill>
                <a:latin typeface="MiSans Demibold" pitchFamily="2" charset="-122"/>
                <a:ea typeface="MiSans Demibold" pitchFamily="2" charset="-122"/>
                <a:cs typeface="MiSans" pitchFamily="34" charset="-120"/>
              </a:rPr>
              <a:t>企业</a:t>
            </a:r>
            <a:endParaRPr lang="en-US" sz="1600" dirty="0">
              <a:solidFill>
                <a:schemeClr val="bg1">
                  <a:lumMod val="95000"/>
                </a:schemeClr>
              </a:solidFill>
              <a:latin typeface="MiSans Demibold" pitchFamily="2" charset="-122"/>
              <a:ea typeface="MiSans Demibold" pitchFamily="2" charset="-122"/>
            </a:endParaRPr>
          </a:p>
        </p:txBody>
      </p:sp>
      <p:sp>
        <p:nvSpPr>
          <p:cNvPr id="22" name="Text 6">
            <a:extLst>
              <a:ext uri="{FF2B5EF4-FFF2-40B4-BE49-F238E27FC236}">
                <a16:creationId xmlns:a16="http://schemas.microsoft.com/office/drawing/2014/main" id="{3D2B62F4-FD13-5E9C-0A30-7BF7729C4054}"/>
              </a:ext>
            </a:extLst>
          </p:cNvPr>
          <p:cNvSpPr/>
          <p:nvPr/>
        </p:nvSpPr>
        <p:spPr>
          <a:xfrm>
            <a:off x="6295173" y="3119304"/>
            <a:ext cx="2610669" cy="538571"/>
          </a:xfrm>
          <a:prstGeom prst="rect">
            <a:avLst/>
          </a:prstGeom>
          <a:noFill/>
          <a:ln/>
        </p:spPr>
        <p:txBody>
          <a:bodyPr wrap="square" lIns="0" tIns="0" rIns="0" bIns="0" rtlCol="0" anchor="t"/>
          <a:lstStyle/>
          <a:p>
            <a:pPr algn="l">
              <a:lnSpc>
                <a:spcPts val="1856"/>
              </a:lnSpc>
            </a:pPr>
            <a:r>
              <a:rPr lang="en-US" sz="1600" kern="0" spc="-12" dirty="0">
                <a:solidFill>
                  <a:schemeClr val="bg1">
                    <a:lumMod val="95000"/>
                  </a:schemeClr>
                </a:solidFill>
                <a:latin typeface="MiSans Demibold" pitchFamily="2" charset="-122"/>
                <a:ea typeface="MiSans Demibold" pitchFamily="2" charset="-122"/>
                <a:cs typeface="MiSans" pitchFamily="34" charset="-120"/>
              </a:rPr>
              <a:t>使用者</a:t>
            </a:r>
            <a:endParaRPr lang="en-US" sz="1600" dirty="0">
              <a:solidFill>
                <a:schemeClr val="bg1">
                  <a:lumMod val="95000"/>
                </a:schemeClr>
              </a:solidFill>
              <a:latin typeface="MiSans Demibold" pitchFamily="2" charset="-122"/>
              <a:ea typeface="MiSans Demibold" pitchFamily="2" charset="-122"/>
            </a:endParaRPr>
          </a:p>
        </p:txBody>
      </p:sp>
      <p:sp>
        <p:nvSpPr>
          <p:cNvPr id="23" name="Shape 7">
            <a:extLst>
              <a:ext uri="{FF2B5EF4-FFF2-40B4-BE49-F238E27FC236}">
                <a16:creationId xmlns:a16="http://schemas.microsoft.com/office/drawing/2014/main" id="{38CCD039-2653-1335-6C95-A0BC6A154FCB}"/>
              </a:ext>
            </a:extLst>
          </p:cNvPr>
          <p:cNvSpPr/>
          <p:nvPr/>
        </p:nvSpPr>
        <p:spPr>
          <a:xfrm rot="5400000">
            <a:off x="1846527" y="3661833"/>
            <a:ext cx="2487083" cy="0"/>
          </a:xfrm>
          <a:prstGeom prst="line">
            <a:avLst/>
          </a:prstGeom>
          <a:solidFill>
            <a:srgbClr val="1E654D"/>
          </a:solidFill>
          <a:ln w="5292">
            <a:solidFill>
              <a:schemeClr val="bg1">
                <a:alpha val="20000"/>
              </a:schemeClr>
            </a:solidFill>
            <a:prstDash val="solid"/>
            <a:headEnd type="none"/>
            <a:tailEnd type="none"/>
          </a:ln>
        </p:spPr>
        <p:txBody>
          <a:bodyPr/>
          <a:lstStyle/>
          <a:p>
            <a:endParaRPr/>
          </a:p>
        </p:txBody>
      </p:sp>
      <p:sp>
        <p:nvSpPr>
          <p:cNvPr id="24" name="Shape 8">
            <a:extLst>
              <a:ext uri="{FF2B5EF4-FFF2-40B4-BE49-F238E27FC236}">
                <a16:creationId xmlns:a16="http://schemas.microsoft.com/office/drawing/2014/main" id="{0FF06F29-966F-74A4-D983-C37E428A3344}"/>
              </a:ext>
            </a:extLst>
          </p:cNvPr>
          <p:cNvSpPr/>
          <p:nvPr/>
        </p:nvSpPr>
        <p:spPr>
          <a:xfrm rot="5400000">
            <a:off x="4815152" y="3661833"/>
            <a:ext cx="2487083" cy="0"/>
          </a:xfrm>
          <a:prstGeom prst="line">
            <a:avLst/>
          </a:prstGeom>
          <a:solidFill>
            <a:srgbClr val="1E654D"/>
          </a:solidFill>
          <a:ln w="5292">
            <a:solidFill>
              <a:schemeClr val="bg1">
                <a:alpha val="20000"/>
              </a:schemeClr>
            </a:solidFill>
            <a:prstDash val="solid"/>
            <a:headEnd type="none"/>
            <a:tailEnd type="none"/>
          </a:ln>
        </p:spPr>
        <p:txBody>
          <a:bodyPr/>
          <a:lstStyle/>
          <a:p>
            <a:endParaRPr/>
          </a:p>
        </p:txBody>
      </p:sp>
      <p:sp>
        <p:nvSpPr>
          <p:cNvPr id="25" name="圆角矩形 24">
            <a:extLst>
              <a:ext uri="{FF2B5EF4-FFF2-40B4-BE49-F238E27FC236}">
                <a16:creationId xmlns:a16="http://schemas.microsoft.com/office/drawing/2014/main" id="{3C116B7A-767A-6D97-8906-B4D4D02F43D2}"/>
              </a:ext>
            </a:extLst>
          </p:cNvPr>
          <p:cNvSpPr/>
          <p:nvPr/>
        </p:nvSpPr>
        <p:spPr>
          <a:xfrm>
            <a:off x="238125" y="2418291"/>
            <a:ext cx="545041" cy="538572"/>
          </a:xfrm>
          <a:prstGeom prst="roundRect">
            <a:avLst>
              <a:gd name="adj" fmla="val 18059"/>
            </a:avLst>
          </a:prstGeom>
          <a:solidFill>
            <a:srgbClr val="FFFFFF">
              <a:alpha val="20000"/>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BA719382-F3B3-3358-D44B-ECC22E9363F8}"/>
              </a:ext>
            </a:extLst>
          </p:cNvPr>
          <p:cNvSpPr/>
          <p:nvPr/>
        </p:nvSpPr>
        <p:spPr>
          <a:xfrm>
            <a:off x="3319653" y="2418291"/>
            <a:ext cx="545041" cy="538572"/>
          </a:xfrm>
          <a:prstGeom prst="roundRect">
            <a:avLst>
              <a:gd name="adj" fmla="val 18059"/>
            </a:avLst>
          </a:prstGeom>
          <a:solidFill>
            <a:srgbClr val="FFFFFF">
              <a:alpha val="20000"/>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
        <p:nvSpPr>
          <p:cNvPr id="27" name="圆角矩形 26">
            <a:extLst>
              <a:ext uri="{FF2B5EF4-FFF2-40B4-BE49-F238E27FC236}">
                <a16:creationId xmlns:a16="http://schemas.microsoft.com/office/drawing/2014/main" id="{985A2D3D-92D1-112C-081A-EFE133475103}"/>
              </a:ext>
            </a:extLst>
          </p:cNvPr>
          <p:cNvSpPr/>
          <p:nvPr/>
        </p:nvSpPr>
        <p:spPr>
          <a:xfrm>
            <a:off x="6291453" y="2418291"/>
            <a:ext cx="545041" cy="538572"/>
          </a:xfrm>
          <a:prstGeom prst="roundRect">
            <a:avLst>
              <a:gd name="adj" fmla="val 18059"/>
            </a:avLst>
          </a:prstGeom>
          <a:solidFill>
            <a:srgbClr val="FFFFFF">
              <a:alpha val="20000"/>
            </a:srgb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kumimoji="1"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7F8F3"/>
        </a:solidFill>
        <a:effectLst/>
      </p:bgPr>
    </p:bg>
    <p:spTree>
      <p:nvGrpSpPr>
        <p:cNvPr id="1" name=""/>
        <p:cNvGrpSpPr/>
        <p:nvPr/>
      </p:nvGrpSpPr>
      <p:grpSpPr>
        <a:xfrm>
          <a:off x="0" y="0"/>
          <a:ext cx="0" cy="0"/>
          <a:chOff x="0" y="0"/>
          <a:chExt cx="0" cy="0"/>
        </a:xfrm>
      </p:grpSpPr>
      <p:sp>
        <p:nvSpPr>
          <p:cNvPr id="4" name="Text 1"/>
          <p:cNvSpPr/>
          <p:nvPr/>
        </p:nvSpPr>
        <p:spPr>
          <a:xfrm>
            <a:off x="238125" y="2571750"/>
            <a:ext cx="2730475" cy="618981"/>
          </a:xfrm>
          <a:prstGeom prst="rect">
            <a:avLst/>
          </a:prstGeom>
          <a:noFill/>
          <a:ln/>
        </p:spPr>
        <p:txBody>
          <a:bodyPr wrap="square" lIns="0" tIns="0" rIns="0" bIns="0" rtlCol="0" anchor="t"/>
          <a:lstStyle/>
          <a:p>
            <a:pPr>
              <a:lnSpc>
                <a:spcPts val="1414"/>
              </a:lnSpc>
            </a:pPr>
            <a:r>
              <a:rPr lang="en-US" sz="1000" dirty="0" err="1">
                <a:solidFill>
                  <a:srgbClr val="292624">
                    <a:alpha val="75000"/>
                  </a:srgbClr>
                </a:solidFill>
                <a:latin typeface="MiSans Light" pitchFamily="2" charset="-122"/>
                <a:ea typeface="MiSans Light" pitchFamily="2" charset="-122"/>
                <a:cs typeface="MiSans" pitchFamily="34" charset="-120"/>
              </a:rPr>
              <a:t>指</a:t>
            </a:r>
            <a:r>
              <a:rPr lang="en-US" altLang="zh-CN" sz="1000" dirty="0" err="1">
                <a:solidFill>
                  <a:srgbClr val="292624">
                    <a:alpha val="75000"/>
                  </a:srgbClr>
                </a:solidFill>
                <a:latin typeface="MiSans Light" pitchFamily="2" charset="-122"/>
                <a:ea typeface="MiSans Light" pitchFamily="2" charset="-122"/>
                <a:cs typeface="MiSans" pitchFamily="34" charset="-120"/>
              </a:rPr>
              <a:t>出让此刻成为最佳时机的那个具体市场或技术变迁出让此刻成为最佳时机的那个具体市场或技术变迁</a:t>
            </a:r>
            <a:r>
              <a:rPr lang="en-US" sz="1000" dirty="0">
                <a:solidFill>
                  <a:srgbClr val="292624">
                    <a:alpha val="75000"/>
                  </a:srgbClr>
                </a:solidFill>
                <a:latin typeface="MiSans Light" pitchFamily="2" charset="-122"/>
                <a:ea typeface="MiSans Light" pitchFamily="2" charset="-122"/>
                <a:cs typeface="MiSans" pitchFamily="34" charset="-120"/>
              </a:rPr>
              <a:t>。</a:t>
            </a:r>
            <a:endParaRPr lang="en-US" sz="975" dirty="0">
              <a:latin typeface="MiSans Light" pitchFamily="2" charset="-122"/>
              <a:ea typeface="MiSans Light" pitchFamily="2" charset="-122"/>
            </a:endParaRPr>
          </a:p>
        </p:txBody>
      </p:sp>
      <p:pic>
        <p:nvPicPr>
          <p:cNvPr id="5" name="Image 0" descr="https://pitch-assets-ccb95893-de3f-4266-973c-20049231b248.s3.eu-west-1.amazonaws.com/b465fad0-4249-4094-a94c-f14a5cdfba9a?pitch-bytes=1616728&amp;pitch-content-type=image%2Fpng"/>
          <p:cNvPicPr>
            <a:picLocks noChangeAspect="1"/>
          </p:cNvPicPr>
          <p:nvPr/>
        </p:nvPicPr>
        <p:blipFill>
          <a:blip r:embed="rId3"/>
          <a:srcRect l="6048" r="4259"/>
          <a:stretch/>
        </p:blipFill>
        <p:spPr>
          <a:xfrm>
            <a:off x="5433219" y="0"/>
            <a:ext cx="3710781" cy="5143500"/>
          </a:xfrm>
          <a:prstGeom prst="rect">
            <a:avLst/>
          </a:prstGeom>
        </p:spPr>
      </p:pic>
      <p:sp>
        <p:nvSpPr>
          <p:cNvPr id="6" name="Text 2"/>
          <p:cNvSpPr/>
          <p:nvPr/>
        </p:nvSpPr>
        <p:spPr>
          <a:xfrm>
            <a:off x="238125" y="3521472"/>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tx1">
                    <a:lumMod val="85000"/>
                    <a:lumOff val="15000"/>
                  </a:schemeClr>
                </a:solidFill>
                <a:latin typeface="MiSans Normal" pitchFamily="2" charset="-122"/>
                <a:ea typeface="MiSans Normal" pitchFamily="2" charset="-122"/>
                <a:cs typeface="MiSans" pitchFamily="34" charset="-120"/>
              </a:rPr>
              <a:t>01</a:t>
            </a:r>
            <a:r>
              <a:rPr lang="zh-CN" altLang="en-US" sz="1600" kern="0" spc="-12" dirty="0">
                <a:solidFill>
                  <a:schemeClr val="tx1">
                    <a:lumMod val="85000"/>
                    <a:lumOff val="15000"/>
                  </a:schemeClr>
                </a:solidFill>
                <a:latin typeface="MiSans Normal" pitchFamily="2" charset="-122"/>
                <a:ea typeface="MiSans Normal" pitchFamily="2" charset="-122"/>
                <a:cs typeface="MiSans" pitchFamily="34" charset="-120"/>
              </a:rPr>
              <a:t>  </a:t>
            </a:r>
            <a:r>
              <a:rPr lang="en-US" sz="1600" kern="0" spc="-12" dirty="0" err="1">
                <a:solidFill>
                  <a:schemeClr val="tx1">
                    <a:lumMod val="85000"/>
                    <a:lumOff val="15000"/>
                  </a:schemeClr>
                </a:solidFill>
                <a:latin typeface="MiSans Normal" pitchFamily="2" charset="-122"/>
                <a:ea typeface="MiSans Normal" pitchFamily="2" charset="-122"/>
                <a:cs typeface="MiSans" pitchFamily="34" charset="-120"/>
              </a:rPr>
              <a:t>团队已经非常渴望改变</a:t>
            </a:r>
            <a:r>
              <a:rPr lang="en-US" sz="1600" kern="0" spc="-12" dirty="0">
                <a:solidFill>
                  <a:schemeClr val="tx1">
                    <a:lumMod val="85000"/>
                    <a:lumOff val="15000"/>
                  </a:schemeClr>
                </a:solidFill>
                <a:latin typeface="MiSans Normal" pitchFamily="2" charset="-122"/>
                <a:ea typeface="MiSans Normal" pitchFamily="2" charset="-122"/>
                <a:cs typeface="MiSans" pitchFamily="34" charset="-120"/>
              </a:rPr>
              <a:t>。</a:t>
            </a:r>
            <a:endParaRPr lang="en-US" sz="1600" dirty="0">
              <a:solidFill>
                <a:schemeClr val="tx1">
                  <a:lumMod val="85000"/>
                  <a:lumOff val="15000"/>
                </a:schemeClr>
              </a:solidFill>
              <a:latin typeface="MiSans Normal" pitchFamily="2" charset="-122"/>
              <a:ea typeface="MiSans Normal" pitchFamily="2" charset="-122"/>
            </a:endParaRPr>
          </a:p>
        </p:txBody>
      </p:sp>
      <p:sp>
        <p:nvSpPr>
          <p:cNvPr id="7" name="Text 3"/>
          <p:cNvSpPr/>
          <p:nvPr/>
        </p:nvSpPr>
        <p:spPr>
          <a:xfrm>
            <a:off x="238125" y="4066514"/>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tx1">
                    <a:lumMod val="85000"/>
                    <a:lumOff val="15000"/>
                  </a:schemeClr>
                </a:solidFill>
                <a:latin typeface="MiSans Normal" pitchFamily="2" charset="-122"/>
                <a:ea typeface="MiSans Normal" pitchFamily="2" charset="-122"/>
                <a:cs typeface="MiSans" pitchFamily="34" charset="-120"/>
              </a:rPr>
              <a:t>02</a:t>
            </a:r>
            <a:r>
              <a:rPr lang="zh-CN" altLang="en-US" sz="1600" kern="0" spc="-12" dirty="0">
                <a:solidFill>
                  <a:schemeClr val="tx1">
                    <a:lumMod val="85000"/>
                    <a:lumOff val="15000"/>
                  </a:schemeClr>
                </a:solidFill>
                <a:latin typeface="MiSans Normal" pitchFamily="2" charset="-122"/>
                <a:ea typeface="MiSans Normal" pitchFamily="2" charset="-122"/>
                <a:cs typeface="MiSans" pitchFamily="34" charset="-120"/>
              </a:rPr>
              <a:t>  </a:t>
            </a:r>
            <a:r>
              <a:rPr lang="en-US" sz="1600" kern="0" spc="-12" dirty="0" err="1">
                <a:solidFill>
                  <a:schemeClr val="tx1">
                    <a:lumMod val="85000"/>
                    <a:lumOff val="15000"/>
                  </a:schemeClr>
                </a:solidFill>
                <a:latin typeface="MiSans Normal" pitchFamily="2" charset="-122"/>
                <a:ea typeface="MiSans Normal" pitchFamily="2" charset="-122"/>
                <a:cs typeface="MiSans" pitchFamily="34" charset="-120"/>
              </a:rPr>
              <a:t>技术已经成熟可用</a:t>
            </a:r>
            <a:r>
              <a:rPr lang="en-US" sz="1600" kern="0" spc="-12" dirty="0">
                <a:solidFill>
                  <a:schemeClr val="tx1">
                    <a:lumMod val="85000"/>
                    <a:lumOff val="15000"/>
                  </a:schemeClr>
                </a:solidFill>
                <a:latin typeface="MiSans Normal" pitchFamily="2" charset="-122"/>
                <a:ea typeface="MiSans Normal" pitchFamily="2" charset="-122"/>
                <a:cs typeface="MiSans" pitchFamily="34" charset="-120"/>
              </a:rPr>
              <a:t>。</a:t>
            </a:r>
            <a:endParaRPr lang="en-US" sz="1600" dirty="0">
              <a:solidFill>
                <a:schemeClr val="tx1">
                  <a:lumMod val="85000"/>
                  <a:lumOff val="15000"/>
                </a:schemeClr>
              </a:solidFill>
              <a:latin typeface="MiSans Normal" pitchFamily="2" charset="-122"/>
              <a:ea typeface="MiSans Normal" pitchFamily="2" charset="-122"/>
            </a:endParaRPr>
          </a:p>
        </p:txBody>
      </p:sp>
      <p:sp>
        <p:nvSpPr>
          <p:cNvPr id="8" name="Text 4"/>
          <p:cNvSpPr/>
          <p:nvPr/>
        </p:nvSpPr>
        <p:spPr>
          <a:xfrm>
            <a:off x="238125" y="4611555"/>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tx1">
                    <a:lumMod val="85000"/>
                    <a:lumOff val="15000"/>
                  </a:schemeClr>
                </a:solidFill>
                <a:latin typeface="MiSans Normal" pitchFamily="2" charset="-122"/>
                <a:ea typeface="MiSans Normal" pitchFamily="2" charset="-122"/>
                <a:cs typeface="MiSans" pitchFamily="34" charset="-120"/>
              </a:rPr>
              <a:t>03</a:t>
            </a:r>
            <a:r>
              <a:rPr lang="zh-CN" altLang="en-US" sz="1600" kern="0" spc="-12" dirty="0">
                <a:solidFill>
                  <a:schemeClr val="tx1">
                    <a:lumMod val="85000"/>
                    <a:lumOff val="15000"/>
                  </a:schemeClr>
                </a:solidFill>
                <a:latin typeface="MiSans Normal" pitchFamily="2" charset="-122"/>
                <a:ea typeface="MiSans Normal" pitchFamily="2" charset="-122"/>
                <a:cs typeface="MiSans" pitchFamily="34" charset="-120"/>
              </a:rPr>
              <a:t>  </a:t>
            </a:r>
            <a:r>
              <a:rPr lang="en-US" sz="1600" kern="0" spc="-12" dirty="0" err="1">
                <a:solidFill>
                  <a:schemeClr val="tx1">
                    <a:lumMod val="85000"/>
                    <a:lumOff val="15000"/>
                  </a:schemeClr>
                </a:solidFill>
                <a:latin typeface="MiSans Normal" pitchFamily="2" charset="-122"/>
                <a:ea typeface="MiSans Normal" pitchFamily="2" charset="-122"/>
                <a:cs typeface="MiSans" pitchFamily="34" charset="-120"/>
              </a:rPr>
              <a:t>没有解决方案的每一个月，都在付出代价</a:t>
            </a:r>
            <a:r>
              <a:rPr lang="en-US" sz="1600" kern="0" spc="-12" dirty="0">
                <a:solidFill>
                  <a:schemeClr val="tx1">
                    <a:lumMod val="85000"/>
                    <a:lumOff val="15000"/>
                  </a:schemeClr>
                </a:solidFill>
                <a:latin typeface="MiSans Normal" pitchFamily="2" charset="-122"/>
                <a:ea typeface="MiSans Normal" pitchFamily="2" charset="-122"/>
                <a:cs typeface="MiSans" pitchFamily="34" charset="-120"/>
              </a:rPr>
              <a:t>。</a:t>
            </a:r>
            <a:endParaRPr lang="en-US" sz="1600" dirty="0">
              <a:solidFill>
                <a:schemeClr val="tx1">
                  <a:lumMod val="85000"/>
                  <a:lumOff val="15000"/>
                </a:schemeClr>
              </a:solidFill>
              <a:latin typeface="MiSans Normal" pitchFamily="2" charset="-122"/>
              <a:ea typeface="MiSans Normal" pitchFamily="2" charset="-122"/>
            </a:endParaRPr>
          </a:p>
        </p:txBody>
      </p:sp>
      <p:sp>
        <p:nvSpPr>
          <p:cNvPr id="9" name="Shape 5"/>
          <p:cNvSpPr/>
          <p:nvPr/>
        </p:nvSpPr>
        <p:spPr>
          <a:xfrm>
            <a:off x="238125" y="3930810"/>
            <a:ext cx="4953000"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0" name="Shape 6"/>
          <p:cNvSpPr/>
          <p:nvPr/>
        </p:nvSpPr>
        <p:spPr>
          <a:xfrm>
            <a:off x="238125" y="4475764"/>
            <a:ext cx="4953000"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2" name="Text 0">
            <a:extLst>
              <a:ext uri="{FF2B5EF4-FFF2-40B4-BE49-F238E27FC236}">
                <a16:creationId xmlns:a16="http://schemas.microsoft.com/office/drawing/2014/main" id="{C947901F-B26A-F446-0169-BBBE59C00609}"/>
              </a:ext>
            </a:extLst>
          </p:cNvPr>
          <p:cNvSpPr/>
          <p:nvPr/>
        </p:nvSpPr>
        <p:spPr>
          <a:xfrm>
            <a:off x="248717" y="264903"/>
            <a:ext cx="2719883" cy="871147"/>
          </a:xfrm>
          <a:prstGeom prst="rect">
            <a:avLst/>
          </a:prstGeom>
          <a:noFill/>
          <a:ln/>
        </p:spPr>
        <p:txBody>
          <a:bodyPr wrap="square" lIns="0" tIns="0" rIns="0" bIns="0" rtlCol="0" anchor="t"/>
          <a:lstStyle/>
          <a:p>
            <a:pPr algn="l">
              <a:lnSpc>
                <a:spcPts val="3218"/>
              </a:lnSpc>
            </a:pPr>
            <a:r>
              <a:rPr lang="en-US" sz="2800" kern="0" spc="-24" dirty="0" err="1">
                <a:solidFill>
                  <a:srgbClr val="292624"/>
                </a:solidFill>
                <a:latin typeface="MiSans Demibold" pitchFamily="2" charset="-122"/>
                <a:ea typeface="MiSans Demibold" pitchFamily="2" charset="-122"/>
                <a:cs typeface="MiSans" pitchFamily="34" charset="-120"/>
              </a:rPr>
              <a:t>为何是现在</a:t>
            </a:r>
            <a:r>
              <a:rPr lang="zh-CN" altLang="en-US" sz="2800" kern="0" spc="-24" dirty="0">
                <a:solidFill>
                  <a:srgbClr val="292624"/>
                </a:solidFill>
                <a:latin typeface="MiSans Demibold" pitchFamily="2" charset="-122"/>
                <a:ea typeface="MiSans Demibold" pitchFamily="2" charset="-122"/>
                <a:cs typeface="MiSans" pitchFamily="34" charset="-120"/>
              </a:rPr>
              <a:t>？</a:t>
            </a:r>
            <a:endParaRPr lang="en-US" sz="2925" dirty="0">
              <a:latin typeface="MiSans Demibold" pitchFamily="2" charset="-122"/>
              <a:ea typeface="MiSans Demibold"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1A5544"/>
        </a:solidFill>
        <a:effectLst/>
      </p:bgPr>
    </p:bg>
    <p:spTree>
      <p:nvGrpSpPr>
        <p:cNvPr id="1" name=""/>
        <p:cNvGrpSpPr/>
        <p:nvPr/>
      </p:nvGrpSpPr>
      <p:grpSpPr>
        <a:xfrm>
          <a:off x="0" y="0"/>
          <a:ext cx="0" cy="0"/>
          <a:chOff x="0" y="0"/>
          <a:chExt cx="0" cy="0"/>
        </a:xfrm>
      </p:grpSpPr>
      <p:pic>
        <p:nvPicPr>
          <p:cNvPr id="5" name="Image 0" descr="https://pitch-assets-ccb95893-de3f-4266-973c-20049231b248.s3.eu-west-1.amazonaws.com/20d2e01e-a89a-47d9-922a-9b3892fe91ed?pitch-bytes=1616728&amp;pitch-content-type=image%2Fpng"/>
          <p:cNvPicPr>
            <a:picLocks noChangeAspect="1"/>
          </p:cNvPicPr>
          <p:nvPr/>
        </p:nvPicPr>
        <p:blipFill>
          <a:blip r:embed="rId3"/>
          <a:srcRect l="6048" r="4259"/>
          <a:stretch/>
        </p:blipFill>
        <p:spPr>
          <a:xfrm>
            <a:off x="5433219" y="0"/>
            <a:ext cx="3710781" cy="5143500"/>
          </a:xfrm>
          <a:prstGeom prst="rect">
            <a:avLst/>
          </a:prstGeom>
        </p:spPr>
      </p:pic>
      <p:sp>
        <p:nvSpPr>
          <p:cNvPr id="2" name="Text 1">
            <a:extLst>
              <a:ext uri="{FF2B5EF4-FFF2-40B4-BE49-F238E27FC236}">
                <a16:creationId xmlns:a16="http://schemas.microsoft.com/office/drawing/2014/main" id="{A6E24F70-7BAF-4C3D-4520-43A7CD4AFD38}"/>
              </a:ext>
            </a:extLst>
          </p:cNvPr>
          <p:cNvSpPr/>
          <p:nvPr/>
        </p:nvSpPr>
        <p:spPr>
          <a:xfrm>
            <a:off x="238125" y="2571750"/>
            <a:ext cx="2730475" cy="618981"/>
          </a:xfrm>
          <a:prstGeom prst="rect">
            <a:avLst/>
          </a:prstGeom>
          <a:noFill/>
          <a:ln/>
        </p:spPr>
        <p:txBody>
          <a:bodyPr wrap="square" lIns="0" tIns="0" rIns="0" bIns="0" rtlCol="0" anchor="t"/>
          <a:lstStyle/>
          <a:p>
            <a:pPr>
              <a:lnSpc>
                <a:spcPts val="1414"/>
              </a:lnSpc>
            </a:pPr>
            <a:r>
              <a:rPr lang="en-US" sz="1000" dirty="0" err="1">
                <a:solidFill>
                  <a:schemeClr val="bg1"/>
                </a:solidFill>
                <a:latin typeface="MiSans Light" pitchFamily="2" charset="-122"/>
                <a:ea typeface="MiSans Light" pitchFamily="2" charset="-122"/>
                <a:cs typeface="MiSans" pitchFamily="34" charset="-120"/>
              </a:rPr>
              <a:t>指</a:t>
            </a:r>
            <a:r>
              <a:rPr lang="en-US" altLang="zh-CN" sz="1000" dirty="0" err="1">
                <a:solidFill>
                  <a:schemeClr val="bg1"/>
                </a:solidFill>
                <a:latin typeface="MiSans Light" pitchFamily="2" charset="-122"/>
                <a:ea typeface="MiSans Light" pitchFamily="2" charset="-122"/>
                <a:cs typeface="MiSans" pitchFamily="34" charset="-120"/>
              </a:rPr>
              <a:t>出让此刻成为最佳时机的那个具体市场或技术变迁出让此刻成为最佳时机的那个具体市场或技术变迁</a:t>
            </a:r>
            <a:r>
              <a:rPr lang="en-US" sz="1000" dirty="0">
                <a:solidFill>
                  <a:schemeClr val="bg1"/>
                </a:solidFill>
                <a:latin typeface="MiSans Light" pitchFamily="2" charset="-122"/>
                <a:ea typeface="MiSans Light" pitchFamily="2" charset="-122"/>
                <a:cs typeface="MiSans" pitchFamily="34" charset="-120"/>
              </a:rPr>
              <a:t>。</a:t>
            </a:r>
            <a:endParaRPr lang="en-US" sz="975" dirty="0">
              <a:solidFill>
                <a:schemeClr val="bg1"/>
              </a:solidFill>
              <a:latin typeface="MiSans Light" pitchFamily="2" charset="-122"/>
              <a:ea typeface="MiSans Light" pitchFamily="2" charset="-122"/>
            </a:endParaRPr>
          </a:p>
        </p:txBody>
      </p:sp>
      <p:sp>
        <p:nvSpPr>
          <p:cNvPr id="11" name="Text 2">
            <a:extLst>
              <a:ext uri="{FF2B5EF4-FFF2-40B4-BE49-F238E27FC236}">
                <a16:creationId xmlns:a16="http://schemas.microsoft.com/office/drawing/2014/main" id="{26910E8A-A28E-4269-03B5-99223297E394}"/>
              </a:ext>
            </a:extLst>
          </p:cNvPr>
          <p:cNvSpPr/>
          <p:nvPr/>
        </p:nvSpPr>
        <p:spPr>
          <a:xfrm>
            <a:off x="238125" y="3521472"/>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bg1"/>
                </a:solidFill>
                <a:latin typeface="MiSans Normal" pitchFamily="2" charset="-122"/>
                <a:ea typeface="MiSans Normal" pitchFamily="2" charset="-122"/>
                <a:cs typeface="MiSans" pitchFamily="34" charset="-120"/>
              </a:rPr>
              <a:t>01</a:t>
            </a:r>
            <a:r>
              <a:rPr lang="zh-CN" altLang="en-US" sz="1600" kern="0" spc="-12" dirty="0">
                <a:solidFill>
                  <a:schemeClr val="bg1"/>
                </a:solidFill>
                <a:latin typeface="MiSans Normal" pitchFamily="2" charset="-122"/>
                <a:ea typeface="MiSans Normal" pitchFamily="2" charset="-122"/>
                <a:cs typeface="MiSans" pitchFamily="34" charset="-120"/>
              </a:rPr>
              <a:t>  </a:t>
            </a:r>
            <a:r>
              <a:rPr lang="en-US" sz="1600" kern="0" spc="-12" dirty="0" err="1">
                <a:solidFill>
                  <a:schemeClr val="bg1"/>
                </a:solidFill>
                <a:latin typeface="MiSans Normal" pitchFamily="2" charset="-122"/>
                <a:ea typeface="MiSans Normal" pitchFamily="2" charset="-122"/>
                <a:cs typeface="MiSans" pitchFamily="34" charset="-120"/>
              </a:rPr>
              <a:t>团队已经非常渴望改变</a:t>
            </a:r>
            <a:r>
              <a:rPr lang="en-US" sz="1600" kern="0" spc="-12" dirty="0">
                <a:solidFill>
                  <a:schemeClr val="bg1"/>
                </a:solidFill>
                <a:latin typeface="MiSans Normal" pitchFamily="2" charset="-122"/>
                <a:ea typeface="MiSans Normal" pitchFamily="2" charset="-122"/>
                <a:cs typeface="MiSans" pitchFamily="34" charset="-120"/>
              </a:rPr>
              <a:t>。</a:t>
            </a:r>
            <a:endParaRPr lang="en-US" sz="1600" dirty="0">
              <a:solidFill>
                <a:schemeClr val="bg1"/>
              </a:solidFill>
              <a:latin typeface="MiSans Normal" pitchFamily="2" charset="-122"/>
              <a:ea typeface="MiSans Normal" pitchFamily="2" charset="-122"/>
            </a:endParaRPr>
          </a:p>
        </p:txBody>
      </p:sp>
      <p:sp>
        <p:nvSpPr>
          <p:cNvPr id="12" name="Text 3">
            <a:extLst>
              <a:ext uri="{FF2B5EF4-FFF2-40B4-BE49-F238E27FC236}">
                <a16:creationId xmlns:a16="http://schemas.microsoft.com/office/drawing/2014/main" id="{139053CD-0B85-5354-C6DE-5BD011A080D3}"/>
              </a:ext>
            </a:extLst>
          </p:cNvPr>
          <p:cNvSpPr/>
          <p:nvPr/>
        </p:nvSpPr>
        <p:spPr>
          <a:xfrm>
            <a:off x="238125" y="4066514"/>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bg1"/>
                </a:solidFill>
                <a:latin typeface="MiSans Normal" pitchFamily="2" charset="-122"/>
                <a:ea typeface="MiSans Normal" pitchFamily="2" charset="-122"/>
                <a:cs typeface="MiSans" pitchFamily="34" charset="-120"/>
              </a:rPr>
              <a:t>02</a:t>
            </a:r>
            <a:r>
              <a:rPr lang="zh-CN" altLang="en-US" sz="1600" kern="0" spc="-12" dirty="0">
                <a:solidFill>
                  <a:schemeClr val="bg1"/>
                </a:solidFill>
                <a:latin typeface="MiSans Normal" pitchFamily="2" charset="-122"/>
                <a:ea typeface="MiSans Normal" pitchFamily="2" charset="-122"/>
                <a:cs typeface="MiSans" pitchFamily="34" charset="-120"/>
              </a:rPr>
              <a:t>  </a:t>
            </a:r>
            <a:r>
              <a:rPr lang="en-US" sz="1600" kern="0" spc="-12" dirty="0" err="1">
                <a:solidFill>
                  <a:schemeClr val="bg1"/>
                </a:solidFill>
                <a:latin typeface="MiSans Normal" pitchFamily="2" charset="-122"/>
                <a:ea typeface="MiSans Normal" pitchFamily="2" charset="-122"/>
                <a:cs typeface="MiSans" pitchFamily="34" charset="-120"/>
              </a:rPr>
              <a:t>技术已经成熟可用</a:t>
            </a:r>
            <a:r>
              <a:rPr lang="en-US" sz="1600" kern="0" spc="-12" dirty="0">
                <a:solidFill>
                  <a:schemeClr val="bg1"/>
                </a:solidFill>
                <a:latin typeface="MiSans Normal" pitchFamily="2" charset="-122"/>
                <a:ea typeface="MiSans Normal" pitchFamily="2" charset="-122"/>
                <a:cs typeface="MiSans" pitchFamily="34" charset="-120"/>
              </a:rPr>
              <a:t>。</a:t>
            </a:r>
            <a:endParaRPr lang="en-US" sz="1600" dirty="0">
              <a:solidFill>
                <a:schemeClr val="bg1"/>
              </a:solidFill>
              <a:latin typeface="MiSans Normal" pitchFamily="2" charset="-122"/>
              <a:ea typeface="MiSans Normal" pitchFamily="2" charset="-122"/>
            </a:endParaRPr>
          </a:p>
        </p:txBody>
      </p:sp>
      <p:sp>
        <p:nvSpPr>
          <p:cNvPr id="13" name="Text 4">
            <a:extLst>
              <a:ext uri="{FF2B5EF4-FFF2-40B4-BE49-F238E27FC236}">
                <a16:creationId xmlns:a16="http://schemas.microsoft.com/office/drawing/2014/main" id="{A1DFBA45-4C1D-BD2A-BDED-FFF2F9636D61}"/>
              </a:ext>
            </a:extLst>
          </p:cNvPr>
          <p:cNvSpPr/>
          <p:nvPr/>
        </p:nvSpPr>
        <p:spPr>
          <a:xfrm>
            <a:off x="238125" y="4611555"/>
            <a:ext cx="4953000" cy="235744"/>
          </a:xfrm>
          <a:prstGeom prst="rect">
            <a:avLst/>
          </a:prstGeom>
          <a:noFill/>
          <a:ln/>
        </p:spPr>
        <p:txBody>
          <a:bodyPr wrap="square" lIns="0" tIns="0" rIns="0" bIns="0" rtlCol="0" anchor="ctr"/>
          <a:lstStyle/>
          <a:p>
            <a:pPr algn="l">
              <a:lnSpc>
                <a:spcPts val="1856"/>
              </a:lnSpc>
            </a:pPr>
            <a:r>
              <a:rPr lang="en-US" altLang="zh-CN" sz="1600" b="1" kern="0" spc="-12" dirty="0">
                <a:solidFill>
                  <a:schemeClr val="bg1"/>
                </a:solidFill>
                <a:latin typeface="MiSans Normal" pitchFamily="2" charset="-122"/>
                <a:ea typeface="MiSans Normal" pitchFamily="2" charset="-122"/>
                <a:cs typeface="MiSans" pitchFamily="34" charset="-120"/>
              </a:rPr>
              <a:t>03</a:t>
            </a:r>
            <a:r>
              <a:rPr lang="zh-CN" altLang="en-US" sz="1600" kern="0" spc="-12" dirty="0">
                <a:solidFill>
                  <a:schemeClr val="bg1"/>
                </a:solidFill>
                <a:latin typeface="MiSans Normal" pitchFamily="2" charset="-122"/>
                <a:ea typeface="MiSans Normal" pitchFamily="2" charset="-122"/>
                <a:cs typeface="MiSans" pitchFamily="34" charset="-120"/>
              </a:rPr>
              <a:t>  </a:t>
            </a:r>
            <a:r>
              <a:rPr lang="en-US" sz="1600" kern="0" spc="-12" dirty="0" err="1">
                <a:solidFill>
                  <a:schemeClr val="bg1"/>
                </a:solidFill>
                <a:latin typeface="MiSans Normal" pitchFamily="2" charset="-122"/>
                <a:ea typeface="MiSans Normal" pitchFamily="2" charset="-122"/>
                <a:cs typeface="MiSans" pitchFamily="34" charset="-120"/>
              </a:rPr>
              <a:t>没有解决方案的每一个月，都在付出代价</a:t>
            </a:r>
            <a:r>
              <a:rPr lang="en-US" sz="1600" kern="0" spc="-12" dirty="0">
                <a:solidFill>
                  <a:schemeClr val="bg1"/>
                </a:solidFill>
                <a:latin typeface="MiSans Normal" pitchFamily="2" charset="-122"/>
                <a:ea typeface="MiSans Normal" pitchFamily="2" charset="-122"/>
                <a:cs typeface="MiSans" pitchFamily="34" charset="-120"/>
              </a:rPr>
              <a:t>。</a:t>
            </a:r>
            <a:endParaRPr lang="en-US" sz="1600" dirty="0">
              <a:solidFill>
                <a:schemeClr val="bg1"/>
              </a:solidFill>
              <a:latin typeface="MiSans Normal" pitchFamily="2" charset="-122"/>
              <a:ea typeface="MiSans Normal" pitchFamily="2" charset="-122"/>
            </a:endParaRPr>
          </a:p>
        </p:txBody>
      </p:sp>
      <p:sp>
        <p:nvSpPr>
          <p:cNvPr id="14" name="Shape 5">
            <a:extLst>
              <a:ext uri="{FF2B5EF4-FFF2-40B4-BE49-F238E27FC236}">
                <a16:creationId xmlns:a16="http://schemas.microsoft.com/office/drawing/2014/main" id="{D235DFF3-DF44-2A23-5991-5B188BB86A9F}"/>
              </a:ext>
            </a:extLst>
          </p:cNvPr>
          <p:cNvSpPr/>
          <p:nvPr/>
        </p:nvSpPr>
        <p:spPr>
          <a:xfrm>
            <a:off x="238125" y="3930810"/>
            <a:ext cx="4953000" cy="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chemeClr val="bg1"/>
              </a:solidFill>
            </a:endParaRPr>
          </a:p>
        </p:txBody>
      </p:sp>
      <p:sp>
        <p:nvSpPr>
          <p:cNvPr id="15" name="Shape 6">
            <a:extLst>
              <a:ext uri="{FF2B5EF4-FFF2-40B4-BE49-F238E27FC236}">
                <a16:creationId xmlns:a16="http://schemas.microsoft.com/office/drawing/2014/main" id="{63B0FB34-49CC-A865-DB7C-96078AF4D070}"/>
              </a:ext>
            </a:extLst>
          </p:cNvPr>
          <p:cNvSpPr/>
          <p:nvPr/>
        </p:nvSpPr>
        <p:spPr>
          <a:xfrm>
            <a:off x="238125" y="4475764"/>
            <a:ext cx="4953000" cy="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chemeClr val="bg1"/>
              </a:solidFill>
            </a:endParaRPr>
          </a:p>
        </p:txBody>
      </p:sp>
      <p:sp>
        <p:nvSpPr>
          <p:cNvPr id="16" name="Text 0">
            <a:extLst>
              <a:ext uri="{FF2B5EF4-FFF2-40B4-BE49-F238E27FC236}">
                <a16:creationId xmlns:a16="http://schemas.microsoft.com/office/drawing/2014/main" id="{3B6D4FC3-6099-5539-9DE9-763A44FA21C4}"/>
              </a:ext>
            </a:extLst>
          </p:cNvPr>
          <p:cNvSpPr/>
          <p:nvPr/>
        </p:nvSpPr>
        <p:spPr>
          <a:xfrm>
            <a:off x="248717" y="264903"/>
            <a:ext cx="2719883" cy="871147"/>
          </a:xfrm>
          <a:prstGeom prst="rect">
            <a:avLst/>
          </a:prstGeom>
          <a:noFill/>
          <a:ln/>
        </p:spPr>
        <p:txBody>
          <a:bodyPr wrap="square" lIns="0" tIns="0" rIns="0" bIns="0" rtlCol="0" anchor="t"/>
          <a:lstStyle/>
          <a:p>
            <a:pPr algn="l">
              <a:lnSpc>
                <a:spcPts val="3218"/>
              </a:lnSpc>
            </a:pPr>
            <a:r>
              <a:rPr lang="en-US" sz="2800" kern="0" spc="-24" dirty="0" err="1">
                <a:solidFill>
                  <a:schemeClr val="bg1"/>
                </a:solidFill>
                <a:latin typeface="MiSans Demibold" pitchFamily="2" charset="-122"/>
                <a:ea typeface="MiSans Demibold" pitchFamily="2" charset="-122"/>
                <a:cs typeface="MiSans" pitchFamily="34" charset="-120"/>
              </a:rPr>
              <a:t>为何是现在</a:t>
            </a:r>
            <a:r>
              <a:rPr lang="zh-CN" altLang="en-US" sz="2800" kern="0" spc="-24" dirty="0">
                <a:solidFill>
                  <a:schemeClr val="bg1"/>
                </a:solidFill>
                <a:latin typeface="MiSans Demibold" pitchFamily="2" charset="-122"/>
                <a:ea typeface="MiSans Demibold" pitchFamily="2" charset="-122"/>
                <a:cs typeface="MiSans" pitchFamily="34" charset="-120"/>
              </a:rPr>
              <a:t>？</a:t>
            </a:r>
            <a:endParaRPr lang="en-US" sz="2925" dirty="0">
              <a:solidFill>
                <a:schemeClr val="bg1"/>
              </a:solidFill>
              <a:latin typeface="MiSans Demibold" pitchFamily="2" charset="-122"/>
              <a:ea typeface="MiSans Demibold"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357187" y="290591"/>
            <a:ext cx="4214813" cy="1137189"/>
          </a:xfrm>
          <a:prstGeom prst="rect">
            <a:avLst/>
          </a:prstGeom>
          <a:noFill/>
          <a:ln/>
        </p:spPr>
        <p:txBody>
          <a:bodyPr wrap="square" lIns="0" tIns="0" rIns="0" bIns="0" rtlCol="0" anchor="t"/>
          <a:lstStyle/>
          <a:p>
            <a:pPr>
              <a:lnSpc>
                <a:spcPts val="3418"/>
              </a:lnSpc>
            </a:pPr>
            <a:r>
              <a:rPr lang="en-US" sz="2800" kern="0" spc="-24" dirty="0" err="1">
                <a:solidFill>
                  <a:srgbClr val="292624"/>
                </a:solidFill>
                <a:latin typeface="MiSans Demibold" pitchFamily="2" charset="-122"/>
                <a:ea typeface="MiSans Demibold" pitchFamily="2" charset="-122"/>
              </a:rPr>
              <a:t>迄今为止，为解决</a:t>
            </a:r>
            <a:endParaRPr lang="en-US" sz="2800" kern="0" spc="-24" dirty="0">
              <a:solidFill>
                <a:srgbClr val="292624"/>
              </a:solidFill>
              <a:latin typeface="MiSans Demibold" pitchFamily="2" charset="-122"/>
              <a:ea typeface="MiSans Demibold" pitchFamily="2" charset="-122"/>
            </a:endParaRPr>
          </a:p>
          <a:p>
            <a:pPr>
              <a:lnSpc>
                <a:spcPts val="3418"/>
              </a:lnSpc>
            </a:pPr>
            <a:r>
              <a:rPr lang="en-US" sz="2800" kern="0" spc="-24" dirty="0" err="1">
                <a:solidFill>
                  <a:srgbClr val="292624"/>
                </a:solidFill>
                <a:latin typeface="MiSans Demibold" pitchFamily="2" charset="-122"/>
                <a:ea typeface="MiSans Demibold" pitchFamily="2" charset="-122"/>
              </a:rPr>
              <a:t>这一问题做过的</a:t>
            </a:r>
            <a:r>
              <a:rPr lang="zh-CN" altLang="en-US" sz="2800" kern="0" spc="-24" dirty="0">
                <a:solidFill>
                  <a:srgbClr val="292624"/>
                </a:solidFill>
                <a:latin typeface="MiSans Demibold" pitchFamily="2" charset="-122"/>
                <a:ea typeface="MiSans Demibold" pitchFamily="2" charset="-122"/>
              </a:rPr>
              <a:t> </a:t>
            </a:r>
            <a:r>
              <a:rPr lang="en-US" sz="2800" kern="0" spc="-24" dirty="0" err="1">
                <a:solidFill>
                  <a:srgbClr val="2F5745"/>
                </a:solidFill>
                <a:latin typeface="MiSans Demibold" pitchFamily="2" charset="-122"/>
                <a:ea typeface="MiSans Demibold" pitchFamily="2" charset="-122"/>
              </a:rPr>
              <a:t>尝试</a:t>
            </a:r>
            <a:endParaRPr lang="en-US" sz="2800" kern="0" spc="-24" dirty="0">
              <a:solidFill>
                <a:srgbClr val="2F5745"/>
              </a:solidFill>
              <a:latin typeface="MiSans Demibold" pitchFamily="2" charset="-122"/>
              <a:ea typeface="MiSans Demibold" pitchFamily="2" charset="-122"/>
            </a:endParaRPr>
          </a:p>
        </p:txBody>
      </p:sp>
      <p:sp>
        <p:nvSpPr>
          <p:cNvPr id="4" name="Text 1"/>
          <p:cNvSpPr/>
          <p:nvPr/>
        </p:nvSpPr>
        <p:spPr>
          <a:xfrm>
            <a:off x="357187" y="2589545"/>
            <a:ext cx="3472569" cy="235744"/>
          </a:xfrm>
          <a:prstGeom prst="rect">
            <a:avLst/>
          </a:prstGeom>
          <a:noFill/>
          <a:ln/>
        </p:spPr>
        <p:txBody>
          <a:bodyPr wrap="square" lIns="0" tIns="0" rIns="0" bIns="0" rtlCol="0" anchor="ctr"/>
          <a:lstStyle/>
          <a:p>
            <a:pPr algn="l">
              <a:lnSpc>
                <a:spcPts val="1856"/>
              </a:lnSpc>
            </a:pPr>
            <a:r>
              <a:rPr lang="en-US" sz="1600" kern="0" spc="-12" dirty="0">
                <a:solidFill>
                  <a:srgbClr val="292624"/>
                </a:solidFill>
                <a:latin typeface="MiSans Medium" pitchFamily="2" charset="-122"/>
                <a:ea typeface="MiSans Medium" pitchFamily="2" charset="-122"/>
                <a:cs typeface="MiSans" pitchFamily="34" charset="-120"/>
              </a:rPr>
              <a:t>团队尝试过</a:t>
            </a:r>
            <a:endParaRPr lang="en-US" sz="1600" dirty="0">
              <a:latin typeface="MiSans Medium" pitchFamily="2" charset="-122"/>
              <a:ea typeface="MiSans Medium" pitchFamily="2" charset="-122"/>
            </a:endParaRPr>
          </a:p>
        </p:txBody>
      </p:sp>
      <p:sp>
        <p:nvSpPr>
          <p:cNvPr id="5" name="Text 2"/>
          <p:cNvSpPr/>
          <p:nvPr/>
        </p:nvSpPr>
        <p:spPr>
          <a:xfrm>
            <a:off x="4568900" y="2589556"/>
            <a:ext cx="3472607" cy="235744"/>
          </a:xfrm>
          <a:prstGeom prst="rect">
            <a:avLst/>
          </a:prstGeom>
          <a:noFill/>
          <a:ln/>
        </p:spPr>
        <p:txBody>
          <a:bodyPr wrap="square" lIns="0" tIns="0" rIns="0" bIns="0" rtlCol="0" anchor="ctr"/>
          <a:lstStyle/>
          <a:p>
            <a:pPr algn="l">
              <a:lnSpc>
                <a:spcPts val="1856"/>
              </a:lnSpc>
            </a:pPr>
            <a:r>
              <a:rPr lang="en-US" sz="1600" kern="0" spc="-12" dirty="0">
                <a:solidFill>
                  <a:srgbClr val="292624"/>
                </a:solidFill>
                <a:latin typeface="MiSans Medium" pitchFamily="2" charset="-122"/>
                <a:ea typeface="MiSans Medium" pitchFamily="2" charset="-122"/>
                <a:cs typeface="MiSans" pitchFamily="34" charset="-120"/>
              </a:rPr>
              <a:t>竞争对手尝试过</a:t>
            </a:r>
            <a:endParaRPr lang="en-US" sz="1600" dirty="0">
              <a:latin typeface="MiSans Medium" pitchFamily="2" charset="-122"/>
              <a:ea typeface="MiSans Medium" pitchFamily="2" charset="-122"/>
            </a:endParaRPr>
          </a:p>
        </p:txBody>
      </p:sp>
      <p:sp>
        <p:nvSpPr>
          <p:cNvPr id="6" name="Text 3"/>
          <p:cNvSpPr/>
          <p:nvPr/>
        </p:nvSpPr>
        <p:spPr>
          <a:xfrm>
            <a:off x="357187" y="3987051"/>
            <a:ext cx="3471862" cy="235744"/>
          </a:xfrm>
          <a:prstGeom prst="rect">
            <a:avLst/>
          </a:prstGeom>
          <a:noFill/>
          <a:ln/>
        </p:spPr>
        <p:txBody>
          <a:bodyPr wrap="square" lIns="0" tIns="0" rIns="0" bIns="0" rtlCol="0" anchor="ctr"/>
          <a:lstStyle/>
          <a:p>
            <a:pPr algn="l">
              <a:lnSpc>
                <a:spcPts val="1856"/>
              </a:lnSpc>
            </a:pPr>
            <a:r>
              <a:rPr lang="en-US" sz="1600" kern="0" spc="-12" dirty="0">
                <a:solidFill>
                  <a:srgbClr val="292624"/>
                </a:solidFill>
                <a:latin typeface="MiSans Medium" pitchFamily="2" charset="-122"/>
                <a:ea typeface="MiSans Medium" pitchFamily="2" charset="-122"/>
                <a:cs typeface="MiSans" pitchFamily="34" charset="-120"/>
              </a:rPr>
              <a:t>我们去年尝试过</a:t>
            </a:r>
            <a:endParaRPr lang="en-US" sz="1600" dirty="0">
              <a:latin typeface="MiSans Medium" pitchFamily="2" charset="-122"/>
              <a:ea typeface="MiSans Medium" pitchFamily="2" charset="-122"/>
            </a:endParaRPr>
          </a:p>
        </p:txBody>
      </p:sp>
      <p:sp>
        <p:nvSpPr>
          <p:cNvPr id="7" name="Text 4"/>
          <p:cNvSpPr/>
          <p:nvPr/>
        </p:nvSpPr>
        <p:spPr>
          <a:xfrm>
            <a:off x="4568900" y="3986820"/>
            <a:ext cx="3472607" cy="235744"/>
          </a:xfrm>
          <a:prstGeom prst="rect">
            <a:avLst/>
          </a:prstGeom>
          <a:noFill/>
          <a:ln/>
        </p:spPr>
        <p:txBody>
          <a:bodyPr wrap="square" lIns="0" tIns="0" rIns="0" bIns="0" rtlCol="0" anchor="ctr"/>
          <a:lstStyle/>
          <a:p>
            <a:pPr algn="l">
              <a:lnSpc>
                <a:spcPts val="1856"/>
              </a:lnSpc>
            </a:pPr>
            <a:r>
              <a:rPr lang="en-US" sz="1600" kern="0" spc="-12" dirty="0">
                <a:solidFill>
                  <a:srgbClr val="292624"/>
                </a:solidFill>
                <a:latin typeface="MiSans Medium" pitchFamily="2" charset="-122"/>
                <a:ea typeface="MiSans Medium" pitchFamily="2" charset="-122"/>
                <a:cs typeface="MiSans" pitchFamily="34" charset="-120"/>
              </a:rPr>
              <a:t>我们接下来会尝试</a:t>
            </a:r>
            <a:endParaRPr lang="en-US" sz="1600" dirty="0">
              <a:latin typeface="MiSans Medium" pitchFamily="2" charset="-122"/>
              <a:ea typeface="MiSans Medium" pitchFamily="2" charset="-122"/>
            </a:endParaRPr>
          </a:p>
        </p:txBody>
      </p:sp>
      <p:sp>
        <p:nvSpPr>
          <p:cNvPr id="8" name="Text 5"/>
          <p:cNvSpPr/>
          <p:nvPr/>
        </p:nvSpPr>
        <p:spPr>
          <a:xfrm>
            <a:off x="366864" y="2959047"/>
            <a:ext cx="3462821" cy="359048"/>
          </a:xfrm>
          <a:prstGeom prst="rect">
            <a:avLst/>
          </a:prstGeom>
          <a:noFill/>
          <a:ln/>
        </p:spPr>
        <p:txBody>
          <a:bodyPr wrap="square" lIns="0" tIns="0" rIns="0" bIns="0" rtlCol="0" anchor="t"/>
          <a:lstStyle/>
          <a:p>
            <a:pPr>
              <a:lnSpc>
                <a:spcPts val="1414"/>
              </a:lnSpc>
            </a:pPr>
            <a:r>
              <a:rPr lang="en-US" altLang="zh-CN" sz="900" dirty="0" err="1">
                <a:solidFill>
                  <a:srgbClr val="292624">
                    <a:alpha val="75000"/>
                  </a:srgbClr>
                </a:solidFill>
                <a:latin typeface="MiSans Normal" pitchFamily="2" charset="-122"/>
                <a:ea typeface="MiSans Normal" pitchFamily="2" charset="-122"/>
                <a:cs typeface="MiSans" pitchFamily="34" charset="-120"/>
              </a:rPr>
              <a:t>我们搭建了内部看板，但它们早已过时</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我们搭建了内部看板，但它们早已过时</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我们搭建了内部看板，但它们早已过时</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sz="900" dirty="0">
                <a:solidFill>
                  <a:srgbClr val="292624">
                    <a:alpha val="75000"/>
                  </a:srgbClr>
                </a:solidFill>
                <a:latin typeface="MiSans Normal" pitchFamily="2" charset="-122"/>
                <a:ea typeface="MiSans Normal" pitchFamily="2" charset="-122"/>
                <a:cs typeface="MiSans" pitchFamily="34" charset="-120"/>
              </a:rPr>
              <a:t>。</a:t>
            </a:r>
            <a:endParaRPr lang="en-US" sz="900" dirty="0">
              <a:latin typeface="MiSans Normal" pitchFamily="2" charset="-122"/>
              <a:ea typeface="MiSans Normal" pitchFamily="2" charset="-122"/>
            </a:endParaRPr>
          </a:p>
        </p:txBody>
      </p:sp>
      <p:sp>
        <p:nvSpPr>
          <p:cNvPr id="9" name="Text 6"/>
          <p:cNvSpPr/>
          <p:nvPr/>
        </p:nvSpPr>
        <p:spPr>
          <a:xfrm>
            <a:off x="4568900" y="2958649"/>
            <a:ext cx="3472532" cy="359048"/>
          </a:xfrm>
          <a:prstGeom prst="rect">
            <a:avLst/>
          </a:prstGeom>
          <a:noFill/>
          <a:ln/>
        </p:spPr>
        <p:txBody>
          <a:bodyPr wrap="square" lIns="0" tIns="0" rIns="0" bIns="0" rtlCol="0" anchor="t"/>
          <a:lstStyle/>
          <a:p>
            <a:pPr>
              <a:lnSpc>
                <a:spcPts val="1414"/>
              </a:lnSpc>
            </a:pPr>
            <a:r>
              <a:rPr lang="en-US" altLang="zh-CN" sz="900" dirty="0" err="1">
                <a:solidFill>
                  <a:srgbClr val="292624">
                    <a:alpha val="75000"/>
                  </a:srgbClr>
                </a:solidFill>
                <a:latin typeface="MiSans Normal" pitchFamily="2" charset="-122"/>
                <a:ea typeface="MiSans Normal" pitchFamily="2" charset="-122"/>
                <a:cs typeface="MiSans" pitchFamily="34" charset="-120"/>
              </a:rPr>
              <a:t>他们把报表自动化了，却没有改变工作流</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他们把报表自动化了，却没有改变工作流</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他们把报表自动化了，却没有改变工作流</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sz="900" dirty="0">
                <a:solidFill>
                  <a:srgbClr val="292624">
                    <a:alpha val="75000"/>
                  </a:srgbClr>
                </a:solidFill>
                <a:latin typeface="MiSans Normal" pitchFamily="2" charset="-122"/>
                <a:ea typeface="MiSans Normal" pitchFamily="2" charset="-122"/>
                <a:cs typeface="MiSans" pitchFamily="34" charset="-120"/>
              </a:rPr>
              <a:t>。</a:t>
            </a:r>
            <a:endParaRPr lang="en-US" sz="900" dirty="0">
              <a:latin typeface="MiSans Normal" pitchFamily="2" charset="-122"/>
              <a:ea typeface="MiSans Normal" pitchFamily="2" charset="-122"/>
            </a:endParaRPr>
          </a:p>
        </p:txBody>
      </p:sp>
      <p:sp>
        <p:nvSpPr>
          <p:cNvPr id="10" name="Text 7"/>
          <p:cNvSpPr/>
          <p:nvPr/>
        </p:nvSpPr>
        <p:spPr>
          <a:xfrm>
            <a:off x="366864" y="4339501"/>
            <a:ext cx="3463082" cy="359048"/>
          </a:xfrm>
          <a:prstGeom prst="rect">
            <a:avLst/>
          </a:prstGeom>
          <a:noFill/>
          <a:ln/>
        </p:spPr>
        <p:txBody>
          <a:bodyPr wrap="square" lIns="0" tIns="0" rIns="0" bIns="0" rtlCol="0" anchor="t"/>
          <a:lstStyle/>
          <a:p>
            <a:pPr>
              <a:lnSpc>
                <a:spcPts val="1414"/>
              </a:lnSpc>
            </a:pPr>
            <a:r>
              <a:rPr lang="en-US" altLang="zh-CN" sz="900" dirty="0" err="1">
                <a:solidFill>
                  <a:srgbClr val="292624">
                    <a:alpha val="75000"/>
                  </a:srgbClr>
                </a:solidFill>
                <a:latin typeface="MiSans Normal" pitchFamily="2" charset="-122"/>
                <a:ea typeface="MiSans Normal" pitchFamily="2" charset="-122"/>
                <a:cs typeface="MiSans" pitchFamily="34" charset="-120"/>
              </a:rPr>
              <a:t>我们接入了一个数据源，其余系统仍彼此割裂</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我们接入了一个数据源，其余系统仍彼此割裂</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sz="900" dirty="0">
                <a:solidFill>
                  <a:srgbClr val="292624">
                    <a:alpha val="75000"/>
                  </a:srgbClr>
                </a:solidFill>
                <a:latin typeface="MiSans Normal" pitchFamily="2" charset="-122"/>
                <a:ea typeface="MiSans Normal" pitchFamily="2" charset="-122"/>
                <a:cs typeface="MiSans" pitchFamily="34" charset="-120"/>
              </a:rPr>
              <a:t>。</a:t>
            </a:r>
            <a:endParaRPr lang="en-US" sz="900" dirty="0">
              <a:latin typeface="MiSans Normal" pitchFamily="2" charset="-122"/>
              <a:ea typeface="MiSans Normal" pitchFamily="2" charset="-122"/>
            </a:endParaRPr>
          </a:p>
        </p:txBody>
      </p:sp>
      <p:sp>
        <p:nvSpPr>
          <p:cNvPr id="11" name="Text 8"/>
          <p:cNvSpPr/>
          <p:nvPr/>
        </p:nvSpPr>
        <p:spPr>
          <a:xfrm>
            <a:off x="4569150" y="4339286"/>
            <a:ext cx="3472383" cy="359048"/>
          </a:xfrm>
          <a:prstGeom prst="rect">
            <a:avLst/>
          </a:prstGeom>
          <a:noFill/>
          <a:ln/>
        </p:spPr>
        <p:txBody>
          <a:bodyPr wrap="square" lIns="0" tIns="0" rIns="0" bIns="0" rtlCol="0" anchor="t"/>
          <a:lstStyle/>
          <a:p>
            <a:pPr>
              <a:lnSpc>
                <a:spcPts val="1414"/>
              </a:lnSpc>
            </a:pPr>
            <a:r>
              <a:rPr lang="en-US" sz="900" dirty="0" err="1">
                <a:solidFill>
                  <a:srgbClr val="292624">
                    <a:alpha val="75000"/>
                  </a:srgbClr>
                </a:solidFill>
                <a:latin typeface="MiSans Normal" pitchFamily="2" charset="-122"/>
                <a:ea typeface="MiSans Normal" pitchFamily="2" charset="-122"/>
                <a:cs typeface="MiSans" pitchFamily="34" charset="-120"/>
              </a:rPr>
              <a:t>没有解决方案的每个季度</a:t>
            </a:r>
            <a:r>
              <a:rPr lang="en-US" sz="900" dirty="0">
                <a:solidFill>
                  <a:srgbClr val="292624">
                    <a:alpha val="75000"/>
                  </a:srgbClr>
                </a:solidFill>
                <a:latin typeface="MiSans Normal" pitchFamily="2" charset="-122"/>
                <a:ea typeface="MiSans Normal" pitchFamily="2" charset="-122"/>
                <a:cs typeface="MiSans" pitchFamily="34" charset="-120"/>
              </a:rPr>
              <a:t>，</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都是又一个在缺失上下文中做决策的季度</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altLang="zh-CN" sz="900" dirty="0" err="1">
                <a:solidFill>
                  <a:srgbClr val="292624">
                    <a:alpha val="75000"/>
                  </a:srgbClr>
                </a:solidFill>
                <a:latin typeface="MiSans Normal" pitchFamily="2" charset="-122"/>
                <a:ea typeface="MiSans Normal" pitchFamily="2" charset="-122"/>
                <a:cs typeface="MiSans" pitchFamily="34" charset="-120"/>
              </a:rPr>
              <a:t>都是又一个在缺失上下文中做决策的季度</a:t>
            </a:r>
            <a:r>
              <a:rPr lang="en-US" altLang="zh-CN" sz="900" dirty="0">
                <a:solidFill>
                  <a:srgbClr val="292624">
                    <a:alpha val="75000"/>
                  </a:srgbClr>
                </a:solidFill>
                <a:latin typeface="MiSans Normal" pitchFamily="2" charset="-122"/>
                <a:ea typeface="MiSans Normal" pitchFamily="2" charset="-122"/>
                <a:cs typeface="MiSans" pitchFamily="34" charset="-120"/>
              </a:rPr>
              <a:t> </a:t>
            </a:r>
            <a:r>
              <a:rPr lang="en-US" sz="900" dirty="0">
                <a:solidFill>
                  <a:srgbClr val="292624">
                    <a:alpha val="75000"/>
                  </a:srgbClr>
                </a:solidFill>
                <a:latin typeface="MiSans Normal" pitchFamily="2" charset="-122"/>
                <a:ea typeface="MiSans Normal" pitchFamily="2" charset="-122"/>
                <a:cs typeface="MiSans" pitchFamily="34" charset="-120"/>
              </a:rPr>
              <a:t>。</a:t>
            </a:r>
            <a:endParaRPr lang="en-US" sz="900" dirty="0">
              <a:latin typeface="MiSans Normal" pitchFamily="2" charset="-122"/>
              <a:ea typeface="MiSans Normal" pitchFamily="2" charset="-122"/>
            </a:endParaRPr>
          </a:p>
        </p:txBody>
      </p:sp>
      <p:sp>
        <p:nvSpPr>
          <p:cNvPr id="12" name="Shape 9"/>
          <p:cNvSpPr/>
          <p:nvPr/>
        </p:nvSpPr>
        <p:spPr>
          <a:xfrm>
            <a:off x="360287" y="2463614"/>
            <a:ext cx="3469659"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3" name="Shape 10"/>
          <p:cNvSpPr/>
          <p:nvPr/>
        </p:nvSpPr>
        <p:spPr>
          <a:xfrm>
            <a:off x="357187" y="3860614"/>
            <a:ext cx="3469659"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4" name="Shape 11"/>
          <p:cNvSpPr/>
          <p:nvPr/>
        </p:nvSpPr>
        <p:spPr>
          <a:xfrm>
            <a:off x="4572000" y="2463614"/>
            <a:ext cx="3469556"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5" name="Shape 12"/>
          <p:cNvSpPr/>
          <p:nvPr/>
        </p:nvSpPr>
        <p:spPr>
          <a:xfrm>
            <a:off x="4568900" y="3860614"/>
            <a:ext cx="3469556"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8">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4" name="Text 0"/>
          <p:cNvSpPr/>
          <p:nvPr/>
        </p:nvSpPr>
        <p:spPr>
          <a:xfrm>
            <a:off x="190499" y="239036"/>
            <a:ext cx="8715376" cy="518878"/>
          </a:xfrm>
          <a:prstGeom prst="rect">
            <a:avLst/>
          </a:prstGeom>
          <a:noFill/>
          <a:ln/>
        </p:spPr>
        <p:txBody>
          <a:bodyPr wrap="square" lIns="0" tIns="0" rIns="0" bIns="0" rtlCol="0" anchor="t"/>
          <a:lstStyle/>
          <a:p>
            <a:pPr algn="ctr">
              <a:lnSpc>
                <a:spcPts val="3218"/>
              </a:lnSpc>
            </a:pPr>
            <a:r>
              <a:rPr lang="en-US" sz="2800" kern="0" spc="-24" dirty="0" err="1">
                <a:solidFill>
                  <a:srgbClr val="FFFFFF"/>
                </a:solidFill>
                <a:latin typeface="MiSans Demibold" pitchFamily="2" charset="-122"/>
                <a:ea typeface="MiSans Demibold" pitchFamily="2" charset="-122"/>
                <a:cs typeface="MiSans" pitchFamily="34" charset="-120"/>
              </a:rPr>
              <a:t>功能对比表</a:t>
            </a:r>
            <a:endParaRPr lang="en-US" sz="2800" dirty="0">
              <a:latin typeface="MiSans Demibold" pitchFamily="2" charset="-122"/>
              <a:ea typeface="MiSans Demibold" pitchFamily="2" charset="-122"/>
            </a:endParaRPr>
          </a:p>
        </p:txBody>
      </p:sp>
      <p:sp>
        <p:nvSpPr>
          <p:cNvPr id="5" name="Text 1"/>
          <p:cNvSpPr/>
          <p:nvPr/>
        </p:nvSpPr>
        <p:spPr>
          <a:xfrm>
            <a:off x="190499" y="4645152"/>
            <a:ext cx="8715376" cy="245936"/>
          </a:xfrm>
          <a:prstGeom prst="rect">
            <a:avLst/>
          </a:prstGeom>
          <a:noFill/>
          <a:ln/>
        </p:spPr>
        <p:txBody>
          <a:bodyPr wrap="square" lIns="0" tIns="0" rIns="0" bIns="0" rtlCol="0" anchor="t"/>
          <a:lstStyle/>
          <a:p>
            <a:pPr algn="ctr">
              <a:lnSpc>
                <a:spcPts val="1414"/>
              </a:lnSpc>
            </a:pPr>
            <a:r>
              <a:rPr lang="en-US" sz="900" spc="300" dirty="0">
                <a:solidFill>
                  <a:srgbClr val="F7F8F3"/>
                </a:solidFill>
                <a:latin typeface="MiSans Light" pitchFamily="2" charset="-122"/>
                <a:ea typeface="MiSans Light" pitchFamily="2" charset="-122"/>
                <a:cs typeface="MiSans" pitchFamily="34" charset="-120"/>
              </a:rPr>
              <a:t>用一句话描述一个绝妙到让全场惊呼"我们需要它！"的功能</a:t>
            </a:r>
            <a:endParaRPr lang="en-US" sz="900" spc="300" dirty="0">
              <a:latin typeface="MiSans Light" pitchFamily="2" charset="-122"/>
              <a:ea typeface="MiSans Light" pitchFamily="2" charset="-122"/>
            </a:endParaRPr>
          </a:p>
        </p:txBody>
      </p:sp>
      <p:graphicFrame>
        <p:nvGraphicFramePr>
          <p:cNvPr id="2" name="Table 0">
            <a:extLst>
              <a:ext uri="{FF2B5EF4-FFF2-40B4-BE49-F238E27FC236}">
                <a16:creationId xmlns:a16="http://schemas.microsoft.com/office/drawing/2014/main" id="{478C376D-9F23-0F33-F5D9-18F8F05CD66C}"/>
              </a:ext>
            </a:extLst>
          </p:cNvPr>
          <p:cNvGraphicFramePr>
            <a:graphicFrameLocks noGrp="1"/>
          </p:cNvGraphicFramePr>
          <p:nvPr>
            <p:extLst>
              <p:ext uri="{D42A27DB-BD31-4B8C-83A1-F6EECF244321}">
                <p14:modId xmlns:p14="http://schemas.microsoft.com/office/powerpoint/2010/main" val="4168479507"/>
              </p:ext>
            </p:extLst>
          </p:nvPr>
        </p:nvGraphicFramePr>
        <p:xfrm>
          <a:off x="190500" y="996950"/>
          <a:ext cx="8715376" cy="3092448"/>
        </p:xfrm>
        <a:graphic>
          <a:graphicData uri="http://schemas.openxmlformats.org/drawingml/2006/table">
            <a:tbl>
              <a:tblPr/>
              <a:tblGrid>
                <a:gridCol w="2178844">
                  <a:extLst>
                    <a:ext uri="{9D8B030D-6E8A-4147-A177-3AD203B41FA5}">
                      <a16:colId xmlns:a16="http://schemas.microsoft.com/office/drawing/2014/main" val="20000"/>
                    </a:ext>
                  </a:extLst>
                </a:gridCol>
                <a:gridCol w="2178844">
                  <a:extLst>
                    <a:ext uri="{9D8B030D-6E8A-4147-A177-3AD203B41FA5}">
                      <a16:colId xmlns:a16="http://schemas.microsoft.com/office/drawing/2014/main" val="20001"/>
                    </a:ext>
                  </a:extLst>
                </a:gridCol>
                <a:gridCol w="2178844">
                  <a:extLst>
                    <a:ext uri="{9D8B030D-6E8A-4147-A177-3AD203B41FA5}">
                      <a16:colId xmlns:a16="http://schemas.microsoft.com/office/drawing/2014/main" val="20002"/>
                    </a:ext>
                  </a:extLst>
                </a:gridCol>
                <a:gridCol w="2178844">
                  <a:extLst>
                    <a:ext uri="{9D8B030D-6E8A-4147-A177-3AD203B41FA5}">
                      <a16:colId xmlns:a16="http://schemas.microsoft.com/office/drawing/2014/main" val="20003"/>
                    </a:ext>
                  </a:extLst>
                </a:gridCol>
              </a:tblGrid>
              <a:tr h="515408">
                <a:tc>
                  <a:txBody>
                    <a:bodyPr/>
                    <a:lstStyle/>
                    <a:p>
                      <a:pPr algn="ctr"/>
                      <a:r>
                        <a:rPr lang="en-US" sz="1000" b="1" i="0" dirty="0">
                          <a:solidFill>
                            <a:schemeClr val="bg1">
                              <a:lumMod val="95000"/>
                            </a:schemeClr>
                          </a:solidFill>
                          <a:latin typeface="MiSans" pitchFamily="2" charset="-122"/>
                          <a:ea typeface="MiSans" pitchFamily="2" charset="-122"/>
                          <a:cs typeface="Geist" pitchFamily="34" charset="-120"/>
                        </a:rPr>
                        <a:t>场景</a:t>
                      </a:r>
                      <a:endParaRPr lang="en-US" sz="1000" b="1" i="0" dirty="0">
                        <a:solidFill>
                          <a:schemeClr val="bg1">
                            <a:lumMod val="95000"/>
                          </a:schemeClr>
                        </a:solidFill>
                        <a:latin typeface="MiSans" pitchFamily="2" charset="-122"/>
                        <a:ea typeface="MiSans"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alpha val="9713"/>
                      </a:srgbClr>
                    </a:solidFill>
                  </a:tcPr>
                </a:tc>
                <a:tc>
                  <a:txBody>
                    <a:bodyPr/>
                    <a:lstStyle/>
                    <a:p>
                      <a:pPr algn="ctr"/>
                      <a:r>
                        <a:rPr lang="en-US" sz="1000" b="1" i="0" dirty="0">
                          <a:solidFill>
                            <a:schemeClr val="bg1">
                              <a:lumMod val="95000"/>
                            </a:schemeClr>
                          </a:solidFill>
                          <a:latin typeface="MiSans" pitchFamily="2" charset="-122"/>
                          <a:ea typeface="MiSans" pitchFamily="2" charset="-122"/>
                          <a:cs typeface="Geist" pitchFamily="34" charset="-120"/>
                        </a:rPr>
                        <a:t>传统方式</a:t>
                      </a:r>
                      <a:endParaRPr lang="en-US" sz="1000" b="1" i="0" dirty="0">
                        <a:solidFill>
                          <a:schemeClr val="bg1">
                            <a:lumMod val="95000"/>
                          </a:schemeClr>
                        </a:solidFill>
                        <a:latin typeface="MiSans" pitchFamily="2" charset="-122"/>
                        <a:ea typeface="MiSans"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alpha val="9713"/>
                      </a:srgbClr>
                    </a:solidFill>
                  </a:tcPr>
                </a:tc>
                <a:tc>
                  <a:txBody>
                    <a:bodyPr/>
                    <a:lstStyle/>
                    <a:p>
                      <a:pPr algn="ctr"/>
                      <a:r>
                        <a:rPr lang="en-US" sz="1000" b="1" i="0" dirty="0">
                          <a:solidFill>
                            <a:schemeClr val="bg1">
                              <a:lumMod val="95000"/>
                            </a:schemeClr>
                          </a:solidFill>
                          <a:latin typeface="MiSans" pitchFamily="2" charset="-122"/>
                          <a:ea typeface="MiSans" pitchFamily="2" charset="-122"/>
                          <a:cs typeface="Geist" pitchFamily="34" charset="-120"/>
                        </a:rPr>
                        <a:t>AI 辅助方式</a:t>
                      </a:r>
                      <a:endParaRPr lang="en-US" sz="1000" b="1" i="0" dirty="0">
                        <a:solidFill>
                          <a:schemeClr val="bg1">
                            <a:lumMod val="95000"/>
                          </a:schemeClr>
                        </a:solidFill>
                        <a:latin typeface="MiSans" pitchFamily="2" charset="-122"/>
                        <a:ea typeface="MiSans"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alpha val="9713"/>
                      </a:srgbClr>
                    </a:solidFill>
                  </a:tcPr>
                </a:tc>
                <a:tc>
                  <a:txBody>
                    <a:bodyPr/>
                    <a:lstStyle/>
                    <a:p>
                      <a:pPr algn="ctr"/>
                      <a:r>
                        <a:rPr lang="en-US" sz="1000" b="1" i="0" dirty="0">
                          <a:solidFill>
                            <a:schemeClr val="bg1">
                              <a:lumMod val="95000"/>
                            </a:schemeClr>
                          </a:solidFill>
                          <a:latin typeface="MiSans" pitchFamily="2" charset="-122"/>
                          <a:ea typeface="MiSans" pitchFamily="2" charset="-122"/>
                          <a:cs typeface="Geist" pitchFamily="34" charset="-120"/>
                        </a:rPr>
                        <a:t>提效价值</a:t>
                      </a:r>
                      <a:endParaRPr lang="en-US" sz="1000" b="1" i="0" dirty="0">
                        <a:solidFill>
                          <a:schemeClr val="bg1">
                            <a:lumMod val="95000"/>
                          </a:schemeClr>
                        </a:solidFill>
                        <a:latin typeface="MiSans" pitchFamily="2" charset="-122"/>
                        <a:ea typeface="MiSans"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alpha val="9713"/>
                      </a:srgbClr>
                    </a:solidFill>
                  </a:tcPr>
                </a:tc>
                <a:extLst>
                  <a:ext uri="{0D108BD9-81ED-4DB2-BD59-A6C34878D82A}">
                    <a16:rowId xmlns:a16="http://schemas.microsoft.com/office/drawing/2014/main" val="10000"/>
                  </a:ext>
                </a:extLst>
              </a:tr>
              <a:tr h="515408">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会议纪要</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人工记录整理</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自动转写与摘要</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节省整理时间</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5408">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市场调研</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手动搜索资料</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快速汇总多来源信息</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提升信息密度</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5408">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文案撰写</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从零起草</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先生成初稿再修改</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降低启动成本</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5408">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数据分析</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手动筛选图表</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自动提炼趋势与异常</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辅助判断</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15408">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知识管理</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依赖个人经验查找</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知识库问答与自动归档</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0" i="0" dirty="0">
                          <a:solidFill>
                            <a:schemeClr val="bg1">
                              <a:lumMod val="95000"/>
                            </a:schemeClr>
                          </a:solidFill>
                          <a:latin typeface="MiSans Light" pitchFamily="2" charset="-122"/>
                          <a:ea typeface="MiSans Light" pitchFamily="2" charset="-122"/>
                          <a:cs typeface="Geist" pitchFamily="34" charset="-120"/>
                        </a:rPr>
                        <a:t>提高复用率</a:t>
                      </a:r>
                      <a:endParaRPr lang="en-US" sz="900" b="0" i="0" dirty="0">
                        <a:solidFill>
                          <a:schemeClr val="bg1">
                            <a:lumMod val="95000"/>
                          </a:schemeClr>
                        </a:solidFill>
                        <a:latin typeface="MiSans Light" pitchFamily="2" charset="-122"/>
                        <a:ea typeface="MiSans Light" pitchFamily="2" charset="-122"/>
                        <a:cs typeface="Geist" charset="0"/>
                      </a:endParaRPr>
                    </a:p>
                  </a:txBody>
                  <a:tcPr marL="57150" marR="57150" marT="57150" marB="5715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A7979052-367C-E63B-FBCA-478E1DED0BFC}"/>
              </a:ext>
            </a:extLst>
          </p:cNvPr>
          <p:cNvSpPr/>
          <p:nvPr/>
        </p:nvSpPr>
        <p:spPr>
          <a:xfrm>
            <a:off x="368901" y="367771"/>
            <a:ext cx="2381250" cy="767872"/>
          </a:xfrm>
          <a:prstGeom prst="rect">
            <a:avLst/>
          </a:prstGeom>
          <a:noFill/>
          <a:ln/>
        </p:spPr>
        <p:txBody>
          <a:bodyPr wrap="square" lIns="0" tIns="0" rIns="0" bIns="0" rtlCol="0" anchor="t"/>
          <a:lstStyle/>
          <a:p>
            <a:pPr algn="l"/>
            <a:r>
              <a:rPr lang="en-US" sz="5400" kern="0" spc="-48" dirty="0">
                <a:solidFill>
                  <a:srgbClr val="2F5745"/>
                </a:solidFill>
                <a:latin typeface="MiSans Semibold" pitchFamily="2" charset="-122"/>
                <a:ea typeface="MiSans Semibold" pitchFamily="2" charset="-122"/>
                <a:cs typeface="Geist" pitchFamily="34" charset="-120"/>
              </a:rPr>
              <a:t>72%</a:t>
            </a:r>
            <a:endParaRPr lang="en-US" sz="5400" dirty="0">
              <a:solidFill>
                <a:srgbClr val="2F5745"/>
              </a:solidFill>
              <a:latin typeface="MiSans Semibold" pitchFamily="2" charset="-122"/>
              <a:ea typeface="MiSans Semibold" pitchFamily="2" charset="-122"/>
            </a:endParaRPr>
          </a:p>
        </p:txBody>
      </p:sp>
      <p:sp>
        <p:nvSpPr>
          <p:cNvPr id="17" name="Text 5">
            <a:extLst>
              <a:ext uri="{FF2B5EF4-FFF2-40B4-BE49-F238E27FC236}">
                <a16:creationId xmlns:a16="http://schemas.microsoft.com/office/drawing/2014/main" id="{0A911260-8543-4E51-0EB4-B03F7CD8AED4}"/>
              </a:ext>
            </a:extLst>
          </p:cNvPr>
          <p:cNvSpPr/>
          <p:nvPr/>
        </p:nvSpPr>
        <p:spPr>
          <a:xfrm>
            <a:off x="368596" y="2571750"/>
            <a:ext cx="3064152" cy="1796631"/>
          </a:xfrm>
          <a:prstGeom prst="rect">
            <a:avLst/>
          </a:prstGeom>
          <a:noFill/>
          <a:ln/>
        </p:spPr>
        <p:txBody>
          <a:bodyPr wrap="square" lIns="0" tIns="0" rIns="0" bIns="0" rtlCol="0" anchor="b"/>
          <a:lstStyle/>
          <a:p>
            <a:pPr algn="l">
              <a:lnSpc>
                <a:spcPts val="1550"/>
              </a:lnSpc>
            </a:pPr>
            <a:r>
              <a:rPr lang="en-US" sz="900" dirty="0">
                <a:solidFill>
                  <a:srgbClr val="292624">
                    <a:alpha val="75000"/>
                  </a:srgbClr>
                </a:solidFill>
                <a:latin typeface="MiSans Normal" pitchFamily="2" charset="-122"/>
                <a:ea typeface="MiSans Normal" pitchFamily="2" charset="-122"/>
              </a:rPr>
              <a:t>麦肯锡全球调研显示，72% 的受访组织已在至少一个业务职能中使用 AI。AI </a:t>
            </a:r>
            <a:r>
              <a:rPr lang="en-US" sz="900" dirty="0" err="1">
                <a:solidFill>
                  <a:srgbClr val="292624">
                    <a:alpha val="75000"/>
                  </a:srgbClr>
                </a:solidFill>
                <a:latin typeface="MiSans Normal" pitchFamily="2" charset="-122"/>
                <a:ea typeface="MiSans Normal" pitchFamily="2" charset="-122"/>
              </a:rPr>
              <a:t>不再只是技术团队的工具，而正在进入营销、产品、IT、运营与管理决策等日常工作场景</a:t>
            </a:r>
            <a:r>
              <a:rPr lang="en-US" sz="900" dirty="0">
                <a:solidFill>
                  <a:srgbClr val="292624">
                    <a:alpha val="75000"/>
                  </a:srgbClr>
                </a:solidFill>
                <a:latin typeface="MiSans Normal" pitchFamily="2" charset="-122"/>
                <a:ea typeface="MiSans Normal" pitchFamily="2" charset="-122"/>
              </a:rPr>
              <a:t>。</a:t>
            </a:r>
          </a:p>
          <a:p>
            <a:pPr algn="l">
              <a:lnSpc>
                <a:spcPts val="1550"/>
              </a:lnSpc>
            </a:pPr>
            <a:r>
              <a:rPr lang="en-US" sz="900" dirty="0">
                <a:solidFill>
                  <a:srgbClr val="292624">
                    <a:alpha val="75000"/>
                  </a:srgbClr>
                </a:solidFill>
                <a:latin typeface="MiSans Normal" pitchFamily="2" charset="-122"/>
                <a:ea typeface="MiSans Normal" pitchFamily="2" charset="-122"/>
              </a:rPr>
              <a:t>AI 采用已经过了尝鲜期，但真正深入多职能协同的组织还在少数。Source: McKinsey Global Survey on AI, 2024</a:t>
            </a:r>
          </a:p>
        </p:txBody>
      </p:sp>
      <p:sp>
        <p:nvSpPr>
          <p:cNvPr id="18" name="Text 6">
            <a:extLst>
              <a:ext uri="{FF2B5EF4-FFF2-40B4-BE49-F238E27FC236}">
                <a16:creationId xmlns:a16="http://schemas.microsoft.com/office/drawing/2014/main" id="{77B004B9-9E08-B31E-0545-CC6DF752DD38}"/>
              </a:ext>
            </a:extLst>
          </p:cNvPr>
          <p:cNvSpPr/>
          <p:nvPr/>
        </p:nvSpPr>
        <p:spPr>
          <a:xfrm>
            <a:off x="4972044" y="1135643"/>
            <a:ext cx="3266700" cy="84789"/>
          </a:xfrm>
          <a:prstGeom prst="rect">
            <a:avLst/>
          </a:prstGeom>
          <a:noFill/>
          <a:ln/>
        </p:spPr>
        <p:txBody>
          <a:bodyPr wrap="square" lIns="0" tIns="0" rIns="0" bIns="0" rtlCol="0" anchor="t"/>
          <a:lstStyle/>
          <a:p>
            <a:pPr algn="ctr">
              <a:lnSpc>
                <a:spcPts val="844"/>
              </a:lnSpc>
            </a:pPr>
            <a:r>
              <a:rPr lang="en-US" sz="700" kern="0" spc="-24" dirty="0">
                <a:solidFill>
                  <a:srgbClr val="292624"/>
                </a:solidFill>
                <a:latin typeface="MiSans Medium" pitchFamily="2" charset="-122"/>
                <a:ea typeface="MiSans Medium" pitchFamily="2" charset="-122"/>
                <a:cs typeface="Geist Mono" pitchFamily="34" charset="-120"/>
              </a:rPr>
              <a:t>ADOPTION DEPTH / 采用深度</a:t>
            </a:r>
            <a:endParaRPr lang="en-US" sz="675" dirty="0">
              <a:solidFill>
                <a:srgbClr val="292624"/>
              </a:solidFill>
              <a:latin typeface="MiSans Medium" pitchFamily="2" charset="-122"/>
              <a:ea typeface="MiSans Medium" pitchFamily="2" charset="-122"/>
            </a:endParaRPr>
          </a:p>
        </p:txBody>
      </p:sp>
      <p:graphicFrame>
        <p:nvGraphicFramePr>
          <p:cNvPr id="19" name="Chart 0">
            <a:extLst>
              <a:ext uri="{FF2B5EF4-FFF2-40B4-BE49-F238E27FC236}">
                <a16:creationId xmlns:a16="http://schemas.microsoft.com/office/drawing/2014/main" id="{4F445721-14E7-81A9-2899-9E319B4E6D82}"/>
              </a:ext>
            </a:extLst>
          </p:cNvPr>
          <p:cNvGraphicFramePr/>
          <p:nvPr>
            <p:extLst>
              <p:ext uri="{D42A27DB-BD31-4B8C-83A1-F6EECF244321}">
                <p14:modId xmlns:p14="http://schemas.microsoft.com/office/powerpoint/2010/main" val="2427339112"/>
              </p:ext>
            </p:extLst>
          </p:nvPr>
        </p:nvGraphicFramePr>
        <p:xfrm>
          <a:off x="4324350" y="1381125"/>
          <a:ext cx="4629138" cy="3286125"/>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
            <a:extLst>
              <a:ext uri="{FF2B5EF4-FFF2-40B4-BE49-F238E27FC236}">
                <a16:creationId xmlns:a16="http://schemas.microsoft.com/office/drawing/2014/main" id="{84A344A7-2F78-DFD6-573F-4EF056D7382C}"/>
              </a:ext>
            </a:extLst>
          </p:cNvPr>
          <p:cNvSpPr/>
          <p:nvPr/>
        </p:nvSpPr>
        <p:spPr>
          <a:xfrm>
            <a:off x="357187" y="1220432"/>
            <a:ext cx="3075561" cy="653337"/>
          </a:xfrm>
          <a:prstGeom prst="rect">
            <a:avLst/>
          </a:prstGeom>
          <a:noFill/>
          <a:ln/>
        </p:spPr>
        <p:txBody>
          <a:bodyPr wrap="square" lIns="0" tIns="0" rIns="0" bIns="0" rtlCol="0" anchor="t"/>
          <a:lstStyle/>
          <a:p>
            <a:pPr algn="l">
              <a:lnSpc>
                <a:spcPts val="1856"/>
              </a:lnSpc>
            </a:pPr>
            <a:r>
              <a:rPr lang="en-US" sz="1600" kern="0" spc="-12" dirty="0">
                <a:solidFill>
                  <a:srgbClr val="292624"/>
                </a:solidFill>
                <a:latin typeface="MiSans Medium" pitchFamily="2" charset="-122"/>
                <a:ea typeface="MiSans Medium" pitchFamily="2" charset="-122"/>
                <a:cs typeface="MiSans" pitchFamily="34" charset="-120"/>
              </a:rPr>
              <a:t>AI</a:t>
            </a:r>
            <a:r>
              <a:rPr lang="zh-CN" altLang="en-US" sz="1600" kern="0" spc="-12" dirty="0">
                <a:solidFill>
                  <a:srgbClr val="292624"/>
                </a:solidFill>
                <a:latin typeface="MiSans Medium" pitchFamily="2" charset="-122"/>
                <a:ea typeface="MiSans Medium" pitchFamily="2" charset="-122"/>
                <a:cs typeface="MiSans" pitchFamily="34" charset="-120"/>
              </a:rPr>
              <a:t> 已经进入主流工作流</a:t>
            </a:r>
            <a:endParaRPr lang="en-US" sz="1600" dirty="0">
              <a:latin typeface="MiSans Medium" pitchFamily="2" charset="-122"/>
              <a:ea typeface="MiSans Medium" pitchFamily="2" charset="-122"/>
            </a:endParaRPr>
          </a:p>
        </p:txBody>
      </p:sp>
    </p:spTree>
    <p:extLst>
      <p:ext uri="{BB962C8B-B14F-4D97-AF65-F5344CB8AC3E}">
        <p14:creationId xmlns:p14="http://schemas.microsoft.com/office/powerpoint/2010/main" val="2969831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2" name="Text 0">
            <a:extLst>
              <a:ext uri="{FF2B5EF4-FFF2-40B4-BE49-F238E27FC236}">
                <a16:creationId xmlns:a16="http://schemas.microsoft.com/office/drawing/2014/main" id="{B6FD83BE-7C31-789E-7030-F8A2A733CDB5}"/>
              </a:ext>
            </a:extLst>
          </p:cNvPr>
          <p:cNvSpPr/>
          <p:nvPr/>
        </p:nvSpPr>
        <p:spPr>
          <a:xfrm>
            <a:off x="422529" y="367771"/>
            <a:ext cx="4214813" cy="11371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3418"/>
              </a:lnSpc>
            </a:pPr>
            <a:r>
              <a:rPr lang="en-US" sz="2800" kern="0" spc="-24" dirty="0" err="1">
                <a:solidFill>
                  <a:srgbClr val="FFFFFF"/>
                </a:solidFill>
                <a:latin typeface="MiSans Demibold" pitchFamily="2" charset="-122"/>
                <a:ea typeface="MiSans Demibold" pitchFamily="2" charset="-122"/>
              </a:rPr>
              <a:t>迄今为止，为解决</a:t>
            </a:r>
            <a:endParaRPr lang="en-US" sz="2800" kern="0" spc="-24" dirty="0">
              <a:solidFill>
                <a:srgbClr val="FFFFFF"/>
              </a:solidFill>
              <a:latin typeface="MiSans Demibold" pitchFamily="2" charset="-122"/>
              <a:ea typeface="MiSans Demibold" pitchFamily="2" charset="-122"/>
            </a:endParaRPr>
          </a:p>
          <a:p>
            <a:pPr>
              <a:lnSpc>
                <a:spcPts val="3418"/>
              </a:lnSpc>
            </a:pPr>
            <a:r>
              <a:rPr lang="en-US" sz="2800" kern="0" spc="-24" dirty="0" err="1">
                <a:solidFill>
                  <a:srgbClr val="FFFFFF"/>
                </a:solidFill>
                <a:latin typeface="MiSans Demibold" pitchFamily="2" charset="-122"/>
                <a:ea typeface="MiSans Demibold" pitchFamily="2" charset="-122"/>
              </a:rPr>
              <a:t>这一问题做过的</a:t>
            </a:r>
            <a:r>
              <a:rPr lang="zh-CN" altLang="en-US" sz="2800" kern="0" spc="-24" dirty="0">
                <a:solidFill>
                  <a:srgbClr val="FFFFFF"/>
                </a:solidFill>
                <a:latin typeface="MiSans Demibold" pitchFamily="2" charset="-122"/>
                <a:ea typeface="MiSans Demibold" pitchFamily="2" charset="-122"/>
              </a:rPr>
              <a:t> </a:t>
            </a:r>
            <a:r>
              <a:rPr lang="en-US" sz="2800" kern="0" spc="-24" dirty="0" err="1">
                <a:solidFill>
                  <a:srgbClr val="FFFFFF"/>
                </a:solidFill>
                <a:latin typeface="MiSans Demibold" pitchFamily="2" charset="-122"/>
                <a:ea typeface="MiSans Demibold" pitchFamily="2" charset="-122"/>
              </a:rPr>
              <a:t>尝试</a:t>
            </a:r>
            <a:endParaRPr lang="en-US" sz="2800" kern="0" spc="-24" dirty="0">
              <a:solidFill>
                <a:srgbClr val="FFFFFF"/>
              </a:solidFill>
              <a:latin typeface="MiSans Demibold" pitchFamily="2" charset="-122"/>
              <a:ea typeface="MiSans Demibold" pitchFamily="2" charset="-122"/>
            </a:endParaRPr>
          </a:p>
        </p:txBody>
      </p:sp>
      <p:sp>
        <p:nvSpPr>
          <p:cNvPr id="17" name="Text 1">
            <a:extLst>
              <a:ext uri="{FF2B5EF4-FFF2-40B4-BE49-F238E27FC236}">
                <a16:creationId xmlns:a16="http://schemas.microsoft.com/office/drawing/2014/main" id="{686013E6-5F87-5D5A-7889-0C38A6F216E6}"/>
              </a:ext>
            </a:extLst>
          </p:cNvPr>
          <p:cNvSpPr/>
          <p:nvPr/>
        </p:nvSpPr>
        <p:spPr>
          <a:xfrm>
            <a:off x="422529" y="2666725"/>
            <a:ext cx="3472569" cy="235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56"/>
              </a:lnSpc>
            </a:pPr>
            <a:r>
              <a:rPr lang="en-US" sz="1600" kern="0" spc="-12" dirty="0">
                <a:solidFill>
                  <a:srgbClr val="FFFFFF"/>
                </a:solidFill>
                <a:latin typeface="MiSans Medium" pitchFamily="2" charset="-122"/>
                <a:ea typeface="MiSans Medium" pitchFamily="2" charset="-122"/>
                <a:cs typeface="MiSans" pitchFamily="34" charset="-120"/>
              </a:rPr>
              <a:t>团队尝试过</a:t>
            </a:r>
            <a:endParaRPr lang="en-US" sz="1600" dirty="0">
              <a:solidFill>
                <a:srgbClr val="FFFFFF"/>
              </a:solidFill>
              <a:latin typeface="MiSans Medium" pitchFamily="2" charset="-122"/>
              <a:ea typeface="MiSans Medium" pitchFamily="2" charset="-122"/>
            </a:endParaRPr>
          </a:p>
        </p:txBody>
      </p:sp>
      <p:sp>
        <p:nvSpPr>
          <p:cNvPr id="18" name="Text 2">
            <a:extLst>
              <a:ext uri="{FF2B5EF4-FFF2-40B4-BE49-F238E27FC236}">
                <a16:creationId xmlns:a16="http://schemas.microsoft.com/office/drawing/2014/main" id="{6489A20A-8502-4170-8C76-B44DEFBD4193}"/>
              </a:ext>
            </a:extLst>
          </p:cNvPr>
          <p:cNvSpPr/>
          <p:nvPr/>
        </p:nvSpPr>
        <p:spPr>
          <a:xfrm>
            <a:off x="4634242" y="2666736"/>
            <a:ext cx="3472607" cy="235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56"/>
              </a:lnSpc>
            </a:pPr>
            <a:r>
              <a:rPr lang="en-US" sz="1600" kern="0" spc="-12" dirty="0">
                <a:solidFill>
                  <a:srgbClr val="FFFFFF"/>
                </a:solidFill>
                <a:latin typeface="MiSans Medium" pitchFamily="2" charset="-122"/>
                <a:ea typeface="MiSans Medium" pitchFamily="2" charset="-122"/>
                <a:cs typeface="MiSans" pitchFamily="34" charset="-120"/>
              </a:rPr>
              <a:t>竞争对手尝试过</a:t>
            </a:r>
            <a:endParaRPr lang="en-US" sz="1600" dirty="0">
              <a:solidFill>
                <a:srgbClr val="FFFFFF"/>
              </a:solidFill>
              <a:latin typeface="MiSans Medium" pitchFamily="2" charset="-122"/>
              <a:ea typeface="MiSans Medium" pitchFamily="2" charset="-122"/>
            </a:endParaRPr>
          </a:p>
        </p:txBody>
      </p:sp>
      <p:sp>
        <p:nvSpPr>
          <p:cNvPr id="19" name="Text 3">
            <a:extLst>
              <a:ext uri="{FF2B5EF4-FFF2-40B4-BE49-F238E27FC236}">
                <a16:creationId xmlns:a16="http://schemas.microsoft.com/office/drawing/2014/main" id="{416E6722-1F5E-FC45-6FB2-8B48C2AADC51}"/>
              </a:ext>
            </a:extLst>
          </p:cNvPr>
          <p:cNvSpPr/>
          <p:nvPr/>
        </p:nvSpPr>
        <p:spPr>
          <a:xfrm>
            <a:off x="422529" y="4064231"/>
            <a:ext cx="3471862" cy="235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56"/>
              </a:lnSpc>
            </a:pPr>
            <a:r>
              <a:rPr lang="en-US" sz="1600" kern="0" spc="-12" dirty="0">
                <a:solidFill>
                  <a:srgbClr val="FFFFFF"/>
                </a:solidFill>
                <a:latin typeface="MiSans Medium" pitchFamily="2" charset="-122"/>
                <a:ea typeface="MiSans Medium" pitchFamily="2" charset="-122"/>
                <a:cs typeface="MiSans" pitchFamily="34" charset="-120"/>
              </a:rPr>
              <a:t>我们去年尝试过</a:t>
            </a:r>
            <a:endParaRPr lang="en-US" sz="1600" dirty="0">
              <a:solidFill>
                <a:srgbClr val="FFFFFF"/>
              </a:solidFill>
              <a:latin typeface="MiSans Medium" pitchFamily="2" charset="-122"/>
              <a:ea typeface="MiSans Medium" pitchFamily="2" charset="-122"/>
            </a:endParaRPr>
          </a:p>
        </p:txBody>
      </p:sp>
      <p:sp>
        <p:nvSpPr>
          <p:cNvPr id="20" name="Text 4">
            <a:extLst>
              <a:ext uri="{FF2B5EF4-FFF2-40B4-BE49-F238E27FC236}">
                <a16:creationId xmlns:a16="http://schemas.microsoft.com/office/drawing/2014/main" id="{359D6257-EB2A-BD04-C20E-B1A3DD89A993}"/>
              </a:ext>
            </a:extLst>
          </p:cNvPr>
          <p:cNvSpPr/>
          <p:nvPr/>
        </p:nvSpPr>
        <p:spPr>
          <a:xfrm>
            <a:off x="4634242" y="4064000"/>
            <a:ext cx="3472607" cy="235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56"/>
              </a:lnSpc>
            </a:pPr>
            <a:r>
              <a:rPr lang="en-US" sz="1600" kern="0" spc="-12" dirty="0">
                <a:solidFill>
                  <a:srgbClr val="FFFFFF"/>
                </a:solidFill>
                <a:latin typeface="MiSans Medium" pitchFamily="2" charset="-122"/>
                <a:ea typeface="MiSans Medium" pitchFamily="2" charset="-122"/>
                <a:cs typeface="MiSans" pitchFamily="34" charset="-120"/>
              </a:rPr>
              <a:t>我们接下来会尝试</a:t>
            </a:r>
            <a:endParaRPr lang="en-US" sz="1600" dirty="0">
              <a:solidFill>
                <a:srgbClr val="FFFFFF"/>
              </a:solidFill>
              <a:latin typeface="MiSans Medium" pitchFamily="2" charset="-122"/>
              <a:ea typeface="MiSans Medium" pitchFamily="2" charset="-122"/>
            </a:endParaRPr>
          </a:p>
        </p:txBody>
      </p:sp>
      <p:sp>
        <p:nvSpPr>
          <p:cNvPr id="21" name="Text 5">
            <a:extLst>
              <a:ext uri="{FF2B5EF4-FFF2-40B4-BE49-F238E27FC236}">
                <a16:creationId xmlns:a16="http://schemas.microsoft.com/office/drawing/2014/main" id="{41551148-0877-C28E-8331-F7A37D5E58E7}"/>
              </a:ext>
            </a:extLst>
          </p:cNvPr>
          <p:cNvSpPr/>
          <p:nvPr/>
        </p:nvSpPr>
        <p:spPr>
          <a:xfrm>
            <a:off x="432206" y="3036227"/>
            <a:ext cx="3462821" cy="3590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14"/>
              </a:lnSpc>
            </a:pPr>
            <a:r>
              <a:rPr lang="en-US" altLang="zh-CN" sz="900" dirty="0" err="1">
                <a:solidFill>
                  <a:srgbClr val="FFFFFF"/>
                </a:solidFill>
                <a:latin typeface="MiSans Light" pitchFamily="2" charset="-122"/>
                <a:ea typeface="MiSans Light" pitchFamily="2" charset="-122"/>
                <a:cs typeface="MiSans" pitchFamily="34" charset="-120"/>
              </a:rPr>
              <a:t>我们搭建了内部看板，但它们早已过时</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我们搭建了内部看板，但它们早已过时</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我们搭建了内部看板，但它们早已过时</a:t>
            </a:r>
            <a:r>
              <a:rPr lang="en-US" altLang="zh-CN" sz="900" dirty="0">
                <a:solidFill>
                  <a:srgbClr val="FFFFFF"/>
                </a:solidFill>
                <a:latin typeface="MiSans Light" pitchFamily="2" charset="-122"/>
                <a:ea typeface="MiSans Light" pitchFamily="2" charset="-122"/>
                <a:cs typeface="MiSans" pitchFamily="34" charset="-120"/>
              </a:rPr>
              <a:t> </a:t>
            </a:r>
            <a:r>
              <a:rPr lang="en-US" sz="900" dirty="0">
                <a:solidFill>
                  <a:srgbClr val="FFFFFF"/>
                </a:solidFill>
                <a:latin typeface="MiSans Light" pitchFamily="2" charset="-122"/>
                <a:ea typeface="MiSans Light" pitchFamily="2" charset="-122"/>
                <a:cs typeface="MiSans" pitchFamily="34" charset="-120"/>
              </a:rPr>
              <a:t>。</a:t>
            </a:r>
            <a:endParaRPr lang="en-US" sz="900" dirty="0">
              <a:solidFill>
                <a:srgbClr val="FFFFFF"/>
              </a:solidFill>
              <a:latin typeface="MiSans Light" pitchFamily="2" charset="-122"/>
              <a:ea typeface="MiSans Light" pitchFamily="2" charset="-122"/>
            </a:endParaRPr>
          </a:p>
        </p:txBody>
      </p:sp>
      <p:sp>
        <p:nvSpPr>
          <p:cNvPr id="22" name="Text 6">
            <a:extLst>
              <a:ext uri="{FF2B5EF4-FFF2-40B4-BE49-F238E27FC236}">
                <a16:creationId xmlns:a16="http://schemas.microsoft.com/office/drawing/2014/main" id="{6AF4A057-BDEE-18B8-F6BB-6FB8CB81E4F3}"/>
              </a:ext>
            </a:extLst>
          </p:cNvPr>
          <p:cNvSpPr/>
          <p:nvPr/>
        </p:nvSpPr>
        <p:spPr>
          <a:xfrm>
            <a:off x="4634242" y="3035829"/>
            <a:ext cx="3472532" cy="3590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14"/>
              </a:lnSpc>
            </a:pPr>
            <a:r>
              <a:rPr lang="en-US" altLang="zh-CN" sz="900" dirty="0" err="1">
                <a:solidFill>
                  <a:srgbClr val="FFFFFF"/>
                </a:solidFill>
                <a:latin typeface="MiSans Light" pitchFamily="2" charset="-122"/>
                <a:ea typeface="MiSans Light" pitchFamily="2" charset="-122"/>
                <a:cs typeface="MiSans" pitchFamily="34" charset="-120"/>
              </a:rPr>
              <a:t>他们把报表自动化了，却没有改变工作流</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他们把报表自动化了，却没有改变工作流</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他们把报表自动化了，却没有改变工作流</a:t>
            </a:r>
            <a:r>
              <a:rPr lang="en-US" altLang="zh-CN" sz="900" dirty="0">
                <a:solidFill>
                  <a:srgbClr val="FFFFFF"/>
                </a:solidFill>
                <a:latin typeface="MiSans Light" pitchFamily="2" charset="-122"/>
                <a:ea typeface="MiSans Light" pitchFamily="2" charset="-122"/>
                <a:cs typeface="MiSans" pitchFamily="34" charset="-120"/>
              </a:rPr>
              <a:t> </a:t>
            </a:r>
            <a:r>
              <a:rPr lang="en-US" sz="900" dirty="0">
                <a:solidFill>
                  <a:srgbClr val="FFFFFF"/>
                </a:solidFill>
                <a:latin typeface="MiSans Light" pitchFamily="2" charset="-122"/>
                <a:ea typeface="MiSans Light" pitchFamily="2" charset="-122"/>
                <a:cs typeface="MiSans" pitchFamily="34" charset="-120"/>
              </a:rPr>
              <a:t>。</a:t>
            </a:r>
            <a:endParaRPr lang="en-US" sz="900" dirty="0">
              <a:solidFill>
                <a:srgbClr val="FFFFFF"/>
              </a:solidFill>
              <a:latin typeface="MiSans Light" pitchFamily="2" charset="-122"/>
              <a:ea typeface="MiSans Light" pitchFamily="2" charset="-122"/>
            </a:endParaRPr>
          </a:p>
        </p:txBody>
      </p:sp>
      <p:sp>
        <p:nvSpPr>
          <p:cNvPr id="23" name="Text 7">
            <a:extLst>
              <a:ext uri="{FF2B5EF4-FFF2-40B4-BE49-F238E27FC236}">
                <a16:creationId xmlns:a16="http://schemas.microsoft.com/office/drawing/2014/main" id="{E25E6995-E891-2A6F-0F08-878190387812}"/>
              </a:ext>
            </a:extLst>
          </p:cNvPr>
          <p:cNvSpPr/>
          <p:nvPr/>
        </p:nvSpPr>
        <p:spPr>
          <a:xfrm>
            <a:off x="432206" y="4416681"/>
            <a:ext cx="3463082" cy="3590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14"/>
              </a:lnSpc>
            </a:pPr>
            <a:r>
              <a:rPr lang="en-US" altLang="zh-CN" sz="900" dirty="0" err="1">
                <a:solidFill>
                  <a:srgbClr val="FFFFFF"/>
                </a:solidFill>
                <a:latin typeface="MiSans Light" pitchFamily="2" charset="-122"/>
                <a:ea typeface="MiSans Light" pitchFamily="2" charset="-122"/>
                <a:cs typeface="MiSans" pitchFamily="34" charset="-120"/>
              </a:rPr>
              <a:t>我们接入了一个数据源，其余系统仍彼此割裂</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我们接入了一个数据源，其余系统仍彼此割裂</a:t>
            </a:r>
            <a:r>
              <a:rPr lang="en-US" altLang="zh-CN" sz="900" dirty="0">
                <a:solidFill>
                  <a:srgbClr val="FFFFFF"/>
                </a:solidFill>
                <a:latin typeface="MiSans Light" pitchFamily="2" charset="-122"/>
                <a:ea typeface="MiSans Light" pitchFamily="2" charset="-122"/>
                <a:cs typeface="MiSans" pitchFamily="34" charset="-120"/>
              </a:rPr>
              <a:t> </a:t>
            </a:r>
            <a:r>
              <a:rPr lang="en-US" sz="900" dirty="0">
                <a:solidFill>
                  <a:srgbClr val="FFFFFF"/>
                </a:solidFill>
                <a:latin typeface="MiSans Light" pitchFamily="2" charset="-122"/>
                <a:ea typeface="MiSans Light" pitchFamily="2" charset="-122"/>
                <a:cs typeface="MiSans" pitchFamily="34" charset="-120"/>
              </a:rPr>
              <a:t>。</a:t>
            </a:r>
            <a:endParaRPr lang="en-US" sz="900" dirty="0">
              <a:solidFill>
                <a:srgbClr val="FFFFFF"/>
              </a:solidFill>
              <a:latin typeface="MiSans Light" pitchFamily="2" charset="-122"/>
              <a:ea typeface="MiSans Light" pitchFamily="2" charset="-122"/>
            </a:endParaRPr>
          </a:p>
        </p:txBody>
      </p:sp>
      <p:sp>
        <p:nvSpPr>
          <p:cNvPr id="24" name="Text 8">
            <a:extLst>
              <a:ext uri="{FF2B5EF4-FFF2-40B4-BE49-F238E27FC236}">
                <a16:creationId xmlns:a16="http://schemas.microsoft.com/office/drawing/2014/main" id="{F2604FA1-7AD0-5512-6F60-3BC60C2662D7}"/>
              </a:ext>
            </a:extLst>
          </p:cNvPr>
          <p:cNvSpPr/>
          <p:nvPr/>
        </p:nvSpPr>
        <p:spPr>
          <a:xfrm>
            <a:off x="4634492" y="4416466"/>
            <a:ext cx="3472383" cy="35904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14"/>
              </a:lnSpc>
            </a:pPr>
            <a:r>
              <a:rPr lang="en-US" sz="900" dirty="0" err="1">
                <a:solidFill>
                  <a:srgbClr val="FFFFFF"/>
                </a:solidFill>
                <a:latin typeface="MiSans Light" pitchFamily="2" charset="-122"/>
                <a:ea typeface="MiSans Light" pitchFamily="2" charset="-122"/>
                <a:cs typeface="MiSans" pitchFamily="34" charset="-120"/>
              </a:rPr>
              <a:t>没有解决方案的每个季度</a:t>
            </a:r>
            <a:r>
              <a:rPr lang="en-US" sz="900" dirty="0">
                <a:solidFill>
                  <a:srgbClr val="FFFFFF"/>
                </a:solidFill>
                <a:latin typeface="MiSans Light" pitchFamily="2" charset="-122"/>
                <a:ea typeface="MiSans Light" pitchFamily="2" charset="-122"/>
                <a:cs typeface="MiSans" pitchFamily="34" charset="-120"/>
              </a:rPr>
              <a:t>，</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都是又一个在缺失上下文中做决策的季度</a:t>
            </a:r>
            <a:r>
              <a:rPr lang="en-US" altLang="zh-CN" sz="900" dirty="0">
                <a:solidFill>
                  <a:srgbClr val="FFFFFF"/>
                </a:solidFill>
                <a:latin typeface="MiSans Light" pitchFamily="2" charset="-122"/>
                <a:ea typeface="MiSans Light" pitchFamily="2" charset="-122"/>
                <a:cs typeface="MiSans" pitchFamily="34" charset="-120"/>
              </a:rPr>
              <a:t> </a:t>
            </a:r>
            <a:r>
              <a:rPr lang="en-US" altLang="zh-CN" sz="900" dirty="0" err="1">
                <a:solidFill>
                  <a:srgbClr val="FFFFFF"/>
                </a:solidFill>
                <a:latin typeface="MiSans Light" pitchFamily="2" charset="-122"/>
                <a:ea typeface="MiSans Light" pitchFamily="2" charset="-122"/>
                <a:cs typeface="MiSans" pitchFamily="34" charset="-120"/>
              </a:rPr>
              <a:t>都是又一个在缺失上下文中做决策的季度</a:t>
            </a:r>
            <a:r>
              <a:rPr lang="en-US" altLang="zh-CN" sz="900" dirty="0">
                <a:solidFill>
                  <a:srgbClr val="FFFFFF"/>
                </a:solidFill>
                <a:latin typeface="MiSans Light" pitchFamily="2" charset="-122"/>
                <a:ea typeface="MiSans Light" pitchFamily="2" charset="-122"/>
                <a:cs typeface="MiSans" pitchFamily="34" charset="-120"/>
              </a:rPr>
              <a:t> </a:t>
            </a:r>
            <a:r>
              <a:rPr lang="en-US" sz="900" dirty="0">
                <a:solidFill>
                  <a:srgbClr val="FFFFFF"/>
                </a:solidFill>
                <a:latin typeface="MiSans Light" pitchFamily="2" charset="-122"/>
                <a:ea typeface="MiSans Light" pitchFamily="2" charset="-122"/>
                <a:cs typeface="MiSans" pitchFamily="34" charset="-120"/>
              </a:rPr>
              <a:t>。</a:t>
            </a:r>
            <a:endParaRPr lang="en-US" sz="900" dirty="0">
              <a:solidFill>
                <a:srgbClr val="FFFFFF"/>
              </a:solidFill>
              <a:latin typeface="MiSans Light" pitchFamily="2" charset="-122"/>
              <a:ea typeface="MiSans Light" pitchFamily="2" charset="-122"/>
            </a:endParaRPr>
          </a:p>
        </p:txBody>
      </p:sp>
      <p:sp>
        <p:nvSpPr>
          <p:cNvPr id="25" name="Shape 9">
            <a:extLst>
              <a:ext uri="{FF2B5EF4-FFF2-40B4-BE49-F238E27FC236}">
                <a16:creationId xmlns:a16="http://schemas.microsoft.com/office/drawing/2014/main" id="{01512DE0-8F10-B2F2-3A7C-8494E401A62B}"/>
              </a:ext>
            </a:extLst>
          </p:cNvPr>
          <p:cNvSpPr/>
          <p:nvPr/>
        </p:nvSpPr>
        <p:spPr>
          <a:xfrm>
            <a:off x="425629" y="2540794"/>
            <a:ext cx="3469659" cy="0"/>
          </a:xfrm>
          <a:prstGeom prst="line">
            <a:avLst/>
          </a:prstGeom>
          <a:solidFill>
            <a:srgbClr val="1E654D"/>
          </a:solidFill>
          <a:ln w="5292">
            <a:solidFill>
              <a:schemeClr val="bg1">
                <a:alpha val="20000"/>
              </a:schemeClr>
            </a:solidFill>
            <a:prstDash val="solid"/>
            <a:headEnd type="none"/>
            <a:tailEnd type="none"/>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srgbClr val="FFFFFF"/>
              </a:solidFill>
            </a:endParaRPr>
          </a:p>
        </p:txBody>
      </p:sp>
      <p:sp>
        <p:nvSpPr>
          <p:cNvPr id="26" name="Shape 10">
            <a:extLst>
              <a:ext uri="{FF2B5EF4-FFF2-40B4-BE49-F238E27FC236}">
                <a16:creationId xmlns:a16="http://schemas.microsoft.com/office/drawing/2014/main" id="{71403F1F-4091-DCCA-FA64-0B290992BD91}"/>
              </a:ext>
            </a:extLst>
          </p:cNvPr>
          <p:cNvSpPr/>
          <p:nvPr/>
        </p:nvSpPr>
        <p:spPr>
          <a:xfrm>
            <a:off x="422529" y="3937794"/>
            <a:ext cx="3469659" cy="0"/>
          </a:xfrm>
          <a:prstGeom prst="line">
            <a:avLst/>
          </a:prstGeom>
          <a:solidFill>
            <a:srgbClr val="1E654D"/>
          </a:solidFill>
          <a:ln w="5292">
            <a:solidFill>
              <a:schemeClr val="bg1">
                <a:alpha val="20000"/>
              </a:schemeClr>
            </a:solidFill>
            <a:prstDash val="solid"/>
            <a:headEnd type="none"/>
            <a:tailEnd type="none"/>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srgbClr val="FFFFFF"/>
              </a:solidFill>
            </a:endParaRPr>
          </a:p>
        </p:txBody>
      </p:sp>
      <p:sp>
        <p:nvSpPr>
          <p:cNvPr id="27" name="Shape 11">
            <a:extLst>
              <a:ext uri="{FF2B5EF4-FFF2-40B4-BE49-F238E27FC236}">
                <a16:creationId xmlns:a16="http://schemas.microsoft.com/office/drawing/2014/main" id="{117AD39C-1A91-4DC3-1449-28F6A7D91ADA}"/>
              </a:ext>
            </a:extLst>
          </p:cNvPr>
          <p:cNvSpPr/>
          <p:nvPr/>
        </p:nvSpPr>
        <p:spPr>
          <a:xfrm>
            <a:off x="4637342" y="2540794"/>
            <a:ext cx="3469556" cy="0"/>
          </a:xfrm>
          <a:prstGeom prst="line">
            <a:avLst/>
          </a:prstGeom>
          <a:solidFill>
            <a:srgbClr val="1E654D"/>
          </a:solidFill>
          <a:ln w="5292">
            <a:solidFill>
              <a:schemeClr val="bg1">
                <a:alpha val="20000"/>
              </a:schemeClr>
            </a:solidFill>
            <a:prstDash val="solid"/>
            <a:headEnd type="none"/>
            <a:tailEnd type="none"/>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srgbClr val="FFFFFF"/>
              </a:solidFill>
            </a:endParaRPr>
          </a:p>
        </p:txBody>
      </p:sp>
      <p:sp>
        <p:nvSpPr>
          <p:cNvPr id="28" name="Shape 12">
            <a:extLst>
              <a:ext uri="{FF2B5EF4-FFF2-40B4-BE49-F238E27FC236}">
                <a16:creationId xmlns:a16="http://schemas.microsoft.com/office/drawing/2014/main" id="{CCFEBB63-1AD5-8A0F-E9F1-0B021F50A953}"/>
              </a:ext>
            </a:extLst>
          </p:cNvPr>
          <p:cNvSpPr/>
          <p:nvPr/>
        </p:nvSpPr>
        <p:spPr>
          <a:xfrm>
            <a:off x="4634242" y="3937794"/>
            <a:ext cx="3469556" cy="0"/>
          </a:xfrm>
          <a:prstGeom prst="line">
            <a:avLst/>
          </a:prstGeom>
          <a:solidFill>
            <a:srgbClr val="1E654D"/>
          </a:solidFill>
          <a:ln w="5292">
            <a:solidFill>
              <a:schemeClr val="bg1">
                <a:alpha val="20000"/>
              </a:schemeClr>
            </a:solidFill>
            <a:prstDash val="solid"/>
            <a:headEnd type="none"/>
            <a:tailEnd type="none"/>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A5544"/>
        </a:solidFill>
        <a:effectLst/>
      </p:bgPr>
    </p:bg>
    <p:spTree>
      <p:nvGrpSpPr>
        <p:cNvPr id="1" name=""/>
        <p:cNvGrpSpPr/>
        <p:nvPr/>
      </p:nvGrpSpPr>
      <p:grpSpPr>
        <a:xfrm>
          <a:off x="0" y="0"/>
          <a:ext cx="0" cy="0"/>
          <a:chOff x="0" y="0"/>
          <a:chExt cx="0" cy="0"/>
        </a:xfrm>
      </p:grpSpPr>
      <p:sp>
        <p:nvSpPr>
          <p:cNvPr id="3" name="Text 0"/>
          <p:cNvSpPr/>
          <p:nvPr/>
        </p:nvSpPr>
        <p:spPr>
          <a:xfrm>
            <a:off x="4929530" y="2871216"/>
            <a:ext cx="3234184" cy="2034159"/>
          </a:xfrm>
          <a:prstGeom prst="rect">
            <a:avLst/>
          </a:prstGeom>
          <a:noFill/>
          <a:ln/>
        </p:spPr>
        <p:txBody>
          <a:bodyPr wrap="square" lIns="0" tIns="0" rIns="0" bIns="0" rtlCol="0" anchor="b"/>
          <a:lstStyle/>
          <a:p>
            <a:pPr marL="190500" indent="-190500" algn="l">
              <a:lnSpc>
                <a:spcPts val="1414"/>
              </a:lnSpc>
              <a:spcAft>
                <a:spcPts val="975"/>
              </a:spcAft>
              <a:buSzPct val="100000"/>
              <a:buChar char="•"/>
            </a:pPr>
            <a:r>
              <a:rPr lang="en-US" sz="1000" dirty="0">
                <a:solidFill>
                  <a:srgbClr val="F7F8F3"/>
                </a:solidFill>
                <a:latin typeface="MiSans" pitchFamily="2" charset="-122"/>
                <a:ea typeface="MiSans" pitchFamily="2" charset="-122"/>
                <a:cs typeface="MiSans" pitchFamily="34" charset="-120"/>
              </a:rPr>
              <a:t>任何人工流程或传统工具都无法复制的核心 AI 能力。</a:t>
            </a:r>
            <a:endParaRPr lang="en-US" sz="975" dirty="0">
              <a:latin typeface="MiSans" pitchFamily="2" charset="-122"/>
              <a:ea typeface="MiSans" pitchFamily="2" charset="-122"/>
            </a:endParaRPr>
          </a:p>
          <a:p>
            <a:pPr marL="190500" indent="-190500" algn="l">
              <a:lnSpc>
                <a:spcPts val="1414"/>
              </a:lnSpc>
              <a:spcAft>
                <a:spcPts val="975"/>
              </a:spcAft>
              <a:buSzPct val="100000"/>
              <a:buChar char="•"/>
            </a:pPr>
            <a:r>
              <a:rPr lang="en-US" sz="1000" dirty="0">
                <a:solidFill>
                  <a:srgbClr val="F7F8F3"/>
                </a:solidFill>
                <a:latin typeface="MiSans" pitchFamily="2" charset="-122"/>
                <a:ea typeface="MiSans" pitchFamily="2" charset="-122"/>
                <a:cs typeface="MiSans" pitchFamily="34" charset="-120"/>
              </a:rPr>
              <a:t>让落地零摩擦的集成或工作流特性。</a:t>
            </a:r>
            <a:endParaRPr lang="en-US" sz="975" dirty="0">
              <a:latin typeface="MiSans" pitchFamily="2" charset="-122"/>
              <a:ea typeface="MiSans" pitchFamily="2" charset="-122"/>
            </a:endParaRPr>
          </a:p>
          <a:p>
            <a:pPr marL="190500" indent="-190500" algn="l">
              <a:lnSpc>
                <a:spcPts val="1414"/>
              </a:lnSpc>
              <a:spcAft>
                <a:spcPts val="975"/>
              </a:spcAft>
              <a:buSzPct val="100000"/>
              <a:buChar char="•"/>
            </a:pPr>
            <a:r>
              <a:rPr lang="en-US" sz="1000" dirty="0">
                <a:solidFill>
                  <a:srgbClr val="F7F8F3"/>
                </a:solidFill>
                <a:latin typeface="MiSans" pitchFamily="2" charset="-122"/>
                <a:ea typeface="MiSans" pitchFamily="2" charset="-122"/>
                <a:cs typeface="MiSans" pitchFamily="34" charset="-120"/>
              </a:rPr>
              <a:t>用户用后第一个提到的产出或报告功能。</a:t>
            </a:r>
            <a:endParaRPr lang="en-US" sz="975" dirty="0">
              <a:latin typeface="MiSans" pitchFamily="2" charset="-122"/>
              <a:ea typeface="MiSans" pitchFamily="2" charset="-122"/>
            </a:endParaRPr>
          </a:p>
        </p:txBody>
      </p:sp>
      <p:sp>
        <p:nvSpPr>
          <p:cNvPr id="4" name="Text 1"/>
          <p:cNvSpPr/>
          <p:nvPr/>
        </p:nvSpPr>
        <p:spPr>
          <a:xfrm>
            <a:off x="4929188" y="238125"/>
            <a:ext cx="3976687" cy="408608"/>
          </a:xfrm>
          <a:prstGeom prst="rect">
            <a:avLst/>
          </a:prstGeom>
          <a:noFill/>
          <a:ln/>
        </p:spPr>
        <p:txBody>
          <a:bodyPr wrap="square" lIns="0" tIns="0" rIns="0" bIns="0" rtlCol="0" anchor="t"/>
          <a:lstStyle/>
          <a:p>
            <a:pPr algn="l">
              <a:lnSpc>
                <a:spcPts val="3218"/>
              </a:lnSpc>
            </a:pPr>
            <a:r>
              <a:rPr lang="en-US" sz="2800" kern="0" spc="-24" dirty="0">
                <a:solidFill>
                  <a:srgbClr val="FFFFFF"/>
                </a:solidFill>
                <a:latin typeface="MiSans Demibold" pitchFamily="2" charset="-122"/>
                <a:ea typeface="MiSans Demibold" pitchFamily="2" charset="-122"/>
                <a:cs typeface="MiSans" pitchFamily="34" charset="-120"/>
              </a:rPr>
              <a:t>产品名称</a:t>
            </a:r>
            <a:endParaRPr lang="en-US" sz="2800" dirty="0">
              <a:latin typeface="MiSans Demibold" pitchFamily="2" charset="-122"/>
              <a:ea typeface="MiSans Demibold" pitchFamily="2" charset="-122"/>
            </a:endParaRPr>
          </a:p>
        </p:txBody>
      </p:sp>
      <p:sp>
        <p:nvSpPr>
          <p:cNvPr id="5" name="Text 2"/>
          <p:cNvSpPr/>
          <p:nvPr/>
        </p:nvSpPr>
        <p:spPr>
          <a:xfrm>
            <a:off x="4929188" y="806268"/>
            <a:ext cx="3976687" cy="675060"/>
          </a:xfrm>
          <a:prstGeom prst="rect">
            <a:avLst/>
          </a:prstGeom>
          <a:noFill/>
          <a:ln/>
        </p:spPr>
        <p:txBody>
          <a:bodyPr wrap="square" lIns="0" tIns="0" rIns="0" bIns="0" rtlCol="0" anchor="t"/>
          <a:lstStyle/>
          <a:p>
            <a:pPr algn="l">
              <a:lnSpc>
                <a:spcPts val="1050"/>
              </a:lnSpc>
            </a:pPr>
            <a:r>
              <a:rPr lang="en-US" sz="800" kern="0" spc="120" dirty="0">
                <a:solidFill>
                  <a:srgbClr val="FFFFFF"/>
                </a:solidFill>
                <a:latin typeface="MiSans" pitchFamily="2" charset="-122"/>
                <a:ea typeface="MiSans" pitchFamily="2" charset="-122"/>
                <a:cs typeface="MiSans" pitchFamily="34" charset="-120"/>
              </a:rPr>
              <a:t>详述你的解决方案。是什么</a:t>
            </a:r>
            <a:endParaRPr lang="en-US" sz="800" dirty="0">
              <a:latin typeface="MiSans" pitchFamily="2" charset="-122"/>
              <a:ea typeface="MiSans" pitchFamily="2" charset="-122"/>
            </a:endParaRPr>
          </a:p>
          <a:p>
            <a:pPr algn="l">
              <a:lnSpc>
                <a:spcPts val="1050"/>
              </a:lnSpc>
            </a:pPr>
            <a:r>
              <a:rPr lang="en-US" sz="800" kern="0" spc="120" dirty="0">
                <a:solidFill>
                  <a:srgbClr val="FFFFFF"/>
                </a:solidFill>
                <a:latin typeface="MiSans" pitchFamily="2" charset="-122"/>
                <a:ea typeface="MiSans" pitchFamily="2" charset="-122"/>
                <a:cs typeface="MiSans" pitchFamily="34" charset="-120"/>
              </a:rPr>
              <a:t>让你的产品或服务与众不同？</a:t>
            </a:r>
            <a:endParaRPr lang="en-US" sz="800" dirty="0">
              <a:latin typeface="MiSans" pitchFamily="2" charset="-122"/>
              <a:ea typeface="MiSans" pitchFamily="2" charset="-122"/>
            </a:endParaRPr>
          </a:p>
        </p:txBody>
      </p:sp>
      <p:pic>
        <p:nvPicPr>
          <p:cNvPr id="6" name="Image 0" descr="https://pitch-assets-ccb95893-de3f-4266-973c-20049231b248.s3.eu-west-1.amazonaws.com/f6199118-61b0-49b6-88fb-3e13a3d4bc7f?pitch-bytes=1627228&amp;pitch-content-type=image%2Fpng"/>
          <p:cNvPicPr>
            <a:picLocks noChangeAspect="1"/>
          </p:cNvPicPr>
          <p:nvPr/>
        </p:nvPicPr>
        <p:blipFill>
          <a:blip r:embed="rId3"/>
          <a:srcRect t="2332" b="9240"/>
          <a:stretch/>
        </p:blipFill>
        <p:spPr>
          <a:xfrm>
            <a:off x="0" y="0"/>
            <a:ext cx="4572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247650" y="236965"/>
            <a:ext cx="2518544" cy="620051"/>
          </a:xfrm>
          <a:prstGeom prst="rect">
            <a:avLst/>
          </a:prstGeom>
          <a:noFill/>
          <a:ln/>
        </p:spPr>
        <p:txBody>
          <a:bodyPr wrap="square" lIns="0" tIns="0" rIns="0" bIns="0" rtlCol="0" anchor="t"/>
          <a:lstStyle/>
          <a:p>
            <a:pPr algn="l">
              <a:lnSpc>
                <a:spcPts val="3218"/>
              </a:lnSpc>
            </a:pPr>
            <a:r>
              <a:rPr lang="en-US" sz="2800" kern="0" spc="-24" dirty="0">
                <a:solidFill>
                  <a:srgbClr val="292624"/>
                </a:solidFill>
                <a:latin typeface="MiSans Demibold" pitchFamily="2" charset="-122"/>
                <a:ea typeface="MiSans Demibold" pitchFamily="2" charset="-122"/>
                <a:cs typeface="MiSans" pitchFamily="34" charset="-120"/>
              </a:rPr>
              <a:t>运作方式</a:t>
            </a:r>
            <a:endParaRPr lang="en-US" sz="2925" dirty="0">
              <a:latin typeface="MiSans Demibold" pitchFamily="2" charset="-122"/>
              <a:ea typeface="MiSans Demibold" pitchFamily="2" charset="-122"/>
            </a:endParaRPr>
          </a:p>
        </p:txBody>
      </p:sp>
      <p:sp>
        <p:nvSpPr>
          <p:cNvPr id="4" name="Text 1"/>
          <p:cNvSpPr/>
          <p:nvPr/>
        </p:nvSpPr>
        <p:spPr>
          <a:xfrm>
            <a:off x="980281" y="2976430"/>
            <a:ext cx="1785900" cy="235744"/>
          </a:xfrm>
          <a:prstGeom prst="rect">
            <a:avLst/>
          </a:prstGeom>
          <a:noFill/>
          <a:ln/>
        </p:spPr>
        <p:txBody>
          <a:bodyPr wrap="square" lIns="0" tIns="0" rIns="0" bIns="0" rtlCol="0" anchor="ctr"/>
          <a:lstStyle/>
          <a:p>
            <a:pPr algn="l">
              <a:lnSpc>
                <a:spcPts val="1856"/>
              </a:lnSpc>
            </a:pPr>
            <a:r>
              <a:rPr lang="en-US" sz="1700" kern="0" spc="-12" dirty="0">
                <a:solidFill>
                  <a:srgbClr val="292624"/>
                </a:solidFill>
                <a:latin typeface="MiSans Demibold" pitchFamily="2" charset="-122"/>
                <a:ea typeface="MiSans Demibold" pitchFamily="2" charset="-122"/>
                <a:cs typeface="MiSans" pitchFamily="34" charset="-120"/>
              </a:rPr>
              <a:t>01</a:t>
            </a:r>
            <a:endParaRPr lang="en-US" sz="1688" dirty="0">
              <a:latin typeface="MiSans Demibold" pitchFamily="2" charset="-122"/>
              <a:ea typeface="MiSans Demibold" pitchFamily="2" charset="-122"/>
            </a:endParaRPr>
          </a:p>
        </p:txBody>
      </p:sp>
      <p:sp>
        <p:nvSpPr>
          <p:cNvPr id="5" name="Text 2"/>
          <p:cNvSpPr/>
          <p:nvPr/>
        </p:nvSpPr>
        <p:spPr>
          <a:xfrm>
            <a:off x="980281" y="3463396"/>
            <a:ext cx="1785938" cy="1256667"/>
          </a:xfrm>
          <a:prstGeom prst="rect">
            <a:avLst/>
          </a:prstGeom>
          <a:noFill/>
          <a:ln/>
        </p:spPr>
        <p:txBody>
          <a:bodyPr wrap="square" lIns="0" tIns="0" rIns="0" bIns="0" rtlCol="0" anchor="t"/>
          <a:lstStyle/>
          <a:p>
            <a:pPr>
              <a:lnSpc>
                <a:spcPts val="1414"/>
              </a:lnSpc>
            </a:pPr>
            <a:r>
              <a:rPr lang="en-US" sz="800" dirty="0">
                <a:solidFill>
                  <a:srgbClr val="292624">
                    <a:alpha val="75000"/>
                  </a:srgbClr>
                </a:solidFill>
                <a:latin typeface="MiSans Normal" pitchFamily="2" charset="-122"/>
                <a:ea typeface="MiSans Normal" pitchFamily="2" charset="-122"/>
                <a:cs typeface="MiSans" pitchFamily="34" charset="-120"/>
              </a:rPr>
              <a:t>AI </a:t>
            </a:r>
            <a:r>
              <a:rPr lang="en-US" sz="800" dirty="0" err="1">
                <a:solidFill>
                  <a:srgbClr val="292624">
                    <a:alpha val="75000"/>
                  </a:srgbClr>
                </a:solidFill>
                <a:latin typeface="MiSans Normal" pitchFamily="2" charset="-122"/>
                <a:ea typeface="MiSans Normal" pitchFamily="2" charset="-122"/>
                <a:cs typeface="MiSans" pitchFamily="34" charset="-120"/>
              </a:rPr>
              <a:t>智能体从代码仓库、工单、文档与生产系统中收集信息</a:t>
            </a:r>
            <a:r>
              <a:rPr lang="en-US" sz="800" dirty="0">
                <a:solidFill>
                  <a:srgbClr val="292624">
                    <a:alpha val="75000"/>
                  </a:srgbClr>
                </a:solidFill>
                <a:latin typeface="MiSans Normal" pitchFamily="2" charset="-122"/>
                <a:ea typeface="MiSans Normal" pitchFamily="2" charset="-122"/>
                <a:cs typeface="MiSans" pitchFamily="34" charset="-120"/>
              </a:rPr>
              <a:t>，</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建立对任务的共同理解，减少人工收集上下文的时间</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建立对任务的共同理解，减少人工收集上下文的时间</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sz="800" dirty="0">
                <a:solidFill>
                  <a:srgbClr val="292624">
                    <a:alpha val="75000"/>
                  </a:srgbClr>
                </a:solidFill>
                <a:latin typeface="MiSans Normal" pitchFamily="2" charset="-122"/>
                <a:ea typeface="MiSans Normal" pitchFamily="2" charset="-122"/>
                <a:cs typeface="MiSans" pitchFamily="34" charset="-120"/>
              </a:rPr>
              <a:t>。</a:t>
            </a:r>
            <a:endParaRPr lang="en-US" sz="800" dirty="0">
              <a:latin typeface="MiSans Normal" pitchFamily="2" charset="-122"/>
              <a:ea typeface="MiSans Normal" pitchFamily="2" charset="-122"/>
            </a:endParaRPr>
          </a:p>
        </p:txBody>
      </p:sp>
      <p:sp>
        <p:nvSpPr>
          <p:cNvPr id="6" name="Shape 3"/>
          <p:cNvSpPr/>
          <p:nvPr/>
        </p:nvSpPr>
        <p:spPr>
          <a:xfrm rot="5400000">
            <a:off x="574851" y="2557473"/>
            <a:ext cx="4660623"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7" name="Shape 4"/>
          <p:cNvSpPr/>
          <p:nvPr/>
        </p:nvSpPr>
        <p:spPr>
          <a:xfrm rot="5400000">
            <a:off x="2614862" y="2557473"/>
            <a:ext cx="4660623"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8" name="Text 5"/>
          <p:cNvSpPr/>
          <p:nvPr/>
        </p:nvSpPr>
        <p:spPr>
          <a:xfrm>
            <a:off x="3043999" y="1388930"/>
            <a:ext cx="1762199" cy="235744"/>
          </a:xfrm>
          <a:prstGeom prst="rect">
            <a:avLst/>
          </a:prstGeom>
          <a:noFill/>
          <a:ln/>
        </p:spPr>
        <p:txBody>
          <a:bodyPr wrap="square" lIns="0" tIns="0" rIns="0" bIns="0" rtlCol="0" anchor="ctr"/>
          <a:lstStyle/>
          <a:p>
            <a:pPr algn="l">
              <a:lnSpc>
                <a:spcPts val="1856"/>
              </a:lnSpc>
            </a:pPr>
            <a:r>
              <a:rPr lang="en-US" sz="1700" kern="0" spc="-12" dirty="0">
                <a:solidFill>
                  <a:srgbClr val="292624"/>
                </a:solidFill>
                <a:latin typeface="MiSans Demibold" pitchFamily="2" charset="-122"/>
                <a:ea typeface="MiSans Demibold" pitchFamily="2" charset="-122"/>
                <a:cs typeface="MiSans" pitchFamily="34" charset="-120"/>
              </a:rPr>
              <a:t>02</a:t>
            </a:r>
            <a:endParaRPr lang="en-US" sz="1688" dirty="0">
              <a:latin typeface="MiSans Demibold" pitchFamily="2" charset="-122"/>
              <a:ea typeface="MiSans Demibold" pitchFamily="2" charset="-122"/>
            </a:endParaRPr>
          </a:p>
        </p:txBody>
      </p:sp>
      <p:sp>
        <p:nvSpPr>
          <p:cNvPr id="9" name="Text 6"/>
          <p:cNvSpPr/>
          <p:nvPr/>
        </p:nvSpPr>
        <p:spPr>
          <a:xfrm>
            <a:off x="3044105" y="1875896"/>
            <a:ext cx="1762088" cy="1256667"/>
          </a:xfrm>
          <a:prstGeom prst="rect">
            <a:avLst/>
          </a:prstGeom>
          <a:noFill/>
          <a:ln/>
        </p:spPr>
        <p:txBody>
          <a:bodyPr wrap="square" lIns="0" tIns="0" rIns="0" bIns="0" rtlCol="0" anchor="t"/>
          <a:lstStyle/>
          <a:p>
            <a:pPr>
              <a:lnSpc>
                <a:spcPts val="1414"/>
              </a:lnSpc>
            </a:pPr>
            <a:r>
              <a:rPr lang="en-US" sz="800" dirty="0" err="1">
                <a:solidFill>
                  <a:srgbClr val="292624">
                    <a:alpha val="75000"/>
                  </a:srgbClr>
                </a:solidFill>
                <a:latin typeface="MiSans Normal" pitchFamily="2" charset="-122"/>
                <a:ea typeface="MiSans Normal" pitchFamily="2" charset="-122"/>
                <a:cs typeface="MiSans" pitchFamily="34" charset="-120"/>
              </a:rPr>
              <a:t>专职智能体在规划、实现、测试与评审等工作流中协同</a:t>
            </a:r>
            <a:r>
              <a:rPr lang="en-US" sz="800" dirty="0">
                <a:solidFill>
                  <a:srgbClr val="292624">
                    <a:alpha val="75000"/>
                  </a:srgbClr>
                </a:solidFill>
                <a:latin typeface="MiSans Normal" pitchFamily="2" charset="-122"/>
                <a:ea typeface="MiSans Normal" pitchFamily="2" charset="-122"/>
                <a:cs typeface="MiSans" pitchFamily="34" charset="-120"/>
              </a:rPr>
              <a:t>，</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让人类专注于高价值决策、审批与战略方向</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让人类专注于高价值决策、审批与战略方向</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让人类专注于高价值决策、审批与战略方向</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sz="800" dirty="0">
                <a:solidFill>
                  <a:srgbClr val="292624">
                    <a:alpha val="75000"/>
                  </a:srgbClr>
                </a:solidFill>
                <a:latin typeface="MiSans Normal" pitchFamily="2" charset="-122"/>
                <a:ea typeface="MiSans Normal" pitchFamily="2" charset="-122"/>
                <a:cs typeface="MiSans" pitchFamily="34" charset="-120"/>
              </a:rPr>
              <a:t>。</a:t>
            </a:r>
            <a:endParaRPr lang="en-US" sz="800" dirty="0">
              <a:latin typeface="MiSans Normal" pitchFamily="2" charset="-122"/>
              <a:ea typeface="MiSans Normal" pitchFamily="2" charset="-122"/>
            </a:endParaRPr>
          </a:p>
        </p:txBody>
      </p:sp>
      <p:sp>
        <p:nvSpPr>
          <p:cNvPr id="10" name="Text 7"/>
          <p:cNvSpPr/>
          <p:nvPr/>
        </p:nvSpPr>
        <p:spPr>
          <a:xfrm>
            <a:off x="5084026" y="2479014"/>
            <a:ext cx="1762199" cy="235744"/>
          </a:xfrm>
          <a:prstGeom prst="rect">
            <a:avLst/>
          </a:prstGeom>
          <a:noFill/>
          <a:ln/>
        </p:spPr>
        <p:txBody>
          <a:bodyPr wrap="square" lIns="0" tIns="0" rIns="0" bIns="0" rtlCol="0" anchor="ctr"/>
          <a:lstStyle/>
          <a:p>
            <a:pPr algn="l">
              <a:lnSpc>
                <a:spcPts val="1856"/>
              </a:lnSpc>
            </a:pPr>
            <a:r>
              <a:rPr lang="en-US" sz="1700" kern="0" spc="-12" dirty="0">
                <a:solidFill>
                  <a:srgbClr val="292624"/>
                </a:solidFill>
                <a:latin typeface="MiSans Demibold" pitchFamily="2" charset="-122"/>
                <a:ea typeface="MiSans Demibold" pitchFamily="2" charset="-122"/>
                <a:cs typeface="MiSans" pitchFamily="34" charset="-120"/>
              </a:rPr>
              <a:t>03</a:t>
            </a:r>
            <a:endParaRPr lang="en-US" sz="1688" dirty="0">
              <a:latin typeface="MiSans Demibold" pitchFamily="2" charset="-122"/>
              <a:ea typeface="MiSans Demibold" pitchFamily="2" charset="-122"/>
            </a:endParaRPr>
          </a:p>
        </p:txBody>
      </p:sp>
      <p:sp>
        <p:nvSpPr>
          <p:cNvPr id="11" name="Text 8"/>
          <p:cNvSpPr/>
          <p:nvPr/>
        </p:nvSpPr>
        <p:spPr>
          <a:xfrm>
            <a:off x="5084117" y="2965979"/>
            <a:ext cx="1762125" cy="1256667"/>
          </a:xfrm>
          <a:prstGeom prst="rect">
            <a:avLst/>
          </a:prstGeom>
          <a:noFill/>
          <a:ln/>
        </p:spPr>
        <p:txBody>
          <a:bodyPr wrap="square" lIns="0" tIns="0" rIns="0" bIns="0" rtlCol="0" anchor="t"/>
          <a:lstStyle/>
          <a:p>
            <a:pPr>
              <a:lnSpc>
                <a:spcPts val="1414"/>
              </a:lnSpc>
            </a:pPr>
            <a:r>
              <a:rPr lang="en-US" sz="800" dirty="0" err="1">
                <a:solidFill>
                  <a:srgbClr val="292624">
                    <a:alpha val="75000"/>
                  </a:srgbClr>
                </a:solidFill>
                <a:latin typeface="MiSans Normal" pitchFamily="2" charset="-122"/>
                <a:ea typeface="MiSans Normal" pitchFamily="2" charset="-122"/>
                <a:cs typeface="MiSans" pitchFamily="34" charset="-120"/>
              </a:rPr>
              <a:t>智能体在整个软件开发生命周期中持续生成规格、编写代码、校验变更</a:t>
            </a:r>
            <a:r>
              <a:rPr lang="en-US" sz="800" dirty="0">
                <a:solidFill>
                  <a:srgbClr val="292624">
                    <a:alpha val="75000"/>
                  </a:srgbClr>
                </a:solidFill>
                <a:latin typeface="MiSans Normal" pitchFamily="2" charset="-122"/>
                <a:ea typeface="MiSans Normal" pitchFamily="2" charset="-122"/>
                <a:cs typeface="MiSans" pitchFamily="34" charset="-120"/>
              </a:rPr>
              <a:t>、</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监控系统并响应反馈，几乎无需人工编排</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监控系统并响应反馈，几乎无需人工编排</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监控系统并响应反馈，几乎无需人工编排</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监控系统并响应反馈，几乎无需人工编排</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sz="800" dirty="0">
                <a:solidFill>
                  <a:srgbClr val="292624">
                    <a:alpha val="75000"/>
                  </a:srgbClr>
                </a:solidFill>
                <a:latin typeface="MiSans Normal" pitchFamily="2" charset="-122"/>
                <a:ea typeface="MiSans Normal" pitchFamily="2" charset="-122"/>
                <a:cs typeface="MiSans" pitchFamily="34" charset="-120"/>
              </a:rPr>
              <a:t>。</a:t>
            </a:r>
            <a:endParaRPr lang="en-US" sz="800" dirty="0">
              <a:latin typeface="MiSans Normal" pitchFamily="2" charset="-122"/>
              <a:ea typeface="MiSans Normal" pitchFamily="2" charset="-122"/>
            </a:endParaRPr>
          </a:p>
        </p:txBody>
      </p:sp>
      <p:sp>
        <p:nvSpPr>
          <p:cNvPr id="12" name="Text 9"/>
          <p:cNvSpPr/>
          <p:nvPr/>
        </p:nvSpPr>
        <p:spPr>
          <a:xfrm>
            <a:off x="7119518" y="829601"/>
            <a:ext cx="1786347" cy="235744"/>
          </a:xfrm>
          <a:prstGeom prst="rect">
            <a:avLst/>
          </a:prstGeom>
          <a:noFill/>
          <a:ln/>
        </p:spPr>
        <p:txBody>
          <a:bodyPr wrap="square" lIns="0" tIns="0" rIns="0" bIns="0" rtlCol="0" anchor="ctr"/>
          <a:lstStyle/>
          <a:p>
            <a:pPr algn="l">
              <a:lnSpc>
                <a:spcPts val="1856"/>
              </a:lnSpc>
            </a:pPr>
            <a:r>
              <a:rPr lang="en-US" sz="1700" kern="0" spc="-12" dirty="0">
                <a:solidFill>
                  <a:srgbClr val="292624"/>
                </a:solidFill>
                <a:latin typeface="MiSans Demibold" pitchFamily="2" charset="-122"/>
                <a:ea typeface="MiSans Demibold" pitchFamily="2" charset="-122"/>
                <a:cs typeface="MiSans" pitchFamily="34" charset="-120"/>
              </a:rPr>
              <a:t>04</a:t>
            </a:r>
            <a:endParaRPr lang="en-US" sz="1688" dirty="0">
              <a:latin typeface="MiSans Demibold" pitchFamily="2" charset="-122"/>
              <a:ea typeface="MiSans Demibold" pitchFamily="2" charset="-122"/>
            </a:endParaRPr>
          </a:p>
        </p:txBody>
      </p:sp>
      <p:sp>
        <p:nvSpPr>
          <p:cNvPr id="13" name="Text 10"/>
          <p:cNvSpPr/>
          <p:nvPr/>
        </p:nvSpPr>
        <p:spPr>
          <a:xfrm>
            <a:off x="7119366" y="1328571"/>
            <a:ext cx="1785938" cy="1256667"/>
          </a:xfrm>
          <a:prstGeom prst="rect">
            <a:avLst/>
          </a:prstGeom>
          <a:noFill/>
          <a:ln/>
        </p:spPr>
        <p:txBody>
          <a:bodyPr wrap="square" lIns="0" tIns="0" rIns="0" bIns="0" rtlCol="0" anchor="t"/>
          <a:lstStyle/>
          <a:p>
            <a:pPr>
              <a:lnSpc>
                <a:spcPts val="1414"/>
              </a:lnSpc>
            </a:pPr>
            <a:r>
              <a:rPr lang="en-US" sz="800" dirty="0" err="1">
                <a:solidFill>
                  <a:srgbClr val="292624">
                    <a:alpha val="75000"/>
                  </a:srgbClr>
                </a:solidFill>
                <a:latin typeface="MiSans Normal" pitchFamily="2" charset="-122"/>
                <a:ea typeface="MiSans Normal" pitchFamily="2" charset="-122"/>
                <a:cs typeface="MiSans" pitchFamily="34" charset="-120"/>
              </a:rPr>
              <a:t>每一次交互、纠正与工作流都会回流到系统中</a:t>
            </a:r>
            <a:r>
              <a:rPr lang="en-US" sz="800" dirty="0">
                <a:solidFill>
                  <a:srgbClr val="292624">
                    <a:alpha val="75000"/>
                  </a:srgbClr>
                </a:solidFill>
                <a:latin typeface="MiSans Normal" pitchFamily="2" charset="-122"/>
                <a:ea typeface="MiSans Normal" pitchFamily="2" charset="-122"/>
                <a:cs typeface="MiSans" pitchFamily="34" charset="-120"/>
              </a:rPr>
              <a:t>，</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让智能体不断积累组织知识，在未来的任务与团队中持续提升表现</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让智能体不断积累组织知识，在未来的任务与团队中持续提升表现</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altLang="zh-CN" sz="800" dirty="0" err="1">
                <a:solidFill>
                  <a:srgbClr val="292624">
                    <a:alpha val="75000"/>
                  </a:srgbClr>
                </a:solidFill>
                <a:latin typeface="MiSans Normal" pitchFamily="2" charset="-122"/>
                <a:ea typeface="MiSans Normal" pitchFamily="2" charset="-122"/>
                <a:cs typeface="MiSans" pitchFamily="34" charset="-120"/>
              </a:rPr>
              <a:t>让智能体不断积累组织知识，在未来的任务与团队中持续提升表现</a:t>
            </a:r>
            <a:r>
              <a:rPr lang="en-US" altLang="zh-CN" sz="800" dirty="0">
                <a:solidFill>
                  <a:srgbClr val="292624">
                    <a:alpha val="75000"/>
                  </a:srgbClr>
                </a:solidFill>
                <a:latin typeface="MiSans Normal" pitchFamily="2" charset="-122"/>
                <a:ea typeface="MiSans Normal" pitchFamily="2" charset="-122"/>
                <a:cs typeface="MiSans" pitchFamily="34" charset="-120"/>
              </a:rPr>
              <a:t> </a:t>
            </a:r>
            <a:r>
              <a:rPr lang="en-US" sz="800" dirty="0">
                <a:solidFill>
                  <a:srgbClr val="292624">
                    <a:alpha val="75000"/>
                  </a:srgbClr>
                </a:solidFill>
                <a:latin typeface="MiSans Normal" pitchFamily="2" charset="-122"/>
                <a:ea typeface="MiSans Normal" pitchFamily="2" charset="-122"/>
                <a:cs typeface="MiSans" pitchFamily="34" charset="-120"/>
              </a:rPr>
              <a:t>。</a:t>
            </a:r>
            <a:endParaRPr lang="en-US" sz="800" dirty="0">
              <a:latin typeface="MiSans Normal" pitchFamily="2" charset="-122"/>
              <a:ea typeface="MiSans Normal" pitchFamily="2" charset="-122"/>
            </a:endParaRPr>
          </a:p>
        </p:txBody>
      </p:sp>
      <p:sp>
        <p:nvSpPr>
          <p:cNvPr id="14" name="Shape 11"/>
          <p:cNvSpPr/>
          <p:nvPr/>
        </p:nvSpPr>
        <p:spPr>
          <a:xfrm rot="5400000">
            <a:off x="4654874" y="2557654"/>
            <a:ext cx="4660623" cy="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2" name="Text 0">
            <a:extLst>
              <a:ext uri="{FF2B5EF4-FFF2-40B4-BE49-F238E27FC236}">
                <a16:creationId xmlns:a16="http://schemas.microsoft.com/office/drawing/2014/main" id="{78CF1086-F94A-7F8B-4C30-02F303772FDE}"/>
              </a:ext>
            </a:extLst>
          </p:cNvPr>
          <p:cNvSpPr/>
          <p:nvPr/>
        </p:nvSpPr>
        <p:spPr>
          <a:xfrm>
            <a:off x="247650" y="236965"/>
            <a:ext cx="2518544" cy="620051"/>
          </a:xfrm>
          <a:prstGeom prst="rect">
            <a:avLst/>
          </a:prstGeom>
          <a:noFill/>
          <a:ln/>
        </p:spPr>
        <p:txBody>
          <a:bodyPr wrap="square" lIns="0" tIns="0" rIns="0" bIns="0" rtlCol="0" anchor="t"/>
          <a:lstStyle/>
          <a:p>
            <a:pPr algn="l">
              <a:lnSpc>
                <a:spcPts val="3218"/>
              </a:lnSpc>
            </a:pPr>
            <a:r>
              <a:rPr lang="en-US" sz="2800" kern="0" spc="-24" dirty="0">
                <a:solidFill>
                  <a:srgbClr val="FFFFFF"/>
                </a:solidFill>
                <a:latin typeface="MiSans Demibold" pitchFamily="2" charset="-122"/>
                <a:ea typeface="MiSans Demibold" pitchFamily="2" charset="-122"/>
                <a:cs typeface="MiSans" pitchFamily="34" charset="-120"/>
              </a:rPr>
              <a:t>运作方式</a:t>
            </a:r>
            <a:endParaRPr lang="en-US" sz="2925" dirty="0">
              <a:solidFill>
                <a:srgbClr val="FFFFFF"/>
              </a:solidFill>
              <a:latin typeface="MiSans Demibold" pitchFamily="2" charset="-122"/>
              <a:ea typeface="MiSans Demibold" pitchFamily="2" charset="-122"/>
            </a:endParaRPr>
          </a:p>
        </p:txBody>
      </p:sp>
      <p:sp>
        <p:nvSpPr>
          <p:cNvPr id="16" name="Text 1">
            <a:extLst>
              <a:ext uri="{FF2B5EF4-FFF2-40B4-BE49-F238E27FC236}">
                <a16:creationId xmlns:a16="http://schemas.microsoft.com/office/drawing/2014/main" id="{66D26FB4-C4FE-2CDB-6CE3-5BA95012184B}"/>
              </a:ext>
            </a:extLst>
          </p:cNvPr>
          <p:cNvSpPr/>
          <p:nvPr/>
        </p:nvSpPr>
        <p:spPr>
          <a:xfrm>
            <a:off x="980281" y="2976430"/>
            <a:ext cx="1785900" cy="235744"/>
          </a:xfrm>
          <a:prstGeom prst="rect">
            <a:avLst/>
          </a:prstGeom>
          <a:noFill/>
          <a:ln/>
        </p:spPr>
        <p:txBody>
          <a:bodyPr wrap="square" lIns="0" tIns="0" rIns="0" bIns="0" rtlCol="0" anchor="ctr"/>
          <a:lstStyle/>
          <a:p>
            <a:pPr algn="l">
              <a:lnSpc>
                <a:spcPts val="1856"/>
              </a:lnSpc>
            </a:pPr>
            <a:r>
              <a:rPr lang="en-US" sz="1700" kern="0" spc="-12" dirty="0">
                <a:solidFill>
                  <a:srgbClr val="FFFFFF"/>
                </a:solidFill>
                <a:latin typeface="MiSans Demibold" pitchFamily="2" charset="-122"/>
                <a:ea typeface="MiSans Demibold" pitchFamily="2" charset="-122"/>
                <a:cs typeface="MiSans" pitchFamily="34" charset="-120"/>
              </a:rPr>
              <a:t>01</a:t>
            </a:r>
            <a:endParaRPr lang="en-US" sz="1688" dirty="0">
              <a:solidFill>
                <a:srgbClr val="FFFFFF"/>
              </a:solidFill>
              <a:latin typeface="MiSans Demibold" pitchFamily="2" charset="-122"/>
              <a:ea typeface="MiSans Demibold" pitchFamily="2" charset="-122"/>
            </a:endParaRPr>
          </a:p>
        </p:txBody>
      </p:sp>
      <p:sp>
        <p:nvSpPr>
          <p:cNvPr id="17" name="Text 2">
            <a:extLst>
              <a:ext uri="{FF2B5EF4-FFF2-40B4-BE49-F238E27FC236}">
                <a16:creationId xmlns:a16="http://schemas.microsoft.com/office/drawing/2014/main" id="{28A207C9-21A0-70A2-E402-1E58CBBFD5FF}"/>
              </a:ext>
            </a:extLst>
          </p:cNvPr>
          <p:cNvSpPr/>
          <p:nvPr/>
        </p:nvSpPr>
        <p:spPr>
          <a:xfrm>
            <a:off x="980281" y="3463396"/>
            <a:ext cx="1785938" cy="1256667"/>
          </a:xfrm>
          <a:prstGeom prst="rect">
            <a:avLst/>
          </a:prstGeom>
          <a:noFill/>
          <a:ln/>
        </p:spPr>
        <p:txBody>
          <a:bodyPr wrap="square" lIns="0" tIns="0" rIns="0" bIns="0" rtlCol="0" anchor="t"/>
          <a:lstStyle/>
          <a:p>
            <a:pPr>
              <a:lnSpc>
                <a:spcPts val="1414"/>
              </a:lnSpc>
            </a:pPr>
            <a:r>
              <a:rPr lang="en-US" sz="800" dirty="0">
                <a:solidFill>
                  <a:srgbClr val="FFFFFF"/>
                </a:solidFill>
                <a:latin typeface="MiSans Light" pitchFamily="2" charset="-122"/>
                <a:ea typeface="MiSans Light" pitchFamily="2" charset="-122"/>
                <a:cs typeface="MiSans" pitchFamily="34" charset="-120"/>
              </a:rPr>
              <a:t>AI </a:t>
            </a:r>
            <a:r>
              <a:rPr lang="en-US" sz="800" dirty="0" err="1">
                <a:solidFill>
                  <a:srgbClr val="FFFFFF"/>
                </a:solidFill>
                <a:latin typeface="MiSans Light" pitchFamily="2" charset="-122"/>
                <a:ea typeface="MiSans Light" pitchFamily="2" charset="-122"/>
                <a:cs typeface="MiSans" pitchFamily="34" charset="-120"/>
              </a:rPr>
              <a:t>智能体从代码仓库、工单、文档与生产系统中收集信息</a:t>
            </a:r>
            <a:r>
              <a:rPr lang="en-US" sz="800" dirty="0">
                <a:solidFill>
                  <a:srgbClr val="FFFFFF"/>
                </a:solidFill>
                <a:latin typeface="MiSans Light" pitchFamily="2" charset="-122"/>
                <a:ea typeface="MiSans Light" pitchFamily="2" charset="-122"/>
                <a:cs typeface="MiSans" pitchFamily="34" charset="-120"/>
              </a:rPr>
              <a:t>，</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建立对任务的共同理解，减少人工收集上下文的时间</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建立对任务的共同理解，减少人工收集上下文的时间</a:t>
            </a:r>
            <a:r>
              <a:rPr lang="en-US" altLang="zh-CN" sz="800" dirty="0">
                <a:solidFill>
                  <a:srgbClr val="FFFFFF"/>
                </a:solidFill>
                <a:latin typeface="MiSans Light" pitchFamily="2" charset="-122"/>
                <a:ea typeface="MiSans Light" pitchFamily="2" charset="-122"/>
                <a:cs typeface="MiSans" pitchFamily="34" charset="-120"/>
              </a:rPr>
              <a:t> </a:t>
            </a:r>
            <a:r>
              <a:rPr lang="en-US" sz="800" dirty="0">
                <a:solidFill>
                  <a:srgbClr val="FFFFFF"/>
                </a:solidFill>
                <a:latin typeface="MiSans Light" pitchFamily="2" charset="-122"/>
                <a:ea typeface="MiSans Light" pitchFamily="2" charset="-122"/>
                <a:cs typeface="MiSans" pitchFamily="34" charset="-120"/>
              </a:rPr>
              <a:t>。</a:t>
            </a:r>
            <a:endParaRPr lang="en-US" sz="800" dirty="0">
              <a:solidFill>
                <a:srgbClr val="FFFFFF"/>
              </a:solidFill>
              <a:latin typeface="MiSans Light" pitchFamily="2" charset="-122"/>
              <a:ea typeface="MiSans Light" pitchFamily="2" charset="-122"/>
            </a:endParaRPr>
          </a:p>
        </p:txBody>
      </p:sp>
      <p:sp>
        <p:nvSpPr>
          <p:cNvPr id="18" name="Shape 3">
            <a:extLst>
              <a:ext uri="{FF2B5EF4-FFF2-40B4-BE49-F238E27FC236}">
                <a16:creationId xmlns:a16="http://schemas.microsoft.com/office/drawing/2014/main" id="{C639BFBD-C667-510E-F208-0E717250D45F}"/>
              </a:ext>
            </a:extLst>
          </p:cNvPr>
          <p:cNvSpPr/>
          <p:nvPr/>
        </p:nvSpPr>
        <p:spPr>
          <a:xfrm rot="5400000">
            <a:off x="574851" y="2557473"/>
            <a:ext cx="4660623" cy="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rgbClr val="FFFFFF"/>
              </a:solidFill>
            </a:endParaRPr>
          </a:p>
        </p:txBody>
      </p:sp>
      <p:sp>
        <p:nvSpPr>
          <p:cNvPr id="19" name="Shape 4">
            <a:extLst>
              <a:ext uri="{FF2B5EF4-FFF2-40B4-BE49-F238E27FC236}">
                <a16:creationId xmlns:a16="http://schemas.microsoft.com/office/drawing/2014/main" id="{4803F022-6DB4-93B5-F41C-1323531E3EB4}"/>
              </a:ext>
            </a:extLst>
          </p:cNvPr>
          <p:cNvSpPr/>
          <p:nvPr/>
        </p:nvSpPr>
        <p:spPr>
          <a:xfrm rot="5400000">
            <a:off x="2614862" y="2557473"/>
            <a:ext cx="4660623" cy="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rgbClr val="FFFFFF"/>
              </a:solidFill>
            </a:endParaRPr>
          </a:p>
        </p:txBody>
      </p:sp>
      <p:sp>
        <p:nvSpPr>
          <p:cNvPr id="20" name="Text 5">
            <a:extLst>
              <a:ext uri="{FF2B5EF4-FFF2-40B4-BE49-F238E27FC236}">
                <a16:creationId xmlns:a16="http://schemas.microsoft.com/office/drawing/2014/main" id="{7B414808-7422-8C04-79F4-CE5B6DCBF75D}"/>
              </a:ext>
            </a:extLst>
          </p:cNvPr>
          <p:cNvSpPr/>
          <p:nvPr/>
        </p:nvSpPr>
        <p:spPr>
          <a:xfrm>
            <a:off x="3043999" y="1388930"/>
            <a:ext cx="1762199" cy="235744"/>
          </a:xfrm>
          <a:prstGeom prst="rect">
            <a:avLst/>
          </a:prstGeom>
          <a:noFill/>
          <a:ln/>
        </p:spPr>
        <p:txBody>
          <a:bodyPr wrap="square" lIns="0" tIns="0" rIns="0" bIns="0" rtlCol="0" anchor="ctr"/>
          <a:lstStyle/>
          <a:p>
            <a:pPr algn="l">
              <a:lnSpc>
                <a:spcPts val="1856"/>
              </a:lnSpc>
            </a:pPr>
            <a:r>
              <a:rPr lang="en-US" sz="1700" kern="0" spc="-12" dirty="0">
                <a:solidFill>
                  <a:srgbClr val="FFFFFF"/>
                </a:solidFill>
                <a:latin typeface="MiSans Demibold" pitchFamily="2" charset="-122"/>
                <a:ea typeface="MiSans Demibold" pitchFamily="2" charset="-122"/>
                <a:cs typeface="MiSans" pitchFamily="34" charset="-120"/>
              </a:rPr>
              <a:t>02</a:t>
            </a:r>
            <a:endParaRPr lang="en-US" sz="1688" dirty="0">
              <a:solidFill>
                <a:srgbClr val="FFFFFF"/>
              </a:solidFill>
              <a:latin typeface="MiSans Demibold" pitchFamily="2" charset="-122"/>
              <a:ea typeface="MiSans Demibold" pitchFamily="2" charset="-122"/>
            </a:endParaRPr>
          </a:p>
        </p:txBody>
      </p:sp>
      <p:sp>
        <p:nvSpPr>
          <p:cNvPr id="21" name="Text 6">
            <a:extLst>
              <a:ext uri="{FF2B5EF4-FFF2-40B4-BE49-F238E27FC236}">
                <a16:creationId xmlns:a16="http://schemas.microsoft.com/office/drawing/2014/main" id="{4A417D87-4240-11CC-6681-F08B250C52DF}"/>
              </a:ext>
            </a:extLst>
          </p:cNvPr>
          <p:cNvSpPr/>
          <p:nvPr/>
        </p:nvSpPr>
        <p:spPr>
          <a:xfrm>
            <a:off x="3044105" y="1875896"/>
            <a:ext cx="1762088" cy="1256667"/>
          </a:xfrm>
          <a:prstGeom prst="rect">
            <a:avLst/>
          </a:prstGeom>
          <a:noFill/>
          <a:ln/>
        </p:spPr>
        <p:txBody>
          <a:bodyPr wrap="square" lIns="0" tIns="0" rIns="0" bIns="0" rtlCol="0" anchor="t"/>
          <a:lstStyle/>
          <a:p>
            <a:pPr>
              <a:lnSpc>
                <a:spcPts val="1414"/>
              </a:lnSpc>
            </a:pPr>
            <a:r>
              <a:rPr lang="en-US" sz="800" dirty="0" err="1">
                <a:solidFill>
                  <a:srgbClr val="FFFFFF"/>
                </a:solidFill>
                <a:latin typeface="MiSans Light" pitchFamily="2" charset="-122"/>
                <a:ea typeface="MiSans Light" pitchFamily="2" charset="-122"/>
                <a:cs typeface="MiSans" pitchFamily="34" charset="-120"/>
              </a:rPr>
              <a:t>专职智能体在规划、实现、测试与评审等工作流中协同</a:t>
            </a:r>
            <a:r>
              <a:rPr lang="en-US" sz="800" dirty="0">
                <a:solidFill>
                  <a:srgbClr val="FFFFFF"/>
                </a:solidFill>
                <a:latin typeface="MiSans Light" pitchFamily="2" charset="-122"/>
                <a:ea typeface="MiSans Light" pitchFamily="2" charset="-122"/>
                <a:cs typeface="MiSans" pitchFamily="34" charset="-120"/>
              </a:rPr>
              <a:t>，</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让人类专注于高价值决策、审批与战略方向</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让人类专注于高价值决策、审批与战略方向</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让人类专注于高价值决策、审批与战略方向</a:t>
            </a:r>
            <a:r>
              <a:rPr lang="en-US" altLang="zh-CN" sz="800" dirty="0">
                <a:solidFill>
                  <a:srgbClr val="FFFFFF"/>
                </a:solidFill>
                <a:latin typeface="MiSans Light" pitchFamily="2" charset="-122"/>
                <a:ea typeface="MiSans Light" pitchFamily="2" charset="-122"/>
                <a:cs typeface="MiSans" pitchFamily="34" charset="-120"/>
              </a:rPr>
              <a:t> </a:t>
            </a:r>
            <a:r>
              <a:rPr lang="en-US" sz="800" dirty="0">
                <a:solidFill>
                  <a:srgbClr val="FFFFFF"/>
                </a:solidFill>
                <a:latin typeface="MiSans Light" pitchFamily="2" charset="-122"/>
                <a:ea typeface="MiSans Light" pitchFamily="2" charset="-122"/>
                <a:cs typeface="MiSans" pitchFamily="34" charset="-120"/>
              </a:rPr>
              <a:t>。</a:t>
            </a:r>
            <a:endParaRPr lang="en-US" sz="800" dirty="0">
              <a:solidFill>
                <a:srgbClr val="FFFFFF"/>
              </a:solidFill>
              <a:latin typeface="MiSans Light" pitchFamily="2" charset="-122"/>
              <a:ea typeface="MiSans Light" pitchFamily="2" charset="-122"/>
            </a:endParaRPr>
          </a:p>
        </p:txBody>
      </p:sp>
      <p:sp>
        <p:nvSpPr>
          <p:cNvPr id="22" name="Text 7">
            <a:extLst>
              <a:ext uri="{FF2B5EF4-FFF2-40B4-BE49-F238E27FC236}">
                <a16:creationId xmlns:a16="http://schemas.microsoft.com/office/drawing/2014/main" id="{52D5D9FC-0ED1-A5F9-31C4-44E52F789299}"/>
              </a:ext>
            </a:extLst>
          </p:cNvPr>
          <p:cNvSpPr/>
          <p:nvPr/>
        </p:nvSpPr>
        <p:spPr>
          <a:xfrm>
            <a:off x="5084026" y="2479014"/>
            <a:ext cx="1762199" cy="235744"/>
          </a:xfrm>
          <a:prstGeom prst="rect">
            <a:avLst/>
          </a:prstGeom>
          <a:noFill/>
          <a:ln/>
        </p:spPr>
        <p:txBody>
          <a:bodyPr wrap="square" lIns="0" tIns="0" rIns="0" bIns="0" rtlCol="0" anchor="ctr"/>
          <a:lstStyle/>
          <a:p>
            <a:pPr algn="l">
              <a:lnSpc>
                <a:spcPts val="1856"/>
              </a:lnSpc>
            </a:pPr>
            <a:r>
              <a:rPr lang="en-US" sz="1700" kern="0" spc="-12" dirty="0">
                <a:solidFill>
                  <a:srgbClr val="FFFFFF"/>
                </a:solidFill>
                <a:latin typeface="MiSans Demibold" pitchFamily="2" charset="-122"/>
                <a:ea typeface="MiSans Demibold" pitchFamily="2" charset="-122"/>
                <a:cs typeface="MiSans" pitchFamily="34" charset="-120"/>
              </a:rPr>
              <a:t>03</a:t>
            </a:r>
            <a:endParaRPr lang="en-US" sz="1688" dirty="0">
              <a:solidFill>
                <a:srgbClr val="FFFFFF"/>
              </a:solidFill>
              <a:latin typeface="MiSans Demibold" pitchFamily="2" charset="-122"/>
              <a:ea typeface="MiSans Demibold" pitchFamily="2" charset="-122"/>
            </a:endParaRPr>
          </a:p>
        </p:txBody>
      </p:sp>
      <p:sp>
        <p:nvSpPr>
          <p:cNvPr id="23" name="Text 8">
            <a:extLst>
              <a:ext uri="{FF2B5EF4-FFF2-40B4-BE49-F238E27FC236}">
                <a16:creationId xmlns:a16="http://schemas.microsoft.com/office/drawing/2014/main" id="{A75C1D0F-5294-D805-9773-01CCEB5E0563}"/>
              </a:ext>
            </a:extLst>
          </p:cNvPr>
          <p:cNvSpPr/>
          <p:nvPr/>
        </p:nvSpPr>
        <p:spPr>
          <a:xfrm>
            <a:off x="5084117" y="2965979"/>
            <a:ext cx="1762125" cy="1256667"/>
          </a:xfrm>
          <a:prstGeom prst="rect">
            <a:avLst/>
          </a:prstGeom>
          <a:noFill/>
          <a:ln/>
        </p:spPr>
        <p:txBody>
          <a:bodyPr wrap="square" lIns="0" tIns="0" rIns="0" bIns="0" rtlCol="0" anchor="t"/>
          <a:lstStyle/>
          <a:p>
            <a:pPr>
              <a:lnSpc>
                <a:spcPts val="1414"/>
              </a:lnSpc>
            </a:pPr>
            <a:r>
              <a:rPr lang="en-US" sz="800" dirty="0" err="1">
                <a:solidFill>
                  <a:srgbClr val="FFFFFF"/>
                </a:solidFill>
                <a:latin typeface="MiSans Light" pitchFamily="2" charset="-122"/>
                <a:ea typeface="MiSans Light" pitchFamily="2" charset="-122"/>
                <a:cs typeface="MiSans" pitchFamily="34" charset="-120"/>
              </a:rPr>
              <a:t>智能体在整个软件开发生命周期中持续生成规格、编写代码、校验变更</a:t>
            </a:r>
            <a:r>
              <a:rPr lang="en-US" sz="800" dirty="0">
                <a:solidFill>
                  <a:srgbClr val="FFFFFF"/>
                </a:solidFill>
                <a:latin typeface="MiSans Light" pitchFamily="2" charset="-122"/>
                <a:ea typeface="MiSans Light" pitchFamily="2" charset="-122"/>
                <a:cs typeface="MiSans" pitchFamily="34" charset="-120"/>
              </a:rPr>
              <a:t>、</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监控系统并响应反馈，几乎无需人工编排</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监控系统并响应反馈，几乎无需人工编排</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监控系统并响应反馈，几乎无需人工编排</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监控系统并响应反馈，几乎无需人工编排</a:t>
            </a:r>
            <a:r>
              <a:rPr lang="en-US" altLang="zh-CN" sz="800" dirty="0">
                <a:solidFill>
                  <a:srgbClr val="FFFFFF"/>
                </a:solidFill>
                <a:latin typeface="MiSans Light" pitchFamily="2" charset="-122"/>
                <a:ea typeface="MiSans Light" pitchFamily="2" charset="-122"/>
                <a:cs typeface="MiSans" pitchFamily="34" charset="-120"/>
              </a:rPr>
              <a:t> </a:t>
            </a:r>
            <a:r>
              <a:rPr lang="en-US" sz="800" dirty="0">
                <a:solidFill>
                  <a:srgbClr val="FFFFFF"/>
                </a:solidFill>
                <a:latin typeface="MiSans Light" pitchFamily="2" charset="-122"/>
                <a:ea typeface="MiSans Light" pitchFamily="2" charset="-122"/>
                <a:cs typeface="MiSans" pitchFamily="34" charset="-120"/>
              </a:rPr>
              <a:t>。</a:t>
            </a:r>
            <a:endParaRPr lang="en-US" sz="800" dirty="0">
              <a:solidFill>
                <a:srgbClr val="FFFFFF"/>
              </a:solidFill>
              <a:latin typeface="MiSans Light" pitchFamily="2" charset="-122"/>
              <a:ea typeface="MiSans Light" pitchFamily="2" charset="-122"/>
            </a:endParaRPr>
          </a:p>
        </p:txBody>
      </p:sp>
      <p:sp>
        <p:nvSpPr>
          <p:cNvPr id="24" name="Text 9">
            <a:extLst>
              <a:ext uri="{FF2B5EF4-FFF2-40B4-BE49-F238E27FC236}">
                <a16:creationId xmlns:a16="http://schemas.microsoft.com/office/drawing/2014/main" id="{3C7A9338-7831-313C-A9AA-E1BEF1EE2F88}"/>
              </a:ext>
            </a:extLst>
          </p:cNvPr>
          <p:cNvSpPr/>
          <p:nvPr/>
        </p:nvSpPr>
        <p:spPr>
          <a:xfrm>
            <a:off x="7119518" y="829601"/>
            <a:ext cx="1786347" cy="235744"/>
          </a:xfrm>
          <a:prstGeom prst="rect">
            <a:avLst/>
          </a:prstGeom>
          <a:noFill/>
          <a:ln/>
        </p:spPr>
        <p:txBody>
          <a:bodyPr wrap="square" lIns="0" tIns="0" rIns="0" bIns="0" rtlCol="0" anchor="ctr"/>
          <a:lstStyle/>
          <a:p>
            <a:pPr algn="l">
              <a:lnSpc>
                <a:spcPts val="1856"/>
              </a:lnSpc>
            </a:pPr>
            <a:r>
              <a:rPr lang="en-US" sz="1700" kern="0" spc="-12" dirty="0">
                <a:solidFill>
                  <a:srgbClr val="FFFFFF"/>
                </a:solidFill>
                <a:latin typeface="MiSans Demibold" pitchFamily="2" charset="-122"/>
                <a:ea typeface="MiSans Demibold" pitchFamily="2" charset="-122"/>
                <a:cs typeface="MiSans" pitchFamily="34" charset="-120"/>
              </a:rPr>
              <a:t>04</a:t>
            </a:r>
            <a:endParaRPr lang="en-US" sz="1688" dirty="0">
              <a:solidFill>
                <a:srgbClr val="FFFFFF"/>
              </a:solidFill>
              <a:latin typeface="MiSans Demibold" pitchFamily="2" charset="-122"/>
              <a:ea typeface="MiSans Demibold" pitchFamily="2" charset="-122"/>
            </a:endParaRPr>
          </a:p>
        </p:txBody>
      </p:sp>
      <p:sp>
        <p:nvSpPr>
          <p:cNvPr id="25" name="Text 10">
            <a:extLst>
              <a:ext uri="{FF2B5EF4-FFF2-40B4-BE49-F238E27FC236}">
                <a16:creationId xmlns:a16="http://schemas.microsoft.com/office/drawing/2014/main" id="{4EC81467-DB42-7B24-9341-8ACC6518719C}"/>
              </a:ext>
            </a:extLst>
          </p:cNvPr>
          <p:cNvSpPr/>
          <p:nvPr/>
        </p:nvSpPr>
        <p:spPr>
          <a:xfrm>
            <a:off x="7119366" y="1328571"/>
            <a:ext cx="1785938" cy="1256667"/>
          </a:xfrm>
          <a:prstGeom prst="rect">
            <a:avLst/>
          </a:prstGeom>
          <a:noFill/>
          <a:ln/>
        </p:spPr>
        <p:txBody>
          <a:bodyPr wrap="square" lIns="0" tIns="0" rIns="0" bIns="0" rtlCol="0" anchor="t"/>
          <a:lstStyle/>
          <a:p>
            <a:pPr>
              <a:lnSpc>
                <a:spcPts val="1414"/>
              </a:lnSpc>
            </a:pPr>
            <a:r>
              <a:rPr lang="en-US" sz="800" dirty="0" err="1">
                <a:solidFill>
                  <a:srgbClr val="FFFFFF"/>
                </a:solidFill>
                <a:latin typeface="MiSans Light" pitchFamily="2" charset="-122"/>
                <a:ea typeface="MiSans Light" pitchFamily="2" charset="-122"/>
                <a:cs typeface="MiSans" pitchFamily="34" charset="-120"/>
              </a:rPr>
              <a:t>每一次交互、纠正与工作流都会回流到系统中</a:t>
            </a:r>
            <a:r>
              <a:rPr lang="en-US" sz="800" dirty="0">
                <a:solidFill>
                  <a:srgbClr val="FFFFFF"/>
                </a:solidFill>
                <a:latin typeface="MiSans Light" pitchFamily="2" charset="-122"/>
                <a:ea typeface="MiSans Light" pitchFamily="2" charset="-122"/>
                <a:cs typeface="MiSans" pitchFamily="34" charset="-120"/>
              </a:rPr>
              <a:t>，</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让智能体不断积累组织知识，在未来的任务与团队中持续提升表现</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让智能体不断积累组织知识，在未来的任务与团队中持续提升表现</a:t>
            </a:r>
            <a:r>
              <a:rPr lang="en-US" altLang="zh-CN" sz="800" dirty="0">
                <a:solidFill>
                  <a:srgbClr val="FFFFFF"/>
                </a:solidFill>
                <a:latin typeface="MiSans Light" pitchFamily="2" charset="-122"/>
                <a:ea typeface="MiSans Light" pitchFamily="2" charset="-122"/>
                <a:cs typeface="MiSans" pitchFamily="34" charset="-120"/>
              </a:rPr>
              <a:t> </a:t>
            </a:r>
            <a:r>
              <a:rPr lang="en-US" altLang="zh-CN" sz="800" dirty="0" err="1">
                <a:solidFill>
                  <a:srgbClr val="FFFFFF"/>
                </a:solidFill>
                <a:latin typeface="MiSans Light" pitchFamily="2" charset="-122"/>
                <a:ea typeface="MiSans Light" pitchFamily="2" charset="-122"/>
                <a:cs typeface="MiSans" pitchFamily="34" charset="-120"/>
              </a:rPr>
              <a:t>让智能体不断积累组织知识，在未来的任务与团队中持续提升表现</a:t>
            </a:r>
            <a:r>
              <a:rPr lang="en-US" altLang="zh-CN" sz="800" dirty="0">
                <a:solidFill>
                  <a:srgbClr val="FFFFFF"/>
                </a:solidFill>
                <a:latin typeface="MiSans Light" pitchFamily="2" charset="-122"/>
                <a:ea typeface="MiSans Light" pitchFamily="2" charset="-122"/>
                <a:cs typeface="MiSans" pitchFamily="34" charset="-120"/>
              </a:rPr>
              <a:t> </a:t>
            </a:r>
            <a:r>
              <a:rPr lang="en-US" sz="800" dirty="0">
                <a:solidFill>
                  <a:srgbClr val="FFFFFF"/>
                </a:solidFill>
                <a:latin typeface="MiSans Light" pitchFamily="2" charset="-122"/>
                <a:ea typeface="MiSans Light" pitchFamily="2" charset="-122"/>
                <a:cs typeface="MiSans" pitchFamily="34" charset="-120"/>
              </a:rPr>
              <a:t>。</a:t>
            </a:r>
            <a:endParaRPr lang="en-US" sz="800" dirty="0">
              <a:solidFill>
                <a:srgbClr val="FFFFFF"/>
              </a:solidFill>
              <a:latin typeface="MiSans Light" pitchFamily="2" charset="-122"/>
              <a:ea typeface="MiSans Light" pitchFamily="2" charset="-122"/>
            </a:endParaRPr>
          </a:p>
        </p:txBody>
      </p:sp>
      <p:sp>
        <p:nvSpPr>
          <p:cNvPr id="26" name="Shape 11">
            <a:extLst>
              <a:ext uri="{FF2B5EF4-FFF2-40B4-BE49-F238E27FC236}">
                <a16:creationId xmlns:a16="http://schemas.microsoft.com/office/drawing/2014/main" id="{CFE18A06-7143-FFF3-83AE-08BCF31F5B53}"/>
              </a:ext>
            </a:extLst>
          </p:cNvPr>
          <p:cNvSpPr/>
          <p:nvPr/>
        </p:nvSpPr>
        <p:spPr>
          <a:xfrm rot="5400000">
            <a:off x="4654874" y="2557654"/>
            <a:ext cx="4660623" cy="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7F8F3"/>
        </a:solidFill>
        <a:effectLst/>
      </p:bgPr>
    </p:bg>
    <p:spTree>
      <p:nvGrpSpPr>
        <p:cNvPr id="1" name=""/>
        <p:cNvGrpSpPr/>
        <p:nvPr/>
      </p:nvGrpSpPr>
      <p:grpSpPr>
        <a:xfrm>
          <a:off x="0" y="0"/>
          <a:ext cx="0" cy="0"/>
          <a:chOff x="0" y="0"/>
          <a:chExt cx="0" cy="0"/>
        </a:xfrm>
      </p:grpSpPr>
      <p:sp>
        <p:nvSpPr>
          <p:cNvPr id="3" name="Text 0"/>
          <p:cNvSpPr/>
          <p:nvPr/>
        </p:nvSpPr>
        <p:spPr>
          <a:xfrm>
            <a:off x="3948906" y="1754535"/>
            <a:ext cx="1988269" cy="817215"/>
          </a:xfrm>
          <a:prstGeom prst="rect">
            <a:avLst/>
          </a:prstGeom>
          <a:noFill/>
          <a:ln/>
        </p:spPr>
        <p:txBody>
          <a:bodyPr wrap="square" lIns="0" tIns="0" rIns="0" bIns="0" rtlCol="0" anchor="t"/>
          <a:lstStyle/>
          <a:p>
            <a:pPr algn="l">
              <a:lnSpc>
                <a:spcPct val="150000"/>
              </a:lnSpc>
            </a:pPr>
            <a:r>
              <a:rPr lang="en-US" sz="4000" kern="0" spc="-24" dirty="0">
                <a:solidFill>
                  <a:srgbClr val="292624"/>
                </a:solidFill>
                <a:latin typeface="MiSans Semibold" pitchFamily="2" charset="-122"/>
                <a:ea typeface="MiSans Semibold" pitchFamily="2" charset="-122"/>
                <a:cs typeface="MiSans" pitchFamily="34" charset="-120"/>
              </a:rPr>
              <a:t>67%</a:t>
            </a:r>
            <a:endParaRPr lang="en-US" sz="4000" dirty="0">
              <a:latin typeface="MiSans Semibold" pitchFamily="2" charset="-122"/>
              <a:ea typeface="MiSans Semibold" pitchFamily="2" charset="-122"/>
            </a:endParaRPr>
          </a:p>
        </p:txBody>
      </p:sp>
      <p:sp>
        <p:nvSpPr>
          <p:cNvPr id="4" name="Text 1"/>
          <p:cNvSpPr/>
          <p:nvPr/>
        </p:nvSpPr>
        <p:spPr>
          <a:xfrm>
            <a:off x="3948906" y="2869417"/>
            <a:ext cx="1988269" cy="817215"/>
          </a:xfrm>
          <a:prstGeom prst="rect">
            <a:avLst/>
          </a:prstGeom>
          <a:noFill/>
          <a:ln/>
        </p:spPr>
        <p:txBody>
          <a:bodyPr wrap="square" lIns="0" tIns="0" rIns="0" bIns="0" rtlCol="0" anchor="t"/>
          <a:lstStyle/>
          <a:p>
            <a:pPr algn="l">
              <a:lnSpc>
                <a:spcPct val="150000"/>
              </a:lnSpc>
            </a:pPr>
            <a:r>
              <a:rPr lang="en-US" sz="4000" kern="0" spc="-24" dirty="0">
                <a:solidFill>
                  <a:srgbClr val="292624"/>
                </a:solidFill>
                <a:latin typeface="MiSans Semibold" pitchFamily="2" charset="-122"/>
                <a:ea typeface="MiSans Semibold" pitchFamily="2" charset="-122"/>
                <a:cs typeface="MiSans" pitchFamily="34" charset="-120"/>
              </a:rPr>
              <a:t>4000</a:t>
            </a:r>
            <a:r>
              <a:rPr lang="en-US" sz="2400" kern="0" spc="-24" dirty="0">
                <a:solidFill>
                  <a:srgbClr val="292624"/>
                </a:solidFill>
                <a:latin typeface="MiSans Semibold" pitchFamily="2" charset="-122"/>
                <a:ea typeface="MiSans Semibold" pitchFamily="2" charset="-122"/>
                <a:cs typeface="MiSans" pitchFamily="34" charset="-120"/>
              </a:rPr>
              <a:t>万</a:t>
            </a:r>
            <a:endParaRPr lang="en-US" sz="4000" dirty="0">
              <a:latin typeface="MiSans Semibold" pitchFamily="2" charset="-122"/>
              <a:ea typeface="MiSans Semibold" pitchFamily="2" charset="-122"/>
            </a:endParaRPr>
          </a:p>
        </p:txBody>
      </p:sp>
      <p:sp>
        <p:nvSpPr>
          <p:cNvPr id="5" name="Text 2"/>
          <p:cNvSpPr/>
          <p:nvPr/>
        </p:nvSpPr>
        <p:spPr>
          <a:xfrm>
            <a:off x="3948906" y="4007198"/>
            <a:ext cx="1988269" cy="817215"/>
          </a:xfrm>
          <a:prstGeom prst="rect">
            <a:avLst/>
          </a:prstGeom>
          <a:noFill/>
          <a:ln/>
        </p:spPr>
        <p:txBody>
          <a:bodyPr wrap="square" lIns="0" tIns="0" rIns="0" bIns="0" rtlCol="0" anchor="t"/>
          <a:lstStyle/>
          <a:p>
            <a:pPr algn="l">
              <a:lnSpc>
                <a:spcPct val="150000"/>
              </a:lnSpc>
            </a:pPr>
            <a:r>
              <a:rPr lang="en-US" sz="4000" kern="0" spc="-24" dirty="0">
                <a:solidFill>
                  <a:srgbClr val="292624"/>
                </a:solidFill>
                <a:latin typeface="MiSans Semibold" pitchFamily="2" charset="-122"/>
                <a:ea typeface="MiSans Semibold" pitchFamily="2" charset="-122"/>
                <a:cs typeface="MiSans" pitchFamily="34" charset="-120"/>
              </a:rPr>
              <a:t>8</a:t>
            </a:r>
            <a:endParaRPr lang="en-US" sz="4000" dirty="0">
              <a:latin typeface="MiSans Semibold" pitchFamily="2" charset="-122"/>
              <a:ea typeface="MiSans Semibold" pitchFamily="2" charset="-122"/>
            </a:endParaRPr>
          </a:p>
        </p:txBody>
      </p:sp>
      <p:sp>
        <p:nvSpPr>
          <p:cNvPr id="6" name="Text 3"/>
          <p:cNvSpPr/>
          <p:nvPr/>
        </p:nvSpPr>
        <p:spPr>
          <a:xfrm>
            <a:off x="6175376" y="2080054"/>
            <a:ext cx="2518920" cy="411435"/>
          </a:xfrm>
          <a:prstGeom prst="rect">
            <a:avLst/>
          </a:prstGeom>
          <a:noFill/>
          <a:ln/>
        </p:spPr>
        <p:txBody>
          <a:bodyPr wrap="square" lIns="0" tIns="0" rIns="0" bIns="0" rtlCol="0" anchor="ctr"/>
          <a:lstStyle/>
          <a:p>
            <a:pPr algn="l">
              <a:lnSpc>
                <a:spcPts val="1620"/>
              </a:lnSpc>
            </a:pPr>
            <a:r>
              <a:rPr lang="en-US" sz="1200" kern="0" spc="-12" dirty="0">
                <a:solidFill>
                  <a:srgbClr val="292624">
                    <a:alpha val="75000"/>
                  </a:srgbClr>
                </a:solidFill>
                <a:latin typeface="MiSans Normal" pitchFamily="2" charset="-122"/>
                <a:ea typeface="MiSans Normal" pitchFamily="2" charset="-122"/>
                <a:cs typeface="MiSans" pitchFamily="34" charset="-120"/>
              </a:rPr>
              <a:t>客户问题得到解决</a:t>
            </a:r>
            <a:endParaRPr lang="en-US" sz="1200" dirty="0">
              <a:latin typeface="MiSans Normal" pitchFamily="2" charset="-122"/>
              <a:ea typeface="MiSans Normal" pitchFamily="2" charset="-122"/>
            </a:endParaRPr>
          </a:p>
          <a:p>
            <a:pPr algn="l">
              <a:lnSpc>
                <a:spcPts val="1620"/>
              </a:lnSpc>
            </a:pPr>
            <a:r>
              <a:rPr lang="en-US" sz="1200" kern="0" spc="-12" dirty="0" err="1">
                <a:solidFill>
                  <a:srgbClr val="292624">
                    <a:alpha val="75000"/>
                  </a:srgbClr>
                </a:solidFill>
                <a:latin typeface="MiSans Normal" pitchFamily="2" charset="-122"/>
                <a:ea typeface="MiSans Normal" pitchFamily="2" charset="-122"/>
                <a:cs typeface="MiSans" pitchFamily="34" charset="-120"/>
              </a:rPr>
              <a:t>基于最新模型</a:t>
            </a:r>
            <a:endParaRPr lang="en-US" sz="1200" dirty="0">
              <a:latin typeface="MiSans Normal" pitchFamily="2" charset="-122"/>
              <a:ea typeface="MiSans Normal" pitchFamily="2" charset="-122"/>
            </a:endParaRPr>
          </a:p>
        </p:txBody>
      </p:sp>
      <p:sp>
        <p:nvSpPr>
          <p:cNvPr id="7" name="Text 4"/>
          <p:cNvSpPr/>
          <p:nvPr/>
        </p:nvSpPr>
        <p:spPr>
          <a:xfrm>
            <a:off x="6175376" y="3195236"/>
            <a:ext cx="2518920" cy="411435"/>
          </a:xfrm>
          <a:prstGeom prst="rect">
            <a:avLst/>
          </a:prstGeom>
          <a:noFill/>
          <a:ln/>
        </p:spPr>
        <p:txBody>
          <a:bodyPr wrap="square" lIns="0" tIns="0" rIns="0" bIns="0" rtlCol="0" anchor="ctr"/>
          <a:lstStyle/>
          <a:p>
            <a:pPr algn="l">
              <a:lnSpc>
                <a:spcPts val="1620"/>
              </a:lnSpc>
            </a:pPr>
            <a:r>
              <a:rPr lang="en-US" sz="1200" kern="0" spc="-12" dirty="0">
                <a:solidFill>
                  <a:srgbClr val="292624">
                    <a:alpha val="75000"/>
                  </a:srgbClr>
                </a:solidFill>
                <a:latin typeface="MiSans Normal" pitchFamily="2" charset="-122"/>
                <a:ea typeface="MiSans Normal" pitchFamily="2" charset="-122"/>
                <a:cs typeface="MiSans" pitchFamily="34" charset="-120"/>
              </a:rPr>
              <a:t>新增营收</a:t>
            </a:r>
            <a:endParaRPr lang="en-US" sz="1200" dirty="0">
              <a:latin typeface="MiSans Normal" pitchFamily="2" charset="-122"/>
              <a:ea typeface="MiSans Normal" pitchFamily="2" charset="-122"/>
            </a:endParaRPr>
          </a:p>
          <a:p>
            <a:pPr algn="l">
              <a:lnSpc>
                <a:spcPts val="1620"/>
              </a:lnSpc>
            </a:pPr>
            <a:r>
              <a:rPr lang="en-US" sz="1200" kern="0" spc="-12" dirty="0" err="1">
                <a:solidFill>
                  <a:srgbClr val="292624">
                    <a:alpha val="75000"/>
                  </a:srgbClr>
                </a:solidFill>
                <a:latin typeface="MiSans Normal" pitchFamily="2" charset="-122"/>
                <a:ea typeface="MiSans Normal" pitchFamily="2" charset="-122"/>
                <a:cs typeface="MiSans" pitchFamily="34" charset="-120"/>
              </a:rPr>
              <a:t>同比增长</a:t>
            </a:r>
            <a:endParaRPr lang="en-US" sz="1200" dirty="0">
              <a:latin typeface="MiSans Normal" pitchFamily="2" charset="-122"/>
              <a:ea typeface="MiSans Normal" pitchFamily="2" charset="-122"/>
            </a:endParaRPr>
          </a:p>
        </p:txBody>
      </p:sp>
      <p:sp>
        <p:nvSpPr>
          <p:cNvPr id="8" name="Text 5"/>
          <p:cNvSpPr/>
          <p:nvPr/>
        </p:nvSpPr>
        <p:spPr>
          <a:xfrm>
            <a:off x="6175375" y="4285320"/>
            <a:ext cx="2518817" cy="411435"/>
          </a:xfrm>
          <a:prstGeom prst="rect">
            <a:avLst/>
          </a:prstGeom>
          <a:noFill/>
          <a:ln/>
        </p:spPr>
        <p:txBody>
          <a:bodyPr wrap="square" lIns="0" tIns="0" rIns="0" bIns="0" rtlCol="0" anchor="ctr"/>
          <a:lstStyle/>
          <a:p>
            <a:pPr algn="l">
              <a:lnSpc>
                <a:spcPts val="1620"/>
              </a:lnSpc>
            </a:pPr>
            <a:r>
              <a:rPr lang="en-US" sz="1200" kern="0" spc="-12" dirty="0">
                <a:solidFill>
                  <a:srgbClr val="292624">
                    <a:alpha val="75000"/>
                  </a:srgbClr>
                </a:solidFill>
                <a:latin typeface="MiSans Normal" pitchFamily="2" charset="-122"/>
                <a:ea typeface="MiSans Normal" pitchFamily="2" charset="-122"/>
                <a:cs typeface="MiSans" pitchFamily="34" charset="-120"/>
              </a:rPr>
              <a:t>节省的生产力月数</a:t>
            </a:r>
            <a:endParaRPr lang="en-US" sz="1200" dirty="0">
              <a:latin typeface="MiSans Normal" pitchFamily="2" charset="-122"/>
              <a:ea typeface="MiSans Normal" pitchFamily="2" charset="-122"/>
            </a:endParaRPr>
          </a:p>
          <a:p>
            <a:pPr algn="l">
              <a:lnSpc>
                <a:spcPts val="1620"/>
              </a:lnSpc>
            </a:pPr>
            <a:r>
              <a:rPr lang="en-US" sz="1200" kern="0" spc="-12" dirty="0" err="1">
                <a:solidFill>
                  <a:srgbClr val="292624">
                    <a:alpha val="75000"/>
                  </a:srgbClr>
                </a:solidFill>
                <a:latin typeface="MiSans Normal" pitchFamily="2" charset="-122"/>
                <a:ea typeface="MiSans Normal" pitchFamily="2" charset="-122"/>
                <a:cs typeface="MiSans" pitchFamily="34" charset="-120"/>
              </a:rPr>
              <a:t>每年</a:t>
            </a:r>
            <a:endParaRPr lang="en-US" sz="1200" dirty="0">
              <a:latin typeface="MiSans Normal" pitchFamily="2" charset="-122"/>
              <a:ea typeface="MiSans Normal" pitchFamily="2" charset="-122"/>
            </a:endParaRPr>
          </a:p>
        </p:txBody>
      </p:sp>
      <p:sp>
        <p:nvSpPr>
          <p:cNvPr id="9" name="Shape 6"/>
          <p:cNvSpPr/>
          <p:nvPr/>
        </p:nvSpPr>
        <p:spPr>
          <a:xfrm rot="10800000" flipV="1">
            <a:off x="3948906" y="3927237"/>
            <a:ext cx="4745286" cy="434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0" name="Shape 7"/>
          <p:cNvSpPr/>
          <p:nvPr/>
        </p:nvSpPr>
        <p:spPr>
          <a:xfrm rot="10800000" flipV="1">
            <a:off x="3948906" y="2816394"/>
            <a:ext cx="4745286" cy="15160"/>
          </a:xfrm>
          <a:prstGeom prst="line">
            <a:avLst/>
          </a:prstGeom>
          <a:solidFill>
            <a:srgbClr val="1E654D"/>
          </a:solidFill>
          <a:ln w="5292">
            <a:solidFill>
              <a:srgbClr val="292624">
                <a:alpha val="20000"/>
              </a:srgbClr>
            </a:solidFill>
            <a:prstDash val="solid"/>
            <a:headEnd type="none"/>
            <a:tailEnd type="none"/>
          </a:ln>
        </p:spPr>
        <p:txBody>
          <a:bodyPr/>
          <a:lstStyle/>
          <a:p>
            <a:endParaRPr/>
          </a:p>
        </p:txBody>
      </p:sp>
      <p:sp>
        <p:nvSpPr>
          <p:cNvPr id="11" name="Text 8"/>
          <p:cNvSpPr/>
          <p:nvPr/>
        </p:nvSpPr>
        <p:spPr>
          <a:xfrm>
            <a:off x="328066" y="319087"/>
            <a:ext cx="4956944" cy="973792"/>
          </a:xfrm>
          <a:prstGeom prst="rect">
            <a:avLst/>
          </a:prstGeom>
          <a:noFill/>
          <a:ln/>
        </p:spPr>
        <p:txBody>
          <a:bodyPr wrap="square" lIns="0" tIns="0" rIns="0" bIns="0" rtlCol="0" anchor="t"/>
          <a:lstStyle/>
          <a:p>
            <a:pPr>
              <a:lnSpc>
                <a:spcPts val="3418"/>
              </a:lnSpc>
            </a:pPr>
            <a:r>
              <a:rPr lang="en-US" sz="2800" kern="0" spc="-24" dirty="0" err="1">
                <a:solidFill>
                  <a:srgbClr val="292624"/>
                </a:solidFill>
                <a:latin typeface="MiSans Demibold" pitchFamily="2" charset="-122"/>
                <a:ea typeface="MiSans Demibold" pitchFamily="2" charset="-122"/>
              </a:rPr>
              <a:t>显然，我们的AI</a:t>
            </a:r>
            <a:endParaRPr lang="en-US" sz="2800" kern="0" spc="-24" dirty="0">
              <a:solidFill>
                <a:srgbClr val="292624"/>
              </a:solidFill>
              <a:latin typeface="MiSans Demibold" pitchFamily="2" charset="-122"/>
              <a:ea typeface="MiSans Demibold" pitchFamily="2" charset="-122"/>
            </a:endParaRPr>
          </a:p>
          <a:p>
            <a:pPr>
              <a:lnSpc>
                <a:spcPts val="3418"/>
              </a:lnSpc>
            </a:pPr>
            <a:r>
              <a:rPr lang="en-US" sz="2800" kern="0" spc="-24" dirty="0" err="1">
                <a:solidFill>
                  <a:srgbClr val="292624"/>
                </a:solidFill>
                <a:latin typeface="MiSans Demibold" pitchFamily="2" charset="-122"/>
                <a:ea typeface="MiSans Demibold" pitchFamily="2" charset="-122"/>
              </a:rPr>
              <a:t>正在</a:t>
            </a:r>
            <a:r>
              <a:rPr lang="en-US" sz="2800" kern="0" spc="-24" dirty="0" err="1">
                <a:solidFill>
                  <a:srgbClr val="2F5745"/>
                </a:solidFill>
                <a:latin typeface="MiSans Demibold" pitchFamily="2" charset="-122"/>
                <a:ea typeface="MiSans Demibold" pitchFamily="2" charset="-122"/>
              </a:rPr>
              <a:t>解决</a:t>
            </a:r>
            <a:r>
              <a:rPr lang="en-US" sz="2800" kern="0" spc="-24" dirty="0" err="1">
                <a:solidFill>
                  <a:srgbClr val="292624"/>
                </a:solidFill>
                <a:latin typeface="MiSans Demibold" pitchFamily="2" charset="-122"/>
                <a:ea typeface="MiSans Demibold" pitchFamily="2" charset="-122"/>
              </a:rPr>
              <a:t>这些问题</a:t>
            </a:r>
            <a:endParaRPr lang="en-US" sz="2800" kern="0" spc="-24" dirty="0">
              <a:solidFill>
                <a:srgbClr val="292624"/>
              </a:solidFill>
              <a:latin typeface="MiSans Demibold" pitchFamily="2" charset="-122"/>
              <a:ea typeface="MiSans Demibold"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1A5544"/>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83c4836-bc91-45c3-a437-a4ea510bee38?pitch-bytes=2686853&amp;pitch-content-type=image%2Fpng"/>
          <p:cNvPicPr>
            <a:picLocks noChangeAspect="1"/>
          </p:cNvPicPr>
          <p:nvPr/>
        </p:nvPicPr>
        <p:blipFill>
          <a:blip r:embed="rId3">
            <a:alphaModFix amt="30000"/>
            <a:blur rad="300"/>
          </a:blip>
          <a:srcRect/>
          <a:stretch/>
        </p:blipFill>
        <p:spPr>
          <a:xfrm>
            <a:off x="0" y="0"/>
            <a:ext cx="9144000" cy="5143500"/>
          </a:xfrm>
          <a:prstGeom prst="rect">
            <a:avLst/>
          </a:prstGeom>
          <a:effectLst>
            <a:blur rad="381000"/>
          </a:effectLst>
        </p:spPr>
      </p:pic>
      <p:sp>
        <p:nvSpPr>
          <p:cNvPr id="2" name="Text 0">
            <a:extLst>
              <a:ext uri="{FF2B5EF4-FFF2-40B4-BE49-F238E27FC236}">
                <a16:creationId xmlns:a16="http://schemas.microsoft.com/office/drawing/2014/main" id="{EC1AE26D-F28C-5D0B-C3EE-A95BA150263C}"/>
              </a:ext>
            </a:extLst>
          </p:cNvPr>
          <p:cNvSpPr/>
          <p:nvPr/>
        </p:nvSpPr>
        <p:spPr>
          <a:xfrm>
            <a:off x="3948906" y="1754535"/>
            <a:ext cx="1988269" cy="817215"/>
          </a:xfrm>
          <a:prstGeom prst="rect">
            <a:avLst/>
          </a:prstGeom>
          <a:noFill/>
          <a:ln/>
        </p:spPr>
        <p:txBody>
          <a:bodyPr wrap="square" lIns="0" tIns="0" rIns="0" bIns="0" rtlCol="0" anchor="t"/>
          <a:lstStyle/>
          <a:p>
            <a:pPr algn="l">
              <a:lnSpc>
                <a:spcPct val="150000"/>
              </a:lnSpc>
            </a:pPr>
            <a:r>
              <a:rPr lang="en-US" sz="4000" kern="0" spc="-24" dirty="0">
                <a:solidFill>
                  <a:schemeClr val="bg1"/>
                </a:solidFill>
                <a:latin typeface="MiSans Semibold" pitchFamily="2" charset="-122"/>
                <a:ea typeface="MiSans Semibold" pitchFamily="2" charset="-122"/>
                <a:cs typeface="MiSans" pitchFamily="34" charset="-120"/>
              </a:rPr>
              <a:t>67%</a:t>
            </a:r>
            <a:endParaRPr lang="en-US" sz="4000" dirty="0">
              <a:solidFill>
                <a:schemeClr val="bg1"/>
              </a:solidFill>
              <a:latin typeface="MiSans Semibold" pitchFamily="2" charset="-122"/>
              <a:ea typeface="MiSans Semibold" pitchFamily="2" charset="-122"/>
            </a:endParaRPr>
          </a:p>
        </p:txBody>
      </p:sp>
      <p:sp>
        <p:nvSpPr>
          <p:cNvPr id="13" name="Text 1">
            <a:extLst>
              <a:ext uri="{FF2B5EF4-FFF2-40B4-BE49-F238E27FC236}">
                <a16:creationId xmlns:a16="http://schemas.microsoft.com/office/drawing/2014/main" id="{867EF3A5-3381-C96E-EDCF-BC38A07C0846}"/>
              </a:ext>
            </a:extLst>
          </p:cNvPr>
          <p:cNvSpPr/>
          <p:nvPr/>
        </p:nvSpPr>
        <p:spPr>
          <a:xfrm>
            <a:off x="3948906" y="2869417"/>
            <a:ext cx="1988269" cy="817215"/>
          </a:xfrm>
          <a:prstGeom prst="rect">
            <a:avLst/>
          </a:prstGeom>
          <a:noFill/>
          <a:ln/>
        </p:spPr>
        <p:txBody>
          <a:bodyPr wrap="square" lIns="0" tIns="0" rIns="0" bIns="0" rtlCol="0" anchor="t"/>
          <a:lstStyle/>
          <a:p>
            <a:pPr algn="l">
              <a:lnSpc>
                <a:spcPct val="150000"/>
              </a:lnSpc>
            </a:pPr>
            <a:r>
              <a:rPr lang="en-US" sz="4000" kern="0" spc="-24" dirty="0">
                <a:solidFill>
                  <a:schemeClr val="bg1"/>
                </a:solidFill>
                <a:latin typeface="MiSans Semibold" pitchFamily="2" charset="-122"/>
                <a:ea typeface="MiSans Semibold" pitchFamily="2" charset="-122"/>
                <a:cs typeface="MiSans" pitchFamily="34" charset="-120"/>
              </a:rPr>
              <a:t>4000</a:t>
            </a:r>
            <a:r>
              <a:rPr lang="en-US" sz="2400" kern="0" spc="-24" dirty="0">
                <a:solidFill>
                  <a:schemeClr val="bg1"/>
                </a:solidFill>
                <a:latin typeface="MiSans Semibold" pitchFamily="2" charset="-122"/>
                <a:ea typeface="MiSans Semibold" pitchFamily="2" charset="-122"/>
                <a:cs typeface="MiSans" pitchFamily="34" charset="-120"/>
              </a:rPr>
              <a:t>万</a:t>
            </a:r>
            <a:endParaRPr lang="en-US" sz="4000" dirty="0">
              <a:solidFill>
                <a:schemeClr val="bg1"/>
              </a:solidFill>
              <a:latin typeface="MiSans Semibold" pitchFamily="2" charset="-122"/>
              <a:ea typeface="MiSans Semibold" pitchFamily="2" charset="-122"/>
            </a:endParaRPr>
          </a:p>
        </p:txBody>
      </p:sp>
      <p:sp>
        <p:nvSpPr>
          <p:cNvPr id="14" name="Text 2">
            <a:extLst>
              <a:ext uri="{FF2B5EF4-FFF2-40B4-BE49-F238E27FC236}">
                <a16:creationId xmlns:a16="http://schemas.microsoft.com/office/drawing/2014/main" id="{261D6A9E-1F4B-364D-5359-C07D600B5240}"/>
              </a:ext>
            </a:extLst>
          </p:cNvPr>
          <p:cNvSpPr/>
          <p:nvPr/>
        </p:nvSpPr>
        <p:spPr>
          <a:xfrm>
            <a:off x="3948906" y="4007198"/>
            <a:ext cx="1988269" cy="817215"/>
          </a:xfrm>
          <a:prstGeom prst="rect">
            <a:avLst/>
          </a:prstGeom>
          <a:noFill/>
          <a:ln/>
        </p:spPr>
        <p:txBody>
          <a:bodyPr wrap="square" lIns="0" tIns="0" rIns="0" bIns="0" rtlCol="0" anchor="t"/>
          <a:lstStyle/>
          <a:p>
            <a:pPr algn="l">
              <a:lnSpc>
                <a:spcPct val="150000"/>
              </a:lnSpc>
            </a:pPr>
            <a:r>
              <a:rPr lang="en-US" sz="4000" kern="0" spc="-24" dirty="0">
                <a:solidFill>
                  <a:schemeClr val="bg1"/>
                </a:solidFill>
                <a:latin typeface="MiSans Semibold" pitchFamily="2" charset="-122"/>
                <a:ea typeface="MiSans Semibold" pitchFamily="2" charset="-122"/>
                <a:cs typeface="MiSans" pitchFamily="34" charset="-120"/>
              </a:rPr>
              <a:t>8</a:t>
            </a:r>
            <a:endParaRPr lang="en-US" sz="4000" dirty="0">
              <a:solidFill>
                <a:schemeClr val="bg1"/>
              </a:solidFill>
              <a:latin typeface="MiSans Semibold" pitchFamily="2" charset="-122"/>
              <a:ea typeface="MiSans Semibold" pitchFamily="2" charset="-122"/>
            </a:endParaRPr>
          </a:p>
        </p:txBody>
      </p:sp>
      <p:sp>
        <p:nvSpPr>
          <p:cNvPr id="15" name="Text 3">
            <a:extLst>
              <a:ext uri="{FF2B5EF4-FFF2-40B4-BE49-F238E27FC236}">
                <a16:creationId xmlns:a16="http://schemas.microsoft.com/office/drawing/2014/main" id="{C68C842F-4BCC-C4B2-DEC7-311FEE3468EB}"/>
              </a:ext>
            </a:extLst>
          </p:cNvPr>
          <p:cNvSpPr/>
          <p:nvPr/>
        </p:nvSpPr>
        <p:spPr>
          <a:xfrm>
            <a:off x="6175376" y="2080054"/>
            <a:ext cx="2518920" cy="411435"/>
          </a:xfrm>
          <a:prstGeom prst="rect">
            <a:avLst/>
          </a:prstGeom>
          <a:noFill/>
          <a:ln/>
        </p:spPr>
        <p:txBody>
          <a:bodyPr wrap="square" lIns="0" tIns="0" rIns="0" bIns="0" rtlCol="0" anchor="ctr"/>
          <a:lstStyle/>
          <a:p>
            <a:pPr algn="l">
              <a:lnSpc>
                <a:spcPts val="1620"/>
              </a:lnSpc>
            </a:pPr>
            <a:r>
              <a:rPr lang="en-US" sz="1200" kern="0" spc="-12" dirty="0">
                <a:solidFill>
                  <a:schemeClr val="bg1"/>
                </a:solidFill>
                <a:latin typeface="MiSans Light" pitchFamily="2" charset="-122"/>
                <a:ea typeface="MiSans Light" pitchFamily="2" charset="-122"/>
                <a:cs typeface="MiSans" pitchFamily="34" charset="-120"/>
              </a:rPr>
              <a:t>客户问题得到解决</a:t>
            </a:r>
            <a:endParaRPr lang="en-US" sz="1200" dirty="0">
              <a:solidFill>
                <a:schemeClr val="bg1"/>
              </a:solidFill>
              <a:latin typeface="MiSans Light" pitchFamily="2" charset="-122"/>
              <a:ea typeface="MiSans Light" pitchFamily="2" charset="-122"/>
            </a:endParaRPr>
          </a:p>
          <a:p>
            <a:pPr algn="l">
              <a:lnSpc>
                <a:spcPts val="1620"/>
              </a:lnSpc>
            </a:pPr>
            <a:r>
              <a:rPr lang="en-US" sz="1200" kern="0" spc="-12" dirty="0" err="1">
                <a:solidFill>
                  <a:schemeClr val="bg1"/>
                </a:solidFill>
                <a:latin typeface="MiSans Light" pitchFamily="2" charset="-122"/>
                <a:ea typeface="MiSans Light" pitchFamily="2" charset="-122"/>
                <a:cs typeface="MiSans" pitchFamily="34" charset="-120"/>
              </a:rPr>
              <a:t>基于最新模型</a:t>
            </a:r>
            <a:endParaRPr lang="en-US" sz="1200" dirty="0">
              <a:solidFill>
                <a:schemeClr val="bg1"/>
              </a:solidFill>
              <a:latin typeface="MiSans Light" pitchFamily="2" charset="-122"/>
              <a:ea typeface="MiSans Light" pitchFamily="2" charset="-122"/>
            </a:endParaRPr>
          </a:p>
        </p:txBody>
      </p:sp>
      <p:sp>
        <p:nvSpPr>
          <p:cNvPr id="16" name="Text 4">
            <a:extLst>
              <a:ext uri="{FF2B5EF4-FFF2-40B4-BE49-F238E27FC236}">
                <a16:creationId xmlns:a16="http://schemas.microsoft.com/office/drawing/2014/main" id="{4B0F35CE-62FC-2DBB-1907-627FE34B07F8}"/>
              </a:ext>
            </a:extLst>
          </p:cNvPr>
          <p:cNvSpPr/>
          <p:nvPr/>
        </p:nvSpPr>
        <p:spPr>
          <a:xfrm>
            <a:off x="6175376" y="3195236"/>
            <a:ext cx="2518920" cy="411435"/>
          </a:xfrm>
          <a:prstGeom prst="rect">
            <a:avLst/>
          </a:prstGeom>
          <a:noFill/>
          <a:ln/>
        </p:spPr>
        <p:txBody>
          <a:bodyPr wrap="square" lIns="0" tIns="0" rIns="0" bIns="0" rtlCol="0" anchor="ctr"/>
          <a:lstStyle/>
          <a:p>
            <a:pPr algn="l">
              <a:lnSpc>
                <a:spcPts val="1620"/>
              </a:lnSpc>
            </a:pPr>
            <a:r>
              <a:rPr lang="en-US" sz="1200" kern="0" spc="-12" dirty="0">
                <a:solidFill>
                  <a:schemeClr val="bg1"/>
                </a:solidFill>
                <a:latin typeface="MiSans Light" pitchFamily="2" charset="-122"/>
                <a:ea typeface="MiSans Light" pitchFamily="2" charset="-122"/>
                <a:cs typeface="MiSans" pitchFamily="34" charset="-120"/>
              </a:rPr>
              <a:t>新增营收</a:t>
            </a:r>
            <a:endParaRPr lang="en-US" sz="1200" dirty="0">
              <a:solidFill>
                <a:schemeClr val="bg1"/>
              </a:solidFill>
              <a:latin typeface="MiSans Light" pitchFamily="2" charset="-122"/>
              <a:ea typeface="MiSans Light" pitchFamily="2" charset="-122"/>
            </a:endParaRPr>
          </a:p>
          <a:p>
            <a:pPr algn="l">
              <a:lnSpc>
                <a:spcPts val="1620"/>
              </a:lnSpc>
            </a:pPr>
            <a:r>
              <a:rPr lang="en-US" sz="1200" kern="0" spc="-12" dirty="0" err="1">
                <a:solidFill>
                  <a:schemeClr val="bg1"/>
                </a:solidFill>
                <a:latin typeface="MiSans Light" pitchFamily="2" charset="-122"/>
                <a:ea typeface="MiSans Light" pitchFamily="2" charset="-122"/>
                <a:cs typeface="MiSans" pitchFamily="34" charset="-120"/>
              </a:rPr>
              <a:t>同比增长</a:t>
            </a:r>
            <a:endParaRPr lang="en-US" sz="1200" dirty="0">
              <a:solidFill>
                <a:schemeClr val="bg1"/>
              </a:solidFill>
              <a:latin typeface="MiSans Light" pitchFamily="2" charset="-122"/>
              <a:ea typeface="MiSans Light" pitchFamily="2" charset="-122"/>
            </a:endParaRPr>
          </a:p>
        </p:txBody>
      </p:sp>
      <p:sp>
        <p:nvSpPr>
          <p:cNvPr id="17" name="Text 5">
            <a:extLst>
              <a:ext uri="{FF2B5EF4-FFF2-40B4-BE49-F238E27FC236}">
                <a16:creationId xmlns:a16="http://schemas.microsoft.com/office/drawing/2014/main" id="{FFA4C07C-62DF-1934-2A45-C61F48D987A3}"/>
              </a:ext>
            </a:extLst>
          </p:cNvPr>
          <p:cNvSpPr/>
          <p:nvPr/>
        </p:nvSpPr>
        <p:spPr>
          <a:xfrm>
            <a:off x="6175375" y="4285320"/>
            <a:ext cx="2518817" cy="411435"/>
          </a:xfrm>
          <a:prstGeom prst="rect">
            <a:avLst/>
          </a:prstGeom>
          <a:noFill/>
          <a:ln/>
        </p:spPr>
        <p:txBody>
          <a:bodyPr wrap="square" lIns="0" tIns="0" rIns="0" bIns="0" rtlCol="0" anchor="ctr"/>
          <a:lstStyle/>
          <a:p>
            <a:pPr algn="l">
              <a:lnSpc>
                <a:spcPts val="1620"/>
              </a:lnSpc>
            </a:pPr>
            <a:r>
              <a:rPr lang="en-US" sz="1200" kern="0" spc="-12" dirty="0">
                <a:solidFill>
                  <a:schemeClr val="bg1"/>
                </a:solidFill>
                <a:latin typeface="MiSans Light" pitchFamily="2" charset="-122"/>
                <a:ea typeface="MiSans Light" pitchFamily="2" charset="-122"/>
                <a:cs typeface="MiSans" pitchFamily="34" charset="-120"/>
              </a:rPr>
              <a:t>节省的生产力月数</a:t>
            </a:r>
            <a:endParaRPr lang="en-US" sz="1200" dirty="0">
              <a:solidFill>
                <a:schemeClr val="bg1"/>
              </a:solidFill>
              <a:latin typeface="MiSans Light" pitchFamily="2" charset="-122"/>
              <a:ea typeface="MiSans Light" pitchFamily="2" charset="-122"/>
            </a:endParaRPr>
          </a:p>
          <a:p>
            <a:pPr algn="l">
              <a:lnSpc>
                <a:spcPts val="1620"/>
              </a:lnSpc>
            </a:pPr>
            <a:r>
              <a:rPr lang="en-US" sz="1200" kern="0" spc="-12" dirty="0" err="1">
                <a:solidFill>
                  <a:schemeClr val="bg1"/>
                </a:solidFill>
                <a:latin typeface="MiSans Light" pitchFamily="2" charset="-122"/>
                <a:ea typeface="MiSans Light" pitchFamily="2" charset="-122"/>
                <a:cs typeface="MiSans" pitchFamily="34" charset="-120"/>
              </a:rPr>
              <a:t>每年</a:t>
            </a:r>
            <a:endParaRPr lang="en-US" sz="1200" dirty="0">
              <a:solidFill>
                <a:schemeClr val="bg1"/>
              </a:solidFill>
              <a:latin typeface="MiSans Light" pitchFamily="2" charset="-122"/>
              <a:ea typeface="MiSans Light" pitchFamily="2" charset="-122"/>
            </a:endParaRPr>
          </a:p>
        </p:txBody>
      </p:sp>
      <p:sp>
        <p:nvSpPr>
          <p:cNvPr id="18" name="Shape 6">
            <a:extLst>
              <a:ext uri="{FF2B5EF4-FFF2-40B4-BE49-F238E27FC236}">
                <a16:creationId xmlns:a16="http://schemas.microsoft.com/office/drawing/2014/main" id="{57ED7136-5C11-AA33-B53B-6727B7063289}"/>
              </a:ext>
            </a:extLst>
          </p:cNvPr>
          <p:cNvSpPr/>
          <p:nvPr/>
        </p:nvSpPr>
        <p:spPr>
          <a:xfrm rot="10800000" flipV="1">
            <a:off x="3948906" y="3927237"/>
            <a:ext cx="4745286" cy="434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chemeClr val="bg1"/>
              </a:solidFill>
            </a:endParaRPr>
          </a:p>
        </p:txBody>
      </p:sp>
      <p:sp>
        <p:nvSpPr>
          <p:cNvPr id="19" name="Shape 7">
            <a:extLst>
              <a:ext uri="{FF2B5EF4-FFF2-40B4-BE49-F238E27FC236}">
                <a16:creationId xmlns:a16="http://schemas.microsoft.com/office/drawing/2014/main" id="{81167244-96B0-CBD4-9050-E298F1211977}"/>
              </a:ext>
            </a:extLst>
          </p:cNvPr>
          <p:cNvSpPr/>
          <p:nvPr/>
        </p:nvSpPr>
        <p:spPr>
          <a:xfrm rot="10800000" flipV="1">
            <a:off x="3948906" y="2816394"/>
            <a:ext cx="4745286" cy="15160"/>
          </a:xfrm>
          <a:prstGeom prst="line">
            <a:avLst/>
          </a:prstGeom>
          <a:solidFill>
            <a:srgbClr val="1E654D"/>
          </a:solidFill>
          <a:ln w="5292">
            <a:solidFill>
              <a:schemeClr val="bg1">
                <a:alpha val="20000"/>
              </a:schemeClr>
            </a:solidFill>
            <a:prstDash val="solid"/>
            <a:headEnd type="none"/>
            <a:tailEnd type="none"/>
          </a:ln>
        </p:spPr>
        <p:txBody>
          <a:bodyPr/>
          <a:lstStyle/>
          <a:p>
            <a:endParaRPr>
              <a:solidFill>
                <a:schemeClr val="bg1"/>
              </a:solidFill>
            </a:endParaRPr>
          </a:p>
        </p:txBody>
      </p:sp>
      <p:sp>
        <p:nvSpPr>
          <p:cNvPr id="20" name="Text 8">
            <a:extLst>
              <a:ext uri="{FF2B5EF4-FFF2-40B4-BE49-F238E27FC236}">
                <a16:creationId xmlns:a16="http://schemas.microsoft.com/office/drawing/2014/main" id="{ED99E27D-FF6C-AD77-0992-B3F0B37CE80E}"/>
              </a:ext>
            </a:extLst>
          </p:cNvPr>
          <p:cNvSpPr/>
          <p:nvPr/>
        </p:nvSpPr>
        <p:spPr>
          <a:xfrm>
            <a:off x="328066" y="319087"/>
            <a:ext cx="4956944" cy="973792"/>
          </a:xfrm>
          <a:prstGeom prst="rect">
            <a:avLst/>
          </a:prstGeom>
          <a:noFill/>
          <a:ln/>
        </p:spPr>
        <p:txBody>
          <a:bodyPr wrap="square" lIns="0" tIns="0" rIns="0" bIns="0" rtlCol="0" anchor="t"/>
          <a:lstStyle/>
          <a:p>
            <a:pPr>
              <a:lnSpc>
                <a:spcPts val="3418"/>
              </a:lnSpc>
            </a:pPr>
            <a:r>
              <a:rPr lang="en-US" sz="2800" kern="0" spc="-24" dirty="0" err="1">
                <a:solidFill>
                  <a:schemeClr val="bg1"/>
                </a:solidFill>
                <a:latin typeface="MiSans Demibold" pitchFamily="2" charset="-122"/>
                <a:ea typeface="MiSans Demibold" pitchFamily="2" charset="-122"/>
              </a:rPr>
              <a:t>显然，我们的AI</a:t>
            </a:r>
            <a:endParaRPr lang="en-US" sz="2800" kern="0" spc="-24" dirty="0">
              <a:solidFill>
                <a:schemeClr val="bg1"/>
              </a:solidFill>
              <a:latin typeface="MiSans Demibold" pitchFamily="2" charset="-122"/>
              <a:ea typeface="MiSans Demibold" pitchFamily="2" charset="-122"/>
            </a:endParaRPr>
          </a:p>
          <a:p>
            <a:pPr>
              <a:lnSpc>
                <a:spcPts val="3418"/>
              </a:lnSpc>
            </a:pPr>
            <a:r>
              <a:rPr lang="en-US" sz="2800" kern="0" spc="-24" dirty="0" err="1">
                <a:solidFill>
                  <a:schemeClr val="bg1"/>
                </a:solidFill>
                <a:latin typeface="MiSans Demibold" pitchFamily="2" charset="-122"/>
                <a:ea typeface="MiSans Demibold" pitchFamily="2" charset="-122"/>
              </a:rPr>
              <a:t>正在解决这些问题</a:t>
            </a:r>
            <a:endParaRPr lang="en-US" sz="2800" kern="0" spc="-24" dirty="0">
              <a:solidFill>
                <a:schemeClr val="bg1"/>
              </a:solidFill>
              <a:latin typeface="MiSans Demibold" pitchFamily="2" charset="-122"/>
              <a:ea typeface="MiSans Demibold"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bg>
      <p:bgPr>
        <a:solidFill>
          <a:srgbClr val="1A5544"/>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369170E-C3ED-7FC8-9EA5-E601E8CCE682}"/>
              </a:ext>
            </a:extLst>
          </p:cNvPr>
          <p:cNvPicPr>
            <a:picLocks noChangeAspect="1"/>
          </p:cNvPicPr>
          <p:nvPr/>
        </p:nvPicPr>
        <p:blipFill>
          <a:blip r:embed="rId3"/>
          <a:stretch>
            <a:fillRect/>
          </a:stretch>
        </p:blipFill>
        <p:spPr>
          <a:xfrm>
            <a:off x="0" y="-2116"/>
            <a:ext cx="9144000" cy="5147733"/>
          </a:xfrm>
          <a:prstGeom prst="rect">
            <a:avLst/>
          </a:prstGeom>
        </p:spPr>
      </p:pic>
      <p:sp>
        <p:nvSpPr>
          <p:cNvPr id="13" name="Text 0">
            <a:extLst>
              <a:ext uri="{FF2B5EF4-FFF2-40B4-BE49-F238E27FC236}">
                <a16:creationId xmlns:a16="http://schemas.microsoft.com/office/drawing/2014/main" id="{A241978A-FB6E-E3A1-54B5-FC8F17916F95}"/>
              </a:ext>
            </a:extLst>
          </p:cNvPr>
          <p:cNvSpPr/>
          <p:nvPr/>
        </p:nvSpPr>
        <p:spPr>
          <a:xfrm>
            <a:off x="3166014" y="201591"/>
            <a:ext cx="2811971" cy="4762499"/>
          </a:xfrm>
          <a:prstGeom prst="roundRect">
            <a:avLst>
              <a:gd name="adj" fmla="val 6797"/>
            </a:avLst>
          </a:prstGeom>
          <a:solidFill>
            <a:srgbClr val="F1FFF2">
              <a:alpha val="7843"/>
            </a:srgbClr>
          </a:solidFill>
          <a:ln/>
        </p:spPr>
        <p:txBody>
          <a:bodyPr wrap="square" lIns="164924" tIns="743077" rIns="164924" bIns="743077" rtlCol="0" anchor="ctr"/>
          <a:lstStyle/>
          <a:p>
            <a:pPr algn="ctr">
              <a:lnSpc>
                <a:spcPts val="1414"/>
              </a:lnSpc>
            </a:pPr>
            <a:endParaRPr lang="en-US" sz="975" dirty="0"/>
          </a:p>
        </p:txBody>
      </p:sp>
      <p:sp>
        <p:nvSpPr>
          <p:cNvPr id="5" name="Text 1"/>
          <p:cNvSpPr/>
          <p:nvPr/>
        </p:nvSpPr>
        <p:spPr>
          <a:xfrm>
            <a:off x="250546" y="4772025"/>
            <a:ext cx="2857500" cy="133350"/>
          </a:xfrm>
          <a:prstGeom prst="rect">
            <a:avLst/>
          </a:prstGeom>
          <a:noFill/>
          <a:ln/>
        </p:spPr>
        <p:txBody>
          <a:bodyPr wrap="square" lIns="0" tIns="0" rIns="0" bIns="0" rtlCol="0" anchor="b"/>
          <a:lstStyle/>
          <a:p>
            <a:pPr algn="l">
              <a:lnSpc>
                <a:spcPts val="1050"/>
              </a:lnSpc>
            </a:pPr>
            <a:r>
              <a:rPr lang="en-US" sz="800" b="0" kern="0" spc="120" dirty="0">
                <a:solidFill>
                  <a:srgbClr val="FFFFFF"/>
                </a:solidFill>
                <a:latin typeface="MiSans" pitchFamily="34" charset="0"/>
                <a:ea typeface="MiSans" pitchFamily="34" charset="-122"/>
                <a:cs typeface="MiSans" pitchFamily="34" charset="-120"/>
              </a:rPr>
              <a:t>公司名称</a:t>
            </a:r>
            <a:endParaRPr lang="en-US" sz="750" dirty="0"/>
          </a:p>
        </p:txBody>
      </p:sp>
      <p:sp>
        <p:nvSpPr>
          <p:cNvPr id="6" name="Text 1">
            <a:extLst>
              <a:ext uri="{FF2B5EF4-FFF2-40B4-BE49-F238E27FC236}">
                <a16:creationId xmlns:a16="http://schemas.microsoft.com/office/drawing/2014/main" id="{FD36C56D-4292-AD5F-F376-EDFB96636F69}"/>
              </a:ext>
            </a:extLst>
          </p:cNvPr>
          <p:cNvSpPr/>
          <p:nvPr/>
        </p:nvSpPr>
        <p:spPr>
          <a:xfrm>
            <a:off x="3302943" y="720469"/>
            <a:ext cx="2538115" cy="712740"/>
          </a:xfrm>
          <a:prstGeom prst="rect">
            <a:avLst/>
          </a:prstGeom>
          <a:noFill/>
          <a:ln/>
        </p:spPr>
        <p:txBody>
          <a:bodyPr wrap="square" lIns="0" tIns="0" rIns="0" bIns="0" rtlCol="0" anchor="t"/>
          <a:lstStyle/>
          <a:p>
            <a:pPr algn="ctr"/>
            <a:r>
              <a:rPr lang="en-US" sz="2400" dirty="0">
                <a:solidFill>
                  <a:schemeClr val="bg1"/>
                </a:solidFill>
                <a:latin typeface="MiSans Demibold" pitchFamily="2" charset="-122"/>
                <a:ea typeface="MiSans Demibold" pitchFamily="2" charset="-122"/>
                <a:cs typeface="Geist" pitchFamily="34" charset="-120"/>
              </a:rPr>
              <a:t>谢谢观看</a:t>
            </a:r>
            <a:endParaRPr lang="en-US" sz="2400" dirty="0">
              <a:solidFill>
                <a:schemeClr val="bg1"/>
              </a:solidFill>
              <a:latin typeface="MiSans Demibold" pitchFamily="2" charset="-122"/>
              <a:ea typeface="MiSans Demibold" pitchFamily="2" charset="-122"/>
            </a:endParaRPr>
          </a:p>
          <a:p>
            <a:pPr algn="ctr"/>
            <a:r>
              <a:rPr lang="en-US" sz="2400" dirty="0">
                <a:solidFill>
                  <a:schemeClr val="bg1"/>
                </a:solidFill>
                <a:latin typeface="MiSans Demibold" pitchFamily="2" charset="-122"/>
                <a:ea typeface="MiSans Demibold" pitchFamily="2" charset="-122"/>
                <a:cs typeface="Geist" pitchFamily="34" charset="-120"/>
              </a:rPr>
              <a:t>联系我们</a:t>
            </a:r>
            <a:endParaRPr lang="en-US" sz="2400" dirty="0">
              <a:solidFill>
                <a:schemeClr val="bg1"/>
              </a:solidFill>
              <a:latin typeface="MiSans Demibold" pitchFamily="2" charset="-122"/>
              <a:ea typeface="MiSans Demibold" pitchFamily="2" charset="-122"/>
            </a:endParaRPr>
          </a:p>
        </p:txBody>
      </p:sp>
      <p:sp>
        <p:nvSpPr>
          <p:cNvPr id="7" name="Text 2">
            <a:extLst>
              <a:ext uri="{FF2B5EF4-FFF2-40B4-BE49-F238E27FC236}">
                <a16:creationId xmlns:a16="http://schemas.microsoft.com/office/drawing/2014/main" id="{76A0749D-AE5B-A984-1405-2B26868A1D6B}"/>
              </a:ext>
            </a:extLst>
          </p:cNvPr>
          <p:cNvSpPr/>
          <p:nvPr/>
        </p:nvSpPr>
        <p:spPr>
          <a:xfrm>
            <a:off x="3419531" y="2307431"/>
            <a:ext cx="2309701" cy="142875"/>
          </a:xfrm>
          <a:prstGeom prst="rect">
            <a:avLst/>
          </a:prstGeom>
          <a:noFill/>
          <a:ln/>
        </p:spPr>
        <p:txBody>
          <a:bodyPr wrap="square" lIns="0" tIns="0" rIns="0" bIns="0" rtlCol="0" anchor="t"/>
          <a:lstStyle/>
          <a:p>
            <a:pPr algn="ctr">
              <a:lnSpc>
                <a:spcPts val="1125"/>
              </a:lnSpc>
            </a:pPr>
            <a:r>
              <a:rPr lang="en-US" sz="900" kern="0" spc="-24" dirty="0">
                <a:solidFill>
                  <a:srgbClr val="FFFFFF"/>
                </a:solidFill>
                <a:latin typeface="MiSans Light" pitchFamily="2" charset="-122"/>
                <a:ea typeface="MiSans Light" pitchFamily="2" charset="-122"/>
                <a:cs typeface="Geist Mono" pitchFamily="34" charset="-120"/>
              </a:rPr>
              <a:t>地址</a:t>
            </a:r>
            <a:endParaRPr lang="en-US" sz="900" dirty="0">
              <a:solidFill>
                <a:srgbClr val="FFFFFF"/>
              </a:solidFill>
              <a:latin typeface="MiSans Light" pitchFamily="2" charset="-122"/>
              <a:ea typeface="MiSans Light" pitchFamily="2" charset="-122"/>
            </a:endParaRPr>
          </a:p>
        </p:txBody>
      </p:sp>
      <p:sp>
        <p:nvSpPr>
          <p:cNvPr id="8" name="Text 3">
            <a:extLst>
              <a:ext uri="{FF2B5EF4-FFF2-40B4-BE49-F238E27FC236}">
                <a16:creationId xmlns:a16="http://schemas.microsoft.com/office/drawing/2014/main" id="{B7700616-251E-9847-EAF2-EC4D579E44A0}"/>
              </a:ext>
            </a:extLst>
          </p:cNvPr>
          <p:cNvSpPr/>
          <p:nvPr/>
        </p:nvSpPr>
        <p:spPr>
          <a:xfrm>
            <a:off x="3419531" y="2493169"/>
            <a:ext cx="2309701" cy="342900"/>
          </a:xfrm>
          <a:prstGeom prst="rect">
            <a:avLst/>
          </a:prstGeom>
          <a:noFill/>
          <a:ln/>
        </p:spPr>
        <p:txBody>
          <a:bodyPr wrap="square" lIns="0" tIns="0" rIns="0" bIns="0" rtlCol="0" anchor="t"/>
          <a:lstStyle/>
          <a:p>
            <a:pPr algn="ctr">
              <a:lnSpc>
                <a:spcPts val="1350"/>
              </a:lnSpc>
            </a:pPr>
            <a:r>
              <a:rPr lang="en-US" altLang="zh-CN" sz="900" dirty="0" err="1">
                <a:solidFill>
                  <a:schemeClr val="bg1"/>
                </a:solidFill>
                <a:latin typeface="MiSans" pitchFamily="2" charset="-122"/>
                <a:ea typeface="MiSans" pitchFamily="2" charset="-122"/>
                <a:cs typeface="Geist" pitchFamily="34" charset="-120"/>
              </a:rPr>
              <a:t>这里是您的地址信息xxx省xxx市xxx</a:t>
            </a:r>
            <a:r>
              <a:rPr lang="en-US" altLang="zh-CN" sz="900" dirty="0">
                <a:solidFill>
                  <a:schemeClr val="bg1"/>
                </a:solidFill>
                <a:latin typeface="MiSans" pitchFamily="2" charset="-122"/>
                <a:ea typeface="MiSans" pitchFamily="2" charset="-122"/>
                <a:cs typeface="Geist" pitchFamily="34" charset="-120"/>
              </a:rPr>
              <a:t> </a:t>
            </a:r>
            <a:r>
              <a:rPr lang="en-US" altLang="zh-CN" sz="900" dirty="0" err="1">
                <a:solidFill>
                  <a:schemeClr val="bg1"/>
                </a:solidFill>
                <a:latin typeface="MiSans" pitchFamily="2" charset="-122"/>
                <a:ea typeface="MiSans" pitchFamily="2" charset="-122"/>
                <a:cs typeface="Geist" pitchFamily="34" charset="-120"/>
              </a:rPr>
              <a:t>大厦</a:t>
            </a:r>
            <a:r>
              <a:rPr lang="zh-CN" altLang="en-US" sz="900" dirty="0">
                <a:solidFill>
                  <a:schemeClr val="bg1"/>
                </a:solidFill>
                <a:latin typeface="MiSans" pitchFamily="2" charset="-122"/>
                <a:ea typeface="MiSans" pitchFamily="2" charset="-122"/>
                <a:cs typeface="Geist" pitchFamily="34" charset="-120"/>
              </a:rPr>
              <a:t> </a:t>
            </a:r>
            <a:endParaRPr lang="en-US" altLang="zh-CN" sz="900" dirty="0">
              <a:solidFill>
                <a:schemeClr val="bg1"/>
              </a:solidFill>
              <a:latin typeface="MiSans" pitchFamily="2" charset="-122"/>
              <a:ea typeface="MiSans" pitchFamily="2" charset="-122"/>
            </a:endParaRPr>
          </a:p>
        </p:txBody>
      </p:sp>
      <p:sp>
        <p:nvSpPr>
          <p:cNvPr id="9" name="Text 4">
            <a:extLst>
              <a:ext uri="{FF2B5EF4-FFF2-40B4-BE49-F238E27FC236}">
                <a16:creationId xmlns:a16="http://schemas.microsoft.com/office/drawing/2014/main" id="{F2267C0D-5692-2385-199A-F9D9C152133A}"/>
              </a:ext>
            </a:extLst>
          </p:cNvPr>
          <p:cNvSpPr/>
          <p:nvPr/>
        </p:nvSpPr>
        <p:spPr>
          <a:xfrm>
            <a:off x="3419531" y="3217069"/>
            <a:ext cx="2309701" cy="142875"/>
          </a:xfrm>
          <a:prstGeom prst="rect">
            <a:avLst/>
          </a:prstGeom>
          <a:noFill/>
          <a:ln/>
        </p:spPr>
        <p:txBody>
          <a:bodyPr wrap="square" lIns="0" tIns="0" rIns="0" bIns="0" rtlCol="0" anchor="t"/>
          <a:lstStyle/>
          <a:p>
            <a:pPr algn="ctr">
              <a:lnSpc>
                <a:spcPts val="1125"/>
              </a:lnSpc>
            </a:pPr>
            <a:r>
              <a:rPr lang="en-US" sz="900" kern="0" spc="-24" dirty="0">
                <a:solidFill>
                  <a:srgbClr val="FFFFFF"/>
                </a:solidFill>
                <a:latin typeface="MiSans Light" pitchFamily="2" charset="-122"/>
                <a:ea typeface="MiSans Light" pitchFamily="2" charset="-122"/>
                <a:cs typeface="Geist Mono" pitchFamily="34" charset="-120"/>
              </a:rPr>
              <a:t>邮箱</a:t>
            </a:r>
            <a:endParaRPr lang="en-US" sz="900" dirty="0">
              <a:solidFill>
                <a:srgbClr val="FFFFFF"/>
              </a:solidFill>
              <a:latin typeface="MiSans Light" pitchFamily="2" charset="-122"/>
              <a:ea typeface="MiSans Light" pitchFamily="2" charset="-122"/>
            </a:endParaRPr>
          </a:p>
        </p:txBody>
      </p:sp>
      <p:sp>
        <p:nvSpPr>
          <p:cNvPr id="10" name="Text 5">
            <a:extLst>
              <a:ext uri="{FF2B5EF4-FFF2-40B4-BE49-F238E27FC236}">
                <a16:creationId xmlns:a16="http://schemas.microsoft.com/office/drawing/2014/main" id="{98E96882-F946-D5B5-FE72-5CCBB195EAF3}"/>
              </a:ext>
            </a:extLst>
          </p:cNvPr>
          <p:cNvSpPr/>
          <p:nvPr/>
        </p:nvSpPr>
        <p:spPr>
          <a:xfrm>
            <a:off x="3419475" y="3402806"/>
            <a:ext cx="2309812" cy="171450"/>
          </a:xfrm>
          <a:prstGeom prst="rect">
            <a:avLst/>
          </a:prstGeom>
          <a:noFill/>
          <a:ln/>
        </p:spPr>
        <p:txBody>
          <a:bodyPr wrap="square" lIns="0" tIns="0" rIns="0" bIns="0" rtlCol="0" anchor="t"/>
          <a:lstStyle/>
          <a:p>
            <a:pPr algn="ctr">
              <a:lnSpc>
                <a:spcPts val="1350"/>
              </a:lnSpc>
            </a:pPr>
            <a:r>
              <a:rPr lang="en-US" altLang="zh-CN" sz="900" dirty="0">
                <a:solidFill>
                  <a:schemeClr val="bg1"/>
                </a:solidFill>
                <a:latin typeface="MiSans" pitchFamily="2" charset="-122"/>
                <a:ea typeface="MiSans" pitchFamily="2" charset="-122"/>
                <a:cs typeface="Geist" pitchFamily="34" charset="-120"/>
              </a:rPr>
              <a:t>1234567</a:t>
            </a:r>
            <a:r>
              <a:rPr lang="en-US" sz="900" dirty="0">
                <a:solidFill>
                  <a:schemeClr val="bg1"/>
                </a:solidFill>
                <a:latin typeface="MiSans" pitchFamily="2" charset="-122"/>
                <a:ea typeface="MiSans" pitchFamily="2" charset="-122"/>
                <a:cs typeface="Geist" pitchFamily="34" charset="-120"/>
              </a:rPr>
              <a:t>@yuanbao.email</a:t>
            </a:r>
            <a:endParaRPr lang="en-US" sz="900" dirty="0">
              <a:solidFill>
                <a:schemeClr val="bg1"/>
              </a:solidFill>
              <a:latin typeface="MiSans" pitchFamily="2" charset="-122"/>
              <a:ea typeface="MiSans" pitchFamily="2" charset="-122"/>
            </a:endParaRPr>
          </a:p>
        </p:txBody>
      </p:sp>
      <p:sp>
        <p:nvSpPr>
          <p:cNvPr id="11" name="Text 6">
            <a:extLst>
              <a:ext uri="{FF2B5EF4-FFF2-40B4-BE49-F238E27FC236}">
                <a16:creationId xmlns:a16="http://schemas.microsoft.com/office/drawing/2014/main" id="{CF259813-85D2-2918-E7BE-7815A83ADDA2}"/>
              </a:ext>
            </a:extLst>
          </p:cNvPr>
          <p:cNvSpPr/>
          <p:nvPr/>
        </p:nvSpPr>
        <p:spPr>
          <a:xfrm>
            <a:off x="3419531" y="3955066"/>
            <a:ext cx="2309701" cy="142875"/>
          </a:xfrm>
          <a:prstGeom prst="rect">
            <a:avLst/>
          </a:prstGeom>
          <a:noFill/>
          <a:ln/>
        </p:spPr>
        <p:txBody>
          <a:bodyPr wrap="square" lIns="0" tIns="0" rIns="0" bIns="0" rtlCol="0" anchor="t"/>
          <a:lstStyle/>
          <a:p>
            <a:pPr algn="ctr">
              <a:lnSpc>
                <a:spcPts val="1125"/>
              </a:lnSpc>
            </a:pPr>
            <a:r>
              <a:rPr lang="en-US" sz="900" kern="0" spc="-24" dirty="0">
                <a:solidFill>
                  <a:srgbClr val="FFFFFF"/>
                </a:solidFill>
                <a:latin typeface="MiSans Light" pitchFamily="2" charset="-122"/>
                <a:ea typeface="MiSans Light" pitchFamily="2" charset="-122"/>
                <a:cs typeface="Geist Mono" pitchFamily="34" charset="-120"/>
              </a:rPr>
              <a:t>电话</a:t>
            </a:r>
            <a:endParaRPr lang="en-US" sz="900" dirty="0">
              <a:solidFill>
                <a:srgbClr val="FFFFFF"/>
              </a:solidFill>
              <a:latin typeface="MiSans Light" pitchFamily="2" charset="-122"/>
              <a:ea typeface="MiSans Light" pitchFamily="2" charset="-122"/>
            </a:endParaRPr>
          </a:p>
        </p:txBody>
      </p:sp>
      <p:sp>
        <p:nvSpPr>
          <p:cNvPr id="12" name="Text 7">
            <a:extLst>
              <a:ext uri="{FF2B5EF4-FFF2-40B4-BE49-F238E27FC236}">
                <a16:creationId xmlns:a16="http://schemas.microsoft.com/office/drawing/2014/main" id="{22F8EE4B-32F6-1C5E-7FC5-79ECFC43F23F}"/>
              </a:ext>
            </a:extLst>
          </p:cNvPr>
          <p:cNvSpPr/>
          <p:nvPr/>
        </p:nvSpPr>
        <p:spPr>
          <a:xfrm>
            <a:off x="3419494" y="4140803"/>
            <a:ext cx="2309775" cy="171450"/>
          </a:xfrm>
          <a:prstGeom prst="rect">
            <a:avLst/>
          </a:prstGeom>
          <a:noFill/>
          <a:ln/>
        </p:spPr>
        <p:txBody>
          <a:bodyPr wrap="square" lIns="0" tIns="0" rIns="0" bIns="0" rtlCol="0" anchor="t"/>
          <a:lstStyle/>
          <a:p>
            <a:pPr algn="ctr">
              <a:lnSpc>
                <a:spcPts val="1350"/>
              </a:lnSpc>
            </a:pPr>
            <a:r>
              <a:rPr lang="en-US" sz="900" dirty="0">
                <a:solidFill>
                  <a:schemeClr val="bg1"/>
                </a:solidFill>
                <a:latin typeface="MiSans" pitchFamily="2" charset="-122"/>
                <a:ea typeface="MiSans" pitchFamily="2" charset="-122"/>
                <a:cs typeface="Geist" pitchFamily="34" charset="-120"/>
              </a:rPr>
              <a:t>+1 800 314 159 265</a:t>
            </a:r>
            <a:endParaRPr lang="en-US" sz="900" dirty="0">
              <a:solidFill>
                <a:schemeClr val="bg1"/>
              </a:solidFill>
              <a:latin typeface="MiSans" pitchFamily="2" charset="-122"/>
              <a:ea typeface="MiSans"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Sans" panose="020F0302020204030204"/>
        <a:ea typeface="MiSans"/>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Sans" panose="020F0502020204030204"/>
        <a:ea typeface="MiSans"/>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756</Words>
  <Application>Microsoft Macintosh PowerPoint</Application>
  <PresentationFormat>全屏显示(16:9)</PresentationFormat>
  <Paragraphs>214</Paragraphs>
  <Slides>26</Slides>
  <Notes>26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MiSans</vt:lpstr>
      <vt:lpstr>MiSans Demibold</vt:lpstr>
      <vt:lpstr>MiSans Light</vt:lpstr>
      <vt:lpstr>MiSans Medium</vt:lpstr>
      <vt:lpstr>MiSans Normal</vt:lpstr>
      <vt:lpstr>MiSans Semibold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PptxGenJS Presentation</dc:subject>
  <dc:creator>Pitch Software GmbH</dc:creator>
  <cp:lastModifiedBy>T171376</cp:lastModifiedBy>
  <cp:revision>20</cp:revision>
  <dcterms:created xsi:type="dcterms:W3CDTF">2026-06-11T07:08:28Z</dcterms:created>
  <dcterms:modified xsi:type="dcterms:W3CDTF">2026-06-16T02:34:11Z</dcterms:modified>
</cp:coreProperties>
</file>