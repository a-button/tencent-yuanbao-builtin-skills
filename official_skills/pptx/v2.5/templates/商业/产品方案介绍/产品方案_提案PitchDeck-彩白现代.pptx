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81" r:id="rId17"/>
    <p:sldId id="282" r:id="rId18"/>
    <p:sldId id="312" r:id="rId19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2124"/>
    <a:srgbClr val="2120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3"/>
    <p:restoredTop sz="96265"/>
  </p:normalViewPr>
  <p:slideViewPr>
    <p:cSldViewPr>
      <p:cViewPr>
        <p:scale>
          <a:sx n="68" d="100"/>
          <a:sy n="68" d="100"/>
        </p:scale>
        <p:origin x="1576" y="10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2021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58787" y="1609446"/>
            <a:ext cx="1617683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MiSans Medium" pitchFamily="2" charset="-128"/>
                <a:cs typeface="MiSans Medium" pitchFamily="2" charset="-128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DC1C6"/>
                </a:solidFill>
                <a:latin typeface="MiSans Medium" pitchFamily="2" charset="-128"/>
                <a:cs typeface="MiSans Medium" pitchFamily="2" charset="-128"/>
              </a:defRPr>
            </a:lvl1pPr>
          </a:lstStyle>
          <a:p>
            <a:pPr marL="45720">
              <a:spcBef>
                <a:spcPts val="90"/>
              </a:spcBef>
            </a:pPr>
            <a:fld id="{81D60167-4931-47E6-BA6A-407CBD079E47}" type="slidenum">
              <a:rPr lang="en-US" altLang="zh-CN" spc="-25" smtClean="0">
                <a:solidFill>
                  <a:srgbClr val="FFFFFF"/>
                </a:solidFill>
              </a:rPr>
              <a:pPr marL="45720">
                <a:spcBef>
                  <a:spcPts val="90"/>
                </a:spcBef>
              </a:pPr>
              <a:t>‹#›</a:t>
            </a:fld>
            <a:endParaRPr lang="en-US" altLang="zh-CN"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MiSans Medium" pitchFamily="2" charset="-128"/>
                <a:cs typeface="MiSans Medium" pitchFamily="2" charset="-128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DC1C6"/>
                </a:solidFill>
                <a:latin typeface="MiSans Medium" pitchFamily="2" charset="-128"/>
                <a:cs typeface="MiSans Medium" pitchFamily="2" charset="-128"/>
              </a:defRPr>
            </a:lvl1pPr>
          </a:lstStyle>
          <a:p>
            <a:pPr marL="45720">
              <a:spcBef>
                <a:spcPts val="90"/>
              </a:spcBef>
            </a:pPr>
            <a:fld id="{81D60167-4931-47E6-BA6A-407CBD079E47}" type="slidenum">
              <a:rPr lang="en-US" altLang="zh-CN" spc="-25" smtClean="0">
                <a:solidFill>
                  <a:srgbClr val="FFFFFF"/>
                </a:solidFill>
              </a:rPr>
              <a:pPr marL="45720">
                <a:spcBef>
                  <a:spcPts val="90"/>
                </a:spcBef>
              </a:pPr>
              <a:t>‹#›</a:t>
            </a:fld>
            <a:endParaRPr lang="en-US" altLang="zh-CN"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MiSans Medium" pitchFamily="2" charset="-128"/>
                <a:cs typeface="MiSans Medium" pitchFamily="2" charset="-128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24970" y="2583571"/>
            <a:ext cx="6137275" cy="7617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0" i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667603" y="2069033"/>
            <a:ext cx="867854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MiSans Medium" pitchFamily="2" charset="-128"/>
                <a:cs typeface="MiSans Medium" pitchFamily="2" charset="-128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DC1C6"/>
                </a:solidFill>
                <a:latin typeface="MiSans Medium" pitchFamily="2" charset="-128"/>
                <a:cs typeface="MiSans Medium" pitchFamily="2" charset="-128"/>
              </a:defRPr>
            </a:lvl1pPr>
          </a:lstStyle>
          <a:p>
            <a:pPr marL="45720">
              <a:spcBef>
                <a:spcPts val="90"/>
              </a:spcBef>
            </a:pPr>
            <a:fld id="{81D60167-4931-47E6-BA6A-407CBD079E47}" type="slidenum">
              <a:rPr lang="en-US" altLang="zh-CN" spc="-25" smtClean="0">
                <a:solidFill>
                  <a:srgbClr val="FFFFFF"/>
                </a:solidFill>
              </a:rPr>
              <a:pPr marL="45720">
                <a:spcBef>
                  <a:spcPts val="90"/>
                </a:spcBef>
              </a:pPr>
              <a:t>‹#›</a:t>
            </a:fld>
            <a:endParaRPr lang="en-US" altLang="zh-CN"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MiSans Medium" pitchFamily="2" charset="-128"/>
                <a:cs typeface="MiSans Medium" pitchFamily="2" charset="-128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DC1C6"/>
                </a:solidFill>
                <a:latin typeface="MiSans Medium" pitchFamily="2" charset="-128"/>
                <a:cs typeface="MiSans Medium" pitchFamily="2" charset="-128"/>
              </a:defRPr>
            </a:lvl1pPr>
          </a:lstStyle>
          <a:p>
            <a:pPr marL="45720">
              <a:spcBef>
                <a:spcPts val="90"/>
              </a:spcBef>
            </a:pPr>
            <a:fld id="{81D60167-4931-47E6-BA6A-407CBD079E47}" type="slidenum">
              <a:rPr lang="en-US" altLang="zh-CN" spc="-25" smtClean="0">
                <a:solidFill>
                  <a:srgbClr val="FFFFFF"/>
                </a:solidFill>
              </a:rPr>
              <a:pPr marL="45720">
                <a:spcBef>
                  <a:spcPts val="90"/>
                </a:spcBef>
              </a:pPr>
              <a:t>‹#›</a:t>
            </a:fld>
            <a:endParaRPr lang="en-US" altLang="zh-CN"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DC1C6"/>
                </a:solidFill>
                <a:latin typeface="MiSans Medium" pitchFamily="2" charset="-128"/>
                <a:cs typeface="MiSans Medium" pitchFamily="2" charset="-128"/>
              </a:defRPr>
            </a:lvl1pPr>
          </a:lstStyle>
          <a:p>
            <a:pPr marL="45720">
              <a:spcBef>
                <a:spcPts val="90"/>
              </a:spcBef>
            </a:pPr>
            <a:fld id="{81D60167-4931-47E6-BA6A-407CBD079E47}" type="slidenum">
              <a:rPr lang="en-US" altLang="zh-CN" spc="-25" smtClean="0">
                <a:solidFill>
                  <a:srgbClr val="FFFFFF"/>
                </a:solidFill>
              </a:rPr>
              <a:pPr marL="45720">
                <a:spcBef>
                  <a:spcPts val="90"/>
                </a:spcBef>
              </a:pPr>
              <a:t>‹#›</a:t>
            </a:fld>
            <a:endParaRPr lang="en-US" altLang="zh-CN"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4970" y="806117"/>
            <a:ext cx="3089275" cy="654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40023" y="2440144"/>
            <a:ext cx="11824053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202124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9460322" y="10719955"/>
            <a:ext cx="25809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BDC1C6"/>
                </a:solidFill>
                <a:latin typeface="MiSans Medium" pitchFamily="2" charset="-128"/>
                <a:cs typeface="MiSans Medium" pitchFamily="2" charset="-128"/>
              </a:defRPr>
            </a:lvl1pPr>
          </a:lstStyle>
          <a:p>
            <a:pPr marL="45720">
              <a:spcBef>
                <a:spcPts val="90"/>
              </a:spcBef>
            </a:pPr>
            <a:fld id="{81D60167-4931-47E6-BA6A-407CBD079E47}" type="slidenum">
              <a:rPr lang="en-US" altLang="zh-CN" spc="-25" smtClean="0">
                <a:solidFill>
                  <a:srgbClr val="FFFFFF"/>
                </a:solidFill>
              </a:rPr>
              <a:pPr marL="45720">
                <a:spcBef>
                  <a:spcPts val="90"/>
                </a:spcBef>
              </a:pPr>
              <a:t>‹#›</a:t>
            </a:fld>
            <a:endParaRPr lang="en-US" altLang="zh-CN" spc="-25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 b="0" i="0">
          <a:latin typeface="MiSans Medium" pitchFamily="2" charset="-128"/>
          <a:ea typeface="+mj-ea"/>
          <a:cs typeface="MiSans Medium" pitchFamily="2" charset="-128"/>
        </a:defRPr>
      </a:lvl1pPr>
    </p:titleStyle>
    <p:bodyStyle>
      <a:lvl1pPr marL="0">
        <a:defRPr b="0" i="0">
          <a:latin typeface="MiSans Medium" pitchFamily="2" charset="-128"/>
          <a:ea typeface="+mn-ea"/>
          <a:cs typeface="MiSans Medium" pitchFamily="2" charset="-128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0.png"/><Relationship Id="rId7" Type="http://schemas.openxmlformats.org/officeDocument/2006/relationships/image" Target="../media/image1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21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.png"/><Relationship Id="rId4" Type="http://schemas.openxmlformats.org/officeDocument/2006/relationships/image" Target="../media/image41.png"/><Relationship Id="rId9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156088"/>
              <a:ext cx="7628035" cy="81524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02069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20445" y="1675369"/>
            <a:ext cx="11012805" cy="4031232"/>
          </a:xfrm>
          <a:prstGeom prst="rect">
            <a:avLst/>
          </a:prstGeom>
        </p:spPr>
        <p:txBody>
          <a:bodyPr vert="horz" wrap="square" lIns="0" tIns="17145" rIns="0" bIns="0" rtlCol="0" anchor="b">
            <a:spAutoFit/>
          </a:bodyPr>
          <a:lstStyle/>
          <a:p>
            <a:pPr marL="12700" algn="l">
              <a:spcBef>
                <a:spcPts val="135"/>
              </a:spcBef>
            </a:pPr>
            <a:r>
              <a:rPr sz="13000" b="1" spc="42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AI产品3.0
</a:t>
            </a:r>
            <a:r>
              <a:rPr sz="13000" b="1" spc="425" dirty="0" err="1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方案介绍</a:t>
            </a:r>
            <a:endParaRPr sz="13000" b="1" dirty="0">
              <a:latin typeface="MiSans" pitchFamily="2" charset="-128"/>
              <a:ea typeface="MiSans" pitchFamily="2" charset="-128"/>
              <a:cs typeface="MiSans" pitchFamily="2" charset="-128"/>
            </a:endParaRPr>
          </a:p>
        </p:txBody>
      </p:sp>
      <p:sp>
        <p:nvSpPr>
          <p:cNvPr id="854166" name="replacement label"/>
          <p:cNvSpPr txBox="1"/>
          <p:nvPr/>
        </p:nvSpPr>
        <p:spPr>
          <a:xfrm>
            <a:off x="1020445" y="10050000"/>
            <a:ext cx="11012804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3000" dirty="0" err="1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YuanBao</a:t>
            </a:r>
            <a:r>
              <a:rPr lang="zh-CN" altLang="en-US" sz="30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 </a:t>
            </a:r>
            <a:r>
              <a:rPr lang="en-US" altLang="zh-CN" sz="30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3.0</a:t>
            </a:r>
            <a:endParaRPr dirty="0"/>
          </a:p>
        </p:txBody>
      </p:sp>
      <p:grpSp>
        <p:nvGrpSpPr>
          <p:cNvPr id="17" name="object 8">
            <a:extLst>
              <a:ext uri="{FF2B5EF4-FFF2-40B4-BE49-F238E27FC236}">
                <a16:creationId xmlns:a16="http://schemas.microsoft.com/office/drawing/2014/main" id="{F10F9423-A624-14A5-A2BD-53C355A2BCEB}"/>
              </a:ext>
            </a:extLst>
          </p:cNvPr>
          <p:cNvGrpSpPr/>
          <p:nvPr/>
        </p:nvGrpSpPr>
        <p:grpSpPr>
          <a:xfrm>
            <a:off x="10429002" y="671183"/>
            <a:ext cx="9675495" cy="10637520"/>
            <a:chOff x="10429002" y="671183"/>
            <a:chExt cx="9675495" cy="10637520"/>
          </a:xfrm>
        </p:grpSpPr>
        <p:pic>
          <p:nvPicPr>
            <p:cNvPr id="18" name="object 9">
              <a:extLst>
                <a:ext uri="{FF2B5EF4-FFF2-40B4-BE49-F238E27FC236}">
                  <a16:creationId xmlns:a16="http://schemas.microsoft.com/office/drawing/2014/main" id="{050444A3-005F-7CD2-55B1-55646A4297D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29002" y="671183"/>
              <a:ext cx="9675098" cy="10637372"/>
            </a:xfrm>
            <a:prstGeom prst="rect">
              <a:avLst/>
            </a:prstGeom>
          </p:spPr>
        </p:pic>
        <p:pic>
          <p:nvPicPr>
            <p:cNvPr id="19" name="object 10">
              <a:extLst>
                <a:ext uri="{FF2B5EF4-FFF2-40B4-BE49-F238E27FC236}">
                  <a16:creationId xmlns:a16="http://schemas.microsoft.com/office/drawing/2014/main" id="{DD5DC05D-54ED-D8B2-B3F0-F55E4C75864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345175" y="10760882"/>
              <a:ext cx="868897" cy="153838"/>
            </a:xfrm>
            <a:prstGeom prst="rect">
              <a:avLst/>
            </a:prstGeom>
          </p:spPr>
        </p:pic>
      </p:grpSp>
      <p:sp>
        <p:nvSpPr>
          <p:cNvPr id="20" name="replacement label">
            <a:extLst>
              <a:ext uri="{FF2B5EF4-FFF2-40B4-BE49-F238E27FC236}">
                <a16:creationId xmlns:a16="http://schemas.microsoft.com/office/drawing/2014/main" id="{2F92BECE-75BA-DB08-C093-10380AD7A526}"/>
              </a:ext>
            </a:extLst>
          </p:cNvPr>
          <p:cNvSpPr txBox="1"/>
          <p:nvPr/>
        </p:nvSpPr>
        <p:spPr>
          <a:xfrm>
            <a:off x="1020444" y="5811280"/>
            <a:ext cx="11012805" cy="49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zh-CN" altLang="zh-CN" sz="3200" b="1" dirty="0"/>
              <a:t>Overview of the AI Product 3.0 Proposal</a:t>
            </a:r>
            <a:endParaRPr lang="zh-CN" altLang="zh-CN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2116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2116" y="4109341"/>
            <a:ext cx="20104099" cy="7224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052050" y="862315"/>
            <a:ext cx="9214485" cy="0"/>
          </a:xfrm>
          <a:custGeom>
            <a:avLst/>
            <a:gdLst/>
            <a:ahLst/>
            <a:cxnLst/>
            <a:rect l="l" t="t" r="r" b="b"/>
            <a:pathLst>
              <a:path w="9214485">
                <a:moveTo>
                  <a:pt x="0" y="0"/>
                </a:moveTo>
                <a:lnTo>
                  <a:pt x="9214379" y="0"/>
                </a:lnTo>
              </a:path>
            </a:pathLst>
          </a:custGeom>
          <a:ln w="28585">
            <a:solidFill>
              <a:srgbClr val="2021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52050" y="2232639"/>
            <a:ext cx="9214485" cy="0"/>
          </a:xfrm>
          <a:custGeom>
            <a:avLst/>
            <a:gdLst/>
            <a:ahLst/>
            <a:cxnLst/>
            <a:rect l="l" t="t" r="r" b="b"/>
            <a:pathLst>
              <a:path w="9214485">
                <a:moveTo>
                  <a:pt x="0" y="0"/>
                </a:moveTo>
                <a:lnTo>
                  <a:pt x="9214379" y="0"/>
                </a:lnTo>
              </a:path>
            </a:pathLst>
          </a:custGeom>
          <a:ln w="28585">
            <a:solidFill>
              <a:srgbClr val="2021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052050" y="3917091"/>
            <a:ext cx="9214485" cy="0"/>
          </a:xfrm>
          <a:custGeom>
            <a:avLst/>
            <a:gdLst/>
            <a:ahLst/>
            <a:cxnLst/>
            <a:rect l="l" t="t" r="r" b="b"/>
            <a:pathLst>
              <a:path w="9214485">
                <a:moveTo>
                  <a:pt x="0" y="0"/>
                </a:moveTo>
                <a:lnTo>
                  <a:pt x="9214379" y="0"/>
                </a:lnTo>
              </a:path>
            </a:pathLst>
          </a:custGeom>
          <a:ln w="28585">
            <a:solidFill>
              <a:srgbClr val="2021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052050" y="6004776"/>
            <a:ext cx="9214485" cy="0"/>
          </a:xfrm>
          <a:custGeom>
            <a:avLst/>
            <a:gdLst/>
            <a:ahLst/>
            <a:cxnLst/>
            <a:rect l="l" t="t" r="r" b="b"/>
            <a:pathLst>
              <a:path w="9214485">
                <a:moveTo>
                  <a:pt x="0" y="0"/>
                </a:moveTo>
                <a:lnTo>
                  <a:pt x="9214379" y="0"/>
                </a:lnTo>
              </a:path>
            </a:pathLst>
          </a:custGeom>
          <a:ln w="28585">
            <a:solidFill>
              <a:srgbClr val="2021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052050" y="9653565"/>
            <a:ext cx="9214485" cy="0"/>
          </a:xfrm>
          <a:custGeom>
            <a:avLst/>
            <a:gdLst/>
            <a:ahLst/>
            <a:cxnLst/>
            <a:rect l="l" t="t" r="r" b="b"/>
            <a:pathLst>
              <a:path w="9214485">
                <a:moveTo>
                  <a:pt x="0" y="0"/>
                </a:moveTo>
                <a:lnTo>
                  <a:pt x="9214379" y="0"/>
                </a:lnTo>
              </a:path>
            </a:pathLst>
          </a:custGeom>
          <a:ln w="28585">
            <a:solidFill>
              <a:srgbClr val="2021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039350" y="1091940"/>
            <a:ext cx="9239885" cy="9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sz="2450" spc="135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导言</a:t>
            </a:r>
            <a:r>
              <a:rPr sz="2450" spc="13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
</a:t>
            </a:r>
            <a:r>
              <a:rPr sz="1600" spc="135" dirty="0" err="1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方案目</a:t>
            </a:r>
            <a:r>
              <a:rPr lang="zh-CN" altLang="en-US" sz="1600" spc="13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标 </a:t>
            </a:r>
            <a:r>
              <a:rPr sz="1600" spc="13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........................</a:t>
            </a:r>
            <a:r>
              <a:rPr lang="en-US" altLang="zh-CN" sz="1600" spc="13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.......................</a:t>
            </a:r>
            <a:r>
              <a:rPr sz="1600" spc="13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..</a:t>
            </a:r>
            <a:r>
              <a:rPr lang="en-US" altLang="zh-CN" sz="1600" spc="13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............</a:t>
            </a:r>
            <a:r>
              <a:rPr sz="1600" spc="13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....</a:t>
            </a:r>
            <a:r>
              <a:rPr lang="en-US" altLang="zh-CN" sz="1600" spc="13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...</a:t>
            </a:r>
            <a:r>
              <a:rPr sz="1600" spc="13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...............</a:t>
            </a:r>
            <a:r>
              <a:rPr lang="en-US" altLang="zh-CN" sz="1600" spc="13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...........</a:t>
            </a:r>
            <a:r>
              <a:rPr sz="1600" spc="13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.......................04</a:t>
            </a:r>
            <a:endParaRPr sz="1600" dirty="0">
              <a:latin typeface="MiSans" pitchFamily="2" charset="-128"/>
              <a:ea typeface="MiSans" pitchFamily="2" charset="-128"/>
              <a:cs typeface="MiSans" pitchFamily="2" charset="-128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39350" y="2384662"/>
            <a:ext cx="9239885" cy="1305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sz="2450" spc="200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Chapter 1</a:t>
            </a:r>
            <a:r>
              <a:rPr sz="245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
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从 1.0 到 3.0 </a:t>
            </a:r>
            <a:r>
              <a:rPr sz="1600" spc="200" dirty="0" err="1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的产品演进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 .........................</a:t>
            </a:r>
            <a:r>
              <a:rPr lang="en-US" altLang="zh-CN"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</a:t>
            </a:r>
            <a:r>
              <a:rPr lang="en-US"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</a:t>
            </a:r>
            <a:r>
              <a:rPr lang="en-US" altLang="zh-CN"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</a:t>
            </a:r>
            <a:r>
              <a:rPr lang="en-US" altLang="zh-CN"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.........05
</a:t>
            </a:r>
            <a:r>
              <a:rPr sz="1600" spc="200" dirty="0" err="1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核心能力与业务价值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 .............................................................</a:t>
            </a:r>
            <a:r>
              <a:rPr lang="en-US" altLang="zh-CN"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.........................09</a:t>
            </a:r>
            <a:endParaRPr sz="160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39350" y="4124436"/>
            <a:ext cx="9242425" cy="168809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sz="2450" spc="200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Chapter 2</a:t>
            </a:r>
            <a:r>
              <a:rPr sz="245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
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AI 产品 3.0 </a:t>
            </a:r>
            <a:r>
              <a:rPr sz="1600" spc="200" dirty="0" err="1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的迭代推导方法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 .........................</a:t>
            </a:r>
            <a:r>
              <a:rPr lang="en-US" altLang="zh-CN"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..............................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.....................10
30 </a:t>
            </a:r>
            <a:r>
              <a:rPr sz="1600" spc="200" dirty="0" err="1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天启动首个场景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 ............</a:t>
            </a:r>
            <a:r>
              <a:rPr lang="en-US" altLang="zh-CN"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...........................................................................12
</a:t>
            </a:r>
            <a:r>
              <a:rPr sz="1600" spc="200" dirty="0" err="1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指标体系与运营闭环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 ..........................</a:t>
            </a:r>
            <a:r>
              <a:rPr lang="en-US" altLang="zh-CN"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............................................................21</a:t>
            </a:r>
            <a:endParaRPr lang="en-US" sz="1600" spc="200" dirty="0">
              <a:solidFill>
                <a:srgbClr val="202124"/>
              </a:solidFill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824970" y="853480"/>
            <a:ext cx="6356985" cy="1915909"/>
          </a:xfrm>
          <a:prstGeom prst="rect">
            <a:avLst/>
          </a:prstGeom>
        </p:spPr>
        <p:txBody>
          <a:bodyPr vert="horz" wrap="square" lIns="0" tIns="335280" rIns="0" bIns="0" rtlCol="0">
            <a:spAutoFit/>
          </a:bodyPr>
          <a:lstStyle/>
          <a:p>
            <a:pPr marL="12700" marR="5080">
              <a:lnSpc>
                <a:spcPts val="12280"/>
              </a:lnSpc>
              <a:spcBef>
                <a:spcPts val="2640"/>
              </a:spcBef>
            </a:pPr>
            <a:r>
              <a:rPr sz="12000" b="1" spc="-330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目录</a:t>
            </a:r>
            <a:endParaRPr sz="12000" b="1" dirty="0">
              <a:latin typeface="MiSans" pitchFamily="2" charset="-128"/>
              <a:ea typeface="MiSans" pitchFamily="2" charset="-128"/>
              <a:cs typeface="MiSans" pitchFamily="2" charset="-128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2116" y="2795243"/>
            <a:ext cx="8450004" cy="8539007"/>
          </a:xfrm>
          <a:prstGeom prst="rect">
            <a:avLst/>
          </a:prstGeom>
        </p:spPr>
      </p:pic>
      <p:sp>
        <p:nvSpPr>
          <p:cNvPr id="906813" name="brand cleanup mask"/>
          <p:cNvSpPr/>
          <p:nvPr/>
        </p:nvSpPr>
        <p:spPr>
          <a:xfrm>
            <a:off x="18120000" y="10250000"/>
            <a:ext cx="1200000" cy="76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99528A8-904D-A52C-F2AE-61C16196A292}"/>
              </a:ext>
            </a:extLst>
          </p:cNvPr>
          <p:cNvSpPr txBox="1"/>
          <p:nvPr/>
        </p:nvSpPr>
        <p:spPr>
          <a:xfrm>
            <a:off x="10026227" y="6343868"/>
            <a:ext cx="9242425" cy="28345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sz="2450" spc="200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Chapter 3</a:t>
            </a:r>
            <a:r>
              <a:rPr sz="245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
</a:t>
            </a:r>
            <a:r>
              <a:rPr sz="1600" spc="200" dirty="0" err="1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面向业务场景的能力介绍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 ...........................................</a:t>
            </a:r>
            <a:r>
              <a:rPr lang="en-US" altLang="zh-CN"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.......................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...............23
</a:t>
            </a:r>
            <a:r>
              <a:rPr sz="1600" spc="200" dirty="0" err="1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知识中台与智能问答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....................................................</a:t>
            </a:r>
            <a:r>
              <a:rPr lang="en-US" altLang="zh-CN"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.................27
流程自动化与 Copilot ..............................</a:t>
            </a:r>
            <a:r>
              <a:rPr lang="en-US" altLang="zh-CN"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..............................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.......................30
</a:t>
            </a:r>
            <a:r>
              <a:rPr sz="1600" spc="200" dirty="0" err="1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数据洞察与决策辅助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 ................................</a:t>
            </a:r>
            <a:r>
              <a:rPr lang="en-US" altLang="zh-CN"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.............................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........................</a:t>
            </a:r>
            <a:r>
              <a:rPr lang="en-US" altLang="zh-CN"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.32
</a:t>
            </a:r>
            <a:r>
              <a:rPr sz="1600" spc="200" dirty="0" err="1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多模态内容与客户体验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...........................</a:t>
            </a:r>
            <a:r>
              <a:rPr lang="en-US" altLang="zh-CN"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..............................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............................34
</a:t>
            </a:r>
            <a:r>
              <a:rPr sz="1600" spc="200" dirty="0" err="1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工程研发与运营治理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..................................</a:t>
            </a:r>
            <a:r>
              <a:rPr lang="en-US" altLang="zh-CN"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...........................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...........................38</a:t>
            </a:r>
            <a:endParaRPr sz="160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D175292B-BD8A-4BA6-E04E-F58D0A795E57}"/>
              </a:ext>
            </a:extLst>
          </p:cNvPr>
          <p:cNvSpPr txBox="1"/>
          <p:nvPr/>
        </p:nvSpPr>
        <p:spPr>
          <a:xfrm>
            <a:off x="10024110" y="9870485"/>
            <a:ext cx="9242425" cy="9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sz="2450" b="1" spc="200" dirty="0" err="1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结语</a:t>
            </a:r>
            <a:r>
              <a:rPr sz="245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
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以持续迭代构建 AI </a:t>
            </a:r>
            <a:r>
              <a:rPr sz="1600" spc="200" dirty="0" err="1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产品竞争力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......................</a:t>
            </a:r>
            <a:r>
              <a:rPr lang="en-US" altLang="zh-CN"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........................................</a:t>
            </a:r>
            <a:r>
              <a:rPr sz="1600" spc="2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............44</a:t>
            </a:r>
            <a:endParaRPr sz="1600" dirty="0">
              <a:latin typeface="MiSans Medium" pitchFamily="2" charset="-128"/>
              <a:cs typeface="MiSans Medium" pitchFamily="2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0626" y="1903933"/>
            <a:ext cx="5633473" cy="94046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4970" y="768411"/>
            <a:ext cx="8920480" cy="1910714"/>
          </a:xfrm>
          <a:prstGeom prst="rect">
            <a:avLst/>
          </a:prstGeom>
        </p:spPr>
        <p:txBody>
          <a:bodyPr vert="horz" wrap="square" lIns="0" tIns="335280" rIns="0" bIns="0" rtlCol="0">
            <a:spAutoFit/>
          </a:bodyPr>
          <a:lstStyle/>
          <a:p>
            <a:pPr marL="12700" marR="5080">
              <a:lnSpc>
                <a:spcPts val="12280"/>
              </a:lnSpc>
              <a:spcBef>
                <a:spcPts val="2640"/>
              </a:spcBef>
            </a:pPr>
            <a:r>
              <a:rPr sz="12000" b="1" spc="-330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导言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4970" y="3176715"/>
            <a:ext cx="18231867" cy="4937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00" b="1" spc="204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AI 产品 3.0 的目标，是把模型能力沉淀为可运营、可复用、可衡量的业务能力。</a:t>
            </a:r>
            <a:endParaRPr sz="3100" b="1" dirty="0">
              <a:latin typeface="MiSans" pitchFamily="2" charset="-128"/>
              <a:ea typeface="MiSans" pitchFamily="2" charset="-128"/>
              <a:cs typeface="MiSans" pitchFamily="2" charset="-128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570" y="3955853"/>
            <a:ext cx="5791200" cy="604077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38100" marR="231140">
              <a:lnSpc>
                <a:spcPct val="129700"/>
              </a:lnSpc>
              <a:spcBef>
                <a:spcPts val="95"/>
              </a:spcBef>
            </a:pPr>
            <a:r>
              <a:rPr sz="1800" spc="6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过去的 AI 项目常停留在单点工具：能回答问题，但难以进入真实流程；能生成内容，但缺少权限、知识、评估与反馈闭环。3.0 方案把大模型、企业知识、业务系统和人机协作机制整合为统一产品底座。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38100" marR="30480">
              <a:lnSpc>
                <a:spcPct val="129700"/>
              </a:lnSpc>
            </a:pPr>
            <a:endParaRPr sz="1575" baseline="31746" dirty="0">
              <a:latin typeface="MiSans Medium" pitchFamily="2" charset="-128"/>
              <a:cs typeface="MiSans Medium" pitchFamily="2" charset="-128"/>
            </a:endParaRPr>
          </a:p>
          <a:p>
            <a:pPr marL="38100" marR="250190">
              <a:lnSpc>
                <a:spcPct val="129700"/>
              </a:lnSpc>
              <a:spcBef>
                <a:spcPts val="1245"/>
              </a:spcBef>
            </a:pP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38100" marR="177165">
              <a:lnSpc>
                <a:spcPct val="129700"/>
              </a:lnSpc>
            </a:pPr>
            <a:endParaRPr sz="180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82103" y="3954952"/>
            <a:ext cx="5901055" cy="6043123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38100" marR="273685">
              <a:lnSpc>
                <a:spcPct val="129700"/>
              </a:lnSpc>
              <a:spcBef>
                <a:spcPts val="95"/>
              </a:spcBef>
            </a:pPr>
            <a:r>
              <a:rPr sz="1800" spc="8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在这个底座上，用户不再只是“调用 AI”，而是在熟悉的业务场景里获得任务理解、资料检索、内容生成、流程编排和结果校验。每一次使用都会产生可追踪数据，反哺模型、知识库和产品体验。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38100" marR="30480">
              <a:lnSpc>
                <a:spcPct val="129700"/>
              </a:lnSpc>
              <a:spcBef>
                <a:spcPts val="1240"/>
              </a:spcBef>
            </a:pPr>
            <a:endParaRPr sz="1575" baseline="31746" dirty="0">
              <a:latin typeface="MiSans Medium" pitchFamily="2" charset="-128"/>
              <a:cs typeface="MiSans Medium" pitchFamily="2" charset="-128"/>
            </a:endParaRPr>
          </a:p>
          <a:p>
            <a:pPr marL="38100" marR="418465">
              <a:lnSpc>
                <a:spcPct val="129700"/>
              </a:lnSpc>
              <a:spcBef>
                <a:spcPts val="1255"/>
              </a:spcBef>
            </a:pPr>
            <a:endParaRPr sz="180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90097" y="3955581"/>
            <a:ext cx="5666740" cy="604148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marR="5080">
              <a:lnSpc>
                <a:spcPct val="129700"/>
              </a:lnSpc>
              <a:spcBef>
                <a:spcPts val="95"/>
              </a:spcBef>
            </a:pPr>
            <a:r>
              <a:rPr sz="1800" spc="7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因此，本方案不仅介绍功能清单，更说明能力如何从 MVP 试点推导到规模化运营：先验证高频场景，再固化标准组件，最终形成跨部门复用的 AI 产品平台。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324293" y="1895230"/>
            <a:ext cx="9780270" cy="9019540"/>
            <a:chOff x="10324293" y="1895230"/>
            <a:chExt cx="9780270" cy="9019540"/>
          </a:xfrm>
        </p:grpSpPr>
        <p:sp>
          <p:nvSpPr>
            <p:cNvPr id="9" name="object 9"/>
            <p:cNvSpPr/>
            <p:nvPr/>
          </p:nvSpPr>
          <p:spPr>
            <a:xfrm>
              <a:off x="10324293" y="1895230"/>
              <a:ext cx="2934335" cy="167640"/>
            </a:xfrm>
            <a:custGeom>
              <a:avLst/>
              <a:gdLst/>
              <a:ahLst/>
              <a:cxnLst/>
              <a:rect l="l" t="t" r="r" b="b"/>
              <a:pathLst>
                <a:path w="2934334" h="167639">
                  <a:moveTo>
                    <a:pt x="2933952" y="0"/>
                  </a:moveTo>
                  <a:lnTo>
                    <a:pt x="0" y="0"/>
                  </a:lnTo>
                  <a:lnTo>
                    <a:pt x="0" y="167534"/>
                  </a:lnTo>
                  <a:lnTo>
                    <a:pt x="2933952" y="167534"/>
                  </a:lnTo>
                  <a:lnTo>
                    <a:pt x="2933952" y="0"/>
                  </a:lnTo>
                  <a:close/>
                </a:path>
              </a:pathLst>
            </a:custGeom>
            <a:solidFill>
              <a:srgbClr val="EA43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258224" y="1895230"/>
              <a:ext cx="3912235" cy="167640"/>
            </a:xfrm>
            <a:custGeom>
              <a:avLst/>
              <a:gdLst/>
              <a:ahLst/>
              <a:cxnLst/>
              <a:rect l="l" t="t" r="r" b="b"/>
              <a:pathLst>
                <a:path w="3912234" h="167639">
                  <a:moveTo>
                    <a:pt x="3911943" y="0"/>
                  </a:moveTo>
                  <a:lnTo>
                    <a:pt x="0" y="0"/>
                  </a:lnTo>
                  <a:lnTo>
                    <a:pt x="0" y="167534"/>
                  </a:lnTo>
                  <a:lnTo>
                    <a:pt x="3911943" y="167534"/>
                  </a:lnTo>
                  <a:lnTo>
                    <a:pt x="3911943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170168" y="1895230"/>
              <a:ext cx="978535" cy="167640"/>
            </a:xfrm>
            <a:custGeom>
              <a:avLst/>
              <a:gdLst/>
              <a:ahLst/>
              <a:cxnLst/>
              <a:rect l="l" t="t" r="r" b="b"/>
              <a:pathLst>
                <a:path w="978534" h="167639">
                  <a:moveTo>
                    <a:pt x="977980" y="0"/>
                  </a:moveTo>
                  <a:lnTo>
                    <a:pt x="0" y="0"/>
                  </a:lnTo>
                  <a:lnTo>
                    <a:pt x="0" y="167534"/>
                  </a:lnTo>
                  <a:lnTo>
                    <a:pt x="977980" y="167534"/>
                  </a:lnTo>
                  <a:lnTo>
                    <a:pt x="977980" y="0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148148" y="1895230"/>
              <a:ext cx="1956435" cy="167640"/>
            </a:xfrm>
            <a:custGeom>
              <a:avLst/>
              <a:gdLst/>
              <a:ahLst/>
              <a:cxnLst/>
              <a:rect l="l" t="t" r="r" b="b"/>
              <a:pathLst>
                <a:path w="1956434" h="167639">
                  <a:moveTo>
                    <a:pt x="1955950" y="0"/>
                  </a:moveTo>
                  <a:lnTo>
                    <a:pt x="0" y="0"/>
                  </a:lnTo>
                  <a:lnTo>
                    <a:pt x="0" y="167534"/>
                  </a:lnTo>
                  <a:lnTo>
                    <a:pt x="1955950" y="167534"/>
                  </a:lnTo>
                  <a:lnTo>
                    <a:pt x="195595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45175" y="10760882"/>
              <a:ext cx="868897" cy="15383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24970" y="10473281"/>
            <a:ext cx="4120515" cy="4025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1285" indent="-114300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121285" algn="l"/>
              </a:tabLst>
            </a:pPr>
            <a:r>
              <a:rPr sz="950" spc="50" dirty="0">
                <a:solidFill>
                  <a:srgbClr val="80868B"/>
                </a:solidFill>
                <a:latin typeface="Tahoma"/>
                <a:cs typeface="Tahoma"/>
              </a:rPr>
              <a:t>内部调研、业务访谈、原型验证与迭代复盘</a:t>
            </a:r>
            <a:endParaRPr sz="950" dirty="0">
              <a:latin typeface="Tahoma"/>
              <a:cs typeface="Tahoma"/>
            </a:endParaRPr>
          </a:p>
          <a:p>
            <a:pPr marL="143510" indent="-130810">
              <a:lnSpc>
                <a:spcPct val="100000"/>
              </a:lnSpc>
              <a:spcBef>
                <a:spcPts val="345"/>
              </a:spcBef>
              <a:buAutoNum type="arabicPeriod"/>
              <a:tabLst>
                <a:tab pos="143510" algn="l"/>
              </a:tabLst>
            </a:pPr>
            <a:endParaRPr sz="95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570582" y="10714301"/>
            <a:ext cx="10985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-50" dirty="0">
                <a:solidFill>
                  <a:srgbClr val="5F6368"/>
                </a:solidFill>
                <a:latin typeface="MiSans Medium" pitchFamily="2" charset="-128"/>
                <a:cs typeface="MiSans Medium" pitchFamily="2" charset="-128"/>
              </a:rPr>
              <a:t>3</a:t>
            </a:r>
            <a:endParaRPr sz="1200" dirty="0">
              <a:latin typeface="MiSans Medium" pitchFamily="2" charset="-128"/>
              <a:cs typeface="MiSans Medium" pitchFamily="2" charset="-128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551239" y="349922"/>
            <a:ext cx="162801" cy="1383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12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941"/>
            <a:ext cx="8334824" cy="74343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55148" y="3036556"/>
            <a:ext cx="8648940" cy="8271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98378" y="1828494"/>
            <a:ext cx="8324850" cy="2054408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 marR="5080">
              <a:lnSpc>
                <a:spcPts val="5030"/>
              </a:lnSpc>
              <a:spcBef>
                <a:spcPts val="1019"/>
              </a:spcBef>
            </a:pPr>
            <a:r>
              <a:rPr sz="4800" spc="275" dirty="0"/>
              <a:t>本方案面向希望启动或升级 AI 产品体系的业务负责人、产品团队和技术团队。</a:t>
            </a:r>
            <a:endParaRPr sz="4800" dirty="0"/>
          </a:p>
        </p:txBody>
      </p:sp>
      <p:sp>
        <p:nvSpPr>
          <p:cNvPr id="5" name="object 5"/>
          <p:cNvSpPr txBox="1"/>
          <p:nvPr/>
        </p:nvSpPr>
        <p:spPr>
          <a:xfrm>
            <a:off x="2198378" y="4591900"/>
            <a:ext cx="7816215" cy="3043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600"/>
              </a:lnSpc>
              <a:spcBef>
                <a:spcPts val="100"/>
              </a:spcBef>
            </a:pPr>
            <a:r>
              <a:rPr sz="2150" dirty="0">
                <a:solidFill>
                  <a:srgbClr val="FFFFFF"/>
                </a:solidFill>
                <a:latin typeface="MiSans Medium" pitchFamily="2" charset="-128"/>
                <a:cs typeface="MiSans Medium" pitchFamily="2" charset="-128"/>
              </a:rPr>
              <a:t>文档首先说明 AI 产品 3.0 的定位与演进逻辑；随后给出 10 步迭代推导方法，帮助团队从目标、用户、数据、体验、治理和运营指标逐步落地；最后按典型业务场景展开功能介绍，说明每类能力如何创造效率、质量和体验价值。
方案强调低风险启动和持续放大：用一个清晰场景验证价值，用一组通用组件降低复用成本，用一套指标体系支撑长期运营。</a:t>
            </a:r>
            <a:endParaRPr sz="2150" dirty="0">
              <a:latin typeface="MiSans Medium" pitchFamily="2" charset="-128"/>
              <a:cs typeface="MiSans Medium" pitchFamily="2" charset="-128"/>
            </a:endParaRPr>
          </a:p>
          <a:p>
            <a:pPr marL="12700" marR="699135">
              <a:lnSpc>
                <a:spcPct val="124600"/>
              </a:lnSpc>
              <a:spcBef>
                <a:spcPts val="1240"/>
              </a:spcBef>
            </a:pPr>
            <a:endParaRPr sz="215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1671" y="1997678"/>
            <a:ext cx="492443" cy="2674620"/>
          </a:xfrm>
          <a:prstGeom prst="rect">
            <a:avLst/>
          </a:prstGeom>
        </p:spPr>
        <p:txBody>
          <a:bodyPr vert="vert270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3200" spc="190" dirty="0">
                <a:solidFill>
                  <a:srgbClr val="9AA0A6"/>
                </a:solidFill>
                <a:latin typeface="MiSans Medium" pitchFamily="2" charset="-128"/>
                <a:cs typeface="MiSans Medium" pitchFamily="2" charset="-128"/>
              </a:rPr>
              <a:t>关于本方案</a:t>
            </a:r>
            <a:endParaRPr sz="320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38693" y="2020881"/>
            <a:ext cx="31750" cy="9288145"/>
          </a:xfrm>
          <a:custGeom>
            <a:avLst/>
            <a:gdLst/>
            <a:ahLst/>
            <a:cxnLst/>
            <a:rect l="l" t="t" r="r" b="b"/>
            <a:pathLst>
              <a:path w="31750" h="9288145">
                <a:moveTo>
                  <a:pt x="31412" y="0"/>
                </a:moveTo>
                <a:lnTo>
                  <a:pt x="0" y="0"/>
                </a:lnTo>
                <a:lnTo>
                  <a:pt x="0" y="9287675"/>
                </a:lnTo>
                <a:lnTo>
                  <a:pt x="31412" y="9287675"/>
                </a:lnTo>
                <a:lnTo>
                  <a:pt x="31412" y="0"/>
                </a:lnTo>
                <a:close/>
              </a:path>
            </a:pathLst>
          </a:custGeom>
          <a:solidFill>
            <a:srgbClr val="BDC1C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0429002" y="671183"/>
            <a:ext cx="9675495" cy="10637520"/>
            <a:chOff x="10429002" y="671183"/>
            <a:chExt cx="9675495" cy="1063752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29002" y="671183"/>
              <a:ext cx="9675098" cy="106373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345175" y="10760882"/>
              <a:ext cx="868897" cy="153838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551239" y="349922"/>
            <a:ext cx="162801" cy="138383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4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5133" y="0"/>
            <a:ext cx="13318966" cy="113085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507614" y="3381220"/>
            <a:ext cx="12345035" cy="5020605"/>
          </a:xfrm>
          <a:prstGeom prst="rect">
            <a:avLst/>
          </a:prstGeom>
        </p:spPr>
        <p:txBody>
          <a:bodyPr vert="horz" wrap="square" lIns="0" tIns="463550" rIns="0" bIns="0" rtlCol="0">
            <a:spAutoFit/>
          </a:bodyPr>
          <a:lstStyle/>
          <a:p>
            <a:pPr marL="12700" marR="42545">
              <a:spcBef>
                <a:spcPts val="3650"/>
              </a:spcBef>
            </a:pPr>
            <a:r>
              <a:rPr sz="13250" spc="1520" dirty="0">
                <a:solidFill>
                  <a:srgbClr val="FFFFFF"/>
                </a:solidFill>
                <a:latin typeface="MiSans Medium" pitchFamily="2" charset="-128"/>
                <a:cs typeface="MiSans Medium" pitchFamily="2" charset="-128"/>
              </a:rPr>
              <a:t>从1.0到3.0</a:t>
            </a:r>
            <a:endParaRPr lang="en-US" sz="13250" spc="1520" dirty="0">
              <a:solidFill>
                <a:srgbClr val="FFFFFF"/>
              </a:solidFill>
              <a:latin typeface="MiSans Medium" pitchFamily="2" charset="-128"/>
              <a:cs typeface="MiSans Medium" pitchFamily="2" charset="-128"/>
            </a:endParaRPr>
          </a:p>
          <a:p>
            <a:pPr marL="12700" marR="42545">
              <a:spcBef>
                <a:spcPts val="3650"/>
              </a:spcBef>
            </a:pPr>
            <a:r>
              <a:rPr sz="13250" spc="1520" dirty="0" err="1">
                <a:solidFill>
                  <a:srgbClr val="FFFFFF"/>
                </a:solidFill>
                <a:latin typeface="MiSans Medium" pitchFamily="2" charset="-128"/>
                <a:cs typeface="MiSans Medium" pitchFamily="2" charset="-128"/>
              </a:rPr>
              <a:t>的产品演进</a:t>
            </a:r>
            <a:endParaRPr sz="1325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727685"/>
            <a:ext cx="2539365" cy="209550"/>
          </a:xfrm>
          <a:custGeom>
            <a:avLst/>
            <a:gdLst/>
            <a:ahLst/>
            <a:cxnLst/>
            <a:rect l="l" t="t" r="r" b="b"/>
            <a:pathLst>
              <a:path w="2539365" h="209550">
                <a:moveTo>
                  <a:pt x="0" y="209428"/>
                </a:moveTo>
                <a:lnTo>
                  <a:pt x="2539189" y="209428"/>
                </a:lnTo>
                <a:lnTo>
                  <a:pt x="2539189" y="0"/>
                </a:lnTo>
                <a:lnTo>
                  <a:pt x="0" y="0"/>
                </a:lnTo>
                <a:lnTo>
                  <a:pt x="0" y="209428"/>
                </a:lnTo>
                <a:close/>
              </a:path>
            </a:pathLst>
          </a:custGeom>
          <a:solidFill>
            <a:srgbClr val="EA433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999847" y="349922"/>
            <a:ext cx="14714219" cy="1587500"/>
            <a:chOff x="4999847" y="349922"/>
            <a:chExt cx="14714219" cy="1587500"/>
          </a:xfrm>
        </p:grpSpPr>
        <p:sp>
          <p:nvSpPr>
            <p:cNvPr id="6" name="object 6"/>
            <p:cNvSpPr/>
            <p:nvPr/>
          </p:nvSpPr>
          <p:spPr>
            <a:xfrm>
              <a:off x="4999847" y="1727696"/>
              <a:ext cx="1021080" cy="209550"/>
            </a:xfrm>
            <a:custGeom>
              <a:avLst/>
              <a:gdLst/>
              <a:ahLst/>
              <a:cxnLst/>
              <a:rect l="l" t="t" r="r" b="b"/>
              <a:pathLst>
                <a:path w="1021079" h="209550">
                  <a:moveTo>
                    <a:pt x="0" y="209417"/>
                  </a:moveTo>
                  <a:lnTo>
                    <a:pt x="1020534" y="209417"/>
                  </a:lnTo>
                  <a:lnTo>
                    <a:pt x="1020534" y="0"/>
                  </a:lnTo>
                  <a:lnTo>
                    <a:pt x="0" y="0"/>
                  </a:lnTo>
                  <a:lnTo>
                    <a:pt x="0" y="209417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0382" y="1727696"/>
              <a:ext cx="860425" cy="209550"/>
            </a:xfrm>
            <a:custGeom>
              <a:avLst/>
              <a:gdLst/>
              <a:ahLst/>
              <a:cxnLst/>
              <a:rect l="l" t="t" r="r" b="b"/>
              <a:pathLst>
                <a:path w="860425" h="209550">
                  <a:moveTo>
                    <a:pt x="860057" y="0"/>
                  </a:moveTo>
                  <a:lnTo>
                    <a:pt x="0" y="0"/>
                  </a:lnTo>
                  <a:lnTo>
                    <a:pt x="0" y="209417"/>
                  </a:lnTo>
                  <a:lnTo>
                    <a:pt x="860057" y="209417"/>
                  </a:lnTo>
                  <a:lnTo>
                    <a:pt x="860057" y="0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80439" y="1727696"/>
              <a:ext cx="1720214" cy="209550"/>
            </a:xfrm>
            <a:custGeom>
              <a:avLst/>
              <a:gdLst/>
              <a:ahLst/>
              <a:cxnLst/>
              <a:rect l="l" t="t" r="r" b="b"/>
              <a:pathLst>
                <a:path w="1720215" h="209550">
                  <a:moveTo>
                    <a:pt x="1720094" y="0"/>
                  </a:moveTo>
                  <a:lnTo>
                    <a:pt x="0" y="0"/>
                  </a:lnTo>
                  <a:lnTo>
                    <a:pt x="0" y="209417"/>
                  </a:lnTo>
                  <a:lnTo>
                    <a:pt x="1720094" y="209417"/>
                  </a:lnTo>
                  <a:lnTo>
                    <a:pt x="1720094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51238" y="349922"/>
              <a:ext cx="162801" cy="138383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ctrTitle"/>
          </p:nvPr>
        </p:nvSpPr>
        <p:spPr>
          <a:xfrm>
            <a:off x="2800610" y="1609446"/>
            <a:ext cx="2041060" cy="39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20"/>
              </a:spcBef>
            </a:pPr>
            <a:r>
              <a:rPr sz="2450" spc="155" dirty="0">
                <a:solidFill>
                  <a:srgbClr val="BDC1C6"/>
                </a:solidFill>
              </a:rPr>
              <a:t>Chapter </a:t>
            </a:r>
            <a:r>
              <a:rPr sz="2450" b="1" spc="155" dirty="0">
                <a:solidFill>
                  <a:srgbClr val="BDC1C6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01</a:t>
            </a:r>
            <a:endParaRPr sz="2450" b="1" dirty="0">
              <a:latin typeface="MiSans" pitchFamily="2" charset="-128"/>
              <a:ea typeface="MiSans" pitchFamily="2" charset="-128"/>
              <a:cs typeface="MiSans" pitchFamily="2" charset="-128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5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1F3F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93315" y="5067908"/>
            <a:ext cx="6910784" cy="624064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-1"/>
            <a:ext cx="12146280" cy="11308715"/>
            <a:chOff x="0" y="-1"/>
            <a:chExt cx="12146280" cy="1130871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46227" cy="1130855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-1"/>
              <a:ext cx="5320030" cy="3922395"/>
            </a:xfrm>
            <a:custGeom>
              <a:avLst/>
              <a:gdLst/>
              <a:ahLst/>
              <a:cxnLst/>
              <a:rect l="l" t="t" r="r" b="b"/>
              <a:pathLst>
                <a:path w="5320030" h="3922395">
                  <a:moveTo>
                    <a:pt x="1519869" y="0"/>
                  </a:moveTo>
                  <a:lnTo>
                    <a:pt x="307950" y="1841564"/>
                  </a:lnTo>
                  <a:lnTo>
                    <a:pt x="278219" y="1888059"/>
                  </a:lnTo>
                  <a:lnTo>
                    <a:pt x="250064" y="1933515"/>
                  </a:lnTo>
                  <a:lnTo>
                    <a:pt x="223484" y="1977934"/>
                  </a:lnTo>
                  <a:lnTo>
                    <a:pt x="198477" y="2021315"/>
                  </a:lnTo>
                  <a:lnTo>
                    <a:pt x="175042" y="2063660"/>
                  </a:lnTo>
                  <a:lnTo>
                    <a:pt x="153179" y="2104970"/>
                  </a:lnTo>
                  <a:lnTo>
                    <a:pt x="132887" y="2145245"/>
                  </a:lnTo>
                  <a:lnTo>
                    <a:pt x="114163" y="2184488"/>
                  </a:lnTo>
                  <a:lnTo>
                    <a:pt x="97008" y="2222699"/>
                  </a:lnTo>
                  <a:lnTo>
                    <a:pt x="81421" y="2259878"/>
                  </a:lnTo>
                  <a:lnTo>
                    <a:pt x="64333" y="2305291"/>
                  </a:lnTo>
                  <a:lnTo>
                    <a:pt x="49255" y="2351913"/>
                  </a:lnTo>
                  <a:lnTo>
                    <a:pt x="36187" y="2399740"/>
                  </a:lnTo>
                  <a:lnTo>
                    <a:pt x="25130" y="2448771"/>
                  </a:lnTo>
                  <a:lnTo>
                    <a:pt x="16083" y="2499005"/>
                  </a:lnTo>
                  <a:lnTo>
                    <a:pt x="9046" y="2550440"/>
                  </a:lnTo>
                  <a:lnTo>
                    <a:pt x="4020" y="2603073"/>
                  </a:lnTo>
                  <a:lnTo>
                    <a:pt x="1005" y="2656903"/>
                  </a:lnTo>
                  <a:lnTo>
                    <a:pt x="85" y="2707268"/>
                  </a:lnTo>
                  <a:lnTo>
                    <a:pt x="0" y="2711927"/>
                  </a:lnTo>
                  <a:lnTo>
                    <a:pt x="876" y="2759760"/>
                  </a:lnTo>
                  <a:lnTo>
                    <a:pt x="958" y="2764221"/>
                  </a:lnTo>
                  <a:lnTo>
                    <a:pt x="3834" y="2815707"/>
                  </a:lnTo>
                  <a:lnTo>
                    <a:pt x="8627" y="2866386"/>
                  </a:lnTo>
                  <a:lnTo>
                    <a:pt x="15337" y="2916257"/>
                  </a:lnTo>
                  <a:lnTo>
                    <a:pt x="23964" y="2965320"/>
                  </a:lnTo>
                  <a:lnTo>
                    <a:pt x="34508" y="3013576"/>
                  </a:lnTo>
                  <a:lnTo>
                    <a:pt x="46969" y="3061023"/>
                  </a:lnTo>
                  <a:lnTo>
                    <a:pt x="61348" y="3107661"/>
                  </a:lnTo>
                  <a:lnTo>
                    <a:pt x="77643" y="3153491"/>
                  </a:lnTo>
                  <a:lnTo>
                    <a:pt x="95856" y="3198513"/>
                  </a:lnTo>
                  <a:lnTo>
                    <a:pt x="115986" y="3242725"/>
                  </a:lnTo>
                  <a:lnTo>
                    <a:pt x="138033" y="3286128"/>
                  </a:lnTo>
                  <a:lnTo>
                    <a:pt x="161997" y="3328723"/>
                  </a:lnTo>
                  <a:lnTo>
                    <a:pt x="187878" y="3370507"/>
                  </a:lnTo>
                  <a:lnTo>
                    <a:pt x="215677" y="3411482"/>
                  </a:lnTo>
                  <a:lnTo>
                    <a:pt x="245392" y="3451648"/>
                  </a:lnTo>
                  <a:lnTo>
                    <a:pt x="277025" y="3491003"/>
                  </a:lnTo>
                  <a:lnTo>
                    <a:pt x="310574" y="3529549"/>
                  </a:lnTo>
                  <a:lnTo>
                    <a:pt x="346041" y="3567284"/>
                  </a:lnTo>
                  <a:lnTo>
                    <a:pt x="382861" y="3603630"/>
                  </a:lnTo>
                  <a:lnTo>
                    <a:pt x="420471" y="3638010"/>
                  </a:lnTo>
                  <a:lnTo>
                    <a:pt x="458870" y="3670424"/>
                  </a:lnTo>
                  <a:lnTo>
                    <a:pt x="498058" y="3700872"/>
                  </a:lnTo>
                  <a:lnTo>
                    <a:pt x="538036" y="3729355"/>
                  </a:lnTo>
                  <a:lnTo>
                    <a:pt x="578803" y="3755871"/>
                  </a:lnTo>
                  <a:lnTo>
                    <a:pt x="620360" y="3780423"/>
                  </a:lnTo>
                  <a:lnTo>
                    <a:pt x="662706" y="3803009"/>
                  </a:lnTo>
                  <a:lnTo>
                    <a:pt x="705841" y="3823630"/>
                  </a:lnTo>
                  <a:lnTo>
                    <a:pt x="749766" y="3842286"/>
                  </a:lnTo>
                  <a:lnTo>
                    <a:pt x="794480" y="3858978"/>
                  </a:lnTo>
                  <a:lnTo>
                    <a:pt x="839984" y="3873705"/>
                  </a:lnTo>
                  <a:lnTo>
                    <a:pt x="886277" y="3886468"/>
                  </a:lnTo>
                  <a:lnTo>
                    <a:pt x="933359" y="3897267"/>
                  </a:lnTo>
                  <a:lnTo>
                    <a:pt x="981231" y="3906102"/>
                  </a:lnTo>
                  <a:lnTo>
                    <a:pt x="1029893" y="3912973"/>
                  </a:lnTo>
                  <a:lnTo>
                    <a:pt x="1079343" y="3917881"/>
                  </a:lnTo>
                  <a:lnTo>
                    <a:pt x="1129583" y="3920825"/>
                  </a:lnTo>
                  <a:lnTo>
                    <a:pt x="1180613" y="3921807"/>
                  </a:lnTo>
                  <a:lnTo>
                    <a:pt x="1231437" y="3920825"/>
                  </a:lnTo>
                  <a:lnTo>
                    <a:pt x="1281559" y="3917881"/>
                  </a:lnTo>
                  <a:lnTo>
                    <a:pt x="1330830" y="3912973"/>
                  </a:lnTo>
                  <a:lnTo>
                    <a:pt x="1379271" y="3906102"/>
                  </a:lnTo>
                  <a:lnTo>
                    <a:pt x="1426886" y="3897267"/>
                  </a:lnTo>
                  <a:lnTo>
                    <a:pt x="1474257" y="3886333"/>
                  </a:lnTo>
                  <a:lnTo>
                    <a:pt x="1520302" y="3873520"/>
                  </a:lnTo>
                  <a:lnTo>
                    <a:pt x="1565520" y="3858734"/>
                  </a:lnTo>
                  <a:lnTo>
                    <a:pt x="1609911" y="3841976"/>
                  </a:lnTo>
                  <a:lnTo>
                    <a:pt x="1653476" y="3823244"/>
                  </a:lnTo>
                  <a:lnTo>
                    <a:pt x="1696214" y="3802538"/>
                  </a:lnTo>
                  <a:lnTo>
                    <a:pt x="1738127" y="3779859"/>
                  </a:lnTo>
                  <a:lnTo>
                    <a:pt x="1779213" y="3755205"/>
                  </a:lnTo>
                  <a:lnTo>
                    <a:pt x="1819474" y="3728576"/>
                  </a:lnTo>
                  <a:lnTo>
                    <a:pt x="1858909" y="3699972"/>
                  </a:lnTo>
                  <a:lnTo>
                    <a:pt x="1897519" y="3669392"/>
                  </a:lnTo>
                  <a:lnTo>
                    <a:pt x="1935304" y="3636837"/>
                  </a:lnTo>
                  <a:lnTo>
                    <a:pt x="1972264" y="3602305"/>
                  </a:lnTo>
                  <a:lnTo>
                    <a:pt x="2008399" y="3565797"/>
                  </a:lnTo>
                  <a:lnTo>
                    <a:pt x="2043151" y="3527928"/>
                  </a:lnTo>
                  <a:lnTo>
                    <a:pt x="2076028" y="3489244"/>
                  </a:lnTo>
                  <a:lnTo>
                    <a:pt x="2107029" y="3449747"/>
                  </a:lnTo>
                  <a:lnTo>
                    <a:pt x="2136154" y="3409436"/>
                  </a:lnTo>
                  <a:lnTo>
                    <a:pt x="2163403" y="3368312"/>
                  </a:lnTo>
                  <a:lnTo>
                    <a:pt x="2188774" y="3326374"/>
                  </a:lnTo>
                  <a:lnTo>
                    <a:pt x="2212269" y="3283624"/>
                  </a:lnTo>
                  <a:lnTo>
                    <a:pt x="2233886" y="3240060"/>
                  </a:lnTo>
                  <a:lnTo>
                    <a:pt x="2253625" y="3195684"/>
                  </a:lnTo>
                  <a:lnTo>
                    <a:pt x="2271486" y="3150495"/>
                  </a:lnTo>
                  <a:lnTo>
                    <a:pt x="2287469" y="3104494"/>
                  </a:lnTo>
                  <a:lnTo>
                    <a:pt x="2301572" y="3057681"/>
                  </a:lnTo>
                  <a:lnTo>
                    <a:pt x="2313796" y="3010056"/>
                  </a:lnTo>
                  <a:lnTo>
                    <a:pt x="2324141" y="2961619"/>
                  </a:lnTo>
                  <a:lnTo>
                    <a:pt x="2332605" y="2912371"/>
                  </a:lnTo>
                  <a:lnTo>
                    <a:pt x="2339189" y="2862312"/>
                  </a:lnTo>
                  <a:lnTo>
                    <a:pt x="2343893" y="2811441"/>
                  </a:lnTo>
                  <a:lnTo>
                    <a:pt x="2346715" y="2759760"/>
                  </a:lnTo>
                  <a:lnTo>
                    <a:pt x="2347572" y="2711927"/>
                  </a:lnTo>
                  <a:lnTo>
                    <a:pt x="2347656" y="2707268"/>
                  </a:lnTo>
                  <a:lnTo>
                    <a:pt x="2346710" y="2656903"/>
                  </a:lnTo>
                  <a:lnTo>
                    <a:pt x="2343502" y="2597716"/>
                  </a:lnTo>
                  <a:lnTo>
                    <a:pt x="2338309" y="2544537"/>
                  </a:lnTo>
                  <a:lnTo>
                    <a:pt x="2331039" y="2492425"/>
                  </a:lnTo>
                  <a:lnTo>
                    <a:pt x="2321692" y="2441378"/>
                  </a:lnTo>
                  <a:lnTo>
                    <a:pt x="2310268" y="2391398"/>
                  </a:lnTo>
                  <a:lnTo>
                    <a:pt x="2296767" y="2342486"/>
                  </a:lnTo>
                  <a:lnTo>
                    <a:pt x="2281189" y="2294641"/>
                  </a:lnTo>
                  <a:lnTo>
                    <a:pt x="2263534" y="2247864"/>
                  </a:lnTo>
                  <a:lnTo>
                    <a:pt x="2243802" y="2202156"/>
                  </a:lnTo>
                  <a:lnTo>
                    <a:pt x="2221992" y="2157517"/>
                  </a:lnTo>
                  <a:lnTo>
                    <a:pt x="2198106" y="2113948"/>
                  </a:lnTo>
                  <a:lnTo>
                    <a:pt x="2172142" y="2071450"/>
                  </a:lnTo>
                  <a:lnTo>
                    <a:pt x="2144102" y="2030021"/>
                  </a:lnTo>
                  <a:lnTo>
                    <a:pt x="2112142" y="1986936"/>
                  </a:lnTo>
                  <a:lnTo>
                    <a:pt x="2078896" y="1945754"/>
                  </a:lnTo>
                  <a:lnTo>
                    <a:pt x="2044363" y="1906476"/>
                  </a:lnTo>
                  <a:lnTo>
                    <a:pt x="2008545" y="1869101"/>
                  </a:lnTo>
                  <a:lnTo>
                    <a:pt x="1971442" y="1833628"/>
                  </a:lnTo>
                  <a:lnTo>
                    <a:pt x="1933055" y="1800057"/>
                  </a:lnTo>
                  <a:lnTo>
                    <a:pt x="1893384" y="1768387"/>
                  </a:lnTo>
                  <a:lnTo>
                    <a:pt x="1852429" y="1738617"/>
                  </a:lnTo>
                  <a:lnTo>
                    <a:pt x="1810193" y="1710748"/>
                  </a:lnTo>
                  <a:lnTo>
                    <a:pt x="1766674" y="1684777"/>
                  </a:lnTo>
                  <a:lnTo>
                    <a:pt x="1721874" y="1660705"/>
                  </a:lnTo>
                  <a:lnTo>
                    <a:pt x="1675793" y="1638531"/>
                  </a:lnTo>
                  <a:lnTo>
                    <a:pt x="1628432" y="1618254"/>
                  </a:lnTo>
                  <a:lnTo>
                    <a:pt x="2320515" y="529240"/>
                  </a:lnTo>
                  <a:lnTo>
                    <a:pt x="1519869" y="0"/>
                  </a:lnTo>
                  <a:close/>
                </a:path>
                <a:path w="5320030" h="3922395">
                  <a:moveTo>
                    <a:pt x="4491758" y="0"/>
                  </a:moveTo>
                  <a:lnTo>
                    <a:pt x="3279838" y="1841564"/>
                  </a:lnTo>
                  <a:lnTo>
                    <a:pt x="3250108" y="1888059"/>
                  </a:lnTo>
                  <a:lnTo>
                    <a:pt x="3221953" y="1933515"/>
                  </a:lnTo>
                  <a:lnTo>
                    <a:pt x="3195373" y="1977934"/>
                  </a:lnTo>
                  <a:lnTo>
                    <a:pt x="3170366" y="2021315"/>
                  </a:lnTo>
                  <a:lnTo>
                    <a:pt x="3146931" y="2063660"/>
                  </a:lnTo>
                  <a:lnTo>
                    <a:pt x="3125068" y="2104970"/>
                  </a:lnTo>
                  <a:lnTo>
                    <a:pt x="3104775" y="2145245"/>
                  </a:lnTo>
                  <a:lnTo>
                    <a:pt x="3086052" y="2184488"/>
                  </a:lnTo>
                  <a:lnTo>
                    <a:pt x="3068897" y="2222699"/>
                  </a:lnTo>
                  <a:lnTo>
                    <a:pt x="3053310" y="2259878"/>
                  </a:lnTo>
                  <a:lnTo>
                    <a:pt x="3036221" y="2305291"/>
                  </a:lnTo>
                  <a:lnTo>
                    <a:pt x="3021143" y="2351913"/>
                  </a:lnTo>
                  <a:lnTo>
                    <a:pt x="3008075" y="2399740"/>
                  </a:lnTo>
                  <a:lnTo>
                    <a:pt x="2997018" y="2448771"/>
                  </a:lnTo>
                  <a:lnTo>
                    <a:pt x="2987971" y="2499005"/>
                  </a:lnTo>
                  <a:lnTo>
                    <a:pt x="2980935" y="2550440"/>
                  </a:lnTo>
                  <a:lnTo>
                    <a:pt x="2975909" y="2603073"/>
                  </a:lnTo>
                  <a:lnTo>
                    <a:pt x="2972893" y="2656903"/>
                  </a:lnTo>
                  <a:lnTo>
                    <a:pt x="2971973" y="2707268"/>
                  </a:lnTo>
                  <a:lnTo>
                    <a:pt x="2971888" y="2711927"/>
                  </a:lnTo>
                  <a:lnTo>
                    <a:pt x="2972765" y="2759760"/>
                  </a:lnTo>
                  <a:lnTo>
                    <a:pt x="2972847" y="2764221"/>
                  </a:lnTo>
                  <a:lnTo>
                    <a:pt x="2975722" y="2815707"/>
                  </a:lnTo>
                  <a:lnTo>
                    <a:pt x="2980515" y="2866386"/>
                  </a:lnTo>
                  <a:lnTo>
                    <a:pt x="2987225" y="2916257"/>
                  </a:lnTo>
                  <a:lnTo>
                    <a:pt x="2995852" y="2965320"/>
                  </a:lnTo>
                  <a:lnTo>
                    <a:pt x="3006396" y="3013576"/>
                  </a:lnTo>
                  <a:lnTo>
                    <a:pt x="3018858" y="3061023"/>
                  </a:lnTo>
                  <a:lnTo>
                    <a:pt x="3033236" y="3107661"/>
                  </a:lnTo>
                  <a:lnTo>
                    <a:pt x="3049532" y="3153491"/>
                  </a:lnTo>
                  <a:lnTo>
                    <a:pt x="3067745" y="3198513"/>
                  </a:lnTo>
                  <a:lnTo>
                    <a:pt x="3087874" y="3242725"/>
                  </a:lnTo>
                  <a:lnTo>
                    <a:pt x="3109921" y="3286128"/>
                  </a:lnTo>
                  <a:lnTo>
                    <a:pt x="3133885" y="3328723"/>
                  </a:lnTo>
                  <a:lnTo>
                    <a:pt x="3159767" y="3370507"/>
                  </a:lnTo>
                  <a:lnTo>
                    <a:pt x="3187565" y="3411482"/>
                  </a:lnTo>
                  <a:lnTo>
                    <a:pt x="3217281" y="3451648"/>
                  </a:lnTo>
                  <a:lnTo>
                    <a:pt x="3248913" y="3491003"/>
                  </a:lnTo>
                  <a:lnTo>
                    <a:pt x="3282463" y="3529549"/>
                  </a:lnTo>
                  <a:lnTo>
                    <a:pt x="3317930" y="3567284"/>
                  </a:lnTo>
                  <a:lnTo>
                    <a:pt x="3354750" y="3603630"/>
                  </a:lnTo>
                  <a:lnTo>
                    <a:pt x="3392360" y="3638010"/>
                  </a:lnTo>
                  <a:lnTo>
                    <a:pt x="3430759" y="3670424"/>
                  </a:lnTo>
                  <a:lnTo>
                    <a:pt x="3469947" y="3700872"/>
                  </a:lnTo>
                  <a:lnTo>
                    <a:pt x="3509925" y="3729355"/>
                  </a:lnTo>
                  <a:lnTo>
                    <a:pt x="3550692" y="3755871"/>
                  </a:lnTo>
                  <a:lnTo>
                    <a:pt x="3592249" y="3780423"/>
                  </a:lnTo>
                  <a:lnTo>
                    <a:pt x="3634595" y="3803009"/>
                  </a:lnTo>
                  <a:lnTo>
                    <a:pt x="3677730" y="3823630"/>
                  </a:lnTo>
                  <a:lnTo>
                    <a:pt x="3721655" y="3842286"/>
                  </a:lnTo>
                  <a:lnTo>
                    <a:pt x="3766369" y="3858978"/>
                  </a:lnTo>
                  <a:lnTo>
                    <a:pt x="3811873" y="3873705"/>
                  </a:lnTo>
                  <a:lnTo>
                    <a:pt x="3858166" y="3886468"/>
                  </a:lnTo>
                  <a:lnTo>
                    <a:pt x="3905248" y="3897267"/>
                  </a:lnTo>
                  <a:lnTo>
                    <a:pt x="3953120" y="3906102"/>
                  </a:lnTo>
                  <a:lnTo>
                    <a:pt x="4001781" y="3912973"/>
                  </a:lnTo>
                  <a:lnTo>
                    <a:pt x="4051232" y="3917881"/>
                  </a:lnTo>
                  <a:lnTo>
                    <a:pt x="4101472" y="3920825"/>
                  </a:lnTo>
                  <a:lnTo>
                    <a:pt x="4152501" y="3921807"/>
                  </a:lnTo>
                  <a:lnTo>
                    <a:pt x="4203325" y="3920825"/>
                  </a:lnTo>
                  <a:lnTo>
                    <a:pt x="4253447" y="3917881"/>
                  </a:lnTo>
                  <a:lnTo>
                    <a:pt x="4302718" y="3912973"/>
                  </a:lnTo>
                  <a:lnTo>
                    <a:pt x="4351160" y="3906102"/>
                  </a:lnTo>
                  <a:lnTo>
                    <a:pt x="4398774" y="3897267"/>
                  </a:lnTo>
                  <a:lnTo>
                    <a:pt x="4446145" y="3886333"/>
                  </a:lnTo>
                  <a:lnTo>
                    <a:pt x="4492190" y="3873520"/>
                  </a:lnTo>
                  <a:lnTo>
                    <a:pt x="4537408" y="3858734"/>
                  </a:lnTo>
                  <a:lnTo>
                    <a:pt x="4581800" y="3841976"/>
                  </a:lnTo>
                  <a:lnTo>
                    <a:pt x="4625364" y="3823244"/>
                  </a:lnTo>
                  <a:lnTo>
                    <a:pt x="4668103" y="3802538"/>
                  </a:lnTo>
                  <a:lnTo>
                    <a:pt x="4710015" y="3779859"/>
                  </a:lnTo>
                  <a:lnTo>
                    <a:pt x="4751102" y="3755205"/>
                  </a:lnTo>
                  <a:lnTo>
                    <a:pt x="4791363" y="3728576"/>
                  </a:lnTo>
                  <a:lnTo>
                    <a:pt x="4830798" y="3699972"/>
                  </a:lnTo>
                  <a:lnTo>
                    <a:pt x="4869408" y="3669392"/>
                  </a:lnTo>
                  <a:lnTo>
                    <a:pt x="4907193" y="3636837"/>
                  </a:lnTo>
                  <a:lnTo>
                    <a:pt x="4944153" y="3602305"/>
                  </a:lnTo>
                  <a:lnTo>
                    <a:pt x="4980288" y="3565797"/>
                  </a:lnTo>
                  <a:lnTo>
                    <a:pt x="5015040" y="3527928"/>
                  </a:lnTo>
                  <a:lnTo>
                    <a:pt x="5047917" y="3489244"/>
                  </a:lnTo>
                  <a:lnTo>
                    <a:pt x="5078918" y="3449747"/>
                  </a:lnTo>
                  <a:lnTo>
                    <a:pt x="5108043" y="3409436"/>
                  </a:lnTo>
                  <a:lnTo>
                    <a:pt x="5135291" y="3368312"/>
                  </a:lnTo>
                  <a:lnTo>
                    <a:pt x="5160663" y="3326374"/>
                  </a:lnTo>
                  <a:lnTo>
                    <a:pt x="5184158" y="3283624"/>
                  </a:lnTo>
                  <a:lnTo>
                    <a:pt x="5205775" y="3240060"/>
                  </a:lnTo>
                  <a:lnTo>
                    <a:pt x="5225514" y="3195684"/>
                  </a:lnTo>
                  <a:lnTo>
                    <a:pt x="5243375" y="3150495"/>
                  </a:lnTo>
                  <a:lnTo>
                    <a:pt x="5259357" y="3104494"/>
                  </a:lnTo>
                  <a:lnTo>
                    <a:pt x="5273461" y="3057681"/>
                  </a:lnTo>
                  <a:lnTo>
                    <a:pt x="5285685" y="3010056"/>
                  </a:lnTo>
                  <a:lnTo>
                    <a:pt x="5296029" y="2961619"/>
                  </a:lnTo>
                  <a:lnTo>
                    <a:pt x="5304494" y="2912371"/>
                  </a:lnTo>
                  <a:lnTo>
                    <a:pt x="5311078" y="2862312"/>
                  </a:lnTo>
                  <a:lnTo>
                    <a:pt x="5315781" y="2811441"/>
                  </a:lnTo>
                  <a:lnTo>
                    <a:pt x="5318603" y="2759760"/>
                  </a:lnTo>
                  <a:lnTo>
                    <a:pt x="5319461" y="2711927"/>
                  </a:lnTo>
                  <a:lnTo>
                    <a:pt x="5319544" y="2707268"/>
                  </a:lnTo>
                  <a:lnTo>
                    <a:pt x="5318599" y="2656903"/>
                  </a:lnTo>
                  <a:lnTo>
                    <a:pt x="5318506" y="2651960"/>
                  </a:lnTo>
                  <a:lnTo>
                    <a:pt x="5315390" y="2597716"/>
                  </a:lnTo>
                  <a:lnTo>
                    <a:pt x="5310197" y="2544537"/>
                  </a:lnTo>
                  <a:lnTo>
                    <a:pt x="5302928" y="2492425"/>
                  </a:lnTo>
                  <a:lnTo>
                    <a:pt x="5293581" y="2441378"/>
                  </a:lnTo>
                  <a:lnTo>
                    <a:pt x="5282157" y="2391398"/>
                  </a:lnTo>
                  <a:lnTo>
                    <a:pt x="5268656" y="2342486"/>
                  </a:lnTo>
                  <a:lnTo>
                    <a:pt x="5253078" y="2294641"/>
                  </a:lnTo>
                  <a:lnTo>
                    <a:pt x="5235423" y="2247864"/>
                  </a:lnTo>
                  <a:lnTo>
                    <a:pt x="5215690" y="2202156"/>
                  </a:lnTo>
                  <a:lnTo>
                    <a:pt x="5193881" y="2157517"/>
                  </a:lnTo>
                  <a:lnTo>
                    <a:pt x="5169994" y="2113948"/>
                  </a:lnTo>
                  <a:lnTo>
                    <a:pt x="5144031" y="2071450"/>
                  </a:lnTo>
                  <a:lnTo>
                    <a:pt x="5115990" y="2030021"/>
                  </a:lnTo>
                  <a:lnTo>
                    <a:pt x="5084031" y="1986936"/>
                  </a:lnTo>
                  <a:lnTo>
                    <a:pt x="5050784" y="1945754"/>
                  </a:lnTo>
                  <a:lnTo>
                    <a:pt x="5016252" y="1906476"/>
                  </a:lnTo>
                  <a:lnTo>
                    <a:pt x="4980434" y="1869101"/>
                  </a:lnTo>
                  <a:lnTo>
                    <a:pt x="4943331" y="1833628"/>
                  </a:lnTo>
                  <a:lnTo>
                    <a:pt x="4904943" y="1800057"/>
                  </a:lnTo>
                  <a:lnTo>
                    <a:pt x="4865272" y="1768387"/>
                  </a:lnTo>
                  <a:lnTo>
                    <a:pt x="4824318" y="1738617"/>
                  </a:lnTo>
                  <a:lnTo>
                    <a:pt x="4782081" y="1710748"/>
                  </a:lnTo>
                  <a:lnTo>
                    <a:pt x="4738562" y="1684777"/>
                  </a:lnTo>
                  <a:lnTo>
                    <a:pt x="4693762" y="1660705"/>
                  </a:lnTo>
                  <a:lnTo>
                    <a:pt x="4647681" y="1638531"/>
                  </a:lnTo>
                  <a:lnTo>
                    <a:pt x="4600320" y="1618254"/>
                  </a:lnTo>
                  <a:lnTo>
                    <a:pt x="5292404" y="529240"/>
                  </a:lnTo>
                  <a:lnTo>
                    <a:pt x="44917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107501" y="1757134"/>
            <a:ext cx="10990580" cy="6289542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65"/>
              </a:spcBef>
            </a:pPr>
            <a:r>
              <a:rPr sz="4500" spc="229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AI 产品 3.0 不是把聊天框放进系统，而是让 AI 具备理解任务、调度工具、连接数据、解释结果和持续学习的能力。真正的产品化，发生在能力进入流程、被指标管理、并能稳定复用的时候。”
产品方案团队</a:t>
            </a:r>
            <a:endParaRPr sz="4500" dirty="0">
              <a:latin typeface="MiSans Medium" pitchFamily="2" charset="-128"/>
              <a:cs typeface="MiSans Medium" pitchFamily="2" charset="-128"/>
            </a:endParaRPr>
          </a:p>
          <a:p>
            <a:pPr marL="12700">
              <a:lnSpc>
                <a:spcPct val="100000"/>
              </a:lnSpc>
              <a:spcBef>
                <a:spcPts val="4075"/>
              </a:spcBef>
            </a:pPr>
            <a:endParaRPr sz="4100" dirty="0">
              <a:latin typeface="MiSans Medium" pitchFamily="2" charset="-128"/>
              <a:cs typeface="MiSans Medium" pitchFamily="2" charset="-128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endParaRPr sz="2850" dirty="0">
              <a:latin typeface="MiSans Medium" pitchFamily="2" charset="-128"/>
              <a:cs typeface="MiSans Medium" pitchFamily="2" charset="-128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551239" y="349922"/>
            <a:ext cx="162801" cy="1383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345174" y="10760882"/>
            <a:ext cx="868897" cy="15383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682542" y="328209"/>
            <a:ext cx="273621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solidFill>
                  <a:srgbClr val="BDC1C6"/>
                </a:solidFill>
                <a:latin typeface="Tahoma"/>
                <a:cs typeface="Tahoma"/>
              </a:rPr>
              <a:t>Chapter 01 | 从 1.0 到 3.0 的产品演进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6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727685"/>
            <a:ext cx="2539365" cy="209550"/>
          </a:xfrm>
          <a:custGeom>
            <a:avLst/>
            <a:gdLst/>
            <a:ahLst/>
            <a:cxnLst/>
            <a:rect l="l" t="t" r="r" b="b"/>
            <a:pathLst>
              <a:path w="2539365" h="209550">
                <a:moveTo>
                  <a:pt x="0" y="209428"/>
                </a:moveTo>
                <a:lnTo>
                  <a:pt x="2539189" y="209428"/>
                </a:lnTo>
                <a:lnTo>
                  <a:pt x="2539189" y="0"/>
                </a:lnTo>
                <a:lnTo>
                  <a:pt x="0" y="0"/>
                </a:lnTo>
                <a:lnTo>
                  <a:pt x="0" y="209428"/>
                </a:lnTo>
                <a:close/>
              </a:path>
            </a:pathLst>
          </a:custGeom>
          <a:solidFill>
            <a:srgbClr val="EA433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999847" y="1727696"/>
            <a:ext cx="3601085" cy="209550"/>
            <a:chOff x="4999847" y="1727696"/>
            <a:chExt cx="3601085" cy="209550"/>
          </a:xfrm>
        </p:grpSpPr>
        <p:sp>
          <p:nvSpPr>
            <p:cNvPr id="4" name="object 4"/>
            <p:cNvSpPr/>
            <p:nvPr/>
          </p:nvSpPr>
          <p:spPr>
            <a:xfrm>
              <a:off x="4999847" y="1727696"/>
              <a:ext cx="1021080" cy="209550"/>
            </a:xfrm>
            <a:custGeom>
              <a:avLst/>
              <a:gdLst/>
              <a:ahLst/>
              <a:cxnLst/>
              <a:rect l="l" t="t" r="r" b="b"/>
              <a:pathLst>
                <a:path w="1021079" h="209550">
                  <a:moveTo>
                    <a:pt x="0" y="209417"/>
                  </a:moveTo>
                  <a:lnTo>
                    <a:pt x="1020534" y="209417"/>
                  </a:lnTo>
                  <a:lnTo>
                    <a:pt x="1020534" y="0"/>
                  </a:lnTo>
                  <a:lnTo>
                    <a:pt x="0" y="0"/>
                  </a:lnTo>
                  <a:lnTo>
                    <a:pt x="0" y="209417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20382" y="1727696"/>
              <a:ext cx="860425" cy="209550"/>
            </a:xfrm>
            <a:custGeom>
              <a:avLst/>
              <a:gdLst/>
              <a:ahLst/>
              <a:cxnLst/>
              <a:rect l="l" t="t" r="r" b="b"/>
              <a:pathLst>
                <a:path w="860425" h="209550">
                  <a:moveTo>
                    <a:pt x="860057" y="0"/>
                  </a:moveTo>
                  <a:lnTo>
                    <a:pt x="0" y="0"/>
                  </a:lnTo>
                  <a:lnTo>
                    <a:pt x="0" y="209417"/>
                  </a:lnTo>
                  <a:lnTo>
                    <a:pt x="860057" y="209417"/>
                  </a:lnTo>
                  <a:lnTo>
                    <a:pt x="860057" y="0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80439" y="1727696"/>
              <a:ext cx="1720214" cy="209550"/>
            </a:xfrm>
            <a:custGeom>
              <a:avLst/>
              <a:gdLst/>
              <a:ahLst/>
              <a:cxnLst/>
              <a:rect l="l" t="t" r="r" b="b"/>
              <a:pathLst>
                <a:path w="1720215" h="209550">
                  <a:moveTo>
                    <a:pt x="1720094" y="0"/>
                  </a:moveTo>
                  <a:lnTo>
                    <a:pt x="0" y="0"/>
                  </a:lnTo>
                  <a:lnTo>
                    <a:pt x="0" y="209417"/>
                  </a:lnTo>
                  <a:lnTo>
                    <a:pt x="1720094" y="209417"/>
                  </a:lnTo>
                  <a:lnTo>
                    <a:pt x="1720094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2736851" y="1629972"/>
            <a:ext cx="2057400" cy="39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20"/>
              </a:spcBef>
            </a:pPr>
            <a:r>
              <a:rPr sz="2450" spc="155" dirty="0">
                <a:solidFill>
                  <a:srgbClr val="BDC1C6"/>
                </a:solidFill>
              </a:rPr>
              <a:t>Chapter </a:t>
            </a:r>
            <a:r>
              <a:rPr sz="2450" b="1" spc="155" dirty="0">
                <a:solidFill>
                  <a:srgbClr val="BDC1C6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02</a:t>
            </a:r>
            <a:endParaRPr sz="2450" b="1" dirty="0">
              <a:latin typeface="MiSans" pitchFamily="2" charset="-128"/>
              <a:ea typeface="MiSans" pitchFamily="2" charset="-128"/>
              <a:cs typeface="MiSans" pitchFamily="2" charset="-128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785133" y="349922"/>
            <a:ext cx="13319125" cy="10958830"/>
            <a:chOff x="6785133" y="349922"/>
            <a:chExt cx="13319125" cy="109588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85133" y="453463"/>
              <a:ext cx="13318966" cy="1085509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51239" y="349922"/>
              <a:ext cx="162801" cy="138383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7</a:t>
            </a:fld>
            <a:endParaRPr spc="-25" dirty="0">
              <a:solidFill>
                <a:srgbClr val="FFFFFF"/>
              </a:solidFill>
            </a:endParaRP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8F4E1678-3745-0B1F-65EA-A477A87DE7B5}"/>
              </a:ext>
            </a:extLst>
          </p:cNvPr>
          <p:cNvSpPr txBox="1"/>
          <p:nvPr/>
        </p:nvSpPr>
        <p:spPr>
          <a:xfrm>
            <a:off x="2507614" y="3381220"/>
            <a:ext cx="11811636" cy="4546116"/>
          </a:xfrm>
          <a:prstGeom prst="rect">
            <a:avLst/>
          </a:prstGeom>
        </p:spPr>
        <p:txBody>
          <a:bodyPr vert="horz" wrap="square" lIns="0" tIns="463550" rIns="0" bIns="0" rtlCol="0">
            <a:spAutoFit/>
          </a:bodyPr>
          <a:lstStyle/>
          <a:p>
            <a:pPr marL="12700" marR="42545">
              <a:spcBef>
                <a:spcPts val="3650"/>
              </a:spcBef>
            </a:pPr>
            <a:r>
              <a:rPr lang="en-US" altLang="zh-CN" sz="13250" spc="1520" dirty="0">
                <a:solidFill>
                  <a:srgbClr val="FFFFFF"/>
                </a:solidFill>
                <a:latin typeface="MiSans Medium" pitchFamily="2" charset="-128"/>
                <a:cs typeface="MiSans Medium" pitchFamily="2" charset="-128"/>
              </a:rPr>
              <a:t>AI</a:t>
            </a:r>
            <a:r>
              <a:rPr lang="zh-CN" altLang="en-US" sz="13250" spc="1520" dirty="0">
                <a:solidFill>
                  <a:srgbClr val="FFFFFF"/>
                </a:solidFill>
                <a:latin typeface="MiSans Medium" pitchFamily="2" charset="-128"/>
                <a:cs typeface="MiSans Medium" pitchFamily="2" charset="-128"/>
              </a:rPr>
              <a:t>产品</a:t>
            </a:r>
            <a:r>
              <a:rPr lang="en-US" altLang="zh-CN" sz="13250" spc="1520" dirty="0">
                <a:solidFill>
                  <a:srgbClr val="FFFFFF"/>
                </a:solidFill>
                <a:latin typeface="MiSans Medium" pitchFamily="2" charset="-128"/>
                <a:cs typeface="MiSans Medium" pitchFamily="2" charset="-128"/>
              </a:rPr>
              <a:t>3.0</a:t>
            </a:r>
            <a:r>
              <a:rPr lang="zh-CN" altLang="en-US" sz="13250" spc="1520" dirty="0">
                <a:solidFill>
                  <a:srgbClr val="FFFFFF"/>
                </a:solidFill>
                <a:latin typeface="MiSans Medium" pitchFamily="2" charset="-128"/>
                <a:cs typeface="MiSans Medium" pitchFamily="2" charset="-128"/>
              </a:rPr>
              <a:t>的迭代推导方法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4970" y="3417748"/>
            <a:ext cx="5835650" cy="31844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700"/>
              </a:lnSpc>
              <a:spcBef>
                <a:spcPts val="95"/>
              </a:spcBef>
            </a:pPr>
            <a:r>
              <a:rPr sz="1800" spc="10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迭代的起点不是模型，而是业务域。先选择一个高频、可衡量、数据可获得且风险可控的场景，例如客户服务、销售支持、运营分析、内容生产或研发协作。
第一阶段，用 AI 完成“信息获取”和“内容草拟”，快速验证用户愿不愿用、结果是否有用。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299720">
              <a:lnSpc>
                <a:spcPct val="129700"/>
              </a:lnSpc>
              <a:spcBef>
                <a:spcPts val="1240"/>
              </a:spcBef>
            </a:pP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49530">
              <a:lnSpc>
                <a:spcPct val="129700"/>
              </a:lnSpc>
            </a:pP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99060">
              <a:lnSpc>
                <a:spcPct val="129700"/>
              </a:lnSpc>
              <a:spcBef>
                <a:spcPts val="1240"/>
              </a:spcBef>
            </a:pPr>
            <a:endParaRPr sz="180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07564" y="3416136"/>
            <a:ext cx="5889625" cy="28115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21005">
              <a:lnSpc>
                <a:spcPct val="129700"/>
              </a:lnSpc>
              <a:spcBef>
                <a:spcPts val="95"/>
              </a:spcBef>
            </a:pPr>
            <a:r>
              <a:rPr sz="1800" spc="11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第二阶段，把用户的问题、修改记录、命中资料和人工审核意见沉淀下来，形成可评估的数据闭环。第三阶段，将表现稳定的能力封装为组件，扩展到相邻场景：从问答到摘要，从摘要到行动建议，从建议到流程自动化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172720">
              <a:lnSpc>
                <a:spcPct val="129700"/>
              </a:lnSpc>
              <a:spcBef>
                <a:spcPts val="1240"/>
              </a:spcBef>
            </a:pP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5080">
              <a:lnSpc>
                <a:spcPct val="129700"/>
              </a:lnSpc>
              <a:spcBef>
                <a:spcPts val="1235"/>
              </a:spcBef>
            </a:pPr>
            <a:endParaRPr sz="180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24970" y="802347"/>
            <a:ext cx="13383894" cy="205740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 marR="5080">
              <a:lnSpc>
                <a:spcPts val="5030"/>
              </a:lnSpc>
              <a:spcBef>
                <a:spcPts val="1019"/>
              </a:spcBef>
            </a:pPr>
            <a:r>
              <a:rPr sz="4950" spc="155" dirty="0">
                <a:solidFill>
                  <a:srgbClr val="202124"/>
                </a:solidFill>
              </a:rPr>
              <a:t>AI 产品 3.0 的推导原则：先围绕一个业务域跑通闭环，再把能力横向复制到更多角色和任务。</a:t>
            </a:r>
            <a:endParaRPr sz="4950"/>
          </a:p>
        </p:txBody>
      </p:sp>
      <p:grpSp>
        <p:nvGrpSpPr>
          <p:cNvPr id="5" name="object 5"/>
          <p:cNvGrpSpPr/>
          <p:nvPr/>
        </p:nvGrpSpPr>
        <p:grpSpPr>
          <a:xfrm>
            <a:off x="13905324" y="3308799"/>
            <a:ext cx="6198870" cy="7606030"/>
            <a:chOff x="13905324" y="3308799"/>
            <a:chExt cx="6198870" cy="76060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05324" y="3308799"/>
              <a:ext cx="6198764" cy="75423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45175" y="10760883"/>
              <a:ext cx="868897" cy="153838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551239" y="349922"/>
            <a:ext cx="162801" cy="13838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881122" y="328209"/>
            <a:ext cx="4537710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solidFill>
                  <a:srgbClr val="BDC1C6"/>
                </a:solidFill>
                <a:latin typeface="Tahoma"/>
                <a:cs typeface="Tahoma"/>
              </a:rPr>
              <a:t>AI 产品 3.0 | 能力架构与迭代推导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8</a:t>
            </a:fld>
            <a:endParaRPr spc="-25" dirty="0">
              <a:solidFill>
                <a:srgbClr val="FFFFFF"/>
              </a:solidFill>
            </a:endParaRPr>
          </a:p>
        </p:txBody>
      </p:sp>
      <p:sp>
        <p:nvSpPr>
          <p:cNvPr id="998237" name="brand cleanup mask"/>
          <p:cNvSpPr/>
          <p:nvPr/>
        </p:nvSpPr>
        <p:spPr>
          <a:xfrm>
            <a:off x="18120000" y="10250000"/>
            <a:ext cx="1200000" cy="76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wrap="square" lIns="0" tIns="0" rIns="0" bIns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0"/>
            <a:ext cx="20088860" cy="11293475"/>
          </a:xfrm>
          <a:custGeom>
            <a:avLst/>
            <a:gdLst/>
            <a:ahLst/>
            <a:cxnLst/>
            <a:rect l="l" t="t" r="r" b="b"/>
            <a:pathLst>
              <a:path w="20088860" h="11293475">
                <a:moveTo>
                  <a:pt x="20088393" y="0"/>
                </a:moveTo>
                <a:lnTo>
                  <a:pt x="0" y="0"/>
                </a:lnTo>
                <a:lnTo>
                  <a:pt x="0" y="11292849"/>
                </a:lnTo>
                <a:lnTo>
                  <a:pt x="20088393" y="11292849"/>
                </a:lnTo>
                <a:lnTo>
                  <a:pt x="20088393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9452"/>
            <a:ext cx="20119975" cy="11308715"/>
            <a:chOff x="0" y="0"/>
            <a:chExt cx="20119975" cy="113087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3315" y="5067908"/>
              <a:ext cx="6910784" cy="624064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1366" y="0"/>
              <a:ext cx="13402733" cy="52781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46227" cy="113085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444799" y="4477438"/>
              <a:ext cx="12659360" cy="0"/>
            </a:xfrm>
            <a:custGeom>
              <a:avLst/>
              <a:gdLst/>
              <a:ahLst/>
              <a:cxnLst/>
              <a:rect l="l" t="t" r="r" b="b"/>
              <a:pathLst>
                <a:path w="12659360">
                  <a:moveTo>
                    <a:pt x="0" y="0"/>
                  </a:moveTo>
                  <a:lnTo>
                    <a:pt x="12659300" y="0"/>
                  </a:lnTo>
                </a:path>
              </a:pathLst>
            </a:custGeom>
            <a:ln w="31412">
              <a:solidFill>
                <a:srgbClr val="BDC1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444795" y="4862014"/>
            <a:ext cx="1705551" cy="3699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0"/>
              </a:spcBef>
            </a:pPr>
            <a:r>
              <a:rPr sz="2400" spc="150" dirty="0">
                <a:solidFill>
                  <a:srgbClr val="202124"/>
                </a:solidFill>
                <a:latin typeface="MiSans Medium" pitchFamily="2" charset="-128"/>
                <a:ea typeface="MiSans Medium" pitchFamily="2" charset="-128"/>
                <a:cs typeface="MiSans Medium" pitchFamily="2" charset="-128"/>
              </a:rPr>
              <a:t>锁定业务域</a:t>
            </a:r>
            <a:endParaRPr sz="2400" dirty="0">
              <a:latin typeface="MiSans Medium" pitchFamily="2" charset="-128"/>
              <a:ea typeface="MiSans Medium" pitchFamily="2" charset="-128"/>
              <a:cs typeface="MiSans Medium" pitchFamily="2" charset="-128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444521" y="4862014"/>
            <a:ext cx="2057263" cy="3699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0"/>
              </a:spcBef>
            </a:pPr>
            <a:r>
              <a:rPr sz="2400" spc="210" dirty="0">
                <a:solidFill>
                  <a:srgbClr val="202124"/>
                </a:solidFill>
                <a:latin typeface="MiSans Medium" pitchFamily="2" charset="-128"/>
                <a:ea typeface="MiSans Medium" pitchFamily="2" charset="-128"/>
                <a:cs typeface="MiSans Medium" pitchFamily="2" charset="-128"/>
              </a:rPr>
              <a:t>组建共创小组</a:t>
            </a:r>
            <a:endParaRPr sz="2400" dirty="0">
              <a:latin typeface="MiSans Medium" pitchFamily="2" charset="-128"/>
              <a:ea typeface="MiSans Medium" pitchFamily="2" charset="-128"/>
              <a:cs typeface="MiSans Medium" pitchFamily="2" charset="-128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13291" y="4862014"/>
            <a:ext cx="2132311" cy="3699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0"/>
              </a:spcBef>
            </a:pPr>
            <a:r>
              <a:rPr sz="2400" spc="204" dirty="0">
                <a:solidFill>
                  <a:srgbClr val="202124"/>
                </a:solidFill>
                <a:latin typeface="MiSans Medium" pitchFamily="2" charset="-128"/>
                <a:ea typeface="MiSans Medium" pitchFamily="2" charset="-128"/>
                <a:cs typeface="MiSans Medium" pitchFamily="2" charset="-128"/>
              </a:rPr>
              <a:t>定义核心用户</a:t>
            </a:r>
            <a:endParaRPr sz="2400" dirty="0">
              <a:latin typeface="MiSans Medium" pitchFamily="2" charset="-128"/>
              <a:ea typeface="MiSans Medium" pitchFamily="2" charset="-128"/>
              <a:cs typeface="MiSans Medium" pitchFamily="2" charset="-128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02732" y="4862014"/>
            <a:ext cx="2298586" cy="3699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0"/>
              </a:spcBef>
            </a:pPr>
            <a:r>
              <a:rPr sz="2400" spc="145" dirty="0">
                <a:solidFill>
                  <a:srgbClr val="202124"/>
                </a:solidFill>
                <a:latin typeface="MiSans Medium" pitchFamily="2" charset="-128"/>
                <a:ea typeface="MiSans Medium" pitchFamily="2" charset="-128"/>
                <a:cs typeface="MiSans Medium" pitchFamily="2" charset="-128"/>
              </a:rPr>
              <a:t>盘点数据来源</a:t>
            </a:r>
            <a:endParaRPr sz="2400" dirty="0">
              <a:latin typeface="MiSans Medium" pitchFamily="2" charset="-128"/>
              <a:ea typeface="MiSans Medium" pitchFamily="2" charset="-128"/>
              <a:cs typeface="MiSans Medium" pitchFamily="2" charset="-128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28920" y="4188182"/>
            <a:ext cx="1152525" cy="532130"/>
            <a:chOff x="7428920" y="4188182"/>
            <a:chExt cx="1152525" cy="532130"/>
          </a:xfrm>
        </p:grpSpPr>
        <p:sp>
          <p:nvSpPr>
            <p:cNvPr id="13" name="object 13"/>
            <p:cNvSpPr/>
            <p:nvPr/>
          </p:nvSpPr>
          <p:spPr>
            <a:xfrm>
              <a:off x="7444795" y="4204057"/>
              <a:ext cx="1120775" cy="500380"/>
            </a:xfrm>
            <a:custGeom>
              <a:avLst/>
              <a:gdLst/>
              <a:ahLst/>
              <a:cxnLst/>
              <a:rect l="l" t="t" r="r" b="b"/>
              <a:pathLst>
                <a:path w="1120775" h="500379">
                  <a:moveTo>
                    <a:pt x="870476" y="0"/>
                  </a:moveTo>
                  <a:lnTo>
                    <a:pt x="249919" y="0"/>
                  </a:lnTo>
                  <a:lnTo>
                    <a:pt x="204995" y="4026"/>
                  </a:lnTo>
                  <a:lnTo>
                    <a:pt x="162713" y="15635"/>
                  </a:lnTo>
                  <a:lnTo>
                    <a:pt x="123779" y="34121"/>
                  </a:lnTo>
                  <a:lnTo>
                    <a:pt x="88899" y="58777"/>
                  </a:lnTo>
                  <a:lnTo>
                    <a:pt x="58777" y="88899"/>
                  </a:lnTo>
                  <a:lnTo>
                    <a:pt x="34121" y="123779"/>
                  </a:lnTo>
                  <a:lnTo>
                    <a:pt x="15635" y="162713"/>
                  </a:lnTo>
                  <a:lnTo>
                    <a:pt x="4026" y="204995"/>
                  </a:lnTo>
                  <a:lnTo>
                    <a:pt x="0" y="249919"/>
                  </a:lnTo>
                  <a:lnTo>
                    <a:pt x="4026" y="294839"/>
                  </a:lnTo>
                  <a:lnTo>
                    <a:pt x="15635" y="337118"/>
                  </a:lnTo>
                  <a:lnTo>
                    <a:pt x="34121" y="376050"/>
                  </a:lnTo>
                  <a:lnTo>
                    <a:pt x="58777" y="410930"/>
                  </a:lnTo>
                  <a:lnTo>
                    <a:pt x="88899" y="441051"/>
                  </a:lnTo>
                  <a:lnTo>
                    <a:pt x="123779" y="465706"/>
                  </a:lnTo>
                  <a:lnTo>
                    <a:pt x="162713" y="484192"/>
                  </a:lnTo>
                  <a:lnTo>
                    <a:pt x="204995" y="495801"/>
                  </a:lnTo>
                  <a:lnTo>
                    <a:pt x="249919" y="499827"/>
                  </a:lnTo>
                  <a:lnTo>
                    <a:pt x="870476" y="499827"/>
                  </a:lnTo>
                  <a:lnTo>
                    <a:pt x="915399" y="495801"/>
                  </a:lnTo>
                  <a:lnTo>
                    <a:pt x="957679" y="484192"/>
                  </a:lnTo>
                  <a:lnTo>
                    <a:pt x="996612" y="465706"/>
                  </a:lnTo>
                  <a:lnTo>
                    <a:pt x="1031491" y="441051"/>
                  </a:lnTo>
                  <a:lnTo>
                    <a:pt x="1061611" y="410930"/>
                  </a:lnTo>
                  <a:lnTo>
                    <a:pt x="1086266" y="376050"/>
                  </a:lnTo>
                  <a:lnTo>
                    <a:pt x="1104750" y="337118"/>
                  </a:lnTo>
                  <a:lnTo>
                    <a:pt x="1116358" y="294839"/>
                  </a:lnTo>
                  <a:lnTo>
                    <a:pt x="1120384" y="249919"/>
                  </a:lnTo>
                  <a:lnTo>
                    <a:pt x="1116358" y="204995"/>
                  </a:lnTo>
                  <a:lnTo>
                    <a:pt x="1104750" y="162713"/>
                  </a:lnTo>
                  <a:lnTo>
                    <a:pt x="1086266" y="123779"/>
                  </a:lnTo>
                  <a:lnTo>
                    <a:pt x="1061611" y="88899"/>
                  </a:lnTo>
                  <a:lnTo>
                    <a:pt x="1031491" y="58777"/>
                  </a:lnTo>
                  <a:lnTo>
                    <a:pt x="996612" y="34121"/>
                  </a:lnTo>
                  <a:lnTo>
                    <a:pt x="957679" y="15635"/>
                  </a:lnTo>
                  <a:lnTo>
                    <a:pt x="915399" y="4026"/>
                  </a:lnTo>
                  <a:lnTo>
                    <a:pt x="870476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44795" y="4204057"/>
              <a:ext cx="1120775" cy="500380"/>
            </a:xfrm>
            <a:custGeom>
              <a:avLst/>
              <a:gdLst/>
              <a:ahLst/>
              <a:cxnLst/>
              <a:rect l="l" t="t" r="r" b="b"/>
              <a:pathLst>
                <a:path w="1120775" h="500379">
                  <a:moveTo>
                    <a:pt x="870476" y="499827"/>
                  </a:moveTo>
                  <a:lnTo>
                    <a:pt x="249919" y="499827"/>
                  </a:lnTo>
                  <a:lnTo>
                    <a:pt x="204995" y="495801"/>
                  </a:lnTo>
                  <a:lnTo>
                    <a:pt x="162713" y="484192"/>
                  </a:lnTo>
                  <a:lnTo>
                    <a:pt x="123779" y="465706"/>
                  </a:lnTo>
                  <a:lnTo>
                    <a:pt x="88899" y="441051"/>
                  </a:lnTo>
                  <a:lnTo>
                    <a:pt x="58777" y="410930"/>
                  </a:lnTo>
                  <a:lnTo>
                    <a:pt x="34121" y="376050"/>
                  </a:lnTo>
                  <a:lnTo>
                    <a:pt x="15635" y="337118"/>
                  </a:lnTo>
                  <a:lnTo>
                    <a:pt x="4026" y="294839"/>
                  </a:lnTo>
                  <a:lnTo>
                    <a:pt x="0" y="249919"/>
                  </a:lnTo>
                  <a:lnTo>
                    <a:pt x="4026" y="204995"/>
                  </a:lnTo>
                  <a:lnTo>
                    <a:pt x="15635" y="162713"/>
                  </a:lnTo>
                  <a:lnTo>
                    <a:pt x="34121" y="123779"/>
                  </a:lnTo>
                  <a:lnTo>
                    <a:pt x="58777" y="88899"/>
                  </a:lnTo>
                  <a:lnTo>
                    <a:pt x="88899" y="58777"/>
                  </a:lnTo>
                  <a:lnTo>
                    <a:pt x="123779" y="34121"/>
                  </a:lnTo>
                  <a:lnTo>
                    <a:pt x="162713" y="15635"/>
                  </a:lnTo>
                  <a:lnTo>
                    <a:pt x="204995" y="4026"/>
                  </a:lnTo>
                  <a:lnTo>
                    <a:pt x="249919" y="0"/>
                  </a:lnTo>
                  <a:lnTo>
                    <a:pt x="870476" y="0"/>
                  </a:lnTo>
                  <a:lnTo>
                    <a:pt x="915399" y="4026"/>
                  </a:lnTo>
                  <a:lnTo>
                    <a:pt x="957679" y="15635"/>
                  </a:lnTo>
                  <a:lnTo>
                    <a:pt x="996612" y="34121"/>
                  </a:lnTo>
                  <a:lnTo>
                    <a:pt x="1031491" y="58777"/>
                  </a:lnTo>
                  <a:lnTo>
                    <a:pt x="1061611" y="88899"/>
                  </a:lnTo>
                  <a:lnTo>
                    <a:pt x="1086266" y="123779"/>
                  </a:lnTo>
                  <a:lnTo>
                    <a:pt x="1104750" y="162713"/>
                  </a:lnTo>
                  <a:lnTo>
                    <a:pt x="1116358" y="204995"/>
                  </a:lnTo>
                  <a:lnTo>
                    <a:pt x="1120384" y="249919"/>
                  </a:lnTo>
                  <a:lnTo>
                    <a:pt x="1116358" y="294839"/>
                  </a:lnTo>
                  <a:lnTo>
                    <a:pt x="1104750" y="337118"/>
                  </a:lnTo>
                  <a:lnTo>
                    <a:pt x="1086266" y="376050"/>
                  </a:lnTo>
                  <a:lnTo>
                    <a:pt x="1061611" y="410930"/>
                  </a:lnTo>
                  <a:lnTo>
                    <a:pt x="1031491" y="441051"/>
                  </a:lnTo>
                  <a:lnTo>
                    <a:pt x="996612" y="465706"/>
                  </a:lnTo>
                  <a:lnTo>
                    <a:pt x="957679" y="484192"/>
                  </a:lnTo>
                  <a:lnTo>
                    <a:pt x="915399" y="495801"/>
                  </a:lnTo>
                  <a:lnTo>
                    <a:pt x="870476" y="499827"/>
                  </a:lnTo>
                  <a:close/>
                </a:path>
              </a:pathLst>
            </a:custGeom>
            <a:ln w="31412">
              <a:solidFill>
                <a:srgbClr val="202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613650" y="4308694"/>
            <a:ext cx="808346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130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Step1</a:t>
            </a:r>
            <a:endParaRPr sz="1800" b="1" dirty="0">
              <a:latin typeface="MiSans" pitchFamily="2" charset="-128"/>
              <a:ea typeface="MiSans" pitchFamily="2" charset="-128"/>
              <a:cs typeface="MiSans" pitchFamily="2" charset="-128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397416" y="4188182"/>
            <a:ext cx="1152525" cy="532130"/>
            <a:chOff x="10397416" y="4188182"/>
            <a:chExt cx="1152525" cy="532130"/>
          </a:xfrm>
        </p:grpSpPr>
        <p:sp>
          <p:nvSpPr>
            <p:cNvPr id="17" name="object 17"/>
            <p:cNvSpPr/>
            <p:nvPr/>
          </p:nvSpPr>
          <p:spPr>
            <a:xfrm>
              <a:off x="10413291" y="4204057"/>
              <a:ext cx="1120775" cy="500380"/>
            </a:xfrm>
            <a:custGeom>
              <a:avLst/>
              <a:gdLst/>
              <a:ahLst/>
              <a:cxnLst/>
              <a:rect l="l" t="t" r="r" b="b"/>
              <a:pathLst>
                <a:path w="1120775" h="500379">
                  <a:moveTo>
                    <a:pt x="870476" y="0"/>
                  </a:moveTo>
                  <a:lnTo>
                    <a:pt x="249919" y="0"/>
                  </a:lnTo>
                  <a:lnTo>
                    <a:pt x="204995" y="4026"/>
                  </a:lnTo>
                  <a:lnTo>
                    <a:pt x="162713" y="15635"/>
                  </a:lnTo>
                  <a:lnTo>
                    <a:pt x="123779" y="34121"/>
                  </a:lnTo>
                  <a:lnTo>
                    <a:pt x="88899" y="58777"/>
                  </a:lnTo>
                  <a:lnTo>
                    <a:pt x="58777" y="88899"/>
                  </a:lnTo>
                  <a:lnTo>
                    <a:pt x="34121" y="123779"/>
                  </a:lnTo>
                  <a:lnTo>
                    <a:pt x="15635" y="162713"/>
                  </a:lnTo>
                  <a:lnTo>
                    <a:pt x="4026" y="204995"/>
                  </a:lnTo>
                  <a:lnTo>
                    <a:pt x="0" y="249919"/>
                  </a:lnTo>
                  <a:lnTo>
                    <a:pt x="4026" y="294839"/>
                  </a:lnTo>
                  <a:lnTo>
                    <a:pt x="15635" y="337118"/>
                  </a:lnTo>
                  <a:lnTo>
                    <a:pt x="34121" y="376050"/>
                  </a:lnTo>
                  <a:lnTo>
                    <a:pt x="58777" y="410930"/>
                  </a:lnTo>
                  <a:lnTo>
                    <a:pt x="88899" y="441051"/>
                  </a:lnTo>
                  <a:lnTo>
                    <a:pt x="123779" y="465706"/>
                  </a:lnTo>
                  <a:lnTo>
                    <a:pt x="162713" y="484192"/>
                  </a:lnTo>
                  <a:lnTo>
                    <a:pt x="204995" y="495801"/>
                  </a:lnTo>
                  <a:lnTo>
                    <a:pt x="249919" y="499827"/>
                  </a:lnTo>
                  <a:lnTo>
                    <a:pt x="870476" y="499827"/>
                  </a:lnTo>
                  <a:lnTo>
                    <a:pt x="915399" y="495801"/>
                  </a:lnTo>
                  <a:lnTo>
                    <a:pt x="957679" y="484192"/>
                  </a:lnTo>
                  <a:lnTo>
                    <a:pt x="996612" y="465706"/>
                  </a:lnTo>
                  <a:lnTo>
                    <a:pt x="1031491" y="441051"/>
                  </a:lnTo>
                  <a:lnTo>
                    <a:pt x="1061611" y="410930"/>
                  </a:lnTo>
                  <a:lnTo>
                    <a:pt x="1086266" y="376050"/>
                  </a:lnTo>
                  <a:lnTo>
                    <a:pt x="1104750" y="337118"/>
                  </a:lnTo>
                  <a:lnTo>
                    <a:pt x="1116358" y="294839"/>
                  </a:lnTo>
                  <a:lnTo>
                    <a:pt x="1120384" y="249919"/>
                  </a:lnTo>
                  <a:lnTo>
                    <a:pt x="1116358" y="204995"/>
                  </a:lnTo>
                  <a:lnTo>
                    <a:pt x="1104750" y="162713"/>
                  </a:lnTo>
                  <a:lnTo>
                    <a:pt x="1086266" y="123779"/>
                  </a:lnTo>
                  <a:lnTo>
                    <a:pt x="1061611" y="88899"/>
                  </a:lnTo>
                  <a:lnTo>
                    <a:pt x="1031491" y="58777"/>
                  </a:lnTo>
                  <a:lnTo>
                    <a:pt x="996612" y="34121"/>
                  </a:lnTo>
                  <a:lnTo>
                    <a:pt x="957679" y="15635"/>
                  </a:lnTo>
                  <a:lnTo>
                    <a:pt x="915399" y="4026"/>
                  </a:lnTo>
                  <a:lnTo>
                    <a:pt x="870476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413291" y="4204057"/>
              <a:ext cx="1120775" cy="500380"/>
            </a:xfrm>
            <a:custGeom>
              <a:avLst/>
              <a:gdLst/>
              <a:ahLst/>
              <a:cxnLst/>
              <a:rect l="l" t="t" r="r" b="b"/>
              <a:pathLst>
                <a:path w="1120775" h="500379">
                  <a:moveTo>
                    <a:pt x="870476" y="499827"/>
                  </a:moveTo>
                  <a:lnTo>
                    <a:pt x="249919" y="499827"/>
                  </a:lnTo>
                  <a:lnTo>
                    <a:pt x="204995" y="495801"/>
                  </a:lnTo>
                  <a:lnTo>
                    <a:pt x="162713" y="484192"/>
                  </a:lnTo>
                  <a:lnTo>
                    <a:pt x="123779" y="465706"/>
                  </a:lnTo>
                  <a:lnTo>
                    <a:pt x="88899" y="441051"/>
                  </a:lnTo>
                  <a:lnTo>
                    <a:pt x="58777" y="410930"/>
                  </a:lnTo>
                  <a:lnTo>
                    <a:pt x="34121" y="376050"/>
                  </a:lnTo>
                  <a:lnTo>
                    <a:pt x="15635" y="337118"/>
                  </a:lnTo>
                  <a:lnTo>
                    <a:pt x="4026" y="294839"/>
                  </a:lnTo>
                  <a:lnTo>
                    <a:pt x="0" y="249919"/>
                  </a:lnTo>
                  <a:lnTo>
                    <a:pt x="4026" y="204995"/>
                  </a:lnTo>
                  <a:lnTo>
                    <a:pt x="15635" y="162713"/>
                  </a:lnTo>
                  <a:lnTo>
                    <a:pt x="34121" y="123779"/>
                  </a:lnTo>
                  <a:lnTo>
                    <a:pt x="58777" y="88899"/>
                  </a:lnTo>
                  <a:lnTo>
                    <a:pt x="88899" y="58777"/>
                  </a:lnTo>
                  <a:lnTo>
                    <a:pt x="123779" y="34121"/>
                  </a:lnTo>
                  <a:lnTo>
                    <a:pt x="162713" y="15635"/>
                  </a:lnTo>
                  <a:lnTo>
                    <a:pt x="204995" y="4026"/>
                  </a:lnTo>
                  <a:lnTo>
                    <a:pt x="249919" y="0"/>
                  </a:lnTo>
                  <a:lnTo>
                    <a:pt x="870476" y="0"/>
                  </a:lnTo>
                  <a:lnTo>
                    <a:pt x="915399" y="4026"/>
                  </a:lnTo>
                  <a:lnTo>
                    <a:pt x="957679" y="15635"/>
                  </a:lnTo>
                  <a:lnTo>
                    <a:pt x="996612" y="34121"/>
                  </a:lnTo>
                  <a:lnTo>
                    <a:pt x="1031491" y="58777"/>
                  </a:lnTo>
                  <a:lnTo>
                    <a:pt x="1061611" y="88899"/>
                  </a:lnTo>
                  <a:lnTo>
                    <a:pt x="1086266" y="123779"/>
                  </a:lnTo>
                  <a:lnTo>
                    <a:pt x="1104750" y="162713"/>
                  </a:lnTo>
                  <a:lnTo>
                    <a:pt x="1116358" y="204995"/>
                  </a:lnTo>
                  <a:lnTo>
                    <a:pt x="1120384" y="249919"/>
                  </a:lnTo>
                  <a:lnTo>
                    <a:pt x="1116358" y="294839"/>
                  </a:lnTo>
                  <a:lnTo>
                    <a:pt x="1104750" y="337118"/>
                  </a:lnTo>
                  <a:lnTo>
                    <a:pt x="1086266" y="376050"/>
                  </a:lnTo>
                  <a:lnTo>
                    <a:pt x="1061611" y="410930"/>
                  </a:lnTo>
                  <a:lnTo>
                    <a:pt x="1031491" y="441051"/>
                  </a:lnTo>
                  <a:lnTo>
                    <a:pt x="996612" y="465706"/>
                  </a:lnTo>
                  <a:lnTo>
                    <a:pt x="957679" y="484192"/>
                  </a:lnTo>
                  <a:lnTo>
                    <a:pt x="915399" y="495801"/>
                  </a:lnTo>
                  <a:lnTo>
                    <a:pt x="870476" y="499827"/>
                  </a:lnTo>
                  <a:close/>
                </a:path>
              </a:pathLst>
            </a:custGeom>
            <a:ln w="31412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585450" y="4296770"/>
            <a:ext cx="876737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10"/>
              </a:spcBef>
              <a:defRPr sz="1800" b="1" spc="13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defRPr>
            </a:lvl1pPr>
          </a:lstStyle>
          <a:p>
            <a:r>
              <a:rPr dirty="0"/>
              <a:t>Step2</a:t>
            </a:r>
          </a:p>
        </p:txBody>
      </p:sp>
      <p:grpSp>
        <p:nvGrpSpPr>
          <p:cNvPr id="20" name="object 20"/>
          <p:cNvGrpSpPr/>
          <p:nvPr/>
        </p:nvGrpSpPr>
        <p:grpSpPr>
          <a:xfrm>
            <a:off x="13402560" y="4188182"/>
            <a:ext cx="1152525" cy="532130"/>
            <a:chOff x="13402560" y="4188182"/>
            <a:chExt cx="1152525" cy="532130"/>
          </a:xfrm>
        </p:grpSpPr>
        <p:sp>
          <p:nvSpPr>
            <p:cNvPr id="21" name="object 21"/>
            <p:cNvSpPr/>
            <p:nvPr/>
          </p:nvSpPr>
          <p:spPr>
            <a:xfrm>
              <a:off x="13418435" y="4204057"/>
              <a:ext cx="1120775" cy="500380"/>
            </a:xfrm>
            <a:custGeom>
              <a:avLst/>
              <a:gdLst/>
              <a:ahLst/>
              <a:cxnLst/>
              <a:rect l="l" t="t" r="r" b="b"/>
              <a:pathLst>
                <a:path w="1120775" h="500379">
                  <a:moveTo>
                    <a:pt x="870476" y="0"/>
                  </a:moveTo>
                  <a:lnTo>
                    <a:pt x="249919" y="0"/>
                  </a:lnTo>
                  <a:lnTo>
                    <a:pt x="204995" y="4026"/>
                  </a:lnTo>
                  <a:lnTo>
                    <a:pt x="162713" y="15635"/>
                  </a:lnTo>
                  <a:lnTo>
                    <a:pt x="123779" y="34121"/>
                  </a:lnTo>
                  <a:lnTo>
                    <a:pt x="88899" y="58777"/>
                  </a:lnTo>
                  <a:lnTo>
                    <a:pt x="58777" y="88899"/>
                  </a:lnTo>
                  <a:lnTo>
                    <a:pt x="34121" y="123779"/>
                  </a:lnTo>
                  <a:lnTo>
                    <a:pt x="15635" y="162713"/>
                  </a:lnTo>
                  <a:lnTo>
                    <a:pt x="4026" y="204995"/>
                  </a:lnTo>
                  <a:lnTo>
                    <a:pt x="0" y="249919"/>
                  </a:lnTo>
                  <a:lnTo>
                    <a:pt x="4026" y="294839"/>
                  </a:lnTo>
                  <a:lnTo>
                    <a:pt x="15635" y="337118"/>
                  </a:lnTo>
                  <a:lnTo>
                    <a:pt x="34121" y="376050"/>
                  </a:lnTo>
                  <a:lnTo>
                    <a:pt x="58777" y="410930"/>
                  </a:lnTo>
                  <a:lnTo>
                    <a:pt x="88899" y="441051"/>
                  </a:lnTo>
                  <a:lnTo>
                    <a:pt x="123779" y="465706"/>
                  </a:lnTo>
                  <a:lnTo>
                    <a:pt x="162713" y="484192"/>
                  </a:lnTo>
                  <a:lnTo>
                    <a:pt x="204995" y="495801"/>
                  </a:lnTo>
                  <a:lnTo>
                    <a:pt x="249919" y="499827"/>
                  </a:lnTo>
                  <a:lnTo>
                    <a:pt x="870476" y="499827"/>
                  </a:lnTo>
                  <a:lnTo>
                    <a:pt x="915399" y="495801"/>
                  </a:lnTo>
                  <a:lnTo>
                    <a:pt x="957679" y="484192"/>
                  </a:lnTo>
                  <a:lnTo>
                    <a:pt x="996612" y="465706"/>
                  </a:lnTo>
                  <a:lnTo>
                    <a:pt x="1031491" y="441051"/>
                  </a:lnTo>
                  <a:lnTo>
                    <a:pt x="1061611" y="410930"/>
                  </a:lnTo>
                  <a:lnTo>
                    <a:pt x="1086266" y="376050"/>
                  </a:lnTo>
                  <a:lnTo>
                    <a:pt x="1104750" y="337118"/>
                  </a:lnTo>
                  <a:lnTo>
                    <a:pt x="1116358" y="294839"/>
                  </a:lnTo>
                  <a:lnTo>
                    <a:pt x="1120384" y="249919"/>
                  </a:lnTo>
                  <a:lnTo>
                    <a:pt x="1116358" y="204995"/>
                  </a:lnTo>
                  <a:lnTo>
                    <a:pt x="1104750" y="162713"/>
                  </a:lnTo>
                  <a:lnTo>
                    <a:pt x="1086266" y="123779"/>
                  </a:lnTo>
                  <a:lnTo>
                    <a:pt x="1061611" y="88899"/>
                  </a:lnTo>
                  <a:lnTo>
                    <a:pt x="1031491" y="58777"/>
                  </a:lnTo>
                  <a:lnTo>
                    <a:pt x="996612" y="34121"/>
                  </a:lnTo>
                  <a:lnTo>
                    <a:pt x="957679" y="15635"/>
                  </a:lnTo>
                  <a:lnTo>
                    <a:pt x="915399" y="4026"/>
                  </a:lnTo>
                  <a:lnTo>
                    <a:pt x="870476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418435" y="4204057"/>
              <a:ext cx="1120775" cy="500380"/>
            </a:xfrm>
            <a:custGeom>
              <a:avLst/>
              <a:gdLst/>
              <a:ahLst/>
              <a:cxnLst/>
              <a:rect l="l" t="t" r="r" b="b"/>
              <a:pathLst>
                <a:path w="1120775" h="500379">
                  <a:moveTo>
                    <a:pt x="870476" y="499827"/>
                  </a:moveTo>
                  <a:lnTo>
                    <a:pt x="249919" y="499827"/>
                  </a:lnTo>
                  <a:lnTo>
                    <a:pt x="204995" y="495801"/>
                  </a:lnTo>
                  <a:lnTo>
                    <a:pt x="162713" y="484192"/>
                  </a:lnTo>
                  <a:lnTo>
                    <a:pt x="123779" y="465706"/>
                  </a:lnTo>
                  <a:lnTo>
                    <a:pt x="88899" y="441051"/>
                  </a:lnTo>
                  <a:lnTo>
                    <a:pt x="58777" y="410930"/>
                  </a:lnTo>
                  <a:lnTo>
                    <a:pt x="34121" y="376050"/>
                  </a:lnTo>
                  <a:lnTo>
                    <a:pt x="15635" y="337118"/>
                  </a:lnTo>
                  <a:lnTo>
                    <a:pt x="4026" y="294839"/>
                  </a:lnTo>
                  <a:lnTo>
                    <a:pt x="0" y="249919"/>
                  </a:lnTo>
                  <a:lnTo>
                    <a:pt x="4026" y="204995"/>
                  </a:lnTo>
                  <a:lnTo>
                    <a:pt x="15635" y="162713"/>
                  </a:lnTo>
                  <a:lnTo>
                    <a:pt x="34121" y="123779"/>
                  </a:lnTo>
                  <a:lnTo>
                    <a:pt x="58777" y="88899"/>
                  </a:lnTo>
                  <a:lnTo>
                    <a:pt x="88899" y="58777"/>
                  </a:lnTo>
                  <a:lnTo>
                    <a:pt x="123779" y="34121"/>
                  </a:lnTo>
                  <a:lnTo>
                    <a:pt x="162713" y="15635"/>
                  </a:lnTo>
                  <a:lnTo>
                    <a:pt x="204995" y="4026"/>
                  </a:lnTo>
                  <a:lnTo>
                    <a:pt x="249919" y="0"/>
                  </a:lnTo>
                  <a:lnTo>
                    <a:pt x="870476" y="0"/>
                  </a:lnTo>
                  <a:lnTo>
                    <a:pt x="915399" y="4026"/>
                  </a:lnTo>
                  <a:lnTo>
                    <a:pt x="957679" y="15635"/>
                  </a:lnTo>
                  <a:lnTo>
                    <a:pt x="996612" y="34121"/>
                  </a:lnTo>
                  <a:lnTo>
                    <a:pt x="1031491" y="58777"/>
                  </a:lnTo>
                  <a:lnTo>
                    <a:pt x="1061611" y="88899"/>
                  </a:lnTo>
                  <a:lnTo>
                    <a:pt x="1086266" y="123779"/>
                  </a:lnTo>
                  <a:lnTo>
                    <a:pt x="1104750" y="162713"/>
                  </a:lnTo>
                  <a:lnTo>
                    <a:pt x="1116358" y="204995"/>
                  </a:lnTo>
                  <a:lnTo>
                    <a:pt x="1120384" y="249919"/>
                  </a:lnTo>
                  <a:lnTo>
                    <a:pt x="1116358" y="294839"/>
                  </a:lnTo>
                  <a:lnTo>
                    <a:pt x="1104750" y="337118"/>
                  </a:lnTo>
                  <a:lnTo>
                    <a:pt x="1086266" y="376050"/>
                  </a:lnTo>
                  <a:lnTo>
                    <a:pt x="1061611" y="410930"/>
                  </a:lnTo>
                  <a:lnTo>
                    <a:pt x="1031491" y="441051"/>
                  </a:lnTo>
                  <a:lnTo>
                    <a:pt x="996612" y="465706"/>
                  </a:lnTo>
                  <a:lnTo>
                    <a:pt x="957679" y="484192"/>
                  </a:lnTo>
                  <a:lnTo>
                    <a:pt x="915399" y="495801"/>
                  </a:lnTo>
                  <a:lnTo>
                    <a:pt x="870476" y="499827"/>
                  </a:lnTo>
                  <a:close/>
                </a:path>
              </a:pathLst>
            </a:custGeom>
            <a:ln w="31412">
              <a:solidFill>
                <a:srgbClr val="34A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3590197" y="4308693"/>
            <a:ext cx="807501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10"/>
              </a:spcBef>
              <a:defRPr sz="1800" b="1" spc="13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defRPr>
            </a:lvl1pPr>
          </a:lstStyle>
          <a:p>
            <a:r>
              <a:rPr dirty="0"/>
              <a:t>Step3</a:t>
            </a:r>
          </a:p>
        </p:txBody>
      </p:sp>
      <p:grpSp>
        <p:nvGrpSpPr>
          <p:cNvPr id="24" name="object 24"/>
          <p:cNvGrpSpPr/>
          <p:nvPr/>
        </p:nvGrpSpPr>
        <p:grpSpPr>
          <a:xfrm>
            <a:off x="16428646" y="4188182"/>
            <a:ext cx="1152525" cy="532130"/>
            <a:chOff x="16428646" y="4188182"/>
            <a:chExt cx="1152525" cy="532130"/>
          </a:xfrm>
        </p:grpSpPr>
        <p:sp>
          <p:nvSpPr>
            <p:cNvPr id="25" name="object 25"/>
            <p:cNvSpPr/>
            <p:nvPr/>
          </p:nvSpPr>
          <p:spPr>
            <a:xfrm>
              <a:off x="16444521" y="4204057"/>
              <a:ext cx="1120775" cy="500380"/>
            </a:xfrm>
            <a:custGeom>
              <a:avLst/>
              <a:gdLst/>
              <a:ahLst/>
              <a:cxnLst/>
              <a:rect l="l" t="t" r="r" b="b"/>
              <a:pathLst>
                <a:path w="1120775" h="500379">
                  <a:moveTo>
                    <a:pt x="870476" y="0"/>
                  </a:moveTo>
                  <a:lnTo>
                    <a:pt x="249919" y="0"/>
                  </a:lnTo>
                  <a:lnTo>
                    <a:pt x="204995" y="4026"/>
                  </a:lnTo>
                  <a:lnTo>
                    <a:pt x="162713" y="15635"/>
                  </a:lnTo>
                  <a:lnTo>
                    <a:pt x="123779" y="34121"/>
                  </a:lnTo>
                  <a:lnTo>
                    <a:pt x="88899" y="58777"/>
                  </a:lnTo>
                  <a:lnTo>
                    <a:pt x="58777" y="88899"/>
                  </a:lnTo>
                  <a:lnTo>
                    <a:pt x="34121" y="123779"/>
                  </a:lnTo>
                  <a:lnTo>
                    <a:pt x="15635" y="162713"/>
                  </a:lnTo>
                  <a:lnTo>
                    <a:pt x="4026" y="204995"/>
                  </a:lnTo>
                  <a:lnTo>
                    <a:pt x="0" y="249919"/>
                  </a:lnTo>
                  <a:lnTo>
                    <a:pt x="4026" y="294839"/>
                  </a:lnTo>
                  <a:lnTo>
                    <a:pt x="15635" y="337118"/>
                  </a:lnTo>
                  <a:lnTo>
                    <a:pt x="34121" y="376050"/>
                  </a:lnTo>
                  <a:lnTo>
                    <a:pt x="58777" y="410930"/>
                  </a:lnTo>
                  <a:lnTo>
                    <a:pt x="88899" y="441051"/>
                  </a:lnTo>
                  <a:lnTo>
                    <a:pt x="123779" y="465706"/>
                  </a:lnTo>
                  <a:lnTo>
                    <a:pt x="162713" y="484192"/>
                  </a:lnTo>
                  <a:lnTo>
                    <a:pt x="204995" y="495801"/>
                  </a:lnTo>
                  <a:lnTo>
                    <a:pt x="249919" y="499827"/>
                  </a:lnTo>
                  <a:lnTo>
                    <a:pt x="870476" y="499827"/>
                  </a:lnTo>
                  <a:lnTo>
                    <a:pt x="915399" y="495801"/>
                  </a:lnTo>
                  <a:lnTo>
                    <a:pt x="957679" y="484192"/>
                  </a:lnTo>
                  <a:lnTo>
                    <a:pt x="996612" y="465706"/>
                  </a:lnTo>
                  <a:lnTo>
                    <a:pt x="1031491" y="441051"/>
                  </a:lnTo>
                  <a:lnTo>
                    <a:pt x="1061611" y="410930"/>
                  </a:lnTo>
                  <a:lnTo>
                    <a:pt x="1086266" y="376050"/>
                  </a:lnTo>
                  <a:lnTo>
                    <a:pt x="1104750" y="337118"/>
                  </a:lnTo>
                  <a:lnTo>
                    <a:pt x="1116358" y="294839"/>
                  </a:lnTo>
                  <a:lnTo>
                    <a:pt x="1120384" y="249919"/>
                  </a:lnTo>
                  <a:lnTo>
                    <a:pt x="1116358" y="204995"/>
                  </a:lnTo>
                  <a:lnTo>
                    <a:pt x="1104750" y="162713"/>
                  </a:lnTo>
                  <a:lnTo>
                    <a:pt x="1086266" y="123779"/>
                  </a:lnTo>
                  <a:lnTo>
                    <a:pt x="1061611" y="88899"/>
                  </a:lnTo>
                  <a:lnTo>
                    <a:pt x="1031491" y="58777"/>
                  </a:lnTo>
                  <a:lnTo>
                    <a:pt x="996612" y="34121"/>
                  </a:lnTo>
                  <a:lnTo>
                    <a:pt x="957679" y="15635"/>
                  </a:lnTo>
                  <a:lnTo>
                    <a:pt x="915399" y="4026"/>
                  </a:lnTo>
                  <a:lnTo>
                    <a:pt x="870476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444521" y="4204057"/>
              <a:ext cx="1120775" cy="500380"/>
            </a:xfrm>
            <a:custGeom>
              <a:avLst/>
              <a:gdLst/>
              <a:ahLst/>
              <a:cxnLst/>
              <a:rect l="l" t="t" r="r" b="b"/>
              <a:pathLst>
                <a:path w="1120775" h="500379">
                  <a:moveTo>
                    <a:pt x="870476" y="499827"/>
                  </a:moveTo>
                  <a:lnTo>
                    <a:pt x="249919" y="499827"/>
                  </a:lnTo>
                  <a:lnTo>
                    <a:pt x="204995" y="495801"/>
                  </a:lnTo>
                  <a:lnTo>
                    <a:pt x="162713" y="484192"/>
                  </a:lnTo>
                  <a:lnTo>
                    <a:pt x="123779" y="465706"/>
                  </a:lnTo>
                  <a:lnTo>
                    <a:pt x="88899" y="441051"/>
                  </a:lnTo>
                  <a:lnTo>
                    <a:pt x="58777" y="410930"/>
                  </a:lnTo>
                  <a:lnTo>
                    <a:pt x="34121" y="376050"/>
                  </a:lnTo>
                  <a:lnTo>
                    <a:pt x="15635" y="337118"/>
                  </a:lnTo>
                  <a:lnTo>
                    <a:pt x="4026" y="294839"/>
                  </a:lnTo>
                  <a:lnTo>
                    <a:pt x="0" y="249919"/>
                  </a:lnTo>
                  <a:lnTo>
                    <a:pt x="4026" y="204995"/>
                  </a:lnTo>
                  <a:lnTo>
                    <a:pt x="15635" y="162713"/>
                  </a:lnTo>
                  <a:lnTo>
                    <a:pt x="34121" y="123779"/>
                  </a:lnTo>
                  <a:lnTo>
                    <a:pt x="58777" y="88899"/>
                  </a:lnTo>
                  <a:lnTo>
                    <a:pt x="88899" y="58777"/>
                  </a:lnTo>
                  <a:lnTo>
                    <a:pt x="123779" y="34121"/>
                  </a:lnTo>
                  <a:lnTo>
                    <a:pt x="162713" y="15635"/>
                  </a:lnTo>
                  <a:lnTo>
                    <a:pt x="204995" y="4026"/>
                  </a:lnTo>
                  <a:lnTo>
                    <a:pt x="249919" y="0"/>
                  </a:lnTo>
                  <a:lnTo>
                    <a:pt x="870476" y="0"/>
                  </a:lnTo>
                  <a:lnTo>
                    <a:pt x="915399" y="4026"/>
                  </a:lnTo>
                  <a:lnTo>
                    <a:pt x="957679" y="15635"/>
                  </a:lnTo>
                  <a:lnTo>
                    <a:pt x="996612" y="34121"/>
                  </a:lnTo>
                  <a:lnTo>
                    <a:pt x="1031491" y="58777"/>
                  </a:lnTo>
                  <a:lnTo>
                    <a:pt x="1061611" y="88899"/>
                  </a:lnTo>
                  <a:lnTo>
                    <a:pt x="1086266" y="123779"/>
                  </a:lnTo>
                  <a:lnTo>
                    <a:pt x="1104750" y="162713"/>
                  </a:lnTo>
                  <a:lnTo>
                    <a:pt x="1116358" y="204995"/>
                  </a:lnTo>
                  <a:lnTo>
                    <a:pt x="1120384" y="249919"/>
                  </a:lnTo>
                  <a:lnTo>
                    <a:pt x="1116358" y="294839"/>
                  </a:lnTo>
                  <a:lnTo>
                    <a:pt x="1104750" y="337118"/>
                  </a:lnTo>
                  <a:lnTo>
                    <a:pt x="1086266" y="376050"/>
                  </a:lnTo>
                  <a:lnTo>
                    <a:pt x="1061611" y="410930"/>
                  </a:lnTo>
                  <a:lnTo>
                    <a:pt x="1031491" y="441051"/>
                  </a:lnTo>
                  <a:lnTo>
                    <a:pt x="996612" y="465706"/>
                  </a:lnTo>
                  <a:lnTo>
                    <a:pt x="957679" y="484192"/>
                  </a:lnTo>
                  <a:lnTo>
                    <a:pt x="915399" y="495801"/>
                  </a:lnTo>
                  <a:lnTo>
                    <a:pt x="870476" y="499827"/>
                  </a:lnTo>
                  <a:close/>
                </a:path>
              </a:pathLst>
            </a:custGeom>
            <a:ln w="31412">
              <a:solidFill>
                <a:srgbClr val="FBBC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6612099" y="4308692"/>
            <a:ext cx="798363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10"/>
              </a:spcBef>
              <a:defRPr sz="1800" b="1" spc="13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defRPr>
            </a:lvl1pPr>
          </a:lstStyle>
          <a:p>
            <a:r>
              <a:rPr dirty="0"/>
              <a:t>Step4</a:t>
            </a:r>
          </a:p>
        </p:txBody>
      </p:sp>
      <p:grpSp>
        <p:nvGrpSpPr>
          <p:cNvPr id="28" name="object 28"/>
          <p:cNvGrpSpPr/>
          <p:nvPr/>
        </p:nvGrpSpPr>
        <p:grpSpPr>
          <a:xfrm>
            <a:off x="-15875" y="7849886"/>
            <a:ext cx="17733010" cy="532130"/>
            <a:chOff x="-15875" y="7849886"/>
            <a:chExt cx="17733010" cy="532130"/>
          </a:xfrm>
        </p:grpSpPr>
        <p:sp>
          <p:nvSpPr>
            <p:cNvPr id="29" name="object 29"/>
            <p:cNvSpPr/>
            <p:nvPr/>
          </p:nvSpPr>
          <p:spPr>
            <a:xfrm>
              <a:off x="0" y="8115672"/>
              <a:ext cx="17701260" cy="0"/>
            </a:xfrm>
            <a:custGeom>
              <a:avLst/>
              <a:gdLst/>
              <a:ahLst/>
              <a:cxnLst/>
              <a:rect l="l" t="t" r="r" b="b"/>
              <a:pathLst>
                <a:path w="17701260">
                  <a:moveTo>
                    <a:pt x="0" y="0"/>
                  </a:moveTo>
                  <a:lnTo>
                    <a:pt x="17701031" y="0"/>
                  </a:lnTo>
                </a:path>
              </a:pathLst>
            </a:custGeom>
            <a:ln w="31412">
              <a:solidFill>
                <a:srgbClr val="BDC1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444795" y="7865761"/>
              <a:ext cx="1120775" cy="500380"/>
            </a:xfrm>
            <a:custGeom>
              <a:avLst/>
              <a:gdLst/>
              <a:ahLst/>
              <a:cxnLst/>
              <a:rect l="l" t="t" r="r" b="b"/>
              <a:pathLst>
                <a:path w="1120775" h="500379">
                  <a:moveTo>
                    <a:pt x="870476" y="0"/>
                  </a:moveTo>
                  <a:lnTo>
                    <a:pt x="249919" y="0"/>
                  </a:lnTo>
                  <a:lnTo>
                    <a:pt x="204995" y="4026"/>
                  </a:lnTo>
                  <a:lnTo>
                    <a:pt x="162713" y="15635"/>
                  </a:lnTo>
                  <a:lnTo>
                    <a:pt x="123779" y="34121"/>
                  </a:lnTo>
                  <a:lnTo>
                    <a:pt x="88899" y="58777"/>
                  </a:lnTo>
                  <a:lnTo>
                    <a:pt x="58777" y="88899"/>
                  </a:lnTo>
                  <a:lnTo>
                    <a:pt x="34121" y="123779"/>
                  </a:lnTo>
                  <a:lnTo>
                    <a:pt x="15635" y="162713"/>
                  </a:lnTo>
                  <a:lnTo>
                    <a:pt x="4026" y="204995"/>
                  </a:lnTo>
                  <a:lnTo>
                    <a:pt x="0" y="249919"/>
                  </a:lnTo>
                  <a:lnTo>
                    <a:pt x="4026" y="294839"/>
                  </a:lnTo>
                  <a:lnTo>
                    <a:pt x="15635" y="337118"/>
                  </a:lnTo>
                  <a:lnTo>
                    <a:pt x="34121" y="376050"/>
                  </a:lnTo>
                  <a:lnTo>
                    <a:pt x="58777" y="410930"/>
                  </a:lnTo>
                  <a:lnTo>
                    <a:pt x="88899" y="441051"/>
                  </a:lnTo>
                  <a:lnTo>
                    <a:pt x="123779" y="465706"/>
                  </a:lnTo>
                  <a:lnTo>
                    <a:pt x="162713" y="484192"/>
                  </a:lnTo>
                  <a:lnTo>
                    <a:pt x="204995" y="495801"/>
                  </a:lnTo>
                  <a:lnTo>
                    <a:pt x="249919" y="499827"/>
                  </a:lnTo>
                  <a:lnTo>
                    <a:pt x="870476" y="499827"/>
                  </a:lnTo>
                  <a:lnTo>
                    <a:pt x="915399" y="495801"/>
                  </a:lnTo>
                  <a:lnTo>
                    <a:pt x="957679" y="484192"/>
                  </a:lnTo>
                  <a:lnTo>
                    <a:pt x="996612" y="465706"/>
                  </a:lnTo>
                  <a:lnTo>
                    <a:pt x="1031491" y="441051"/>
                  </a:lnTo>
                  <a:lnTo>
                    <a:pt x="1061611" y="410930"/>
                  </a:lnTo>
                  <a:lnTo>
                    <a:pt x="1086266" y="376050"/>
                  </a:lnTo>
                  <a:lnTo>
                    <a:pt x="1104750" y="337118"/>
                  </a:lnTo>
                  <a:lnTo>
                    <a:pt x="1116358" y="294839"/>
                  </a:lnTo>
                  <a:lnTo>
                    <a:pt x="1120384" y="249919"/>
                  </a:lnTo>
                  <a:lnTo>
                    <a:pt x="1116358" y="204995"/>
                  </a:lnTo>
                  <a:lnTo>
                    <a:pt x="1104750" y="162713"/>
                  </a:lnTo>
                  <a:lnTo>
                    <a:pt x="1086266" y="123779"/>
                  </a:lnTo>
                  <a:lnTo>
                    <a:pt x="1061611" y="88899"/>
                  </a:lnTo>
                  <a:lnTo>
                    <a:pt x="1031491" y="58777"/>
                  </a:lnTo>
                  <a:lnTo>
                    <a:pt x="996612" y="34121"/>
                  </a:lnTo>
                  <a:lnTo>
                    <a:pt x="957679" y="15635"/>
                  </a:lnTo>
                  <a:lnTo>
                    <a:pt x="915399" y="4026"/>
                  </a:lnTo>
                  <a:lnTo>
                    <a:pt x="870476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44795" y="7865761"/>
              <a:ext cx="1120775" cy="500380"/>
            </a:xfrm>
            <a:custGeom>
              <a:avLst/>
              <a:gdLst/>
              <a:ahLst/>
              <a:cxnLst/>
              <a:rect l="l" t="t" r="r" b="b"/>
              <a:pathLst>
                <a:path w="1120775" h="500379">
                  <a:moveTo>
                    <a:pt x="870476" y="499827"/>
                  </a:moveTo>
                  <a:lnTo>
                    <a:pt x="249919" y="499827"/>
                  </a:lnTo>
                  <a:lnTo>
                    <a:pt x="204995" y="495801"/>
                  </a:lnTo>
                  <a:lnTo>
                    <a:pt x="162713" y="484192"/>
                  </a:lnTo>
                  <a:lnTo>
                    <a:pt x="123779" y="465706"/>
                  </a:lnTo>
                  <a:lnTo>
                    <a:pt x="88899" y="441051"/>
                  </a:lnTo>
                  <a:lnTo>
                    <a:pt x="58777" y="410930"/>
                  </a:lnTo>
                  <a:lnTo>
                    <a:pt x="34121" y="376050"/>
                  </a:lnTo>
                  <a:lnTo>
                    <a:pt x="15635" y="337118"/>
                  </a:lnTo>
                  <a:lnTo>
                    <a:pt x="4026" y="294839"/>
                  </a:lnTo>
                  <a:lnTo>
                    <a:pt x="0" y="249919"/>
                  </a:lnTo>
                  <a:lnTo>
                    <a:pt x="4026" y="204995"/>
                  </a:lnTo>
                  <a:lnTo>
                    <a:pt x="15635" y="162713"/>
                  </a:lnTo>
                  <a:lnTo>
                    <a:pt x="34121" y="123779"/>
                  </a:lnTo>
                  <a:lnTo>
                    <a:pt x="58777" y="88899"/>
                  </a:lnTo>
                  <a:lnTo>
                    <a:pt x="88899" y="58777"/>
                  </a:lnTo>
                  <a:lnTo>
                    <a:pt x="123779" y="34121"/>
                  </a:lnTo>
                  <a:lnTo>
                    <a:pt x="162713" y="15635"/>
                  </a:lnTo>
                  <a:lnTo>
                    <a:pt x="204995" y="4026"/>
                  </a:lnTo>
                  <a:lnTo>
                    <a:pt x="249919" y="0"/>
                  </a:lnTo>
                  <a:lnTo>
                    <a:pt x="870476" y="0"/>
                  </a:lnTo>
                  <a:lnTo>
                    <a:pt x="915399" y="4026"/>
                  </a:lnTo>
                  <a:lnTo>
                    <a:pt x="957679" y="15635"/>
                  </a:lnTo>
                  <a:lnTo>
                    <a:pt x="996612" y="34121"/>
                  </a:lnTo>
                  <a:lnTo>
                    <a:pt x="1031491" y="58777"/>
                  </a:lnTo>
                  <a:lnTo>
                    <a:pt x="1061611" y="88899"/>
                  </a:lnTo>
                  <a:lnTo>
                    <a:pt x="1086266" y="123779"/>
                  </a:lnTo>
                  <a:lnTo>
                    <a:pt x="1104750" y="162713"/>
                  </a:lnTo>
                  <a:lnTo>
                    <a:pt x="1116358" y="204995"/>
                  </a:lnTo>
                  <a:lnTo>
                    <a:pt x="1120384" y="249919"/>
                  </a:lnTo>
                  <a:lnTo>
                    <a:pt x="1116358" y="294839"/>
                  </a:lnTo>
                  <a:lnTo>
                    <a:pt x="1104750" y="337118"/>
                  </a:lnTo>
                  <a:lnTo>
                    <a:pt x="1086266" y="376050"/>
                  </a:lnTo>
                  <a:lnTo>
                    <a:pt x="1061611" y="410930"/>
                  </a:lnTo>
                  <a:lnTo>
                    <a:pt x="1031491" y="441051"/>
                  </a:lnTo>
                  <a:lnTo>
                    <a:pt x="996612" y="465706"/>
                  </a:lnTo>
                  <a:lnTo>
                    <a:pt x="957679" y="484192"/>
                  </a:lnTo>
                  <a:lnTo>
                    <a:pt x="915399" y="495801"/>
                  </a:lnTo>
                  <a:lnTo>
                    <a:pt x="870476" y="499827"/>
                  </a:lnTo>
                  <a:close/>
                </a:path>
              </a:pathLst>
            </a:custGeom>
            <a:ln w="31412">
              <a:solidFill>
                <a:srgbClr val="202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438926" y="8572760"/>
            <a:ext cx="1966140" cy="3699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0"/>
              </a:spcBef>
            </a:pPr>
            <a:r>
              <a:rPr sz="2400" spc="120" dirty="0">
                <a:solidFill>
                  <a:srgbClr val="202124"/>
                </a:solidFill>
                <a:latin typeface="MiSans Medium" pitchFamily="2" charset="-128"/>
                <a:ea typeface="MiSans Medium" pitchFamily="2" charset="-128"/>
                <a:cs typeface="MiSans Medium" pitchFamily="2" charset="-128"/>
              </a:rPr>
              <a:t>设计产品体验</a:t>
            </a:r>
            <a:endParaRPr sz="2400" dirty="0">
              <a:latin typeface="MiSans Medium" pitchFamily="2" charset="-128"/>
              <a:ea typeface="MiSans Medium" pitchFamily="2" charset="-128"/>
              <a:cs typeface="MiSans Medium" pitchFamily="2" charset="-128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333556" y="8572760"/>
            <a:ext cx="1999087" cy="3699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0"/>
              </a:spcBef>
            </a:pPr>
            <a:r>
              <a:rPr sz="2400" spc="190" dirty="0">
                <a:solidFill>
                  <a:srgbClr val="202124"/>
                </a:solidFill>
                <a:latin typeface="MiSans Medium" pitchFamily="2" charset="-128"/>
                <a:ea typeface="MiSans Medium" pitchFamily="2" charset="-128"/>
                <a:cs typeface="MiSans Medium" pitchFamily="2" charset="-128"/>
              </a:rPr>
              <a:t>扩展试点用户</a:t>
            </a:r>
            <a:endParaRPr sz="2400" dirty="0">
              <a:latin typeface="MiSans Medium" pitchFamily="2" charset="-128"/>
              <a:ea typeface="MiSans Medium" pitchFamily="2" charset="-128"/>
              <a:cs typeface="MiSans Medium" pitchFamily="2" charset="-128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3533" y="8572760"/>
            <a:ext cx="2079924" cy="3699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0"/>
              </a:spcBef>
            </a:pPr>
            <a:r>
              <a:rPr sz="2400" spc="160" dirty="0">
                <a:solidFill>
                  <a:srgbClr val="202124"/>
                </a:solidFill>
                <a:latin typeface="MiSans Medium" pitchFamily="2" charset="-128"/>
                <a:ea typeface="MiSans Medium" pitchFamily="2" charset="-128"/>
                <a:cs typeface="MiSans Medium" pitchFamily="2" charset="-128"/>
              </a:rPr>
              <a:t>明确价值目标</a:t>
            </a:r>
            <a:endParaRPr sz="2400" dirty="0">
              <a:latin typeface="MiSans Medium" pitchFamily="2" charset="-128"/>
              <a:ea typeface="MiSans Medium" pitchFamily="2" charset="-128"/>
              <a:cs typeface="MiSans Medium" pitchFamily="2" charset="-128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369850" y="8572760"/>
            <a:ext cx="2768375" cy="3699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0"/>
              </a:spcBef>
            </a:pPr>
            <a:r>
              <a:rPr sz="2400" spc="120" dirty="0">
                <a:solidFill>
                  <a:srgbClr val="202124"/>
                </a:solidFill>
                <a:latin typeface="MiSans Medium" pitchFamily="2" charset="-128"/>
                <a:ea typeface="MiSans Medium" pitchFamily="2" charset="-128"/>
                <a:cs typeface="MiSans Medium" pitchFamily="2" charset="-128"/>
              </a:rPr>
              <a:t>建立 AI 运营机制</a:t>
            </a:r>
            <a:endParaRPr sz="2400" dirty="0">
              <a:latin typeface="MiSans Medium" pitchFamily="2" charset="-128"/>
              <a:ea typeface="MiSans Medium" pitchFamily="2" charset="-128"/>
              <a:cs typeface="MiSans Medium" pitchFamily="2" charset="-128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364367" y="8572760"/>
            <a:ext cx="2753135" cy="3699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0"/>
              </a:spcBef>
            </a:pPr>
            <a:r>
              <a:rPr sz="2400" spc="190" dirty="0">
                <a:solidFill>
                  <a:srgbClr val="202124"/>
                </a:solidFill>
                <a:latin typeface="MiSans Medium" pitchFamily="2" charset="-128"/>
                <a:ea typeface="MiSans Medium" pitchFamily="2" charset="-128"/>
                <a:cs typeface="MiSans Medium" pitchFamily="2" charset="-128"/>
              </a:rPr>
              <a:t>扩展相邻场景</a:t>
            </a:r>
            <a:endParaRPr sz="2400" dirty="0">
              <a:latin typeface="MiSans Medium" pitchFamily="2" charset="-128"/>
              <a:ea typeface="MiSans Medium" pitchFamily="2" charset="-128"/>
              <a:cs typeface="MiSans Medium" pitchFamily="2" charset="-128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10636" y="8572760"/>
            <a:ext cx="2023095" cy="7429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0"/>
              </a:spcBef>
            </a:pPr>
            <a:r>
              <a:rPr sz="2400" spc="200" dirty="0">
                <a:solidFill>
                  <a:srgbClr val="202124"/>
                </a:solidFill>
                <a:latin typeface="MiSans Medium" pitchFamily="2" charset="-128"/>
                <a:ea typeface="MiSans Medium" pitchFamily="2" charset="-128"/>
                <a:cs typeface="MiSans Medium" pitchFamily="2" charset="-128"/>
              </a:rPr>
              <a:t>共创提示词与流程</a:t>
            </a:r>
            <a:endParaRPr sz="2400" dirty="0">
              <a:latin typeface="MiSans Medium" pitchFamily="2" charset="-128"/>
              <a:ea typeface="MiSans Medium" pitchFamily="2" charset="-128"/>
              <a:cs typeface="MiSans Medium" pitchFamily="2" charset="-128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625844" y="7970119"/>
            <a:ext cx="783958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10"/>
              </a:spcBef>
              <a:defRPr sz="1800" b="1" spc="13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defRPr>
            </a:lvl1pPr>
          </a:lstStyle>
          <a:p>
            <a:r>
              <a:rPr dirty="0"/>
              <a:t>Step7</a:t>
            </a:r>
          </a:p>
        </p:txBody>
      </p:sp>
      <p:grpSp>
        <p:nvGrpSpPr>
          <p:cNvPr id="39" name="object 39"/>
          <p:cNvGrpSpPr/>
          <p:nvPr/>
        </p:nvGrpSpPr>
        <p:grpSpPr>
          <a:xfrm>
            <a:off x="10381709" y="7849886"/>
            <a:ext cx="1152525" cy="532130"/>
            <a:chOff x="10381709" y="7849886"/>
            <a:chExt cx="1152525" cy="532130"/>
          </a:xfrm>
        </p:grpSpPr>
        <p:sp>
          <p:nvSpPr>
            <p:cNvPr id="40" name="object 40"/>
            <p:cNvSpPr/>
            <p:nvPr/>
          </p:nvSpPr>
          <p:spPr>
            <a:xfrm>
              <a:off x="10397584" y="7865761"/>
              <a:ext cx="1120775" cy="500380"/>
            </a:xfrm>
            <a:custGeom>
              <a:avLst/>
              <a:gdLst/>
              <a:ahLst/>
              <a:cxnLst/>
              <a:rect l="l" t="t" r="r" b="b"/>
              <a:pathLst>
                <a:path w="1120775" h="500379">
                  <a:moveTo>
                    <a:pt x="870476" y="0"/>
                  </a:moveTo>
                  <a:lnTo>
                    <a:pt x="249919" y="0"/>
                  </a:lnTo>
                  <a:lnTo>
                    <a:pt x="204995" y="4026"/>
                  </a:lnTo>
                  <a:lnTo>
                    <a:pt x="162713" y="15635"/>
                  </a:lnTo>
                  <a:lnTo>
                    <a:pt x="123779" y="34121"/>
                  </a:lnTo>
                  <a:lnTo>
                    <a:pt x="88899" y="58777"/>
                  </a:lnTo>
                  <a:lnTo>
                    <a:pt x="58777" y="88899"/>
                  </a:lnTo>
                  <a:lnTo>
                    <a:pt x="34121" y="123779"/>
                  </a:lnTo>
                  <a:lnTo>
                    <a:pt x="15635" y="162713"/>
                  </a:lnTo>
                  <a:lnTo>
                    <a:pt x="4026" y="204995"/>
                  </a:lnTo>
                  <a:lnTo>
                    <a:pt x="0" y="249919"/>
                  </a:lnTo>
                  <a:lnTo>
                    <a:pt x="4026" y="294839"/>
                  </a:lnTo>
                  <a:lnTo>
                    <a:pt x="15635" y="337118"/>
                  </a:lnTo>
                  <a:lnTo>
                    <a:pt x="34121" y="376050"/>
                  </a:lnTo>
                  <a:lnTo>
                    <a:pt x="58777" y="410930"/>
                  </a:lnTo>
                  <a:lnTo>
                    <a:pt x="88899" y="441051"/>
                  </a:lnTo>
                  <a:lnTo>
                    <a:pt x="123779" y="465706"/>
                  </a:lnTo>
                  <a:lnTo>
                    <a:pt x="162713" y="484192"/>
                  </a:lnTo>
                  <a:lnTo>
                    <a:pt x="204995" y="495801"/>
                  </a:lnTo>
                  <a:lnTo>
                    <a:pt x="249919" y="499827"/>
                  </a:lnTo>
                  <a:lnTo>
                    <a:pt x="870476" y="499827"/>
                  </a:lnTo>
                  <a:lnTo>
                    <a:pt x="915399" y="495801"/>
                  </a:lnTo>
                  <a:lnTo>
                    <a:pt x="957679" y="484192"/>
                  </a:lnTo>
                  <a:lnTo>
                    <a:pt x="996612" y="465706"/>
                  </a:lnTo>
                  <a:lnTo>
                    <a:pt x="1031491" y="441051"/>
                  </a:lnTo>
                  <a:lnTo>
                    <a:pt x="1061611" y="410930"/>
                  </a:lnTo>
                  <a:lnTo>
                    <a:pt x="1086266" y="376050"/>
                  </a:lnTo>
                  <a:lnTo>
                    <a:pt x="1104750" y="337118"/>
                  </a:lnTo>
                  <a:lnTo>
                    <a:pt x="1116358" y="294839"/>
                  </a:lnTo>
                  <a:lnTo>
                    <a:pt x="1120384" y="249919"/>
                  </a:lnTo>
                  <a:lnTo>
                    <a:pt x="1116358" y="204995"/>
                  </a:lnTo>
                  <a:lnTo>
                    <a:pt x="1104750" y="162713"/>
                  </a:lnTo>
                  <a:lnTo>
                    <a:pt x="1086266" y="123779"/>
                  </a:lnTo>
                  <a:lnTo>
                    <a:pt x="1061611" y="88899"/>
                  </a:lnTo>
                  <a:lnTo>
                    <a:pt x="1031491" y="58777"/>
                  </a:lnTo>
                  <a:lnTo>
                    <a:pt x="996612" y="34121"/>
                  </a:lnTo>
                  <a:lnTo>
                    <a:pt x="957679" y="15635"/>
                  </a:lnTo>
                  <a:lnTo>
                    <a:pt x="915399" y="4026"/>
                  </a:lnTo>
                  <a:lnTo>
                    <a:pt x="8704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397584" y="7865761"/>
              <a:ext cx="1120775" cy="500380"/>
            </a:xfrm>
            <a:custGeom>
              <a:avLst/>
              <a:gdLst/>
              <a:ahLst/>
              <a:cxnLst/>
              <a:rect l="l" t="t" r="r" b="b"/>
              <a:pathLst>
                <a:path w="1120775" h="500379">
                  <a:moveTo>
                    <a:pt x="870476" y="499827"/>
                  </a:moveTo>
                  <a:lnTo>
                    <a:pt x="249919" y="499827"/>
                  </a:lnTo>
                  <a:lnTo>
                    <a:pt x="204995" y="495801"/>
                  </a:lnTo>
                  <a:lnTo>
                    <a:pt x="162713" y="484192"/>
                  </a:lnTo>
                  <a:lnTo>
                    <a:pt x="123779" y="465706"/>
                  </a:lnTo>
                  <a:lnTo>
                    <a:pt x="88899" y="441051"/>
                  </a:lnTo>
                  <a:lnTo>
                    <a:pt x="58777" y="410930"/>
                  </a:lnTo>
                  <a:lnTo>
                    <a:pt x="34121" y="376050"/>
                  </a:lnTo>
                  <a:lnTo>
                    <a:pt x="15635" y="337118"/>
                  </a:lnTo>
                  <a:lnTo>
                    <a:pt x="4026" y="294839"/>
                  </a:lnTo>
                  <a:lnTo>
                    <a:pt x="0" y="249919"/>
                  </a:lnTo>
                  <a:lnTo>
                    <a:pt x="4026" y="204995"/>
                  </a:lnTo>
                  <a:lnTo>
                    <a:pt x="15635" y="162713"/>
                  </a:lnTo>
                  <a:lnTo>
                    <a:pt x="34121" y="123779"/>
                  </a:lnTo>
                  <a:lnTo>
                    <a:pt x="58777" y="88899"/>
                  </a:lnTo>
                  <a:lnTo>
                    <a:pt x="88899" y="58777"/>
                  </a:lnTo>
                  <a:lnTo>
                    <a:pt x="123779" y="34121"/>
                  </a:lnTo>
                  <a:lnTo>
                    <a:pt x="162713" y="15635"/>
                  </a:lnTo>
                  <a:lnTo>
                    <a:pt x="204995" y="4026"/>
                  </a:lnTo>
                  <a:lnTo>
                    <a:pt x="249919" y="0"/>
                  </a:lnTo>
                  <a:lnTo>
                    <a:pt x="870476" y="0"/>
                  </a:lnTo>
                  <a:lnTo>
                    <a:pt x="915399" y="4026"/>
                  </a:lnTo>
                  <a:lnTo>
                    <a:pt x="957679" y="15635"/>
                  </a:lnTo>
                  <a:lnTo>
                    <a:pt x="996612" y="34121"/>
                  </a:lnTo>
                  <a:lnTo>
                    <a:pt x="1031491" y="58777"/>
                  </a:lnTo>
                  <a:lnTo>
                    <a:pt x="1061611" y="88899"/>
                  </a:lnTo>
                  <a:lnTo>
                    <a:pt x="1086266" y="123779"/>
                  </a:lnTo>
                  <a:lnTo>
                    <a:pt x="1104750" y="162713"/>
                  </a:lnTo>
                  <a:lnTo>
                    <a:pt x="1116358" y="204995"/>
                  </a:lnTo>
                  <a:lnTo>
                    <a:pt x="1120384" y="249919"/>
                  </a:lnTo>
                  <a:lnTo>
                    <a:pt x="1116358" y="294839"/>
                  </a:lnTo>
                  <a:lnTo>
                    <a:pt x="1104750" y="337118"/>
                  </a:lnTo>
                  <a:lnTo>
                    <a:pt x="1086266" y="376050"/>
                  </a:lnTo>
                  <a:lnTo>
                    <a:pt x="1061611" y="410930"/>
                  </a:lnTo>
                  <a:lnTo>
                    <a:pt x="1031491" y="441051"/>
                  </a:lnTo>
                  <a:lnTo>
                    <a:pt x="996612" y="465706"/>
                  </a:lnTo>
                  <a:lnTo>
                    <a:pt x="957679" y="484192"/>
                  </a:lnTo>
                  <a:lnTo>
                    <a:pt x="915399" y="495801"/>
                  </a:lnTo>
                  <a:lnTo>
                    <a:pt x="870476" y="499827"/>
                  </a:lnTo>
                  <a:close/>
                </a:path>
              </a:pathLst>
            </a:custGeom>
            <a:ln w="31412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0572193" y="7970119"/>
            <a:ext cx="802969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10"/>
              </a:spcBef>
              <a:defRPr sz="1800" b="1" spc="13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defRPr>
            </a:lvl1pPr>
          </a:lstStyle>
          <a:p>
            <a:r>
              <a:rPr dirty="0"/>
              <a:t>Step8</a:t>
            </a:r>
          </a:p>
        </p:txBody>
      </p:sp>
      <p:grpSp>
        <p:nvGrpSpPr>
          <p:cNvPr id="43" name="object 43"/>
          <p:cNvGrpSpPr/>
          <p:nvPr/>
        </p:nvGrpSpPr>
        <p:grpSpPr>
          <a:xfrm>
            <a:off x="837666" y="7865761"/>
            <a:ext cx="1120775" cy="500380"/>
            <a:chOff x="837666" y="7865761"/>
            <a:chExt cx="1120775" cy="500380"/>
          </a:xfrm>
        </p:grpSpPr>
        <p:sp>
          <p:nvSpPr>
            <p:cNvPr id="44" name="object 44"/>
            <p:cNvSpPr/>
            <p:nvPr/>
          </p:nvSpPr>
          <p:spPr>
            <a:xfrm>
              <a:off x="837666" y="7865761"/>
              <a:ext cx="1120775" cy="500380"/>
            </a:xfrm>
            <a:custGeom>
              <a:avLst/>
              <a:gdLst/>
              <a:ahLst/>
              <a:cxnLst/>
              <a:rect l="l" t="t" r="r" b="b"/>
              <a:pathLst>
                <a:path w="1120775" h="500379">
                  <a:moveTo>
                    <a:pt x="870476" y="0"/>
                  </a:moveTo>
                  <a:lnTo>
                    <a:pt x="249919" y="0"/>
                  </a:lnTo>
                  <a:lnTo>
                    <a:pt x="204995" y="4026"/>
                  </a:lnTo>
                  <a:lnTo>
                    <a:pt x="162713" y="15635"/>
                  </a:lnTo>
                  <a:lnTo>
                    <a:pt x="123779" y="34121"/>
                  </a:lnTo>
                  <a:lnTo>
                    <a:pt x="88899" y="58777"/>
                  </a:lnTo>
                  <a:lnTo>
                    <a:pt x="58777" y="88899"/>
                  </a:lnTo>
                  <a:lnTo>
                    <a:pt x="34121" y="123779"/>
                  </a:lnTo>
                  <a:lnTo>
                    <a:pt x="15635" y="162713"/>
                  </a:lnTo>
                  <a:lnTo>
                    <a:pt x="4026" y="204995"/>
                  </a:lnTo>
                  <a:lnTo>
                    <a:pt x="0" y="249919"/>
                  </a:lnTo>
                  <a:lnTo>
                    <a:pt x="4026" y="294839"/>
                  </a:lnTo>
                  <a:lnTo>
                    <a:pt x="15635" y="337118"/>
                  </a:lnTo>
                  <a:lnTo>
                    <a:pt x="34121" y="376050"/>
                  </a:lnTo>
                  <a:lnTo>
                    <a:pt x="58777" y="410930"/>
                  </a:lnTo>
                  <a:lnTo>
                    <a:pt x="88899" y="441051"/>
                  </a:lnTo>
                  <a:lnTo>
                    <a:pt x="123779" y="465706"/>
                  </a:lnTo>
                  <a:lnTo>
                    <a:pt x="162713" y="484192"/>
                  </a:lnTo>
                  <a:lnTo>
                    <a:pt x="204995" y="495801"/>
                  </a:lnTo>
                  <a:lnTo>
                    <a:pt x="249919" y="499827"/>
                  </a:lnTo>
                  <a:lnTo>
                    <a:pt x="870476" y="499827"/>
                  </a:lnTo>
                  <a:lnTo>
                    <a:pt x="915399" y="495801"/>
                  </a:lnTo>
                  <a:lnTo>
                    <a:pt x="957679" y="484192"/>
                  </a:lnTo>
                  <a:lnTo>
                    <a:pt x="996612" y="465706"/>
                  </a:lnTo>
                  <a:lnTo>
                    <a:pt x="1031491" y="441051"/>
                  </a:lnTo>
                  <a:lnTo>
                    <a:pt x="1061611" y="410930"/>
                  </a:lnTo>
                  <a:lnTo>
                    <a:pt x="1086266" y="376050"/>
                  </a:lnTo>
                  <a:lnTo>
                    <a:pt x="1104750" y="337118"/>
                  </a:lnTo>
                  <a:lnTo>
                    <a:pt x="1116358" y="294839"/>
                  </a:lnTo>
                  <a:lnTo>
                    <a:pt x="1120384" y="249919"/>
                  </a:lnTo>
                  <a:lnTo>
                    <a:pt x="1116358" y="204995"/>
                  </a:lnTo>
                  <a:lnTo>
                    <a:pt x="1104750" y="162713"/>
                  </a:lnTo>
                  <a:lnTo>
                    <a:pt x="1086266" y="123779"/>
                  </a:lnTo>
                  <a:lnTo>
                    <a:pt x="1061611" y="88899"/>
                  </a:lnTo>
                  <a:lnTo>
                    <a:pt x="1031491" y="58777"/>
                  </a:lnTo>
                  <a:lnTo>
                    <a:pt x="996612" y="34121"/>
                  </a:lnTo>
                  <a:lnTo>
                    <a:pt x="957679" y="15635"/>
                  </a:lnTo>
                  <a:lnTo>
                    <a:pt x="915399" y="4026"/>
                  </a:lnTo>
                  <a:lnTo>
                    <a:pt x="870476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37666" y="7865761"/>
              <a:ext cx="1120775" cy="500380"/>
            </a:xfrm>
            <a:custGeom>
              <a:avLst/>
              <a:gdLst/>
              <a:ahLst/>
              <a:cxnLst/>
              <a:rect l="l" t="t" r="r" b="b"/>
              <a:pathLst>
                <a:path w="1120775" h="500379">
                  <a:moveTo>
                    <a:pt x="870476" y="499827"/>
                  </a:moveTo>
                  <a:lnTo>
                    <a:pt x="249919" y="499827"/>
                  </a:lnTo>
                  <a:lnTo>
                    <a:pt x="204995" y="495801"/>
                  </a:lnTo>
                  <a:lnTo>
                    <a:pt x="162713" y="484192"/>
                  </a:lnTo>
                  <a:lnTo>
                    <a:pt x="123779" y="465706"/>
                  </a:lnTo>
                  <a:lnTo>
                    <a:pt x="88899" y="441051"/>
                  </a:lnTo>
                  <a:lnTo>
                    <a:pt x="58777" y="410930"/>
                  </a:lnTo>
                  <a:lnTo>
                    <a:pt x="34121" y="376050"/>
                  </a:lnTo>
                  <a:lnTo>
                    <a:pt x="15635" y="337118"/>
                  </a:lnTo>
                  <a:lnTo>
                    <a:pt x="4026" y="294839"/>
                  </a:lnTo>
                  <a:lnTo>
                    <a:pt x="0" y="249919"/>
                  </a:lnTo>
                  <a:lnTo>
                    <a:pt x="4026" y="204995"/>
                  </a:lnTo>
                  <a:lnTo>
                    <a:pt x="15635" y="162713"/>
                  </a:lnTo>
                  <a:lnTo>
                    <a:pt x="34121" y="123779"/>
                  </a:lnTo>
                  <a:lnTo>
                    <a:pt x="58777" y="88899"/>
                  </a:lnTo>
                  <a:lnTo>
                    <a:pt x="88899" y="58777"/>
                  </a:lnTo>
                  <a:lnTo>
                    <a:pt x="123779" y="34121"/>
                  </a:lnTo>
                  <a:lnTo>
                    <a:pt x="162713" y="15635"/>
                  </a:lnTo>
                  <a:lnTo>
                    <a:pt x="204995" y="4026"/>
                  </a:lnTo>
                  <a:lnTo>
                    <a:pt x="249919" y="0"/>
                  </a:lnTo>
                  <a:lnTo>
                    <a:pt x="870476" y="0"/>
                  </a:lnTo>
                  <a:lnTo>
                    <a:pt x="915399" y="4026"/>
                  </a:lnTo>
                  <a:lnTo>
                    <a:pt x="957679" y="15635"/>
                  </a:lnTo>
                  <a:lnTo>
                    <a:pt x="996612" y="34121"/>
                  </a:lnTo>
                  <a:lnTo>
                    <a:pt x="1031491" y="58777"/>
                  </a:lnTo>
                  <a:lnTo>
                    <a:pt x="1061611" y="88899"/>
                  </a:lnTo>
                  <a:lnTo>
                    <a:pt x="1086266" y="123779"/>
                  </a:lnTo>
                  <a:lnTo>
                    <a:pt x="1104750" y="162713"/>
                  </a:lnTo>
                  <a:lnTo>
                    <a:pt x="1116358" y="204995"/>
                  </a:lnTo>
                  <a:lnTo>
                    <a:pt x="1120384" y="249919"/>
                  </a:lnTo>
                  <a:lnTo>
                    <a:pt x="1116358" y="294839"/>
                  </a:lnTo>
                  <a:lnTo>
                    <a:pt x="1104750" y="337118"/>
                  </a:lnTo>
                  <a:lnTo>
                    <a:pt x="1086266" y="376050"/>
                  </a:lnTo>
                  <a:lnTo>
                    <a:pt x="1061611" y="410930"/>
                  </a:lnTo>
                  <a:lnTo>
                    <a:pt x="1031491" y="441051"/>
                  </a:lnTo>
                  <a:lnTo>
                    <a:pt x="996612" y="465706"/>
                  </a:lnTo>
                  <a:lnTo>
                    <a:pt x="957679" y="484192"/>
                  </a:lnTo>
                  <a:lnTo>
                    <a:pt x="915399" y="495801"/>
                  </a:lnTo>
                  <a:lnTo>
                    <a:pt x="870476" y="499827"/>
                  </a:lnTo>
                  <a:close/>
                </a:path>
              </a:pathLst>
            </a:custGeom>
            <a:ln w="31412">
              <a:solidFill>
                <a:srgbClr val="EA43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002371" y="7970119"/>
            <a:ext cx="791364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10"/>
              </a:spcBef>
              <a:defRPr sz="1800" b="1" spc="13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defRPr>
            </a:lvl1pPr>
          </a:lstStyle>
          <a:p>
            <a:r>
              <a:rPr dirty="0"/>
              <a:t>Step5</a:t>
            </a:r>
          </a:p>
        </p:txBody>
      </p:sp>
      <p:grpSp>
        <p:nvGrpSpPr>
          <p:cNvPr id="47" name="object 47"/>
          <p:cNvGrpSpPr/>
          <p:nvPr/>
        </p:nvGrpSpPr>
        <p:grpSpPr>
          <a:xfrm>
            <a:off x="13418266" y="7849886"/>
            <a:ext cx="1152525" cy="532130"/>
            <a:chOff x="13418266" y="7849886"/>
            <a:chExt cx="1152525" cy="532130"/>
          </a:xfrm>
        </p:grpSpPr>
        <p:sp>
          <p:nvSpPr>
            <p:cNvPr id="48" name="object 48"/>
            <p:cNvSpPr/>
            <p:nvPr/>
          </p:nvSpPr>
          <p:spPr>
            <a:xfrm>
              <a:off x="13434141" y="7865761"/>
              <a:ext cx="1120775" cy="500380"/>
            </a:xfrm>
            <a:custGeom>
              <a:avLst/>
              <a:gdLst/>
              <a:ahLst/>
              <a:cxnLst/>
              <a:rect l="l" t="t" r="r" b="b"/>
              <a:pathLst>
                <a:path w="1120775" h="500379">
                  <a:moveTo>
                    <a:pt x="870476" y="0"/>
                  </a:moveTo>
                  <a:lnTo>
                    <a:pt x="249919" y="0"/>
                  </a:lnTo>
                  <a:lnTo>
                    <a:pt x="204995" y="4026"/>
                  </a:lnTo>
                  <a:lnTo>
                    <a:pt x="162713" y="15635"/>
                  </a:lnTo>
                  <a:lnTo>
                    <a:pt x="123779" y="34121"/>
                  </a:lnTo>
                  <a:lnTo>
                    <a:pt x="88899" y="58777"/>
                  </a:lnTo>
                  <a:lnTo>
                    <a:pt x="58777" y="88899"/>
                  </a:lnTo>
                  <a:lnTo>
                    <a:pt x="34121" y="123779"/>
                  </a:lnTo>
                  <a:lnTo>
                    <a:pt x="15635" y="162713"/>
                  </a:lnTo>
                  <a:lnTo>
                    <a:pt x="4026" y="204995"/>
                  </a:lnTo>
                  <a:lnTo>
                    <a:pt x="0" y="249919"/>
                  </a:lnTo>
                  <a:lnTo>
                    <a:pt x="4026" y="294839"/>
                  </a:lnTo>
                  <a:lnTo>
                    <a:pt x="15635" y="337118"/>
                  </a:lnTo>
                  <a:lnTo>
                    <a:pt x="34121" y="376050"/>
                  </a:lnTo>
                  <a:lnTo>
                    <a:pt x="58777" y="410930"/>
                  </a:lnTo>
                  <a:lnTo>
                    <a:pt x="88899" y="441051"/>
                  </a:lnTo>
                  <a:lnTo>
                    <a:pt x="123779" y="465706"/>
                  </a:lnTo>
                  <a:lnTo>
                    <a:pt x="162713" y="484192"/>
                  </a:lnTo>
                  <a:lnTo>
                    <a:pt x="204995" y="495801"/>
                  </a:lnTo>
                  <a:lnTo>
                    <a:pt x="249919" y="499827"/>
                  </a:lnTo>
                  <a:lnTo>
                    <a:pt x="870476" y="499827"/>
                  </a:lnTo>
                  <a:lnTo>
                    <a:pt x="915399" y="495801"/>
                  </a:lnTo>
                  <a:lnTo>
                    <a:pt x="957679" y="484192"/>
                  </a:lnTo>
                  <a:lnTo>
                    <a:pt x="996612" y="465706"/>
                  </a:lnTo>
                  <a:lnTo>
                    <a:pt x="1031491" y="441051"/>
                  </a:lnTo>
                  <a:lnTo>
                    <a:pt x="1061611" y="410930"/>
                  </a:lnTo>
                  <a:lnTo>
                    <a:pt x="1086266" y="376050"/>
                  </a:lnTo>
                  <a:lnTo>
                    <a:pt x="1104750" y="337118"/>
                  </a:lnTo>
                  <a:lnTo>
                    <a:pt x="1116358" y="294839"/>
                  </a:lnTo>
                  <a:lnTo>
                    <a:pt x="1120384" y="249919"/>
                  </a:lnTo>
                  <a:lnTo>
                    <a:pt x="1116358" y="204995"/>
                  </a:lnTo>
                  <a:lnTo>
                    <a:pt x="1104750" y="162713"/>
                  </a:lnTo>
                  <a:lnTo>
                    <a:pt x="1086266" y="123779"/>
                  </a:lnTo>
                  <a:lnTo>
                    <a:pt x="1061611" y="88899"/>
                  </a:lnTo>
                  <a:lnTo>
                    <a:pt x="1031491" y="58777"/>
                  </a:lnTo>
                  <a:lnTo>
                    <a:pt x="996612" y="34121"/>
                  </a:lnTo>
                  <a:lnTo>
                    <a:pt x="957679" y="15635"/>
                  </a:lnTo>
                  <a:lnTo>
                    <a:pt x="915399" y="4026"/>
                  </a:lnTo>
                  <a:lnTo>
                    <a:pt x="8704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3434141" y="7865761"/>
              <a:ext cx="1120775" cy="500380"/>
            </a:xfrm>
            <a:custGeom>
              <a:avLst/>
              <a:gdLst/>
              <a:ahLst/>
              <a:cxnLst/>
              <a:rect l="l" t="t" r="r" b="b"/>
              <a:pathLst>
                <a:path w="1120775" h="500379">
                  <a:moveTo>
                    <a:pt x="870476" y="499827"/>
                  </a:moveTo>
                  <a:lnTo>
                    <a:pt x="249919" y="499827"/>
                  </a:lnTo>
                  <a:lnTo>
                    <a:pt x="204995" y="495801"/>
                  </a:lnTo>
                  <a:lnTo>
                    <a:pt x="162713" y="484192"/>
                  </a:lnTo>
                  <a:lnTo>
                    <a:pt x="123779" y="465706"/>
                  </a:lnTo>
                  <a:lnTo>
                    <a:pt x="88899" y="441051"/>
                  </a:lnTo>
                  <a:lnTo>
                    <a:pt x="58777" y="410930"/>
                  </a:lnTo>
                  <a:lnTo>
                    <a:pt x="34121" y="376050"/>
                  </a:lnTo>
                  <a:lnTo>
                    <a:pt x="15635" y="337118"/>
                  </a:lnTo>
                  <a:lnTo>
                    <a:pt x="4026" y="294839"/>
                  </a:lnTo>
                  <a:lnTo>
                    <a:pt x="0" y="249919"/>
                  </a:lnTo>
                  <a:lnTo>
                    <a:pt x="4026" y="204995"/>
                  </a:lnTo>
                  <a:lnTo>
                    <a:pt x="15635" y="162713"/>
                  </a:lnTo>
                  <a:lnTo>
                    <a:pt x="34121" y="123779"/>
                  </a:lnTo>
                  <a:lnTo>
                    <a:pt x="58777" y="88899"/>
                  </a:lnTo>
                  <a:lnTo>
                    <a:pt x="88899" y="58777"/>
                  </a:lnTo>
                  <a:lnTo>
                    <a:pt x="123779" y="34121"/>
                  </a:lnTo>
                  <a:lnTo>
                    <a:pt x="162713" y="15635"/>
                  </a:lnTo>
                  <a:lnTo>
                    <a:pt x="204995" y="4026"/>
                  </a:lnTo>
                  <a:lnTo>
                    <a:pt x="249919" y="0"/>
                  </a:lnTo>
                  <a:lnTo>
                    <a:pt x="870476" y="0"/>
                  </a:lnTo>
                  <a:lnTo>
                    <a:pt x="915399" y="4026"/>
                  </a:lnTo>
                  <a:lnTo>
                    <a:pt x="957679" y="15635"/>
                  </a:lnTo>
                  <a:lnTo>
                    <a:pt x="996612" y="34121"/>
                  </a:lnTo>
                  <a:lnTo>
                    <a:pt x="1031491" y="58777"/>
                  </a:lnTo>
                  <a:lnTo>
                    <a:pt x="1061611" y="88899"/>
                  </a:lnTo>
                  <a:lnTo>
                    <a:pt x="1086266" y="123779"/>
                  </a:lnTo>
                  <a:lnTo>
                    <a:pt x="1104750" y="162713"/>
                  </a:lnTo>
                  <a:lnTo>
                    <a:pt x="1116358" y="204995"/>
                  </a:lnTo>
                  <a:lnTo>
                    <a:pt x="1120384" y="249919"/>
                  </a:lnTo>
                  <a:lnTo>
                    <a:pt x="1116358" y="294839"/>
                  </a:lnTo>
                  <a:lnTo>
                    <a:pt x="1104750" y="337118"/>
                  </a:lnTo>
                  <a:lnTo>
                    <a:pt x="1086266" y="376050"/>
                  </a:lnTo>
                  <a:lnTo>
                    <a:pt x="1061611" y="410930"/>
                  </a:lnTo>
                  <a:lnTo>
                    <a:pt x="1031491" y="441051"/>
                  </a:lnTo>
                  <a:lnTo>
                    <a:pt x="996612" y="465706"/>
                  </a:lnTo>
                  <a:lnTo>
                    <a:pt x="957679" y="484192"/>
                  </a:lnTo>
                  <a:lnTo>
                    <a:pt x="915399" y="495801"/>
                  </a:lnTo>
                  <a:lnTo>
                    <a:pt x="870476" y="499827"/>
                  </a:lnTo>
                  <a:close/>
                </a:path>
              </a:pathLst>
            </a:custGeom>
            <a:ln w="31412">
              <a:solidFill>
                <a:srgbClr val="34A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3590197" y="7966902"/>
            <a:ext cx="814069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10"/>
              </a:spcBef>
              <a:defRPr sz="1800" b="1" spc="13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defRPr>
            </a:lvl1pPr>
          </a:lstStyle>
          <a:p>
            <a:r>
              <a:rPr dirty="0"/>
              <a:t>Step9</a:t>
            </a:r>
          </a:p>
        </p:txBody>
      </p:sp>
      <p:grpSp>
        <p:nvGrpSpPr>
          <p:cNvPr id="51" name="object 51"/>
          <p:cNvGrpSpPr/>
          <p:nvPr/>
        </p:nvGrpSpPr>
        <p:grpSpPr>
          <a:xfrm>
            <a:off x="4319067" y="7849886"/>
            <a:ext cx="1152525" cy="532130"/>
            <a:chOff x="4319067" y="7849886"/>
            <a:chExt cx="1152525" cy="532130"/>
          </a:xfrm>
        </p:grpSpPr>
        <p:sp>
          <p:nvSpPr>
            <p:cNvPr id="52" name="object 52"/>
            <p:cNvSpPr/>
            <p:nvPr/>
          </p:nvSpPr>
          <p:spPr>
            <a:xfrm>
              <a:off x="4334942" y="7865761"/>
              <a:ext cx="1120775" cy="500380"/>
            </a:xfrm>
            <a:custGeom>
              <a:avLst/>
              <a:gdLst/>
              <a:ahLst/>
              <a:cxnLst/>
              <a:rect l="l" t="t" r="r" b="b"/>
              <a:pathLst>
                <a:path w="1120775" h="500379">
                  <a:moveTo>
                    <a:pt x="870476" y="0"/>
                  </a:moveTo>
                  <a:lnTo>
                    <a:pt x="249919" y="0"/>
                  </a:lnTo>
                  <a:lnTo>
                    <a:pt x="204995" y="4026"/>
                  </a:lnTo>
                  <a:lnTo>
                    <a:pt x="162713" y="15635"/>
                  </a:lnTo>
                  <a:lnTo>
                    <a:pt x="123779" y="34121"/>
                  </a:lnTo>
                  <a:lnTo>
                    <a:pt x="88899" y="58777"/>
                  </a:lnTo>
                  <a:lnTo>
                    <a:pt x="58777" y="88899"/>
                  </a:lnTo>
                  <a:lnTo>
                    <a:pt x="34121" y="123779"/>
                  </a:lnTo>
                  <a:lnTo>
                    <a:pt x="15635" y="162713"/>
                  </a:lnTo>
                  <a:lnTo>
                    <a:pt x="4026" y="204995"/>
                  </a:lnTo>
                  <a:lnTo>
                    <a:pt x="0" y="249919"/>
                  </a:lnTo>
                  <a:lnTo>
                    <a:pt x="4026" y="294839"/>
                  </a:lnTo>
                  <a:lnTo>
                    <a:pt x="15635" y="337118"/>
                  </a:lnTo>
                  <a:lnTo>
                    <a:pt x="34121" y="376050"/>
                  </a:lnTo>
                  <a:lnTo>
                    <a:pt x="58777" y="410930"/>
                  </a:lnTo>
                  <a:lnTo>
                    <a:pt x="88899" y="441051"/>
                  </a:lnTo>
                  <a:lnTo>
                    <a:pt x="123779" y="465706"/>
                  </a:lnTo>
                  <a:lnTo>
                    <a:pt x="162713" y="484192"/>
                  </a:lnTo>
                  <a:lnTo>
                    <a:pt x="204995" y="495801"/>
                  </a:lnTo>
                  <a:lnTo>
                    <a:pt x="249919" y="499827"/>
                  </a:lnTo>
                  <a:lnTo>
                    <a:pt x="870476" y="499827"/>
                  </a:lnTo>
                  <a:lnTo>
                    <a:pt x="915399" y="495801"/>
                  </a:lnTo>
                  <a:lnTo>
                    <a:pt x="957679" y="484192"/>
                  </a:lnTo>
                  <a:lnTo>
                    <a:pt x="996612" y="465706"/>
                  </a:lnTo>
                  <a:lnTo>
                    <a:pt x="1031491" y="441051"/>
                  </a:lnTo>
                  <a:lnTo>
                    <a:pt x="1061611" y="410930"/>
                  </a:lnTo>
                  <a:lnTo>
                    <a:pt x="1086266" y="376050"/>
                  </a:lnTo>
                  <a:lnTo>
                    <a:pt x="1104750" y="337118"/>
                  </a:lnTo>
                  <a:lnTo>
                    <a:pt x="1116358" y="294839"/>
                  </a:lnTo>
                  <a:lnTo>
                    <a:pt x="1120384" y="249919"/>
                  </a:lnTo>
                  <a:lnTo>
                    <a:pt x="1116358" y="204995"/>
                  </a:lnTo>
                  <a:lnTo>
                    <a:pt x="1104750" y="162713"/>
                  </a:lnTo>
                  <a:lnTo>
                    <a:pt x="1086266" y="123779"/>
                  </a:lnTo>
                  <a:lnTo>
                    <a:pt x="1061611" y="88899"/>
                  </a:lnTo>
                  <a:lnTo>
                    <a:pt x="1031491" y="58777"/>
                  </a:lnTo>
                  <a:lnTo>
                    <a:pt x="996612" y="34121"/>
                  </a:lnTo>
                  <a:lnTo>
                    <a:pt x="957679" y="15635"/>
                  </a:lnTo>
                  <a:lnTo>
                    <a:pt x="915399" y="4026"/>
                  </a:lnTo>
                  <a:lnTo>
                    <a:pt x="8704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334942" y="7865761"/>
              <a:ext cx="1120775" cy="500380"/>
            </a:xfrm>
            <a:custGeom>
              <a:avLst/>
              <a:gdLst/>
              <a:ahLst/>
              <a:cxnLst/>
              <a:rect l="l" t="t" r="r" b="b"/>
              <a:pathLst>
                <a:path w="1120775" h="500379">
                  <a:moveTo>
                    <a:pt x="870476" y="499827"/>
                  </a:moveTo>
                  <a:lnTo>
                    <a:pt x="249919" y="499827"/>
                  </a:lnTo>
                  <a:lnTo>
                    <a:pt x="204995" y="495801"/>
                  </a:lnTo>
                  <a:lnTo>
                    <a:pt x="162713" y="484192"/>
                  </a:lnTo>
                  <a:lnTo>
                    <a:pt x="123779" y="465706"/>
                  </a:lnTo>
                  <a:lnTo>
                    <a:pt x="88899" y="441051"/>
                  </a:lnTo>
                  <a:lnTo>
                    <a:pt x="58777" y="410930"/>
                  </a:lnTo>
                  <a:lnTo>
                    <a:pt x="34121" y="376050"/>
                  </a:lnTo>
                  <a:lnTo>
                    <a:pt x="15635" y="337118"/>
                  </a:lnTo>
                  <a:lnTo>
                    <a:pt x="4026" y="294839"/>
                  </a:lnTo>
                  <a:lnTo>
                    <a:pt x="0" y="249919"/>
                  </a:lnTo>
                  <a:lnTo>
                    <a:pt x="4026" y="204995"/>
                  </a:lnTo>
                  <a:lnTo>
                    <a:pt x="15635" y="162713"/>
                  </a:lnTo>
                  <a:lnTo>
                    <a:pt x="34121" y="123779"/>
                  </a:lnTo>
                  <a:lnTo>
                    <a:pt x="58777" y="88899"/>
                  </a:lnTo>
                  <a:lnTo>
                    <a:pt x="88899" y="58777"/>
                  </a:lnTo>
                  <a:lnTo>
                    <a:pt x="123779" y="34121"/>
                  </a:lnTo>
                  <a:lnTo>
                    <a:pt x="162713" y="15635"/>
                  </a:lnTo>
                  <a:lnTo>
                    <a:pt x="204995" y="4026"/>
                  </a:lnTo>
                  <a:lnTo>
                    <a:pt x="249919" y="0"/>
                  </a:lnTo>
                  <a:lnTo>
                    <a:pt x="870476" y="0"/>
                  </a:lnTo>
                  <a:lnTo>
                    <a:pt x="915399" y="4026"/>
                  </a:lnTo>
                  <a:lnTo>
                    <a:pt x="957679" y="15635"/>
                  </a:lnTo>
                  <a:lnTo>
                    <a:pt x="996612" y="34121"/>
                  </a:lnTo>
                  <a:lnTo>
                    <a:pt x="1031491" y="58777"/>
                  </a:lnTo>
                  <a:lnTo>
                    <a:pt x="1061611" y="88899"/>
                  </a:lnTo>
                  <a:lnTo>
                    <a:pt x="1086266" y="123779"/>
                  </a:lnTo>
                  <a:lnTo>
                    <a:pt x="1104750" y="162713"/>
                  </a:lnTo>
                  <a:lnTo>
                    <a:pt x="1116358" y="204995"/>
                  </a:lnTo>
                  <a:lnTo>
                    <a:pt x="1120384" y="249919"/>
                  </a:lnTo>
                  <a:lnTo>
                    <a:pt x="1116358" y="294839"/>
                  </a:lnTo>
                  <a:lnTo>
                    <a:pt x="1104750" y="337118"/>
                  </a:lnTo>
                  <a:lnTo>
                    <a:pt x="1086266" y="376050"/>
                  </a:lnTo>
                  <a:lnTo>
                    <a:pt x="1061611" y="410930"/>
                  </a:lnTo>
                  <a:lnTo>
                    <a:pt x="1031491" y="441051"/>
                  </a:lnTo>
                  <a:lnTo>
                    <a:pt x="996612" y="465706"/>
                  </a:lnTo>
                  <a:lnTo>
                    <a:pt x="957679" y="484192"/>
                  </a:lnTo>
                  <a:lnTo>
                    <a:pt x="915399" y="495801"/>
                  </a:lnTo>
                  <a:lnTo>
                    <a:pt x="870476" y="499827"/>
                  </a:lnTo>
                  <a:close/>
                </a:path>
              </a:pathLst>
            </a:custGeom>
            <a:ln w="31412">
              <a:solidFill>
                <a:srgbClr val="8086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4488807" y="7970119"/>
            <a:ext cx="813043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10"/>
              </a:spcBef>
              <a:defRPr sz="1800" b="1" spc="13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defRPr>
            </a:lvl1pPr>
          </a:lstStyle>
          <a:p>
            <a:r>
              <a:rPr dirty="0"/>
              <a:t>Step6</a:t>
            </a:r>
          </a:p>
        </p:txBody>
      </p:sp>
      <p:grpSp>
        <p:nvGrpSpPr>
          <p:cNvPr id="55" name="object 55"/>
          <p:cNvGrpSpPr/>
          <p:nvPr/>
        </p:nvGrpSpPr>
        <p:grpSpPr>
          <a:xfrm>
            <a:off x="16412940" y="7849886"/>
            <a:ext cx="1288415" cy="532130"/>
            <a:chOff x="16412940" y="7849886"/>
            <a:chExt cx="1288415" cy="532130"/>
          </a:xfrm>
        </p:grpSpPr>
        <p:sp>
          <p:nvSpPr>
            <p:cNvPr id="56" name="object 56"/>
            <p:cNvSpPr/>
            <p:nvPr/>
          </p:nvSpPr>
          <p:spPr>
            <a:xfrm>
              <a:off x="16428815" y="7865761"/>
              <a:ext cx="1256665" cy="500380"/>
            </a:xfrm>
            <a:custGeom>
              <a:avLst/>
              <a:gdLst/>
              <a:ahLst/>
              <a:cxnLst/>
              <a:rect l="l" t="t" r="r" b="b"/>
              <a:pathLst>
                <a:path w="1256665" h="500379">
                  <a:moveTo>
                    <a:pt x="1006597" y="0"/>
                  </a:moveTo>
                  <a:lnTo>
                    <a:pt x="249919" y="0"/>
                  </a:lnTo>
                  <a:lnTo>
                    <a:pt x="204995" y="4026"/>
                  </a:lnTo>
                  <a:lnTo>
                    <a:pt x="162713" y="15635"/>
                  </a:lnTo>
                  <a:lnTo>
                    <a:pt x="123779" y="34121"/>
                  </a:lnTo>
                  <a:lnTo>
                    <a:pt x="88899" y="58777"/>
                  </a:lnTo>
                  <a:lnTo>
                    <a:pt x="58777" y="88899"/>
                  </a:lnTo>
                  <a:lnTo>
                    <a:pt x="34121" y="123779"/>
                  </a:lnTo>
                  <a:lnTo>
                    <a:pt x="15635" y="162713"/>
                  </a:lnTo>
                  <a:lnTo>
                    <a:pt x="4026" y="204995"/>
                  </a:lnTo>
                  <a:lnTo>
                    <a:pt x="0" y="249919"/>
                  </a:lnTo>
                  <a:lnTo>
                    <a:pt x="4026" y="294839"/>
                  </a:lnTo>
                  <a:lnTo>
                    <a:pt x="15635" y="337118"/>
                  </a:lnTo>
                  <a:lnTo>
                    <a:pt x="34121" y="376050"/>
                  </a:lnTo>
                  <a:lnTo>
                    <a:pt x="58777" y="410930"/>
                  </a:lnTo>
                  <a:lnTo>
                    <a:pt x="88899" y="441051"/>
                  </a:lnTo>
                  <a:lnTo>
                    <a:pt x="123779" y="465706"/>
                  </a:lnTo>
                  <a:lnTo>
                    <a:pt x="162713" y="484192"/>
                  </a:lnTo>
                  <a:lnTo>
                    <a:pt x="204995" y="495801"/>
                  </a:lnTo>
                  <a:lnTo>
                    <a:pt x="249919" y="499827"/>
                  </a:lnTo>
                  <a:lnTo>
                    <a:pt x="1006597" y="499827"/>
                  </a:lnTo>
                  <a:lnTo>
                    <a:pt x="1051520" y="495801"/>
                  </a:lnTo>
                  <a:lnTo>
                    <a:pt x="1093801" y="484192"/>
                  </a:lnTo>
                  <a:lnTo>
                    <a:pt x="1132734" y="465706"/>
                  </a:lnTo>
                  <a:lnTo>
                    <a:pt x="1167613" y="441051"/>
                  </a:lnTo>
                  <a:lnTo>
                    <a:pt x="1197733" y="410930"/>
                  </a:lnTo>
                  <a:lnTo>
                    <a:pt x="1222387" y="376050"/>
                  </a:lnTo>
                  <a:lnTo>
                    <a:pt x="1240872" y="337118"/>
                  </a:lnTo>
                  <a:lnTo>
                    <a:pt x="1252480" y="294839"/>
                  </a:lnTo>
                  <a:lnTo>
                    <a:pt x="1256506" y="249919"/>
                  </a:lnTo>
                  <a:lnTo>
                    <a:pt x="1252480" y="204995"/>
                  </a:lnTo>
                  <a:lnTo>
                    <a:pt x="1240872" y="162713"/>
                  </a:lnTo>
                  <a:lnTo>
                    <a:pt x="1222387" y="123779"/>
                  </a:lnTo>
                  <a:lnTo>
                    <a:pt x="1197733" y="88899"/>
                  </a:lnTo>
                  <a:lnTo>
                    <a:pt x="1167613" y="58777"/>
                  </a:lnTo>
                  <a:lnTo>
                    <a:pt x="1132734" y="34121"/>
                  </a:lnTo>
                  <a:lnTo>
                    <a:pt x="1093801" y="15635"/>
                  </a:lnTo>
                  <a:lnTo>
                    <a:pt x="1051520" y="4026"/>
                  </a:lnTo>
                  <a:lnTo>
                    <a:pt x="1006597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6428815" y="7865761"/>
              <a:ext cx="1256665" cy="500380"/>
            </a:xfrm>
            <a:custGeom>
              <a:avLst/>
              <a:gdLst/>
              <a:ahLst/>
              <a:cxnLst/>
              <a:rect l="l" t="t" r="r" b="b"/>
              <a:pathLst>
                <a:path w="1256665" h="500379">
                  <a:moveTo>
                    <a:pt x="1006597" y="499827"/>
                  </a:moveTo>
                  <a:lnTo>
                    <a:pt x="249919" y="499827"/>
                  </a:lnTo>
                  <a:lnTo>
                    <a:pt x="204995" y="495801"/>
                  </a:lnTo>
                  <a:lnTo>
                    <a:pt x="162713" y="484192"/>
                  </a:lnTo>
                  <a:lnTo>
                    <a:pt x="123779" y="465706"/>
                  </a:lnTo>
                  <a:lnTo>
                    <a:pt x="88899" y="441051"/>
                  </a:lnTo>
                  <a:lnTo>
                    <a:pt x="58777" y="410930"/>
                  </a:lnTo>
                  <a:lnTo>
                    <a:pt x="34121" y="376050"/>
                  </a:lnTo>
                  <a:lnTo>
                    <a:pt x="15635" y="337118"/>
                  </a:lnTo>
                  <a:lnTo>
                    <a:pt x="4026" y="294839"/>
                  </a:lnTo>
                  <a:lnTo>
                    <a:pt x="0" y="249919"/>
                  </a:lnTo>
                  <a:lnTo>
                    <a:pt x="4026" y="204995"/>
                  </a:lnTo>
                  <a:lnTo>
                    <a:pt x="15635" y="162713"/>
                  </a:lnTo>
                  <a:lnTo>
                    <a:pt x="34121" y="123779"/>
                  </a:lnTo>
                  <a:lnTo>
                    <a:pt x="58777" y="88899"/>
                  </a:lnTo>
                  <a:lnTo>
                    <a:pt x="88899" y="58777"/>
                  </a:lnTo>
                  <a:lnTo>
                    <a:pt x="123779" y="34121"/>
                  </a:lnTo>
                  <a:lnTo>
                    <a:pt x="162713" y="15635"/>
                  </a:lnTo>
                  <a:lnTo>
                    <a:pt x="204995" y="4026"/>
                  </a:lnTo>
                  <a:lnTo>
                    <a:pt x="249919" y="0"/>
                  </a:lnTo>
                  <a:lnTo>
                    <a:pt x="1006597" y="0"/>
                  </a:lnTo>
                  <a:lnTo>
                    <a:pt x="1051520" y="4026"/>
                  </a:lnTo>
                  <a:lnTo>
                    <a:pt x="1093801" y="15635"/>
                  </a:lnTo>
                  <a:lnTo>
                    <a:pt x="1132734" y="34121"/>
                  </a:lnTo>
                  <a:lnTo>
                    <a:pt x="1167613" y="58777"/>
                  </a:lnTo>
                  <a:lnTo>
                    <a:pt x="1197733" y="88899"/>
                  </a:lnTo>
                  <a:lnTo>
                    <a:pt x="1222387" y="123779"/>
                  </a:lnTo>
                  <a:lnTo>
                    <a:pt x="1240872" y="162713"/>
                  </a:lnTo>
                  <a:lnTo>
                    <a:pt x="1252480" y="204995"/>
                  </a:lnTo>
                  <a:lnTo>
                    <a:pt x="1256506" y="249919"/>
                  </a:lnTo>
                  <a:lnTo>
                    <a:pt x="1252480" y="294839"/>
                  </a:lnTo>
                  <a:lnTo>
                    <a:pt x="1240872" y="337118"/>
                  </a:lnTo>
                  <a:lnTo>
                    <a:pt x="1222387" y="376050"/>
                  </a:lnTo>
                  <a:lnTo>
                    <a:pt x="1197733" y="410930"/>
                  </a:lnTo>
                  <a:lnTo>
                    <a:pt x="1167613" y="441051"/>
                  </a:lnTo>
                  <a:lnTo>
                    <a:pt x="1132734" y="465706"/>
                  </a:lnTo>
                  <a:lnTo>
                    <a:pt x="1093801" y="484192"/>
                  </a:lnTo>
                  <a:lnTo>
                    <a:pt x="1051520" y="495801"/>
                  </a:lnTo>
                  <a:lnTo>
                    <a:pt x="1006597" y="499827"/>
                  </a:lnTo>
                  <a:close/>
                </a:path>
              </a:pathLst>
            </a:custGeom>
            <a:ln w="31412">
              <a:solidFill>
                <a:srgbClr val="FBBC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6599284" y="7966901"/>
            <a:ext cx="94394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10"/>
              </a:spcBef>
              <a:defRPr sz="1800" b="1" spc="13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defRPr>
            </a:lvl1pPr>
          </a:lstStyle>
          <a:p>
            <a:r>
              <a:rPr dirty="0"/>
              <a:t>Step10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xfrm>
            <a:off x="824970" y="783493"/>
            <a:ext cx="12663170" cy="3005951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12700" marR="5080">
              <a:spcBef>
                <a:spcPts val="1720"/>
              </a:spcBef>
            </a:pPr>
            <a:r>
              <a:rPr sz="9050" spc="320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10 步推导 AI 产品 3.0 的首个可落地场景</a:t>
            </a:r>
            <a:endParaRPr sz="9050" dirty="0">
              <a:latin typeface="MiSans Semibold" pitchFamily="2" charset="-128"/>
              <a:ea typeface="MiSans Semibold" pitchFamily="2" charset="-128"/>
              <a:cs typeface="MiSans Semibold" pitchFamily="2" charset="-128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24970" y="4210634"/>
            <a:ext cx="5468620" cy="1692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30555">
              <a:spcBef>
                <a:spcPts val="95"/>
              </a:spcBef>
            </a:pPr>
            <a:r>
              <a:rPr sz="2050" spc="114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以 30 天为一个验证周期：先聚焦低风险高频任务，再通过指标、反馈和治理机制逐步放大。每一步都对应明确产出，帮助团队从想法走向可运营产品。</a:t>
            </a:r>
            <a:endParaRPr sz="2050" dirty="0">
              <a:latin typeface="MiSans Medium" pitchFamily="2" charset="-128"/>
              <a:cs typeface="MiSans Medium" pitchFamily="2" charset="-128"/>
            </a:endParaRPr>
          </a:p>
          <a:p>
            <a:pPr marL="12700" marR="5080">
              <a:spcBef>
                <a:spcPts val="1105"/>
              </a:spcBef>
            </a:pPr>
            <a:endParaRPr sz="1800" dirty="0">
              <a:latin typeface="MiSans Medium" pitchFamily="2" charset="-128"/>
              <a:cs typeface="MiSans Medium" pitchFamily="2" charset="-128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8345174" y="349922"/>
            <a:ext cx="1369060" cy="10565130"/>
            <a:chOff x="18345174" y="349922"/>
            <a:chExt cx="1369060" cy="10565130"/>
          </a:xfrm>
        </p:grpSpPr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51238" y="349922"/>
              <a:ext cx="162801" cy="13838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345174" y="10760882"/>
              <a:ext cx="868897" cy="153838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14881122" y="328209"/>
            <a:ext cx="4537710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solidFill>
                  <a:srgbClr val="BDC1C6"/>
                </a:solidFill>
                <a:latin typeface="Tahoma"/>
                <a:cs typeface="Tahoma"/>
              </a:rPr>
              <a:t>AI 产品 3.0 | 能力架构与迭代推导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9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0"/>
            <a:ext cx="9507855" cy="11308715"/>
            <a:chOff x="0" y="-10"/>
            <a:chExt cx="9507855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911340" cy="11308715"/>
            </a:xfrm>
            <a:custGeom>
              <a:avLst/>
              <a:gdLst/>
              <a:ahLst/>
              <a:cxnLst/>
              <a:rect l="l" t="t" r="r" b="b"/>
              <a:pathLst>
                <a:path w="6911340" h="11308715">
                  <a:moveTo>
                    <a:pt x="6910784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6910784" y="11308556"/>
                  </a:lnTo>
                  <a:lnTo>
                    <a:pt x="6910784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0"/>
              <a:ext cx="6910784" cy="721585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868961"/>
              <a:ext cx="6910784" cy="643959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12" y="3662925"/>
              <a:ext cx="9476151" cy="764563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24970" y="706168"/>
            <a:ext cx="4757420" cy="732252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4000" b="1" spc="260" dirty="0">
                <a:solidFill>
                  <a:srgbClr val="FFFFFF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Step </a:t>
            </a:r>
            <a:r>
              <a:rPr lang="en-US" altLang="zh-CN" sz="4000" b="1" spc="260" dirty="0">
                <a:solidFill>
                  <a:srgbClr val="FFFFFF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1</a:t>
            </a:r>
            <a:r>
              <a:rPr sz="4000" b="1" spc="260" dirty="0">
                <a:solidFill>
                  <a:srgbClr val="FFFFFF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 of 10</a:t>
            </a:r>
            <a:endParaRPr sz="4000" dirty="0">
              <a:latin typeface="MiSans Medium" pitchFamily="2" charset="-128"/>
              <a:cs typeface="MiSans Medium" pitchFamily="2" charset="-128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0"/>
            <a:ext cx="125730" cy="11308715"/>
            <a:chOff x="0" y="0"/>
            <a:chExt cx="125730" cy="11308715"/>
          </a:xfrm>
        </p:grpSpPr>
        <p:sp>
          <p:nvSpPr>
            <p:cNvPr id="9" name="object 9"/>
            <p:cNvSpPr/>
            <p:nvPr/>
          </p:nvSpPr>
          <p:spPr>
            <a:xfrm>
              <a:off x="0" y="5"/>
              <a:ext cx="125730" cy="10177780"/>
            </a:xfrm>
            <a:custGeom>
              <a:avLst/>
              <a:gdLst/>
              <a:ahLst/>
              <a:cxnLst/>
              <a:rect l="l" t="t" r="r" b="b"/>
              <a:pathLst>
                <a:path w="125730" h="10177780">
                  <a:moveTo>
                    <a:pt x="125641" y="9046845"/>
                  </a:moveTo>
                  <a:lnTo>
                    <a:pt x="0" y="9046845"/>
                  </a:lnTo>
                  <a:lnTo>
                    <a:pt x="0" y="10177704"/>
                  </a:lnTo>
                  <a:lnTo>
                    <a:pt x="125641" y="10177704"/>
                  </a:lnTo>
                  <a:lnTo>
                    <a:pt x="125641" y="9046845"/>
                  </a:lnTo>
                  <a:close/>
                </a:path>
                <a:path w="125730" h="10177780">
                  <a:moveTo>
                    <a:pt x="125641" y="6785127"/>
                  </a:moveTo>
                  <a:lnTo>
                    <a:pt x="0" y="6785127"/>
                  </a:lnTo>
                  <a:lnTo>
                    <a:pt x="0" y="7915986"/>
                  </a:lnTo>
                  <a:lnTo>
                    <a:pt x="125641" y="7915986"/>
                  </a:lnTo>
                  <a:lnTo>
                    <a:pt x="125641" y="6785127"/>
                  </a:lnTo>
                  <a:close/>
                </a:path>
                <a:path w="125730" h="10177780">
                  <a:moveTo>
                    <a:pt x="125641" y="4523422"/>
                  </a:moveTo>
                  <a:lnTo>
                    <a:pt x="0" y="4523422"/>
                  </a:lnTo>
                  <a:lnTo>
                    <a:pt x="0" y="5654281"/>
                  </a:lnTo>
                  <a:lnTo>
                    <a:pt x="125641" y="5654281"/>
                  </a:lnTo>
                  <a:lnTo>
                    <a:pt x="125641" y="4523422"/>
                  </a:lnTo>
                  <a:close/>
                </a:path>
                <a:path w="125730" h="10177780">
                  <a:moveTo>
                    <a:pt x="125641" y="2261705"/>
                  </a:moveTo>
                  <a:lnTo>
                    <a:pt x="0" y="2261705"/>
                  </a:lnTo>
                  <a:lnTo>
                    <a:pt x="0" y="3392563"/>
                  </a:lnTo>
                  <a:lnTo>
                    <a:pt x="125641" y="3392563"/>
                  </a:lnTo>
                  <a:lnTo>
                    <a:pt x="125641" y="2261705"/>
                  </a:lnTo>
                  <a:close/>
                </a:path>
                <a:path w="125730" h="10177780">
                  <a:moveTo>
                    <a:pt x="125641" y="0"/>
                  </a:moveTo>
                  <a:lnTo>
                    <a:pt x="0" y="0"/>
                  </a:lnTo>
                  <a:lnTo>
                    <a:pt x="0" y="1130858"/>
                  </a:lnTo>
                  <a:lnTo>
                    <a:pt x="125641" y="1130858"/>
                  </a:lnTo>
                  <a:lnTo>
                    <a:pt x="125641" y="0"/>
                  </a:lnTo>
                  <a:close/>
                </a:path>
              </a:pathLst>
            </a:custGeom>
            <a:solidFill>
              <a:srgbClr val="174E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30855"/>
              <a:ext cx="125730" cy="1130935"/>
            </a:xfrm>
            <a:custGeom>
              <a:avLst/>
              <a:gdLst/>
              <a:ahLst/>
              <a:cxnLst/>
              <a:rect l="l" t="t" r="r" b="b"/>
              <a:pathLst>
                <a:path w="125730" h="1130935">
                  <a:moveTo>
                    <a:pt x="0" y="1130855"/>
                  </a:moveTo>
                  <a:lnTo>
                    <a:pt x="125650" y="1130855"/>
                  </a:lnTo>
                  <a:lnTo>
                    <a:pt x="125650" y="0"/>
                  </a:lnTo>
                  <a:lnTo>
                    <a:pt x="0" y="0"/>
                  </a:lnTo>
                  <a:lnTo>
                    <a:pt x="0" y="11308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392569"/>
              <a:ext cx="125730" cy="7916545"/>
            </a:xfrm>
            <a:custGeom>
              <a:avLst/>
              <a:gdLst/>
              <a:ahLst/>
              <a:cxnLst/>
              <a:rect l="l" t="t" r="r" b="b"/>
              <a:pathLst>
                <a:path w="125730" h="7916545">
                  <a:moveTo>
                    <a:pt x="125641" y="6785140"/>
                  </a:moveTo>
                  <a:lnTo>
                    <a:pt x="0" y="6785140"/>
                  </a:lnTo>
                  <a:lnTo>
                    <a:pt x="0" y="7915986"/>
                  </a:lnTo>
                  <a:lnTo>
                    <a:pt x="125641" y="7915986"/>
                  </a:lnTo>
                  <a:lnTo>
                    <a:pt x="125641" y="6785140"/>
                  </a:lnTo>
                  <a:close/>
                </a:path>
                <a:path w="125730" h="7916545">
                  <a:moveTo>
                    <a:pt x="125641" y="4523422"/>
                  </a:moveTo>
                  <a:lnTo>
                    <a:pt x="0" y="4523422"/>
                  </a:lnTo>
                  <a:lnTo>
                    <a:pt x="0" y="5654281"/>
                  </a:lnTo>
                  <a:lnTo>
                    <a:pt x="125641" y="5654281"/>
                  </a:lnTo>
                  <a:lnTo>
                    <a:pt x="125641" y="4523422"/>
                  </a:lnTo>
                  <a:close/>
                </a:path>
                <a:path w="125730" h="7916545">
                  <a:moveTo>
                    <a:pt x="125641" y="2261717"/>
                  </a:moveTo>
                  <a:lnTo>
                    <a:pt x="0" y="2261717"/>
                  </a:lnTo>
                  <a:lnTo>
                    <a:pt x="0" y="3392576"/>
                  </a:lnTo>
                  <a:lnTo>
                    <a:pt x="125641" y="3392576"/>
                  </a:lnTo>
                  <a:lnTo>
                    <a:pt x="125641" y="2261717"/>
                  </a:lnTo>
                  <a:close/>
                </a:path>
                <a:path w="125730" h="7916545">
                  <a:moveTo>
                    <a:pt x="125641" y="0"/>
                  </a:moveTo>
                  <a:lnTo>
                    <a:pt x="0" y="0"/>
                  </a:lnTo>
                  <a:lnTo>
                    <a:pt x="0" y="1130858"/>
                  </a:lnTo>
                  <a:lnTo>
                    <a:pt x="125641" y="1130858"/>
                  </a:lnTo>
                  <a:lnTo>
                    <a:pt x="125641" y="0"/>
                  </a:lnTo>
                  <a:close/>
                </a:path>
              </a:pathLst>
            </a:custGeom>
            <a:solidFill>
              <a:srgbClr val="174E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442570" y="2006484"/>
            <a:ext cx="849249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spc="325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优先考虑三个因素：</a:t>
            </a:r>
            <a:endParaRPr sz="4950" dirty="0">
              <a:latin typeface="MiSans Semibold" pitchFamily="2" charset="-128"/>
              <a:ea typeface="MiSans Semibold" pitchFamily="2" charset="-128"/>
              <a:cs typeface="MiSans Semibold" pitchFamily="2" charset="-12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42570" y="4404881"/>
            <a:ext cx="11836560" cy="8401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6400"/>
              </a:lnSpc>
              <a:spcBef>
                <a:spcPts val="90"/>
              </a:spcBef>
            </a:pPr>
            <a:r>
              <a:rPr sz="3100" b="1" spc="22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角色痛点强、任务稳定。</a:t>
            </a:r>
            <a:r>
              <a:rPr sz="3100" spc="22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
</a:t>
            </a:r>
            <a:r>
              <a:rPr sz="2000" spc="225" dirty="0" err="1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选择每天都在处理重复资料、固定流程或标准回复的角色，能更快观察到效率变化</a:t>
            </a:r>
            <a:r>
              <a:rPr sz="2000" spc="22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。</a:t>
            </a:r>
            <a:endParaRPr sz="2000" dirty="0">
              <a:latin typeface="MiSans" pitchFamily="2" charset="-128"/>
              <a:ea typeface="MiSans" pitchFamily="2" charset="-128"/>
              <a:cs typeface="MiSans" pitchFamily="2" charset="-128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42569" y="6120380"/>
            <a:ext cx="11836559" cy="1166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99720">
              <a:lnSpc>
                <a:spcPct val="106400"/>
              </a:lnSpc>
              <a:spcBef>
                <a:spcPts val="90"/>
              </a:spcBef>
            </a:pPr>
            <a:r>
              <a:rPr sz="3100" b="1" spc="18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价值链位置清晰。</a:t>
            </a:r>
            <a:r>
              <a:rPr sz="3100" spc="18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
</a:t>
            </a:r>
            <a:r>
              <a:rPr sz="2000" spc="185" dirty="0" err="1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例如售前顾问生成方案、客服主管复盘工单、运营经理整理日报、法务审核条款，这些任务完成后会直接影响收入、成本或体验</a:t>
            </a:r>
            <a:r>
              <a:rPr sz="2000" spc="18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。</a:t>
            </a:r>
            <a:endParaRPr sz="2000" dirty="0">
              <a:latin typeface="MiSans" pitchFamily="2" charset="-128"/>
              <a:ea typeface="MiSans" pitchFamily="2" charset="-128"/>
              <a:cs typeface="MiSans" pitchFamily="2" charset="-128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42570" y="8162123"/>
            <a:ext cx="11976262" cy="1166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782445">
              <a:lnSpc>
                <a:spcPct val="106400"/>
              </a:lnSpc>
              <a:spcBef>
                <a:spcPts val="90"/>
              </a:spcBef>
            </a:pPr>
            <a:r>
              <a:rPr sz="3100" b="1" spc="13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风险边界可控。</a:t>
            </a:r>
            <a:r>
              <a:rPr sz="3100" spc="13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
</a:t>
            </a:r>
            <a:r>
              <a:rPr sz="2000" spc="13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让 AI </a:t>
            </a:r>
            <a:r>
              <a:rPr sz="2000" spc="135" dirty="0" err="1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先做草拟、检索、摘要和建议，关键结论由人确认；同时记录人工修改，形成后续评估数据</a:t>
            </a:r>
            <a:r>
              <a:rPr sz="2000" spc="13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。</a:t>
            </a:r>
            <a:endParaRPr sz="2000" dirty="0">
              <a:latin typeface="MiSans" pitchFamily="2" charset="-128"/>
              <a:ea typeface="MiSans" pitchFamily="2" charset="-128"/>
              <a:cs typeface="MiSans" pitchFamily="2" charset="-128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551239" y="349922"/>
            <a:ext cx="162801" cy="13838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345174" y="10760882"/>
            <a:ext cx="868897" cy="15383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4881122" y="328209"/>
            <a:ext cx="4537710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solidFill>
                  <a:srgbClr val="BDC1C6"/>
                </a:solidFill>
                <a:latin typeface="Tahoma"/>
                <a:cs typeface="Tahoma"/>
              </a:rPr>
              <a:t>AI 产品 3.0 | 能力架构与迭代推导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10</a:t>
            </a:fld>
            <a:endParaRPr spc="-25" dirty="0">
              <a:solidFill>
                <a:srgbClr val="FFFFFF"/>
              </a:solidFill>
            </a:endParaRPr>
          </a:p>
        </p:txBody>
      </p:sp>
      <p:sp>
        <p:nvSpPr>
          <p:cNvPr id="20" name="object 10">
            <a:extLst>
              <a:ext uri="{FF2B5EF4-FFF2-40B4-BE49-F238E27FC236}">
                <a16:creationId xmlns:a16="http://schemas.microsoft.com/office/drawing/2014/main" id="{AFDF6782-1FC1-4B3C-BC10-584EE2E94C60}"/>
              </a:ext>
            </a:extLst>
          </p:cNvPr>
          <p:cNvSpPr txBox="1"/>
          <p:nvPr/>
        </p:nvSpPr>
        <p:spPr>
          <a:xfrm>
            <a:off x="824970" y="1717084"/>
            <a:ext cx="5264680" cy="7334059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L="12700" marR="8890">
              <a:spcBef>
                <a:spcPts val="1750"/>
              </a:spcBef>
            </a:pPr>
            <a:r>
              <a:rPr lang="zh-CN" altLang="en-US" sz="6600" spc="295" dirty="0">
                <a:solidFill>
                  <a:srgbClr val="FFFFFF"/>
                </a:solidFill>
                <a:latin typeface="MiSans Medium" pitchFamily="2" charset="-128"/>
                <a:cs typeface="MiSans Medium" pitchFamily="2" charset="-128"/>
              </a:rPr>
              <a:t>定义核心用户，明确首批用户是谁，以及 </a:t>
            </a:r>
            <a:r>
              <a:rPr lang="en-US" altLang="zh-CN" sz="6600" spc="295" dirty="0">
                <a:solidFill>
                  <a:srgbClr val="FFFFFF"/>
                </a:solidFill>
                <a:latin typeface="MiSans Medium" pitchFamily="2" charset="-128"/>
                <a:cs typeface="MiSans Medium" pitchFamily="2" charset="-128"/>
              </a:rPr>
              <a:t>AI </a:t>
            </a:r>
            <a:r>
              <a:rPr lang="zh-CN" altLang="en-US" sz="6600" spc="295" dirty="0">
                <a:solidFill>
                  <a:srgbClr val="FFFFFF"/>
                </a:solidFill>
                <a:latin typeface="MiSans Medium" pitchFamily="2" charset="-128"/>
                <a:cs typeface="MiSans Medium" pitchFamily="2" charset="-128"/>
              </a:rPr>
              <a:t>要帮他们完成哪类具体任务。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0"/>
            <a:ext cx="9507855" cy="11308715"/>
            <a:chOff x="0" y="-10"/>
            <a:chExt cx="9507855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911340" cy="11308715"/>
            </a:xfrm>
            <a:custGeom>
              <a:avLst/>
              <a:gdLst/>
              <a:ahLst/>
              <a:cxnLst/>
              <a:rect l="l" t="t" r="r" b="b"/>
              <a:pathLst>
                <a:path w="6911340" h="11308715">
                  <a:moveTo>
                    <a:pt x="6910784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6910784" y="11308556"/>
                  </a:lnTo>
                  <a:lnTo>
                    <a:pt x="6910784" y="0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0"/>
              <a:ext cx="6910784" cy="721585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662925"/>
              <a:ext cx="9507563" cy="764563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442570" y="1005463"/>
            <a:ext cx="11625580" cy="10006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12700">
              <a:lnSpc>
                <a:spcPct val="100000"/>
              </a:lnSpc>
              <a:spcBef>
                <a:spcPts val="95"/>
              </a:spcBef>
              <a:defRPr sz="4950" b="0" i="0" spc="325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defRPr>
            </a:lvl1pPr>
          </a:lstStyle>
          <a:p>
            <a:r>
              <a:rPr dirty="0"/>
              <a:t>AI 产品 3.0 的效果取决于数据是否贴近业务任务。数据不只包括文档，还包括用户操作、系统记录、历史决策和反馈结果。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442570" y="4776903"/>
            <a:ext cx="11976262" cy="777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700"/>
              </a:lnSpc>
              <a:spcBef>
                <a:spcPts val="95"/>
              </a:spcBef>
            </a:pPr>
            <a:r>
              <a:rPr sz="2000" spc="7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以销售方案生成为例，核心用户需要把客户背景、行业资料、产品能力、报价规则、过往案例和审批要求串联起来。AI 的价值在于帮用户快速检索、组织结构、生成初稿，并提醒风险或缺失信息。</a:t>
            </a:r>
            <a:endParaRPr sz="200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42570" y="6505718"/>
            <a:ext cx="12108669" cy="2442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47115">
              <a:lnSpc>
                <a:spcPct val="129700"/>
              </a:lnSpc>
              <a:spcBef>
                <a:spcPts val="95"/>
              </a:spcBef>
            </a:pPr>
            <a:r>
              <a:rPr sz="2000" spc="8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iSans Medium" pitchFamily="2" charset="-128"/>
                <a:cs typeface="MiSans Medium" pitchFamily="2" charset="-128"/>
              </a:rPr>
              <a:t>常见数据来源包括</a:t>
            </a:r>
            <a:r>
              <a:rPr sz="2000" spc="80" dirty="0">
                <a:solidFill>
                  <a:schemeClr val="tx1">
                    <a:lumMod val="50000"/>
                    <a:lumOff val="50000"/>
                  </a:schemeClr>
                </a:solidFill>
                <a:latin typeface="MiSans Medium" pitchFamily="2" charset="-128"/>
                <a:cs typeface="MiSans Medium" pitchFamily="2" charset="-128"/>
              </a:rPr>
              <a:t>：
</a:t>
            </a:r>
            <a:r>
              <a:rPr sz="2000" spc="8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iSans Medium" pitchFamily="2" charset="-128"/>
                <a:cs typeface="MiSans Medium" pitchFamily="2" charset="-128"/>
              </a:rPr>
              <a:t>产品手册、知识库、FAQ、培训材料</a:t>
            </a:r>
            <a:r>
              <a:rPr sz="2000" spc="80" dirty="0">
                <a:solidFill>
                  <a:schemeClr val="tx1">
                    <a:lumMod val="50000"/>
                    <a:lumOff val="50000"/>
                  </a:schemeClr>
                </a:solidFill>
                <a:latin typeface="MiSans Medium" pitchFamily="2" charset="-128"/>
                <a:cs typeface="MiSans Medium" pitchFamily="2" charset="-128"/>
              </a:rPr>
              <a:t>
</a:t>
            </a:r>
            <a:r>
              <a:rPr sz="2000" spc="8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iSans Medium" pitchFamily="2" charset="-128"/>
                <a:cs typeface="MiSans Medium" pitchFamily="2" charset="-128"/>
              </a:rPr>
              <a:t>CRM、工单、订单、合同和审批系统</a:t>
            </a:r>
            <a:r>
              <a:rPr sz="2000" spc="80" dirty="0">
                <a:solidFill>
                  <a:schemeClr val="tx1">
                    <a:lumMod val="50000"/>
                    <a:lumOff val="50000"/>
                  </a:schemeClr>
                </a:solidFill>
                <a:latin typeface="MiSans Medium" pitchFamily="2" charset="-128"/>
                <a:cs typeface="MiSans Medium" pitchFamily="2" charset="-128"/>
              </a:rPr>
              <a:t>
</a:t>
            </a:r>
            <a:r>
              <a:rPr sz="2000" spc="8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iSans Medium" pitchFamily="2" charset="-128"/>
                <a:cs typeface="MiSans Medium" pitchFamily="2" charset="-128"/>
              </a:rPr>
              <a:t>历史方案、项目复盘、成功案例</a:t>
            </a:r>
            <a:r>
              <a:rPr sz="2000" spc="80" dirty="0">
                <a:solidFill>
                  <a:schemeClr val="tx1">
                    <a:lumMod val="50000"/>
                    <a:lumOff val="50000"/>
                  </a:schemeClr>
                </a:solidFill>
                <a:latin typeface="MiSans Medium" pitchFamily="2" charset="-128"/>
                <a:cs typeface="MiSans Medium" pitchFamily="2" charset="-128"/>
              </a:rPr>
              <a:t>
</a:t>
            </a:r>
            <a:r>
              <a:rPr sz="2000" spc="8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iSans Medium" pitchFamily="2" charset="-128"/>
                <a:cs typeface="MiSans Medium" pitchFamily="2" charset="-128"/>
              </a:rPr>
              <a:t>运营报表、用户行为、质量抽检记录</a:t>
            </a:r>
            <a:r>
              <a:rPr sz="2000" spc="80" dirty="0">
                <a:solidFill>
                  <a:schemeClr val="tx1">
                    <a:lumMod val="50000"/>
                    <a:lumOff val="50000"/>
                  </a:schemeClr>
                </a:solidFill>
                <a:latin typeface="MiSans Medium" pitchFamily="2" charset="-128"/>
                <a:cs typeface="MiSans Medium" pitchFamily="2" charset="-128"/>
              </a:rPr>
              <a:t>
</a:t>
            </a:r>
            <a:r>
              <a:rPr sz="2000" spc="8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iSans Medium" pitchFamily="2" charset="-128"/>
                <a:cs typeface="MiSans Medium" pitchFamily="2" charset="-128"/>
              </a:rPr>
              <a:t>权限、合规、品牌和话术规范</a:t>
            </a:r>
            <a:endParaRPr sz="2000" dirty="0">
              <a:solidFill>
                <a:schemeClr val="tx1">
                  <a:lumMod val="50000"/>
                  <a:lumOff val="50000"/>
                </a:schemeClr>
              </a:solidFill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24970" y="806117"/>
            <a:ext cx="5645680" cy="64633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260" dirty="0">
                <a:latin typeface="MiSans" pitchFamily="2" charset="-128"/>
                <a:ea typeface="MiSans" pitchFamily="2" charset="-128"/>
                <a:cs typeface="MiSans" pitchFamily="2" charset="-128"/>
              </a:rPr>
              <a:t>Step </a:t>
            </a:r>
            <a:r>
              <a:rPr lang="en-US" altLang="zh-CN" b="1" spc="260" dirty="0">
                <a:latin typeface="MiSans" pitchFamily="2" charset="-128"/>
                <a:ea typeface="MiSans" pitchFamily="2" charset="-128"/>
                <a:cs typeface="MiSans" pitchFamily="2" charset="-128"/>
              </a:rPr>
              <a:t>2</a:t>
            </a:r>
            <a:r>
              <a:rPr b="1" spc="260" dirty="0">
                <a:latin typeface="MiSans" pitchFamily="2" charset="-128"/>
                <a:ea typeface="MiSans" pitchFamily="2" charset="-128"/>
                <a:cs typeface="MiSans" pitchFamily="2" charset="-128"/>
              </a:rPr>
              <a:t> of 10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24970" y="1717084"/>
            <a:ext cx="5264680" cy="3271408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L="12700" marR="8890">
              <a:spcBef>
                <a:spcPts val="1750"/>
              </a:spcBef>
            </a:pPr>
            <a:r>
              <a:rPr sz="6600" spc="295" dirty="0">
                <a:solidFill>
                  <a:srgbClr val="FFFFFF"/>
                </a:solidFill>
                <a:latin typeface="MiSans Medium" pitchFamily="2" charset="-128"/>
                <a:cs typeface="MiSans Medium" pitchFamily="2" charset="-128"/>
              </a:rPr>
              <a:t>盘点核心用户所需的数据来源</a:t>
            </a:r>
            <a:endParaRPr sz="6600" dirty="0">
              <a:latin typeface="MiSans Medium" pitchFamily="2" charset="-128"/>
              <a:cs typeface="MiSans Medium" pitchFamily="2" charset="-128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0"/>
            <a:ext cx="125730" cy="11308715"/>
            <a:chOff x="0" y="0"/>
            <a:chExt cx="125730" cy="11308715"/>
          </a:xfrm>
        </p:grpSpPr>
        <p:sp>
          <p:nvSpPr>
            <p:cNvPr id="12" name="object 12"/>
            <p:cNvSpPr/>
            <p:nvPr/>
          </p:nvSpPr>
          <p:spPr>
            <a:xfrm>
              <a:off x="0" y="0"/>
              <a:ext cx="125730" cy="1130935"/>
            </a:xfrm>
            <a:custGeom>
              <a:avLst/>
              <a:gdLst/>
              <a:ahLst/>
              <a:cxnLst/>
              <a:rect l="l" t="t" r="r" b="b"/>
              <a:pathLst>
                <a:path w="125730" h="1130935">
                  <a:moveTo>
                    <a:pt x="0" y="1130855"/>
                  </a:moveTo>
                  <a:lnTo>
                    <a:pt x="125650" y="1130855"/>
                  </a:lnTo>
                  <a:lnTo>
                    <a:pt x="125650" y="0"/>
                  </a:lnTo>
                  <a:lnTo>
                    <a:pt x="0" y="0"/>
                  </a:lnTo>
                  <a:lnTo>
                    <a:pt x="0" y="1130855"/>
                  </a:lnTo>
                  <a:close/>
                </a:path>
              </a:pathLst>
            </a:custGeom>
            <a:solidFill>
              <a:srgbClr val="0D65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2261711"/>
              <a:ext cx="125730" cy="1130935"/>
            </a:xfrm>
            <a:custGeom>
              <a:avLst/>
              <a:gdLst/>
              <a:ahLst/>
              <a:cxnLst/>
              <a:rect l="l" t="t" r="r" b="b"/>
              <a:pathLst>
                <a:path w="125730" h="1130935">
                  <a:moveTo>
                    <a:pt x="0" y="1130855"/>
                  </a:moveTo>
                  <a:lnTo>
                    <a:pt x="125650" y="1130855"/>
                  </a:lnTo>
                  <a:lnTo>
                    <a:pt x="125650" y="0"/>
                  </a:lnTo>
                  <a:lnTo>
                    <a:pt x="0" y="0"/>
                  </a:lnTo>
                  <a:lnTo>
                    <a:pt x="0" y="11308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1130864"/>
              <a:ext cx="125730" cy="10177780"/>
            </a:xfrm>
            <a:custGeom>
              <a:avLst/>
              <a:gdLst/>
              <a:ahLst/>
              <a:cxnLst/>
              <a:rect l="l" t="t" r="r" b="b"/>
              <a:pathLst>
                <a:path w="125730" h="10177780">
                  <a:moveTo>
                    <a:pt x="125641" y="2261705"/>
                  </a:moveTo>
                  <a:lnTo>
                    <a:pt x="0" y="2261705"/>
                  </a:lnTo>
                  <a:lnTo>
                    <a:pt x="0" y="3392563"/>
                  </a:lnTo>
                  <a:lnTo>
                    <a:pt x="0" y="4523422"/>
                  </a:lnTo>
                  <a:lnTo>
                    <a:pt x="0" y="10177691"/>
                  </a:lnTo>
                  <a:lnTo>
                    <a:pt x="125641" y="10177691"/>
                  </a:lnTo>
                  <a:lnTo>
                    <a:pt x="125641" y="3392563"/>
                  </a:lnTo>
                  <a:lnTo>
                    <a:pt x="125641" y="2261705"/>
                  </a:lnTo>
                  <a:close/>
                </a:path>
                <a:path w="125730" h="10177780">
                  <a:moveTo>
                    <a:pt x="125641" y="0"/>
                  </a:moveTo>
                  <a:lnTo>
                    <a:pt x="0" y="0"/>
                  </a:lnTo>
                  <a:lnTo>
                    <a:pt x="0" y="1130858"/>
                  </a:lnTo>
                  <a:lnTo>
                    <a:pt x="125641" y="1130858"/>
                  </a:lnTo>
                  <a:lnTo>
                    <a:pt x="125641" y="0"/>
                  </a:lnTo>
                  <a:close/>
                </a:path>
              </a:pathLst>
            </a:custGeom>
            <a:solidFill>
              <a:srgbClr val="0D65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551239" y="349922"/>
            <a:ext cx="162801" cy="13838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345174" y="10760882"/>
            <a:ext cx="868897" cy="15383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4881122" y="328209"/>
            <a:ext cx="4537710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solidFill>
                  <a:srgbClr val="BDC1C6"/>
                </a:solidFill>
                <a:latin typeface="Tahoma"/>
                <a:cs typeface="Tahoma"/>
              </a:rPr>
              <a:t>AI 产品 3.0 | 能力架构与迭代推导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11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4970" y="4374756"/>
            <a:ext cx="8216265" cy="634519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00" spc="140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降低幻觉与偏差
通过检索增强、来源引用、置信度提示和人工确认，把回答限定在可信知识与授权数据范围内。
增强可解释性
保留答案来源、推理依据、版本信息和人工修改记录，让业务团队知道结论从哪里来、为什么可信。</a:t>
            </a:r>
            <a:endParaRPr sz="3100" dirty="0">
              <a:latin typeface="MiSans" pitchFamily="2" charset="-128"/>
              <a:ea typeface="MiSans" pitchFamily="2" charset="-128"/>
              <a:cs typeface="MiSans" pitchFamily="2" charset="-128"/>
            </a:endParaRPr>
          </a:p>
          <a:p>
            <a:pPr marL="12700" marR="5080">
              <a:lnSpc>
                <a:spcPct val="129700"/>
              </a:lnSpc>
              <a:spcBef>
                <a:spcPts val="1720"/>
              </a:spcBef>
            </a:pPr>
            <a:endParaRPr sz="1800" dirty="0">
              <a:latin typeface="MiSans" pitchFamily="2" charset="-128"/>
              <a:ea typeface="MiSans" pitchFamily="2" charset="-128"/>
              <a:cs typeface="MiSans" pitchFamily="2" charset="-128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800" dirty="0">
              <a:latin typeface="MiSans" pitchFamily="2" charset="-128"/>
              <a:ea typeface="MiSans" pitchFamily="2" charset="-128"/>
              <a:cs typeface="MiSans" pitchFamily="2" charset="-128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sz="3100" dirty="0">
              <a:latin typeface="MiSans" pitchFamily="2" charset="-128"/>
              <a:ea typeface="MiSans" pitchFamily="2" charset="-128"/>
              <a:cs typeface="MiSans" pitchFamily="2" charset="-128"/>
            </a:endParaRPr>
          </a:p>
          <a:p>
            <a:pPr marL="12700" marR="32384">
              <a:lnSpc>
                <a:spcPct val="129700"/>
              </a:lnSpc>
              <a:spcBef>
                <a:spcPts val="1720"/>
              </a:spcBef>
            </a:pPr>
            <a:endParaRPr sz="1800" dirty="0">
              <a:latin typeface="MiSans" pitchFamily="2" charset="-128"/>
              <a:ea typeface="MiSans" pitchFamily="2" charset="-128"/>
              <a:cs typeface="MiSans" pitchFamily="2" charset="-128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4970" y="802347"/>
            <a:ext cx="8855075" cy="291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4950" spc="325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从数据和治理开始设计，团队可以让 AI 产品具备：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0298115" y="2558923"/>
            <a:ext cx="9806305" cy="8749665"/>
            <a:chOff x="10298115" y="2558923"/>
            <a:chExt cx="9806305" cy="87496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98115" y="2558923"/>
              <a:ext cx="9805984" cy="87496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45175" y="10760883"/>
              <a:ext cx="868897" cy="153838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0" y="0"/>
            <a:ext cx="6911340" cy="182245"/>
          </a:xfrm>
          <a:custGeom>
            <a:avLst/>
            <a:gdLst/>
            <a:ahLst/>
            <a:cxnLst/>
            <a:rect l="l" t="t" r="r" b="b"/>
            <a:pathLst>
              <a:path w="6911340" h="182245">
                <a:moveTo>
                  <a:pt x="6910784" y="0"/>
                </a:moveTo>
                <a:lnTo>
                  <a:pt x="0" y="0"/>
                </a:lnTo>
                <a:lnTo>
                  <a:pt x="0" y="182078"/>
                </a:lnTo>
                <a:lnTo>
                  <a:pt x="6910784" y="182078"/>
                </a:lnTo>
                <a:lnTo>
                  <a:pt x="6910784" y="0"/>
                </a:lnTo>
                <a:close/>
              </a:path>
            </a:pathLst>
          </a:custGeom>
          <a:solidFill>
            <a:srgbClr val="34A85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551239" y="349922"/>
            <a:ext cx="162801" cy="13838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881122" y="328209"/>
            <a:ext cx="4537710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solidFill>
                  <a:srgbClr val="BDC1C6"/>
                </a:solidFill>
                <a:latin typeface="Tahoma"/>
                <a:cs typeface="Tahoma"/>
              </a:rPr>
              <a:t>AI 产品 3.0 | 能力架构与迭代推导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12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42570" y="1726379"/>
            <a:ext cx="7382509" cy="15356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95"/>
              </a:spcBef>
              <a:defRPr sz="4950" b="0" i="0" spc="325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defRPr>
            </a:lvl1pPr>
          </a:lstStyle>
          <a:p>
            <a:r>
              <a:rPr dirty="0"/>
              <a:t>共创小组建议包含业务、产品和技术三类角色：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-10"/>
            <a:ext cx="6911340" cy="11308715"/>
            <a:chOff x="0" y="-10"/>
            <a:chExt cx="6911340" cy="1130871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6911340" cy="11308715"/>
            </a:xfrm>
            <a:custGeom>
              <a:avLst/>
              <a:gdLst/>
              <a:ahLst/>
              <a:cxnLst/>
              <a:rect l="l" t="t" r="r" b="b"/>
              <a:pathLst>
                <a:path w="6911340" h="11308715">
                  <a:moveTo>
                    <a:pt x="6910784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6910784" y="11308556"/>
                  </a:lnTo>
                  <a:lnTo>
                    <a:pt x="6910784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0"/>
              <a:ext cx="6910784" cy="721585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355888"/>
              <a:ext cx="6910784" cy="695266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24970" y="644295"/>
            <a:ext cx="5593715" cy="809837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910"/>
              </a:spcBef>
              <a:defRPr sz="4000" b="1" spc="260">
                <a:solidFill>
                  <a:srgbClr val="FFFFFF"/>
                </a:solidFill>
                <a:latin typeface="MiSans" pitchFamily="2" charset="-128"/>
                <a:ea typeface="MiSans" pitchFamily="2" charset="-128"/>
                <a:cs typeface="MiSans" pitchFamily="2" charset="-128"/>
              </a:defRPr>
            </a:lvl1pPr>
          </a:lstStyle>
          <a:p>
            <a:r>
              <a:rPr dirty="0"/>
              <a:t>Step </a:t>
            </a:r>
            <a:r>
              <a:rPr lang="en-US" altLang="zh-CN" dirty="0"/>
              <a:t>3</a:t>
            </a:r>
            <a:r>
              <a:rPr dirty="0"/>
              <a:t> of 10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25780" y="4168432"/>
            <a:ext cx="2794635" cy="503343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3629"/>
              </a:lnSpc>
              <a:spcBef>
                <a:spcPts val="325"/>
              </a:spcBef>
            </a:pPr>
            <a:r>
              <a:rPr sz="3100" b="1" spc="225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业务负责人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25780" y="6046120"/>
            <a:ext cx="2638140" cy="965008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>
            <a:defPPr>
              <a:defRPr kern="0"/>
            </a:defPPr>
            <a:lvl1pPr marL="12700" marR="5080">
              <a:lnSpc>
                <a:spcPts val="3629"/>
              </a:lnSpc>
              <a:spcBef>
                <a:spcPts val="325"/>
              </a:spcBef>
              <a:defRPr sz="3100" b="1" spc="225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defRPr>
            </a:lvl1pPr>
          </a:lstStyle>
          <a:p>
            <a:r>
              <a:rPr dirty="0"/>
              <a:t>产品/提示词负责人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25780" y="7999659"/>
            <a:ext cx="2663190" cy="9639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>
            <a:defPPr>
              <a:defRPr kern="0"/>
            </a:defPPr>
            <a:lvl1pPr marL="12700" marR="5080">
              <a:lnSpc>
                <a:spcPts val="3629"/>
              </a:lnSpc>
              <a:spcBef>
                <a:spcPts val="325"/>
              </a:spcBef>
              <a:defRPr sz="3100" b="1" spc="225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defRPr>
            </a:lvl1pPr>
          </a:lstStyle>
          <a:p>
            <a:r>
              <a:rPr dirty="0"/>
              <a:t>AI 工程与运营负责人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756575" y="4212491"/>
            <a:ext cx="7210875" cy="3411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700"/>
              </a:lnSpc>
              <a:spcBef>
                <a:spcPts val="95"/>
              </a:spcBef>
            </a:pPr>
            <a:r>
              <a:rPr sz="1800" spc="8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负责定义业务目标、任务流程、风险边界和用户反馈口径。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56575" y="6310897"/>
            <a:ext cx="6829874" cy="3411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700"/>
              </a:lnSpc>
              <a:spcBef>
                <a:spcPts val="95"/>
              </a:spcBef>
            </a:pPr>
            <a:r>
              <a:rPr sz="1800" spc="8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负责把用户需求转译为交互、提示词、知识组织和验收标准。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756574" y="8213395"/>
            <a:ext cx="6829875" cy="3411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700"/>
              </a:lnSpc>
              <a:spcBef>
                <a:spcPts val="95"/>
              </a:spcBef>
            </a:pPr>
            <a:r>
              <a:rPr sz="1800" spc="8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负责模型接入、数据权限、评估监控、成本控制和生产运维。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0"/>
            <a:ext cx="125730" cy="11308715"/>
            <a:chOff x="0" y="0"/>
            <a:chExt cx="125730" cy="11308715"/>
          </a:xfrm>
        </p:grpSpPr>
        <p:sp>
          <p:nvSpPr>
            <p:cNvPr id="15" name="object 15"/>
            <p:cNvSpPr/>
            <p:nvPr/>
          </p:nvSpPr>
          <p:spPr>
            <a:xfrm>
              <a:off x="0" y="5"/>
              <a:ext cx="125730" cy="10177780"/>
            </a:xfrm>
            <a:custGeom>
              <a:avLst/>
              <a:gdLst/>
              <a:ahLst/>
              <a:cxnLst/>
              <a:rect l="l" t="t" r="r" b="b"/>
              <a:pathLst>
                <a:path w="125730" h="10177780">
                  <a:moveTo>
                    <a:pt x="125641" y="9046845"/>
                  </a:moveTo>
                  <a:lnTo>
                    <a:pt x="0" y="9046845"/>
                  </a:lnTo>
                  <a:lnTo>
                    <a:pt x="0" y="10177704"/>
                  </a:lnTo>
                  <a:lnTo>
                    <a:pt x="125641" y="10177704"/>
                  </a:lnTo>
                  <a:lnTo>
                    <a:pt x="125641" y="9046845"/>
                  </a:lnTo>
                  <a:close/>
                </a:path>
                <a:path w="125730" h="10177780">
                  <a:moveTo>
                    <a:pt x="125641" y="6785127"/>
                  </a:moveTo>
                  <a:lnTo>
                    <a:pt x="0" y="6785127"/>
                  </a:lnTo>
                  <a:lnTo>
                    <a:pt x="0" y="7915986"/>
                  </a:lnTo>
                  <a:lnTo>
                    <a:pt x="125641" y="7915986"/>
                  </a:lnTo>
                  <a:lnTo>
                    <a:pt x="125641" y="6785127"/>
                  </a:lnTo>
                  <a:close/>
                </a:path>
                <a:path w="125730" h="10177780">
                  <a:moveTo>
                    <a:pt x="125641" y="4523422"/>
                  </a:moveTo>
                  <a:lnTo>
                    <a:pt x="0" y="4523422"/>
                  </a:lnTo>
                  <a:lnTo>
                    <a:pt x="0" y="5654281"/>
                  </a:lnTo>
                  <a:lnTo>
                    <a:pt x="125641" y="5654281"/>
                  </a:lnTo>
                  <a:lnTo>
                    <a:pt x="125641" y="4523422"/>
                  </a:lnTo>
                  <a:close/>
                </a:path>
                <a:path w="125730" h="10177780">
                  <a:moveTo>
                    <a:pt x="125641" y="0"/>
                  </a:moveTo>
                  <a:lnTo>
                    <a:pt x="0" y="0"/>
                  </a:lnTo>
                  <a:lnTo>
                    <a:pt x="0" y="1130858"/>
                  </a:lnTo>
                  <a:lnTo>
                    <a:pt x="0" y="2261705"/>
                  </a:lnTo>
                  <a:lnTo>
                    <a:pt x="0" y="3392563"/>
                  </a:lnTo>
                  <a:lnTo>
                    <a:pt x="125641" y="3392563"/>
                  </a:lnTo>
                  <a:lnTo>
                    <a:pt x="125641" y="2261717"/>
                  </a:lnTo>
                  <a:lnTo>
                    <a:pt x="125641" y="1130858"/>
                  </a:lnTo>
                  <a:lnTo>
                    <a:pt x="125641" y="0"/>
                  </a:lnTo>
                  <a:close/>
                </a:path>
              </a:pathLst>
            </a:custGeom>
            <a:solidFill>
              <a:srgbClr val="E37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392566"/>
              <a:ext cx="125730" cy="1130935"/>
            </a:xfrm>
            <a:custGeom>
              <a:avLst/>
              <a:gdLst/>
              <a:ahLst/>
              <a:cxnLst/>
              <a:rect l="l" t="t" r="r" b="b"/>
              <a:pathLst>
                <a:path w="125730" h="1130935">
                  <a:moveTo>
                    <a:pt x="0" y="1130855"/>
                  </a:moveTo>
                  <a:lnTo>
                    <a:pt x="125650" y="1130855"/>
                  </a:lnTo>
                  <a:lnTo>
                    <a:pt x="125650" y="0"/>
                  </a:lnTo>
                  <a:lnTo>
                    <a:pt x="0" y="0"/>
                  </a:lnTo>
                  <a:lnTo>
                    <a:pt x="0" y="11308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5654287"/>
              <a:ext cx="125730" cy="5654675"/>
            </a:xfrm>
            <a:custGeom>
              <a:avLst/>
              <a:gdLst/>
              <a:ahLst/>
              <a:cxnLst/>
              <a:rect l="l" t="t" r="r" b="b"/>
              <a:pathLst>
                <a:path w="125730" h="5654675">
                  <a:moveTo>
                    <a:pt x="125641" y="4523422"/>
                  </a:moveTo>
                  <a:lnTo>
                    <a:pt x="0" y="4523422"/>
                  </a:lnTo>
                  <a:lnTo>
                    <a:pt x="0" y="5654268"/>
                  </a:lnTo>
                  <a:lnTo>
                    <a:pt x="125641" y="5654268"/>
                  </a:lnTo>
                  <a:lnTo>
                    <a:pt x="125641" y="4523422"/>
                  </a:lnTo>
                  <a:close/>
                </a:path>
                <a:path w="125730" h="5654675">
                  <a:moveTo>
                    <a:pt x="125641" y="2261705"/>
                  </a:moveTo>
                  <a:lnTo>
                    <a:pt x="0" y="2261705"/>
                  </a:lnTo>
                  <a:lnTo>
                    <a:pt x="0" y="3392563"/>
                  </a:lnTo>
                  <a:lnTo>
                    <a:pt x="125641" y="3392563"/>
                  </a:lnTo>
                  <a:lnTo>
                    <a:pt x="125641" y="2261705"/>
                  </a:lnTo>
                  <a:close/>
                </a:path>
                <a:path w="125730" h="5654675">
                  <a:moveTo>
                    <a:pt x="125641" y="0"/>
                  </a:moveTo>
                  <a:lnTo>
                    <a:pt x="0" y="0"/>
                  </a:lnTo>
                  <a:lnTo>
                    <a:pt x="0" y="1130858"/>
                  </a:lnTo>
                  <a:lnTo>
                    <a:pt x="125641" y="1130858"/>
                  </a:lnTo>
                  <a:lnTo>
                    <a:pt x="125641" y="0"/>
                  </a:lnTo>
                  <a:close/>
                </a:path>
              </a:pathLst>
            </a:custGeom>
            <a:solidFill>
              <a:srgbClr val="E37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455270" y="8073052"/>
            <a:ext cx="785495" cy="785495"/>
            <a:chOff x="7455270" y="8073052"/>
            <a:chExt cx="785495" cy="785495"/>
          </a:xfrm>
        </p:grpSpPr>
        <p:sp>
          <p:nvSpPr>
            <p:cNvPr id="19" name="object 19"/>
            <p:cNvSpPr/>
            <p:nvPr/>
          </p:nvSpPr>
          <p:spPr>
            <a:xfrm>
              <a:off x="7623739" y="8213395"/>
              <a:ext cx="449580" cy="431165"/>
            </a:xfrm>
            <a:custGeom>
              <a:avLst/>
              <a:gdLst/>
              <a:ahLst/>
              <a:cxnLst/>
              <a:rect l="l" t="t" r="r" b="b"/>
              <a:pathLst>
                <a:path w="449579" h="431165">
                  <a:moveTo>
                    <a:pt x="200681" y="317477"/>
                  </a:moveTo>
                  <a:lnTo>
                    <a:pt x="105213" y="317477"/>
                  </a:lnTo>
                  <a:lnTo>
                    <a:pt x="90060" y="320555"/>
                  </a:lnTo>
                  <a:lnTo>
                    <a:pt x="45017" y="334785"/>
                  </a:lnTo>
                  <a:lnTo>
                    <a:pt x="8976" y="358680"/>
                  </a:lnTo>
                  <a:lnTo>
                    <a:pt x="0" y="386208"/>
                  </a:lnTo>
                  <a:lnTo>
                    <a:pt x="0" y="430824"/>
                  </a:lnTo>
                  <a:lnTo>
                    <a:pt x="304891" y="430824"/>
                  </a:lnTo>
                  <a:lnTo>
                    <a:pt x="304891" y="400050"/>
                  </a:lnTo>
                  <a:lnTo>
                    <a:pt x="32093" y="400050"/>
                  </a:lnTo>
                  <a:lnTo>
                    <a:pt x="32093" y="382438"/>
                  </a:lnTo>
                  <a:lnTo>
                    <a:pt x="70471" y="357544"/>
                  </a:lnTo>
                  <a:lnTo>
                    <a:pt x="111059" y="347464"/>
                  </a:lnTo>
                  <a:lnTo>
                    <a:pt x="153031" y="344146"/>
                  </a:lnTo>
                  <a:lnTo>
                    <a:pt x="280892" y="344146"/>
                  </a:lnTo>
                  <a:lnTo>
                    <a:pt x="275468" y="341068"/>
                  </a:lnTo>
                  <a:lnTo>
                    <a:pt x="260910" y="334785"/>
                  </a:lnTo>
                  <a:lnTo>
                    <a:pt x="246119" y="329272"/>
                  </a:lnTo>
                  <a:lnTo>
                    <a:pt x="231095" y="324529"/>
                  </a:lnTo>
                  <a:lnTo>
                    <a:pt x="215836" y="320555"/>
                  </a:lnTo>
                  <a:lnTo>
                    <a:pt x="200681" y="317477"/>
                  </a:lnTo>
                  <a:close/>
                </a:path>
                <a:path w="449579" h="431165">
                  <a:moveTo>
                    <a:pt x="297938" y="317477"/>
                  </a:moveTo>
                  <a:lnTo>
                    <a:pt x="326021" y="346523"/>
                  </a:lnTo>
                  <a:lnTo>
                    <a:pt x="334188" y="364279"/>
                  </a:lnTo>
                  <a:lnTo>
                    <a:pt x="334243" y="364427"/>
                  </a:lnTo>
                  <a:lnTo>
                    <a:pt x="336299" y="373871"/>
                  </a:lnTo>
                  <a:lnTo>
                    <a:pt x="336900" y="382438"/>
                  </a:lnTo>
                  <a:lnTo>
                    <a:pt x="336984" y="430824"/>
                  </a:lnTo>
                  <a:lnTo>
                    <a:pt x="406521" y="430824"/>
                  </a:lnTo>
                  <a:lnTo>
                    <a:pt x="406415" y="382438"/>
                  </a:lnTo>
                  <a:lnTo>
                    <a:pt x="386400" y="349018"/>
                  </a:lnTo>
                  <a:lnTo>
                    <a:pt x="346666" y="329437"/>
                  </a:lnTo>
                  <a:lnTo>
                    <a:pt x="308017" y="318982"/>
                  </a:lnTo>
                  <a:lnTo>
                    <a:pt x="297938" y="317477"/>
                  </a:lnTo>
                  <a:close/>
                </a:path>
                <a:path w="449579" h="431165">
                  <a:moveTo>
                    <a:pt x="280892" y="344146"/>
                  </a:moveTo>
                  <a:lnTo>
                    <a:pt x="153031" y="344146"/>
                  </a:lnTo>
                  <a:lnTo>
                    <a:pt x="167792" y="344515"/>
                  </a:lnTo>
                  <a:lnTo>
                    <a:pt x="167371" y="344515"/>
                  </a:lnTo>
                  <a:lnTo>
                    <a:pt x="181975" y="345621"/>
                  </a:lnTo>
                  <a:lnTo>
                    <a:pt x="181639" y="345621"/>
                  </a:lnTo>
                  <a:lnTo>
                    <a:pt x="194979" y="347322"/>
                  </a:lnTo>
                  <a:lnTo>
                    <a:pt x="235368" y="357226"/>
                  </a:lnTo>
                  <a:lnTo>
                    <a:pt x="270361" y="376759"/>
                  </a:lnTo>
                  <a:lnTo>
                    <a:pt x="272797" y="382438"/>
                  </a:lnTo>
                  <a:lnTo>
                    <a:pt x="272797" y="400050"/>
                  </a:lnTo>
                  <a:lnTo>
                    <a:pt x="304891" y="400050"/>
                  </a:lnTo>
                  <a:lnTo>
                    <a:pt x="304891" y="386208"/>
                  </a:lnTo>
                  <a:lnTo>
                    <a:pt x="304392" y="379081"/>
                  </a:lnTo>
                  <a:lnTo>
                    <a:pt x="281915" y="344737"/>
                  </a:lnTo>
                  <a:lnTo>
                    <a:pt x="280892" y="344146"/>
                  </a:lnTo>
                  <a:close/>
                </a:path>
                <a:path w="449579" h="431165">
                  <a:moveTo>
                    <a:pt x="152948" y="313372"/>
                  </a:moveTo>
                  <a:lnTo>
                    <a:pt x="136962" y="313822"/>
                  </a:lnTo>
                  <a:lnTo>
                    <a:pt x="121154" y="315169"/>
                  </a:lnTo>
                  <a:lnTo>
                    <a:pt x="105085" y="317477"/>
                  </a:lnTo>
                  <a:lnTo>
                    <a:pt x="200809" y="317477"/>
                  </a:lnTo>
                  <a:lnTo>
                    <a:pt x="184737" y="315169"/>
                  </a:lnTo>
                  <a:lnTo>
                    <a:pt x="168929" y="313822"/>
                  </a:lnTo>
                  <a:lnTo>
                    <a:pt x="152948" y="313372"/>
                  </a:lnTo>
                  <a:close/>
                </a:path>
                <a:path w="449579" h="431165">
                  <a:moveTo>
                    <a:pt x="153094" y="150278"/>
                  </a:moveTo>
                  <a:lnTo>
                    <a:pt x="113980" y="161529"/>
                  </a:lnTo>
                  <a:lnTo>
                    <a:pt x="87550" y="192344"/>
                  </a:lnTo>
                  <a:lnTo>
                    <a:pt x="82374" y="218527"/>
                  </a:lnTo>
                  <a:lnTo>
                    <a:pt x="83662" y="232130"/>
                  </a:lnTo>
                  <a:lnTo>
                    <a:pt x="102970" y="266735"/>
                  </a:lnTo>
                  <a:lnTo>
                    <a:pt x="138844" y="285454"/>
                  </a:lnTo>
                  <a:lnTo>
                    <a:pt x="153021" y="286703"/>
                  </a:lnTo>
                  <a:lnTo>
                    <a:pt x="167185" y="285454"/>
                  </a:lnTo>
                  <a:lnTo>
                    <a:pt x="203263" y="266735"/>
                  </a:lnTo>
                  <a:lnTo>
                    <a:pt x="212552" y="255929"/>
                  </a:lnTo>
                  <a:lnTo>
                    <a:pt x="152979" y="255929"/>
                  </a:lnTo>
                  <a:lnTo>
                    <a:pt x="145255" y="255246"/>
                  </a:lnTo>
                  <a:lnTo>
                    <a:pt x="115170" y="225997"/>
                  </a:lnTo>
                  <a:lnTo>
                    <a:pt x="114471" y="218527"/>
                  </a:lnTo>
                  <a:lnTo>
                    <a:pt x="115170" y="210979"/>
                  </a:lnTo>
                  <a:lnTo>
                    <a:pt x="145255" y="181733"/>
                  </a:lnTo>
                  <a:lnTo>
                    <a:pt x="152979" y="181052"/>
                  </a:lnTo>
                  <a:lnTo>
                    <a:pt x="212559" y="181052"/>
                  </a:lnTo>
                  <a:lnTo>
                    <a:pt x="212415" y="180796"/>
                  </a:lnTo>
                  <a:lnTo>
                    <a:pt x="203288" y="170277"/>
                  </a:lnTo>
                  <a:lnTo>
                    <a:pt x="192331" y="161529"/>
                  </a:lnTo>
                  <a:lnTo>
                    <a:pt x="180313" y="155279"/>
                  </a:lnTo>
                  <a:lnTo>
                    <a:pt x="167232" y="151528"/>
                  </a:lnTo>
                  <a:lnTo>
                    <a:pt x="153094" y="150278"/>
                  </a:lnTo>
                  <a:close/>
                </a:path>
                <a:path w="449579" h="431165">
                  <a:moveTo>
                    <a:pt x="212559" y="181052"/>
                  </a:moveTo>
                  <a:lnTo>
                    <a:pt x="152979" y="181052"/>
                  </a:lnTo>
                  <a:lnTo>
                    <a:pt x="160809" y="181733"/>
                  </a:lnTo>
                  <a:lnTo>
                    <a:pt x="168028" y="183779"/>
                  </a:lnTo>
                  <a:lnTo>
                    <a:pt x="192021" y="218527"/>
                  </a:lnTo>
                  <a:lnTo>
                    <a:pt x="191307" y="225997"/>
                  </a:lnTo>
                  <a:lnTo>
                    <a:pt x="160720" y="255246"/>
                  </a:lnTo>
                  <a:lnTo>
                    <a:pt x="152979" y="255929"/>
                  </a:lnTo>
                  <a:lnTo>
                    <a:pt x="212552" y="255929"/>
                  </a:lnTo>
                  <a:lnTo>
                    <a:pt x="218877" y="244700"/>
                  </a:lnTo>
                  <a:lnTo>
                    <a:pt x="222795" y="232130"/>
                  </a:lnTo>
                  <a:lnTo>
                    <a:pt x="224111" y="218527"/>
                  </a:lnTo>
                  <a:lnTo>
                    <a:pt x="222822" y="204921"/>
                  </a:lnTo>
                  <a:lnTo>
                    <a:pt x="222568" y="204059"/>
                  </a:lnTo>
                  <a:lnTo>
                    <a:pt x="218924" y="192344"/>
                  </a:lnTo>
                  <a:lnTo>
                    <a:pt x="218730" y="191973"/>
                  </a:lnTo>
                  <a:lnTo>
                    <a:pt x="212559" y="181052"/>
                  </a:lnTo>
                  <a:close/>
                </a:path>
                <a:path w="449579" h="431165">
                  <a:moveTo>
                    <a:pt x="251405" y="150278"/>
                  </a:moveTo>
                  <a:lnTo>
                    <a:pt x="247835" y="150278"/>
                  </a:lnTo>
                  <a:lnTo>
                    <a:pt x="244442" y="150445"/>
                  </a:lnTo>
                  <a:lnTo>
                    <a:pt x="238024" y="151126"/>
                  </a:lnTo>
                  <a:lnTo>
                    <a:pt x="234820" y="151817"/>
                  </a:lnTo>
                  <a:lnTo>
                    <a:pt x="231605" y="152843"/>
                  </a:lnTo>
                  <a:lnTo>
                    <a:pt x="237159" y="159956"/>
                  </a:lnTo>
                  <a:lnTo>
                    <a:pt x="242042" y="167456"/>
                  </a:lnTo>
                  <a:lnTo>
                    <a:pt x="255811" y="209578"/>
                  </a:lnTo>
                  <a:lnTo>
                    <a:pt x="256212" y="218485"/>
                  </a:lnTo>
                  <a:lnTo>
                    <a:pt x="255827" y="227398"/>
                  </a:lnTo>
                  <a:lnTo>
                    <a:pt x="254674" y="236183"/>
                  </a:lnTo>
                  <a:lnTo>
                    <a:pt x="252798" y="244636"/>
                  </a:lnTo>
                  <a:lnTo>
                    <a:pt x="252753" y="244839"/>
                  </a:lnTo>
                  <a:lnTo>
                    <a:pt x="231605" y="283624"/>
                  </a:lnTo>
                  <a:lnTo>
                    <a:pt x="234820" y="284651"/>
                  </a:lnTo>
                  <a:lnTo>
                    <a:pt x="238193" y="285452"/>
                  </a:lnTo>
                  <a:lnTo>
                    <a:pt x="244442" y="286452"/>
                  </a:lnTo>
                  <a:lnTo>
                    <a:pt x="247835" y="286703"/>
                  </a:lnTo>
                  <a:lnTo>
                    <a:pt x="251405" y="286703"/>
                  </a:lnTo>
                  <a:lnTo>
                    <a:pt x="290454" y="275452"/>
                  </a:lnTo>
                  <a:lnTo>
                    <a:pt x="316724" y="244839"/>
                  </a:lnTo>
                  <a:lnTo>
                    <a:pt x="316838" y="244636"/>
                  </a:lnTo>
                  <a:lnTo>
                    <a:pt x="320717" y="232059"/>
                  </a:lnTo>
                  <a:lnTo>
                    <a:pt x="322008" y="218485"/>
                  </a:lnTo>
                  <a:lnTo>
                    <a:pt x="320717" y="204850"/>
                  </a:lnTo>
                  <a:lnTo>
                    <a:pt x="301331" y="170246"/>
                  </a:lnTo>
                  <a:lnTo>
                    <a:pt x="265492" y="151525"/>
                  </a:lnTo>
                  <a:lnTo>
                    <a:pt x="251405" y="150278"/>
                  </a:lnTo>
                  <a:close/>
                </a:path>
                <a:path w="449579" h="431165">
                  <a:moveTo>
                    <a:pt x="359455" y="0"/>
                  </a:moveTo>
                  <a:lnTo>
                    <a:pt x="344705" y="47796"/>
                  </a:lnTo>
                  <a:lnTo>
                    <a:pt x="304221" y="79882"/>
                  </a:lnTo>
                  <a:lnTo>
                    <a:pt x="269583" y="86164"/>
                  </a:lnTo>
                  <a:lnTo>
                    <a:pt x="287604" y="87735"/>
                  </a:lnTo>
                  <a:lnTo>
                    <a:pt x="333235" y="111295"/>
                  </a:lnTo>
                  <a:lnTo>
                    <a:pt x="357815" y="155050"/>
                  </a:lnTo>
                  <a:lnTo>
                    <a:pt x="359455" y="172329"/>
                  </a:lnTo>
                  <a:lnTo>
                    <a:pt x="361072" y="155267"/>
                  </a:lnTo>
                  <a:lnTo>
                    <a:pt x="385663" y="111295"/>
                  </a:lnTo>
                  <a:lnTo>
                    <a:pt x="431295" y="87735"/>
                  </a:lnTo>
                  <a:lnTo>
                    <a:pt x="449316" y="86164"/>
                  </a:lnTo>
                  <a:lnTo>
                    <a:pt x="431295" y="84594"/>
                  </a:lnTo>
                  <a:lnTo>
                    <a:pt x="385663" y="61034"/>
                  </a:lnTo>
                  <a:lnTo>
                    <a:pt x="361092" y="17278"/>
                  </a:lnTo>
                  <a:lnTo>
                    <a:pt x="359455" y="0"/>
                  </a:lnTo>
                  <a:close/>
                </a:path>
              </a:pathLst>
            </a:custGeom>
            <a:solidFill>
              <a:srgbClr val="212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70976" y="8088759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376951" y="753903"/>
                  </a:moveTo>
                  <a:lnTo>
                    <a:pt x="424235" y="750966"/>
                  </a:lnTo>
                  <a:lnTo>
                    <a:pt x="469766" y="742391"/>
                  </a:lnTo>
                  <a:lnTo>
                    <a:pt x="513191" y="728531"/>
                  </a:lnTo>
                  <a:lnTo>
                    <a:pt x="554157" y="709739"/>
                  </a:lnTo>
                  <a:lnTo>
                    <a:pt x="592311" y="686368"/>
                  </a:lnTo>
                  <a:lnTo>
                    <a:pt x="627299" y="658772"/>
                  </a:lnTo>
                  <a:lnTo>
                    <a:pt x="658768" y="627303"/>
                  </a:lnTo>
                  <a:lnTo>
                    <a:pt x="686365" y="592316"/>
                  </a:lnTo>
                  <a:lnTo>
                    <a:pt x="709737" y="554162"/>
                  </a:lnTo>
                  <a:lnTo>
                    <a:pt x="728530" y="513195"/>
                  </a:lnTo>
                  <a:lnTo>
                    <a:pt x="742391" y="469769"/>
                  </a:lnTo>
                  <a:lnTo>
                    <a:pt x="750966" y="424237"/>
                  </a:lnTo>
                  <a:lnTo>
                    <a:pt x="753903" y="376951"/>
                  </a:lnTo>
                  <a:lnTo>
                    <a:pt x="750966" y="329666"/>
                  </a:lnTo>
                  <a:lnTo>
                    <a:pt x="742391" y="284133"/>
                  </a:lnTo>
                  <a:lnTo>
                    <a:pt x="728530" y="240707"/>
                  </a:lnTo>
                  <a:lnTo>
                    <a:pt x="709737" y="199741"/>
                  </a:lnTo>
                  <a:lnTo>
                    <a:pt x="686365" y="161587"/>
                  </a:lnTo>
                  <a:lnTo>
                    <a:pt x="658768" y="126599"/>
                  </a:lnTo>
                  <a:lnTo>
                    <a:pt x="627299" y="95131"/>
                  </a:lnTo>
                  <a:lnTo>
                    <a:pt x="592311" y="67535"/>
                  </a:lnTo>
                  <a:lnTo>
                    <a:pt x="554157" y="44164"/>
                  </a:lnTo>
                  <a:lnTo>
                    <a:pt x="513191" y="25372"/>
                  </a:lnTo>
                  <a:lnTo>
                    <a:pt x="469766" y="11511"/>
                  </a:lnTo>
                  <a:lnTo>
                    <a:pt x="424235" y="2936"/>
                  </a:lnTo>
                  <a:lnTo>
                    <a:pt x="376951" y="0"/>
                  </a:lnTo>
                  <a:lnTo>
                    <a:pt x="329668" y="2936"/>
                  </a:lnTo>
                  <a:lnTo>
                    <a:pt x="284137" y="11511"/>
                  </a:lnTo>
                  <a:lnTo>
                    <a:pt x="240712" y="25372"/>
                  </a:lnTo>
                  <a:lnTo>
                    <a:pt x="199746" y="44164"/>
                  </a:lnTo>
                  <a:lnTo>
                    <a:pt x="161592" y="67535"/>
                  </a:lnTo>
                  <a:lnTo>
                    <a:pt x="126604" y="95131"/>
                  </a:lnTo>
                  <a:lnTo>
                    <a:pt x="95134" y="126599"/>
                  </a:lnTo>
                  <a:lnTo>
                    <a:pt x="67537" y="161587"/>
                  </a:lnTo>
                  <a:lnTo>
                    <a:pt x="44166" y="199741"/>
                  </a:lnTo>
                  <a:lnTo>
                    <a:pt x="25373" y="240707"/>
                  </a:lnTo>
                  <a:lnTo>
                    <a:pt x="11512" y="284133"/>
                  </a:lnTo>
                  <a:lnTo>
                    <a:pt x="2937" y="329666"/>
                  </a:lnTo>
                  <a:lnTo>
                    <a:pt x="0" y="376951"/>
                  </a:lnTo>
                  <a:lnTo>
                    <a:pt x="2937" y="424237"/>
                  </a:lnTo>
                  <a:lnTo>
                    <a:pt x="11512" y="469769"/>
                  </a:lnTo>
                  <a:lnTo>
                    <a:pt x="25373" y="513195"/>
                  </a:lnTo>
                  <a:lnTo>
                    <a:pt x="44166" y="554162"/>
                  </a:lnTo>
                  <a:lnTo>
                    <a:pt x="67537" y="592316"/>
                  </a:lnTo>
                  <a:lnTo>
                    <a:pt x="95134" y="627303"/>
                  </a:lnTo>
                  <a:lnTo>
                    <a:pt x="126604" y="658772"/>
                  </a:lnTo>
                  <a:lnTo>
                    <a:pt x="161592" y="686368"/>
                  </a:lnTo>
                  <a:lnTo>
                    <a:pt x="199746" y="709739"/>
                  </a:lnTo>
                  <a:lnTo>
                    <a:pt x="240712" y="728531"/>
                  </a:lnTo>
                  <a:lnTo>
                    <a:pt x="284137" y="742391"/>
                  </a:lnTo>
                  <a:lnTo>
                    <a:pt x="329668" y="750966"/>
                  </a:lnTo>
                  <a:lnTo>
                    <a:pt x="376951" y="753903"/>
                  </a:lnTo>
                  <a:close/>
                </a:path>
              </a:pathLst>
            </a:custGeom>
            <a:ln w="31412">
              <a:solidFill>
                <a:srgbClr val="202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7455270" y="5544333"/>
            <a:ext cx="11811635" cy="0"/>
          </a:xfrm>
          <a:custGeom>
            <a:avLst/>
            <a:gdLst/>
            <a:ahLst/>
            <a:cxnLst/>
            <a:rect l="l" t="t" r="r" b="b"/>
            <a:pathLst>
              <a:path w="11811635">
                <a:moveTo>
                  <a:pt x="0" y="0"/>
                </a:moveTo>
                <a:lnTo>
                  <a:pt x="11811158" y="0"/>
                </a:lnTo>
              </a:path>
            </a:pathLst>
          </a:custGeom>
          <a:ln w="31412">
            <a:solidFill>
              <a:srgbClr val="2021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455270" y="7512860"/>
            <a:ext cx="11811635" cy="0"/>
          </a:xfrm>
          <a:custGeom>
            <a:avLst/>
            <a:gdLst/>
            <a:ahLst/>
            <a:cxnLst/>
            <a:rect l="l" t="t" r="r" b="b"/>
            <a:pathLst>
              <a:path w="11811635">
                <a:moveTo>
                  <a:pt x="0" y="0"/>
                </a:moveTo>
                <a:lnTo>
                  <a:pt x="11811158" y="0"/>
                </a:lnTo>
              </a:path>
            </a:pathLst>
          </a:custGeom>
          <a:ln w="31412">
            <a:solidFill>
              <a:srgbClr val="2021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7455270" y="4041761"/>
            <a:ext cx="785495" cy="785495"/>
            <a:chOff x="7455270" y="4041761"/>
            <a:chExt cx="785495" cy="785495"/>
          </a:xfrm>
        </p:grpSpPr>
        <p:sp>
          <p:nvSpPr>
            <p:cNvPr id="24" name="object 24"/>
            <p:cNvSpPr/>
            <p:nvPr/>
          </p:nvSpPr>
          <p:spPr>
            <a:xfrm>
              <a:off x="7470976" y="4057468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376951" y="753903"/>
                  </a:moveTo>
                  <a:lnTo>
                    <a:pt x="424235" y="750966"/>
                  </a:lnTo>
                  <a:lnTo>
                    <a:pt x="469766" y="742391"/>
                  </a:lnTo>
                  <a:lnTo>
                    <a:pt x="513191" y="728531"/>
                  </a:lnTo>
                  <a:lnTo>
                    <a:pt x="554157" y="709739"/>
                  </a:lnTo>
                  <a:lnTo>
                    <a:pt x="592311" y="686368"/>
                  </a:lnTo>
                  <a:lnTo>
                    <a:pt x="627299" y="658772"/>
                  </a:lnTo>
                  <a:lnTo>
                    <a:pt x="658768" y="627303"/>
                  </a:lnTo>
                  <a:lnTo>
                    <a:pt x="686365" y="592316"/>
                  </a:lnTo>
                  <a:lnTo>
                    <a:pt x="709737" y="554162"/>
                  </a:lnTo>
                  <a:lnTo>
                    <a:pt x="728530" y="513195"/>
                  </a:lnTo>
                  <a:lnTo>
                    <a:pt x="742391" y="469769"/>
                  </a:lnTo>
                  <a:lnTo>
                    <a:pt x="750966" y="424237"/>
                  </a:lnTo>
                  <a:lnTo>
                    <a:pt x="753903" y="376951"/>
                  </a:lnTo>
                  <a:lnTo>
                    <a:pt x="750966" y="329666"/>
                  </a:lnTo>
                  <a:lnTo>
                    <a:pt x="742391" y="284133"/>
                  </a:lnTo>
                  <a:lnTo>
                    <a:pt x="728530" y="240707"/>
                  </a:lnTo>
                  <a:lnTo>
                    <a:pt x="709737" y="199741"/>
                  </a:lnTo>
                  <a:lnTo>
                    <a:pt x="686365" y="161587"/>
                  </a:lnTo>
                  <a:lnTo>
                    <a:pt x="658768" y="126599"/>
                  </a:lnTo>
                  <a:lnTo>
                    <a:pt x="627299" y="95131"/>
                  </a:lnTo>
                  <a:lnTo>
                    <a:pt x="592311" y="67535"/>
                  </a:lnTo>
                  <a:lnTo>
                    <a:pt x="554157" y="44164"/>
                  </a:lnTo>
                  <a:lnTo>
                    <a:pt x="513191" y="25372"/>
                  </a:lnTo>
                  <a:lnTo>
                    <a:pt x="469766" y="11511"/>
                  </a:lnTo>
                  <a:lnTo>
                    <a:pt x="424235" y="2936"/>
                  </a:lnTo>
                  <a:lnTo>
                    <a:pt x="376951" y="0"/>
                  </a:lnTo>
                  <a:lnTo>
                    <a:pt x="329668" y="2936"/>
                  </a:lnTo>
                  <a:lnTo>
                    <a:pt x="284137" y="11511"/>
                  </a:lnTo>
                  <a:lnTo>
                    <a:pt x="240712" y="25372"/>
                  </a:lnTo>
                  <a:lnTo>
                    <a:pt x="199746" y="44164"/>
                  </a:lnTo>
                  <a:lnTo>
                    <a:pt x="161592" y="67535"/>
                  </a:lnTo>
                  <a:lnTo>
                    <a:pt x="126604" y="95131"/>
                  </a:lnTo>
                  <a:lnTo>
                    <a:pt x="95134" y="126599"/>
                  </a:lnTo>
                  <a:lnTo>
                    <a:pt x="67537" y="161587"/>
                  </a:lnTo>
                  <a:lnTo>
                    <a:pt x="44166" y="199741"/>
                  </a:lnTo>
                  <a:lnTo>
                    <a:pt x="25373" y="240707"/>
                  </a:lnTo>
                  <a:lnTo>
                    <a:pt x="11512" y="284133"/>
                  </a:lnTo>
                  <a:lnTo>
                    <a:pt x="2937" y="329666"/>
                  </a:lnTo>
                  <a:lnTo>
                    <a:pt x="0" y="376951"/>
                  </a:lnTo>
                  <a:lnTo>
                    <a:pt x="2937" y="424237"/>
                  </a:lnTo>
                  <a:lnTo>
                    <a:pt x="11512" y="469769"/>
                  </a:lnTo>
                  <a:lnTo>
                    <a:pt x="25373" y="513195"/>
                  </a:lnTo>
                  <a:lnTo>
                    <a:pt x="44166" y="554162"/>
                  </a:lnTo>
                  <a:lnTo>
                    <a:pt x="67537" y="592316"/>
                  </a:lnTo>
                  <a:lnTo>
                    <a:pt x="95134" y="627303"/>
                  </a:lnTo>
                  <a:lnTo>
                    <a:pt x="126604" y="658772"/>
                  </a:lnTo>
                  <a:lnTo>
                    <a:pt x="161592" y="686368"/>
                  </a:lnTo>
                  <a:lnTo>
                    <a:pt x="199746" y="709739"/>
                  </a:lnTo>
                  <a:lnTo>
                    <a:pt x="240712" y="728531"/>
                  </a:lnTo>
                  <a:lnTo>
                    <a:pt x="284137" y="742391"/>
                  </a:lnTo>
                  <a:lnTo>
                    <a:pt x="329668" y="750966"/>
                  </a:lnTo>
                  <a:lnTo>
                    <a:pt x="376951" y="753903"/>
                  </a:lnTo>
                  <a:close/>
                </a:path>
              </a:pathLst>
            </a:custGeom>
            <a:ln w="31412">
              <a:solidFill>
                <a:srgbClr val="202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52754" y="4230237"/>
              <a:ext cx="390525" cy="377190"/>
            </a:xfrm>
            <a:custGeom>
              <a:avLst/>
              <a:gdLst/>
              <a:ahLst/>
              <a:cxnLst/>
              <a:rect l="l" t="t" r="r" b="b"/>
              <a:pathLst>
                <a:path w="390525" h="377189">
                  <a:moveTo>
                    <a:pt x="351874" y="79118"/>
                  </a:moveTo>
                  <a:lnTo>
                    <a:pt x="38480" y="79118"/>
                  </a:lnTo>
                  <a:lnTo>
                    <a:pt x="30244" y="79844"/>
                  </a:lnTo>
                  <a:lnTo>
                    <a:pt x="30476" y="79844"/>
                  </a:lnTo>
                  <a:lnTo>
                    <a:pt x="22956" y="82024"/>
                  </a:lnTo>
                  <a:lnTo>
                    <a:pt x="23142" y="82024"/>
                  </a:lnTo>
                  <a:lnTo>
                    <a:pt x="16835" y="85395"/>
                  </a:lnTo>
                  <a:lnTo>
                    <a:pt x="10994" y="90279"/>
                  </a:lnTo>
                  <a:lnTo>
                    <a:pt x="6184" y="96273"/>
                  </a:lnTo>
                  <a:lnTo>
                    <a:pt x="2748" y="103083"/>
                  </a:lnTo>
                  <a:lnTo>
                    <a:pt x="687" y="110706"/>
                  </a:lnTo>
                  <a:lnTo>
                    <a:pt x="0" y="119137"/>
                  </a:lnTo>
                  <a:lnTo>
                    <a:pt x="0" y="336932"/>
                  </a:lnTo>
                  <a:lnTo>
                    <a:pt x="23363" y="374048"/>
                  </a:lnTo>
                  <a:lnTo>
                    <a:pt x="38480" y="376951"/>
                  </a:lnTo>
                  <a:lnTo>
                    <a:pt x="351874" y="376951"/>
                  </a:lnTo>
                  <a:lnTo>
                    <a:pt x="387605" y="352401"/>
                  </a:lnTo>
                  <a:lnTo>
                    <a:pt x="390354" y="336932"/>
                  </a:lnTo>
                  <a:lnTo>
                    <a:pt x="390354" y="119137"/>
                  </a:lnTo>
                  <a:lnTo>
                    <a:pt x="366991" y="82024"/>
                  </a:lnTo>
                  <a:lnTo>
                    <a:pt x="359776" y="79844"/>
                  </a:lnTo>
                  <a:lnTo>
                    <a:pt x="351874" y="79118"/>
                  </a:lnTo>
                  <a:close/>
                </a:path>
                <a:path w="390525" h="377189">
                  <a:moveTo>
                    <a:pt x="234579" y="0"/>
                  </a:moveTo>
                  <a:lnTo>
                    <a:pt x="155775" y="0"/>
                  </a:lnTo>
                  <a:lnTo>
                    <a:pt x="147873" y="698"/>
                  </a:lnTo>
                  <a:lnTo>
                    <a:pt x="117971" y="31064"/>
                  </a:lnTo>
                  <a:lnTo>
                    <a:pt x="117284" y="39087"/>
                  </a:lnTo>
                  <a:lnTo>
                    <a:pt x="117284" y="79118"/>
                  </a:lnTo>
                  <a:lnTo>
                    <a:pt x="155775" y="79118"/>
                  </a:lnTo>
                  <a:lnTo>
                    <a:pt x="155775" y="39087"/>
                  </a:lnTo>
                  <a:lnTo>
                    <a:pt x="273070" y="39087"/>
                  </a:lnTo>
                  <a:lnTo>
                    <a:pt x="249696" y="2794"/>
                  </a:lnTo>
                  <a:lnTo>
                    <a:pt x="242481" y="698"/>
                  </a:lnTo>
                  <a:lnTo>
                    <a:pt x="234579" y="0"/>
                  </a:lnTo>
                  <a:close/>
                </a:path>
                <a:path w="390525" h="377189">
                  <a:moveTo>
                    <a:pt x="273070" y="39087"/>
                  </a:moveTo>
                  <a:lnTo>
                    <a:pt x="234579" y="39087"/>
                  </a:lnTo>
                  <a:lnTo>
                    <a:pt x="234579" y="79118"/>
                  </a:lnTo>
                  <a:lnTo>
                    <a:pt x="273070" y="79118"/>
                  </a:lnTo>
                  <a:lnTo>
                    <a:pt x="273070" y="39087"/>
                  </a:lnTo>
                  <a:close/>
                </a:path>
              </a:pathLst>
            </a:custGeom>
            <a:solidFill>
              <a:srgbClr val="212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54644" y="4367639"/>
              <a:ext cx="186580" cy="186036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7455270" y="6135849"/>
            <a:ext cx="785495" cy="785495"/>
            <a:chOff x="7455270" y="6010288"/>
            <a:chExt cx="785495" cy="785495"/>
          </a:xfrm>
        </p:grpSpPr>
        <p:sp>
          <p:nvSpPr>
            <p:cNvPr id="28" name="object 28"/>
            <p:cNvSpPr/>
            <p:nvPr/>
          </p:nvSpPr>
          <p:spPr>
            <a:xfrm>
              <a:off x="7470976" y="6025994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376951" y="753903"/>
                  </a:moveTo>
                  <a:lnTo>
                    <a:pt x="424235" y="750966"/>
                  </a:lnTo>
                  <a:lnTo>
                    <a:pt x="469766" y="742391"/>
                  </a:lnTo>
                  <a:lnTo>
                    <a:pt x="513191" y="728531"/>
                  </a:lnTo>
                  <a:lnTo>
                    <a:pt x="554157" y="709739"/>
                  </a:lnTo>
                  <a:lnTo>
                    <a:pt x="592311" y="686368"/>
                  </a:lnTo>
                  <a:lnTo>
                    <a:pt x="627299" y="658772"/>
                  </a:lnTo>
                  <a:lnTo>
                    <a:pt x="658768" y="627303"/>
                  </a:lnTo>
                  <a:lnTo>
                    <a:pt x="686365" y="592316"/>
                  </a:lnTo>
                  <a:lnTo>
                    <a:pt x="709737" y="554162"/>
                  </a:lnTo>
                  <a:lnTo>
                    <a:pt x="728530" y="513195"/>
                  </a:lnTo>
                  <a:lnTo>
                    <a:pt x="742391" y="469769"/>
                  </a:lnTo>
                  <a:lnTo>
                    <a:pt x="750966" y="424237"/>
                  </a:lnTo>
                  <a:lnTo>
                    <a:pt x="753903" y="376951"/>
                  </a:lnTo>
                  <a:lnTo>
                    <a:pt x="750966" y="329666"/>
                  </a:lnTo>
                  <a:lnTo>
                    <a:pt x="742391" y="284133"/>
                  </a:lnTo>
                  <a:lnTo>
                    <a:pt x="728530" y="240707"/>
                  </a:lnTo>
                  <a:lnTo>
                    <a:pt x="709737" y="199741"/>
                  </a:lnTo>
                  <a:lnTo>
                    <a:pt x="686365" y="161587"/>
                  </a:lnTo>
                  <a:lnTo>
                    <a:pt x="658768" y="126599"/>
                  </a:lnTo>
                  <a:lnTo>
                    <a:pt x="627299" y="95131"/>
                  </a:lnTo>
                  <a:lnTo>
                    <a:pt x="592311" y="67535"/>
                  </a:lnTo>
                  <a:lnTo>
                    <a:pt x="554157" y="44164"/>
                  </a:lnTo>
                  <a:lnTo>
                    <a:pt x="513191" y="25372"/>
                  </a:lnTo>
                  <a:lnTo>
                    <a:pt x="469766" y="11511"/>
                  </a:lnTo>
                  <a:lnTo>
                    <a:pt x="424235" y="2936"/>
                  </a:lnTo>
                  <a:lnTo>
                    <a:pt x="376951" y="0"/>
                  </a:lnTo>
                  <a:lnTo>
                    <a:pt x="329668" y="2936"/>
                  </a:lnTo>
                  <a:lnTo>
                    <a:pt x="284137" y="11511"/>
                  </a:lnTo>
                  <a:lnTo>
                    <a:pt x="240712" y="25372"/>
                  </a:lnTo>
                  <a:lnTo>
                    <a:pt x="199746" y="44164"/>
                  </a:lnTo>
                  <a:lnTo>
                    <a:pt x="161592" y="67535"/>
                  </a:lnTo>
                  <a:lnTo>
                    <a:pt x="126604" y="95131"/>
                  </a:lnTo>
                  <a:lnTo>
                    <a:pt x="95134" y="126599"/>
                  </a:lnTo>
                  <a:lnTo>
                    <a:pt x="67537" y="161587"/>
                  </a:lnTo>
                  <a:lnTo>
                    <a:pt x="44166" y="199741"/>
                  </a:lnTo>
                  <a:lnTo>
                    <a:pt x="25373" y="240707"/>
                  </a:lnTo>
                  <a:lnTo>
                    <a:pt x="11512" y="284133"/>
                  </a:lnTo>
                  <a:lnTo>
                    <a:pt x="2937" y="329666"/>
                  </a:lnTo>
                  <a:lnTo>
                    <a:pt x="0" y="376951"/>
                  </a:lnTo>
                  <a:lnTo>
                    <a:pt x="2937" y="424237"/>
                  </a:lnTo>
                  <a:lnTo>
                    <a:pt x="11512" y="469769"/>
                  </a:lnTo>
                  <a:lnTo>
                    <a:pt x="25373" y="513195"/>
                  </a:lnTo>
                  <a:lnTo>
                    <a:pt x="44166" y="554162"/>
                  </a:lnTo>
                  <a:lnTo>
                    <a:pt x="67537" y="592316"/>
                  </a:lnTo>
                  <a:lnTo>
                    <a:pt x="95134" y="627303"/>
                  </a:lnTo>
                  <a:lnTo>
                    <a:pt x="126604" y="658772"/>
                  </a:lnTo>
                  <a:lnTo>
                    <a:pt x="161592" y="686368"/>
                  </a:lnTo>
                  <a:lnTo>
                    <a:pt x="199746" y="709739"/>
                  </a:lnTo>
                  <a:lnTo>
                    <a:pt x="240712" y="728531"/>
                  </a:lnTo>
                  <a:lnTo>
                    <a:pt x="284137" y="742391"/>
                  </a:lnTo>
                  <a:lnTo>
                    <a:pt x="329668" y="750966"/>
                  </a:lnTo>
                  <a:lnTo>
                    <a:pt x="376951" y="753903"/>
                  </a:lnTo>
                  <a:close/>
                </a:path>
              </a:pathLst>
            </a:custGeom>
            <a:ln w="31412">
              <a:solidFill>
                <a:srgbClr val="202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07206" y="6284202"/>
              <a:ext cx="181146" cy="18254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730537" y="6240186"/>
              <a:ext cx="321945" cy="325755"/>
            </a:xfrm>
            <a:custGeom>
              <a:avLst/>
              <a:gdLst/>
              <a:ahLst/>
              <a:cxnLst/>
              <a:rect l="l" t="t" r="r" b="b"/>
              <a:pathLst>
                <a:path w="321945" h="325754">
                  <a:moveTo>
                    <a:pt x="160790" y="203334"/>
                  </a:moveTo>
                  <a:lnTo>
                    <a:pt x="113185" y="208344"/>
                  </a:lnTo>
                  <a:lnTo>
                    <a:pt x="60647" y="223375"/>
                  </a:lnTo>
                  <a:lnTo>
                    <a:pt x="17982" y="248674"/>
                  </a:lnTo>
                  <a:lnTo>
                    <a:pt x="0" y="284473"/>
                  </a:lnTo>
                  <a:lnTo>
                    <a:pt x="0" y="325518"/>
                  </a:lnTo>
                  <a:lnTo>
                    <a:pt x="321571" y="325518"/>
                  </a:lnTo>
                  <a:lnTo>
                    <a:pt x="321571" y="284473"/>
                  </a:lnTo>
                  <a:lnTo>
                    <a:pt x="303588" y="248674"/>
                  </a:lnTo>
                  <a:lnTo>
                    <a:pt x="260923" y="223375"/>
                  </a:lnTo>
                  <a:lnTo>
                    <a:pt x="208387" y="208344"/>
                  </a:lnTo>
                  <a:lnTo>
                    <a:pt x="160790" y="203334"/>
                  </a:lnTo>
                  <a:close/>
                </a:path>
                <a:path w="321945" h="325754">
                  <a:moveTo>
                    <a:pt x="160790" y="0"/>
                  </a:moveTo>
                  <a:lnTo>
                    <a:pt x="116362" y="12889"/>
                  </a:lnTo>
                  <a:lnTo>
                    <a:pt x="87448" y="48808"/>
                  </a:lnTo>
                  <a:lnTo>
                    <a:pt x="81809" y="80667"/>
                  </a:lnTo>
                  <a:lnTo>
                    <a:pt x="83218" y="97346"/>
                  </a:lnTo>
                  <a:lnTo>
                    <a:pt x="104373" y="138414"/>
                  </a:lnTo>
                  <a:lnTo>
                    <a:pt x="144567" y="160436"/>
                  </a:lnTo>
                  <a:lnTo>
                    <a:pt x="160790" y="162277"/>
                  </a:lnTo>
                  <a:lnTo>
                    <a:pt x="177009" y="160436"/>
                  </a:lnTo>
                  <a:lnTo>
                    <a:pt x="217197" y="138414"/>
                  </a:lnTo>
                  <a:lnTo>
                    <a:pt x="238361" y="97346"/>
                  </a:lnTo>
                  <a:lnTo>
                    <a:pt x="239772" y="80667"/>
                  </a:lnTo>
                  <a:lnTo>
                    <a:pt x="238361" y="63993"/>
                  </a:lnTo>
                  <a:lnTo>
                    <a:pt x="217197" y="22910"/>
                  </a:lnTo>
                  <a:lnTo>
                    <a:pt x="177009" y="1432"/>
                  </a:lnTo>
                  <a:lnTo>
                    <a:pt x="160790" y="0"/>
                  </a:lnTo>
                  <a:close/>
                </a:path>
              </a:pathLst>
            </a:custGeom>
            <a:solidFill>
              <a:srgbClr val="202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551239" y="349922"/>
            <a:ext cx="162801" cy="138383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345174" y="10760882"/>
            <a:ext cx="868897" cy="153838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4881122" y="328209"/>
            <a:ext cx="4537710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solidFill>
                  <a:srgbClr val="BDC1C6"/>
                </a:solidFill>
                <a:latin typeface="Tahoma"/>
                <a:cs typeface="Tahoma"/>
              </a:rPr>
              <a:t>AI 产品 3.0 | 能力架构与迭代推导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13</a:t>
            </a:fld>
            <a:endParaRPr spc="-25" dirty="0">
              <a:solidFill>
                <a:srgbClr val="FFFFFF"/>
              </a:solidFill>
            </a:endParaRPr>
          </a:p>
        </p:txBody>
      </p:sp>
      <p:sp>
        <p:nvSpPr>
          <p:cNvPr id="35" name="object 7">
            <a:extLst>
              <a:ext uri="{FF2B5EF4-FFF2-40B4-BE49-F238E27FC236}">
                <a16:creationId xmlns:a16="http://schemas.microsoft.com/office/drawing/2014/main" id="{C4B203B8-9D7A-AB99-2602-8C174DE9BE45}"/>
              </a:ext>
            </a:extLst>
          </p:cNvPr>
          <p:cNvSpPr txBox="1"/>
          <p:nvPr/>
        </p:nvSpPr>
        <p:spPr>
          <a:xfrm>
            <a:off x="824970" y="1763215"/>
            <a:ext cx="5593715" cy="4934043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>
            <a:defPPr>
              <a:defRPr kern="0"/>
            </a:defPPr>
            <a:lvl1pPr marL="12700" marR="8890">
              <a:spcBef>
                <a:spcPts val="1750"/>
              </a:spcBef>
              <a:defRPr sz="6600" spc="295">
                <a:solidFill>
                  <a:srgbClr val="FFFFFF"/>
                </a:solidFill>
                <a:latin typeface="MiSans Medium" pitchFamily="2" charset="-128"/>
                <a:cs typeface="MiSans Medium" pitchFamily="2" charset="-128"/>
              </a:defRPr>
            </a:lvl1pPr>
          </a:lstStyle>
          <a:p>
            <a:r>
              <a:rPr dirty="0" err="1"/>
              <a:t>组建三方</a:t>
            </a:r>
            <a:r>
              <a:rPr dirty="0"/>
              <a:t>
共创小组</a:t>
            </a:r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772539" y="3226938"/>
            <a:ext cx="4697095" cy="654685"/>
          </a:xfrm>
          <a:custGeom>
            <a:avLst/>
            <a:gdLst/>
            <a:ahLst/>
            <a:cxnLst/>
            <a:rect l="l" t="t" r="r" b="b"/>
            <a:pathLst>
              <a:path w="4697094" h="654685">
                <a:moveTo>
                  <a:pt x="4369961" y="0"/>
                </a:moveTo>
                <a:lnTo>
                  <a:pt x="327110" y="0"/>
                </a:lnTo>
                <a:lnTo>
                  <a:pt x="278940" y="3563"/>
                </a:lnTo>
                <a:lnTo>
                  <a:pt x="232909" y="13910"/>
                </a:lnTo>
                <a:lnTo>
                  <a:pt x="189532" y="30523"/>
                </a:lnTo>
                <a:lnTo>
                  <a:pt x="149325" y="52888"/>
                </a:lnTo>
                <a:lnTo>
                  <a:pt x="112805" y="80487"/>
                </a:lnTo>
                <a:lnTo>
                  <a:pt x="80487" y="112805"/>
                </a:lnTo>
                <a:lnTo>
                  <a:pt x="52888" y="149325"/>
                </a:lnTo>
                <a:lnTo>
                  <a:pt x="30523" y="189532"/>
                </a:lnTo>
                <a:lnTo>
                  <a:pt x="13910" y="232909"/>
                </a:lnTo>
                <a:lnTo>
                  <a:pt x="3563" y="278940"/>
                </a:lnTo>
                <a:lnTo>
                  <a:pt x="0" y="327110"/>
                </a:lnTo>
                <a:lnTo>
                  <a:pt x="3563" y="375279"/>
                </a:lnTo>
                <a:lnTo>
                  <a:pt x="13910" y="421311"/>
                </a:lnTo>
                <a:lnTo>
                  <a:pt x="30523" y="464688"/>
                </a:lnTo>
                <a:lnTo>
                  <a:pt x="52888" y="504895"/>
                </a:lnTo>
                <a:lnTo>
                  <a:pt x="80487" y="541415"/>
                </a:lnTo>
                <a:lnTo>
                  <a:pt x="112805" y="573733"/>
                </a:lnTo>
                <a:lnTo>
                  <a:pt x="149325" y="601332"/>
                </a:lnTo>
                <a:lnTo>
                  <a:pt x="189532" y="623697"/>
                </a:lnTo>
                <a:lnTo>
                  <a:pt x="232909" y="640310"/>
                </a:lnTo>
                <a:lnTo>
                  <a:pt x="278940" y="650657"/>
                </a:lnTo>
                <a:lnTo>
                  <a:pt x="327110" y="654220"/>
                </a:lnTo>
                <a:lnTo>
                  <a:pt x="4369961" y="654220"/>
                </a:lnTo>
                <a:lnTo>
                  <a:pt x="4418130" y="650657"/>
                </a:lnTo>
                <a:lnTo>
                  <a:pt x="4464161" y="640310"/>
                </a:lnTo>
                <a:lnTo>
                  <a:pt x="4507537" y="623697"/>
                </a:lnTo>
                <a:lnTo>
                  <a:pt x="4547742" y="601332"/>
                </a:lnTo>
                <a:lnTo>
                  <a:pt x="4584261" y="573733"/>
                </a:lnTo>
                <a:lnTo>
                  <a:pt x="4616578" y="541415"/>
                </a:lnTo>
                <a:lnTo>
                  <a:pt x="4644176" y="504895"/>
                </a:lnTo>
                <a:lnTo>
                  <a:pt x="4666539" y="464688"/>
                </a:lnTo>
                <a:lnTo>
                  <a:pt x="4683151" y="421311"/>
                </a:lnTo>
                <a:lnTo>
                  <a:pt x="4693497" y="375279"/>
                </a:lnTo>
                <a:lnTo>
                  <a:pt x="4697061" y="327110"/>
                </a:lnTo>
                <a:lnTo>
                  <a:pt x="4693497" y="278940"/>
                </a:lnTo>
                <a:lnTo>
                  <a:pt x="4683151" y="232909"/>
                </a:lnTo>
                <a:lnTo>
                  <a:pt x="4666539" y="189532"/>
                </a:lnTo>
                <a:lnTo>
                  <a:pt x="4644176" y="149325"/>
                </a:lnTo>
                <a:lnTo>
                  <a:pt x="4616578" y="112805"/>
                </a:lnTo>
                <a:lnTo>
                  <a:pt x="4584261" y="80487"/>
                </a:lnTo>
                <a:lnTo>
                  <a:pt x="4547742" y="52888"/>
                </a:lnTo>
                <a:lnTo>
                  <a:pt x="4507537" y="30523"/>
                </a:lnTo>
                <a:lnTo>
                  <a:pt x="4464161" y="13910"/>
                </a:lnTo>
                <a:lnTo>
                  <a:pt x="4418130" y="3563"/>
                </a:lnTo>
                <a:lnTo>
                  <a:pt x="4369961" y="0"/>
                </a:lnTo>
                <a:close/>
              </a:path>
            </a:pathLst>
          </a:custGeom>
          <a:solidFill>
            <a:srgbClr val="C52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575300" y="4024570"/>
            <a:ext cx="3991610" cy="654685"/>
          </a:xfrm>
          <a:custGeom>
            <a:avLst/>
            <a:gdLst/>
            <a:ahLst/>
            <a:cxnLst/>
            <a:rect l="l" t="t" r="r" b="b"/>
            <a:pathLst>
              <a:path w="3991609" h="654685">
                <a:moveTo>
                  <a:pt x="3663888" y="0"/>
                </a:moveTo>
                <a:lnTo>
                  <a:pt x="327110" y="0"/>
                </a:lnTo>
                <a:lnTo>
                  <a:pt x="278940" y="3563"/>
                </a:lnTo>
                <a:lnTo>
                  <a:pt x="232909" y="13910"/>
                </a:lnTo>
                <a:lnTo>
                  <a:pt x="189532" y="30523"/>
                </a:lnTo>
                <a:lnTo>
                  <a:pt x="149325" y="52888"/>
                </a:lnTo>
                <a:lnTo>
                  <a:pt x="112805" y="80488"/>
                </a:lnTo>
                <a:lnTo>
                  <a:pt x="80487" y="112806"/>
                </a:lnTo>
                <a:lnTo>
                  <a:pt x="52888" y="149328"/>
                </a:lnTo>
                <a:lnTo>
                  <a:pt x="30523" y="189536"/>
                </a:lnTo>
                <a:lnTo>
                  <a:pt x="13910" y="232915"/>
                </a:lnTo>
                <a:lnTo>
                  <a:pt x="3563" y="278948"/>
                </a:lnTo>
                <a:lnTo>
                  <a:pt x="0" y="327120"/>
                </a:lnTo>
                <a:lnTo>
                  <a:pt x="3563" y="375287"/>
                </a:lnTo>
                <a:lnTo>
                  <a:pt x="13910" y="421317"/>
                </a:lnTo>
                <a:lnTo>
                  <a:pt x="30523" y="464692"/>
                </a:lnTo>
                <a:lnTo>
                  <a:pt x="52888" y="504898"/>
                </a:lnTo>
                <a:lnTo>
                  <a:pt x="80487" y="541417"/>
                </a:lnTo>
                <a:lnTo>
                  <a:pt x="112805" y="573734"/>
                </a:lnTo>
                <a:lnTo>
                  <a:pt x="149325" y="601333"/>
                </a:lnTo>
                <a:lnTo>
                  <a:pt x="189532" y="623697"/>
                </a:lnTo>
                <a:lnTo>
                  <a:pt x="232909" y="640310"/>
                </a:lnTo>
                <a:lnTo>
                  <a:pt x="278940" y="650657"/>
                </a:lnTo>
                <a:lnTo>
                  <a:pt x="327110" y="654220"/>
                </a:lnTo>
                <a:lnTo>
                  <a:pt x="3663888" y="654220"/>
                </a:lnTo>
                <a:lnTo>
                  <a:pt x="3712060" y="650657"/>
                </a:lnTo>
                <a:lnTo>
                  <a:pt x="3758094" y="640310"/>
                </a:lnTo>
                <a:lnTo>
                  <a:pt x="3801472" y="623697"/>
                </a:lnTo>
                <a:lnTo>
                  <a:pt x="3841681" y="601333"/>
                </a:lnTo>
                <a:lnTo>
                  <a:pt x="3878202" y="573734"/>
                </a:lnTo>
                <a:lnTo>
                  <a:pt x="3910521" y="541417"/>
                </a:lnTo>
                <a:lnTo>
                  <a:pt x="3938120" y="504898"/>
                </a:lnTo>
                <a:lnTo>
                  <a:pt x="3960485" y="464692"/>
                </a:lnTo>
                <a:lnTo>
                  <a:pt x="3977099" y="421317"/>
                </a:lnTo>
                <a:lnTo>
                  <a:pt x="3987445" y="375287"/>
                </a:lnTo>
                <a:lnTo>
                  <a:pt x="3991009" y="327120"/>
                </a:lnTo>
                <a:lnTo>
                  <a:pt x="3987445" y="278948"/>
                </a:lnTo>
                <a:lnTo>
                  <a:pt x="3977099" y="232915"/>
                </a:lnTo>
                <a:lnTo>
                  <a:pt x="3960485" y="189536"/>
                </a:lnTo>
                <a:lnTo>
                  <a:pt x="3938120" y="149328"/>
                </a:lnTo>
                <a:lnTo>
                  <a:pt x="3910521" y="112806"/>
                </a:lnTo>
                <a:lnTo>
                  <a:pt x="3878202" y="80488"/>
                </a:lnTo>
                <a:lnTo>
                  <a:pt x="3841681" y="52888"/>
                </a:lnTo>
                <a:lnTo>
                  <a:pt x="3801472" y="30523"/>
                </a:lnTo>
                <a:lnTo>
                  <a:pt x="3758094" y="13910"/>
                </a:lnTo>
                <a:lnTo>
                  <a:pt x="3712060" y="3563"/>
                </a:lnTo>
                <a:lnTo>
                  <a:pt x="3663888" y="0"/>
                </a:lnTo>
                <a:close/>
              </a:path>
            </a:pathLst>
          </a:custGeom>
          <a:solidFill>
            <a:srgbClr val="D930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253490" y="4822201"/>
            <a:ext cx="3745229" cy="654685"/>
          </a:xfrm>
          <a:custGeom>
            <a:avLst/>
            <a:gdLst/>
            <a:ahLst/>
            <a:cxnLst/>
            <a:rect l="l" t="t" r="r" b="b"/>
            <a:pathLst>
              <a:path w="3745230" h="654685">
                <a:moveTo>
                  <a:pt x="3418011" y="0"/>
                </a:moveTo>
                <a:lnTo>
                  <a:pt x="327110" y="0"/>
                </a:lnTo>
                <a:lnTo>
                  <a:pt x="278940" y="3563"/>
                </a:lnTo>
                <a:lnTo>
                  <a:pt x="232909" y="13910"/>
                </a:lnTo>
                <a:lnTo>
                  <a:pt x="189532" y="30523"/>
                </a:lnTo>
                <a:lnTo>
                  <a:pt x="149325" y="52888"/>
                </a:lnTo>
                <a:lnTo>
                  <a:pt x="112805" y="80488"/>
                </a:lnTo>
                <a:lnTo>
                  <a:pt x="80487" y="112806"/>
                </a:lnTo>
                <a:lnTo>
                  <a:pt x="52888" y="149328"/>
                </a:lnTo>
                <a:lnTo>
                  <a:pt x="30523" y="189536"/>
                </a:lnTo>
                <a:lnTo>
                  <a:pt x="13910" y="232915"/>
                </a:lnTo>
                <a:lnTo>
                  <a:pt x="3563" y="278948"/>
                </a:lnTo>
                <a:lnTo>
                  <a:pt x="0" y="327120"/>
                </a:lnTo>
                <a:lnTo>
                  <a:pt x="3563" y="375287"/>
                </a:lnTo>
                <a:lnTo>
                  <a:pt x="13910" y="421317"/>
                </a:lnTo>
                <a:lnTo>
                  <a:pt x="30523" y="464692"/>
                </a:lnTo>
                <a:lnTo>
                  <a:pt x="52888" y="504898"/>
                </a:lnTo>
                <a:lnTo>
                  <a:pt x="80487" y="541417"/>
                </a:lnTo>
                <a:lnTo>
                  <a:pt x="112805" y="573734"/>
                </a:lnTo>
                <a:lnTo>
                  <a:pt x="149325" y="601333"/>
                </a:lnTo>
                <a:lnTo>
                  <a:pt x="189532" y="623697"/>
                </a:lnTo>
                <a:lnTo>
                  <a:pt x="232909" y="640310"/>
                </a:lnTo>
                <a:lnTo>
                  <a:pt x="278940" y="650657"/>
                </a:lnTo>
                <a:lnTo>
                  <a:pt x="327110" y="654220"/>
                </a:lnTo>
                <a:lnTo>
                  <a:pt x="3418011" y="654220"/>
                </a:lnTo>
                <a:lnTo>
                  <a:pt x="3466178" y="650657"/>
                </a:lnTo>
                <a:lnTo>
                  <a:pt x="3512207" y="640310"/>
                </a:lnTo>
                <a:lnTo>
                  <a:pt x="3555582" y="623697"/>
                </a:lnTo>
                <a:lnTo>
                  <a:pt x="3595788" y="601333"/>
                </a:lnTo>
                <a:lnTo>
                  <a:pt x="3632307" y="573734"/>
                </a:lnTo>
                <a:lnTo>
                  <a:pt x="3664624" y="541417"/>
                </a:lnTo>
                <a:lnTo>
                  <a:pt x="3692223" y="504898"/>
                </a:lnTo>
                <a:lnTo>
                  <a:pt x="3714587" y="464692"/>
                </a:lnTo>
                <a:lnTo>
                  <a:pt x="3731200" y="421317"/>
                </a:lnTo>
                <a:lnTo>
                  <a:pt x="3741547" y="375287"/>
                </a:lnTo>
                <a:lnTo>
                  <a:pt x="3745111" y="327120"/>
                </a:lnTo>
                <a:lnTo>
                  <a:pt x="3741547" y="278948"/>
                </a:lnTo>
                <a:lnTo>
                  <a:pt x="3731200" y="232915"/>
                </a:lnTo>
                <a:lnTo>
                  <a:pt x="3714587" y="189536"/>
                </a:lnTo>
                <a:lnTo>
                  <a:pt x="3692223" y="149328"/>
                </a:lnTo>
                <a:lnTo>
                  <a:pt x="3664624" y="112806"/>
                </a:lnTo>
                <a:lnTo>
                  <a:pt x="3632307" y="80488"/>
                </a:lnTo>
                <a:lnTo>
                  <a:pt x="3595788" y="52888"/>
                </a:lnTo>
                <a:lnTo>
                  <a:pt x="3555582" y="30523"/>
                </a:lnTo>
                <a:lnTo>
                  <a:pt x="3512207" y="13910"/>
                </a:lnTo>
                <a:lnTo>
                  <a:pt x="3466178" y="3563"/>
                </a:lnTo>
                <a:lnTo>
                  <a:pt x="3418011" y="0"/>
                </a:lnTo>
                <a:close/>
              </a:path>
            </a:pathLst>
          </a:custGeom>
          <a:solidFill>
            <a:srgbClr val="EA43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40096" y="5619835"/>
            <a:ext cx="3652520" cy="654685"/>
          </a:xfrm>
          <a:custGeom>
            <a:avLst/>
            <a:gdLst/>
            <a:ahLst/>
            <a:cxnLst/>
            <a:rect l="l" t="t" r="r" b="b"/>
            <a:pathLst>
              <a:path w="3652519" h="654685">
                <a:moveTo>
                  <a:pt x="3324820" y="0"/>
                </a:moveTo>
                <a:lnTo>
                  <a:pt x="327110" y="0"/>
                </a:lnTo>
                <a:lnTo>
                  <a:pt x="278940" y="3563"/>
                </a:lnTo>
                <a:lnTo>
                  <a:pt x="232909" y="13910"/>
                </a:lnTo>
                <a:lnTo>
                  <a:pt x="189532" y="30523"/>
                </a:lnTo>
                <a:lnTo>
                  <a:pt x="149325" y="52888"/>
                </a:lnTo>
                <a:lnTo>
                  <a:pt x="112805" y="80487"/>
                </a:lnTo>
                <a:lnTo>
                  <a:pt x="80487" y="112805"/>
                </a:lnTo>
                <a:lnTo>
                  <a:pt x="52888" y="149325"/>
                </a:lnTo>
                <a:lnTo>
                  <a:pt x="30523" y="189532"/>
                </a:lnTo>
                <a:lnTo>
                  <a:pt x="13910" y="232909"/>
                </a:lnTo>
                <a:lnTo>
                  <a:pt x="3563" y="278940"/>
                </a:lnTo>
                <a:lnTo>
                  <a:pt x="0" y="327110"/>
                </a:lnTo>
                <a:lnTo>
                  <a:pt x="3563" y="375279"/>
                </a:lnTo>
                <a:lnTo>
                  <a:pt x="13910" y="421311"/>
                </a:lnTo>
                <a:lnTo>
                  <a:pt x="30523" y="464688"/>
                </a:lnTo>
                <a:lnTo>
                  <a:pt x="52888" y="504895"/>
                </a:lnTo>
                <a:lnTo>
                  <a:pt x="80487" y="541415"/>
                </a:lnTo>
                <a:lnTo>
                  <a:pt x="112805" y="573733"/>
                </a:lnTo>
                <a:lnTo>
                  <a:pt x="149325" y="601332"/>
                </a:lnTo>
                <a:lnTo>
                  <a:pt x="189532" y="623697"/>
                </a:lnTo>
                <a:lnTo>
                  <a:pt x="232909" y="640310"/>
                </a:lnTo>
                <a:lnTo>
                  <a:pt x="278940" y="650657"/>
                </a:lnTo>
                <a:lnTo>
                  <a:pt x="327110" y="654220"/>
                </a:lnTo>
                <a:lnTo>
                  <a:pt x="3324820" y="654220"/>
                </a:lnTo>
                <a:lnTo>
                  <a:pt x="3372989" y="650657"/>
                </a:lnTo>
                <a:lnTo>
                  <a:pt x="3419021" y="640310"/>
                </a:lnTo>
                <a:lnTo>
                  <a:pt x="3462398" y="623697"/>
                </a:lnTo>
                <a:lnTo>
                  <a:pt x="3502605" y="601332"/>
                </a:lnTo>
                <a:lnTo>
                  <a:pt x="3539125" y="573733"/>
                </a:lnTo>
                <a:lnTo>
                  <a:pt x="3571443" y="541415"/>
                </a:lnTo>
                <a:lnTo>
                  <a:pt x="3599042" y="504895"/>
                </a:lnTo>
                <a:lnTo>
                  <a:pt x="3621406" y="464688"/>
                </a:lnTo>
                <a:lnTo>
                  <a:pt x="3638020" y="421311"/>
                </a:lnTo>
                <a:lnTo>
                  <a:pt x="3648367" y="375279"/>
                </a:lnTo>
                <a:lnTo>
                  <a:pt x="3651930" y="327110"/>
                </a:lnTo>
                <a:lnTo>
                  <a:pt x="3648367" y="278940"/>
                </a:lnTo>
                <a:lnTo>
                  <a:pt x="3638020" y="232909"/>
                </a:lnTo>
                <a:lnTo>
                  <a:pt x="3621406" y="189532"/>
                </a:lnTo>
                <a:lnTo>
                  <a:pt x="3599042" y="149325"/>
                </a:lnTo>
                <a:lnTo>
                  <a:pt x="3571443" y="112805"/>
                </a:lnTo>
                <a:lnTo>
                  <a:pt x="3539125" y="80487"/>
                </a:lnTo>
                <a:lnTo>
                  <a:pt x="3502605" y="52888"/>
                </a:lnTo>
                <a:lnTo>
                  <a:pt x="3462398" y="30523"/>
                </a:lnTo>
                <a:lnTo>
                  <a:pt x="3419021" y="13910"/>
                </a:lnTo>
                <a:lnTo>
                  <a:pt x="3372989" y="3563"/>
                </a:lnTo>
                <a:lnTo>
                  <a:pt x="3324820" y="0"/>
                </a:lnTo>
                <a:close/>
              </a:path>
            </a:pathLst>
          </a:custGeom>
          <a:solidFill>
            <a:srgbClr val="EE67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273832" y="6417467"/>
            <a:ext cx="2616200" cy="654685"/>
          </a:xfrm>
          <a:custGeom>
            <a:avLst/>
            <a:gdLst/>
            <a:ahLst/>
            <a:cxnLst/>
            <a:rect l="l" t="t" r="r" b="b"/>
            <a:pathLst>
              <a:path w="2616200" h="654684">
                <a:moveTo>
                  <a:pt x="2288851" y="0"/>
                </a:moveTo>
                <a:lnTo>
                  <a:pt x="327110" y="0"/>
                </a:lnTo>
                <a:lnTo>
                  <a:pt x="278940" y="3563"/>
                </a:lnTo>
                <a:lnTo>
                  <a:pt x="232909" y="13910"/>
                </a:lnTo>
                <a:lnTo>
                  <a:pt x="189532" y="30523"/>
                </a:lnTo>
                <a:lnTo>
                  <a:pt x="149325" y="52888"/>
                </a:lnTo>
                <a:lnTo>
                  <a:pt x="112805" y="80487"/>
                </a:lnTo>
                <a:lnTo>
                  <a:pt x="80487" y="112805"/>
                </a:lnTo>
                <a:lnTo>
                  <a:pt x="52888" y="149325"/>
                </a:lnTo>
                <a:lnTo>
                  <a:pt x="30523" y="189532"/>
                </a:lnTo>
                <a:lnTo>
                  <a:pt x="13910" y="232909"/>
                </a:lnTo>
                <a:lnTo>
                  <a:pt x="3563" y="278940"/>
                </a:lnTo>
                <a:lnTo>
                  <a:pt x="0" y="327110"/>
                </a:lnTo>
                <a:lnTo>
                  <a:pt x="3563" y="375279"/>
                </a:lnTo>
                <a:lnTo>
                  <a:pt x="13910" y="421311"/>
                </a:lnTo>
                <a:lnTo>
                  <a:pt x="30523" y="464688"/>
                </a:lnTo>
                <a:lnTo>
                  <a:pt x="52888" y="504895"/>
                </a:lnTo>
                <a:lnTo>
                  <a:pt x="80487" y="541415"/>
                </a:lnTo>
                <a:lnTo>
                  <a:pt x="112805" y="573733"/>
                </a:lnTo>
                <a:lnTo>
                  <a:pt x="149325" y="601332"/>
                </a:lnTo>
                <a:lnTo>
                  <a:pt x="189532" y="623697"/>
                </a:lnTo>
                <a:lnTo>
                  <a:pt x="232909" y="640310"/>
                </a:lnTo>
                <a:lnTo>
                  <a:pt x="278940" y="650657"/>
                </a:lnTo>
                <a:lnTo>
                  <a:pt x="327110" y="654220"/>
                </a:lnTo>
                <a:lnTo>
                  <a:pt x="2288851" y="654220"/>
                </a:lnTo>
                <a:lnTo>
                  <a:pt x="2337018" y="650657"/>
                </a:lnTo>
                <a:lnTo>
                  <a:pt x="2383047" y="640310"/>
                </a:lnTo>
                <a:lnTo>
                  <a:pt x="2426423" y="623697"/>
                </a:lnTo>
                <a:lnTo>
                  <a:pt x="2466628" y="601332"/>
                </a:lnTo>
                <a:lnTo>
                  <a:pt x="2503148" y="573733"/>
                </a:lnTo>
                <a:lnTo>
                  <a:pt x="2535465" y="541415"/>
                </a:lnTo>
                <a:lnTo>
                  <a:pt x="2563064" y="504895"/>
                </a:lnTo>
                <a:lnTo>
                  <a:pt x="2585428" y="464688"/>
                </a:lnTo>
                <a:lnTo>
                  <a:pt x="2602041" y="421311"/>
                </a:lnTo>
                <a:lnTo>
                  <a:pt x="2612388" y="375279"/>
                </a:lnTo>
                <a:lnTo>
                  <a:pt x="2615951" y="327110"/>
                </a:lnTo>
                <a:lnTo>
                  <a:pt x="2612388" y="278940"/>
                </a:lnTo>
                <a:lnTo>
                  <a:pt x="2602041" y="232909"/>
                </a:lnTo>
                <a:lnTo>
                  <a:pt x="2585428" y="189532"/>
                </a:lnTo>
                <a:lnTo>
                  <a:pt x="2563064" y="149325"/>
                </a:lnTo>
                <a:lnTo>
                  <a:pt x="2535465" y="112805"/>
                </a:lnTo>
                <a:lnTo>
                  <a:pt x="2503148" y="80487"/>
                </a:lnTo>
                <a:lnTo>
                  <a:pt x="2466628" y="52888"/>
                </a:lnTo>
                <a:lnTo>
                  <a:pt x="2426423" y="30523"/>
                </a:lnTo>
                <a:lnTo>
                  <a:pt x="2383047" y="13910"/>
                </a:lnTo>
                <a:lnTo>
                  <a:pt x="2337018" y="3563"/>
                </a:lnTo>
                <a:lnTo>
                  <a:pt x="2288851" y="0"/>
                </a:lnTo>
                <a:close/>
              </a:path>
            </a:pathLst>
          </a:custGeom>
          <a:solidFill>
            <a:srgbClr val="F28B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9116" y="7215099"/>
            <a:ext cx="2360295" cy="654685"/>
          </a:xfrm>
          <a:custGeom>
            <a:avLst/>
            <a:gdLst/>
            <a:ahLst/>
            <a:cxnLst/>
            <a:rect l="l" t="t" r="r" b="b"/>
            <a:pathLst>
              <a:path w="2360294" h="654684">
                <a:moveTo>
                  <a:pt x="2032597" y="0"/>
                </a:moveTo>
                <a:lnTo>
                  <a:pt x="327110" y="0"/>
                </a:lnTo>
                <a:lnTo>
                  <a:pt x="278940" y="3563"/>
                </a:lnTo>
                <a:lnTo>
                  <a:pt x="232909" y="13910"/>
                </a:lnTo>
                <a:lnTo>
                  <a:pt x="189532" y="30523"/>
                </a:lnTo>
                <a:lnTo>
                  <a:pt x="149325" y="52888"/>
                </a:lnTo>
                <a:lnTo>
                  <a:pt x="112805" y="80488"/>
                </a:lnTo>
                <a:lnTo>
                  <a:pt x="80487" y="112806"/>
                </a:lnTo>
                <a:lnTo>
                  <a:pt x="52888" y="149328"/>
                </a:lnTo>
                <a:lnTo>
                  <a:pt x="30523" y="189536"/>
                </a:lnTo>
                <a:lnTo>
                  <a:pt x="13910" y="232915"/>
                </a:lnTo>
                <a:lnTo>
                  <a:pt x="3563" y="278948"/>
                </a:lnTo>
                <a:lnTo>
                  <a:pt x="0" y="327120"/>
                </a:lnTo>
                <a:lnTo>
                  <a:pt x="3563" y="375287"/>
                </a:lnTo>
                <a:lnTo>
                  <a:pt x="13910" y="421317"/>
                </a:lnTo>
                <a:lnTo>
                  <a:pt x="30523" y="464692"/>
                </a:lnTo>
                <a:lnTo>
                  <a:pt x="52888" y="504898"/>
                </a:lnTo>
                <a:lnTo>
                  <a:pt x="80487" y="541417"/>
                </a:lnTo>
                <a:lnTo>
                  <a:pt x="112805" y="573734"/>
                </a:lnTo>
                <a:lnTo>
                  <a:pt x="149325" y="601333"/>
                </a:lnTo>
                <a:lnTo>
                  <a:pt x="189532" y="623697"/>
                </a:lnTo>
                <a:lnTo>
                  <a:pt x="232909" y="640310"/>
                </a:lnTo>
                <a:lnTo>
                  <a:pt x="278940" y="650657"/>
                </a:lnTo>
                <a:lnTo>
                  <a:pt x="327110" y="654220"/>
                </a:lnTo>
                <a:lnTo>
                  <a:pt x="2032597" y="654220"/>
                </a:lnTo>
                <a:lnTo>
                  <a:pt x="2080764" y="650657"/>
                </a:lnTo>
                <a:lnTo>
                  <a:pt x="2126793" y="640310"/>
                </a:lnTo>
                <a:lnTo>
                  <a:pt x="2170169" y="623697"/>
                </a:lnTo>
                <a:lnTo>
                  <a:pt x="2210374" y="601333"/>
                </a:lnTo>
                <a:lnTo>
                  <a:pt x="2246894" y="573734"/>
                </a:lnTo>
                <a:lnTo>
                  <a:pt x="2279211" y="541417"/>
                </a:lnTo>
                <a:lnTo>
                  <a:pt x="2306810" y="504898"/>
                </a:lnTo>
                <a:lnTo>
                  <a:pt x="2329174" y="464692"/>
                </a:lnTo>
                <a:lnTo>
                  <a:pt x="2345787" y="421317"/>
                </a:lnTo>
                <a:lnTo>
                  <a:pt x="2356134" y="375287"/>
                </a:lnTo>
                <a:lnTo>
                  <a:pt x="2359697" y="327120"/>
                </a:lnTo>
                <a:lnTo>
                  <a:pt x="2356134" y="278948"/>
                </a:lnTo>
                <a:lnTo>
                  <a:pt x="2345787" y="232915"/>
                </a:lnTo>
                <a:lnTo>
                  <a:pt x="2329174" y="189536"/>
                </a:lnTo>
                <a:lnTo>
                  <a:pt x="2306810" y="149328"/>
                </a:lnTo>
                <a:lnTo>
                  <a:pt x="2279211" y="112806"/>
                </a:lnTo>
                <a:lnTo>
                  <a:pt x="2246894" y="80488"/>
                </a:lnTo>
                <a:lnTo>
                  <a:pt x="2210374" y="52888"/>
                </a:lnTo>
                <a:lnTo>
                  <a:pt x="2170169" y="30523"/>
                </a:lnTo>
                <a:lnTo>
                  <a:pt x="2126793" y="13910"/>
                </a:lnTo>
                <a:lnTo>
                  <a:pt x="2080764" y="3563"/>
                </a:lnTo>
                <a:lnTo>
                  <a:pt x="2032597" y="0"/>
                </a:lnTo>
                <a:close/>
              </a:path>
            </a:pathLst>
          </a:custGeom>
          <a:solidFill>
            <a:srgbClr val="F6AE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089116" y="8012733"/>
            <a:ext cx="1944370" cy="654685"/>
          </a:xfrm>
          <a:custGeom>
            <a:avLst/>
            <a:gdLst/>
            <a:ahLst/>
            <a:cxnLst/>
            <a:rect l="l" t="t" r="r" b="b"/>
            <a:pathLst>
              <a:path w="1944369" h="654684">
                <a:moveTo>
                  <a:pt x="1616641" y="0"/>
                </a:moveTo>
                <a:lnTo>
                  <a:pt x="327110" y="0"/>
                </a:lnTo>
                <a:lnTo>
                  <a:pt x="278940" y="3563"/>
                </a:lnTo>
                <a:lnTo>
                  <a:pt x="232909" y="13910"/>
                </a:lnTo>
                <a:lnTo>
                  <a:pt x="189532" y="30523"/>
                </a:lnTo>
                <a:lnTo>
                  <a:pt x="149325" y="52888"/>
                </a:lnTo>
                <a:lnTo>
                  <a:pt x="112805" y="80488"/>
                </a:lnTo>
                <a:lnTo>
                  <a:pt x="80487" y="112806"/>
                </a:lnTo>
                <a:lnTo>
                  <a:pt x="52888" y="149328"/>
                </a:lnTo>
                <a:lnTo>
                  <a:pt x="30523" y="189536"/>
                </a:lnTo>
                <a:lnTo>
                  <a:pt x="13910" y="232915"/>
                </a:lnTo>
                <a:lnTo>
                  <a:pt x="3563" y="278948"/>
                </a:lnTo>
                <a:lnTo>
                  <a:pt x="0" y="327120"/>
                </a:lnTo>
                <a:lnTo>
                  <a:pt x="3563" y="375287"/>
                </a:lnTo>
                <a:lnTo>
                  <a:pt x="13910" y="421317"/>
                </a:lnTo>
                <a:lnTo>
                  <a:pt x="30523" y="464692"/>
                </a:lnTo>
                <a:lnTo>
                  <a:pt x="52888" y="504898"/>
                </a:lnTo>
                <a:lnTo>
                  <a:pt x="80487" y="541417"/>
                </a:lnTo>
                <a:lnTo>
                  <a:pt x="112805" y="573734"/>
                </a:lnTo>
                <a:lnTo>
                  <a:pt x="149325" y="601333"/>
                </a:lnTo>
                <a:lnTo>
                  <a:pt x="189532" y="623697"/>
                </a:lnTo>
                <a:lnTo>
                  <a:pt x="232909" y="640310"/>
                </a:lnTo>
                <a:lnTo>
                  <a:pt x="278940" y="650657"/>
                </a:lnTo>
                <a:lnTo>
                  <a:pt x="327110" y="654220"/>
                </a:lnTo>
                <a:lnTo>
                  <a:pt x="1616641" y="654220"/>
                </a:lnTo>
                <a:lnTo>
                  <a:pt x="1664811" y="650657"/>
                </a:lnTo>
                <a:lnTo>
                  <a:pt x="1710841" y="640310"/>
                </a:lnTo>
                <a:lnTo>
                  <a:pt x="1754218" y="623697"/>
                </a:lnTo>
                <a:lnTo>
                  <a:pt x="1794423" y="601333"/>
                </a:lnTo>
                <a:lnTo>
                  <a:pt x="1830942" y="573734"/>
                </a:lnTo>
                <a:lnTo>
                  <a:pt x="1863259" y="541417"/>
                </a:lnTo>
                <a:lnTo>
                  <a:pt x="1890856" y="504898"/>
                </a:lnTo>
                <a:lnTo>
                  <a:pt x="1913220" y="464692"/>
                </a:lnTo>
                <a:lnTo>
                  <a:pt x="1929832" y="421317"/>
                </a:lnTo>
                <a:lnTo>
                  <a:pt x="1940178" y="375287"/>
                </a:lnTo>
                <a:lnTo>
                  <a:pt x="1943741" y="327120"/>
                </a:lnTo>
                <a:lnTo>
                  <a:pt x="1940178" y="278948"/>
                </a:lnTo>
                <a:lnTo>
                  <a:pt x="1929832" y="232915"/>
                </a:lnTo>
                <a:lnTo>
                  <a:pt x="1913220" y="189536"/>
                </a:lnTo>
                <a:lnTo>
                  <a:pt x="1890856" y="149328"/>
                </a:lnTo>
                <a:lnTo>
                  <a:pt x="1863259" y="112806"/>
                </a:lnTo>
                <a:lnTo>
                  <a:pt x="1830942" y="80488"/>
                </a:lnTo>
                <a:lnTo>
                  <a:pt x="1794423" y="52888"/>
                </a:lnTo>
                <a:lnTo>
                  <a:pt x="1754218" y="30523"/>
                </a:lnTo>
                <a:lnTo>
                  <a:pt x="1710841" y="13910"/>
                </a:lnTo>
                <a:lnTo>
                  <a:pt x="1664811" y="3563"/>
                </a:lnTo>
                <a:lnTo>
                  <a:pt x="1616641" y="0"/>
                </a:lnTo>
                <a:close/>
              </a:path>
            </a:pathLst>
          </a:custGeom>
          <a:solidFill>
            <a:srgbClr val="FAD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789509" y="8807751"/>
            <a:ext cx="1254760" cy="654685"/>
          </a:xfrm>
          <a:custGeom>
            <a:avLst/>
            <a:gdLst/>
            <a:ahLst/>
            <a:cxnLst/>
            <a:rect l="l" t="t" r="r" b="b"/>
            <a:pathLst>
              <a:path w="1254759" h="654684">
                <a:moveTo>
                  <a:pt x="927312" y="0"/>
                </a:moveTo>
                <a:lnTo>
                  <a:pt x="327110" y="0"/>
                </a:lnTo>
                <a:lnTo>
                  <a:pt x="278940" y="3563"/>
                </a:lnTo>
                <a:lnTo>
                  <a:pt x="232909" y="13910"/>
                </a:lnTo>
                <a:lnTo>
                  <a:pt x="189532" y="30523"/>
                </a:lnTo>
                <a:lnTo>
                  <a:pt x="149325" y="52888"/>
                </a:lnTo>
                <a:lnTo>
                  <a:pt x="112805" y="80488"/>
                </a:lnTo>
                <a:lnTo>
                  <a:pt x="80487" y="112806"/>
                </a:lnTo>
                <a:lnTo>
                  <a:pt x="52888" y="149328"/>
                </a:lnTo>
                <a:lnTo>
                  <a:pt x="30523" y="189536"/>
                </a:lnTo>
                <a:lnTo>
                  <a:pt x="13910" y="232915"/>
                </a:lnTo>
                <a:lnTo>
                  <a:pt x="3563" y="278948"/>
                </a:lnTo>
                <a:lnTo>
                  <a:pt x="0" y="327120"/>
                </a:lnTo>
                <a:lnTo>
                  <a:pt x="3563" y="375287"/>
                </a:lnTo>
                <a:lnTo>
                  <a:pt x="13910" y="421317"/>
                </a:lnTo>
                <a:lnTo>
                  <a:pt x="30523" y="464692"/>
                </a:lnTo>
                <a:lnTo>
                  <a:pt x="52888" y="504898"/>
                </a:lnTo>
                <a:lnTo>
                  <a:pt x="80487" y="541417"/>
                </a:lnTo>
                <a:lnTo>
                  <a:pt x="112805" y="573734"/>
                </a:lnTo>
                <a:lnTo>
                  <a:pt x="149325" y="601333"/>
                </a:lnTo>
                <a:lnTo>
                  <a:pt x="189532" y="623697"/>
                </a:lnTo>
                <a:lnTo>
                  <a:pt x="232909" y="640310"/>
                </a:lnTo>
                <a:lnTo>
                  <a:pt x="278940" y="650657"/>
                </a:lnTo>
                <a:lnTo>
                  <a:pt x="327110" y="654220"/>
                </a:lnTo>
                <a:lnTo>
                  <a:pt x="927312" y="654220"/>
                </a:lnTo>
                <a:lnTo>
                  <a:pt x="975479" y="650657"/>
                </a:lnTo>
                <a:lnTo>
                  <a:pt x="1021508" y="640310"/>
                </a:lnTo>
                <a:lnTo>
                  <a:pt x="1064883" y="623697"/>
                </a:lnTo>
                <a:lnTo>
                  <a:pt x="1105089" y="601333"/>
                </a:lnTo>
                <a:lnTo>
                  <a:pt x="1141608" y="573734"/>
                </a:lnTo>
                <a:lnTo>
                  <a:pt x="1173925" y="541417"/>
                </a:lnTo>
                <a:lnTo>
                  <a:pt x="1201524" y="504898"/>
                </a:lnTo>
                <a:lnTo>
                  <a:pt x="1223888" y="464692"/>
                </a:lnTo>
                <a:lnTo>
                  <a:pt x="1240501" y="421317"/>
                </a:lnTo>
                <a:lnTo>
                  <a:pt x="1250848" y="375287"/>
                </a:lnTo>
                <a:lnTo>
                  <a:pt x="1254412" y="327120"/>
                </a:lnTo>
                <a:lnTo>
                  <a:pt x="1250848" y="278948"/>
                </a:lnTo>
                <a:lnTo>
                  <a:pt x="1240501" y="232915"/>
                </a:lnTo>
                <a:lnTo>
                  <a:pt x="1223888" y="189536"/>
                </a:lnTo>
                <a:lnTo>
                  <a:pt x="1201524" y="149328"/>
                </a:lnTo>
                <a:lnTo>
                  <a:pt x="1173925" y="112806"/>
                </a:lnTo>
                <a:lnTo>
                  <a:pt x="1141608" y="80488"/>
                </a:lnTo>
                <a:lnTo>
                  <a:pt x="1105089" y="52888"/>
                </a:lnTo>
                <a:lnTo>
                  <a:pt x="1064883" y="30523"/>
                </a:lnTo>
                <a:lnTo>
                  <a:pt x="1021508" y="13910"/>
                </a:lnTo>
                <a:lnTo>
                  <a:pt x="975479" y="3563"/>
                </a:lnTo>
                <a:lnTo>
                  <a:pt x="927312" y="0"/>
                </a:lnTo>
                <a:close/>
              </a:path>
            </a:pathLst>
          </a:custGeom>
          <a:solidFill>
            <a:srgbClr val="FCE8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131017" y="5023247"/>
            <a:ext cx="2253615" cy="2513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13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创新效率提升</a:t>
            </a: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612279" y="5676108"/>
            <a:ext cx="1884045" cy="2513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50" spc="10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员工生产力提升</a:t>
            </a: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687627" y="4084784"/>
            <a:ext cx="1889125" cy="257763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10"/>
              </a:spcBef>
            </a:pPr>
            <a:r>
              <a:rPr sz="1550" spc="11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客户体验改善</a:t>
            </a: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17209" y="6484196"/>
            <a:ext cx="1981835" cy="257763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10"/>
              </a:spcBef>
            </a:pPr>
            <a:r>
              <a:rPr sz="1550" spc="114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新产品/新服务形成</a:t>
            </a: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571449" y="7268813"/>
            <a:ext cx="2687955" cy="257763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10"/>
              </a:spcBef>
            </a:pPr>
            <a:r>
              <a:rPr sz="1550" spc="12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市场响应速度提升</a:t>
            </a: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563839" y="2795736"/>
            <a:ext cx="3429000" cy="7117715"/>
            <a:chOff x="11172434" y="2795736"/>
            <a:chExt cx="3429000" cy="711771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72434" y="2795736"/>
              <a:ext cx="3428586" cy="711746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1172434" y="2795736"/>
              <a:ext cx="3122930" cy="7117715"/>
            </a:xfrm>
            <a:custGeom>
              <a:avLst/>
              <a:gdLst/>
              <a:ahLst/>
              <a:cxnLst/>
              <a:rect l="l" t="t" r="r" b="b"/>
              <a:pathLst>
                <a:path w="3122930" h="7117715">
                  <a:moveTo>
                    <a:pt x="3122632" y="0"/>
                  </a:moveTo>
                  <a:lnTo>
                    <a:pt x="0" y="0"/>
                  </a:lnTo>
                  <a:lnTo>
                    <a:pt x="0" y="7117469"/>
                  </a:lnTo>
                  <a:lnTo>
                    <a:pt x="762768" y="7117469"/>
                  </a:lnTo>
                  <a:lnTo>
                    <a:pt x="855298" y="7115268"/>
                  </a:lnTo>
                  <a:lnTo>
                    <a:pt x="868961" y="7111078"/>
                  </a:lnTo>
                  <a:lnTo>
                    <a:pt x="31226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4156302" y="8094971"/>
            <a:ext cx="1839595" cy="257763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10"/>
              </a:spcBef>
            </a:pPr>
            <a:r>
              <a:rPr sz="1550" spc="11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运营效率提升</a:t>
            </a: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173066" y="8905623"/>
            <a:ext cx="2239645" cy="257763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10"/>
              </a:spcBef>
            </a:pPr>
            <a:r>
              <a:rPr sz="1550" spc="12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管理决策质量提升</a:t>
            </a: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278132" y="3247925"/>
            <a:ext cx="1078348" cy="415498"/>
          </a:xfrm>
          <a:prstGeom prst="rect">
            <a:avLst/>
          </a:prstGeom>
        </p:spPr>
        <p:txBody>
          <a:bodyPr vert="horz" wrap="square" lIns="0" tIns="167640" rIns="0" bIns="0" rtlCol="0" anchor="ctr" anchorCtr="1">
            <a:spAutoFit/>
          </a:bodyPr>
          <a:lstStyle/>
          <a:p>
            <a:pPr marL="182880">
              <a:lnSpc>
                <a:spcPct val="100000"/>
              </a:lnSpc>
              <a:spcBef>
                <a:spcPts val="1320"/>
              </a:spcBef>
            </a:pPr>
            <a:r>
              <a:rPr sz="1600" spc="240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60%+</a:t>
            </a:r>
            <a:endParaRPr sz="1600" dirty="0">
              <a:latin typeface="MiSans Semibold" pitchFamily="2" charset="-128"/>
              <a:ea typeface="MiSans Semibold" pitchFamily="2" charset="-128"/>
              <a:cs typeface="MiSans Semibold" pitchFamily="2" charset="-128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592717" y="3289217"/>
            <a:ext cx="2093595" cy="4991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50" spc="12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30%+
持续提升</a:t>
            </a: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210710" y="2795727"/>
            <a:ext cx="2827655" cy="7115175"/>
            <a:chOff x="11819305" y="2795727"/>
            <a:chExt cx="2827655" cy="711517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73730" y="2795727"/>
              <a:ext cx="672608" cy="42817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19305" y="9497050"/>
              <a:ext cx="694293" cy="413442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0" y="-10"/>
            <a:ext cx="6911340" cy="11308715"/>
            <a:chOff x="0" y="-10"/>
            <a:chExt cx="6911340" cy="11308715"/>
          </a:xfrm>
        </p:grpSpPr>
        <p:sp>
          <p:nvSpPr>
            <p:cNvPr id="27" name="object 27"/>
            <p:cNvSpPr/>
            <p:nvPr/>
          </p:nvSpPr>
          <p:spPr>
            <a:xfrm>
              <a:off x="0" y="0"/>
              <a:ext cx="6911340" cy="11308715"/>
            </a:xfrm>
            <a:custGeom>
              <a:avLst/>
              <a:gdLst/>
              <a:ahLst/>
              <a:cxnLst/>
              <a:rect l="l" t="t" r="r" b="b"/>
              <a:pathLst>
                <a:path w="6911340" h="11308715">
                  <a:moveTo>
                    <a:pt x="6910784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6910784" y="11308556"/>
                  </a:lnTo>
                  <a:lnTo>
                    <a:pt x="6910784" y="0"/>
                  </a:lnTo>
                  <a:close/>
                </a:path>
              </a:pathLst>
            </a:custGeom>
            <a:solidFill>
              <a:srgbClr val="EA43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-10"/>
              <a:ext cx="6910784" cy="721585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4418713"/>
              <a:ext cx="6910784" cy="6889842"/>
            </a:xfrm>
            <a:prstGeom prst="rect">
              <a:avLst/>
            </a:prstGeom>
          </p:spPr>
        </p:pic>
      </p:grp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824970" y="806117"/>
            <a:ext cx="4834150" cy="646331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spcBef>
                <a:spcPts val="910"/>
              </a:spcBef>
            </a:pPr>
            <a:r>
              <a:rPr sz="4000" b="1" spc="260" dirty="0">
                <a:solidFill>
                  <a:srgbClr val="FFFFFF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Step </a:t>
            </a:r>
            <a:r>
              <a:rPr lang="en-US" altLang="zh-CN" sz="4000" b="1" spc="260" dirty="0">
                <a:solidFill>
                  <a:srgbClr val="FFFFFF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4</a:t>
            </a:r>
            <a:r>
              <a:rPr sz="4000" b="1" spc="260" dirty="0">
                <a:solidFill>
                  <a:srgbClr val="FFFFFF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 of 10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7417170" y="2063022"/>
            <a:ext cx="3829685" cy="859831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>
              <a:lnSpc>
                <a:spcPct val="106400"/>
              </a:lnSpc>
              <a:spcBef>
                <a:spcPts val="90"/>
              </a:spcBef>
            </a:pPr>
            <a:r>
              <a:rPr sz="3100" spc="18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首个场景必须有清晰的价值假设：节省多少时间、提升多少命中率、降低多少返工、改善哪些体验。AI 产品 3.0 的收益来自直接效率、质量提升、体验改善，以及能力复用后带来的规模价值。
建议保留人在回路中，先用可解释、可审核的方式证明价值，再逐步扩大自动化范围。</a:t>
            </a:r>
            <a:endParaRPr sz="3100" dirty="0">
              <a:latin typeface="MiSans Medium" pitchFamily="2" charset="-128"/>
              <a:cs typeface="MiSans Medium" pitchFamily="2" charset="-128"/>
            </a:endParaRPr>
          </a:p>
          <a:p>
            <a:pPr marL="38100" marR="162560">
              <a:lnSpc>
                <a:spcPct val="129700"/>
              </a:lnSpc>
              <a:spcBef>
                <a:spcPts val="2220"/>
              </a:spcBef>
            </a:pP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38100" marR="294640">
              <a:lnSpc>
                <a:spcPct val="129700"/>
              </a:lnSpc>
              <a:spcBef>
                <a:spcPts val="1235"/>
              </a:spcBef>
            </a:pPr>
            <a:endParaRPr sz="1575" baseline="31746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895671" y="2275717"/>
            <a:ext cx="4342690" cy="3418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0600"/>
              </a:lnSpc>
              <a:spcBef>
                <a:spcPts val="95"/>
              </a:spcBef>
            </a:pPr>
            <a:r>
              <a:rPr sz="2050" b="1" spc="200" dirty="0">
                <a:solidFill>
                  <a:srgbClr val="20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AI 产品 3.0 可衡量的价值方向</a:t>
            </a:r>
            <a:endParaRPr sz="2050" b="1" dirty="0">
              <a:latin typeface="MiSans" pitchFamily="2" charset="-128"/>
              <a:ea typeface="MiSans" pitchFamily="2" charset="-128"/>
              <a:cs typeface="MiSans" pitchFamily="2" charset="-128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0" y="0"/>
            <a:ext cx="125730" cy="11308715"/>
            <a:chOff x="0" y="0"/>
            <a:chExt cx="125730" cy="11308715"/>
          </a:xfrm>
        </p:grpSpPr>
        <p:sp>
          <p:nvSpPr>
            <p:cNvPr id="35" name="object 35"/>
            <p:cNvSpPr/>
            <p:nvPr/>
          </p:nvSpPr>
          <p:spPr>
            <a:xfrm>
              <a:off x="0" y="5"/>
              <a:ext cx="125730" cy="3392804"/>
            </a:xfrm>
            <a:custGeom>
              <a:avLst/>
              <a:gdLst/>
              <a:ahLst/>
              <a:cxnLst/>
              <a:rect l="l" t="t" r="r" b="b"/>
              <a:pathLst>
                <a:path w="125730" h="3392804">
                  <a:moveTo>
                    <a:pt x="125641" y="2261705"/>
                  </a:moveTo>
                  <a:lnTo>
                    <a:pt x="0" y="2261705"/>
                  </a:lnTo>
                  <a:lnTo>
                    <a:pt x="0" y="3392563"/>
                  </a:lnTo>
                  <a:lnTo>
                    <a:pt x="125641" y="3392563"/>
                  </a:lnTo>
                  <a:lnTo>
                    <a:pt x="125641" y="2261705"/>
                  </a:lnTo>
                  <a:close/>
                </a:path>
                <a:path w="125730" h="3392804">
                  <a:moveTo>
                    <a:pt x="125641" y="0"/>
                  </a:moveTo>
                  <a:lnTo>
                    <a:pt x="0" y="0"/>
                  </a:lnTo>
                  <a:lnTo>
                    <a:pt x="0" y="1130858"/>
                  </a:lnTo>
                  <a:lnTo>
                    <a:pt x="125641" y="1130858"/>
                  </a:lnTo>
                  <a:lnTo>
                    <a:pt x="125641" y="0"/>
                  </a:lnTo>
                  <a:close/>
                </a:path>
              </a:pathLst>
            </a:custGeom>
            <a:solidFill>
              <a:srgbClr val="A50E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0" y="4523422"/>
              <a:ext cx="125730" cy="1130935"/>
            </a:xfrm>
            <a:custGeom>
              <a:avLst/>
              <a:gdLst/>
              <a:ahLst/>
              <a:cxnLst/>
              <a:rect l="l" t="t" r="r" b="b"/>
              <a:pathLst>
                <a:path w="125730" h="1130935">
                  <a:moveTo>
                    <a:pt x="0" y="1130855"/>
                  </a:moveTo>
                  <a:lnTo>
                    <a:pt x="125650" y="1130855"/>
                  </a:lnTo>
                  <a:lnTo>
                    <a:pt x="125650" y="0"/>
                  </a:lnTo>
                  <a:lnTo>
                    <a:pt x="0" y="0"/>
                  </a:lnTo>
                  <a:lnTo>
                    <a:pt x="0" y="11308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0" y="1130864"/>
              <a:ext cx="125730" cy="10177780"/>
            </a:xfrm>
            <a:custGeom>
              <a:avLst/>
              <a:gdLst/>
              <a:ahLst/>
              <a:cxnLst/>
              <a:rect l="l" t="t" r="r" b="b"/>
              <a:pathLst>
                <a:path w="125730" h="10177780">
                  <a:moveTo>
                    <a:pt x="125641" y="4523422"/>
                  </a:moveTo>
                  <a:lnTo>
                    <a:pt x="0" y="4523422"/>
                  </a:lnTo>
                  <a:lnTo>
                    <a:pt x="0" y="5654268"/>
                  </a:lnTo>
                  <a:lnTo>
                    <a:pt x="0" y="6785127"/>
                  </a:lnTo>
                  <a:lnTo>
                    <a:pt x="0" y="7915986"/>
                  </a:lnTo>
                  <a:lnTo>
                    <a:pt x="0" y="9046845"/>
                  </a:lnTo>
                  <a:lnTo>
                    <a:pt x="0" y="10177691"/>
                  </a:lnTo>
                  <a:lnTo>
                    <a:pt x="125641" y="10177691"/>
                  </a:lnTo>
                  <a:lnTo>
                    <a:pt x="125641" y="5654268"/>
                  </a:lnTo>
                  <a:lnTo>
                    <a:pt x="125641" y="4523422"/>
                  </a:lnTo>
                  <a:close/>
                </a:path>
                <a:path w="125730" h="10177780">
                  <a:moveTo>
                    <a:pt x="125641" y="2261705"/>
                  </a:moveTo>
                  <a:lnTo>
                    <a:pt x="0" y="2261705"/>
                  </a:lnTo>
                  <a:lnTo>
                    <a:pt x="0" y="3392563"/>
                  </a:lnTo>
                  <a:lnTo>
                    <a:pt x="125641" y="3392563"/>
                  </a:lnTo>
                  <a:lnTo>
                    <a:pt x="125641" y="2261705"/>
                  </a:lnTo>
                  <a:close/>
                </a:path>
                <a:path w="125730" h="10177780">
                  <a:moveTo>
                    <a:pt x="125641" y="0"/>
                  </a:moveTo>
                  <a:lnTo>
                    <a:pt x="0" y="0"/>
                  </a:lnTo>
                  <a:lnTo>
                    <a:pt x="0" y="1130858"/>
                  </a:lnTo>
                  <a:lnTo>
                    <a:pt x="125641" y="1130858"/>
                  </a:lnTo>
                  <a:lnTo>
                    <a:pt x="125641" y="0"/>
                  </a:lnTo>
                  <a:close/>
                </a:path>
              </a:pathLst>
            </a:custGeom>
            <a:solidFill>
              <a:srgbClr val="A50E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442570" y="10699452"/>
            <a:ext cx="3140710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spc="-20" dirty="0">
                <a:solidFill>
                  <a:srgbClr val="5F6368"/>
                </a:solidFill>
                <a:latin typeface="Tahoma"/>
                <a:cs typeface="Tahoma"/>
              </a:rPr>
              <a:t>目标区间基于试点设定，需在上线后按真实数据校准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39" name="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551239" y="349922"/>
            <a:ext cx="162801" cy="138383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9508385" y="10714301"/>
            <a:ext cx="17208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-25" dirty="0">
                <a:solidFill>
                  <a:srgbClr val="BDC1C6"/>
                </a:solidFill>
                <a:latin typeface="MiSans Medium" pitchFamily="2" charset="-128"/>
                <a:cs typeface="MiSans Medium" pitchFamily="2" charset="-128"/>
              </a:rPr>
              <a:t>15</a:t>
            </a:r>
            <a:endParaRPr sz="1200" dirty="0">
              <a:latin typeface="MiSans Medium" pitchFamily="2" charset="-128"/>
              <a:cs typeface="MiSans Medium" pitchFamily="2" charset="-128"/>
            </a:endParaRPr>
          </a:p>
        </p:txBody>
      </p:sp>
      <p:pic>
        <p:nvPicPr>
          <p:cNvPr id="41" name="object 4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345174" y="10760882"/>
            <a:ext cx="868897" cy="153838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14881122" y="328209"/>
            <a:ext cx="4537710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solidFill>
                  <a:srgbClr val="BDC1C6"/>
                </a:solidFill>
                <a:latin typeface="Tahoma"/>
                <a:cs typeface="Tahoma"/>
              </a:rPr>
              <a:t>AI 产品 3.0 | 能力架构与迭代推导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3" name="object 7">
            <a:extLst>
              <a:ext uri="{FF2B5EF4-FFF2-40B4-BE49-F238E27FC236}">
                <a16:creationId xmlns:a16="http://schemas.microsoft.com/office/drawing/2014/main" id="{42F293CC-DFE0-1472-A1FF-9B59277CA493}"/>
              </a:ext>
            </a:extLst>
          </p:cNvPr>
          <p:cNvSpPr txBox="1"/>
          <p:nvPr/>
        </p:nvSpPr>
        <p:spPr>
          <a:xfrm>
            <a:off x="824970" y="1763215"/>
            <a:ext cx="5593715" cy="5764399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>
            <a:defPPr>
              <a:defRPr kern="0"/>
            </a:defPPr>
            <a:lvl1pPr marL="12700" marR="8890">
              <a:spcBef>
                <a:spcPts val="1750"/>
              </a:spcBef>
              <a:defRPr sz="6600" spc="295">
                <a:solidFill>
                  <a:srgbClr val="FFFFFF"/>
                </a:solidFill>
                <a:latin typeface="MiSans Medium" pitchFamily="2" charset="-128"/>
                <a:cs typeface="MiSans Medium" pitchFamily="2" charset="-128"/>
              </a:defRPr>
            </a:lvl1pPr>
          </a:lstStyle>
          <a:p>
            <a:r>
              <a:rPr lang="zh-CN" altLang="en-US" dirty="0"/>
              <a:t>明确目标、价值假设与输出结果</a:t>
            </a:r>
          </a:p>
          <a:p>
            <a:endParaRPr dirty="0"/>
          </a:p>
          <a:p>
            <a:endParaRPr dirty="0"/>
          </a:p>
        </p:txBody>
      </p:sp>
      <p:sp>
        <p:nvSpPr>
          <p:cNvPr id="45" name="object 21">
            <a:extLst>
              <a:ext uri="{FF2B5EF4-FFF2-40B4-BE49-F238E27FC236}">
                <a16:creationId xmlns:a16="http://schemas.microsoft.com/office/drawing/2014/main" id="{CFAEC979-C9B5-66F5-406F-9336B7705EED}"/>
              </a:ext>
            </a:extLst>
          </p:cNvPr>
          <p:cNvSpPr txBox="1"/>
          <p:nvPr/>
        </p:nvSpPr>
        <p:spPr>
          <a:xfrm>
            <a:off x="12738958" y="4929968"/>
            <a:ext cx="1078348" cy="415498"/>
          </a:xfrm>
          <a:prstGeom prst="rect">
            <a:avLst/>
          </a:prstGeom>
        </p:spPr>
        <p:txBody>
          <a:bodyPr vert="horz" wrap="square" lIns="0" tIns="167640" rIns="0" bIns="0" rtlCol="0" anchor="ctr" anchorCtr="1">
            <a:spAutoFit/>
          </a:bodyPr>
          <a:lstStyle/>
          <a:p>
            <a:pPr marL="182880">
              <a:lnSpc>
                <a:spcPct val="100000"/>
              </a:lnSpc>
              <a:spcBef>
                <a:spcPts val="1320"/>
              </a:spcBef>
            </a:pPr>
            <a:r>
              <a:rPr lang="en-US" altLang="zh-CN" sz="1600" spc="240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5</a:t>
            </a:r>
            <a:r>
              <a:rPr sz="1600" spc="240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0%+</a:t>
            </a:r>
            <a:endParaRPr sz="1600" dirty="0">
              <a:latin typeface="MiSans Semibold" pitchFamily="2" charset="-128"/>
              <a:ea typeface="MiSans Semibold" pitchFamily="2" charset="-128"/>
              <a:cs typeface="MiSans Semibold" pitchFamily="2" charset="-128"/>
            </a:endParaRPr>
          </a:p>
        </p:txBody>
      </p:sp>
      <p:sp>
        <p:nvSpPr>
          <p:cNvPr id="46" name="object 21">
            <a:extLst>
              <a:ext uri="{FF2B5EF4-FFF2-40B4-BE49-F238E27FC236}">
                <a16:creationId xmlns:a16="http://schemas.microsoft.com/office/drawing/2014/main" id="{0247538C-38DC-4F30-C70A-701925D82B7D}"/>
              </a:ext>
            </a:extLst>
          </p:cNvPr>
          <p:cNvSpPr txBox="1"/>
          <p:nvPr/>
        </p:nvSpPr>
        <p:spPr>
          <a:xfrm>
            <a:off x="12955138" y="4117031"/>
            <a:ext cx="1078348" cy="415498"/>
          </a:xfrm>
          <a:prstGeom prst="rect">
            <a:avLst/>
          </a:prstGeom>
        </p:spPr>
        <p:txBody>
          <a:bodyPr vert="horz" wrap="square" lIns="0" tIns="167640" rIns="0" bIns="0" rtlCol="0" anchor="ctr" anchorCtr="1">
            <a:spAutoFit/>
          </a:bodyPr>
          <a:lstStyle/>
          <a:p>
            <a:pPr marL="182880">
              <a:lnSpc>
                <a:spcPct val="100000"/>
              </a:lnSpc>
              <a:spcBef>
                <a:spcPts val="1320"/>
              </a:spcBef>
            </a:pPr>
            <a:r>
              <a:rPr lang="en-US" altLang="zh-CN" sz="1600" spc="240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55</a:t>
            </a:r>
            <a:r>
              <a:rPr sz="1600" spc="240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%+</a:t>
            </a:r>
            <a:endParaRPr sz="1600" dirty="0">
              <a:latin typeface="MiSans Semibold" pitchFamily="2" charset="-128"/>
              <a:ea typeface="MiSans Semibold" pitchFamily="2" charset="-128"/>
              <a:cs typeface="MiSans Semibold" pitchFamily="2" charset="-128"/>
            </a:endParaRPr>
          </a:p>
        </p:txBody>
      </p:sp>
      <p:sp>
        <p:nvSpPr>
          <p:cNvPr id="47" name="object 21">
            <a:extLst>
              <a:ext uri="{FF2B5EF4-FFF2-40B4-BE49-F238E27FC236}">
                <a16:creationId xmlns:a16="http://schemas.microsoft.com/office/drawing/2014/main" id="{0DD27F9E-B05E-706C-0357-B0F93EC5D005}"/>
              </a:ext>
            </a:extLst>
          </p:cNvPr>
          <p:cNvSpPr txBox="1"/>
          <p:nvPr/>
        </p:nvSpPr>
        <p:spPr>
          <a:xfrm>
            <a:off x="12447410" y="5711846"/>
            <a:ext cx="1078348" cy="415498"/>
          </a:xfrm>
          <a:prstGeom prst="rect">
            <a:avLst/>
          </a:prstGeom>
        </p:spPr>
        <p:txBody>
          <a:bodyPr vert="horz" wrap="square" lIns="0" tIns="167640" rIns="0" bIns="0" rtlCol="0" anchor="ctr" anchorCtr="1">
            <a:spAutoFit/>
          </a:bodyPr>
          <a:lstStyle/>
          <a:p>
            <a:pPr marL="182880">
              <a:lnSpc>
                <a:spcPct val="100000"/>
              </a:lnSpc>
              <a:spcBef>
                <a:spcPts val="1320"/>
              </a:spcBef>
            </a:pPr>
            <a:r>
              <a:rPr lang="en-US" altLang="zh-CN" sz="1600" spc="240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45</a:t>
            </a:r>
            <a:r>
              <a:rPr sz="1600" spc="240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%+</a:t>
            </a:r>
            <a:endParaRPr sz="1600" dirty="0">
              <a:latin typeface="MiSans Semibold" pitchFamily="2" charset="-128"/>
              <a:ea typeface="MiSans Semibold" pitchFamily="2" charset="-128"/>
              <a:cs typeface="MiSans Semibold" pitchFamily="2" charset="-128"/>
            </a:endParaRPr>
          </a:p>
        </p:txBody>
      </p:sp>
      <p:sp>
        <p:nvSpPr>
          <p:cNvPr id="51" name="object 21">
            <a:extLst>
              <a:ext uri="{FF2B5EF4-FFF2-40B4-BE49-F238E27FC236}">
                <a16:creationId xmlns:a16="http://schemas.microsoft.com/office/drawing/2014/main" id="{E91D6308-41C3-9C49-D91D-870AA1E92313}"/>
              </a:ext>
            </a:extLst>
          </p:cNvPr>
          <p:cNvSpPr txBox="1"/>
          <p:nvPr/>
        </p:nvSpPr>
        <p:spPr>
          <a:xfrm>
            <a:off x="12171439" y="6506976"/>
            <a:ext cx="1078348" cy="415498"/>
          </a:xfrm>
          <a:prstGeom prst="rect">
            <a:avLst/>
          </a:prstGeom>
        </p:spPr>
        <p:txBody>
          <a:bodyPr vert="horz" wrap="square" lIns="0" tIns="167640" rIns="0" bIns="0" rtlCol="0" anchor="ctr" anchorCtr="1">
            <a:spAutoFit/>
          </a:bodyPr>
          <a:lstStyle/>
          <a:p>
            <a:pPr marL="182880">
              <a:lnSpc>
                <a:spcPct val="100000"/>
              </a:lnSpc>
              <a:spcBef>
                <a:spcPts val="1320"/>
              </a:spcBef>
            </a:pPr>
            <a:r>
              <a:rPr lang="en-US" altLang="zh-CN" sz="1600" spc="240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40</a:t>
            </a:r>
            <a:r>
              <a:rPr sz="1600" spc="240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%+</a:t>
            </a:r>
            <a:endParaRPr sz="1600" dirty="0">
              <a:latin typeface="MiSans Semibold" pitchFamily="2" charset="-128"/>
              <a:ea typeface="MiSans Semibold" pitchFamily="2" charset="-128"/>
              <a:cs typeface="MiSans Semibold" pitchFamily="2" charset="-128"/>
            </a:endParaRPr>
          </a:p>
        </p:txBody>
      </p:sp>
      <p:sp>
        <p:nvSpPr>
          <p:cNvPr id="52" name="object 21">
            <a:extLst>
              <a:ext uri="{FF2B5EF4-FFF2-40B4-BE49-F238E27FC236}">
                <a16:creationId xmlns:a16="http://schemas.microsoft.com/office/drawing/2014/main" id="{E99FBFCD-14B2-14D2-F8EF-9C943BAE53B6}"/>
              </a:ext>
            </a:extLst>
          </p:cNvPr>
          <p:cNvSpPr txBox="1"/>
          <p:nvPr/>
        </p:nvSpPr>
        <p:spPr>
          <a:xfrm>
            <a:off x="11930575" y="7315358"/>
            <a:ext cx="1078348" cy="415498"/>
          </a:xfrm>
          <a:prstGeom prst="rect">
            <a:avLst/>
          </a:prstGeom>
        </p:spPr>
        <p:txBody>
          <a:bodyPr vert="horz" wrap="square" lIns="0" tIns="167640" rIns="0" bIns="0" rtlCol="0" anchor="ctr" anchorCtr="1">
            <a:spAutoFit/>
          </a:bodyPr>
          <a:lstStyle/>
          <a:p>
            <a:pPr marL="182880">
              <a:lnSpc>
                <a:spcPct val="100000"/>
              </a:lnSpc>
              <a:spcBef>
                <a:spcPts val="1320"/>
              </a:spcBef>
            </a:pPr>
            <a:r>
              <a:rPr lang="en-US" altLang="zh-CN" sz="1600" spc="240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35</a:t>
            </a:r>
            <a:r>
              <a:rPr sz="1600" spc="240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%+</a:t>
            </a:r>
            <a:endParaRPr sz="1600" dirty="0">
              <a:latin typeface="MiSans Semibold" pitchFamily="2" charset="-128"/>
              <a:ea typeface="MiSans Semibold" pitchFamily="2" charset="-128"/>
              <a:cs typeface="MiSans Semibold" pitchFamily="2" charset="-128"/>
            </a:endParaRPr>
          </a:p>
        </p:txBody>
      </p:sp>
      <p:sp>
        <p:nvSpPr>
          <p:cNvPr id="53" name="object 21">
            <a:extLst>
              <a:ext uri="{FF2B5EF4-FFF2-40B4-BE49-F238E27FC236}">
                <a16:creationId xmlns:a16="http://schemas.microsoft.com/office/drawing/2014/main" id="{1D42BF6F-2C2E-CC90-FCAB-1B5F78734019}"/>
              </a:ext>
            </a:extLst>
          </p:cNvPr>
          <p:cNvSpPr txBox="1"/>
          <p:nvPr/>
        </p:nvSpPr>
        <p:spPr>
          <a:xfrm>
            <a:off x="11678784" y="8097236"/>
            <a:ext cx="1078348" cy="415498"/>
          </a:xfrm>
          <a:prstGeom prst="rect">
            <a:avLst/>
          </a:prstGeom>
        </p:spPr>
        <p:txBody>
          <a:bodyPr vert="horz" wrap="square" lIns="0" tIns="167640" rIns="0" bIns="0" rtlCol="0" anchor="ctr" anchorCtr="1">
            <a:spAutoFit/>
          </a:bodyPr>
          <a:lstStyle/>
          <a:p>
            <a:pPr marL="182880">
              <a:lnSpc>
                <a:spcPct val="100000"/>
              </a:lnSpc>
              <a:spcBef>
                <a:spcPts val="1320"/>
              </a:spcBef>
            </a:pPr>
            <a:r>
              <a:rPr lang="en-US" altLang="zh-CN" sz="1600" spc="240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30</a:t>
            </a:r>
            <a:r>
              <a:rPr sz="1600" spc="240" dirty="0">
                <a:solidFill>
                  <a:srgbClr val="202124"/>
                </a:solidFill>
                <a:latin typeface="MiSans Semibold" pitchFamily="2" charset="-128"/>
                <a:ea typeface="MiSans Semibold" pitchFamily="2" charset="-128"/>
                <a:cs typeface="MiSans Semibold" pitchFamily="2" charset="-128"/>
              </a:rPr>
              <a:t>%+</a:t>
            </a:r>
            <a:endParaRPr sz="1600" dirty="0">
              <a:latin typeface="MiSans Semibold" pitchFamily="2" charset="-128"/>
              <a:ea typeface="MiSans Semibold" pitchFamily="2" charset="-128"/>
              <a:cs typeface="MiSans Semibold" pitchFamily="2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643121" y="0"/>
            <a:ext cx="7461250" cy="11308715"/>
            <a:chOff x="12643121" y="0"/>
            <a:chExt cx="746125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43121" y="0"/>
              <a:ext cx="7460978" cy="779651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23675" y="1287918"/>
              <a:ext cx="6680424" cy="10020637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0" y="0"/>
            <a:ext cx="6911340" cy="11308715"/>
            <a:chOff x="0" y="0"/>
            <a:chExt cx="6911340" cy="11308715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6911340" cy="11308715"/>
            </a:xfrm>
            <a:custGeom>
              <a:avLst/>
              <a:gdLst/>
              <a:ahLst/>
              <a:cxnLst/>
              <a:rect l="l" t="t" r="r" b="b"/>
              <a:pathLst>
                <a:path w="6911340" h="11308715">
                  <a:moveTo>
                    <a:pt x="6910784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6910784" y="11308556"/>
                  </a:lnTo>
                  <a:lnTo>
                    <a:pt x="6910784" y="0"/>
                  </a:lnTo>
                  <a:close/>
                </a:path>
              </a:pathLst>
            </a:custGeom>
            <a:solidFill>
              <a:srgbClr val="DADC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926582"/>
              <a:ext cx="6910784" cy="738197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24970" y="806117"/>
            <a:ext cx="5032541" cy="646331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spcBef>
                <a:spcPts val="910"/>
              </a:spcBef>
            </a:pPr>
            <a:r>
              <a:rPr sz="4000" b="1" spc="260" dirty="0">
                <a:solidFill>
                  <a:srgbClr val="1F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Step </a:t>
            </a:r>
            <a:r>
              <a:rPr lang="en-US" altLang="zh-CN" sz="4000" b="1" spc="260" dirty="0">
                <a:solidFill>
                  <a:srgbClr val="1F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5</a:t>
            </a:r>
            <a:r>
              <a:rPr sz="4000" b="1" spc="260" dirty="0">
                <a:solidFill>
                  <a:srgbClr val="1F2124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 of 10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0" y="0"/>
            <a:ext cx="125730" cy="11308715"/>
            <a:chOff x="0" y="0"/>
            <a:chExt cx="125730" cy="11308715"/>
          </a:xfrm>
        </p:grpSpPr>
        <p:sp>
          <p:nvSpPr>
            <p:cNvPr id="11" name="object 11"/>
            <p:cNvSpPr/>
            <p:nvPr/>
          </p:nvSpPr>
          <p:spPr>
            <a:xfrm>
              <a:off x="0" y="5"/>
              <a:ext cx="125730" cy="10177780"/>
            </a:xfrm>
            <a:custGeom>
              <a:avLst/>
              <a:gdLst/>
              <a:ahLst/>
              <a:cxnLst/>
              <a:rect l="l" t="t" r="r" b="b"/>
              <a:pathLst>
                <a:path w="125730" h="10177780">
                  <a:moveTo>
                    <a:pt x="125641" y="9046845"/>
                  </a:moveTo>
                  <a:lnTo>
                    <a:pt x="0" y="9046845"/>
                  </a:lnTo>
                  <a:lnTo>
                    <a:pt x="0" y="10177704"/>
                  </a:lnTo>
                  <a:lnTo>
                    <a:pt x="125641" y="10177704"/>
                  </a:lnTo>
                  <a:lnTo>
                    <a:pt x="125641" y="9046845"/>
                  </a:lnTo>
                  <a:close/>
                </a:path>
                <a:path w="125730" h="10177780">
                  <a:moveTo>
                    <a:pt x="125641" y="6785127"/>
                  </a:moveTo>
                  <a:lnTo>
                    <a:pt x="0" y="6785127"/>
                  </a:lnTo>
                  <a:lnTo>
                    <a:pt x="0" y="7915986"/>
                  </a:lnTo>
                  <a:lnTo>
                    <a:pt x="125641" y="7915986"/>
                  </a:lnTo>
                  <a:lnTo>
                    <a:pt x="125641" y="6785127"/>
                  </a:lnTo>
                  <a:close/>
                </a:path>
                <a:path w="125730" h="10177780">
                  <a:moveTo>
                    <a:pt x="125641" y="0"/>
                  </a:moveTo>
                  <a:lnTo>
                    <a:pt x="0" y="0"/>
                  </a:lnTo>
                  <a:lnTo>
                    <a:pt x="0" y="1130858"/>
                  </a:lnTo>
                  <a:lnTo>
                    <a:pt x="0" y="2261705"/>
                  </a:lnTo>
                  <a:lnTo>
                    <a:pt x="0" y="3392563"/>
                  </a:lnTo>
                  <a:lnTo>
                    <a:pt x="0" y="4523422"/>
                  </a:lnTo>
                  <a:lnTo>
                    <a:pt x="0" y="5654281"/>
                  </a:lnTo>
                  <a:lnTo>
                    <a:pt x="125641" y="5654281"/>
                  </a:lnTo>
                  <a:lnTo>
                    <a:pt x="125641" y="1130858"/>
                  </a:lnTo>
                  <a:lnTo>
                    <a:pt x="125641" y="0"/>
                  </a:lnTo>
                  <a:close/>
                </a:path>
              </a:pathLst>
            </a:custGeom>
            <a:solidFill>
              <a:srgbClr val="9AA0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5654278"/>
              <a:ext cx="125730" cy="1130935"/>
            </a:xfrm>
            <a:custGeom>
              <a:avLst/>
              <a:gdLst/>
              <a:ahLst/>
              <a:cxnLst/>
              <a:rect l="l" t="t" r="r" b="b"/>
              <a:pathLst>
                <a:path w="125730" h="1130934">
                  <a:moveTo>
                    <a:pt x="0" y="1130855"/>
                  </a:moveTo>
                  <a:lnTo>
                    <a:pt x="125650" y="1130855"/>
                  </a:lnTo>
                  <a:lnTo>
                    <a:pt x="125650" y="0"/>
                  </a:lnTo>
                  <a:lnTo>
                    <a:pt x="0" y="0"/>
                  </a:lnTo>
                  <a:lnTo>
                    <a:pt x="0" y="11308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7915992"/>
              <a:ext cx="125730" cy="3392804"/>
            </a:xfrm>
            <a:custGeom>
              <a:avLst/>
              <a:gdLst/>
              <a:ahLst/>
              <a:cxnLst/>
              <a:rect l="l" t="t" r="r" b="b"/>
              <a:pathLst>
                <a:path w="125730" h="3392804">
                  <a:moveTo>
                    <a:pt x="125641" y="2261717"/>
                  </a:moveTo>
                  <a:lnTo>
                    <a:pt x="0" y="2261717"/>
                  </a:lnTo>
                  <a:lnTo>
                    <a:pt x="0" y="3392563"/>
                  </a:lnTo>
                  <a:lnTo>
                    <a:pt x="125641" y="3392563"/>
                  </a:lnTo>
                  <a:lnTo>
                    <a:pt x="125641" y="2261717"/>
                  </a:lnTo>
                  <a:close/>
                </a:path>
                <a:path w="125730" h="3392804">
                  <a:moveTo>
                    <a:pt x="125641" y="0"/>
                  </a:moveTo>
                  <a:lnTo>
                    <a:pt x="0" y="0"/>
                  </a:lnTo>
                  <a:lnTo>
                    <a:pt x="0" y="1130858"/>
                  </a:lnTo>
                  <a:lnTo>
                    <a:pt x="125641" y="1130858"/>
                  </a:lnTo>
                  <a:lnTo>
                    <a:pt x="125641" y="0"/>
                  </a:lnTo>
                  <a:close/>
                </a:path>
              </a:pathLst>
            </a:custGeom>
            <a:solidFill>
              <a:srgbClr val="9AA0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442570" y="2042081"/>
            <a:ext cx="5406390" cy="497867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6400"/>
              </a:lnSpc>
              <a:spcBef>
                <a:spcPts val="90"/>
              </a:spcBef>
            </a:pPr>
            <a:r>
              <a:rPr sz="3100" spc="14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把提示词设计从“写一句问题”升级为“定义任务协议”。共创小组需要明确输入字段、可用知识、输出格式、禁止事项、校验规则和异常处理。
稳定的提示词模板应沉淀为产品配置，并与知识库、权限和评估指标绑定。</a:t>
            </a:r>
            <a:endParaRPr sz="3100" dirty="0">
              <a:latin typeface="MiSans Medium" pitchFamily="2" charset="-128"/>
              <a:cs typeface="MiSans Medium" pitchFamily="2" charset="-128"/>
            </a:endParaRPr>
          </a:p>
          <a:p>
            <a:pPr marL="12700" marR="554990">
              <a:lnSpc>
                <a:spcPct val="129700"/>
              </a:lnSpc>
              <a:spcBef>
                <a:spcPts val="1725"/>
              </a:spcBef>
            </a:pP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231775">
              <a:lnSpc>
                <a:spcPct val="129700"/>
              </a:lnSpc>
            </a:pPr>
            <a:endParaRPr sz="1800" dirty="0">
              <a:latin typeface="MiSans Medium" pitchFamily="2" charset="-128"/>
              <a:cs typeface="MiSans Medium" pitchFamily="2" charset="-128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551239" y="349922"/>
            <a:ext cx="162801" cy="13838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345174" y="10760882"/>
            <a:ext cx="868897" cy="15383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4881122" y="328209"/>
            <a:ext cx="4537710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solidFill>
                  <a:srgbClr val="BDC1C6"/>
                </a:solidFill>
                <a:latin typeface="Tahoma"/>
                <a:cs typeface="Tahoma"/>
              </a:rPr>
              <a:t>AI 产品 3.0 | 能力架构与迭代推导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120" dirty="0"/>
              <a:t>15</a:t>
            </a:fld>
            <a:endParaRPr spc="120" dirty="0"/>
          </a:p>
        </p:txBody>
      </p:sp>
      <p:sp>
        <p:nvSpPr>
          <p:cNvPr id="19" name="object 7">
            <a:extLst>
              <a:ext uri="{FF2B5EF4-FFF2-40B4-BE49-F238E27FC236}">
                <a16:creationId xmlns:a16="http://schemas.microsoft.com/office/drawing/2014/main" id="{714D0900-D158-7983-EE39-E2944DA0034C}"/>
              </a:ext>
            </a:extLst>
          </p:cNvPr>
          <p:cNvSpPr txBox="1"/>
          <p:nvPr/>
        </p:nvSpPr>
        <p:spPr>
          <a:xfrm>
            <a:off x="824970" y="1763215"/>
            <a:ext cx="5593715" cy="5764399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>
            <a:defPPr>
              <a:defRPr kern="0"/>
            </a:defPPr>
            <a:lvl1pPr marL="12700" marR="8890">
              <a:spcBef>
                <a:spcPts val="1750"/>
              </a:spcBef>
              <a:defRPr sz="6600" spc="295">
                <a:solidFill>
                  <a:srgbClr val="FFFFFF"/>
                </a:solidFill>
                <a:latin typeface="MiSans Medium" pitchFamily="2" charset="-128"/>
                <a:cs typeface="MiSans Medium" pitchFamily="2" charset="-128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共创提示词、知识结构与任务流程</a:t>
            </a:r>
          </a:p>
          <a:p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0"/>
            <a:ext cx="20104100" cy="11308715"/>
            <a:chOff x="0" y="-10"/>
            <a:chExt cx="20104100" cy="113087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0"/>
              <a:ext cx="16571422" cy="68544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79249" y="4020820"/>
              <a:ext cx="9224850" cy="72877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926521"/>
              <a:ext cx="9004961" cy="538203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24970" y="2458834"/>
            <a:ext cx="7139305" cy="3005951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12700" marR="15240">
              <a:spcBef>
                <a:spcPts val="1720"/>
              </a:spcBef>
            </a:pPr>
            <a:r>
              <a:rPr sz="9050" b="1" spc="650" dirty="0">
                <a:solidFill>
                  <a:srgbClr val="202124"/>
                </a:solidFill>
                <a:latin typeface="MiSans Heavy" pitchFamily="2" charset="-128"/>
                <a:ea typeface="MiSans Heavy" pitchFamily="2" charset="-128"/>
                <a:cs typeface="MiSans Heavy" pitchFamily="2" charset="-128"/>
              </a:rPr>
              <a:t>AI产品3.0 指标体系</a:t>
            </a:r>
            <a:endParaRPr sz="9050" b="1" dirty="0">
              <a:latin typeface="MiSans Heavy" pitchFamily="2" charset="-128"/>
              <a:ea typeface="MiSans Heavy" pitchFamily="2" charset="-128"/>
              <a:cs typeface="MiSans Heavy" pitchFamily="2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85942" y="2708552"/>
            <a:ext cx="8857708" cy="507837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33655">
              <a:lnSpc>
                <a:spcPct val="110100"/>
              </a:lnSpc>
              <a:spcBef>
                <a:spcPts val="75"/>
              </a:spcBef>
            </a:pPr>
            <a:r>
              <a:rPr sz="2950" spc="17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评估 AI 产品不能只看调用次数。需要同时关注可用性、准确性、效率、质量、业务影响、风险和成本。
建议把指标嵌入每个试点场景：上线前设定基线，上线后按周复盘，稳定后进入月度运营。指标既服务于管理汇报，也服务于产品迭代，帮助团队判断下一步是优化提示词、补充知识、调整体验，还是扩展场景。</a:t>
            </a:r>
            <a:endParaRPr sz="2950" dirty="0">
              <a:latin typeface="MiSans Medium" pitchFamily="2" charset="-128"/>
              <a:cs typeface="MiSans Medium" pitchFamily="2" charset="-128"/>
            </a:endParaRPr>
          </a:p>
          <a:p>
            <a:pPr marL="12700" marR="52705">
              <a:lnSpc>
                <a:spcPct val="129700"/>
              </a:lnSpc>
              <a:spcBef>
                <a:spcPts val="1745"/>
              </a:spcBef>
            </a:pP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5080">
              <a:lnSpc>
                <a:spcPct val="129700"/>
              </a:lnSpc>
              <a:spcBef>
                <a:spcPts val="1240"/>
              </a:spcBef>
            </a:pPr>
            <a:endParaRPr sz="1800" dirty="0">
              <a:latin typeface="MiSans Medium" pitchFamily="2" charset="-128"/>
              <a:cs typeface="MiSans Medium" pitchFamily="2" charset="-128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345174" y="349922"/>
            <a:ext cx="1369060" cy="10565130"/>
            <a:chOff x="18345174" y="349922"/>
            <a:chExt cx="1369060" cy="1056513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51238" y="349922"/>
              <a:ext cx="162801" cy="13838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345174" y="10760882"/>
              <a:ext cx="868897" cy="15383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4881122" y="328209"/>
            <a:ext cx="4537710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solidFill>
                  <a:srgbClr val="BDC1C6"/>
                </a:solidFill>
                <a:latin typeface="Tahoma"/>
                <a:cs typeface="Tahoma"/>
              </a:rPr>
              <a:t>AI 产品 3.0 | 能力架构与迭代推导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120" dirty="0"/>
              <a:t>16</a:t>
            </a:fld>
            <a:endParaRPr spc="1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2510" y="0"/>
            <a:ext cx="6261589" cy="113085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026025"/>
            <a:ext cx="7266794" cy="628253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0"/>
            <a:ext cx="8801100" cy="4885055"/>
            <a:chOff x="0" y="0"/>
            <a:chExt cx="8801100" cy="488505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8800716" cy="48849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37665" y="2484249"/>
              <a:ext cx="418465" cy="353695"/>
            </a:xfrm>
            <a:custGeom>
              <a:avLst/>
              <a:gdLst/>
              <a:ahLst/>
              <a:cxnLst/>
              <a:rect l="l" t="t" r="r" b="b"/>
              <a:pathLst>
                <a:path w="418465" h="353694">
                  <a:moveTo>
                    <a:pt x="384553" y="0"/>
                  </a:moveTo>
                  <a:lnTo>
                    <a:pt x="131179" y="279227"/>
                  </a:lnTo>
                  <a:lnTo>
                    <a:pt x="33642" y="171743"/>
                  </a:lnTo>
                  <a:lnTo>
                    <a:pt x="0" y="208799"/>
                  </a:lnTo>
                  <a:lnTo>
                    <a:pt x="131179" y="353360"/>
                  </a:lnTo>
                  <a:lnTo>
                    <a:pt x="418186" y="37066"/>
                  </a:lnTo>
                  <a:lnTo>
                    <a:pt x="384553" y="0"/>
                  </a:lnTo>
                  <a:close/>
                </a:path>
              </a:pathLst>
            </a:custGeom>
            <a:solidFill>
              <a:srgbClr val="212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24970" y="3034327"/>
            <a:ext cx="2660650" cy="23526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18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准确性
衡量回答、摘要、分类或生成结果是否符合事实与业务规则，可用人工抽检、命中率、召回率和来源覆盖率评估。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372110">
              <a:lnSpc>
                <a:spcPct val="128499"/>
              </a:lnSpc>
              <a:spcBef>
                <a:spcPts val="615"/>
              </a:spcBef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  <a:p>
            <a:pPr marL="12700" marR="5080">
              <a:lnSpc>
                <a:spcPct val="128499"/>
              </a:lnSpc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96393" y="2449838"/>
            <a:ext cx="3594100" cy="387985"/>
            <a:chOff x="3996393" y="2449838"/>
            <a:chExt cx="3594100" cy="387985"/>
          </a:xfrm>
        </p:grpSpPr>
        <p:sp>
          <p:nvSpPr>
            <p:cNvPr id="10" name="object 10"/>
            <p:cNvSpPr/>
            <p:nvPr/>
          </p:nvSpPr>
          <p:spPr>
            <a:xfrm>
              <a:off x="3996393" y="2533478"/>
              <a:ext cx="506095" cy="304165"/>
            </a:xfrm>
            <a:custGeom>
              <a:avLst/>
              <a:gdLst/>
              <a:ahLst/>
              <a:cxnLst/>
              <a:rect l="l" t="t" r="r" b="b"/>
              <a:pathLst>
                <a:path w="506095" h="304164">
                  <a:moveTo>
                    <a:pt x="506089" y="0"/>
                  </a:moveTo>
                  <a:lnTo>
                    <a:pt x="354020" y="0"/>
                  </a:lnTo>
                  <a:lnTo>
                    <a:pt x="412238" y="58218"/>
                  </a:lnTo>
                  <a:lnTo>
                    <a:pt x="288682" y="181764"/>
                  </a:lnTo>
                  <a:lnTo>
                    <a:pt x="187701" y="80782"/>
                  </a:lnTo>
                  <a:lnTo>
                    <a:pt x="0" y="268494"/>
                  </a:lnTo>
                  <a:lnTo>
                    <a:pt x="35632" y="304126"/>
                  </a:lnTo>
                  <a:lnTo>
                    <a:pt x="187701" y="152068"/>
                  </a:lnTo>
                  <a:lnTo>
                    <a:pt x="288682" y="253049"/>
                  </a:lnTo>
                  <a:lnTo>
                    <a:pt x="447871" y="93850"/>
                  </a:lnTo>
                  <a:lnTo>
                    <a:pt x="506089" y="152068"/>
                  </a:lnTo>
                  <a:lnTo>
                    <a:pt x="506089" y="0"/>
                  </a:lnTo>
                  <a:close/>
                </a:path>
              </a:pathLst>
            </a:custGeom>
            <a:solidFill>
              <a:srgbClr val="212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55108" y="2449838"/>
              <a:ext cx="434975" cy="387985"/>
            </a:xfrm>
            <a:custGeom>
              <a:avLst/>
              <a:gdLst/>
              <a:ahLst/>
              <a:cxnLst/>
              <a:rect l="l" t="t" r="r" b="b"/>
              <a:pathLst>
                <a:path w="434975" h="387985">
                  <a:moveTo>
                    <a:pt x="158204" y="265217"/>
                  </a:moveTo>
                  <a:lnTo>
                    <a:pt x="111365" y="270366"/>
                  </a:lnTo>
                  <a:lnTo>
                    <a:pt x="59673" y="285802"/>
                  </a:lnTo>
                  <a:lnTo>
                    <a:pt x="17691" y="311299"/>
                  </a:lnTo>
                  <a:lnTo>
                    <a:pt x="0" y="346596"/>
                  </a:lnTo>
                  <a:lnTo>
                    <a:pt x="0" y="387768"/>
                  </a:lnTo>
                  <a:lnTo>
                    <a:pt x="316409" y="387768"/>
                  </a:lnTo>
                  <a:lnTo>
                    <a:pt x="316409" y="346596"/>
                  </a:lnTo>
                  <a:lnTo>
                    <a:pt x="298717" y="311299"/>
                  </a:lnTo>
                  <a:lnTo>
                    <a:pt x="256735" y="285802"/>
                  </a:lnTo>
                  <a:lnTo>
                    <a:pt x="205039" y="270366"/>
                  </a:lnTo>
                  <a:lnTo>
                    <a:pt x="158204" y="265217"/>
                  </a:lnTo>
                  <a:close/>
                </a:path>
                <a:path w="434975" h="387985">
                  <a:moveTo>
                    <a:pt x="158204" y="61275"/>
                  </a:moveTo>
                  <a:lnTo>
                    <a:pt x="114485" y="75100"/>
                  </a:lnTo>
                  <a:lnTo>
                    <a:pt x="86040" y="111064"/>
                  </a:lnTo>
                  <a:lnTo>
                    <a:pt x="80489" y="142665"/>
                  </a:lnTo>
                  <a:lnTo>
                    <a:pt x="81877" y="159178"/>
                  </a:lnTo>
                  <a:lnTo>
                    <a:pt x="102687" y="200109"/>
                  </a:lnTo>
                  <a:lnTo>
                    <a:pt x="142242" y="221655"/>
                  </a:lnTo>
                  <a:lnTo>
                    <a:pt x="158204" y="223092"/>
                  </a:lnTo>
                  <a:lnTo>
                    <a:pt x="174166" y="221655"/>
                  </a:lnTo>
                  <a:lnTo>
                    <a:pt x="213721" y="200109"/>
                  </a:lnTo>
                  <a:lnTo>
                    <a:pt x="234531" y="159178"/>
                  </a:lnTo>
                  <a:lnTo>
                    <a:pt x="235919" y="142665"/>
                  </a:lnTo>
                  <a:lnTo>
                    <a:pt x="234531" y="126146"/>
                  </a:lnTo>
                  <a:lnTo>
                    <a:pt x="213721" y="85212"/>
                  </a:lnTo>
                  <a:lnTo>
                    <a:pt x="174166" y="63135"/>
                  </a:lnTo>
                  <a:lnTo>
                    <a:pt x="158204" y="61275"/>
                  </a:lnTo>
                  <a:close/>
                </a:path>
                <a:path w="434975" h="387985">
                  <a:moveTo>
                    <a:pt x="311781" y="67976"/>
                  </a:moveTo>
                  <a:lnTo>
                    <a:pt x="278483" y="102447"/>
                  </a:lnTo>
                  <a:lnTo>
                    <a:pt x="283736" y="112147"/>
                  </a:lnTo>
                  <a:lnTo>
                    <a:pt x="287493" y="122085"/>
                  </a:lnTo>
                  <a:lnTo>
                    <a:pt x="289750" y="132258"/>
                  </a:lnTo>
                  <a:lnTo>
                    <a:pt x="290504" y="142665"/>
                  </a:lnTo>
                  <a:lnTo>
                    <a:pt x="289750" y="153019"/>
                  </a:lnTo>
                  <a:lnTo>
                    <a:pt x="287493" y="163015"/>
                  </a:lnTo>
                  <a:lnTo>
                    <a:pt x="283736" y="172651"/>
                  </a:lnTo>
                  <a:lnTo>
                    <a:pt x="278483" y="181921"/>
                  </a:lnTo>
                  <a:lnTo>
                    <a:pt x="311781" y="216391"/>
                  </a:lnTo>
                  <a:lnTo>
                    <a:pt x="324734" y="200024"/>
                  </a:lnTo>
                  <a:lnTo>
                    <a:pt x="333988" y="182523"/>
                  </a:lnTo>
                  <a:lnTo>
                    <a:pt x="339541" y="163883"/>
                  </a:lnTo>
                  <a:lnTo>
                    <a:pt x="341392" y="144100"/>
                  </a:lnTo>
                  <a:lnTo>
                    <a:pt x="339541" y="124086"/>
                  </a:lnTo>
                  <a:lnTo>
                    <a:pt x="333988" y="104727"/>
                  </a:lnTo>
                  <a:lnTo>
                    <a:pt x="324734" y="86023"/>
                  </a:lnTo>
                  <a:lnTo>
                    <a:pt x="311781" y="67976"/>
                  </a:lnTo>
                  <a:close/>
                </a:path>
                <a:path w="434975" h="387985">
                  <a:moveTo>
                    <a:pt x="376553" y="0"/>
                  </a:moveTo>
                  <a:lnTo>
                    <a:pt x="344167" y="32553"/>
                  </a:lnTo>
                  <a:lnTo>
                    <a:pt x="362383" y="57687"/>
                  </a:lnTo>
                  <a:lnTo>
                    <a:pt x="375393" y="84257"/>
                  </a:lnTo>
                  <a:lnTo>
                    <a:pt x="383198" y="112263"/>
                  </a:lnTo>
                  <a:lnTo>
                    <a:pt x="385799" y="141702"/>
                  </a:lnTo>
                  <a:lnTo>
                    <a:pt x="383198" y="171267"/>
                  </a:lnTo>
                  <a:lnTo>
                    <a:pt x="375393" y="199633"/>
                  </a:lnTo>
                  <a:lnTo>
                    <a:pt x="362383" y="226800"/>
                  </a:lnTo>
                  <a:lnTo>
                    <a:pt x="344167" y="252767"/>
                  </a:lnTo>
                  <a:lnTo>
                    <a:pt x="376553" y="285321"/>
                  </a:lnTo>
                  <a:lnTo>
                    <a:pt x="402053" y="253130"/>
                  </a:lnTo>
                  <a:lnTo>
                    <a:pt x="420265" y="218785"/>
                  </a:lnTo>
                  <a:lnTo>
                    <a:pt x="431192" y="182282"/>
                  </a:lnTo>
                  <a:lnTo>
                    <a:pt x="434834" y="143618"/>
                  </a:lnTo>
                  <a:lnTo>
                    <a:pt x="431192" y="104845"/>
                  </a:lnTo>
                  <a:lnTo>
                    <a:pt x="420265" y="67984"/>
                  </a:lnTo>
                  <a:lnTo>
                    <a:pt x="402053" y="33036"/>
                  </a:lnTo>
                  <a:lnTo>
                    <a:pt x="376553" y="0"/>
                  </a:lnTo>
                  <a:close/>
                </a:path>
              </a:pathLst>
            </a:custGeom>
            <a:solidFill>
              <a:srgbClr val="202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83687" y="3034327"/>
            <a:ext cx="2628265" cy="177035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13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生产力
衡量用户完成任务所需时间、处理量、返工次数和跨系统操作次数是否下降。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5080">
              <a:lnSpc>
                <a:spcPct val="128499"/>
              </a:lnSpc>
              <a:spcBef>
                <a:spcPts val="615"/>
              </a:spcBef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42405" y="2992443"/>
            <a:ext cx="2545080" cy="179869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17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用户满意度
通过评分、访谈和留存观察 AI 是否真正降低工作负担。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5080">
              <a:lnSpc>
                <a:spcPct val="128499"/>
              </a:lnSpc>
              <a:spcBef>
                <a:spcPts val="615"/>
              </a:spcBef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  <a:p>
            <a:pPr marL="12700" marR="309880">
              <a:lnSpc>
                <a:spcPct val="128499"/>
              </a:lnSpc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313822" y="2387362"/>
            <a:ext cx="235585" cy="449580"/>
          </a:xfrm>
          <a:custGeom>
            <a:avLst/>
            <a:gdLst/>
            <a:ahLst/>
            <a:cxnLst/>
            <a:rect l="l" t="t" r="r" b="b"/>
            <a:pathLst>
              <a:path w="235584" h="449580">
                <a:moveTo>
                  <a:pt x="47016" y="297164"/>
                </a:moveTo>
                <a:lnTo>
                  <a:pt x="0" y="297164"/>
                </a:lnTo>
                <a:lnTo>
                  <a:pt x="0" y="300018"/>
                </a:lnTo>
                <a:lnTo>
                  <a:pt x="13406" y="344162"/>
                </a:lnTo>
                <a:lnTo>
                  <a:pt x="49357" y="379721"/>
                </a:lnTo>
                <a:lnTo>
                  <a:pt x="82250" y="393371"/>
                </a:lnTo>
                <a:lnTo>
                  <a:pt x="82250" y="449201"/>
                </a:lnTo>
                <a:lnTo>
                  <a:pt x="152720" y="449201"/>
                </a:lnTo>
                <a:lnTo>
                  <a:pt x="152720" y="393371"/>
                </a:lnTo>
                <a:lnTo>
                  <a:pt x="170024" y="387587"/>
                </a:lnTo>
                <a:lnTo>
                  <a:pt x="185609" y="379721"/>
                </a:lnTo>
                <a:lnTo>
                  <a:pt x="199473" y="369771"/>
                </a:lnTo>
                <a:lnTo>
                  <a:pt x="211618" y="357738"/>
                </a:lnTo>
                <a:lnTo>
                  <a:pt x="219445" y="347048"/>
                </a:lnTo>
                <a:lnTo>
                  <a:pt x="117485" y="347048"/>
                </a:lnTo>
                <a:lnTo>
                  <a:pt x="103239" y="346158"/>
                </a:lnTo>
                <a:lnTo>
                  <a:pt x="59239" y="325265"/>
                </a:lnTo>
                <a:lnTo>
                  <a:pt x="47116" y="297761"/>
                </a:lnTo>
                <a:lnTo>
                  <a:pt x="47016" y="297164"/>
                </a:lnTo>
                <a:close/>
              </a:path>
              <a:path w="235584" h="449580">
                <a:moveTo>
                  <a:pt x="152720" y="0"/>
                </a:moveTo>
                <a:lnTo>
                  <a:pt x="82250" y="0"/>
                </a:lnTo>
                <a:lnTo>
                  <a:pt x="82250" y="48920"/>
                </a:lnTo>
                <a:lnTo>
                  <a:pt x="64945" y="54716"/>
                </a:lnTo>
                <a:lnTo>
                  <a:pt x="23352" y="84553"/>
                </a:lnTo>
                <a:lnTo>
                  <a:pt x="1565" y="128425"/>
                </a:lnTo>
                <a:lnTo>
                  <a:pt x="0" y="147538"/>
                </a:lnTo>
                <a:lnTo>
                  <a:pt x="2840" y="168774"/>
                </a:lnTo>
                <a:lnTo>
                  <a:pt x="21555" y="204709"/>
                </a:lnTo>
                <a:lnTo>
                  <a:pt x="54967" y="226642"/>
                </a:lnTo>
                <a:lnTo>
                  <a:pt x="92128" y="241489"/>
                </a:lnTo>
                <a:lnTo>
                  <a:pt x="129693" y="251249"/>
                </a:lnTo>
                <a:lnTo>
                  <a:pt x="145413" y="256037"/>
                </a:lnTo>
                <a:lnTo>
                  <a:pt x="183134" y="279499"/>
                </a:lnTo>
                <a:lnTo>
                  <a:pt x="187399" y="297761"/>
                </a:lnTo>
                <a:lnTo>
                  <a:pt x="185965" y="307408"/>
                </a:lnTo>
                <a:lnTo>
                  <a:pt x="185915" y="307748"/>
                </a:lnTo>
                <a:lnTo>
                  <a:pt x="182091" y="316763"/>
                </a:lnTo>
                <a:lnTo>
                  <a:pt x="182026" y="316916"/>
                </a:lnTo>
                <a:lnTo>
                  <a:pt x="144737" y="343487"/>
                </a:lnTo>
                <a:lnTo>
                  <a:pt x="117485" y="347048"/>
                </a:lnTo>
                <a:lnTo>
                  <a:pt x="219445" y="347048"/>
                </a:lnTo>
                <a:lnTo>
                  <a:pt x="221558" y="344162"/>
                </a:lnTo>
                <a:lnTo>
                  <a:pt x="228819" y="329540"/>
                </a:lnTo>
                <a:lnTo>
                  <a:pt x="233399" y="313873"/>
                </a:lnTo>
                <a:lnTo>
                  <a:pt x="235225" y="297761"/>
                </a:lnTo>
                <a:lnTo>
                  <a:pt x="235293" y="297164"/>
                </a:lnTo>
                <a:lnTo>
                  <a:pt x="224826" y="253667"/>
                </a:lnTo>
                <a:lnTo>
                  <a:pt x="197859" y="225303"/>
                </a:lnTo>
                <a:lnTo>
                  <a:pt x="161652" y="207490"/>
                </a:lnTo>
                <a:lnTo>
                  <a:pt x="123537" y="195607"/>
                </a:lnTo>
                <a:lnTo>
                  <a:pt x="105271" y="191042"/>
                </a:lnTo>
                <a:lnTo>
                  <a:pt x="89549" y="186254"/>
                </a:lnTo>
                <a:lnTo>
                  <a:pt x="51829" y="162797"/>
                </a:lnTo>
                <a:lnTo>
                  <a:pt x="47571" y="144530"/>
                </a:lnTo>
                <a:lnTo>
                  <a:pt x="49000" y="134883"/>
                </a:lnTo>
                <a:lnTo>
                  <a:pt x="49049" y="134552"/>
                </a:lnTo>
                <a:lnTo>
                  <a:pt x="78466" y="103257"/>
                </a:lnTo>
                <a:lnTo>
                  <a:pt x="117485" y="95244"/>
                </a:lnTo>
                <a:lnTo>
                  <a:pt x="219440" y="95244"/>
                </a:lnTo>
                <a:lnTo>
                  <a:pt x="211618" y="84553"/>
                </a:lnTo>
                <a:lnTo>
                  <a:pt x="199473" y="72532"/>
                </a:lnTo>
                <a:lnTo>
                  <a:pt x="185609" y="62586"/>
                </a:lnTo>
                <a:lnTo>
                  <a:pt x="170024" y="54716"/>
                </a:lnTo>
                <a:lnTo>
                  <a:pt x="152720" y="48920"/>
                </a:lnTo>
                <a:lnTo>
                  <a:pt x="152720" y="0"/>
                </a:lnTo>
                <a:close/>
              </a:path>
              <a:path w="235584" h="449580">
                <a:moveTo>
                  <a:pt x="219440" y="95244"/>
                </a:moveTo>
                <a:lnTo>
                  <a:pt x="117485" y="95244"/>
                </a:lnTo>
                <a:lnTo>
                  <a:pt x="131731" y="96133"/>
                </a:lnTo>
                <a:lnTo>
                  <a:pt x="144737" y="98804"/>
                </a:lnTo>
                <a:lnTo>
                  <a:pt x="182055" y="125383"/>
                </a:lnTo>
                <a:lnTo>
                  <a:pt x="187843" y="144530"/>
                </a:lnTo>
                <a:lnTo>
                  <a:pt x="187944" y="145127"/>
                </a:lnTo>
                <a:lnTo>
                  <a:pt x="235293" y="145127"/>
                </a:lnTo>
                <a:lnTo>
                  <a:pt x="233399" y="128425"/>
                </a:lnTo>
                <a:lnTo>
                  <a:pt x="228819" y="112763"/>
                </a:lnTo>
                <a:lnTo>
                  <a:pt x="221558" y="98139"/>
                </a:lnTo>
                <a:lnTo>
                  <a:pt x="219440" y="95244"/>
                </a:lnTo>
                <a:close/>
              </a:path>
            </a:pathLst>
          </a:custGeom>
          <a:solidFill>
            <a:srgbClr val="2121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301122" y="3034327"/>
            <a:ext cx="2543810" cy="179869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"/>
              </a:spcBef>
            </a:pPr>
            <a:r>
              <a:rPr sz="1800" spc="204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成本节约
对比人工处理、外包、系统切换和重复沟通成本。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236854" algn="just">
              <a:lnSpc>
                <a:spcPct val="128499"/>
              </a:lnSpc>
              <a:spcBef>
                <a:spcPts val="615"/>
              </a:spcBef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  <a:p>
            <a:pPr marL="12700" marR="5080">
              <a:lnSpc>
                <a:spcPct val="128499"/>
              </a:lnSpc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3472540" y="2387636"/>
            <a:ext cx="459740" cy="450215"/>
            <a:chOff x="13472540" y="2387636"/>
            <a:chExt cx="459740" cy="450215"/>
          </a:xfrm>
        </p:grpSpPr>
        <p:sp>
          <p:nvSpPr>
            <p:cNvPr id="17" name="object 17"/>
            <p:cNvSpPr/>
            <p:nvPr/>
          </p:nvSpPr>
          <p:spPr>
            <a:xfrm>
              <a:off x="13472540" y="2387636"/>
              <a:ext cx="459740" cy="450215"/>
            </a:xfrm>
            <a:custGeom>
              <a:avLst/>
              <a:gdLst/>
              <a:ahLst/>
              <a:cxnLst/>
              <a:rect l="l" t="t" r="r" b="b"/>
              <a:pathLst>
                <a:path w="459740" h="450214">
                  <a:moveTo>
                    <a:pt x="229783" y="0"/>
                  </a:moveTo>
                  <a:lnTo>
                    <a:pt x="182788" y="4891"/>
                  </a:lnTo>
                  <a:lnTo>
                    <a:pt x="139970" y="17432"/>
                  </a:lnTo>
                  <a:lnTo>
                    <a:pt x="101332" y="37628"/>
                  </a:lnTo>
                  <a:lnTo>
                    <a:pt x="66877" y="65484"/>
                  </a:lnTo>
                  <a:lnTo>
                    <a:pt x="38425" y="99221"/>
                  </a:lnTo>
                  <a:lnTo>
                    <a:pt x="17795" y="137053"/>
                  </a:lnTo>
                  <a:lnTo>
                    <a:pt x="4986" y="178976"/>
                  </a:lnTo>
                  <a:lnTo>
                    <a:pt x="0" y="224987"/>
                  </a:lnTo>
                  <a:lnTo>
                    <a:pt x="4986" y="271001"/>
                  </a:lnTo>
                  <a:lnTo>
                    <a:pt x="17795" y="312921"/>
                  </a:lnTo>
                  <a:lnTo>
                    <a:pt x="38425" y="350747"/>
                  </a:lnTo>
                  <a:lnTo>
                    <a:pt x="66877" y="384480"/>
                  </a:lnTo>
                  <a:lnTo>
                    <a:pt x="101332" y="412338"/>
                  </a:lnTo>
                  <a:lnTo>
                    <a:pt x="139970" y="432537"/>
                  </a:lnTo>
                  <a:lnTo>
                    <a:pt x="182788" y="445082"/>
                  </a:lnTo>
                  <a:lnTo>
                    <a:pt x="229783" y="449975"/>
                  </a:lnTo>
                  <a:lnTo>
                    <a:pt x="276772" y="445082"/>
                  </a:lnTo>
                  <a:lnTo>
                    <a:pt x="319587" y="432537"/>
                  </a:lnTo>
                  <a:lnTo>
                    <a:pt x="358224" y="412338"/>
                  </a:lnTo>
                  <a:lnTo>
                    <a:pt x="392679" y="384480"/>
                  </a:lnTo>
                  <a:lnTo>
                    <a:pt x="421129" y="350747"/>
                  </a:lnTo>
                  <a:lnTo>
                    <a:pt x="441758" y="312921"/>
                  </a:lnTo>
                  <a:lnTo>
                    <a:pt x="454569" y="271001"/>
                  </a:lnTo>
                  <a:lnTo>
                    <a:pt x="459567" y="224987"/>
                  </a:lnTo>
                  <a:lnTo>
                    <a:pt x="454569" y="178976"/>
                  </a:lnTo>
                  <a:lnTo>
                    <a:pt x="441758" y="137053"/>
                  </a:lnTo>
                  <a:lnTo>
                    <a:pt x="421129" y="99221"/>
                  </a:lnTo>
                  <a:lnTo>
                    <a:pt x="392679" y="65484"/>
                  </a:lnTo>
                  <a:lnTo>
                    <a:pt x="358224" y="37628"/>
                  </a:lnTo>
                  <a:lnTo>
                    <a:pt x="319587" y="17432"/>
                  </a:lnTo>
                  <a:lnTo>
                    <a:pt x="276772" y="4891"/>
                  </a:lnTo>
                  <a:lnTo>
                    <a:pt x="229783" y="0"/>
                  </a:lnTo>
                  <a:close/>
                </a:path>
              </a:pathLst>
            </a:custGeom>
            <a:solidFill>
              <a:srgbClr val="202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520912" y="2432932"/>
              <a:ext cx="363220" cy="355600"/>
            </a:xfrm>
            <a:custGeom>
              <a:avLst/>
              <a:gdLst/>
              <a:ahLst/>
              <a:cxnLst/>
              <a:rect l="l" t="t" r="r" b="b"/>
              <a:pathLst>
                <a:path w="363219" h="355600">
                  <a:moveTo>
                    <a:pt x="181408" y="0"/>
                  </a:moveTo>
                  <a:lnTo>
                    <a:pt x="133183" y="6344"/>
                  </a:lnTo>
                  <a:lnTo>
                    <a:pt x="89849" y="24248"/>
                  </a:lnTo>
                  <a:lnTo>
                    <a:pt x="53134" y="52020"/>
                  </a:lnTo>
                  <a:lnTo>
                    <a:pt x="24768" y="87967"/>
                  </a:lnTo>
                  <a:lnTo>
                    <a:pt x="6480" y="130397"/>
                  </a:lnTo>
                  <a:lnTo>
                    <a:pt x="0" y="177617"/>
                  </a:lnTo>
                  <a:lnTo>
                    <a:pt x="6480" y="224837"/>
                  </a:lnTo>
                  <a:lnTo>
                    <a:pt x="24768" y="267267"/>
                  </a:lnTo>
                  <a:lnTo>
                    <a:pt x="53134" y="303214"/>
                  </a:lnTo>
                  <a:lnTo>
                    <a:pt x="89849" y="330986"/>
                  </a:lnTo>
                  <a:lnTo>
                    <a:pt x="133183" y="348891"/>
                  </a:lnTo>
                  <a:lnTo>
                    <a:pt x="181408" y="355235"/>
                  </a:lnTo>
                  <a:lnTo>
                    <a:pt x="229632" y="348891"/>
                  </a:lnTo>
                  <a:lnTo>
                    <a:pt x="272966" y="330986"/>
                  </a:lnTo>
                  <a:lnTo>
                    <a:pt x="309681" y="303214"/>
                  </a:lnTo>
                  <a:lnTo>
                    <a:pt x="338047" y="267267"/>
                  </a:lnTo>
                  <a:lnTo>
                    <a:pt x="356335" y="224837"/>
                  </a:lnTo>
                  <a:lnTo>
                    <a:pt x="362816" y="177617"/>
                  </a:lnTo>
                  <a:lnTo>
                    <a:pt x="356335" y="130397"/>
                  </a:lnTo>
                  <a:lnTo>
                    <a:pt x="338047" y="87967"/>
                  </a:lnTo>
                  <a:lnTo>
                    <a:pt x="309681" y="52020"/>
                  </a:lnTo>
                  <a:lnTo>
                    <a:pt x="272966" y="24248"/>
                  </a:lnTo>
                  <a:lnTo>
                    <a:pt x="229632" y="6344"/>
                  </a:lnTo>
                  <a:lnTo>
                    <a:pt x="1814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678136" y="2480293"/>
              <a:ext cx="145126" cy="21758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3459838" y="3034327"/>
            <a:ext cx="2425065" cy="238103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114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响应时长
衡量从输入到可用结果的时间，包括模型响应和用户编辑时间。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13970">
              <a:lnSpc>
                <a:spcPct val="128499"/>
              </a:lnSpc>
              <a:spcBef>
                <a:spcPts val="615"/>
              </a:spcBef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  <a:p>
            <a:pPr marL="12700" marR="259715">
              <a:lnSpc>
                <a:spcPct val="128499"/>
              </a:lnSpc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  <a:p>
            <a:pPr marL="12700" marR="5080">
              <a:lnSpc>
                <a:spcPct val="128499"/>
              </a:lnSpc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631253" y="2448459"/>
            <a:ext cx="405130" cy="389255"/>
          </a:xfrm>
          <a:custGeom>
            <a:avLst/>
            <a:gdLst/>
            <a:ahLst/>
            <a:cxnLst/>
            <a:rect l="l" t="t" r="r" b="b"/>
            <a:pathLst>
              <a:path w="405130" h="389255">
                <a:moveTo>
                  <a:pt x="74081" y="155838"/>
                </a:moveTo>
                <a:lnTo>
                  <a:pt x="0" y="155838"/>
                </a:lnTo>
                <a:lnTo>
                  <a:pt x="0" y="389150"/>
                </a:lnTo>
                <a:lnTo>
                  <a:pt x="74081" y="389150"/>
                </a:lnTo>
                <a:lnTo>
                  <a:pt x="74081" y="155838"/>
                </a:lnTo>
                <a:close/>
              </a:path>
              <a:path w="405130" h="389255">
                <a:moveTo>
                  <a:pt x="242076" y="0"/>
                </a:moveTo>
                <a:lnTo>
                  <a:pt x="121472" y="128498"/>
                </a:lnTo>
                <a:lnTo>
                  <a:pt x="110268" y="155838"/>
                </a:lnTo>
                <a:lnTo>
                  <a:pt x="110268" y="349957"/>
                </a:lnTo>
                <a:lnTo>
                  <a:pt x="133101" y="386304"/>
                </a:lnTo>
                <a:lnTo>
                  <a:pt x="147314" y="389150"/>
                </a:lnTo>
                <a:lnTo>
                  <a:pt x="320168" y="389150"/>
                </a:lnTo>
                <a:lnTo>
                  <a:pt x="326921" y="387024"/>
                </a:lnTo>
                <a:lnTo>
                  <a:pt x="338984" y="378532"/>
                </a:lnTo>
                <a:lnTo>
                  <a:pt x="343424" y="372742"/>
                </a:lnTo>
                <a:lnTo>
                  <a:pt x="346303" y="365454"/>
                </a:lnTo>
                <a:lnTo>
                  <a:pt x="402291" y="228746"/>
                </a:lnTo>
                <a:lnTo>
                  <a:pt x="404019" y="223898"/>
                </a:lnTo>
                <a:lnTo>
                  <a:pt x="404877" y="219040"/>
                </a:lnTo>
                <a:lnTo>
                  <a:pt x="404877" y="174978"/>
                </a:lnTo>
                <a:lnTo>
                  <a:pt x="382055" y="139440"/>
                </a:lnTo>
                <a:lnTo>
                  <a:pt x="367842" y="136707"/>
                </a:lnTo>
                <a:lnTo>
                  <a:pt x="251542" y="136707"/>
                </a:lnTo>
                <a:lnTo>
                  <a:pt x="269635" y="47391"/>
                </a:lnTo>
                <a:lnTo>
                  <a:pt x="269635" y="33119"/>
                </a:lnTo>
                <a:lnTo>
                  <a:pt x="267049" y="26428"/>
                </a:lnTo>
                <a:lnTo>
                  <a:pt x="242076" y="0"/>
                </a:lnTo>
                <a:close/>
              </a:path>
            </a:pathLst>
          </a:custGeom>
          <a:solidFill>
            <a:srgbClr val="2121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6618557" y="3034327"/>
            <a:ext cx="2650490" cy="149335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13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输出质量
用结构完整性、引用充分性、语言一致性和业务可执行性评估。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5080">
              <a:lnSpc>
                <a:spcPct val="128499"/>
              </a:lnSpc>
              <a:spcBef>
                <a:spcPts val="615"/>
              </a:spcBef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7672" y="6774658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209417" y="0"/>
                </a:moveTo>
                <a:lnTo>
                  <a:pt x="166584" y="4586"/>
                </a:lnTo>
                <a:lnTo>
                  <a:pt x="127564" y="16355"/>
                </a:lnTo>
                <a:lnTo>
                  <a:pt x="92356" y="35309"/>
                </a:lnTo>
                <a:lnTo>
                  <a:pt x="60961" y="61453"/>
                </a:lnTo>
                <a:lnTo>
                  <a:pt x="35028" y="93011"/>
                </a:lnTo>
                <a:lnTo>
                  <a:pt x="16223" y="128191"/>
                </a:lnTo>
                <a:lnTo>
                  <a:pt x="4666" y="166594"/>
                </a:lnTo>
                <a:lnTo>
                  <a:pt x="4546" y="166992"/>
                </a:lnTo>
                <a:lnTo>
                  <a:pt x="0" y="209417"/>
                </a:lnTo>
                <a:lnTo>
                  <a:pt x="4546" y="252250"/>
                </a:lnTo>
                <a:lnTo>
                  <a:pt x="16223" y="291272"/>
                </a:lnTo>
                <a:lnTo>
                  <a:pt x="35028" y="326483"/>
                </a:lnTo>
                <a:lnTo>
                  <a:pt x="60961" y="357884"/>
                </a:lnTo>
                <a:lnTo>
                  <a:pt x="92356" y="383814"/>
                </a:lnTo>
                <a:lnTo>
                  <a:pt x="127564" y="402613"/>
                </a:lnTo>
                <a:lnTo>
                  <a:pt x="166584" y="414285"/>
                </a:lnTo>
                <a:lnTo>
                  <a:pt x="209417" y="418835"/>
                </a:lnTo>
                <a:lnTo>
                  <a:pt x="252240" y="414285"/>
                </a:lnTo>
                <a:lnTo>
                  <a:pt x="291259" y="402613"/>
                </a:lnTo>
                <a:lnTo>
                  <a:pt x="326471" y="383814"/>
                </a:lnTo>
                <a:lnTo>
                  <a:pt x="334059" y="377548"/>
                </a:lnTo>
                <a:lnTo>
                  <a:pt x="209417" y="377548"/>
                </a:lnTo>
                <a:lnTo>
                  <a:pt x="175065" y="373739"/>
                </a:lnTo>
                <a:lnTo>
                  <a:pt x="115581" y="349159"/>
                </a:lnTo>
                <a:lnTo>
                  <a:pt x="69681" y="303255"/>
                </a:lnTo>
                <a:lnTo>
                  <a:pt x="45105" y="243773"/>
                </a:lnTo>
                <a:lnTo>
                  <a:pt x="41297" y="209417"/>
                </a:lnTo>
                <a:lnTo>
                  <a:pt x="45105" y="175076"/>
                </a:lnTo>
                <a:lnTo>
                  <a:pt x="69681" y="115593"/>
                </a:lnTo>
                <a:lnTo>
                  <a:pt x="115581" y="69687"/>
                </a:lnTo>
                <a:lnTo>
                  <a:pt x="175065" y="45110"/>
                </a:lnTo>
                <a:lnTo>
                  <a:pt x="209417" y="41297"/>
                </a:lnTo>
                <a:lnTo>
                  <a:pt x="334059" y="41297"/>
                </a:lnTo>
                <a:lnTo>
                  <a:pt x="326471" y="35031"/>
                </a:lnTo>
                <a:lnTo>
                  <a:pt x="291492" y="16355"/>
                </a:lnTo>
                <a:lnTo>
                  <a:pt x="291674" y="16355"/>
                </a:lnTo>
                <a:lnTo>
                  <a:pt x="252344" y="4586"/>
                </a:lnTo>
                <a:lnTo>
                  <a:pt x="252534" y="4586"/>
                </a:lnTo>
                <a:lnTo>
                  <a:pt x="209417" y="0"/>
                </a:lnTo>
                <a:close/>
              </a:path>
              <a:path w="419100" h="419100">
                <a:moveTo>
                  <a:pt x="334059" y="41297"/>
                </a:moveTo>
                <a:lnTo>
                  <a:pt x="209417" y="41297"/>
                </a:lnTo>
                <a:lnTo>
                  <a:pt x="243764" y="45110"/>
                </a:lnTo>
                <a:lnTo>
                  <a:pt x="275042" y="54572"/>
                </a:lnTo>
                <a:lnTo>
                  <a:pt x="328377" y="90457"/>
                </a:lnTo>
                <a:lnTo>
                  <a:pt x="364262" y="143800"/>
                </a:lnTo>
                <a:lnTo>
                  <a:pt x="377538" y="209417"/>
                </a:lnTo>
                <a:lnTo>
                  <a:pt x="373725" y="243773"/>
                </a:lnTo>
                <a:lnTo>
                  <a:pt x="349147" y="303255"/>
                </a:lnTo>
                <a:lnTo>
                  <a:pt x="303247" y="349159"/>
                </a:lnTo>
                <a:lnTo>
                  <a:pt x="243764" y="373739"/>
                </a:lnTo>
                <a:lnTo>
                  <a:pt x="209417" y="377548"/>
                </a:lnTo>
                <a:lnTo>
                  <a:pt x="334059" y="377548"/>
                </a:lnTo>
                <a:lnTo>
                  <a:pt x="383805" y="326483"/>
                </a:lnTo>
                <a:lnTo>
                  <a:pt x="402608" y="291272"/>
                </a:lnTo>
                <a:lnTo>
                  <a:pt x="414284" y="252250"/>
                </a:lnTo>
                <a:lnTo>
                  <a:pt x="418835" y="209417"/>
                </a:lnTo>
                <a:lnTo>
                  <a:pt x="414326" y="166992"/>
                </a:lnTo>
                <a:lnTo>
                  <a:pt x="414284" y="166594"/>
                </a:lnTo>
                <a:lnTo>
                  <a:pt x="402608" y="127575"/>
                </a:lnTo>
                <a:lnTo>
                  <a:pt x="383805" y="92363"/>
                </a:lnTo>
                <a:lnTo>
                  <a:pt x="357873" y="60961"/>
                </a:lnTo>
                <a:lnTo>
                  <a:pt x="334059" y="41297"/>
                </a:lnTo>
                <a:close/>
              </a:path>
              <a:path w="419100" h="419100">
                <a:moveTo>
                  <a:pt x="230055" y="272337"/>
                </a:moveTo>
                <a:lnTo>
                  <a:pt x="188769" y="272337"/>
                </a:lnTo>
                <a:lnTo>
                  <a:pt x="188769" y="314618"/>
                </a:lnTo>
                <a:lnTo>
                  <a:pt x="230055" y="314618"/>
                </a:lnTo>
                <a:lnTo>
                  <a:pt x="230055" y="272337"/>
                </a:lnTo>
                <a:close/>
              </a:path>
              <a:path w="419100" h="419100">
                <a:moveTo>
                  <a:pt x="230055" y="104216"/>
                </a:moveTo>
                <a:lnTo>
                  <a:pt x="188769" y="104216"/>
                </a:lnTo>
                <a:lnTo>
                  <a:pt x="188769" y="230066"/>
                </a:lnTo>
                <a:lnTo>
                  <a:pt x="230055" y="230066"/>
                </a:lnTo>
                <a:lnTo>
                  <a:pt x="230055" y="104216"/>
                </a:lnTo>
                <a:close/>
              </a:path>
            </a:pathLst>
          </a:custGeom>
          <a:solidFill>
            <a:srgbClr val="2121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24970" y="7390216"/>
            <a:ext cx="2355215" cy="179869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13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错误率
跟踪幻觉、越权引用、格式错误、遗漏关键信息等失败样例。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5080">
              <a:lnSpc>
                <a:spcPct val="128499"/>
              </a:lnSpc>
              <a:spcBef>
                <a:spcPts val="615"/>
              </a:spcBef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  <a:p>
            <a:pPr marL="12700" marR="194310">
              <a:lnSpc>
                <a:spcPct val="128499"/>
              </a:lnSpc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996387" y="6841764"/>
            <a:ext cx="370205" cy="351790"/>
          </a:xfrm>
          <a:custGeom>
            <a:avLst/>
            <a:gdLst/>
            <a:ahLst/>
            <a:cxnLst/>
            <a:rect l="l" t="t" r="r" b="b"/>
            <a:pathLst>
              <a:path w="370204" h="351790">
                <a:moveTo>
                  <a:pt x="333497" y="73819"/>
                </a:moveTo>
                <a:lnTo>
                  <a:pt x="36470" y="73819"/>
                </a:lnTo>
                <a:lnTo>
                  <a:pt x="28666" y="74498"/>
                </a:lnTo>
                <a:lnTo>
                  <a:pt x="28885" y="74498"/>
                </a:lnTo>
                <a:lnTo>
                  <a:pt x="21759" y="76535"/>
                </a:lnTo>
                <a:lnTo>
                  <a:pt x="21935" y="76535"/>
                </a:lnTo>
                <a:lnTo>
                  <a:pt x="15957" y="79681"/>
                </a:lnTo>
                <a:lnTo>
                  <a:pt x="10418" y="84238"/>
                </a:lnTo>
                <a:lnTo>
                  <a:pt x="5857" y="89833"/>
                </a:lnTo>
                <a:lnTo>
                  <a:pt x="2602" y="96188"/>
                </a:lnTo>
                <a:lnTo>
                  <a:pt x="650" y="103300"/>
                </a:lnTo>
                <a:lnTo>
                  <a:pt x="0" y="111169"/>
                </a:lnTo>
                <a:lnTo>
                  <a:pt x="0" y="314388"/>
                </a:lnTo>
                <a:lnTo>
                  <a:pt x="22144" y="349026"/>
                </a:lnTo>
                <a:lnTo>
                  <a:pt x="36470" y="351737"/>
                </a:lnTo>
                <a:lnTo>
                  <a:pt x="333497" y="351737"/>
                </a:lnTo>
                <a:lnTo>
                  <a:pt x="367361" y="328827"/>
                </a:lnTo>
                <a:lnTo>
                  <a:pt x="369967" y="314388"/>
                </a:lnTo>
                <a:lnTo>
                  <a:pt x="369967" y="111169"/>
                </a:lnTo>
                <a:lnTo>
                  <a:pt x="347823" y="76535"/>
                </a:lnTo>
                <a:lnTo>
                  <a:pt x="340985" y="74498"/>
                </a:lnTo>
                <a:lnTo>
                  <a:pt x="333497" y="73819"/>
                </a:lnTo>
                <a:close/>
              </a:path>
              <a:path w="370204" h="351790">
                <a:moveTo>
                  <a:pt x="222328" y="0"/>
                </a:moveTo>
                <a:lnTo>
                  <a:pt x="147639" y="0"/>
                </a:lnTo>
                <a:lnTo>
                  <a:pt x="140149" y="651"/>
                </a:lnTo>
                <a:lnTo>
                  <a:pt x="111819" y="28986"/>
                </a:lnTo>
                <a:lnTo>
                  <a:pt x="111169" y="36480"/>
                </a:lnTo>
                <a:lnTo>
                  <a:pt x="111169" y="73819"/>
                </a:lnTo>
                <a:lnTo>
                  <a:pt x="147639" y="73819"/>
                </a:lnTo>
                <a:lnTo>
                  <a:pt x="147639" y="36480"/>
                </a:lnTo>
                <a:lnTo>
                  <a:pt x="258808" y="36480"/>
                </a:lnTo>
                <a:lnTo>
                  <a:pt x="236659" y="2605"/>
                </a:lnTo>
                <a:lnTo>
                  <a:pt x="229818" y="651"/>
                </a:lnTo>
                <a:lnTo>
                  <a:pt x="222328" y="0"/>
                </a:lnTo>
                <a:close/>
              </a:path>
              <a:path w="370204" h="351790">
                <a:moveTo>
                  <a:pt x="258808" y="36480"/>
                </a:moveTo>
                <a:lnTo>
                  <a:pt x="222328" y="36480"/>
                </a:lnTo>
                <a:lnTo>
                  <a:pt x="222328" y="73819"/>
                </a:lnTo>
                <a:lnTo>
                  <a:pt x="258808" y="73819"/>
                </a:lnTo>
                <a:lnTo>
                  <a:pt x="258808" y="36480"/>
                </a:lnTo>
                <a:close/>
              </a:path>
            </a:pathLst>
          </a:custGeom>
          <a:solidFill>
            <a:srgbClr val="2121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83687" y="7390216"/>
            <a:ext cx="2489835" cy="179869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150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业务影响
关联销售转化、客户投诉、工单关闭、项目交付或运营效率。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5080">
              <a:lnSpc>
                <a:spcPct val="128499"/>
              </a:lnSpc>
              <a:spcBef>
                <a:spcPts val="615"/>
              </a:spcBef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  <a:p>
            <a:pPr marL="12700" marR="449580">
              <a:lnSpc>
                <a:spcPct val="128499"/>
              </a:lnSpc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155101" y="6852304"/>
            <a:ext cx="332105" cy="341630"/>
          </a:xfrm>
          <a:custGeom>
            <a:avLst/>
            <a:gdLst/>
            <a:ahLst/>
            <a:cxnLst/>
            <a:rect l="l" t="t" r="r" b="b"/>
            <a:pathLst>
              <a:path w="332104" h="341629">
                <a:moveTo>
                  <a:pt x="160612" y="33642"/>
                </a:moveTo>
                <a:lnTo>
                  <a:pt x="37129" y="33642"/>
                </a:lnTo>
                <a:lnTo>
                  <a:pt x="29657" y="34269"/>
                </a:lnTo>
                <a:lnTo>
                  <a:pt x="673" y="61148"/>
                </a:lnTo>
                <a:lnTo>
                  <a:pt x="0" y="306755"/>
                </a:lnTo>
                <a:lnTo>
                  <a:pt x="673" y="313689"/>
                </a:lnTo>
                <a:lnTo>
                  <a:pt x="29657" y="340569"/>
                </a:lnTo>
                <a:lnTo>
                  <a:pt x="37129" y="341193"/>
                </a:lnTo>
                <a:lnTo>
                  <a:pt x="294451" y="341193"/>
                </a:lnTo>
                <a:lnTo>
                  <a:pt x="328881" y="320072"/>
                </a:lnTo>
                <a:lnTo>
                  <a:pt x="331581" y="306755"/>
                </a:lnTo>
                <a:lnTo>
                  <a:pt x="331581" y="273112"/>
                </a:lnTo>
                <a:lnTo>
                  <a:pt x="73400" y="273112"/>
                </a:lnTo>
                <a:lnTo>
                  <a:pt x="73400" y="238673"/>
                </a:lnTo>
                <a:lnTo>
                  <a:pt x="331581" y="238673"/>
                </a:lnTo>
                <a:lnTo>
                  <a:pt x="331581" y="204245"/>
                </a:lnTo>
                <a:lnTo>
                  <a:pt x="73390" y="204245"/>
                </a:lnTo>
                <a:lnTo>
                  <a:pt x="73390" y="170602"/>
                </a:lnTo>
                <a:lnTo>
                  <a:pt x="331581" y="170602"/>
                </a:lnTo>
                <a:lnTo>
                  <a:pt x="331581" y="136163"/>
                </a:lnTo>
                <a:lnTo>
                  <a:pt x="73390" y="136163"/>
                </a:lnTo>
                <a:lnTo>
                  <a:pt x="73390" y="101724"/>
                </a:lnTo>
                <a:lnTo>
                  <a:pt x="331581" y="101724"/>
                </a:lnTo>
                <a:lnTo>
                  <a:pt x="331503" y="67275"/>
                </a:lnTo>
                <a:lnTo>
                  <a:pt x="160612" y="67275"/>
                </a:lnTo>
                <a:lnTo>
                  <a:pt x="156298" y="65673"/>
                </a:lnTo>
                <a:lnTo>
                  <a:pt x="149388" y="59275"/>
                </a:lnTo>
                <a:lnTo>
                  <a:pt x="147660" y="55265"/>
                </a:lnTo>
                <a:lnTo>
                  <a:pt x="147660" y="45653"/>
                </a:lnTo>
                <a:lnTo>
                  <a:pt x="149388" y="41653"/>
                </a:lnTo>
                <a:lnTo>
                  <a:pt x="156298" y="35245"/>
                </a:lnTo>
                <a:lnTo>
                  <a:pt x="160612" y="33642"/>
                </a:lnTo>
                <a:close/>
              </a:path>
              <a:path w="332104" h="341629">
                <a:moveTo>
                  <a:pt x="331581" y="238673"/>
                </a:moveTo>
                <a:lnTo>
                  <a:pt x="202925" y="238673"/>
                </a:lnTo>
                <a:lnTo>
                  <a:pt x="202925" y="273112"/>
                </a:lnTo>
                <a:lnTo>
                  <a:pt x="331581" y="273112"/>
                </a:lnTo>
                <a:lnTo>
                  <a:pt x="331581" y="238673"/>
                </a:lnTo>
                <a:close/>
              </a:path>
              <a:path w="332104" h="341629">
                <a:moveTo>
                  <a:pt x="331581" y="170602"/>
                </a:moveTo>
                <a:lnTo>
                  <a:pt x="258180" y="170602"/>
                </a:lnTo>
                <a:lnTo>
                  <a:pt x="258180" y="204245"/>
                </a:lnTo>
                <a:lnTo>
                  <a:pt x="331581" y="204245"/>
                </a:lnTo>
                <a:lnTo>
                  <a:pt x="331581" y="170602"/>
                </a:lnTo>
                <a:close/>
              </a:path>
              <a:path w="332104" h="341629">
                <a:moveTo>
                  <a:pt x="331581" y="101724"/>
                </a:moveTo>
                <a:lnTo>
                  <a:pt x="258180" y="101724"/>
                </a:lnTo>
                <a:lnTo>
                  <a:pt x="258180" y="136163"/>
                </a:lnTo>
                <a:lnTo>
                  <a:pt x="331581" y="136163"/>
                </a:lnTo>
                <a:lnTo>
                  <a:pt x="331581" y="101724"/>
                </a:lnTo>
                <a:close/>
              </a:path>
              <a:path w="332104" h="341629">
                <a:moveTo>
                  <a:pt x="294451" y="33642"/>
                </a:moveTo>
                <a:lnTo>
                  <a:pt x="170968" y="33642"/>
                </a:lnTo>
                <a:lnTo>
                  <a:pt x="175293" y="35245"/>
                </a:lnTo>
                <a:lnTo>
                  <a:pt x="182193" y="41653"/>
                </a:lnTo>
                <a:lnTo>
                  <a:pt x="183921" y="45653"/>
                </a:lnTo>
                <a:lnTo>
                  <a:pt x="183921" y="55265"/>
                </a:lnTo>
                <a:lnTo>
                  <a:pt x="182193" y="59275"/>
                </a:lnTo>
                <a:lnTo>
                  <a:pt x="175293" y="65673"/>
                </a:lnTo>
                <a:lnTo>
                  <a:pt x="170968" y="67275"/>
                </a:lnTo>
                <a:lnTo>
                  <a:pt x="331503" y="67275"/>
                </a:lnTo>
                <a:lnTo>
                  <a:pt x="308804" y="36146"/>
                </a:lnTo>
                <a:lnTo>
                  <a:pt x="301926" y="34269"/>
                </a:lnTo>
                <a:lnTo>
                  <a:pt x="294451" y="33642"/>
                </a:lnTo>
                <a:close/>
              </a:path>
              <a:path w="332104" h="341629">
                <a:moveTo>
                  <a:pt x="165795" y="0"/>
                </a:moveTo>
                <a:lnTo>
                  <a:pt x="127414" y="14199"/>
                </a:lnTo>
                <a:lnTo>
                  <a:pt x="113986" y="33642"/>
                </a:lnTo>
                <a:lnTo>
                  <a:pt x="217605" y="33642"/>
                </a:lnTo>
                <a:lnTo>
                  <a:pt x="190562" y="5186"/>
                </a:lnTo>
                <a:lnTo>
                  <a:pt x="165795" y="0"/>
                </a:lnTo>
                <a:close/>
              </a:path>
            </a:pathLst>
          </a:custGeom>
          <a:solidFill>
            <a:srgbClr val="2121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142404" y="7310553"/>
            <a:ext cx="2590800" cy="1976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52780">
              <a:lnSpc>
                <a:spcPct val="114500"/>
              </a:lnSpc>
              <a:spcBef>
                <a:spcPts val="95"/>
              </a:spcBef>
            </a:pPr>
            <a:r>
              <a:rPr sz="1800" spc="114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训练与维护成本
评估知识更新、评估样本、模型配置和运营人力投入。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5080">
              <a:lnSpc>
                <a:spcPct val="128499"/>
              </a:lnSpc>
              <a:spcBef>
                <a:spcPts val="610"/>
              </a:spcBef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313822" y="6786306"/>
            <a:ext cx="429895" cy="407670"/>
          </a:xfrm>
          <a:custGeom>
            <a:avLst/>
            <a:gdLst/>
            <a:ahLst/>
            <a:cxnLst/>
            <a:rect l="l" t="t" r="r" b="b"/>
            <a:pathLst>
              <a:path w="429895" h="407670">
                <a:moveTo>
                  <a:pt x="157911" y="210485"/>
                </a:moveTo>
                <a:lnTo>
                  <a:pt x="95731" y="218478"/>
                </a:lnTo>
                <a:lnTo>
                  <a:pt x="45401" y="236547"/>
                </a:lnTo>
                <a:lnTo>
                  <a:pt x="11773" y="262609"/>
                </a:lnTo>
                <a:lnTo>
                  <a:pt x="0" y="294085"/>
                </a:lnTo>
                <a:lnTo>
                  <a:pt x="0" y="336377"/>
                </a:lnTo>
                <a:lnTo>
                  <a:pt x="167774" y="336377"/>
                </a:lnTo>
                <a:lnTo>
                  <a:pt x="159069" y="319597"/>
                </a:lnTo>
                <a:lnTo>
                  <a:pt x="152713" y="301708"/>
                </a:lnTo>
                <a:lnTo>
                  <a:pt x="148708" y="282711"/>
                </a:lnTo>
                <a:lnTo>
                  <a:pt x="147053" y="262609"/>
                </a:lnTo>
                <a:lnTo>
                  <a:pt x="147729" y="249032"/>
                </a:lnTo>
                <a:lnTo>
                  <a:pt x="149648" y="236547"/>
                </a:lnTo>
                <a:lnTo>
                  <a:pt x="149761" y="235817"/>
                </a:lnTo>
                <a:lnTo>
                  <a:pt x="153153" y="222968"/>
                </a:lnTo>
                <a:lnTo>
                  <a:pt x="157911" y="210485"/>
                </a:lnTo>
                <a:close/>
              </a:path>
              <a:path w="429895" h="407670">
                <a:moveTo>
                  <a:pt x="393778" y="342282"/>
                </a:moveTo>
                <a:lnTo>
                  <a:pt x="333570" y="342282"/>
                </a:lnTo>
                <a:lnTo>
                  <a:pt x="399694" y="407191"/>
                </a:lnTo>
                <a:lnTo>
                  <a:pt x="429306" y="377684"/>
                </a:lnTo>
                <a:lnTo>
                  <a:pt x="393778" y="342282"/>
                </a:lnTo>
                <a:close/>
              </a:path>
              <a:path w="429895" h="407670">
                <a:moveTo>
                  <a:pt x="284232" y="168193"/>
                </a:moveTo>
                <a:lnTo>
                  <a:pt x="231307" y="184052"/>
                </a:lnTo>
                <a:lnTo>
                  <a:pt x="197136" y="225731"/>
                </a:lnTo>
                <a:lnTo>
                  <a:pt x="190475" y="262609"/>
                </a:lnTo>
                <a:lnTo>
                  <a:pt x="192140" y="281919"/>
                </a:lnTo>
                <a:lnTo>
                  <a:pt x="217124" y="329487"/>
                </a:lnTo>
                <a:lnTo>
                  <a:pt x="264860" y="354943"/>
                </a:lnTo>
                <a:lnTo>
                  <a:pt x="284232" y="357025"/>
                </a:lnTo>
                <a:lnTo>
                  <a:pt x="297672" y="356104"/>
                </a:lnTo>
                <a:lnTo>
                  <a:pt x="310377" y="353341"/>
                </a:lnTo>
                <a:lnTo>
                  <a:pt x="322345" y="348734"/>
                </a:lnTo>
                <a:lnTo>
                  <a:pt x="333570" y="342282"/>
                </a:lnTo>
                <a:lnTo>
                  <a:pt x="393778" y="342282"/>
                </a:lnTo>
                <a:lnTo>
                  <a:pt x="366142" y="314744"/>
                </a:lnTo>
                <a:lnTo>
                  <a:pt x="283740" y="314744"/>
                </a:lnTo>
                <a:lnTo>
                  <a:pt x="273098" y="313821"/>
                </a:lnTo>
                <a:lnTo>
                  <a:pt x="240250" y="292115"/>
                </a:lnTo>
                <a:lnTo>
                  <a:pt x="231919" y="262609"/>
                </a:lnTo>
                <a:lnTo>
                  <a:pt x="232845" y="251792"/>
                </a:lnTo>
                <a:lnTo>
                  <a:pt x="254622" y="218781"/>
                </a:lnTo>
                <a:lnTo>
                  <a:pt x="284232" y="210485"/>
                </a:lnTo>
                <a:lnTo>
                  <a:pt x="363386" y="210485"/>
                </a:lnTo>
                <a:lnTo>
                  <a:pt x="363056" y="209871"/>
                </a:lnTo>
                <a:lnTo>
                  <a:pt x="351340" y="195732"/>
                </a:lnTo>
                <a:lnTo>
                  <a:pt x="337151" y="184052"/>
                </a:lnTo>
                <a:lnTo>
                  <a:pt x="321237" y="175570"/>
                </a:lnTo>
                <a:lnTo>
                  <a:pt x="303598" y="170285"/>
                </a:lnTo>
                <a:lnTo>
                  <a:pt x="284232" y="168193"/>
                </a:lnTo>
                <a:close/>
              </a:path>
              <a:path w="429895" h="407670">
                <a:moveTo>
                  <a:pt x="363386" y="210485"/>
                </a:moveTo>
                <a:lnTo>
                  <a:pt x="284232" y="210485"/>
                </a:lnTo>
                <a:lnTo>
                  <a:pt x="294650" y="211406"/>
                </a:lnTo>
                <a:lnTo>
                  <a:pt x="304211" y="214171"/>
                </a:lnTo>
                <a:lnTo>
                  <a:pt x="331849" y="241957"/>
                </a:lnTo>
                <a:lnTo>
                  <a:pt x="335549" y="262609"/>
                </a:lnTo>
                <a:lnTo>
                  <a:pt x="334625" y="273431"/>
                </a:lnTo>
                <a:lnTo>
                  <a:pt x="312881" y="306439"/>
                </a:lnTo>
                <a:lnTo>
                  <a:pt x="283740" y="314744"/>
                </a:lnTo>
                <a:lnTo>
                  <a:pt x="366142" y="314744"/>
                </a:lnTo>
                <a:lnTo>
                  <a:pt x="364166" y="312775"/>
                </a:lnTo>
                <a:lnTo>
                  <a:pt x="370274" y="301530"/>
                </a:lnTo>
                <a:lnTo>
                  <a:pt x="374777" y="289420"/>
                </a:lnTo>
                <a:lnTo>
                  <a:pt x="377676" y="276447"/>
                </a:lnTo>
                <a:lnTo>
                  <a:pt x="378972" y="262609"/>
                </a:lnTo>
                <a:lnTo>
                  <a:pt x="376874" y="243310"/>
                </a:lnTo>
                <a:lnTo>
                  <a:pt x="371568" y="225731"/>
                </a:lnTo>
                <a:lnTo>
                  <a:pt x="363386" y="210485"/>
                </a:lnTo>
                <a:close/>
              </a:path>
              <a:path w="429895" h="407670">
                <a:moveTo>
                  <a:pt x="167774" y="0"/>
                </a:moveTo>
                <a:lnTo>
                  <a:pt x="121144" y="14207"/>
                </a:lnTo>
                <a:lnTo>
                  <a:pt x="90798" y="51274"/>
                </a:lnTo>
                <a:lnTo>
                  <a:pt x="84876" y="84102"/>
                </a:lnTo>
                <a:lnTo>
                  <a:pt x="86357" y="101284"/>
                </a:lnTo>
                <a:lnTo>
                  <a:pt x="108562" y="143597"/>
                </a:lnTo>
                <a:lnTo>
                  <a:pt x="150751" y="166289"/>
                </a:lnTo>
                <a:lnTo>
                  <a:pt x="167774" y="168193"/>
                </a:lnTo>
                <a:lnTo>
                  <a:pt x="186864" y="166289"/>
                </a:lnTo>
                <a:lnTo>
                  <a:pt x="187443" y="166289"/>
                </a:lnTo>
                <a:lnTo>
                  <a:pt x="197876" y="156575"/>
                </a:lnTo>
                <a:lnTo>
                  <a:pt x="209226" y="148278"/>
                </a:lnTo>
                <a:lnTo>
                  <a:pt x="221561" y="141331"/>
                </a:lnTo>
                <a:lnTo>
                  <a:pt x="234882" y="135734"/>
                </a:lnTo>
                <a:lnTo>
                  <a:pt x="242284" y="124057"/>
                </a:lnTo>
                <a:lnTo>
                  <a:pt x="247713" y="111644"/>
                </a:lnTo>
                <a:lnTo>
                  <a:pt x="251169" y="98490"/>
                </a:lnTo>
                <a:lnTo>
                  <a:pt x="252651" y="84594"/>
                </a:lnTo>
                <a:lnTo>
                  <a:pt x="250739" y="67201"/>
                </a:lnTo>
                <a:lnTo>
                  <a:pt x="227972" y="24596"/>
                </a:lnTo>
                <a:lnTo>
                  <a:pt x="185226" y="1912"/>
                </a:lnTo>
                <a:lnTo>
                  <a:pt x="167774" y="0"/>
                </a:lnTo>
                <a:close/>
              </a:path>
            </a:pathLst>
          </a:custGeom>
          <a:solidFill>
            <a:srgbClr val="2121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0301122" y="7310553"/>
            <a:ext cx="2512060" cy="165763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30200">
              <a:lnSpc>
                <a:spcPct val="114500"/>
              </a:lnSpc>
              <a:spcBef>
                <a:spcPts val="95"/>
              </a:spcBef>
            </a:pPr>
            <a:r>
              <a:rPr sz="1800" spc="16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人在回路效率
记录人工审核通过率、修改类型和升级处理比例。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5080">
              <a:lnSpc>
                <a:spcPct val="128499"/>
              </a:lnSpc>
              <a:spcBef>
                <a:spcPts val="610"/>
              </a:spcBef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3472540" y="6814522"/>
            <a:ext cx="474980" cy="379095"/>
            <a:chOff x="13472540" y="6814522"/>
            <a:chExt cx="474980" cy="379095"/>
          </a:xfrm>
        </p:grpSpPr>
        <p:sp>
          <p:nvSpPr>
            <p:cNvPr id="32" name="object 32"/>
            <p:cNvSpPr/>
            <p:nvPr/>
          </p:nvSpPr>
          <p:spPr>
            <a:xfrm>
              <a:off x="13472540" y="6925984"/>
              <a:ext cx="474980" cy="267970"/>
            </a:xfrm>
            <a:custGeom>
              <a:avLst/>
              <a:gdLst/>
              <a:ahLst/>
              <a:cxnLst/>
              <a:rect l="l" t="t" r="r" b="b"/>
              <a:pathLst>
                <a:path w="474980" h="267970">
                  <a:moveTo>
                    <a:pt x="431526" y="0"/>
                  </a:moveTo>
                  <a:lnTo>
                    <a:pt x="410818" y="5388"/>
                  </a:lnTo>
                  <a:lnTo>
                    <a:pt x="396302" y="19033"/>
                  </a:lnTo>
                  <a:lnTo>
                    <a:pt x="388986" y="37150"/>
                  </a:lnTo>
                  <a:lnTo>
                    <a:pt x="389883" y="55956"/>
                  </a:lnTo>
                  <a:lnTo>
                    <a:pt x="313288" y="135315"/>
                  </a:lnTo>
                  <a:lnTo>
                    <a:pt x="306817" y="133315"/>
                  </a:lnTo>
                  <a:lnTo>
                    <a:pt x="297320" y="133315"/>
                  </a:lnTo>
                  <a:lnTo>
                    <a:pt x="290849" y="135315"/>
                  </a:lnTo>
                  <a:lnTo>
                    <a:pt x="235825" y="78468"/>
                  </a:lnTo>
                  <a:lnTo>
                    <a:pt x="236845" y="59628"/>
                  </a:lnTo>
                  <a:lnTo>
                    <a:pt x="229571" y="41435"/>
                  </a:lnTo>
                  <a:lnTo>
                    <a:pt x="215013" y="27715"/>
                  </a:lnTo>
                  <a:lnTo>
                    <a:pt x="194182" y="22292"/>
                  </a:lnTo>
                  <a:lnTo>
                    <a:pt x="173445" y="27684"/>
                  </a:lnTo>
                  <a:lnTo>
                    <a:pt x="158879" y="41353"/>
                  </a:lnTo>
                  <a:lnTo>
                    <a:pt x="151554" y="59535"/>
                  </a:lnTo>
                  <a:lnTo>
                    <a:pt x="152539" y="78468"/>
                  </a:lnTo>
                  <a:lnTo>
                    <a:pt x="54155" y="179900"/>
                  </a:lnTo>
                  <a:lnTo>
                    <a:pt x="35953" y="178976"/>
                  </a:lnTo>
                  <a:lnTo>
                    <a:pt x="18419" y="186534"/>
                  </a:lnTo>
                  <a:lnTo>
                    <a:pt x="5214" y="201532"/>
                  </a:lnTo>
                  <a:lnTo>
                    <a:pt x="0" y="222925"/>
                  </a:lnTo>
                  <a:lnTo>
                    <a:pt x="3404" y="240237"/>
                  </a:lnTo>
                  <a:lnTo>
                    <a:pt x="12673" y="254413"/>
                  </a:lnTo>
                  <a:lnTo>
                    <a:pt x="26393" y="263992"/>
                  </a:lnTo>
                  <a:lnTo>
                    <a:pt x="43150" y="267510"/>
                  </a:lnTo>
                  <a:lnTo>
                    <a:pt x="63857" y="262122"/>
                  </a:lnTo>
                  <a:lnTo>
                    <a:pt x="78374" y="248480"/>
                  </a:lnTo>
                  <a:lnTo>
                    <a:pt x="85690" y="230364"/>
                  </a:lnTo>
                  <a:lnTo>
                    <a:pt x="84793" y="211553"/>
                  </a:lnTo>
                  <a:lnTo>
                    <a:pt x="182968" y="109902"/>
                  </a:lnTo>
                  <a:lnTo>
                    <a:pt x="189439" y="111912"/>
                  </a:lnTo>
                  <a:lnTo>
                    <a:pt x="198936" y="111912"/>
                  </a:lnTo>
                  <a:lnTo>
                    <a:pt x="205407" y="109902"/>
                  </a:lnTo>
                  <a:lnTo>
                    <a:pt x="260421" y="166748"/>
                  </a:lnTo>
                  <a:lnTo>
                    <a:pt x="259406" y="185589"/>
                  </a:lnTo>
                  <a:lnTo>
                    <a:pt x="266682" y="203781"/>
                  </a:lnTo>
                  <a:lnTo>
                    <a:pt x="281239" y="217501"/>
                  </a:lnTo>
                  <a:lnTo>
                    <a:pt x="302064" y="222925"/>
                  </a:lnTo>
                  <a:lnTo>
                    <a:pt x="322802" y="217532"/>
                  </a:lnTo>
                  <a:lnTo>
                    <a:pt x="337370" y="203864"/>
                  </a:lnTo>
                  <a:lnTo>
                    <a:pt x="344696" y="185682"/>
                  </a:lnTo>
                  <a:lnTo>
                    <a:pt x="343706" y="166748"/>
                  </a:lnTo>
                  <a:lnTo>
                    <a:pt x="420521" y="87609"/>
                  </a:lnTo>
                  <a:lnTo>
                    <a:pt x="438723" y="88538"/>
                  </a:lnTo>
                  <a:lnTo>
                    <a:pt x="456257" y="80979"/>
                  </a:lnTo>
                  <a:lnTo>
                    <a:pt x="469461" y="65979"/>
                  </a:lnTo>
                  <a:lnTo>
                    <a:pt x="474676" y="44585"/>
                  </a:lnTo>
                  <a:lnTo>
                    <a:pt x="471272" y="27273"/>
                  </a:lnTo>
                  <a:lnTo>
                    <a:pt x="462002" y="13096"/>
                  </a:lnTo>
                  <a:lnTo>
                    <a:pt x="448282" y="3517"/>
                  </a:lnTo>
                  <a:lnTo>
                    <a:pt x="431526" y="0"/>
                  </a:lnTo>
                  <a:close/>
                </a:path>
              </a:pathLst>
            </a:custGeom>
            <a:solidFill>
              <a:srgbClr val="212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709876" y="6814522"/>
              <a:ext cx="129462" cy="13375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472543" y="6881399"/>
              <a:ext cx="107871" cy="111462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3459838" y="7390216"/>
            <a:ext cx="2489200" cy="179869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114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可扩展性
观察高并发、多角色、多场景下的稳定性和复用效率。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5080">
              <a:lnSpc>
                <a:spcPct val="128499"/>
              </a:lnSpc>
              <a:spcBef>
                <a:spcPts val="615"/>
              </a:spcBef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  <a:p>
            <a:pPr marL="12700" marR="250825">
              <a:lnSpc>
                <a:spcPct val="128499"/>
              </a:lnSpc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6631253" y="6743247"/>
            <a:ext cx="478790" cy="456565"/>
            <a:chOff x="16631253" y="6743247"/>
            <a:chExt cx="478790" cy="456565"/>
          </a:xfrm>
        </p:grpSpPr>
        <p:sp>
          <p:nvSpPr>
            <p:cNvPr id="37" name="object 37"/>
            <p:cNvSpPr/>
            <p:nvPr/>
          </p:nvSpPr>
          <p:spPr>
            <a:xfrm>
              <a:off x="16631253" y="6743247"/>
              <a:ext cx="478790" cy="456565"/>
            </a:xfrm>
            <a:custGeom>
              <a:avLst/>
              <a:gdLst/>
              <a:ahLst/>
              <a:cxnLst/>
              <a:rect l="l" t="t" r="r" b="b"/>
              <a:pathLst>
                <a:path w="478790" h="456565">
                  <a:moveTo>
                    <a:pt x="165188" y="0"/>
                  </a:moveTo>
                  <a:lnTo>
                    <a:pt x="124111" y="69338"/>
                  </a:lnTo>
                  <a:lnTo>
                    <a:pt x="45653" y="86939"/>
                  </a:lnTo>
                  <a:lnTo>
                    <a:pt x="53035" y="167366"/>
                  </a:lnTo>
                  <a:lnTo>
                    <a:pt x="0" y="228003"/>
                  </a:lnTo>
                  <a:lnTo>
                    <a:pt x="53035" y="288640"/>
                  </a:lnTo>
                  <a:lnTo>
                    <a:pt x="45653" y="369067"/>
                  </a:lnTo>
                  <a:lnTo>
                    <a:pt x="124111" y="386888"/>
                  </a:lnTo>
                  <a:lnTo>
                    <a:pt x="165188" y="456436"/>
                  </a:lnTo>
                  <a:lnTo>
                    <a:pt x="239092" y="424489"/>
                  </a:lnTo>
                  <a:lnTo>
                    <a:pt x="331783" y="424489"/>
                  </a:lnTo>
                  <a:lnTo>
                    <a:pt x="345562" y="401233"/>
                  </a:lnTo>
                  <a:lnTo>
                    <a:pt x="183230" y="401233"/>
                  </a:lnTo>
                  <a:lnTo>
                    <a:pt x="161712" y="364931"/>
                  </a:lnTo>
                  <a:lnTo>
                    <a:pt x="152152" y="348848"/>
                  </a:lnTo>
                  <a:lnTo>
                    <a:pt x="92594" y="335371"/>
                  </a:lnTo>
                  <a:lnTo>
                    <a:pt x="96878" y="288860"/>
                  </a:lnTo>
                  <a:lnTo>
                    <a:pt x="98248" y="274295"/>
                  </a:lnTo>
                  <a:lnTo>
                    <a:pt x="86070" y="260170"/>
                  </a:lnTo>
                  <a:lnTo>
                    <a:pt x="58040" y="228223"/>
                  </a:lnTo>
                  <a:lnTo>
                    <a:pt x="86070" y="196056"/>
                  </a:lnTo>
                  <a:lnTo>
                    <a:pt x="98248" y="181921"/>
                  </a:lnTo>
                  <a:lnTo>
                    <a:pt x="96313" y="163450"/>
                  </a:lnTo>
                  <a:lnTo>
                    <a:pt x="92374" y="121064"/>
                  </a:lnTo>
                  <a:lnTo>
                    <a:pt x="151932" y="107588"/>
                  </a:lnTo>
                  <a:lnTo>
                    <a:pt x="161492" y="91505"/>
                  </a:lnTo>
                  <a:lnTo>
                    <a:pt x="183010" y="54993"/>
                  </a:lnTo>
                  <a:lnTo>
                    <a:pt x="345564" y="54993"/>
                  </a:lnTo>
                  <a:lnTo>
                    <a:pt x="331786" y="31737"/>
                  </a:lnTo>
                  <a:lnTo>
                    <a:pt x="239092" y="31737"/>
                  </a:lnTo>
                  <a:lnTo>
                    <a:pt x="165188" y="0"/>
                  </a:lnTo>
                  <a:close/>
                </a:path>
                <a:path w="478790" h="456565">
                  <a:moveTo>
                    <a:pt x="331783" y="424489"/>
                  </a:moveTo>
                  <a:lnTo>
                    <a:pt x="239092" y="424489"/>
                  </a:lnTo>
                  <a:lnTo>
                    <a:pt x="312985" y="456216"/>
                  </a:lnTo>
                  <a:lnTo>
                    <a:pt x="331783" y="424489"/>
                  </a:lnTo>
                  <a:close/>
                </a:path>
                <a:path w="478790" h="456565">
                  <a:moveTo>
                    <a:pt x="239092" y="377108"/>
                  </a:moveTo>
                  <a:lnTo>
                    <a:pt x="183230" y="401233"/>
                  </a:lnTo>
                  <a:lnTo>
                    <a:pt x="295163" y="401233"/>
                  </a:lnTo>
                  <a:lnTo>
                    <a:pt x="239092" y="377108"/>
                  </a:lnTo>
                  <a:close/>
                </a:path>
                <a:path w="478790" h="456565">
                  <a:moveTo>
                    <a:pt x="345564" y="54993"/>
                  </a:moveTo>
                  <a:lnTo>
                    <a:pt x="294943" y="54993"/>
                  </a:lnTo>
                  <a:lnTo>
                    <a:pt x="316461" y="91505"/>
                  </a:lnTo>
                  <a:lnTo>
                    <a:pt x="326031" y="107588"/>
                  </a:lnTo>
                  <a:lnTo>
                    <a:pt x="385579" y="121064"/>
                  </a:lnTo>
                  <a:lnTo>
                    <a:pt x="381694" y="163230"/>
                  </a:lnTo>
                  <a:lnTo>
                    <a:pt x="379936" y="181921"/>
                  </a:lnTo>
                  <a:lnTo>
                    <a:pt x="392103" y="196056"/>
                  </a:lnTo>
                  <a:lnTo>
                    <a:pt x="420144" y="228003"/>
                  </a:lnTo>
                  <a:lnTo>
                    <a:pt x="380145" y="274295"/>
                  </a:lnTo>
                  <a:lnTo>
                    <a:pt x="381883" y="292776"/>
                  </a:lnTo>
                  <a:lnTo>
                    <a:pt x="385799" y="335162"/>
                  </a:lnTo>
                  <a:lnTo>
                    <a:pt x="326241" y="348638"/>
                  </a:lnTo>
                  <a:lnTo>
                    <a:pt x="316681" y="364721"/>
                  </a:lnTo>
                  <a:lnTo>
                    <a:pt x="295163" y="401233"/>
                  </a:lnTo>
                  <a:lnTo>
                    <a:pt x="345562" y="401233"/>
                  </a:lnTo>
                  <a:lnTo>
                    <a:pt x="354062" y="386888"/>
                  </a:lnTo>
                  <a:lnTo>
                    <a:pt x="432531" y="369067"/>
                  </a:lnTo>
                  <a:lnTo>
                    <a:pt x="425138" y="288860"/>
                  </a:lnTo>
                  <a:lnTo>
                    <a:pt x="478173" y="228003"/>
                  </a:lnTo>
                  <a:lnTo>
                    <a:pt x="425138" y="167366"/>
                  </a:lnTo>
                  <a:lnTo>
                    <a:pt x="432531" y="87159"/>
                  </a:lnTo>
                  <a:lnTo>
                    <a:pt x="354062" y="69338"/>
                  </a:lnTo>
                  <a:lnTo>
                    <a:pt x="345564" y="54993"/>
                  </a:lnTo>
                  <a:close/>
                </a:path>
                <a:path w="478790" h="456565">
                  <a:moveTo>
                    <a:pt x="294943" y="54993"/>
                  </a:moveTo>
                  <a:lnTo>
                    <a:pt x="183010" y="54993"/>
                  </a:lnTo>
                  <a:lnTo>
                    <a:pt x="239092" y="79118"/>
                  </a:lnTo>
                  <a:lnTo>
                    <a:pt x="294943" y="54993"/>
                  </a:lnTo>
                  <a:close/>
                </a:path>
                <a:path w="478790" h="456565">
                  <a:moveTo>
                    <a:pt x="312985" y="0"/>
                  </a:moveTo>
                  <a:lnTo>
                    <a:pt x="239092" y="31737"/>
                  </a:lnTo>
                  <a:lnTo>
                    <a:pt x="331786" y="31737"/>
                  </a:lnTo>
                  <a:lnTo>
                    <a:pt x="312985" y="0"/>
                  </a:lnTo>
                  <a:close/>
                </a:path>
              </a:pathLst>
            </a:custGeom>
            <a:solidFill>
              <a:srgbClr val="212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746233" y="6881706"/>
              <a:ext cx="242128" cy="19235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6618557" y="7354520"/>
            <a:ext cx="2660650" cy="149335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13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合规与安全
监控权限、审计、敏感信息、内容安全和行业监管要求。</a:t>
            </a:r>
            <a:endParaRPr sz="1800" dirty="0">
              <a:latin typeface="MiSans Medium" pitchFamily="2" charset="-128"/>
              <a:cs typeface="MiSans Medium" pitchFamily="2" charset="-128"/>
            </a:endParaRPr>
          </a:p>
          <a:p>
            <a:pPr marL="12700" marR="5080">
              <a:lnSpc>
                <a:spcPct val="128499"/>
              </a:lnSpc>
              <a:spcBef>
                <a:spcPts val="615"/>
              </a:spcBef>
            </a:pPr>
            <a:endParaRPr sz="1550" dirty="0">
              <a:latin typeface="MiSans Medium" pitchFamily="2" charset="-128"/>
              <a:cs typeface="MiSans Medium" pitchFamily="2" charset="-128"/>
            </a:endParaRPr>
          </a:p>
        </p:txBody>
      </p:sp>
      <p:pic>
        <p:nvPicPr>
          <p:cNvPr id="40" name="object 4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551239" y="349922"/>
            <a:ext cx="162801" cy="138383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345174" y="10760882"/>
            <a:ext cx="868897" cy="153838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14881122" y="328209"/>
            <a:ext cx="4537710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solidFill>
                  <a:srgbClr val="BDC1C6"/>
                </a:solidFill>
                <a:latin typeface="Tahoma"/>
                <a:cs typeface="Tahoma"/>
              </a:rPr>
              <a:t>AI 产品 3.0 | 能力架构与迭代推导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120" dirty="0"/>
              <a:t>17</a:t>
            </a:fld>
            <a:endParaRPr spc="1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4029" y="728325"/>
            <a:ext cx="9799955" cy="3398303"/>
          </a:xfrm>
          <a:prstGeom prst="rect">
            <a:avLst/>
          </a:prstGeom>
        </p:spPr>
        <p:txBody>
          <a:bodyPr vert="horz" wrap="square" lIns="0" tIns="311150" rIns="0" bIns="0" rtlCol="0">
            <a:spAutoFit/>
          </a:bodyPr>
          <a:lstStyle/>
          <a:p>
            <a:pPr marL="12700" marR="37465">
              <a:lnSpc>
                <a:spcPts val="12030"/>
              </a:lnSpc>
              <a:spcBef>
                <a:spcPts val="2450"/>
              </a:spcBef>
            </a:pPr>
            <a:r>
              <a:rPr sz="11950" spc="475" dirty="0" err="1">
                <a:solidFill>
                  <a:srgbClr val="202124"/>
                </a:solidFill>
              </a:rPr>
              <a:t>即刻启动</a:t>
            </a:r>
            <a:br>
              <a:rPr lang="en-US" sz="11950" spc="475" dirty="0">
                <a:solidFill>
                  <a:srgbClr val="202124"/>
                </a:solidFill>
              </a:rPr>
            </a:br>
            <a:r>
              <a:rPr sz="11950" spc="475" dirty="0">
                <a:solidFill>
                  <a:srgbClr val="202124"/>
                </a:solidFill>
              </a:rPr>
              <a:t>AI产品3.0</a:t>
            </a:r>
            <a:endParaRPr sz="11950" dirty="0"/>
          </a:p>
        </p:txBody>
      </p:sp>
      <p:sp>
        <p:nvSpPr>
          <p:cNvPr id="3" name="object 3"/>
          <p:cNvSpPr txBox="1"/>
          <p:nvPr/>
        </p:nvSpPr>
        <p:spPr>
          <a:xfrm>
            <a:off x="10221702" y="7139117"/>
            <a:ext cx="7224785" cy="20435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5215"/>
              </a:lnSpc>
              <a:spcBef>
                <a:spcPts val="135"/>
              </a:spcBef>
            </a:pPr>
            <a:r>
              <a:rPr sz="4000" spc="34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联系我们
共建首个试点场景
AI 产品 3.0 </a:t>
            </a:r>
            <a:r>
              <a:rPr sz="4000" spc="345" dirty="0" err="1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方案工作坊</a:t>
            </a:r>
            <a:endParaRPr sz="4000" dirty="0">
              <a:latin typeface="MiSans Medium" pitchFamily="2" charset="-128"/>
              <a:cs typeface="MiSans Medium" pitchFamily="2" charset="-128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4029" y="7139117"/>
            <a:ext cx="6123821" cy="200183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 marR="5080">
              <a:spcBef>
                <a:spcPts val="610"/>
              </a:spcBef>
            </a:pPr>
            <a:r>
              <a:rPr sz="4000" spc="195" dirty="0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完成场景评估，获得适合本业务的 MVP 路线图。
30 </a:t>
            </a:r>
            <a:r>
              <a:rPr sz="4000" spc="195" dirty="0" err="1">
                <a:solidFill>
                  <a:srgbClr val="202124"/>
                </a:solidFill>
                <a:latin typeface="MiSans Medium" pitchFamily="2" charset="-128"/>
                <a:cs typeface="MiSans Medium" pitchFamily="2" charset="-128"/>
              </a:rPr>
              <a:t>天试点计划</a:t>
            </a:r>
            <a:endParaRPr sz="4000" dirty="0">
              <a:latin typeface="MiSans Medium" pitchFamily="2" charset="-128"/>
              <a:cs typeface="MiSans Medium" pitchFamily="2" charset="-128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7670" y="6486713"/>
            <a:ext cx="19266535" cy="146685"/>
            <a:chOff x="837670" y="6486713"/>
            <a:chExt cx="19266535" cy="146685"/>
          </a:xfrm>
        </p:grpSpPr>
        <p:sp>
          <p:nvSpPr>
            <p:cNvPr id="6" name="object 6"/>
            <p:cNvSpPr/>
            <p:nvPr/>
          </p:nvSpPr>
          <p:spPr>
            <a:xfrm>
              <a:off x="837670" y="6486713"/>
              <a:ext cx="5789930" cy="146685"/>
            </a:xfrm>
            <a:custGeom>
              <a:avLst/>
              <a:gdLst/>
              <a:ahLst/>
              <a:cxnLst/>
              <a:rect l="l" t="t" r="r" b="b"/>
              <a:pathLst>
                <a:path w="5789930" h="146684">
                  <a:moveTo>
                    <a:pt x="5789352" y="0"/>
                  </a:moveTo>
                  <a:lnTo>
                    <a:pt x="0" y="0"/>
                  </a:lnTo>
                  <a:lnTo>
                    <a:pt x="0" y="146592"/>
                  </a:lnTo>
                  <a:lnTo>
                    <a:pt x="5789352" y="146592"/>
                  </a:lnTo>
                  <a:lnTo>
                    <a:pt x="5789352" y="0"/>
                  </a:lnTo>
                  <a:close/>
                </a:path>
              </a:pathLst>
            </a:custGeom>
            <a:solidFill>
              <a:srgbClr val="EA43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7002" y="6486713"/>
              <a:ext cx="7719695" cy="146685"/>
            </a:xfrm>
            <a:custGeom>
              <a:avLst/>
              <a:gdLst/>
              <a:ahLst/>
              <a:cxnLst/>
              <a:rect l="l" t="t" r="r" b="b"/>
              <a:pathLst>
                <a:path w="7719694" h="146684">
                  <a:moveTo>
                    <a:pt x="7719147" y="0"/>
                  </a:moveTo>
                  <a:lnTo>
                    <a:pt x="0" y="0"/>
                  </a:lnTo>
                  <a:lnTo>
                    <a:pt x="0" y="146592"/>
                  </a:lnTo>
                  <a:lnTo>
                    <a:pt x="7719147" y="146592"/>
                  </a:lnTo>
                  <a:lnTo>
                    <a:pt x="7719147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346159" y="6486713"/>
              <a:ext cx="1930400" cy="146685"/>
            </a:xfrm>
            <a:custGeom>
              <a:avLst/>
              <a:gdLst/>
              <a:ahLst/>
              <a:cxnLst/>
              <a:rect l="l" t="t" r="r" b="b"/>
              <a:pathLst>
                <a:path w="1930400" h="146684">
                  <a:moveTo>
                    <a:pt x="1929794" y="0"/>
                  </a:moveTo>
                  <a:lnTo>
                    <a:pt x="0" y="0"/>
                  </a:lnTo>
                  <a:lnTo>
                    <a:pt x="0" y="146592"/>
                  </a:lnTo>
                  <a:lnTo>
                    <a:pt x="1929794" y="146592"/>
                  </a:lnTo>
                  <a:lnTo>
                    <a:pt x="1929794" y="0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275954" y="6486713"/>
              <a:ext cx="3828415" cy="146685"/>
            </a:xfrm>
            <a:custGeom>
              <a:avLst/>
              <a:gdLst/>
              <a:ahLst/>
              <a:cxnLst/>
              <a:rect l="l" t="t" r="r" b="b"/>
              <a:pathLst>
                <a:path w="3828415" h="146684">
                  <a:moveTo>
                    <a:pt x="3828145" y="0"/>
                  </a:moveTo>
                  <a:lnTo>
                    <a:pt x="0" y="0"/>
                  </a:lnTo>
                  <a:lnTo>
                    <a:pt x="0" y="146592"/>
                  </a:lnTo>
                  <a:lnTo>
                    <a:pt x="3828145" y="146592"/>
                  </a:lnTo>
                  <a:lnTo>
                    <a:pt x="3828145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8120825" y="7414587"/>
            <a:ext cx="1146175" cy="344805"/>
            <a:chOff x="18120825" y="7414587"/>
            <a:chExt cx="1146175" cy="344805"/>
          </a:xfrm>
        </p:grpSpPr>
        <p:sp>
          <p:nvSpPr>
            <p:cNvPr id="12" name="object 12"/>
            <p:cNvSpPr/>
            <p:nvPr/>
          </p:nvSpPr>
          <p:spPr>
            <a:xfrm>
              <a:off x="18459950" y="7422182"/>
              <a:ext cx="42545" cy="329565"/>
            </a:xfrm>
            <a:custGeom>
              <a:avLst/>
              <a:gdLst/>
              <a:ahLst/>
              <a:cxnLst/>
              <a:rect l="l" t="t" r="r" b="b"/>
              <a:pathLst>
                <a:path w="42544" h="329565">
                  <a:moveTo>
                    <a:pt x="42448" y="0"/>
                  </a:moveTo>
                  <a:lnTo>
                    <a:pt x="0" y="0"/>
                  </a:lnTo>
                  <a:lnTo>
                    <a:pt x="0" y="329298"/>
                  </a:lnTo>
                  <a:lnTo>
                    <a:pt x="42448" y="329298"/>
                  </a:lnTo>
                  <a:lnTo>
                    <a:pt x="42448" y="0"/>
                  </a:lnTo>
                  <a:close/>
                </a:path>
              </a:pathLst>
            </a:custGeom>
            <a:solidFill>
              <a:srgbClr val="5E63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38581" y="7518692"/>
              <a:ext cx="231448" cy="2403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04433" y="7525842"/>
              <a:ext cx="199721" cy="23278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8120817" y="7414596"/>
              <a:ext cx="1146175" cy="344170"/>
            </a:xfrm>
            <a:custGeom>
              <a:avLst/>
              <a:gdLst/>
              <a:ahLst/>
              <a:cxnLst/>
              <a:rect l="l" t="t" r="r" b="b"/>
              <a:pathLst>
                <a:path w="1146175" h="344170">
                  <a:moveTo>
                    <a:pt x="301599" y="284619"/>
                  </a:moveTo>
                  <a:lnTo>
                    <a:pt x="272110" y="255117"/>
                  </a:lnTo>
                  <a:lnTo>
                    <a:pt x="250177" y="275971"/>
                  </a:lnTo>
                  <a:lnTo>
                    <a:pt x="225971" y="290918"/>
                  </a:lnTo>
                  <a:lnTo>
                    <a:pt x="199593" y="299923"/>
                  </a:lnTo>
                  <a:lnTo>
                    <a:pt x="171132" y="302933"/>
                  </a:lnTo>
                  <a:lnTo>
                    <a:pt x="145326" y="300672"/>
                  </a:lnTo>
                  <a:lnTo>
                    <a:pt x="99936" y="282575"/>
                  </a:lnTo>
                  <a:lnTo>
                    <a:pt x="64262" y="247230"/>
                  </a:lnTo>
                  <a:lnTo>
                    <a:pt x="45681" y="199644"/>
                  </a:lnTo>
                  <a:lnTo>
                    <a:pt x="43345" y="171577"/>
                  </a:lnTo>
                  <a:lnTo>
                    <a:pt x="45681" y="143510"/>
                  </a:lnTo>
                  <a:lnTo>
                    <a:pt x="64262" y="95923"/>
                  </a:lnTo>
                  <a:lnTo>
                    <a:pt x="99936" y="60566"/>
                  </a:lnTo>
                  <a:lnTo>
                    <a:pt x="145326" y="42481"/>
                  </a:lnTo>
                  <a:lnTo>
                    <a:pt x="171132" y="40220"/>
                  </a:lnTo>
                  <a:lnTo>
                    <a:pt x="198691" y="42887"/>
                  </a:lnTo>
                  <a:lnTo>
                    <a:pt x="223126" y="50825"/>
                  </a:lnTo>
                  <a:lnTo>
                    <a:pt x="244449" y="63969"/>
                  </a:lnTo>
                  <a:lnTo>
                    <a:pt x="262724" y="82219"/>
                  </a:lnTo>
                  <a:lnTo>
                    <a:pt x="292214" y="53619"/>
                  </a:lnTo>
                  <a:lnTo>
                    <a:pt x="267068" y="30162"/>
                  </a:lnTo>
                  <a:lnTo>
                    <a:pt x="238544" y="13398"/>
                  </a:lnTo>
                  <a:lnTo>
                    <a:pt x="206565" y="3352"/>
                  </a:lnTo>
                  <a:lnTo>
                    <a:pt x="171132" y="0"/>
                  </a:lnTo>
                  <a:lnTo>
                    <a:pt x="136105" y="3086"/>
                  </a:lnTo>
                  <a:lnTo>
                    <a:pt x="75120" y="27711"/>
                  </a:lnTo>
                  <a:lnTo>
                    <a:pt x="27711" y="75387"/>
                  </a:lnTo>
                  <a:lnTo>
                    <a:pt x="3098" y="136740"/>
                  </a:lnTo>
                  <a:lnTo>
                    <a:pt x="0" y="172021"/>
                  </a:lnTo>
                  <a:lnTo>
                    <a:pt x="3098" y="207365"/>
                  </a:lnTo>
                  <a:lnTo>
                    <a:pt x="27711" y="268846"/>
                  </a:lnTo>
                  <a:lnTo>
                    <a:pt x="75374" y="316331"/>
                  </a:lnTo>
                  <a:lnTo>
                    <a:pt x="136359" y="340944"/>
                  </a:lnTo>
                  <a:lnTo>
                    <a:pt x="171132" y="344043"/>
                  </a:lnTo>
                  <a:lnTo>
                    <a:pt x="190817" y="343027"/>
                  </a:lnTo>
                  <a:lnTo>
                    <a:pt x="244856" y="327507"/>
                  </a:lnTo>
                  <a:lnTo>
                    <a:pt x="289521" y="297408"/>
                  </a:lnTo>
                  <a:lnTo>
                    <a:pt x="301599" y="284619"/>
                  </a:lnTo>
                  <a:close/>
                </a:path>
                <a:path w="1146175" h="344170">
                  <a:moveTo>
                    <a:pt x="1145603" y="7594"/>
                  </a:moveTo>
                  <a:lnTo>
                    <a:pt x="1105839" y="7594"/>
                  </a:lnTo>
                  <a:lnTo>
                    <a:pt x="1105839" y="224294"/>
                  </a:lnTo>
                  <a:lnTo>
                    <a:pt x="1104531" y="241808"/>
                  </a:lnTo>
                  <a:lnTo>
                    <a:pt x="1084834" y="283718"/>
                  </a:lnTo>
                  <a:lnTo>
                    <a:pt x="1048334" y="304266"/>
                  </a:lnTo>
                  <a:lnTo>
                    <a:pt x="1033907" y="305612"/>
                  </a:lnTo>
                  <a:lnTo>
                    <a:pt x="1020368" y="304266"/>
                  </a:lnTo>
                  <a:lnTo>
                    <a:pt x="1019886" y="304266"/>
                  </a:lnTo>
                  <a:lnTo>
                    <a:pt x="983411" y="283273"/>
                  </a:lnTo>
                  <a:lnTo>
                    <a:pt x="963815" y="242062"/>
                  </a:lnTo>
                  <a:lnTo>
                    <a:pt x="962418" y="224294"/>
                  </a:lnTo>
                  <a:lnTo>
                    <a:pt x="963688" y="206781"/>
                  </a:lnTo>
                  <a:lnTo>
                    <a:pt x="983411" y="165315"/>
                  </a:lnTo>
                  <a:lnTo>
                    <a:pt x="1019670" y="144386"/>
                  </a:lnTo>
                  <a:lnTo>
                    <a:pt x="1033907" y="142976"/>
                  </a:lnTo>
                  <a:lnTo>
                    <a:pt x="1049159" y="144386"/>
                  </a:lnTo>
                  <a:lnTo>
                    <a:pt x="1048626" y="144386"/>
                  </a:lnTo>
                  <a:lnTo>
                    <a:pt x="1061720" y="148399"/>
                  </a:lnTo>
                  <a:lnTo>
                    <a:pt x="1093965" y="176860"/>
                  </a:lnTo>
                  <a:lnTo>
                    <a:pt x="1105839" y="224294"/>
                  </a:lnTo>
                  <a:lnTo>
                    <a:pt x="1105839" y="7594"/>
                  </a:lnTo>
                  <a:lnTo>
                    <a:pt x="1103160" y="7594"/>
                  </a:lnTo>
                  <a:lnTo>
                    <a:pt x="1103223" y="113207"/>
                  </a:lnTo>
                  <a:lnTo>
                    <a:pt x="1104925" y="142976"/>
                  </a:lnTo>
                  <a:lnTo>
                    <a:pt x="1104950" y="143421"/>
                  </a:lnTo>
                  <a:lnTo>
                    <a:pt x="1103160" y="143421"/>
                  </a:lnTo>
                  <a:lnTo>
                    <a:pt x="1102842" y="142976"/>
                  </a:lnTo>
                  <a:lnTo>
                    <a:pt x="1097534" y="135382"/>
                  </a:lnTo>
                  <a:lnTo>
                    <a:pt x="1090650" y="128066"/>
                  </a:lnTo>
                  <a:lnTo>
                    <a:pt x="1051102" y="107289"/>
                  </a:lnTo>
                  <a:lnTo>
                    <a:pt x="1026756" y="104559"/>
                  </a:lnTo>
                  <a:lnTo>
                    <a:pt x="1005662" y="106730"/>
                  </a:lnTo>
                  <a:lnTo>
                    <a:pt x="967816" y="123964"/>
                  </a:lnTo>
                  <a:lnTo>
                    <a:pt x="937425" y="157124"/>
                  </a:lnTo>
                  <a:lnTo>
                    <a:pt x="927569" y="177304"/>
                  </a:lnTo>
                  <a:lnTo>
                    <a:pt x="927506" y="177431"/>
                  </a:lnTo>
                  <a:lnTo>
                    <a:pt x="921524" y="199834"/>
                  </a:lnTo>
                  <a:lnTo>
                    <a:pt x="919518" y="224294"/>
                  </a:lnTo>
                  <a:lnTo>
                    <a:pt x="921524" y="248742"/>
                  </a:lnTo>
                  <a:lnTo>
                    <a:pt x="937425" y="291465"/>
                  </a:lnTo>
                  <a:lnTo>
                    <a:pt x="968006" y="324624"/>
                  </a:lnTo>
                  <a:lnTo>
                    <a:pt x="1005725" y="341871"/>
                  </a:lnTo>
                  <a:lnTo>
                    <a:pt x="1026756" y="344030"/>
                  </a:lnTo>
                  <a:lnTo>
                    <a:pt x="1039406" y="343357"/>
                  </a:lnTo>
                  <a:lnTo>
                    <a:pt x="1082230" y="326910"/>
                  </a:lnTo>
                  <a:lnTo>
                    <a:pt x="1102842" y="305612"/>
                  </a:lnTo>
                  <a:lnTo>
                    <a:pt x="1103160" y="305168"/>
                  </a:lnTo>
                  <a:lnTo>
                    <a:pt x="1104950" y="305168"/>
                  </a:lnTo>
                  <a:lnTo>
                    <a:pt x="1104950" y="336448"/>
                  </a:lnTo>
                  <a:lnTo>
                    <a:pt x="1145603" y="336448"/>
                  </a:lnTo>
                  <a:lnTo>
                    <a:pt x="1145603" y="305168"/>
                  </a:lnTo>
                  <a:lnTo>
                    <a:pt x="1145603" y="143421"/>
                  </a:lnTo>
                  <a:lnTo>
                    <a:pt x="1145603" y="7594"/>
                  </a:lnTo>
                  <a:close/>
                </a:path>
              </a:pathLst>
            </a:custGeom>
            <a:solidFill>
              <a:srgbClr val="5E63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6523059" y="7381971"/>
            <a:ext cx="1489075" cy="485140"/>
            <a:chOff x="16523059" y="7381971"/>
            <a:chExt cx="1489075" cy="485140"/>
          </a:xfrm>
        </p:grpSpPr>
        <p:sp>
          <p:nvSpPr>
            <p:cNvPr id="17" name="object 17"/>
            <p:cNvSpPr/>
            <p:nvPr/>
          </p:nvSpPr>
          <p:spPr>
            <a:xfrm>
              <a:off x="16523059" y="7381971"/>
              <a:ext cx="367665" cy="377190"/>
            </a:xfrm>
            <a:custGeom>
              <a:avLst/>
              <a:gdLst/>
              <a:ahLst/>
              <a:cxnLst/>
              <a:rect l="l" t="t" r="r" b="b"/>
              <a:pathLst>
                <a:path w="367665" h="377190">
                  <a:moveTo>
                    <a:pt x="191229" y="0"/>
                  </a:moveTo>
                  <a:lnTo>
                    <a:pt x="118453" y="13741"/>
                  </a:lnTo>
                  <a:lnTo>
                    <a:pt x="56741" y="54961"/>
                  </a:lnTo>
                  <a:lnTo>
                    <a:pt x="31853" y="84123"/>
                  </a:lnTo>
                  <a:lnTo>
                    <a:pt x="3525" y="150654"/>
                  </a:lnTo>
                  <a:lnTo>
                    <a:pt x="0" y="188109"/>
                  </a:lnTo>
                  <a:lnTo>
                    <a:pt x="3588" y="225564"/>
                  </a:lnTo>
                  <a:lnTo>
                    <a:pt x="32043" y="292095"/>
                  </a:lnTo>
                  <a:lnTo>
                    <a:pt x="56741" y="321257"/>
                  </a:lnTo>
                  <a:lnTo>
                    <a:pt x="86235" y="345555"/>
                  </a:lnTo>
                  <a:lnTo>
                    <a:pt x="153437" y="373216"/>
                  </a:lnTo>
                  <a:lnTo>
                    <a:pt x="191229" y="376658"/>
                  </a:lnTo>
                  <a:lnTo>
                    <a:pt x="229596" y="373377"/>
                  </a:lnTo>
                  <a:lnTo>
                    <a:pt x="295275" y="346876"/>
                  </a:lnTo>
                  <a:lnTo>
                    <a:pt x="342197" y="299368"/>
                  </a:lnTo>
                  <a:lnTo>
                    <a:pt x="364494" y="239231"/>
                  </a:lnTo>
                  <a:lnTo>
                    <a:pt x="367266" y="203302"/>
                  </a:lnTo>
                  <a:lnTo>
                    <a:pt x="367099" y="194505"/>
                  </a:lnTo>
                  <a:lnTo>
                    <a:pt x="191229" y="171125"/>
                  </a:lnTo>
                  <a:lnTo>
                    <a:pt x="191229" y="222516"/>
                  </a:lnTo>
                  <a:lnTo>
                    <a:pt x="314545" y="222516"/>
                  </a:lnTo>
                  <a:lnTo>
                    <a:pt x="310777" y="242376"/>
                  </a:lnTo>
                  <a:lnTo>
                    <a:pt x="286399" y="287300"/>
                  </a:lnTo>
                  <a:lnTo>
                    <a:pt x="243840" y="315444"/>
                  </a:lnTo>
                  <a:lnTo>
                    <a:pt x="191229" y="324827"/>
                  </a:lnTo>
                  <a:lnTo>
                    <a:pt x="164164" y="322384"/>
                  </a:lnTo>
                  <a:lnTo>
                    <a:pt x="116395" y="302586"/>
                  </a:lnTo>
                  <a:lnTo>
                    <a:pt x="78347" y="263943"/>
                  </a:lnTo>
                  <a:lnTo>
                    <a:pt x="58728" y="215510"/>
                  </a:lnTo>
                  <a:lnTo>
                    <a:pt x="56291" y="188109"/>
                  </a:lnTo>
                  <a:lnTo>
                    <a:pt x="58728" y="160706"/>
                  </a:lnTo>
                  <a:lnTo>
                    <a:pt x="78347" y="112267"/>
                  </a:lnTo>
                  <a:lnTo>
                    <a:pt x="116206" y="73818"/>
                  </a:lnTo>
                  <a:lnTo>
                    <a:pt x="164101" y="53897"/>
                  </a:lnTo>
                  <a:lnTo>
                    <a:pt x="191229" y="51391"/>
                  </a:lnTo>
                  <a:lnTo>
                    <a:pt x="217188" y="53659"/>
                  </a:lnTo>
                  <a:lnTo>
                    <a:pt x="241386" y="60494"/>
                  </a:lnTo>
                  <a:lnTo>
                    <a:pt x="263741" y="71936"/>
                  </a:lnTo>
                  <a:lnTo>
                    <a:pt x="284169" y="88028"/>
                  </a:lnTo>
                  <a:lnTo>
                    <a:pt x="320356" y="51830"/>
                  </a:lnTo>
                  <a:lnTo>
                    <a:pt x="291951" y="29221"/>
                  </a:lnTo>
                  <a:lnTo>
                    <a:pt x="260988" y="13016"/>
                  </a:lnTo>
                  <a:lnTo>
                    <a:pt x="227427" y="3261"/>
                  </a:lnTo>
                  <a:lnTo>
                    <a:pt x="191229" y="0"/>
                  </a:lnTo>
                  <a:close/>
                </a:path>
              </a:pathLst>
            </a:custGeom>
            <a:solidFill>
              <a:srgbClr val="428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09096" y="7516019"/>
              <a:ext cx="243060" cy="2430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74497" y="7516019"/>
              <a:ext cx="243060" cy="24306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439898" y="7516016"/>
              <a:ext cx="233045" cy="351155"/>
            </a:xfrm>
            <a:custGeom>
              <a:avLst/>
              <a:gdLst/>
              <a:ahLst/>
              <a:cxnLst/>
              <a:rect l="l" t="t" r="r" b="b"/>
              <a:pathLst>
                <a:path w="233044" h="351154">
                  <a:moveTo>
                    <a:pt x="56301" y="260033"/>
                  </a:moveTo>
                  <a:lnTo>
                    <a:pt x="9832" y="279248"/>
                  </a:lnTo>
                  <a:lnTo>
                    <a:pt x="16715" y="293011"/>
                  </a:lnTo>
                  <a:lnTo>
                    <a:pt x="16791" y="293162"/>
                  </a:lnTo>
                  <a:lnTo>
                    <a:pt x="49150" y="329288"/>
                  </a:lnTo>
                  <a:lnTo>
                    <a:pt x="97715" y="349402"/>
                  </a:lnTo>
                  <a:lnTo>
                    <a:pt x="117064" y="350743"/>
                  </a:lnTo>
                  <a:lnTo>
                    <a:pt x="141106" y="348808"/>
                  </a:lnTo>
                  <a:lnTo>
                    <a:pt x="162972" y="342977"/>
                  </a:lnTo>
                  <a:lnTo>
                    <a:pt x="182661" y="333210"/>
                  </a:lnTo>
                  <a:lnTo>
                    <a:pt x="200171" y="319466"/>
                  </a:lnTo>
                  <a:lnTo>
                    <a:pt x="212983" y="303383"/>
                  </a:lnTo>
                  <a:lnTo>
                    <a:pt x="117064" y="303383"/>
                  </a:lnTo>
                  <a:lnTo>
                    <a:pt x="106165" y="302552"/>
                  </a:lnTo>
                  <a:lnTo>
                    <a:pt x="71879" y="283724"/>
                  </a:lnTo>
                  <a:lnTo>
                    <a:pt x="60487" y="268491"/>
                  </a:lnTo>
                  <a:lnTo>
                    <a:pt x="56301" y="260033"/>
                  </a:lnTo>
                  <a:close/>
                </a:path>
                <a:path w="233044" h="351154">
                  <a:moveTo>
                    <a:pt x="232788" y="214914"/>
                  </a:moveTo>
                  <a:lnTo>
                    <a:pt x="181847" y="214914"/>
                  </a:lnTo>
                  <a:lnTo>
                    <a:pt x="181746" y="233843"/>
                  </a:lnTo>
                  <a:lnTo>
                    <a:pt x="180758" y="248492"/>
                  </a:lnTo>
                  <a:lnTo>
                    <a:pt x="164424" y="285059"/>
                  </a:lnTo>
                  <a:lnTo>
                    <a:pt x="117064" y="303383"/>
                  </a:lnTo>
                  <a:lnTo>
                    <a:pt x="212983" y="303383"/>
                  </a:lnTo>
                  <a:lnTo>
                    <a:pt x="214315" y="301711"/>
                  </a:lnTo>
                  <a:lnTo>
                    <a:pt x="224521" y="279978"/>
                  </a:lnTo>
                  <a:lnTo>
                    <a:pt x="230707" y="254307"/>
                  </a:lnTo>
                  <a:lnTo>
                    <a:pt x="232788" y="224736"/>
                  </a:lnTo>
                  <a:lnTo>
                    <a:pt x="232788" y="214914"/>
                  </a:lnTo>
                  <a:close/>
                </a:path>
                <a:path w="233044" h="351154">
                  <a:moveTo>
                    <a:pt x="116164" y="0"/>
                  </a:moveTo>
                  <a:lnTo>
                    <a:pt x="72658" y="8991"/>
                  </a:lnTo>
                  <a:lnTo>
                    <a:pt x="34847" y="35747"/>
                  </a:lnTo>
                  <a:lnTo>
                    <a:pt x="8710" y="75005"/>
                  </a:lnTo>
                  <a:lnTo>
                    <a:pt x="40" y="121525"/>
                  </a:lnTo>
                  <a:lnTo>
                    <a:pt x="0" y="121975"/>
                  </a:lnTo>
                  <a:lnTo>
                    <a:pt x="2177" y="146177"/>
                  </a:lnTo>
                  <a:lnTo>
                    <a:pt x="19600" y="188888"/>
                  </a:lnTo>
                  <a:lnTo>
                    <a:pt x="53020" y="222820"/>
                  </a:lnTo>
                  <a:lnTo>
                    <a:pt x="93720" y="240425"/>
                  </a:lnTo>
                  <a:lnTo>
                    <a:pt x="116164" y="242610"/>
                  </a:lnTo>
                  <a:lnTo>
                    <a:pt x="135700" y="240858"/>
                  </a:lnTo>
                  <a:lnTo>
                    <a:pt x="152806" y="235630"/>
                  </a:lnTo>
                  <a:lnTo>
                    <a:pt x="167564" y="226968"/>
                  </a:lnTo>
                  <a:lnTo>
                    <a:pt x="180057" y="214914"/>
                  </a:lnTo>
                  <a:lnTo>
                    <a:pt x="232788" y="214914"/>
                  </a:lnTo>
                  <a:lnTo>
                    <a:pt x="232788" y="194800"/>
                  </a:lnTo>
                  <a:lnTo>
                    <a:pt x="121085" y="194800"/>
                  </a:lnTo>
                  <a:lnTo>
                    <a:pt x="107583" y="193468"/>
                  </a:lnTo>
                  <a:lnTo>
                    <a:pt x="73275" y="173806"/>
                  </a:lnTo>
                  <a:lnTo>
                    <a:pt x="54862" y="136607"/>
                  </a:lnTo>
                  <a:lnTo>
                    <a:pt x="53610" y="121525"/>
                  </a:lnTo>
                  <a:lnTo>
                    <a:pt x="54856" y="106441"/>
                  </a:lnTo>
                  <a:lnTo>
                    <a:pt x="73275" y="68804"/>
                  </a:lnTo>
                  <a:lnTo>
                    <a:pt x="107320" y="49142"/>
                  </a:lnTo>
                  <a:lnTo>
                    <a:pt x="106860" y="49142"/>
                  </a:lnTo>
                  <a:lnTo>
                    <a:pt x="121085" y="47810"/>
                  </a:lnTo>
                  <a:lnTo>
                    <a:pt x="232788" y="47810"/>
                  </a:lnTo>
                  <a:lnTo>
                    <a:pt x="232788" y="26805"/>
                  </a:lnTo>
                  <a:lnTo>
                    <a:pt x="180057" y="26805"/>
                  </a:lnTo>
                  <a:lnTo>
                    <a:pt x="174873" y="21292"/>
                  </a:lnTo>
                  <a:lnTo>
                    <a:pt x="168725" y="16197"/>
                  </a:lnTo>
                  <a:lnTo>
                    <a:pt x="126302" y="432"/>
                  </a:lnTo>
                  <a:lnTo>
                    <a:pt x="116164" y="0"/>
                  </a:lnTo>
                  <a:close/>
                </a:path>
                <a:path w="233044" h="351154">
                  <a:moveTo>
                    <a:pt x="232788" y="47810"/>
                  </a:moveTo>
                  <a:lnTo>
                    <a:pt x="121085" y="47810"/>
                  </a:lnTo>
                  <a:lnTo>
                    <a:pt x="134305" y="49142"/>
                  </a:lnTo>
                  <a:lnTo>
                    <a:pt x="146439" y="53112"/>
                  </a:lnTo>
                  <a:lnTo>
                    <a:pt x="157400" y="59679"/>
                  </a:lnTo>
                  <a:lnTo>
                    <a:pt x="167104" y="68804"/>
                  </a:lnTo>
                  <a:lnTo>
                    <a:pt x="175315" y="80123"/>
                  </a:lnTo>
                  <a:lnTo>
                    <a:pt x="181100" y="92486"/>
                  </a:lnTo>
                  <a:lnTo>
                    <a:pt x="181179" y="92655"/>
                  </a:lnTo>
                  <a:lnTo>
                    <a:pt x="184696" y="106441"/>
                  </a:lnTo>
                  <a:lnTo>
                    <a:pt x="185868" y="121525"/>
                  </a:lnTo>
                  <a:lnTo>
                    <a:pt x="184506" y="136607"/>
                  </a:lnTo>
                  <a:lnTo>
                    <a:pt x="167104" y="173806"/>
                  </a:lnTo>
                  <a:lnTo>
                    <a:pt x="134242" y="193468"/>
                  </a:lnTo>
                  <a:lnTo>
                    <a:pt x="121085" y="194800"/>
                  </a:lnTo>
                  <a:lnTo>
                    <a:pt x="232788" y="194800"/>
                  </a:lnTo>
                  <a:lnTo>
                    <a:pt x="232788" y="47810"/>
                  </a:lnTo>
                  <a:close/>
                </a:path>
                <a:path w="233044" h="351154">
                  <a:moveTo>
                    <a:pt x="232788" y="6701"/>
                  </a:moveTo>
                  <a:lnTo>
                    <a:pt x="181847" y="6701"/>
                  </a:lnTo>
                  <a:lnTo>
                    <a:pt x="181847" y="26805"/>
                  </a:lnTo>
                  <a:lnTo>
                    <a:pt x="232788" y="26805"/>
                  </a:lnTo>
                  <a:lnTo>
                    <a:pt x="232788" y="6701"/>
                  </a:lnTo>
                  <a:close/>
                </a:path>
              </a:pathLst>
            </a:custGeom>
            <a:solidFill>
              <a:srgbClr val="428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709325" y="7394486"/>
              <a:ext cx="53340" cy="356870"/>
            </a:xfrm>
            <a:custGeom>
              <a:avLst/>
              <a:gdLst/>
              <a:ahLst/>
              <a:cxnLst/>
              <a:rect l="l" t="t" r="r" b="b"/>
              <a:pathLst>
                <a:path w="53340" h="356870">
                  <a:moveTo>
                    <a:pt x="53171" y="0"/>
                  </a:moveTo>
                  <a:lnTo>
                    <a:pt x="0" y="0"/>
                  </a:lnTo>
                  <a:lnTo>
                    <a:pt x="0" y="356544"/>
                  </a:lnTo>
                  <a:lnTo>
                    <a:pt x="53171" y="356544"/>
                  </a:lnTo>
                  <a:lnTo>
                    <a:pt x="53171" y="0"/>
                  </a:lnTo>
                  <a:close/>
                </a:path>
              </a:pathLst>
            </a:custGeom>
            <a:solidFill>
              <a:srgbClr val="33A8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87509" y="7516461"/>
              <a:ext cx="224296" cy="24217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5755694" y="328209"/>
            <a:ext cx="3662679" cy="17697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solidFill>
                  <a:srgbClr val="BDC1C6"/>
                </a:solidFill>
                <a:latin typeface="MiSans Medium" pitchFamily="2" charset="-128"/>
                <a:ea typeface="MiSans Medium" pitchFamily="2" charset="-128"/>
                <a:cs typeface="MiSans Medium" pitchFamily="2" charset="-128"/>
              </a:rPr>
              <a:t>AI 产品 3.0 | 交付与行动</a:t>
            </a:r>
            <a:endParaRPr sz="1050" dirty="0">
              <a:latin typeface="MiSans Medium" pitchFamily="2" charset="-128"/>
              <a:ea typeface="MiSans Medium" pitchFamily="2" charset="-128"/>
              <a:cs typeface="MiSans Medium" pitchFamily="2" charset="-128"/>
            </a:endParaRPr>
          </a:p>
        </p:txBody>
      </p:sp>
      <p:sp>
        <p:nvSpPr>
          <p:cNvPr id="943127" name="brand cleanup mask"/>
          <p:cNvSpPr/>
          <p:nvPr/>
        </p:nvSpPr>
        <p:spPr>
          <a:xfrm>
            <a:off x="15800000" y="7050000"/>
            <a:ext cx="40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自定义 17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5A5A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Words>964</Words>
  <Application>Microsoft Macintosh PowerPoint</Application>
  <PresentationFormat>自定义</PresentationFormat>
  <Paragraphs>143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MiSans</vt:lpstr>
      <vt:lpstr>MiSans Heavy</vt:lpstr>
      <vt:lpstr>MiSans Medium</vt:lpstr>
      <vt:lpstr>MiSans Semibold</vt:lpstr>
      <vt:lpstr>Calibri</vt:lpstr>
      <vt:lpstr>Tahoma</vt:lpstr>
      <vt:lpstr>Office Theme</vt:lpstr>
      <vt:lpstr>PowerPoint 演示文稿</vt:lpstr>
      <vt:lpstr>目录</vt:lpstr>
      <vt:lpstr>导言</vt:lpstr>
      <vt:lpstr>本方案面向希望启动或升级 AI 产品体系的业务负责人、产品团队和技术团队。</vt:lpstr>
      <vt:lpstr>Chapter 01</vt:lpstr>
      <vt:lpstr>PowerPoint 演示文稿</vt:lpstr>
      <vt:lpstr>Chapter 02</vt:lpstr>
      <vt:lpstr>AI 产品 3.0 的推导原则：先围绕一个业务域跑通闭环，再把能力横向复制到更多角色和任务。</vt:lpstr>
      <vt:lpstr>10 步推导 AI 产品 3.0 的首个可落地场景</vt:lpstr>
      <vt:lpstr>优先考虑三个因素：</vt:lpstr>
      <vt:lpstr>Step 2 of 10</vt:lpstr>
      <vt:lpstr>从数据和治理开始设计，团队可以让 AI 产品具备：</vt:lpstr>
      <vt:lpstr>PowerPoint 演示文稿</vt:lpstr>
      <vt:lpstr>Step 4 of 10</vt:lpstr>
      <vt:lpstr>Step 5 of 10</vt:lpstr>
      <vt:lpstr>AI产品3.0 指标体系</vt:lpstr>
      <vt:lpstr>PowerPoint 演示文稿</vt:lpstr>
      <vt:lpstr>即刻启动 AI产品3.0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产品 3.0 方案介绍</dc:title>
  <cp:lastModifiedBy>Wu Peter</cp:lastModifiedBy>
  <cp:revision>6</cp:revision>
  <dcterms:created xsi:type="dcterms:W3CDTF">2025-11-19T09:48:38Z</dcterms:created>
  <dcterms:modified xsi:type="dcterms:W3CDTF">2026-06-02T12:33:17Z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2023-12-05T00:00:00Z</vt:filetime>
  </property>
  <property fmtid="{D5CDD505-2E9C-101B-9397-08002B2CF9AE}" pid="3" name="Creator">
    <vt:lpwstr>Adobe InDesign 19.0 (Macintosh)</vt:lpwstr>
  </property>
  <property fmtid="{D5CDD505-2E9C-101B-9397-08002B2CF9AE}" pid="4" name="LastSaved">
    <vt:filetime>2025-11-19T00:00:00Z</vt:filetime>
  </property>
  <property fmtid="{D5CDD505-2E9C-101B-9397-08002B2CF9AE}" pid="5" name="Producer">
    <vt:lpwstr>Adobe PDF Library 17.0</vt:lpwstr>
  </property>
</Properties>
</file>