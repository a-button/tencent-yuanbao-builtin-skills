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0000"/>
    <a:srgbClr val="2D0000"/>
    <a:srgbClr val="C00000"/>
    <a:srgbClr val="FFFFFF"/>
    <a:srgbClr val="CAC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20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0" y="0"/>
            <a:ext cx="9144000" cy="12747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78265"/>
            <a:ext cx="8229600" cy="9595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580"/>
              </a:lnSpc>
              <a:buNone/>
            </a:pPr>
            <a:r>
              <a:rPr lang="zh-CN" altLang="en-US" sz="5400" dirty="0">
                <a:solidFill>
                  <a:srgbClr val="0D0D0D"/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这里是你的</a:t>
            </a:r>
            <a:r>
              <a:rPr lang="zh-CN" altLang="en-US" sz="5400" dirty="0">
                <a:solidFill>
                  <a:srgbClr val="C00000"/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论文</a:t>
            </a:r>
            <a:r>
              <a:rPr lang="zh-CN" alt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标题</a:t>
            </a:r>
            <a:endParaRPr lang="en-US" altLang="zh-CN" sz="5400" dirty="0">
              <a:solidFill>
                <a:schemeClr val="tx1">
                  <a:lumMod val="95000"/>
                  <a:lumOff val="5000"/>
                </a:schemeClr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1082765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2040672" y="2947736"/>
            <a:ext cx="51258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dist"/>
            <a:r>
              <a:rPr lang="en-US" sz="1000" dirty="0">
                <a:solidFill>
                  <a:schemeClr val="bg2">
                    <a:lumMod val="90000"/>
                  </a:schemeClr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The Future Development of Artificial Intelligence —— Proposal Defense Report</a:t>
            </a:r>
            <a:endParaRPr lang="en-US" sz="1000" dirty="0">
              <a:solidFill>
                <a:schemeClr val="bg2">
                  <a:lumMod val="9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40673" y="3313706"/>
            <a:ext cx="5125844" cy="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040672" y="3602686"/>
            <a:ext cx="1959828" cy="5209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spc="3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答辩学生：刘小美</a:t>
            </a:r>
            <a:r>
              <a:rPr lang="en-US" sz="1000" spc="3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000" spc="3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指导教师：张方圆</a:t>
            </a:r>
            <a:endParaRPr lang="en-US" sz="1000" spc="3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558D743-2A4F-CD39-F7F3-5A68C280AE88}"/>
              </a:ext>
            </a:extLst>
          </p:cNvPr>
          <p:cNvSpPr/>
          <p:nvPr/>
        </p:nvSpPr>
        <p:spPr>
          <a:xfrm>
            <a:off x="4000500" y="722934"/>
            <a:ext cx="1143000" cy="1143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6EE3783-DEFF-D674-9794-0BBAE40E3761}"/>
              </a:ext>
            </a:extLst>
          </p:cNvPr>
          <p:cNvSpPr/>
          <p:nvPr/>
        </p:nvSpPr>
        <p:spPr>
          <a:xfrm>
            <a:off x="4088781" y="811215"/>
            <a:ext cx="966438" cy="966438"/>
          </a:xfrm>
          <a:prstGeom prst="ellipse">
            <a:avLst/>
          </a:prstGeom>
          <a:solidFill>
            <a:srgbClr val="C000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rgbClr val="C00000"/>
                </a:solidFill>
                <a:latin typeface="DIN Alternate" panose="020B0500000000000000" pitchFamily="34" charset="0"/>
                <a:ea typeface="MiSans" pitchFamily="2" charset="-122"/>
              </a:rPr>
              <a:t>LOGO</a:t>
            </a:r>
            <a:endParaRPr kumimoji="1" lang="zh-CN" altLang="en-US" sz="1600" b="1" dirty="0">
              <a:solidFill>
                <a:srgbClr val="C00000"/>
              </a:solidFill>
              <a:latin typeface="DIN Alternate" panose="020B0500000000000000" pitchFamily="34" charset="0"/>
              <a:ea typeface="MiSans" pitchFamily="2" charset="-122"/>
            </a:endParaRPr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FBBFAADB-B36D-315C-D7B4-D55D165085D3}"/>
              </a:ext>
            </a:extLst>
          </p:cNvPr>
          <p:cNvSpPr/>
          <p:nvPr/>
        </p:nvSpPr>
        <p:spPr>
          <a:xfrm>
            <a:off x="5713140" y="3602686"/>
            <a:ext cx="1542587" cy="5209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spc="3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大学：深圳大学</a:t>
            </a:r>
            <a:endParaRPr lang="en-US" sz="1000" spc="300" dirty="0">
              <a:solidFill>
                <a:srgbClr val="888888"/>
              </a:solidFill>
              <a:latin typeface="MiSans Normal" pitchFamily="2" charset="-122"/>
              <a:ea typeface="MiSans Normal" pitchFamily="2" charset="-122"/>
              <a:cs typeface="Arial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000" spc="3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时间：</a:t>
            </a:r>
            <a:r>
              <a:rPr lang="en-US" altLang="zh-CN" sz="1000" spc="3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2026.06</a:t>
            </a:r>
            <a:endParaRPr lang="en-US" sz="1000" spc="300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本报告共20页，系统覆盖从研究背景到未来展望的完整答辩内容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1420987"/>
            <a:ext cx="393192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146670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1466707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研究背景与动机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759315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7200" y="1805035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60120" y="1805035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研究问题与目标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097643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143363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60120" y="2143363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文献综述（一）大模型进展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435971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7200" y="2481691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60120" y="2481691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文献综述（二）安全伦理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774299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7200" y="2820019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0120" y="2820019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核心技术路线图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112627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15834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" y="3158347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大语言模型架构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450955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57200" y="3496675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0120" y="3496675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研究方法论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789283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57200" y="3835003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60120" y="3835003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实验方案设计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127611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57200" y="4173331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60120" y="4173331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AI核心应用领域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1420987"/>
            <a:ext cx="393192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754880" y="146670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257800" y="1466707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AI安全与价值对齐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1759315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754880" y="1805035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257800" y="1805035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AGI进展与学术争论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2097643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754880" y="2143363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257800" y="2143363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AI治理框架与伦理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54880" y="2435971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4754880" y="2481691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57800" y="2481691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预期研究成果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774299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754880" y="2820019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257800" y="2820019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进度安排甘特图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3112627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4754880" y="315834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257800" y="3158347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研究创新点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54880" y="3450955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4754880" y="3496675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257800" y="3496675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研究挑战与应对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0" y="3789283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4754880" y="3835003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257800" y="3835003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AI未来展望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54880" y="4127611"/>
            <a:ext cx="3931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4754880" y="4173331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257800" y="4173331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结语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0" y="1420987"/>
            <a:ext cx="0" cy="3044952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3">
            <a:extLst>
              <a:ext uri="{FF2B5EF4-FFF2-40B4-BE49-F238E27FC236}">
                <a16:creationId xmlns:a16="http://schemas.microsoft.com/office/drawing/2014/main" id="{06091B2D-5547-A7D6-577F-8D13344B6763}"/>
              </a:ext>
            </a:extLst>
          </p:cNvPr>
          <p:cNvSpPr/>
          <p:nvPr/>
        </p:nvSpPr>
        <p:spPr>
          <a:xfrm>
            <a:off x="0" y="9144"/>
            <a:ext cx="979077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D693F194-45D6-CEF3-F56D-839103309AF0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err="1">
                <a:solidFill>
                  <a:srgbClr val="FFFFFF"/>
                </a:solidFill>
                <a:latin typeface="MiSans" pitchFamily="34" charset="0"/>
                <a:cs typeface="Arial" pitchFamily="34" charset="-120"/>
              </a:rPr>
              <a:t>目录</a:t>
            </a:r>
            <a:endParaRPr lang="en-US" sz="75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8755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106419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523744" y="1161283"/>
            <a:ext cx="0" cy="364388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21614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472179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算力爆发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1783075"/>
            <a:ext cx="2011680" cy="29397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GPU/TPU算力以指数级增长，每18个月翻倍。大模型参数从GPT-2的15亿增至GPT-4的超1万亿，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NVIDIA H100集群支撑前所未有的训练规模， 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推动AI能力质变式跃升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 NVIDIA H100集群支撑前所未有的训练规模，推动AI能力质变式变式变式跃升。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81728" y="1161283"/>
            <a:ext cx="0" cy="364388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615184" y="121614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15184" y="1472179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数据规模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15184" y="1783075"/>
            <a:ext cx="2011680" cy="29397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互联网数据量突破120ZB，多模态数据（图文、视频、代码）为大模型提供充足养料。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Common Crawl、Books3等语料库构成预训练基础，数据质量成为关键竞争壁垒。 Common Crawl、Books3等语料库构成预训练基础， 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数据质量成为关键竞争壁垒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数据质量成为关键竞争壁垒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839712" y="1161283"/>
            <a:ext cx="0" cy="364388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773168" y="121614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1472179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模型突破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1783075"/>
            <a:ext cx="2011680" cy="29397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Transformer架构革新，自监督预训练+指令微调范式确立。大语言模型具备涌现能力（Emergent Abilities），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在未经训练的任务上展现出惊人的零样本泛化性能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在未经训练的任务上展现出惊人的零样本泛化性能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31152" y="1216147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31152" y="1472179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产业落地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1783075"/>
            <a:ext cx="1883661" cy="29397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AI在医疗影像、自动驾驶、科学发现、软件工程等领域快速落地。2025年全球AI市场规模超5000亿美元，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ChatGPT用户突破5亿，AI正在重塑人类生产与认知方式。 ChatGPT用户突破5亿，AI正在重塑人类生产与认知方式。 ChatGPT用户突破5亿，AI正在重塑人类生产与认知方式。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487831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914894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 err="1">
                <a:solidFill>
                  <a:schemeClr val="bg2">
                    <a:lumMod val="75000"/>
                  </a:schemeClr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研究动机：如何理解AI能力边界？技术路径如何可持续演进？社会影响如何量化与治理</a:t>
            </a:r>
            <a:r>
              <a:rPr lang="en-US" sz="700" dirty="0">
                <a:solidFill>
                  <a:schemeClr val="bg2">
                    <a:lumMod val="75000"/>
                  </a:schemeClr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？</a:t>
            </a:r>
            <a:endParaRPr lang="en-US" sz="700" dirty="0">
              <a:solidFill>
                <a:schemeClr val="bg2">
                  <a:lumMod val="75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D4470CD3-F843-A4AC-5AE6-15BFB7FB94F8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EE6A0145-DEFE-8773-F066-711C7EEC8B55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D54E7445-1D52-CBD2-94AC-D1F5C90D652C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研究背景</a:t>
            </a:r>
            <a:endParaRPr lang="en-US" sz="18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39F42446-C1EB-D452-CF42-7A0AF2AF1F03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8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当前人工智能正处于历史性转折节点：算力、数据与算法三要素共振，推动AI从专用工具向通用智能体加速演</a:t>
            </a:r>
            <a:r>
              <a:rPr lang="zh-CN" alt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</a:t>
            </a:r>
            <a:endParaRPr lang="en-US" sz="850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8755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11854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1173406"/>
            <a:ext cx="8229600" cy="0"/>
          </a:xfrm>
          <a:prstGeom prst="line">
            <a:avLst/>
          </a:prstGeom>
          <a:noFill/>
          <a:ln w="1524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246558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1264845"/>
            <a:ext cx="1298448" cy="3609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技术路径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23160" y="1264845"/>
            <a:ext cx="0" cy="72750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578608" y="1246557"/>
            <a:ext cx="6108192" cy="8332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大规模预训练是否是通向AGI的唯一路径？Scaling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Law是否存在明确天花板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？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bg2">
                    <a:lumMod val="10000"/>
                  </a:schemeClr>
                </a:solidFill>
                <a:latin typeface="MiSans Demibold" pitchFamily="2" charset="-122"/>
                <a:ea typeface="MiSans Demibold" pitchFamily="2" charset="-122"/>
                <a:cs typeface="Arial" pitchFamily="34" charset="-120"/>
              </a:rPr>
              <a:t>神经符号融合、稀疏MoE架构能否提供更优解？本研究将系统对比多种技术路线的能效比与上限</a:t>
            </a:r>
            <a:r>
              <a:rPr lang="en-US" altLang="zh-CN" sz="900" dirty="0">
                <a:solidFill>
                  <a:schemeClr val="bg2">
                    <a:lumMod val="10000"/>
                  </a:schemeClr>
                </a:solidFill>
                <a:latin typeface="MiSans Demibold" pitchFamily="2" charset="-122"/>
                <a:ea typeface="MiSans Demibold" pitchFamily="2" charset="-122"/>
                <a:cs typeface="Arial" pitchFamily="34" charset="-120"/>
              </a:rPr>
              <a:t>。</a:t>
            </a:r>
            <a:r>
              <a:rPr lang="en-US" altLang="zh-CN" sz="900" dirty="0">
                <a:solidFill>
                  <a:schemeClr val="bg2">
                    <a:lumMod val="1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神经符号融合、稀疏MoE架构能否提供更优解？本研究将系统对比多种技术路线的能效比与上限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神经符号融合、稀疏MoE架构能否提供更优解？本研究将系统对比多种技术路线的能效比与上限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171245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244397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2262684"/>
            <a:ext cx="1298448" cy="365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能力边界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23160" y="2262685"/>
            <a:ext cx="0" cy="79275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578608" y="2244396"/>
            <a:ext cx="6108192" cy="833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当前AI在多步推理、抽象规划、因果理解和常识推断方面的根本局限是什么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？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这些局限源于训练数据、架构设计还是学习范式本身？突破路径是否存在，代价如何评估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？ 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这些局限源于</a:t>
            </a:r>
            <a:r>
              <a:rPr lang="en-US" altLang="zh-CN" sz="900" dirty="0" err="1">
                <a:solidFill>
                  <a:schemeClr val="bg2">
                    <a:lumMod val="10000"/>
                  </a:schemeClr>
                </a:solidFill>
                <a:latin typeface="MiSans Demibold" pitchFamily="2" charset="-122"/>
                <a:ea typeface="MiSans Demibold" pitchFamily="2" charset="-122"/>
                <a:cs typeface="Arial" pitchFamily="34" charset="-120"/>
              </a:rPr>
              <a:t>训练数据、架构设计还是学习范式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本身？突破路径是否存在，代价如何评估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？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16908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57200" y="3242236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3260523"/>
            <a:ext cx="1298448" cy="3657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安全对齐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23160" y="3260524"/>
            <a:ext cx="0" cy="80595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2578608" y="3242235"/>
            <a:ext cx="6108192" cy="8332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如何确保超强能力AI系统始终与人类价值观一致？RLHF和</a:t>
            </a:r>
            <a:r>
              <a:rPr lang="en-US" sz="900" b="1" dirty="0">
                <a:solidFill>
                  <a:schemeClr val="bg2">
                    <a:lumMod val="1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Constitutional </a:t>
            </a:r>
            <a:r>
              <a:rPr lang="en-US" sz="900" b="1" dirty="0" err="1">
                <a:solidFill>
                  <a:schemeClr val="bg2">
                    <a:lumMod val="1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AI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是否足够鲁棒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？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面对</a:t>
            </a:r>
            <a:r>
              <a:rPr lang="en-US" altLang="zh-CN" sz="900" b="1" dirty="0" err="1">
                <a:solidFill>
                  <a:schemeClr val="bg2">
                    <a:lumMod val="1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Reward</a:t>
            </a:r>
            <a:r>
              <a:rPr lang="en-US" altLang="zh-CN" sz="900" b="1" dirty="0">
                <a:solidFill>
                  <a:schemeClr val="bg2">
                    <a:lumMod val="1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b="1" dirty="0" err="1">
                <a:solidFill>
                  <a:schemeClr val="bg2">
                    <a:lumMod val="1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Hacking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和价值多元化，对齐的长期可扩展性如何保障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？ 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面对Reward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Hacking和价值多元化，对齐的长期可扩展性如何保障</a:t>
            </a:r>
            <a:r>
              <a:rPr lang="en-US" altLang="zh-CN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？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4166923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240075"/>
            <a:ext cx="47548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4128" y="4258362"/>
            <a:ext cx="1298448" cy="3657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社会影响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23160" y="4258362"/>
            <a:ext cx="0" cy="72054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578608" y="4240074"/>
            <a:ext cx="6108192" cy="738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AI</a:t>
            </a:r>
            <a:r>
              <a:rPr lang="en-US" sz="900" b="1" dirty="0">
                <a:solidFill>
                  <a:schemeClr val="bg2">
                    <a:lumMod val="1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对就业结构、隐私权利、社会公平性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的深层影响如何量化评估？何种治理框架能在促进创新与防范风险之间取得均衡？国际合作机制如何应对AI治理碎片化困境？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2E147706-B04A-C007-5642-CB6D2C89C7E0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1F340E8C-DE22-3295-B818-4C584FC0571B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91E7DCCE-23BD-82DC-B44D-94027808F66A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核心研究问题</a:t>
            </a:r>
            <a:endParaRPr lang="en-US" sz="18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FB44673D-4CD0-F173-1503-41A46886FDC4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zh-CN" altLang="en-US" sz="900" dirty="0">
                <a:solidFill>
                  <a:srgbClr val="888888"/>
                </a:solidFill>
                <a:latin typeface="MiSans" pitchFamily="2" charset="-122"/>
                <a:ea typeface="Arial" panose="020B0604020202020204" pitchFamily="34" charset="0"/>
                <a:cs typeface="Arial" panose="020B0604020202020204" pitchFamily="34" charset="0"/>
              </a:rPr>
              <a:t>本研究聚焦四个心科学问题，覆盖技术、认知、安全与社会四个维度，明确研究边</a:t>
            </a:r>
            <a:r>
              <a:rPr lang="zh-CN" altLang="en-US" sz="700" dirty="0"/>
              <a:t> 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8755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200405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1200405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419861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ATTENTION IS ALL YOU NEED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749045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Vaswani et al. · Google Brain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57200" y="2078229"/>
            <a:ext cx="2606040" cy="9532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提出Transformer架构，以自注意力替代RNN，奠定现代NLP基础，至今仍是几乎所有大模型的骨干结构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奠定现代NLP基础，至今仍是几乎所有大模型的骨干结构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63824" y="1200405"/>
            <a:ext cx="0" cy="199567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246120" y="1200405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1419861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GPT-3: FEW-SHOT LEARNERS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46120" y="1749045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Brown et al. · OpenAI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246120" y="2078229"/>
            <a:ext cx="2606040" cy="9532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175B参数，展示少样本学习强大能力，证明规模本身可催生新能力，开启Scaling时代的系统性探索。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52744" y="1200405"/>
            <a:ext cx="0" cy="199567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35040" y="1200405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1419861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INSTRUCTGPT / RLHF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35040" y="1749045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Ouyang et al. · OpenAI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6035040" y="2078229"/>
            <a:ext cx="2606040" cy="9532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人类反馈强化学习，大幅提升指令遵循性，是ChatGPT商业成功的直接技术前驱，确立对齐研究范式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是ChatGPT商业成功的直接技术前驱，确立对齐研究范式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是ChatGPT商业成功的直接技术前驱，确立对齐研究范式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3196083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415539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GPT-4 TECHNICAL REPORT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744723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57200" y="4073907"/>
            <a:ext cx="2606040" cy="9532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多模态大模型，通过专业级考试（律师/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医生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），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展现跨领域推理能力，引发全球AI热潮与治理讨论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，</a:t>
            </a:r>
            <a:r>
              <a:rPr lang="en-US" altLang="zh-CN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展现跨领域推理能力，引发全球AI热潮与治理讨论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163824" y="3196083"/>
            <a:ext cx="0" cy="183108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246120" y="3196083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46120" y="3415539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GEMINI ULTRA / CLAUDE 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46120" y="3744723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Google DeepMind / Anthropic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246120" y="4073907"/>
            <a:ext cx="2606040" cy="9532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多模态推理与超长上下文（100K+）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新标杆，在安全性上引入宪法AI方法，推动对齐研究落地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在安全性上引入宪法AI方法，推动对齐研究落地</a:t>
            </a:r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52744" y="3196083"/>
            <a:ext cx="0" cy="183108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035040" y="3196083"/>
            <a:ext cx="640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3415539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O3 / O4-MINI REASONING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35040" y="3744723"/>
            <a:ext cx="2606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6035040" y="4073907"/>
            <a:ext cx="2606040" cy="95325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慢思考范式，通过内部推理链显著提升数学与代码能力，标志AI从记忆检索迈向真正推理。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7E07438-5C01-733B-2EAE-B3B220BA33CC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204C364A-77EA-B487-0842-D0C126C0FEDB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B3BD8E18-E488-6F8D-F675-DAC93D1C661F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zh-CN" altLang="en-US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大</a:t>
            </a:r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模型里程碑</a:t>
            </a:r>
            <a:endParaRPr lang="en-US" sz="1800" dirty="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13EA9C2-6307-2D5C-EB04-DDFE5B9D4277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zh-CN" altLang="en-US" sz="900" dirty="0">
                <a:solidFill>
                  <a:srgbClr val="888888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大语言模型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领域近十年经历从架构革命到能力爆发的完整演进周期</a:t>
            </a:r>
            <a:r>
              <a:rPr lang="zh-CN" altLang="en-US" sz="900" dirty="0">
                <a:solidFill>
                  <a:srgbClr val="888888"/>
                </a:solidFill>
                <a:latin typeface="MiSans" pitchFamily="34" charset="0"/>
                <a:ea typeface="MiSans" pitchFamily="2" charset="-122"/>
                <a:cs typeface="Arial" pitchFamily="34" charset="-120"/>
              </a:rPr>
              <a:t>，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以下六篇标志性工作构成本研究的核心文献骨架</a:t>
            </a:r>
            <a:endParaRPr lang="zh-CN" altLang="en-US" sz="900" dirty="0">
              <a:solidFill>
                <a:srgbClr val="888888"/>
              </a:solidFill>
              <a:latin typeface="MiSans" pitchFamily="2" charset="-122"/>
              <a:ea typeface="MiSans" pitchFamily="2" charset="-122"/>
              <a:cs typeface="Arial" pitchFamily="34" charset="-120"/>
            </a:endParaRPr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B6EC381C-D8B1-F7E8-DB6B-933541F5B7F3}"/>
              </a:ext>
            </a:extLst>
          </p:cNvPr>
          <p:cNvSpPr/>
          <p:nvPr/>
        </p:nvSpPr>
        <p:spPr>
          <a:xfrm>
            <a:off x="457200" y="320159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98755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1399034"/>
            <a:ext cx="8147304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1325882"/>
            <a:ext cx="128016" cy="12801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57200" y="150876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1728218"/>
            <a:ext cx="1261872" cy="29306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Nick </a:t>
            </a:r>
            <a:r>
              <a:rPr lang="en-US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Bostrom《超级智能》出版，系统阐述AI存亡风险与控制问题，首次将AI安全引入严肃学术视野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，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引发全球哲学、技术与政策多领域讨论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引发全球哲学、技术与政策多领域讨论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8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828800" y="1325882"/>
            <a:ext cx="128016" cy="12801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828800" y="150876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28800" y="1728218"/>
            <a:ext cx="1261872" cy="29306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Amodei等发布《AI安全的具体问题》，</a:t>
            </a:r>
            <a:r>
              <a:rPr lang="en-US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将抽象风险拆解为奖励黑客、分布偏移</a:t>
            </a: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监督可扩展性等可研究的工程问题，奠定AI安全研究方法论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监督可扩展性等可研究的工程问题，奠定AI安全研究方法论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监督可扩展性等可研究的工程问题，奠定AI安全研究方法论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8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197055" y="1325882"/>
            <a:ext cx="128016" cy="12801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3199211" y="150876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99211" y="1728218"/>
            <a:ext cx="1261872" cy="29306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OpenAI成立专职安全团队DeepMind发布AI原则规范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Constitutional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AI方法论雏形出现，业界开始将安全研究与产品研发深度融合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Constitutional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AI方法论雏形出现，业界开始将安全研究与产品研发深度融合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8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04115" y="1325882"/>
            <a:ext cx="128016" cy="12801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608427" y="150876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08427" y="1728218"/>
            <a:ext cx="1261872" cy="29306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DeepMind发布详细安全规范；欧盟AI法案草案正式提出</a:t>
            </a: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按风险等级建立分层监管框架，成为全球首部综合性AI立法尝试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按风险等级建立分层监管框架，成为全球首部综合性AI立法尝试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按风险等级建立分层监管框架</a:t>
            </a:r>
            <a:r>
              <a:rPr lang="zh-CN" alt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8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72370" y="1325882"/>
            <a:ext cx="128016" cy="12801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78838" y="150876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78838" y="1728218"/>
            <a:ext cx="1261872" cy="29306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Anthropic发布Claude宪法；Frontier Model Forum（微软/谷歌/Anthropic/OpenAI）成立；Hinton离职公开警示AI风险，引发全球广泛关注。</a:t>
            </a:r>
            <a:endParaRPr lang="en-US" sz="8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315200" y="1325882"/>
            <a:ext cx="128016" cy="128016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379208" y="1508762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79208" y="1728218"/>
            <a:ext cx="1261872" cy="29306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 Seoul Summit国际峰会28国签署首尔声明；欧盟AI法案正式通过；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联合国AI顾问机构发布报告，全球AI治理进入实质性协作阶段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联合国AI顾问机构发布报告，全球AI治理进入实质性协作阶段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8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联合国AI顾问机构发布报告，全球AI治理进入实质性协作阶段</a:t>
            </a:r>
            <a:r>
              <a:rPr lang="en-US" altLang="zh-CN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8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4887469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924045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chemeClr val="bg2">
                    <a:lumMod val="75000"/>
                  </a:schemeClr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研究空白：现有文献缺乏对AI法规执行效果的实证量化研究，</a:t>
            </a:r>
            <a:r>
              <a:rPr lang="en-US" sz="700">
                <a:solidFill>
                  <a:schemeClr val="bg2">
                    <a:lumMod val="75000"/>
                  </a:schemeClr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本研究拟提供第一手数据与合规差距分析模型。</a:t>
            </a:r>
            <a:endParaRPr lang="en-US" sz="700" dirty="0">
              <a:solidFill>
                <a:schemeClr val="bg2">
                  <a:lumMod val="75000"/>
                </a:schemeClr>
              </a:solidFill>
              <a:latin typeface="MiSans Light" pitchFamily="2" charset="-122"/>
              <a:ea typeface="MiSans Light" pitchFamily="2" charset="-122"/>
              <a:cs typeface="Arial" pitchFamily="34" charset="-12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8379D2B-E86B-B7D0-A05D-98214E6A7C92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27849F00-5506-12A4-26FA-6E729CFF1E30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E4539B9B-E55B-BB3D-6631-3095CD07B6C8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AI安全发展时间线</a:t>
            </a:r>
            <a:endParaRPr lang="en-US" sz="1800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D39A5C0C-9F42-682D-FA58-7DD3DEF96DD9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zh-CN" altLang="en-US" sz="900" dirty="0">
                <a:solidFill>
                  <a:srgbClr val="888888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本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安全与伦理治理研究从思想实验走向立法实践，历经十余年演进，关键节点梳理如下</a:t>
            </a:r>
            <a:endParaRPr lang="zh-CN" altLang="en-US" sz="900" dirty="0">
              <a:solidFill>
                <a:srgbClr val="888888"/>
              </a:solidFill>
              <a:latin typeface="MiSans" pitchFamily="2" charset="-122"/>
              <a:ea typeface="MiSans" pitchFamily="2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6"/>
          <p:cNvSpPr/>
          <p:nvPr/>
        </p:nvSpPr>
        <p:spPr>
          <a:xfrm>
            <a:off x="457200" y="1591564"/>
            <a:ext cx="1993392" cy="3287268"/>
          </a:xfrm>
          <a:prstGeom prst="rect">
            <a:avLst/>
          </a:prstGeom>
          <a:solidFill>
            <a:srgbClr val="FFFFFF">
              <a:alpha val="5098"/>
            </a:srgbClr>
          </a:solidFill>
          <a:ln w="6350">
            <a:solidFill>
              <a:srgbClr val="FFFFFF">
                <a:alpha val="9804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chemeClr val="bg2">
              <a:lumMod val="10000"/>
            </a:schemeClr>
          </a:solidFill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96112" y="36576"/>
            <a:ext cx="0" cy="27432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9819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5267" y="1115564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304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人工智能的演进遵循能力层级递进的规律。当前大模型正处于认知智能与创造智能的交界地带，AGI是下一个关键里程碑。要实现AGI，需突破持续学习、目标规划与价值对齐三大核心瓶颈。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48640" y="1683004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1939036"/>
            <a:ext cx="181051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PERCEPTUAL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INTELL.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487676"/>
            <a:ext cx="1810512" cy="22553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altLang="zh-CN" sz="900" dirty="0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图像识别、语音识别、自然语言理解。以CNN、LSTM为核心，完成感知层任务。图像识别、语音识别、自然语言理解。以CNN、LSTM为核心，完成感知层任务。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 marL="0" indent="0">
              <a:lnSpc>
                <a:spcPts val="1280"/>
              </a:lnSpc>
              <a:buNone/>
            </a:pPr>
            <a:r>
              <a:rPr lang="en-US" sz="900" dirty="0" err="1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代表：AlexNet、DeepSpeech、BERT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633472" y="1591564"/>
            <a:ext cx="1993392" cy="3287268"/>
          </a:xfrm>
          <a:prstGeom prst="rect">
            <a:avLst/>
          </a:prstGeom>
          <a:solidFill>
            <a:srgbClr val="200000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Shape 22"/>
          <p:cNvSpPr/>
          <p:nvPr/>
        </p:nvSpPr>
        <p:spPr>
          <a:xfrm>
            <a:off x="4425696" y="1683004"/>
            <a:ext cx="109728" cy="1097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724912" y="1683004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24912" y="1939036"/>
            <a:ext cx="181051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COGNITIVE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INTELL.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24912" y="2487676"/>
            <a:ext cx="1810512" cy="22553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altLang="zh-CN" sz="900" dirty="0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多步推理、知识表示、常识推断。LLM展现涌现能力，跨域泛化成为现实。多步推理、知识表示、常识推断。LLM展现涌现能力，跨域泛化成为现实。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 marL="0" indent="0">
              <a:lnSpc>
                <a:spcPts val="128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代表：GPT-4、Gemini、Claude 3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09744" y="1591564"/>
            <a:ext cx="1993392" cy="3287268"/>
          </a:xfrm>
          <a:prstGeom prst="rect">
            <a:avLst/>
          </a:prstGeom>
          <a:solidFill>
            <a:srgbClr val="FFFFFF">
              <a:alpha val="5098"/>
            </a:srgbClr>
          </a:solidFill>
          <a:ln w="6350">
            <a:solidFill>
              <a:srgbClr val="FFFFFF">
                <a:alpha val="9804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01184" y="1683004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01184" y="1939036"/>
            <a:ext cx="181051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CREATIVE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INTELL.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01184" y="2487676"/>
            <a:ext cx="1810512" cy="22553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altLang="zh-CN" sz="900" dirty="0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内容生成、科学发现、代码合成。AI从模仿到创造，参与人类知识生产。内容生成、科学发现、代码合成。AI从模仿到创造，参与人类知识生产。内容生成、科学发现、代码合成。AI从模仿到创造，参与人类知识生产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 marL="0" indent="0">
              <a:lnSpc>
                <a:spcPts val="1280"/>
              </a:lnSpc>
              <a:buNone/>
            </a:pPr>
            <a:r>
              <a:rPr lang="en-US" sz="900" dirty="0" err="1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代表：Sora、AlphaFold、Copilot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86016" y="1591564"/>
            <a:ext cx="1993392" cy="3287268"/>
          </a:xfrm>
          <a:prstGeom prst="rect">
            <a:avLst/>
          </a:prstGeom>
          <a:solidFill>
            <a:srgbClr val="FFFFFF">
              <a:alpha val="5098"/>
            </a:srgbClr>
          </a:solidFill>
          <a:ln w="6350">
            <a:solidFill>
              <a:srgbClr val="FFFFFF">
                <a:alpha val="9804"/>
              </a:srgbClr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077456" y="1683004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77456" y="1939036"/>
            <a:ext cx="1810512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GENERAL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INTELL.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77456" y="2487676"/>
            <a:ext cx="1810512" cy="22553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altLang="zh-CN" sz="900" dirty="0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自主学习、目标规划、价值对齐。跨域通用能力与持续自我提升，即AGI目标。自主学习、目标规划、价值对齐。跨域通用能力与持续自我提升，即AGI目标。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 marL="0" indent="0">
              <a:lnSpc>
                <a:spcPts val="1280"/>
              </a:lnSpc>
              <a:buNone/>
            </a:pPr>
            <a:r>
              <a:rPr lang="en-US" sz="900" dirty="0" err="1">
                <a:solidFill>
                  <a:srgbClr val="999999"/>
                </a:solidFill>
                <a:latin typeface="MiSans" pitchFamily="2" charset="-122"/>
                <a:ea typeface="MiSans" pitchFamily="2" charset="-122"/>
                <a:cs typeface="Arial" pitchFamily="34" charset="-120"/>
              </a:rPr>
              <a:t>代表：研究前沿，尚未实现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6815CBB-8DE2-21AB-0DBA-78C084769A14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C278855E-3B4C-282B-2B19-8F6EF06C4F97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2B58A787-F9B1-DEEA-9D78-EAC703F8447F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dirty="0" err="1">
                <a:solidFill>
                  <a:schemeClr val="bg1"/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从感知智能到通用智能</a:t>
            </a:r>
            <a:endParaRPr lang="en-US" altLang="zh-CN" dirty="0">
              <a:solidFill>
                <a:schemeClr val="bg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BE4BA937-510E-81F1-C452-289B9D6D0933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人工智能演进遵循能力层级递进规律，当前主流大模型正处于认知智能与创造智能的交界地带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9819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1209387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1209387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自注意力机制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1549685"/>
            <a:ext cx="3318973" cy="1394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多头注意力机制，允许模型同时关注序列内所有位置，捕获任意距离的长程依赖关系。计算复杂度O(n²)，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>
                <a:latin typeface="MiSans Demibold" pitchFamily="2" charset="-122"/>
                <a:ea typeface="MiSans Demibold" pitchFamily="2" charset="-122"/>
                <a:cs typeface="Arial" pitchFamily="34" charset="-120"/>
              </a:rPr>
              <a:t>Flash </a:t>
            </a:r>
            <a:r>
              <a:rPr lang="en-US" altLang="zh-CN" sz="900" dirty="0" err="1">
                <a:latin typeface="MiSans Demibold" pitchFamily="2" charset="-122"/>
                <a:ea typeface="MiSans Demibold" pitchFamily="2" charset="-122"/>
                <a:cs typeface="Arial" pitchFamily="34" charset="-120"/>
              </a:rPr>
              <a:t>Attention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等优化已将实用长度扩展至数百万tokens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Flash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Attention等优化已将实用长度扩展至数百万tokens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计算复杂度O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(n²)， Flash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Attention等优化已将实用长度扩展至数百万tokens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Flash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Attention等优化已将实用长度扩展至数百万tokens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0943" y="1209387"/>
            <a:ext cx="0" cy="168993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572000" y="1209387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1209387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前馈神经网络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1549685"/>
            <a:ext cx="3520439" cy="1394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每个Transformer层包含两层全连接网络（4×d_model维度），</a:t>
            </a:r>
            <a:r>
              <a:rPr lang="en-US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引入非线性变换，用于存储和检索事实知识</a:t>
            </a: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研究表明FFN层可视为键值记忆机制的具体实现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研究表明FFN层可视为</a:t>
            </a:r>
            <a:r>
              <a:rPr lang="en-US" altLang="zh-CN" sz="900" dirty="0" err="1">
                <a:latin typeface="MiSans Demibold" pitchFamily="2" charset="-122"/>
                <a:ea typeface="MiSans Demibold" pitchFamily="2" charset="-122"/>
                <a:cs typeface="Arial" pitchFamily="34" charset="-120"/>
              </a:rPr>
              <a:t>键值记忆机制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的具体实现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研究表明FFN层可视为键值记忆机制的具体实现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研究表明FFN层可视为键值记忆机制的具体实现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079874"/>
            <a:ext cx="3639015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205065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3205065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旋转位置编码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" y="3497673"/>
            <a:ext cx="3318973" cy="13716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RoPE旋转位置编码方案，通过旋转矩阵编码相对位置，相比绝对位置编码有更好的长度外推性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， 目前支持128K~1M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tokens的超长上下文窗口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>
                <a:latin typeface="MiSans Medium" pitchFamily="2" charset="-122"/>
                <a:ea typeface="MiSans Medium" pitchFamily="2" charset="-122"/>
                <a:cs typeface="Arial" pitchFamily="34" charset="-120"/>
              </a:rPr>
              <a:t>目前支持128K~1M tokens的超长上下文窗口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目前支持128K~1M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tokens的超长上下文窗口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目前支持128K~1M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tokens的超长上下文窗口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0943" y="3205065"/>
            <a:ext cx="0" cy="1560223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572000" y="3079874"/>
            <a:ext cx="4023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572000" y="3205065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3205065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层归一化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19" y="3497673"/>
            <a:ext cx="3520425" cy="13716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Pre-LN / RMS </a:t>
            </a:r>
            <a:r>
              <a:rPr lang="en-US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Norm架构选择对训练稳定性至关重要，从根本上解决了深层网络中梯度消失与爆炸问题</a:t>
            </a: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是将模型从数十层扩展至数百层的关键技术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是将模型从</a:t>
            </a:r>
            <a:r>
              <a:rPr lang="en-US" altLang="zh-CN" sz="900" dirty="0" err="1">
                <a:latin typeface="MiSans Demibold" pitchFamily="2" charset="-122"/>
                <a:ea typeface="MiSans Demibold" pitchFamily="2" charset="-122"/>
                <a:cs typeface="Arial" pitchFamily="34" charset="-120"/>
              </a:rPr>
              <a:t>数十层扩展至数百层的关键技术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是将模型从数十层扩展至数百层的关键技术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。</a:t>
            </a:r>
            <a:endParaRPr lang="en-US" sz="9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84E980F-60FA-59CE-E24E-D6566979A595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7F37C02-1A12-B29F-06C6-981616404406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922F554E-13DB-3206-62B1-B5C258A77B18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Transformer </a:t>
            </a:r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核心架构</a:t>
            </a:r>
            <a:endParaRPr lang="en-US" altLang="zh-CN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42C82587-8801-EDEA-ABBA-10FFF2A41137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现代大语言模型几乎全部基于Transformer架构，理解其核心组件是把握AI能力来源与局限性的关键前提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0883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11675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071181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269277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C00000"/>
                </a:solidFill>
                <a:latin typeface="MiSans Semibold" pitchFamily="2" charset="-122"/>
                <a:ea typeface="MiSans Semibold" pitchFamily="2" charset="-122"/>
                <a:cs typeface="Arial" pitchFamily="34" charset="-120"/>
              </a:rPr>
              <a:t>01 / 系统性文献综述</a:t>
            </a:r>
            <a:endParaRPr lang="en-US" sz="9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377440" y="1164782"/>
            <a:ext cx="0" cy="85153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505456" y="1269277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系统性文献综述</a:t>
            </a:r>
            <a:endParaRPr lang="en-US" sz="11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08576" y="1164782"/>
            <a:ext cx="0" cy="85153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736592" y="1167260"/>
            <a:ext cx="3950208" cy="8281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依据PRISMA 2020框架，从NeurIPS、ICML、ICLR、Nature等顶级期刊与会议系统筛选2020—2026年文献，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进行关键词聚类与引用网络分析，构建知识图谱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进行关键词聚类与引用网络分析，构建知识图谱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06902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7200" y="2162621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C00000"/>
                </a:solidFill>
                <a:latin typeface="MiSans Semibold" pitchFamily="2" charset="-122"/>
                <a:ea typeface="MiSans Semibold" pitchFamily="2" charset="-122"/>
                <a:cs typeface="Arial" pitchFamily="34" charset="-120"/>
              </a:rPr>
              <a:t>02 / 实证实验研究</a:t>
            </a:r>
            <a:endParaRPr lang="en-US" sz="9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377440" y="2162621"/>
            <a:ext cx="0" cy="85153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2505456" y="2162621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实证实验研究</a:t>
            </a:r>
            <a:endParaRPr lang="en-US" sz="11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08576" y="2162621"/>
            <a:ext cx="0" cy="85153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736592" y="2158806"/>
            <a:ext cx="3950208" cy="851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在多组公开基准上进行定量评测，设计控制变量的消融实验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采用A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B对比框架，所有结论经双尾t检验（p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&lt;0.05）验证统计显著性，确保可重复性。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采用A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B对比框架，所有结论经双尾t检验（p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&lt;0.05）验证统计显著性，确保可重复性。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066859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1604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C00000"/>
                </a:solidFill>
                <a:latin typeface="MiSans Semibold" pitchFamily="2" charset="-122"/>
                <a:ea typeface="MiSans Semibold" pitchFamily="2" charset="-122"/>
                <a:cs typeface="Arial" pitchFamily="34" charset="-120"/>
              </a:rPr>
              <a:t>03 / 深度案例分析</a:t>
            </a:r>
            <a:endParaRPr lang="en-US" sz="9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377440" y="3160460"/>
            <a:ext cx="0" cy="85153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2505456" y="3160460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深度案例分析</a:t>
            </a:r>
            <a:endParaRPr lang="en-US" sz="11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08576" y="3160460"/>
            <a:ext cx="0" cy="85153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736592" y="3160461"/>
            <a:ext cx="3950208" cy="84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选取GPT-4、Claude 3、Gemini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Ultra三大系统为典型案例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从架构设计、训练策略、对齐方法、产业落地四维度进行横向对比剖析，提炼共性规律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从架构设计、训练策略、对齐方法、产业落地四维度进行横向对比剖析，提炼共性规律</a:t>
            </a:r>
            <a:r>
              <a:rPr lang="en-US" altLang="zh-CN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498753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Text 34"/>
          <p:cNvSpPr/>
          <p:nvPr/>
        </p:nvSpPr>
        <p:spPr>
          <a:xfrm>
            <a:off x="457200" y="4158299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C00000"/>
                </a:solidFill>
                <a:latin typeface="MiSans Semibold" pitchFamily="2" charset="-122"/>
                <a:ea typeface="MiSans Semibold" pitchFamily="2" charset="-122"/>
                <a:cs typeface="Arial" pitchFamily="34" charset="-120"/>
              </a:rPr>
              <a:t>04 / 半结构化专家访谈</a:t>
            </a:r>
            <a:endParaRPr lang="en-US" sz="9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377440" y="4158299"/>
            <a:ext cx="0" cy="77055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2505456" y="4158299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0D"/>
                </a:solidFill>
                <a:latin typeface="MiSans Semibold" pitchFamily="2" charset="-122"/>
                <a:ea typeface="MiSans Semibold" pitchFamily="2" charset="-122"/>
                <a:cs typeface="Arial Black" pitchFamily="34" charset="-120"/>
              </a:rPr>
              <a:t>半结构化专家访谈</a:t>
            </a:r>
            <a:endParaRPr lang="en-US" sz="1100" dirty="0"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08576" y="4158299"/>
            <a:ext cx="0" cy="770555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736592" y="4158300"/>
            <a:ext cx="3950208" cy="770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80"/>
              </a:lnSpc>
              <a:buNone/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访谈学界与产业界专家各10名，采用Delphi多轮共识方法，对AI发展路径进行主题编码（Thematic Coding），形成专家视角的质性支撑。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E474D12-DC57-A7E7-00B7-1EA5A20B5C01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12F5B8C9-5A45-2F56-953B-33D9217EC459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B97FCAC4-8225-C0F1-E007-941398B51E7D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研究方法论</a:t>
            </a:r>
            <a:endParaRPr lang="en-US" altLang="zh-CN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B133608A-590F-6EC4-FF4C-B6F6DB5873FF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本研究采用混合研究方法，将定量实验、定性分析与系统综述相结合，确保研究结论的统计可靠性与深度解释力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>
            <a:extLst>
              <a:ext uri="{FF2B5EF4-FFF2-40B4-BE49-F238E27FC236}">
                <a16:creationId xmlns:a16="http://schemas.microsoft.com/office/drawing/2014/main" id="{8D213BA9-E0CE-A811-AFD7-9D5D107327A6}"/>
              </a:ext>
            </a:extLst>
          </p:cNvPr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0883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11854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218688" y="1173406"/>
            <a:ext cx="18288" cy="3790183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20998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实验01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42943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推理能力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基准评测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923214"/>
            <a:ext cx="2743200" cy="0"/>
          </a:xfrm>
          <a:prstGeom prst="line">
            <a:avLst/>
          </a:prstGeom>
          <a:noFill/>
          <a:ln w="1016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014654"/>
            <a:ext cx="47786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数据集: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71643" y="2014654"/>
            <a:ext cx="204825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MATH · MMLU · ARC-Challenge · BIG-Bench Hard · GSM8K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563294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7200" y="2764462"/>
            <a:ext cx="47786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方法: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1643" y="2764462"/>
            <a:ext cx="204825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零样本/少样本提示 + 思维链（Chain-of-Thought）推理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313102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514270"/>
            <a:ext cx="47786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指标: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71643" y="3514270"/>
            <a:ext cx="204825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Accuracy · Pass@k · CoT一致性得分 · 推理步骤正确率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062910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264078"/>
            <a:ext cx="47786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对照组: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71643" y="4264078"/>
            <a:ext cx="204825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GPT-4o / Claude 3.5 / Gemini Ultra / Llama 3.1-70B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98464" y="1173406"/>
            <a:ext cx="18288" cy="379018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3291840" y="1209982"/>
            <a:ext cx="26151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实验02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91840" y="1429438"/>
            <a:ext cx="261518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价值对齐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效果评估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36976" y="1923214"/>
            <a:ext cx="2743200" cy="0"/>
          </a:xfrm>
          <a:prstGeom prst="line">
            <a:avLst/>
          </a:prstGeom>
          <a:noFill/>
          <a:ln w="1016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291840" y="2014654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方法: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14843" y="2014654"/>
            <a:ext cx="2066544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红队测试 + 人类盲评（n=50）+ 自动化安全评分（LLM-as-judge）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36976" y="2563294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3291840" y="2764462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场景: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714843" y="2764462"/>
            <a:ext cx="2066544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指令越狱攻击 · 隐性偏见检测 · 有害输出抑制 · 敏感话题处理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36976" y="3313102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3291840" y="3514270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指标: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14843" y="3514270"/>
            <a:ext cx="2066544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ASR攻击成功率 · Harmlessness Score · 偏见指数（WEAT/SEAT）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36976" y="4062910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3291840" y="4264078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框架: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714843" y="4264078"/>
            <a:ext cx="2066544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HELM · TruthfulQA · BBQ偏见基准 · AdvBench越狱测试集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071616" y="1209982"/>
            <a:ext cx="261518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实验03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071616" y="142943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多智能体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协作测试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016752" y="1923214"/>
            <a:ext cx="2743200" cy="0"/>
          </a:xfrm>
          <a:prstGeom prst="line">
            <a:avLst/>
          </a:prstGeom>
          <a:noFill/>
          <a:ln w="1016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071616" y="2014654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平台: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494619" y="2014654"/>
            <a:ext cx="209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AutoGen 0.4 / CrewAI / LangGraph多智能体编排框架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16752" y="2563294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071616" y="2764462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任务: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94619" y="2764462"/>
            <a:ext cx="209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复杂推理 · 代码生成与执行 · 长程规划 · 跨智能体知识共享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16752" y="3313102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071616" y="3514270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指标: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494619" y="3514270"/>
            <a:ext cx="209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任务完成率 · Token效率 · 幻觉发生率 · 协作轮次数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16752" y="4062910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6071616" y="4264078"/>
            <a:ext cx="42300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创新: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494619" y="4264078"/>
            <a:ext cx="20915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提出MASP安全协议，测试权限越界与目标漂移的防控有效性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5164762"/>
            <a:ext cx="8229600" cy="0"/>
          </a:xfrm>
          <a:prstGeom prst="line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CEF9429-FA14-E953-E8F2-DE43F200DC76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CE6C7D45-774B-58E0-A0F5-7F4F4CA169CB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D1D841B4-28D4-FDCA-7C66-5FD031F5443C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三组核心实验</a:t>
            </a:r>
            <a:endParaRPr lang="en-US" altLang="zh-CN" dirty="0"/>
          </a:p>
        </p:txBody>
      </p:sp>
      <p:sp>
        <p:nvSpPr>
          <p:cNvPr id="64" name="Text 12">
            <a:extLst>
              <a:ext uri="{FF2B5EF4-FFF2-40B4-BE49-F238E27FC236}">
                <a16:creationId xmlns:a16="http://schemas.microsoft.com/office/drawing/2014/main" id="{49BF02F1-C8C7-367A-964E-D81E9EF00F89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三组互补实验覆盖AI能力评测的三大维度：推理深度、价值对齐、协作智能，每组独立设计、交叉验证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chemeClr val="bg2">
              <a:lumMod val="10000"/>
            </a:schemeClr>
          </a:solidFill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1947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124358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146304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医疗健康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1858518"/>
            <a:ext cx="265176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AlphaFold2破解蛋白质折叠难题，AI辅助诊断（癌症/</a:t>
            </a:r>
            <a:r>
              <a:rPr lang="en-US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眼病）准确率超专科医生</a:t>
            </a: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基因组学分析加速药物研发周期降低50%以上。 基因组学分析加速药物研发周期降低50%以上。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18688" y="987552"/>
            <a:ext cx="0" cy="1904238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236976" y="124358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36976" y="146304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科学发现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36976" y="1858518"/>
            <a:ext cx="265176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材料科学新材料发现速度提升10倍；GNS-GAN模拟气候系统；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Lean4+AI证明数学定理；CERN粒子物理数据实时分析。 Lean4+AI证明数学定理；CERN粒子物理数据实时分析。 Lean4+AI证明数学定理；CERN粒子物理数据实时分析。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98464" y="987552"/>
            <a:ext cx="0" cy="1904238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16752" y="1243584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16752" y="1463040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软件工程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16752" y="1858518"/>
            <a:ext cx="265176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GitHub Copilot覆盖超2000万开发者，代码接受率约30%；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Devin等AI工程师可独立完成端到端开发任务，软件生产效率革命性提升。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Devin等AI工程师可独立完成端到端开发任务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138679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58135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教育培训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790189"/>
            <a:ext cx="265176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Khan Academy </a:t>
            </a:r>
            <a:r>
              <a:rPr lang="en-US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Khanmigo实现一对一个性化辅导；AI自适应评估实时调整学习路径</a:t>
            </a: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；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知识图谱+LLM构建动态课程体系，普及优质教育资源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知识图谱+LLM构建动态课程体系，普及优质教育资源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18688" y="2919223"/>
            <a:ext cx="0" cy="1904238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236976" y="3138679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36976" y="3358135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金融服务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36976" y="3790189"/>
            <a:ext cx="265176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量化对冲基金AI管理AUM超万亿美元；实时欺诈检测准确率超99.8%；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ESG报告自动化生成合规成本降低70%；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监管科技全面落地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ESG报告自动化生成合规成本降低70%；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监管科技全面落地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98464" y="2919223"/>
            <a:ext cx="0" cy="1904238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016752" y="3138679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16752" y="3358135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自动驾驶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016752" y="3790189"/>
            <a:ext cx="265176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Tesla FSD V12端到端神经网络驾驶；Waymo无人出租车商业化运营；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具身智能机器人（Figure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01）逐步进入制造业生产线。 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具身智能机器人（Figure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01）逐步进入制造业生产线。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2919223"/>
            <a:ext cx="8229600" cy="0"/>
          </a:xfrm>
          <a:prstGeom prst="line">
            <a:avLst/>
          </a:prstGeom>
          <a:noFill/>
          <a:ln w="1016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378C69A-3AA4-E161-C8FA-09698CF5A6B5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6ED9A216-8E3A-DD4E-F9F8-8B958E7F0DA0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9A0F7045-3FEC-CC04-8684-B1B82789F0CD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chemeClr val="bg1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六大核心应用领域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6934EBA3-F626-AC76-8446-93B01EEEFC9D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AI已在六大战略领域实现规模化落地，每个领域均存在颠覆性的产业重构机遇，同时带来新的监管挑战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1947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122430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风险清单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1498628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1571780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58368" y="1553492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幻觉问题（Hallucination）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1553491"/>
            <a:ext cx="1719072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模型以高置信度生成虚假事实，医疗/法律场景风险极高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220090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293242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8368" y="2274954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提示注入攻击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2274953"/>
            <a:ext cx="1719072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恶意指令通过上下文劫持模型行为，绕过安全护栏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2941551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3014703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58368" y="2996415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隐私泄露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2996414"/>
            <a:ext cx="1719072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训练数据成员推断攻击可还原私有数据，侵犯个人隐私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663013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3736165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58368" y="3717877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对抗样本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68880" y="3717876"/>
            <a:ext cx="1719072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微小不可感知的扰动诱导模型产生严重错误输出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384474"/>
            <a:ext cx="38404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57200" y="4457626"/>
            <a:ext cx="91440" cy="9144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8368" y="443933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目标错位 / Reward Hacking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4439337"/>
            <a:ext cx="1719072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模型优化代理目标而非真实目标，导致意外有害行为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315968" y="987552"/>
            <a:ext cx="0" cy="3991356"/>
          </a:xfrm>
          <a:prstGeom prst="line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480560" y="1224308"/>
            <a:ext cx="42245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80560" y="1498628"/>
            <a:ext cx="4206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480560" y="155349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RLHF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42432" y="1553491"/>
            <a:ext cx="2944368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人类反馈强化学习，通过奖励建模将人类偏好量化为可优化目标，目前最成熟的对齐方法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480560" y="2220090"/>
            <a:ext cx="4206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4480560" y="2274954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宪法约束AI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42432" y="2274953"/>
            <a:ext cx="2944368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Anthropic提出，用AI自评宪法原则替代人工标注，降低对齐成本同时提升一致性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480560" y="2941551"/>
            <a:ext cx="4206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480560" y="2996415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DPO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42432" y="2996414"/>
            <a:ext cx="2944368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直接偏好优化，无需独立奖励模型，将RLHF简化为监督学习问题，训练更稳定高效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480560" y="3663013"/>
            <a:ext cx="4206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480560" y="3717877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红队测试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742432" y="3717876"/>
            <a:ext cx="2944368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系统性对抗测试，聘请专业团队寻找模型漏洞，已成为大模型发布前的标准流程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480560" y="4384474"/>
            <a:ext cx="42062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4480560" y="4439338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可解释性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42432" y="4439337"/>
            <a:ext cx="2944368" cy="319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56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Anthropic机械可解释性研究，理解特征与回路，为目标验证与监督提供基础工具</a:t>
            </a:r>
            <a:endParaRPr lang="en-US" sz="8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1BD646B-9ABE-3603-20C3-5BE6F5A221F9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54FF9927-AB9D-CC0C-A1C2-8CF670DF9F71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2627C548-4126-CB87-75FA-6ED572AFF1DD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安全与价值对齐</a:t>
            </a:r>
            <a:endParaRPr lang="en-US" altLang="zh-CN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EAD4516F-9F0D-F8BF-4A6C-A7146F14923B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随着AI能力快速跃升，安全对齐问题从学术讨论转变为产业迫切需求，左栏梳理主要技术风险，右栏对应解决方案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1947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38912" y="1133849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1170425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乐观派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1645913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Altman · Hassabis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1865369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57200" y="1975097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Scaling仍有空间: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176265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模型规模、算力、数据三维扩展尚未触及物理极限，Scaling Law持续有效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743193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AGI时间线: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944361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多数乐观派预测2027—2030年将出现具备人类级别通用能力的AI系统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511289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涌现能力: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712457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随规模增长，模型持续涌现出预期之外的新能力，是通向AGI的核心路径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279385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Agent范式: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480553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工具调用、记忆增强、多智能体协作大幅扩展AI智能边界，加速落地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3218687" y="1133849"/>
            <a:ext cx="1" cy="3803894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328414" y="1170425"/>
            <a:ext cx="2651761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审慎派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28414" y="1645913"/>
            <a:ext cx="2651761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Bengio · Marcus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36976" y="1865369"/>
            <a:ext cx="27432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328414" y="1975097"/>
            <a:ext cx="2651761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理解与推理缺失: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25366" y="2176265"/>
            <a:ext cx="256336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LLM本质上是统计模式匹配，缺乏真正的语义理解与因果推断能力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28414" y="2743193"/>
            <a:ext cx="2651761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神经符号融合: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25366" y="2944361"/>
            <a:ext cx="256336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纯神经方法存在根本局限，需与符号推理、知识图谱深度融合才能突破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28414" y="3511289"/>
            <a:ext cx="2651761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泛化幻觉: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25366" y="3712457"/>
            <a:ext cx="256336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大模型在训练分布外表现急剧下降，所谓通用能力存在严重高估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28414" y="4279385"/>
            <a:ext cx="2651761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数据偏见: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25366" y="4480553"/>
            <a:ext cx="256336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互联网语料的偏差根深蒂固，模型无法从有偏数据中学到客观世界知识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 flipH="1">
            <a:off x="5998463" y="1133849"/>
            <a:ext cx="1" cy="3803889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108192" y="1170425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SAFETY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FIRST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08192" y="1645913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Hinton · Russell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016752" y="1865369"/>
            <a:ext cx="27432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108192" y="1975097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存亡级风险: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05144" y="2176265"/>
            <a:ext cx="25633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超级AI系统一旦超越人类智能，其失控风险可能构成人类文明层面的生存威胁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08192" y="2743193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对齐优先: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05144" y="2944361"/>
            <a:ext cx="25633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在解决对齐问题之前加速能力研发，犹如在不了解刹车的情况下造更快的车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08192" y="3511289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暂停呼吁: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05144" y="3712457"/>
            <a:ext cx="25633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2023年超3万科学家签名呼吁6个月研发暂停，对话框架建立之前暂缓推进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08192" y="4279385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国际治理: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05144" y="4480553"/>
            <a:ext cx="256336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仅靠企业自律无法解决AI安全，需建立类似核不扩散条约的国际约束机制</a:t>
            </a:r>
            <a:endParaRPr lang="en-US" sz="8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B69EDCF-FC7B-3ACA-323C-597F60B10929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06B3B5FA-CB23-CD97-B5F7-76CB9E253475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0FEF630F-3381-7499-6B15-D0980ED4C4B4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关于AGI的三大学术观点</a:t>
            </a:r>
            <a:endParaRPr lang="en-US" altLang="zh-CN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57A0B2B9-8157-D8F6-0FCA-5205C213ACBF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AGI是否即将到来，学界存在根本性分歧</a:t>
            </a:r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——</a:t>
            </a:r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乐观派、审慎派与安全优先派从不同认识论出发做出截然不同判断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1947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12348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57200" y="112348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地区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15568" y="1123484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法规框架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16352" y="1123484"/>
            <a:ext cx="263347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核心要求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559552" y="1123484"/>
            <a:ext cx="312724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执行空白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1243584"/>
            <a:ext cx="8229600" cy="0"/>
          </a:xfrm>
          <a:prstGeom prst="line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014983" y="1134338"/>
            <a:ext cx="9145" cy="3818848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724911" y="1116050"/>
            <a:ext cx="1" cy="383713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5468112" y="1116050"/>
            <a:ext cx="0" cy="3837136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199796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7200" y="1371600"/>
            <a:ext cx="54864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EU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1353312"/>
            <a:ext cx="1508760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EU AI Act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(2024)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16352" y="1353312"/>
            <a:ext cx="2542032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风险分级（不可接受/高风险/透明/最小）；高风险系统强制合规审查与CE认证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59552" y="1353312"/>
            <a:ext cx="3127248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中小企业合规成本高；基础模型监管细则尚待明确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57200" y="2107692"/>
            <a:ext cx="54864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US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5568" y="2089404"/>
            <a:ext cx="1508760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白宫AI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行政令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816352" y="2089404"/>
            <a:ext cx="2542032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关键AI系统发布前须安全测试并向政府报告；推动AI标准研究；强化出口管制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59552" y="2089404"/>
            <a:ext cx="3127248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行政令缺乏立法约束力；国会AI立法进展迟缓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47014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57200" y="2843784"/>
            <a:ext cx="54864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CN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15568" y="2825496"/>
            <a:ext cx="1508760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生成式AI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管理办法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816352" y="2825496"/>
            <a:ext cx="2542032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生成内容显著标注；算法备案；数据安全审查；禁止违法违规内容生成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59552" y="2825496"/>
            <a:ext cx="3127248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执行细则不统一；国际合规协调机制缺失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57200" y="3579876"/>
            <a:ext cx="54864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G7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15568" y="3561588"/>
            <a:ext cx="1508760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广岛AI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进程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816352" y="3561588"/>
            <a:ext cx="2542032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11条可信AI国际指导原则；供应链透明度要求；AI安全测评工具共享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59552" y="3561588"/>
            <a:ext cx="3127248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原则性框架，缺乏约束力；成员国执行尺度差异大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494233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57200" y="4315968"/>
            <a:ext cx="54864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UN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15568" y="4297680"/>
            <a:ext cx="1508760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联合国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顾问机构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816352" y="4297680"/>
            <a:ext cx="2542032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建议设立国际AI监管机构；呼吁AI能力普惠发展；推动全球数据共享框架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59552" y="4297680"/>
            <a:ext cx="3127248" cy="6080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2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建议性质，无执行权力；大国间利益博弈制约落地</a:t>
            </a:r>
            <a:endParaRPr lang="en-US" sz="8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2A61517-3C13-5B25-68E7-880737500525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0425D777-0362-12D8-5BCD-FCEA6B598051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22D1409F-2BED-0A20-0CC2-35A1A73D0E94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全球AI治理框架</a:t>
            </a:r>
            <a:endParaRPr lang="en-US" altLang="zh-CN" dirty="0"/>
          </a:p>
        </p:txBody>
      </p:sp>
      <p:sp>
        <p:nvSpPr>
          <p:cNvPr id="55" name="Text 12">
            <a:extLst>
              <a:ext uri="{FF2B5EF4-FFF2-40B4-BE49-F238E27FC236}">
                <a16:creationId xmlns:a16="http://schemas.microsoft.com/office/drawing/2014/main" id="{AD4A09E9-42E3-1F8D-628A-6931573E085C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全球AI治理框架从碎片化走向系统化，多个司法管辖区相继出台立法；本节梳理五大体系并识别执行短板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91947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1985391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115568"/>
            <a:ext cx="457200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4128" y="1196898"/>
            <a:ext cx="0" cy="71534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52144" y="1189909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学术论文发表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2144" y="1445941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学术论文发表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55264" y="1182029"/>
            <a:ext cx="0" cy="73021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383280" y="1182029"/>
            <a:ext cx="5303520" cy="730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ts val="1280"/>
              </a:lnSpc>
            </a:pP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预计在NeurIPS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/ICLR/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AAAI等CCF-A类顶会或《Nature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Machine Intelligence》发表2篇以上论文，系统阐述AI能力评估框架与对齐方法论，扩展AI安全研究的理论边界。预计在NeurIPS/ICLR/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AAAI等CCF-A类顶会或《Nature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Machine Intelligence》发表2篇以上论文，系统阐述AI能力评估框架与对齐方法论，扩展AI安全研究的理论边界。</a:t>
            </a:r>
            <a:endParaRPr lang="en-US" altLang="zh-CN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298323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7200" y="2113407"/>
            <a:ext cx="457200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24128" y="2113407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52144" y="2113407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MAGI评估框架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2144" y="2369439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多维评估矩阵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55264" y="2113407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383280" y="2113407"/>
            <a:ext cx="5303520" cy="7667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构建AGI多维能力综合评估指标体系（MAGI），</a:t>
            </a:r>
            <a:r>
              <a:rPr lang="en-US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涵盖推理深度、知识广度、价值对齐、工具使用、持续学习五个维度，填补现有评估标准碎片化的空白，推动领域标准化进程</a:t>
            </a: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涵盖推理深度、知识广度、价值对齐、工具使用、持续学习五个维度，填补现有评估标准碎片化的空白，推动领域标准化进程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981069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57200" y="3111246"/>
            <a:ext cx="457200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24128" y="3111246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152144" y="311124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产业趋势报告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2144" y="336727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AI发展趋势年报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55264" y="3111246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3383280" y="3126188"/>
            <a:ext cx="5303520" cy="7667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lnSpc>
                <a:spcPts val="1280"/>
              </a:lnSpc>
            </a:pP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发布《AI发展趋势年度报告（2027）》，面向政策制定者与企业决策者，提供技术路线图、监管建议与产业落地分析，语言简明、结论可操作，预计引用次数超500次。</a:t>
            </a:r>
            <a:r>
              <a:rPr lang="en-US" altLang="zh-CN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 提供技术路线图、监管建议与产业落地分析，语言简明、结论可操作，预计引用次数超500次。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494233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57200" y="4109085"/>
            <a:ext cx="457200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024128" y="4109085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52144" y="4109085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开源评测工具集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52144" y="4365117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开源评测工具集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55264" y="4109085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3383280" y="4109085"/>
            <a:ext cx="5303520" cy="7667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8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MiSans Normal" pitchFamily="2" charset="-122"/>
                <a:ea typeface="MiSans Normal" pitchFamily="2" charset="-122"/>
                <a:cs typeface="Arial" pitchFamily="34" charset="-120"/>
              </a:rPr>
              <a:t>开发AI安全综合评测开源工具包（GitHub公开），支持研究者一键复现实验、拓展基准、集成新模型。工具包将包含红队测试脚本、对齐指标计算库与多智能体仿真环境。</a:t>
            </a:r>
            <a:endParaRPr lang="en-US" sz="900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A1C2316-3DF2-AEE8-83C6-BDB886BEBE6D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42FBBB2F-FEDF-DE50-2933-22FB5269EAF4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D98F3BA7-C550-9924-DDA4-B7535E6D0F4A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预期研究成果</a:t>
            </a:r>
            <a:endParaRPr lang="en-US" altLang="zh-CN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530D5436-7C53-AF6A-A3E6-DB7651ABBC84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本研究预期在学术贡献、方法论创新与实践应用三个层面产生实质性成果，服务学界、产业界与政策制定者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23011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0" y="106129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0" y="1207008"/>
            <a:ext cx="0" cy="37170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733800" y="106129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733800" y="1207008"/>
            <a:ext cx="0" cy="37170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24400" y="106129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24400" y="1207008"/>
            <a:ext cx="0" cy="37170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715000" y="106129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M13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715000" y="1207008"/>
            <a:ext cx="0" cy="37170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705600" y="106129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M17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705600" y="1207008"/>
            <a:ext cx="0" cy="37170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696200" y="106129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M21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696200" y="1207008"/>
            <a:ext cx="0" cy="37170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86800" y="106129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M25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686800" y="1207008"/>
            <a:ext cx="0" cy="3717036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57200" y="128016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文献调研与综述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1481328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PRISMA检索、知识图谱构建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0" y="1298448"/>
            <a:ext cx="742950" cy="237744"/>
          </a:xfrm>
          <a:prstGeom prst="rect">
            <a:avLst/>
          </a:prstGeom>
          <a:solidFill>
            <a:srgbClr val="0D0D0D"/>
          </a:solidFill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57200" y="1823466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57200" y="189661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理论框架构建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097786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MAGI框架设计、假设提出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38500" y="1914906"/>
            <a:ext cx="990600" cy="237744"/>
          </a:xfrm>
          <a:prstGeom prst="rect">
            <a:avLst/>
          </a:prstGeom>
          <a:solidFill>
            <a:srgbClr val="444444"/>
          </a:solidFill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243992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57200" y="251307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实验设计与数据准备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2714244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基准配置、数据预处理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733800" y="2531364"/>
            <a:ext cx="742950" cy="237744"/>
          </a:xfrm>
          <a:prstGeom prst="rect">
            <a:avLst/>
          </a:prstGeom>
          <a:solidFill>
            <a:srgbClr val="0D0D0D"/>
          </a:solidFill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57200" y="305638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57200" y="3129534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实验执行与分析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3330702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三组实验运行、结果分析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29100" y="3147822"/>
            <a:ext cx="1485900" cy="23774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57200" y="367284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57200" y="3745992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论文撰写与投稿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3947160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初稿→审稿→修改→投稿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67350" y="3764280"/>
            <a:ext cx="1238250" cy="237744"/>
          </a:xfrm>
          <a:prstGeom prst="rect">
            <a:avLst/>
          </a:prstGeom>
          <a:solidFill>
            <a:srgbClr val="444444"/>
          </a:solidFill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457200" y="4289298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57200" y="436245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0D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修订完善与结题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563618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返修、开源工具发布、答辩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457950" y="4380738"/>
            <a:ext cx="742950" cy="237744"/>
          </a:xfrm>
          <a:prstGeom prst="rect">
            <a:avLst/>
          </a:prstGeom>
          <a:solidFill>
            <a:srgbClr val="0D0D0D"/>
          </a:solidFill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457200" y="4920624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E6C70EE-B0EC-181C-3D0C-1F481C1CD3B3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BB44DA16-EF0D-F24F-6B63-3AF921054FAA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660507FC-7D8C-58B5-B51F-04288DE1AF80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24个月研究计划</a:t>
            </a:r>
            <a:endParaRPr lang="en-US" altLang="zh-CN" dirty="0"/>
          </a:p>
        </p:txBody>
      </p:sp>
      <p:sp>
        <p:nvSpPr>
          <p:cNvPr id="59" name="Text 12">
            <a:extLst>
              <a:ext uri="{FF2B5EF4-FFF2-40B4-BE49-F238E27FC236}">
                <a16:creationId xmlns:a16="http://schemas.microsoft.com/office/drawing/2014/main" id="{799257C2-888D-40ED-C544-64E32745B489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研究计划横跨24个月，分六阶段推进，各阶段合理交叠，关键节点含论文投稿截止日、工具包发布与结题汇报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23011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1132450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1992777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122954"/>
            <a:ext cx="475488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42416" y="1196106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70432" y="1256113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MAGI综合评估框架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22192" y="1184720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950208" y="1256113"/>
            <a:ext cx="4736592" cy="700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提出多维AGI能力评估矩阵（Multi-dimensional AGI Index），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涵盖推理深度、知识广度、价值对齐、工具使用与持续学习五维度。填补现有评估标准碎片化空白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可作为领域通用基准工具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可作为领域通用基准工具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可作为领域通用基准工具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990616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7200" y="2120793"/>
            <a:ext cx="475488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042416" y="2120793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70432" y="2120793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跨模态宪法对齐方法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22192" y="2120793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950208" y="2120793"/>
            <a:ext cx="4736592" cy="8332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>
              <a:lnSpc>
                <a:spcPts val="1380"/>
              </a:lnSpc>
            </a:pP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设计基于跨模态宪法约束的价值对齐训练方法，将文本、图像、代码领域的安全约束统一为形式化规则集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解决现有RLHF方法在多模态场景下一致性不足的关键问题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 </a:t>
            </a:r>
            <a:r>
              <a:rPr lang="en-US" altLang="zh-CN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解决现有RLHF方法在多模态场景下一致性不足的关键问题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3988455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118632"/>
            <a:ext cx="475488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42416" y="3118632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170432" y="31186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AI治理执行实证研究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22192" y="3118632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950208" y="3118632"/>
            <a:ext cx="4736592" cy="8332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首次系统性量化研究EU AI Act等主要法规的实际执行效果，构建合规差距分析模型（CGA），提出治理成熟度指数（GMI），为政策制定者提供可量化的改进路径。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491314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57200" y="4116471"/>
            <a:ext cx="475488" cy="7966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42416" y="4116471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70432" y="4116471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MASP多智能体安全协议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822192" y="4116471"/>
            <a:ext cx="0" cy="796671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950208" y="4116471"/>
            <a:ext cx="4736592" cy="8332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提出Multi-Agent Safety Protocol（MASP），解决多智能体系统中信任传播机制缺失、权限越界与目标漂移三类新型安全问题，可作为AutoGen等主流框架的安全扩展层。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5876FBA-C686-D04B-D359-924F3E501485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C80DBE47-CDEC-E746-DD64-D1696FA91079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F44EA8AD-2A4A-0BF9-5428-F7DBE4212C90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rgbClr val="0D0D0D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四大核心创新</a:t>
            </a:r>
            <a:endParaRPr lang="en-US" altLang="zh-CN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18AC8370-DF8E-BDCA-E6F0-11AEDCDE1BB5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本研究学术贡献体现在四个相互关联的创新维度：评估框架、对齐方法、治理实证、安全协议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chemeClr val="bg2">
              <a:lumMod val="10000"/>
            </a:schemeClr>
          </a:solidFill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54075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271017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2026—2028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1490473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REASONING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LEAP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2020825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推理能力质变期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240281"/>
            <a:ext cx="27432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57200" y="2331721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慢思考主流化: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57200" y="2532889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o系列推理模型成为工业标准，多步推理、数学证明与代码生成能力大幅领先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322897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Agent工业化: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7200" y="3430144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AutoGPT/Devin类Agent进入企业级生产部署，软件工程与数据分析高度自动化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126231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科学AI常态化: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57200" y="4327399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AlphaFold后继者加速材料/药物发现，AI Co-Pilot成为每位研究者标配工具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18688" y="1271017"/>
            <a:ext cx="0" cy="3570732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236976" y="1271017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2028—2030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36976" y="1490473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MULTIMODAL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FUSION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236976" y="2020825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多模态融合期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36976" y="2240281"/>
            <a:ext cx="27432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3236976" y="2331721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统一基础模型: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3236976" y="2532889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视觉-语言-动作统一模型（VLA）成熟，单一系统处理图文音视频与物理动作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36976" y="322897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具身智能爆发: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236976" y="3430144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人形机器人与AI深度融合，制造业、物流、家政服务领域规模化部署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36976" y="4126231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世界模型涌现: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236976" y="4327399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具备三维空间推理与物理常识的世界模型出现，自动驾驶L4级全面商业化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998464" y="1271017"/>
            <a:ext cx="0" cy="3570732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016752" y="1271017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2030+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016752" y="1490473"/>
            <a:ext cx="274320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AGI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FRONTIER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016752" y="2020825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AGI探索期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16752" y="2240281"/>
            <a:ext cx="27432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6016752" y="2331721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持续自主学习: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6016752" y="2532889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突破固定权重限制，AI系统实现在线持续学习与记忆更新，知识保持最新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016752" y="322897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人机协作范式: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6016752" y="3430144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人类与AI分工边界重新定义，AI承担执行层，人类专注于价值判断与创意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016752" y="4126231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C00000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对齐终局问题: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016752" y="4327399"/>
            <a:ext cx="2651760" cy="6412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MiSans Light" pitchFamily="2" charset="-122"/>
                <a:ea typeface="MiSans Light" pitchFamily="2" charset="-122"/>
                <a:cs typeface="Arial" pitchFamily="34" charset="-120"/>
              </a:rPr>
              <a:t>超级智能对齐成为文明级优先命题，国际AI治理框架进入约束性条约阶段</a:t>
            </a:r>
            <a:endParaRPr lang="en-US" sz="800" dirty="0"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74F6D07-69CF-3B1D-8FE5-78423D6EDDE8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  <p:sp>
        <p:nvSpPr>
          <p:cNvPr id="56" name="Shape 10">
            <a:extLst>
              <a:ext uri="{FF2B5EF4-FFF2-40B4-BE49-F238E27FC236}">
                <a16:creationId xmlns:a16="http://schemas.microsoft.com/office/drawing/2014/main" id="{F37847E9-1538-DE09-FC40-D4C0DB65117B}"/>
              </a:ext>
            </a:extLst>
          </p:cNvPr>
          <p:cNvSpPr/>
          <p:nvPr/>
        </p:nvSpPr>
        <p:spPr>
          <a:xfrm>
            <a:off x="457200" y="521206"/>
            <a:ext cx="45720" cy="475485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FD77CB76-0C04-5788-4376-714A49A66F4A}"/>
              </a:ext>
            </a:extLst>
          </p:cNvPr>
          <p:cNvSpPr/>
          <p:nvPr/>
        </p:nvSpPr>
        <p:spPr>
          <a:xfrm>
            <a:off x="594360" y="484631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b="1" dirty="0" err="1">
                <a:solidFill>
                  <a:schemeClr val="bg1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AI的未来展望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86116DFE-2590-107A-AA04-C7193853D58A}"/>
              </a:ext>
            </a:extLst>
          </p:cNvPr>
          <p:cNvSpPr/>
          <p:nvPr/>
        </p:nvSpPr>
        <p:spPr>
          <a:xfrm>
            <a:off x="594360" y="832103"/>
            <a:ext cx="8046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altLang="zh-CN" sz="900" dirty="0" err="1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基于技术趋势分析与专家预判，未来十年AI演进将经历三个渐进阶段，每阶段均带来新的机遇与挑战</a:t>
            </a:r>
            <a:endParaRPr lang="en-US" altLang="zh-CN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chemeClr val="bg2">
              <a:lumMod val="10000"/>
            </a:schemeClr>
          </a:solidFill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896112" y="36576"/>
            <a:ext cx="0" cy="27432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875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9819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技术路线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0883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研究设计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1947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研究成果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3011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进度创新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540752" y="9144"/>
            <a:ext cx="1274064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540752" y="64008"/>
            <a:ext cx="12740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展望结语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28816" y="795528"/>
            <a:ext cx="2286000" cy="2286000"/>
          </a:xfrm>
          <a:prstGeom prst="rect">
            <a:avLst/>
          </a:prstGeom>
          <a:solidFill>
            <a:srgbClr val="C00000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150608" y="1417320"/>
            <a:ext cx="1664208" cy="16642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7200" y="557785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Sans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457200" y="1828800"/>
            <a:ext cx="5943600" cy="0"/>
          </a:xfrm>
          <a:prstGeom prst="line">
            <a:avLst/>
          </a:prstGeom>
          <a:noFill/>
          <a:ln w="1270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57200" y="1938528"/>
            <a:ext cx="5477608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感谢各位老师的聆听与宝贵意见，恳请批评指正。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304288"/>
            <a:ext cx="5943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779776"/>
            <a:ext cx="5943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82295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研究方向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70048" y="2468880"/>
            <a:ext cx="0" cy="256032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399032" y="2468880"/>
            <a:ext cx="36027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AI能力边界 · 安全对齐 · 全球AI治理实证研究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5943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82295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核心创新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70048" y="2907792"/>
            <a:ext cx="0" cy="256032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399032" y="2907792"/>
            <a:ext cx="36027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MAGI评估框架 · 跨模态对齐 · MASP安全协议 · 治理CGA模型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5943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346704"/>
            <a:ext cx="82295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预期成果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70048" y="3346704"/>
            <a:ext cx="0" cy="256032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399032" y="3346704"/>
            <a:ext cx="36027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2篇顶会论文 · AI年度行业报告 · 开源评测工具包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96512"/>
            <a:ext cx="5943600" cy="0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82295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研究时间线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70048" y="3785616"/>
            <a:ext cx="0" cy="256032"/>
          </a:xfrm>
          <a:prstGeom prst="line">
            <a:avLst/>
          </a:prstGeom>
          <a:noFill/>
          <a:ln w="635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399032" y="3785616"/>
            <a:ext cx="360273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24个月 · 2026年9月启动 · 2028年8月结题答辩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77316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00000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报告完毕  ·  感谢各位老师</a:t>
            </a:r>
            <a:endParaRPr lang="en-US" sz="8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CDEFDAB-4030-819C-823E-E8632E93EB7D}"/>
              </a:ext>
            </a:extLst>
          </p:cNvPr>
          <p:cNvSpPr/>
          <p:nvPr/>
        </p:nvSpPr>
        <p:spPr>
          <a:xfrm>
            <a:off x="8475" y="64008"/>
            <a:ext cx="97907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888888"/>
                </a:solidFill>
                <a:latin typeface="MiSans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2348</Words>
  <Application>Microsoft Macintosh PowerPoint</Application>
  <PresentationFormat>全屏显示(16:9)</PresentationFormat>
  <Paragraphs>550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MiSans</vt:lpstr>
      <vt:lpstr>MiSans Demibold</vt:lpstr>
      <vt:lpstr>MiSans Light</vt:lpstr>
      <vt:lpstr>MiSans Medium</vt:lpstr>
      <vt:lpstr>MiSans Normal</vt:lpstr>
      <vt:lpstr>MiSans Semibold</vt:lpstr>
      <vt:lpstr>Arial</vt:lpstr>
      <vt:lpstr>DIN Alternate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AI未来发展</dc:title>
  <dc:subject>PptxGenJS Presentation</dc:subject>
  <dc:creator>PptxGenJS</dc:creator>
  <cp:lastModifiedBy>T171376</cp:lastModifiedBy>
  <cp:revision>13</cp:revision>
  <dcterms:created xsi:type="dcterms:W3CDTF">2026-06-05T08:37:03Z</dcterms:created>
  <dcterms:modified xsi:type="dcterms:W3CDTF">2026-06-16T07:47:00Z</dcterms:modified>
</cp:coreProperties>
</file>