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7" r:id="rId2"/>
    <p:sldId id="256" r:id="rId3"/>
    <p:sldId id="287" r:id="rId4"/>
    <p:sldId id="258" r:id="rId5"/>
    <p:sldId id="259" r:id="rId6"/>
    <p:sldId id="288" r:id="rId7"/>
    <p:sldId id="261" r:id="rId8"/>
    <p:sldId id="262" r:id="rId9"/>
    <p:sldId id="263" r:id="rId10"/>
    <p:sldId id="266" r:id="rId11"/>
    <p:sldId id="282" r:id="rId12"/>
    <p:sldId id="283" r:id="rId13"/>
    <p:sldId id="286"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7E5"/>
    <a:srgbClr val="87909A"/>
    <a:srgbClr val="192A3A"/>
    <a:srgbClr val="0057E4"/>
    <a:srgbClr val="215EDB"/>
    <a:srgbClr val="2769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3"/>
    <p:restoredTop sz="96320"/>
  </p:normalViewPr>
  <p:slideViewPr>
    <p:cSldViewPr snapToGrid="0">
      <p:cViewPr>
        <p:scale>
          <a:sx n="40" d="100"/>
          <a:sy n="40" d="100"/>
        </p:scale>
        <p:origin x="1776" y="1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Source Han Serif SC" panose="02020400000000000000" pitchFamily="18" charset="-128"/>
        <a:ea typeface="Source Han Serif SC" panose="02020400000000000000" pitchFamily="18" charset="-128"/>
        <a:cs typeface="Source Han Serif SC" panose="02020400000000000000" pitchFamily="18" charset="-128"/>
        <a:sym typeface="Helvetica Neue"/>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71" name="Shape 171"/>
          <p:cNvSpPr>
            <a:spLocks noGrp="1"/>
          </p:cNvSpPr>
          <p:nvPr>
            <p:ph type="body" sz="quarter" idx="1"/>
          </p:nvPr>
        </p:nvSpPr>
        <p:spPr>
          <a:prstGeom prst="rect">
            <a:avLst/>
          </a:prstGeom>
        </p:spPr>
        <p:txBody>
          <a:bodyPr/>
          <a:lstStyle/>
          <a:p>
            <a:r>
              <a:rPr dirty="0"/>
              <a:t>通过本项目的建设，一是可以有效保障全国政协委员在数字化、信息化、网络化加速发展的时代背景下，在做实“线下”双向发力的同时，做好“线上”双向发力的工作，通过线上线下相结合的方式，最大限度统一思想、凝聚共识、汇聚力量；二是可以有效促进全国政协机关紧跟新时代步伐、适应信息化要求、强化互联网思维，打造全天候的读书学习新平台、思想引领新载体、新闻宣传新窗口、联系各界新桥梁，最大限度构筑网上网下同心圆、汇聚社会各界同行者。通过上述两点提升全国政协委员建言资证和凝聚共识双向发力的履职能力，以信息化手段推动民主协商成果转化为国家治理效能。</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与副标题">
    <p:spTree>
      <p:nvGrpSpPr>
        <p:cNvPr id="1" name=""/>
        <p:cNvGrpSpPr/>
        <p:nvPr/>
      </p:nvGrpSpPr>
      <p:grpSpPr>
        <a:xfrm>
          <a:off x="0" y="0"/>
          <a:ext cx="0" cy="0"/>
          <a:chOff x="0" y="0"/>
          <a:chExt cx="0" cy="0"/>
        </a:xfrm>
      </p:grpSpPr>
      <p:sp>
        <p:nvSpPr>
          <p:cNvPr id="11" name="标题文本"/>
          <p:cNvSpPr txBox="1">
            <a:spLocks noGrp="1"/>
          </p:cNvSpPr>
          <p:nvPr>
            <p:ph type="title"/>
          </p:nvPr>
        </p:nvSpPr>
        <p:spPr>
          <a:xfrm>
            <a:off x="1778000" y="2298700"/>
            <a:ext cx="20828000" cy="4648200"/>
          </a:xfrm>
          <a:prstGeom prst="rect">
            <a:avLst/>
          </a:prstGeom>
        </p:spPr>
        <p:txBody>
          <a:bodyPr anchor="b"/>
          <a:lstStyle>
            <a:lvl1pPr>
              <a:defRPr b="0" i="0"/>
            </a:lvl1pPr>
          </a:lstStyle>
          <a:p>
            <a:r>
              <a:rPr dirty="0" err="1"/>
              <a:t>标题文本</a:t>
            </a:r>
            <a:endParaRPr dirty="0"/>
          </a:p>
        </p:txBody>
      </p:sp>
      <p:sp>
        <p:nvSpPr>
          <p:cNvPr id="12" name="正文级别 1…"/>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b="0" i="0">
                <a:latin typeface="Source Han Serif SC" panose="02020400000000000000" pitchFamily="18" charset="-128"/>
                <a:ea typeface="Source Han Serif SC" panose="02020400000000000000" pitchFamily="18" charset="-128"/>
              </a:defRPr>
            </a:lvl1pPr>
            <a:lvl2pPr marL="0" indent="0" algn="ctr">
              <a:spcBef>
                <a:spcPts val="0"/>
              </a:spcBef>
              <a:buSzTx/>
              <a:buNone/>
              <a:defRPr sz="5400" b="0" i="0">
                <a:latin typeface="Source Han Serif SC" panose="02020400000000000000" pitchFamily="18" charset="-128"/>
                <a:ea typeface="Source Han Serif SC" panose="02020400000000000000" pitchFamily="18" charset="-128"/>
              </a:defRPr>
            </a:lvl2pPr>
            <a:lvl3pPr marL="0" indent="0" algn="ctr">
              <a:spcBef>
                <a:spcPts val="0"/>
              </a:spcBef>
              <a:buSzTx/>
              <a:buNone/>
              <a:defRPr sz="5400" b="0" i="0">
                <a:latin typeface="Source Han Serif SC" panose="02020400000000000000" pitchFamily="18" charset="-128"/>
                <a:ea typeface="Source Han Serif SC" panose="02020400000000000000" pitchFamily="18" charset="-128"/>
              </a:defRPr>
            </a:lvl3pPr>
            <a:lvl4pPr marL="0" indent="0" algn="ctr">
              <a:spcBef>
                <a:spcPts val="0"/>
              </a:spcBef>
              <a:buSzTx/>
              <a:buNone/>
              <a:defRPr sz="5400" b="0" i="0">
                <a:latin typeface="Source Han Serif SC" panose="02020400000000000000" pitchFamily="18" charset="-128"/>
                <a:ea typeface="Source Han Serif SC" panose="02020400000000000000" pitchFamily="18" charset="-128"/>
              </a:defRPr>
            </a:lvl4pPr>
            <a:lvl5pPr marL="0" indent="0" algn="ctr">
              <a:spcBef>
                <a:spcPts val="0"/>
              </a:spcBef>
              <a:buSzTx/>
              <a:buNone/>
              <a:defRPr sz="5400" b="0" i="0">
                <a:latin typeface="Source Han Serif SC" panose="02020400000000000000" pitchFamily="18" charset="-128"/>
                <a:ea typeface="Source Han Serif SC" panose="02020400000000000000" pitchFamily="18" charset="-128"/>
              </a:defRPr>
            </a:lvl5pPr>
          </a:lstStyle>
          <a:p>
            <a:r>
              <a:rPr dirty="0" err="1"/>
              <a:t>正文级别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1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30" name="标题文本"/>
          <p:cNvSpPr txBox="1">
            <a:spLocks noGrp="1"/>
          </p:cNvSpPr>
          <p:nvPr>
            <p:ph type="title"/>
          </p:nvPr>
        </p:nvSpPr>
        <p:spPr>
          <a:xfrm>
            <a:off x="1778000" y="4533900"/>
            <a:ext cx="20828000" cy="4648200"/>
          </a:xfrm>
          <a:prstGeom prst="rect">
            <a:avLst/>
          </a:prstGeom>
        </p:spPr>
        <p:txBody>
          <a:bodyPr/>
          <a:lstStyle>
            <a:lvl1pPr>
              <a:defRPr b="0" i="0"/>
            </a:lvl1pPr>
          </a:lstStyle>
          <a:p>
            <a:r>
              <a:rPr dirty="0" err="1"/>
              <a:t>标题文本</a:t>
            </a:r>
            <a:endParaRPr dirty="0"/>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8" name="532204087_1355x1355.jpg"/>
          <p:cNvSpPr>
            <a:spLocks noGrp="1"/>
          </p:cNvSpPr>
          <p:nvPr>
            <p:ph type="pic" sz="half" idx="21"/>
          </p:nvPr>
        </p:nvSpPr>
        <p:spPr>
          <a:xfrm>
            <a:off x="12827000" y="952500"/>
            <a:ext cx="11468100" cy="11468100"/>
          </a:xfrm>
          <a:prstGeom prst="rect">
            <a:avLst/>
          </a:prstGeom>
        </p:spPr>
        <p:txBody>
          <a:bodyPr lIns="91439" tIns="45719" rIns="91439" bIns="45719" anchor="t">
            <a:noAutofit/>
          </a:bodyPr>
          <a:lstStyle>
            <a:lvl1pPr>
              <a:defRPr b="0" i="0">
                <a:latin typeface="Source Han Serif SC" panose="02020400000000000000" pitchFamily="18" charset="-128"/>
                <a:ea typeface="Source Han Serif SC" panose="02020400000000000000" pitchFamily="18" charset="-128"/>
              </a:defRPr>
            </a:lvl1pPr>
          </a:lstStyle>
          <a:p>
            <a:endParaRPr dirty="0"/>
          </a:p>
        </p:txBody>
      </p:sp>
      <p:sp>
        <p:nvSpPr>
          <p:cNvPr id="39" name="标题文本"/>
          <p:cNvSpPr txBox="1">
            <a:spLocks noGrp="1"/>
          </p:cNvSpPr>
          <p:nvPr>
            <p:ph type="title"/>
          </p:nvPr>
        </p:nvSpPr>
        <p:spPr>
          <a:xfrm>
            <a:off x="1651000" y="952500"/>
            <a:ext cx="10223500" cy="5549900"/>
          </a:xfrm>
          <a:prstGeom prst="rect">
            <a:avLst/>
          </a:prstGeom>
        </p:spPr>
        <p:txBody>
          <a:bodyPr anchor="b"/>
          <a:lstStyle>
            <a:lvl1pPr>
              <a:defRPr sz="8400" b="0" i="0"/>
            </a:lvl1pPr>
          </a:lstStyle>
          <a:p>
            <a:r>
              <a:rPr dirty="0" err="1"/>
              <a:t>标题文本</a:t>
            </a:r>
            <a:endParaRPr dirty="0"/>
          </a:p>
        </p:txBody>
      </p:sp>
      <p:sp>
        <p:nvSpPr>
          <p:cNvPr id="40" name="正文级别 1…"/>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b="0" i="0">
                <a:latin typeface="Source Han Serif SC" panose="02020400000000000000" pitchFamily="18" charset="-128"/>
                <a:ea typeface="Source Han Serif SC" panose="02020400000000000000" pitchFamily="18" charset="-128"/>
              </a:defRPr>
            </a:lvl1pPr>
            <a:lvl2pPr marL="0" indent="0" algn="ctr">
              <a:spcBef>
                <a:spcPts val="0"/>
              </a:spcBef>
              <a:buSzTx/>
              <a:buNone/>
              <a:defRPr sz="5400" b="0" i="0">
                <a:latin typeface="Source Han Serif SC" panose="02020400000000000000" pitchFamily="18" charset="-128"/>
                <a:ea typeface="Source Han Serif SC" panose="02020400000000000000" pitchFamily="18" charset="-128"/>
              </a:defRPr>
            </a:lvl2pPr>
            <a:lvl3pPr marL="0" indent="0" algn="ctr">
              <a:spcBef>
                <a:spcPts val="0"/>
              </a:spcBef>
              <a:buSzTx/>
              <a:buNone/>
              <a:defRPr sz="5400" b="0" i="0">
                <a:latin typeface="Source Han Serif SC" panose="02020400000000000000" pitchFamily="18" charset="-128"/>
                <a:ea typeface="Source Han Serif SC" panose="02020400000000000000" pitchFamily="18" charset="-128"/>
              </a:defRPr>
            </a:lvl3pPr>
            <a:lvl4pPr marL="0" indent="0" algn="ctr">
              <a:spcBef>
                <a:spcPts val="0"/>
              </a:spcBef>
              <a:buSzTx/>
              <a:buNone/>
              <a:defRPr sz="5400" b="0" i="0">
                <a:latin typeface="Source Han Serif SC" panose="02020400000000000000" pitchFamily="18" charset="-128"/>
                <a:ea typeface="Source Han Serif SC" panose="02020400000000000000" pitchFamily="18" charset="-128"/>
              </a:defRPr>
            </a:lvl4pPr>
            <a:lvl5pPr marL="0" indent="0" algn="ctr">
              <a:spcBef>
                <a:spcPts val="0"/>
              </a:spcBef>
              <a:buSzTx/>
              <a:buNone/>
              <a:defRPr sz="5400" b="0" i="0">
                <a:latin typeface="Source Han Serif SC" panose="02020400000000000000" pitchFamily="18" charset="-128"/>
                <a:ea typeface="Source Han Serif SC" panose="02020400000000000000" pitchFamily="18" charset="-128"/>
              </a:defRPr>
            </a:lvl5pPr>
          </a:lstStyle>
          <a:p>
            <a:r>
              <a:rPr dirty="0" err="1"/>
              <a:t>正文级别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8" name="标题文本"/>
          <p:cNvSpPr txBox="1">
            <a:spLocks noGrp="1"/>
          </p:cNvSpPr>
          <p:nvPr>
            <p:ph type="title"/>
          </p:nvPr>
        </p:nvSpPr>
        <p:spPr>
          <a:prstGeom prst="rect">
            <a:avLst/>
          </a:prstGeom>
        </p:spPr>
        <p:txBody>
          <a:bodyPr/>
          <a:lstStyle>
            <a:lvl1pPr>
              <a:defRPr b="0" i="0"/>
            </a:lvl1pPr>
          </a:lstStyle>
          <a:p>
            <a:r>
              <a:rPr dirty="0" err="1"/>
              <a:t>标题文本</a:t>
            </a:r>
            <a:endParaRPr dirty="0"/>
          </a:p>
        </p:txBody>
      </p:sp>
      <p:sp>
        <p:nvSpPr>
          <p:cNvPr id="49"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lvl1pPr>
              <a:defRPr b="0" i="0"/>
            </a:lvl1pPr>
          </a:lstStyle>
          <a:p>
            <a:r>
              <a:rPr dirty="0" err="1"/>
              <a:t>标题文本</a:t>
            </a:r>
            <a:endParaRPr dirty="0"/>
          </a:p>
        </p:txBody>
      </p:sp>
      <p:sp>
        <p:nvSpPr>
          <p:cNvPr id="57" name="正文级别 1…"/>
          <p:cNvSpPr txBox="1">
            <a:spLocks noGrp="1"/>
          </p:cNvSpPr>
          <p:nvPr>
            <p:ph type="body" idx="1"/>
          </p:nvPr>
        </p:nvSpPr>
        <p:spPr>
          <a:prstGeom prst="rect">
            <a:avLst/>
          </a:prstGeom>
        </p:spPr>
        <p:txBody>
          <a:bodyPr/>
          <a:lstStyle>
            <a:lvl1pPr>
              <a:defRPr sz="4800" b="0" i="0">
                <a:latin typeface="Source Han Serif SC" panose="02020400000000000000" pitchFamily="18" charset="-128"/>
                <a:ea typeface="Source Han Serif SC" panose="02020400000000000000" pitchFamily="18" charset="-128"/>
              </a:defRPr>
            </a:lvl1pPr>
            <a:lvl2pPr>
              <a:defRPr sz="4800" b="0" i="0">
                <a:latin typeface="Source Han Serif SC" panose="02020400000000000000" pitchFamily="18" charset="-128"/>
                <a:ea typeface="Source Han Serif SC" panose="02020400000000000000" pitchFamily="18" charset="-128"/>
              </a:defRPr>
            </a:lvl2pPr>
            <a:lvl3pPr>
              <a:defRPr sz="4800" b="0" i="0">
                <a:latin typeface="Source Han Serif SC" panose="02020400000000000000" pitchFamily="18" charset="-128"/>
                <a:ea typeface="Source Han Serif SC" panose="02020400000000000000" pitchFamily="18" charset="-128"/>
              </a:defRPr>
            </a:lvl3pPr>
            <a:lvl4pPr>
              <a:defRPr sz="4800" b="0" i="0">
                <a:latin typeface="Source Han Serif SC" panose="02020400000000000000" pitchFamily="18" charset="-128"/>
                <a:ea typeface="Source Han Serif SC" panose="02020400000000000000" pitchFamily="18" charset="-128"/>
              </a:defRPr>
            </a:lvl4pPr>
            <a:lvl5pPr>
              <a:defRPr sz="4800" b="0" i="0">
                <a:latin typeface="Source Han Serif SC" panose="02020400000000000000" pitchFamily="18" charset="-128"/>
                <a:ea typeface="Source Han Serif SC" panose="02020400000000000000" pitchFamily="18" charset="-128"/>
              </a:defRPr>
            </a:lvl5pPr>
          </a:lstStyle>
          <a:p>
            <a:r>
              <a:rPr dirty="0" err="1"/>
              <a:t>正文级别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5" name="532205080_1647x1098.jpg"/>
          <p:cNvSpPr>
            <a:spLocks noGrp="1"/>
          </p:cNvSpPr>
          <p:nvPr>
            <p:ph type="pic" sz="half" idx="21"/>
          </p:nvPr>
        </p:nvSpPr>
        <p:spPr>
          <a:xfrm>
            <a:off x="10960100" y="3149600"/>
            <a:ext cx="13944600" cy="9296400"/>
          </a:xfrm>
          <a:prstGeom prst="rect">
            <a:avLst/>
          </a:prstGeom>
        </p:spPr>
        <p:txBody>
          <a:bodyPr lIns="91439" tIns="45719" rIns="91439" bIns="45719" anchor="t">
            <a:noAutofit/>
          </a:bodyPr>
          <a:lstStyle>
            <a:lvl1pPr>
              <a:defRPr b="0" i="0">
                <a:latin typeface="Source Han Serif SC" panose="02020400000000000000" pitchFamily="18" charset="-128"/>
                <a:ea typeface="Source Han Serif SC" panose="02020400000000000000" pitchFamily="18" charset="-128"/>
              </a:defRPr>
            </a:lvl1pPr>
          </a:lstStyle>
          <a:p>
            <a:endParaRPr dirty="0"/>
          </a:p>
        </p:txBody>
      </p:sp>
      <p:sp>
        <p:nvSpPr>
          <p:cNvPr id="66" name="标题文本"/>
          <p:cNvSpPr txBox="1">
            <a:spLocks noGrp="1"/>
          </p:cNvSpPr>
          <p:nvPr>
            <p:ph type="title"/>
          </p:nvPr>
        </p:nvSpPr>
        <p:spPr>
          <a:prstGeom prst="rect">
            <a:avLst/>
          </a:prstGeom>
        </p:spPr>
        <p:txBody>
          <a:bodyPr/>
          <a:lstStyle>
            <a:lvl1pPr>
              <a:defRPr b="0" i="0"/>
            </a:lvl1pPr>
          </a:lstStyle>
          <a:p>
            <a:r>
              <a:rPr dirty="0" err="1"/>
              <a:t>标题文本</a:t>
            </a:r>
            <a:endParaRPr dirty="0"/>
          </a:p>
        </p:txBody>
      </p:sp>
      <p:sp>
        <p:nvSpPr>
          <p:cNvPr id="67" name="正文级别 1…"/>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b="0" i="0">
                <a:latin typeface="Source Han Serif SC" panose="02020400000000000000" pitchFamily="18" charset="-128"/>
                <a:ea typeface="Source Han Serif SC" panose="02020400000000000000" pitchFamily="18" charset="-128"/>
              </a:defRPr>
            </a:lvl1pPr>
            <a:lvl2pPr marL="1117600" indent="-558800">
              <a:spcBef>
                <a:spcPts val="4500"/>
              </a:spcBef>
              <a:defRPr sz="3800" b="0" i="0">
                <a:latin typeface="Source Han Serif SC" panose="02020400000000000000" pitchFamily="18" charset="-128"/>
                <a:ea typeface="Source Han Serif SC" panose="02020400000000000000" pitchFamily="18" charset="-128"/>
              </a:defRPr>
            </a:lvl2pPr>
            <a:lvl3pPr marL="1676400" indent="-558800">
              <a:spcBef>
                <a:spcPts val="4500"/>
              </a:spcBef>
              <a:defRPr sz="3800" b="0" i="0">
                <a:latin typeface="Source Han Serif SC" panose="02020400000000000000" pitchFamily="18" charset="-128"/>
                <a:ea typeface="Source Han Serif SC" panose="02020400000000000000" pitchFamily="18" charset="-128"/>
              </a:defRPr>
            </a:lvl3pPr>
            <a:lvl4pPr marL="2235200" indent="-558800">
              <a:spcBef>
                <a:spcPts val="4500"/>
              </a:spcBef>
              <a:defRPr sz="3800" b="0" i="0">
                <a:latin typeface="Source Han Serif SC" panose="02020400000000000000" pitchFamily="18" charset="-128"/>
                <a:ea typeface="Source Han Serif SC" panose="02020400000000000000" pitchFamily="18" charset="-128"/>
              </a:defRPr>
            </a:lvl4pPr>
            <a:lvl5pPr marL="2794000" indent="-558800">
              <a:spcBef>
                <a:spcPts val="4500"/>
              </a:spcBef>
              <a:defRPr sz="3800" b="0" i="0">
                <a:latin typeface="Source Han Serif SC" panose="02020400000000000000" pitchFamily="18" charset="-128"/>
                <a:ea typeface="Source Han Serif SC" panose="02020400000000000000" pitchFamily="18" charset="-128"/>
              </a:defRPr>
            </a:lvl5pPr>
          </a:lstStyle>
          <a:p>
            <a:r>
              <a:rPr dirty="0" err="1"/>
              <a:t>正文级别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6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5" name="正文级别 1…"/>
          <p:cNvSpPr txBox="1">
            <a:spLocks noGrp="1"/>
          </p:cNvSpPr>
          <p:nvPr>
            <p:ph type="body" idx="1"/>
          </p:nvPr>
        </p:nvSpPr>
        <p:spPr>
          <a:xfrm>
            <a:off x="1689100" y="1778000"/>
            <a:ext cx="21005800" cy="10160000"/>
          </a:xfrm>
          <a:prstGeom prst="rect">
            <a:avLst/>
          </a:prstGeom>
        </p:spPr>
        <p:txBody>
          <a:bodyPr/>
          <a:lstStyle>
            <a:lvl1pPr>
              <a:defRPr sz="4800" b="0" i="0">
                <a:latin typeface="Source Han Serif SC" panose="02020400000000000000" pitchFamily="18" charset="-128"/>
                <a:ea typeface="Source Han Serif SC" panose="02020400000000000000" pitchFamily="18" charset="-128"/>
              </a:defRPr>
            </a:lvl1pPr>
            <a:lvl2pPr>
              <a:defRPr sz="4800" b="0" i="0">
                <a:latin typeface="Source Han Serif SC" panose="02020400000000000000" pitchFamily="18" charset="-128"/>
                <a:ea typeface="Source Han Serif SC" panose="02020400000000000000" pitchFamily="18" charset="-128"/>
              </a:defRPr>
            </a:lvl2pPr>
            <a:lvl3pPr>
              <a:defRPr sz="4800" b="0" i="0">
                <a:latin typeface="Source Han Serif SC" panose="02020400000000000000" pitchFamily="18" charset="-128"/>
                <a:ea typeface="Source Han Serif SC" panose="02020400000000000000" pitchFamily="18" charset="-128"/>
              </a:defRPr>
            </a:lvl3pPr>
            <a:lvl4pPr>
              <a:defRPr sz="4800" b="0" i="0">
                <a:latin typeface="Source Han Serif SC" panose="02020400000000000000" pitchFamily="18" charset="-128"/>
                <a:ea typeface="Source Han Serif SC" panose="02020400000000000000" pitchFamily="18" charset="-128"/>
              </a:defRPr>
            </a:lvl4pPr>
            <a:lvl5pPr>
              <a:defRPr sz="4800" b="0" i="0">
                <a:latin typeface="Source Han Serif SC" panose="02020400000000000000" pitchFamily="18" charset="-128"/>
                <a:ea typeface="Source Han Serif SC" panose="02020400000000000000" pitchFamily="18" charset="-128"/>
              </a:defRPr>
            </a:lvl5pPr>
          </a:lstStyle>
          <a:p>
            <a:r>
              <a:rPr dirty="0" err="1"/>
              <a:t>正文级别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76"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3" name="532205080_1647x1098.jpg"/>
          <p:cNvSpPr>
            <a:spLocks noGrp="1"/>
          </p:cNvSpPr>
          <p:nvPr>
            <p:ph type="pic" sz="quarter" idx="21"/>
          </p:nvPr>
        </p:nvSpPr>
        <p:spPr>
          <a:xfrm>
            <a:off x="15300325" y="7048500"/>
            <a:ext cx="8324850" cy="5549900"/>
          </a:xfrm>
          <a:prstGeom prst="rect">
            <a:avLst/>
          </a:prstGeom>
        </p:spPr>
        <p:txBody>
          <a:bodyPr lIns="91439" tIns="45719" rIns="91439" bIns="45719" anchor="t">
            <a:noAutofit/>
          </a:bodyPr>
          <a:lstStyle>
            <a:lvl1pPr>
              <a:defRPr b="0" i="0">
                <a:latin typeface="Source Han Serif SC" panose="02020400000000000000" pitchFamily="18" charset="-128"/>
                <a:ea typeface="Source Han Serif SC" panose="02020400000000000000" pitchFamily="18" charset="-128"/>
              </a:defRPr>
            </a:lvl1pPr>
          </a:lstStyle>
          <a:p>
            <a:endParaRPr dirty="0"/>
          </a:p>
        </p:txBody>
      </p:sp>
      <p:sp>
        <p:nvSpPr>
          <p:cNvPr id="84" name="532204087_1355x1355.jpg"/>
          <p:cNvSpPr>
            <a:spLocks noGrp="1"/>
          </p:cNvSpPr>
          <p:nvPr>
            <p:ph type="pic" sz="quarter" idx="22"/>
          </p:nvPr>
        </p:nvSpPr>
        <p:spPr>
          <a:xfrm>
            <a:off x="15760700" y="863600"/>
            <a:ext cx="7404100" cy="7404100"/>
          </a:xfrm>
          <a:prstGeom prst="rect">
            <a:avLst/>
          </a:prstGeom>
        </p:spPr>
        <p:txBody>
          <a:bodyPr lIns="91439" tIns="45719" rIns="91439" bIns="45719" anchor="t">
            <a:noAutofit/>
          </a:bodyPr>
          <a:lstStyle>
            <a:lvl1pPr>
              <a:defRPr b="0" i="0">
                <a:latin typeface="Source Han Serif SC" panose="02020400000000000000" pitchFamily="18" charset="-128"/>
                <a:ea typeface="Source Han Serif SC" panose="02020400000000000000" pitchFamily="18" charset="-128"/>
              </a:defRPr>
            </a:lvl1pPr>
          </a:lstStyle>
          <a:p>
            <a:endParaRPr dirty="0"/>
          </a:p>
        </p:txBody>
      </p:sp>
      <p:sp>
        <p:nvSpPr>
          <p:cNvPr id="85" name="532241774_2880x1920.jpg"/>
          <p:cNvSpPr>
            <a:spLocks noGrp="1"/>
          </p:cNvSpPr>
          <p:nvPr>
            <p:ph type="pic" idx="23"/>
          </p:nvPr>
        </p:nvSpPr>
        <p:spPr>
          <a:xfrm>
            <a:off x="-990600" y="1130300"/>
            <a:ext cx="17202150" cy="11468100"/>
          </a:xfrm>
          <a:prstGeom prst="rect">
            <a:avLst/>
          </a:prstGeom>
        </p:spPr>
        <p:txBody>
          <a:bodyPr lIns="91439" tIns="45719" rIns="91439" bIns="45719" anchor="t">
            <a:noAutofit/>
          </a:bodyPr>
          <a:lstStyle>
            <a:lvl1pPr>
              <a:defRPr b="0" i="0">
                <a:latin typeface="Source Han Serif SC" panose="02020400000000000000" pitchFamily="18" charset="-128"/>
                <a:ea typeface="Source Han Serif SC" panose="02020400000000000000" pitchFamily="18" charset="-128"/>
              </a:defRPr>
            </a:lvl1pPr>
          </a:lstStyle>
          <a:p>
            <a:endParaRPr dirty="0"/>
          </a:p>
        </p:txBody>
      </p:sp>
      <p:sp>
        <p:nvSpPr>
          <p:cNvPr id="86"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3" name="–苏子柔"/>
          <p:cNvSpPr txBox="1">
            <a:spLocks noGrp="1"/>
          </p:cNvSpPr>
          <p:nvPr>
            <p:ph type="body" sz="quarter" idx="21"/>
          </p:nvPr>
        </p:nvSpPr>
        <p:spPr>
          <a:xfrm>
            <a:off x="2387600" y="8953500"/>
            <a:ext cx="19621500" cy="595035"/>
          </a:xfrm>
          <a:prstGeom prst="rect">
            <a:avLst/>
          </a:prstGeom>
        </p:spPr>
        <p:txBody>
          <a:bodyPr anchor="t">
            <a:spAutoFit/>
          </a:bodyPr>
          <a:lstStyle>
            <a:lvl1pPr marL="0" indent="0" algn="ctr">
              <a:spcBef>
                <a:spcPts val="0"/>
              </a:spcBef>
              <a:buSzTx/>
              <a:buNone/>
              <a:defRPr sz="3200" b="0" i="0">
                <a:latin typeface="Source Han Serif SC" panose="02020400000000000000" pitchFamily="18" charset="-128"/>
                <a:ea typeface="Source Han Serif SC" panose="02020400000000000000" pitchFamily="18" charset="-128"/>
              </a:defRPr>
            </a:lvl1pPr>
          </a:lstStyle>
          <a:p>
            <a:r>
              <a:rPr dirty="0"/>
              <a:t>–</a:t>
            </a:r>
            <a:r>
              <a:rPr dirty="0" err="1"/>
              <a:t>苏子柔</a:t>
            </a:r>
            <a:endParaRPr dirty="0"/>
          </a:p>
        </p:txBody>
      </p:sp>
      <p:sp>
        <p:nvSpPr>
          <p:cNvPr id="94" name="“在此键入引文。”"/>
          <p:cNvSpPr txBox="1">
            <a:spLocks noGrp="1"/>
          </p:cNvSpPr>
          <p:nvPr>
            <p:ph type="body" sz="quarter" idx="22"/>
          </p:nvPr>
        </p:nvSpPr>
        <p:spPr>
          <a:xfrm>
            <a:off x="2387600" y="6069072"/>
            <a:ext cx="19621500" cy="841256"/>
          </a:xfrm>
          <a:prstGeom prst="rect">
            <a:avLst/>
          </a:prstGeom>
        </p:spPr>
        <p:txBody>
          <a:bodyPr>
            <a:spAutoFit/>
          </a:bodyPr>
          <a:lstStyle>
            <a:lvl1pPr marL="0" indent="0" algn="ctr">
              <a:spcBef>
                <a:spcPts val="0"/>
              </a:spcBef>
              <a:buSzTx/>
              <a:buNone/>
              <a:defRPr sz="4800" b="0" i="0">
                <a:latin typeface="Source Han Serif SC Medium" panose="02020400000000000000" pitchFamily="18" charset="-128"/>
                <a:ea typeface="Source Han Serif SC Medium" panose="02020400000000000000" pitchFamily="18" charset="-128"/>
                <a:cs typeface="+mn-cs"/>
                <a:sym typeface="Helvetica Neue Medium"/>
              </a:defRPr>
            </a:lvl1pPr>
          </a:lstStyle>
          <a:p>
            <a:r>
              <a:rPr dirty="0"/>
              <a:t>“</a:t>
            </a:r>
            <a:r>
              <a:rPr dirty="0" err="1"/>
              <a:t>在此键入引文</a:t>
            </a:r>
            <a:r>
              <a:rPr dirty="0"/>
              <a:t>。”</a:t>
            </a:r>
          </a:p>
        </p:txBody>
      </p:sp>
      <p:sp>
        <p:nvSpPr>
          <p:cNvPr id="9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532241774_2880x1920.jpg"/>
          <p:cNvSpPr>
            <a:spLocks noGrp="1"/>
          </p:cNvSpPr>
          <p:nvPr>
            <p:ph type="pic" idx="21"/>
          </p:nvPr>
        </p:nvSpPr>
        <p:spPr>
          <a:xfrm>
            <a:off x="-50800" y="-1270000"/>
            <a:ext cx="24485600" cy="16323734"/>
          </a:xfrm>
          <a:prstGeom prst="rect">
            <a:avLst/>
          </a:prstGeom>
        </p:spPr>
        <p:txBody>
          <a:bodyPr lIns="91439" tIns="45719" rIns="91439" bIns="45719" anchor="t">
            <a:noAutofit/>
          </a:bodyPr>
          <a:lstStyle>
            <a:lvl1pPr>
              <a:defRPr b="0" i="0">
                <a:latin typeface="Source Han Serif SC" panose="02020400000000000000" pitchFamily="18" charset="-128"/>
                <a:ea typeface="Source Han Serif SC" panose="02020400000000000000" pitchFamily="18" charset="-128"/>
              </a:defRPr>
            </a:lvl1pPr>
          </a:lstStyle>
          <a:p>
            <a:endParaRPr dirty="0"/>
          </a:p>
        </p:txBody>
      </p:sp>
      <p:sp>
        <p:nvSpPr>
          <p:cNvPr id="10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rPr dirty="0" err="1"/>
              <a:t>标题文本</a:t>
            </a:r>
            <a:endParaRPr dirty="0"/>
          </a:p>
        </p:txBody>
      </p:sp>
      <p:sp>
        <p:nvSpPr>
          <p:cNvPr id="3" name="正文级别 1…"/>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rPr dirty="0" err="1"/>
              <a:t>正文级别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4" name="幻灯片编号"/>
          <p:cNvSpPr txBox="1">
            <a:spLocks noGrp="1"/>
          </p:cNvSpPr>
          <p:nvPr>
            <p:ph type="sldNum" sz="quarter" idx="2"/>
          </p:nvPr>
        </p:nvSpPr>
        <p:spPr>
          <a:xfrm>
            <a:off x="11963634" y="13081000"/>
            <a:ext cx="444032" cy="471924"/>
          </a:xfrm>
          <a:prstGeom prst="rect">
            <a:avLst/>
          </a:prstGeom>
          <a:ln w="12700">
            <a:miter lim="400000"/>
          </a:ln>
        </p:spPr>
        <p:txBody>
          <a:bodyPr wrap="none" lIns="50800" tIns="50800" rIns="50800" bIns="50800">
            <a:spAutoFit/>
          </a:bodyPr>
          <a:lstStyle>
            <a:lvl1pPr>
              <a:defRPr sz="2400" b="0" i="0">
                <a:latin typeface="Source Han Sans CN Light" panose="020B0500000000000000" pitchFamily="34" charset="-128"/>
                <a:ea typeface="Source Han Sans CN Light" panose="020B0500000000000000" pitchFamily="34" charset="-128"/>
                <a:cs typeface="Source Han Sans CN Light" panose="020B0500000000000000" pitchFamily="34" charset="-128"/>
                <a:sym typeface="Helvetica Neue Light"/>
              </a:defRPr>
            </a:lvl1pPr>
          </a:lstStyle>
          <a:p>
            <a:fld id="{86CB4B4D-7CA3-9044-876B-883B54F8677D}"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Source Han Serif SC Medium" panose="02020400000000000000" pitchFamily="18" charset="-128"/>
          <a:ea typeface="Source Han Serif SC Medium" panose="02020400000000000000" pitchFamily="18" charset="-128"/>
          <a:cs typeface="+mn-cs"/>
          <a:sym typeface="Helvetica Neue Medium"/>
        </a:defRPr>
      </a:lvl1pPr>
      <a:lvl2pPr marL="0" marR="0" indent="457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2pPr>
      <a:lvl3pPr marL="0" marR="0" indent="914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3pPr>
      <a:lvl4pPr marL="0" marR="0" indent="1371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4pPr>
      <a:lvl5pPr marL="0" marR="0" indent="18288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5pPr>
      <a:lvl6pPr marL="0" marR="0" indent="22860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6pPr>
      <a:lvl7pPr marL="0" marR="0" indent="2743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7pPr>
      <a:lvl8pPr marL="0" marR="0" indent="3200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8pPr>
      <a:lvl9pPr marL="0" marR="0" indent="3657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Source Han Serif SC" panose="02020400000000000000" pitchFamily="18" charset="-128"/>
          <a:ea typeface="Source Han Serif SC" panose="02020400000000000000" pitchFamily="18" charset="-128"/>
          <a:cs typeface="Source Han Serif SC" panose="02020400000000000000" pitchFamily="18" charset="-128"/>
          <a:sym typeface="Helvetica Neue"/>
        </a:defRPr>
      </a:lvl1pPr>
      <a:lvl2pPr marL="127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Source Han Serif SC" panose="02020400000000000000" pitchFamily="18" charset="-128"/>
          <a:ea typeface="Source Han Serif SC" panose="02020400000000000000" pitchFamily="18" charset="-128"/>
          <a:cs typeface="Source Han Serif SC" panose="02020400000000000000" pitchFamily="18" charset="-128"/>
          <a:sym typeface="Helvetica Neue"/>
        </a:defRPr>
      </a:lvl2pPr>
      <a:lvl3pPr marL="190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Source Han Serif SC" panose="02020400000000000000" pitchFamily="18" charset="-128"/>
          <a:ea typeface="Source Han Serif SC" panose="02020400000000000000" pitchFamily="18" charset="-128"/>
          <a:cs typeface="Source Han Serif SC" panose="02020400000000000000" pitchFamily="18" charset="-128"/>
          <a:sym typeface="Helvetica Neue"/>
        </a:defRPr>
      </a:lvl3pPr>
      <a:lvl4pPr marL="254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Source Han Serif SC" panose="02020400000000000000" pitchFamily="18" charset="-128"/>
          <a:ea typeface="Source Han Serif SC" panose="02020400000000000000" pitchFamily="18" charset="-128"/>
          <a:cs typeface="Source Han Serif SC" panose="02020400000000000000" pitchFamily="18" charset="-128"/>
          <a:sym typeface="Helvetica Neue"/>
        </a:defRPr>
      </a:lvl4pPr>
      <a:lvl5pPr marL="317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Source Han Serif SC" panose="02020400000000000000" pitchFamily="18" charset="-128"/>
          <a:ea typeface="Source Han Serif SC" panose="02020400000000000000" pitchFamily="18" charset="-128"/>
          <a:cs typeface="Source Han Serif SC" panose="02020400000000000000" pitchFamily="18" charset="-128"/>
          <a:sym typeface="Helvetica Neue"/>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9.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6.jpg"/><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jp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6.jpg"/><Relationship Id="rId1" Type="http://schemas.openxmlformats.org/officeDocument/2006/relationships/slideLayout" Target="../slideLayouts/slideLayout5.xml"/><Relationship Id="rId6" Type="http://schemas.openxmlformats.org/officeDocument/2006/relationships/image" Target="../media/image24.jpg"/><Relationship Id="rId5" Type="http://schemas.openxmlformats.org/officeDocument/2006/relationships/image" Target="../media/image21.png"/><Relationship Id="rId4" Type="http://schemas.openxmlformats.org/officeDocument/2006/relationships/image" Target="../media/image23.jpg"/></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1.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55B1D9DB-C751-5437-9F20-998A0AB43A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53" y="-57937"/>
            <a:ext cx="24552442" cy="13830505"/>
          </a:xfrm>
          <a:prstGeom prst="rect">
            <a:avLst/>
          </a:prstGeom>
        </p:spPr>
      </p:pic>
      <p:sp>
        <p:nvSpPr>
          <p:cNvPr id="6" name="全国政协委员…">
            <a:extLst>
              <a:ext uri="{FF2B5EF4-FFF2-40B4-BE49-F238E27FC236}">
                <a16:creationId xmlns:a16="http://schemas.microsoft.com/office/drawing/2014/main" id="{E79C5FC8-8344-9DBC-B79F-967237467D95}"/>
              </a:ext>
            </a:extLst>
          </p:cNvPr>
          <p:cNvSpPr txBox="1"/>
          <p:nvPr/>
        </p:nvSpPr>
        <p:spPr>
          <a:xfrm>
            <a:off x="4220189" y="4880295"/>
            <a:ext cx="15943620" cy="2131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t">
            <a:spAutoFit/>
          </a:bodyPr>
          <a:lstStyle/>
          <a:p>
            <a:pPr defTabSz="13716">
              <a:lnSpc>
                <a:spcPct val="130000"/>
              </a:lnSpc>
              <a:tabLst>
                <a:tab pos="381000" algn="l"/>
                <a:tab pos="762000" algn="l"/>
                <a:tab pos="1143000" algn="l"/>
                <a:tab pos="1524000" algn="l"/>
                <a:tab pos="1917700" algn="l"/>
                <a:tab pos="2298700" algn="l"/>
                <a:tab pos="2679700" algn="l"/>
                <a:tab pos="3060700" algn="l"/>
                <a:tab pos="3454400" algn="l"/>
                <a:tab pos="3835400" algn="l"/>
                <a:tab pos="4216400" algn="l"/>
                <a:tab pos="4597400" algn="l"/>
              </a:tabLst>
              <a:defRPr sz="10000" b="0">
                <a:latin typeface="FZQingKeBenYueSongS-R-GB"/>
                <a:ea typeface="FZQingKeBenYueSongS-R-GB"/>
                <a:cs typeface="FZQingKeBenYueSongS-R-GB"/>
                <a:sym typeface="FZQingKeBenYueSongS-R-GB"/>
              </a:defRPr>
            </a:pPr>
            <a:r>
              <a:rPr lang="en-US" altLang="zh-CN" sz="10600" dirty="0">
                <a:solidFill>
                  <a:schemeClr val="bg1"/>
                </a:solidFill>
                <a:latin typeface="Source Han Serif SC Heavy" panose="02020400000000000000" pitchFamily="18" charset="-128"/>
                <a:ea typeface="Source Han Serif SC Heavy" panose="02020400000000000000" pitchFamily="18" charset="-128"/>
              </a:rPr>
              <a:t>2026</a:t>
            </a:r>
            <a:r>
              <a:rPr lang="zh-CN" altLang="en-US" sz="10600" dirty="0">
                <a:solidFill>
                  <a:schemeClr val="bg1"/>
                </a:solidFill>
                <a:latin typeface="Source Han Serif SC Heavy" panose="02020400000000000000" pitchFamily="18" charset="-128"/>
                <a:ea typeface="Source Han Serif SC Heavy" panose="02020400000000000000" pitchFamily="18" charset="-128"/>
              </a:rPr>
              <a:t>年度工作成果汇报</a:t>
            </a:r>
            <a:endParaRPr sz="10600" dirty="0">
              <a:solidFill>
                <a:schemeClr val="bg1"/>
              </a:solidFill>
              <a:latin typeface="Source Han Serif SC Heavy" panose="02020400000000000000" pitchFamily="18" charset="-128"/>
              <a:ea typeface="Source Han Serif SC Heavy" panose="02020400000000000000" pitchFamily="18" charset="-128"/>
            </a:endParaRPr>
          </a:p>
        </p:txBody>
      </p:sp>
      <p:sp>
        <p:nvSpPr>
          <p:cNvPr id="7" name="矩形">
            <a:extLst>
              <a:ext uri="{FF2B5EF4-FFF2-40B4-BE49-F238E27FC236}">
                <a16:creationId xmlns:a16="http://schemas.microsoft.com/office/drawing/2014/main" id="{E1360BB3-8B69-8FA3-87CC-8CD9BEF3A6B7}"/>
              </a:ext>
            </a:extLst>
          </p:cNvPr>
          <p:cNvSpPr/>
          <p:nvPr/>
        </p:nvSpPr>
        <p:spPr>
          <a:xfrm>
            <a:off x="3859757" y="4448534"/>
            <a:ext cx="16664484" cy="4290546"/>
          </a:xfrm>
          <a:prstGeom prst="rect">
            <a:avLst/>
          </a:prstGeom>
          <a:ln w="127000">
            <a:solidFill>
              <a:schemeClr val="bg1"/>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8" name="书香政协·同谈聚心">
            <a:extLst>
              <a:ext uri="{FF2B5EF4-FFF2-40B4-BE49-F238E27FC236}">
                <a16:creationId xmlns:a16="http://schemas.microsoft.com/office/drawing/2014/main" id="{B9D473E1-7CE9-5346-B185-BAB5CB9875ED}"/>
              </a:ext>
            </a:extLst>
          </p:cNvPr>
          <p:cNvSpPr txBox="1"/>
          <p:nvPr/>
        </p:nvSpPr>
        <p:spPr>
          <a:xfrm>
            <a:off x="3859757" y="3211276"/>
            <a:ext cx="16702585" cy="9006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nchor="ctr">
            <a:spAutoFit/>
          </a:bodyPr>
          <a:lstStyle>
            <a:lvl1pPr algn="r" defTabSz="13716">
              <a:lnSpc>
                <a:spcPct val="110000"/>
              </a:lnSpc>
              <a:tabLst>
                <a:tab pos="381000" algn="l"/>
                <a:tab pos="762000" algn="l"/>
                <a:tab pos="1143000" algn="l"/>
                <a:tab pos="1524000" algn="l"/>
                <a:tab pos="1917700" algn="l"/>
                <a:tab pos="2298700" algn="l"/>
                <a:tab pos="2679700" algn="l"/>
                <a:tab pos="3060700" algn="l"/>
                <a:tab pos="3454400" algn="l"/>
                <a:tab pos="3835400" algn="l"/>
                <a:tab pos="4216400" algn="l"/>
                <a:tab pos="4597400" algn="l"/>
              </a:tabLst>
              <a:defRPr sz="5600" b="0">
                <a:solidFill>
                  <a:srgbClr val="535B67"/>
                </a:solidFill>
                <a:latin typeface="FZYanSongS-DB-GB"/>
                <a:ea typeface="FZYanSongS-DB-GB"/>
                <a:cs typeface="FZYanSongS-DB-GB"/>
                <a:sym typeface="FZYanSongS-DB-GB"/>
              </a:defRPr>
            </a:lvl1pPr>
          </a:lstStyle>
          <a:p>
            <a:r>
              <a:rPr sz="4800" b="1" dirty="0" err="1">
                <a:solidFill>
                  <a:schemeClr val="bg1"/>
                </a:solidFill>
                <a:latin typeface="Source Han Serif SC" panose="02020400000000000000" pitchFamily="18" charset="-128"/>
                <a:ea typeface="Source Han Serif SC" panose="02020400000000000000" pitchFamily="18" charset="-128"/>
              </a:rPr>
              <a:t>书香政协</a:t>
            </a:r>
            <a:r>
              <a:rPr lang="zh-CN" altLang="en-US" sz="4800" b="1" dirty="0">
                <a:solidFill>
                  <a:schemeClr val="bg1"/>
                </a:solidFill>
                <a:latin typeface="Source Han Serif SC" panose="02020400000000000000" pitchFamily="18" charset="-128"/>
                <a:ea typeface="Source Han Serif SC" panose="02020400000000000000" pitchFamily="18" charset="-128"/>
              </a:rPr>
              <a:t> </a:t>
            </a:r>
            <a:r>
              <a:rPr sz="4800" b="1" dirty="0">
                <a:solidFill>
                  <a:schemeClr val="bg1"/>
                </a:solidFill>
                <a:latin typeface="Source Han Serif SC" panose="02020400000000000000" pitchFamily="18" charset="-128"/>
                <a:ea typeface="Source Han Serif SC" panose="02020400000000000000" pitchFamily="18" charset="-128"/>
              </a:rPr>
              <a:t>·</a:t>
            </a:r>
            <a:r>
              <a:rPr lang="zh-CN" altLang="en-US" sz="4800" b="1" dirty="0">
                <a:solidFill>
                  <a:schemeClr val="bg1"/>
                </a:solidFill>
                <a:latin typeface="Source Han Serif SC" panose="02020400000000000000" pitchFamily="18" charset="-128"/>
                <a:ea typeface="Source Han Serif SC" panose="02020400000000000000" pitchFamily="18" charset="-128"/>
              </a:rPr>
              <a:t> </a:t>
            </a:r>
            <a:r>
              <a:rPr sz="4800" b="1" dirty="0" err="1">
                <a:solidFill>
                  <a:schemeClr val="bg1"/>
                </a:solidFill>
                <a:latin typeface="Source Han Serif SC" panose="02020400000000000000" pitchFamily="18" charset="-128"/>
                <a:ea typeface="Source Han Serif SC" panose="02020400000000000000" pitchFamily="18" charset="-128"/>
              </a:rPr>
              <a:t>同谈聚心</a:t>
            </a:r>
            <a:endParaRPr sz="4800" b="1" dirty="0">
              <a:solidFill>
                <a:schemeClr val="bg1"/>
              </a:solidFill>
              <a:latin typeface="Source Han Serif SC" panose="02020400000000000000" pitchFamily="18" charset="-128"/>
              <a:ea typeface="Source Han Serif SC" panose="02020400000000000000" pitchFamily="18" charset="-128"/>
            </a:endParaRPr>
          </a:p>
        </p:txBody>
      </p:sp>
      <p:sp>
        <p:nvSpPr>
          <p:cNvPr id="9" name="汇报人：腾讯CDC 吴俊鹏">
            <a:extLst>
              <a:ext uri="{FF2B5EF4-FFF2-40B4-BE49-F238E27FC236}">
                <a16:creationId xmlns:a16="http://schemas.microsoft.com/office/drawing/2014/main" id="{24376A1E-45F2-9228-18BF-501A916DFEDC}"/>
              </a:ext>
            </a:extLst>
          </p:cNvPr>
          <p:cNvSpPr txBox="1"/>
          <p:nvPr/>
        </p:nvSpPr>
        <p:spPr>
          <a:xfrm>
            <a:off x="3807492" y="8980516"/>
            <a:ext cx="6784307" cy="677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tIns="91439" bIns="91439">
            <a:spAutoFit/>
          </a:bodyPr>
          <a:lstStyle>
            <a:lvl1pPr algn="l" defTabSz="1828800">
              <a:defRPr sz="3200" b="0">
                <a:solidFill>
                  <a:srgbClr val="5E5E5E"/>
                </a:solidFill>
                <a:latin typeface="PingFang SC Light"/>
                <a:ea typeface="PingFang SC Light"/>
                <a:cs typeface="PingFang SC Light"/>
                <a:sym typeface="PingFang SC Light"/>
              </a:defRPr>
            </a:lvl1pPr>
          </a:lstStyle>
          <a:p>
            <a:r>
              <a:rPr lang="en-US" dirty="0" err="1">
                <a:solidFill>
                  <a:schemeClr val="bg1"/>
                </a:solidFill>
                <a:latin typeface="Source Han Serif SC" panose="02020400000000000000" pitchFamily="18" charset="-128"/>
                <a:ea typeface="Source Han Serif SC" panose="02020400000000000000" pitchFamily="18" charset="-128"/>
              </a:rPr>
              <a:t>汇报人</a:t>
            </a:r>
            <a:r>
              <a:rPr lang="zh-CN" altLang="en-US" dirty="0">
                <a:solidFill>
                  <a:schemeClr val="bg1"/>
                </a:solidFill>
                <a:latin typeface="Source Han Serif SC" panose="02020400000000000000" pitchFamily="18" charset="-128"/>
                <a:ea typeface="Source Han Serif SC" panose="02020400000000000000" pitchFamily="18" charset="-128"/>
              </a:rPr>
              <a:t>： </a:t>
            </a:r>
            <a:r>
              <a:rPr lang="en-US" altLang="zh-CN" dirty="0">
                <a:solidFill>
                  <a:schemeClr val="bg1"/>
                </a:solidFill>
                <a:latin typeface="Source Han Serif SC" panose="02020400000000000000" pitchFamily="18" charset="-128"/>
                <a:ea typeface="Source Han Serif SC" panose="02020400000000000000" pitchFamily="18" charset="-128"/>
              </a:rPr>
              <a:t>XXX</a:t>
            </a:r>
            <a:endParaRPr dirty="0">
              <a:solidFill>
                <a:schemeClr val="bg1"/>
              </a:solidFill>
              <a:latin typeface="Source Han Serif SC" panose="02020400000000000000" pitchFamily="18" charset="-128"/>
              <a:ea typeface="Source Han Serif SC" panose="02020400000000000000" pitchFamily="18" charset="-128"/>
            </a:endParaRPr>
          </a:p>
        </p:txBody>
      </p:sp>
      <p:sp>
        <p:nvSpPr>
          <p:cNvPr id="10" name="汇报人：腾讯CDC 吴俊鹏">
            <a:extLst>
              <a:ext uri="{FF2B5EF4-FFF2-40B4-BE49-F238E27FC236}">
                <a16:creationId xmlns:a16="http://schemas.microsoft.com/office/drawing/2014/main" id="{2D792752-7D4A-CA37-354B-BC62254C4D08}"/>
              </a:ext>
            </a:extLst>
          </p:cNvPr>
          <p:cNvSpPr txBox="1"/>
          <p:nvPr/>
        </p:nvSpPr>
        <p:spPr>
          <a:xfrm>
            <a:off x="13838687" y="8985474"/>
            <a:ext cx="6784307" cy="677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tIns="91439" bIns="91439">
            <a:spAutoFit/>
          </a:bodyPr>
          <a:lstStyle>
            <a:lvl1pPr algn="l" defTabSz="1828800">
              <a:defRPr sz="3200" b="0">
                <a:solidFill>
                  <a:srgbClr val="5E5E5E"/>
                </a:solidFill>
                <a:latin typeface="PingFang SC Light"/>
                <a:ea typeface="PingFang SC Light"/>
                <a:cs typeface="PingFang SC Light"/>
                <a:sym typeface="PingFang SC Light"/>
              </a:defRPr>
            </a:lvl1pPr>
          </a:lstStyle>
          <a:p>
            <a:pPr algn="r"/>
            <a:r>
              <a:rPr lang="en-US" altLang="zh-CN" dirty="0">
                <a:solidFill>
                  <a:schemeClr val="bg1"/>
                </a:solidFill>
                <a:latin typeface="Source Han Serif SC" panose="02020400000000000000" pitchFamily="18" charset="-128"/>
                <a:ea typeface="Source Han Serif SC" panose="02020400000000000000" pitchFamily="18" charset="-128"/>
              </a:rPr>
              <a:t>2026 </a:t>
            </a:r>
            <a:r>
              <a:rPr lang="zh-CN" altLang="en-US" dirty="0">
                <a:solidFill>
                  <a:schemeClr val="bg1"/>
                </a:solidFill>
                <a:latin typeface="Source Han Serif SC" panose="02020400000000000000" pitchFamily="18" charset="-128"/>
                <a:ea typeface="Source Han Serif SC" panose="02020400000000000000" pitchFamily="18" charset="-128"/>
              </a:rPr>
              <a:t>年 </a:t>
            </a:r>
            <a:r>
              <a:rPr lang="en-US" altLang="zh-CN" dirty="0">
                <a:solidFill>
                  <a:schemeClr val="bg1"/>
                </a:solidFill>
                <a:latin typeface="Source Han Serif SC" panose="02020400000000000000" pitchFamily="18" charset="-128"/>
                <a:ea typeface="Source Han Serif SC" panose="02020400000000000000" pitchFamily="18" charset="-128"/>
              </a:rPr>
              <a:t>6 </a:t>
            </a:r>
            <a:r>
              <a:rPr lang="zh-CN" altLang="en-US" dirty="0">
                <a:solidFill>
                  <a:schemeClr val="bg1"/>
                </a:solidFill>
                <a:latin typeface="Source Han Serif SC" panose="02020400000000000000" pitchFamily="18" charset="-128"/>
                <a:ea typeface="Source Han Serif SC" panose="02020400000000000000" pitchFamily="18" charset="-128"/>
              </a:rPr>
              <a:t>月 </a:t>
            </a:r>
            <a:r>
              <a:rPr lang="en-US" altLang="zh-CN" dirty="0">
                <a:solidFill>
                  <a:schemeClr val="bg1"/>
                </a:solidFill>
                <a:latin typeface="Source Han Serif SC" panose="02020400000000000000" pitchFamily="18" charset="-128"/>
                <a:ea typeface="Source Han Serif SC" panose="02020400000000000000" pitchFamily="18" charset="-128"/>
              </a:rPr>
              <a:t>1 </a:t>
            </a:r>
            <a:r>
              <a:rPr lang="zh-CN" altLang="en-US" dirty="0">
                <a:solidFill>
                  <a:schemeClr val="bg1"/>
                </a:solidFill>
                <a:latin typeface="Source Han Serif SC" panose="02020400000000000000" pitchFamily="18" charset="-128"/>
                <a:ea typeface="Source Han Serif SC" panose="02020400000000000000" pitchFamily="18" charset="-128"/>
              </a:rPr>
              <a:t>日</a:t>
            </a:r>
            <a:endParaRPr dirty="0">
              <a:solidFill>
                <a:schemeClr val="bg1"/>
              </a:solidFill>
              <a:latin typeface="Source Han Serif SC" panose="02020400000000000000" pitchFamily="18" charset="-128"/>
              <a:ea typeface="Source Han Serif SC" panose="02020400000000000000" pitchFamily="18" charset="-128"/>
            </a:endParaRPr>
          </a:p>
        </p:txBody>
      </p:sp>
      <p:sp>
        <p:nvSpPr>
          <p:cNvPr id="11" name="全国政协委员…">
            <a:extLst>
              <a:ext uri="{FF2B5EF4-FFF2-40B4-BE49-F238E27FC236}">
                <a16:creationId xmlns:a16="http://schemas.microsoft.com/office/drawing/2014/main" id="{CD61B957-0B9B-FC23-F35F-600B6F49AE39}"/>
              </a:ext>
            </a:extLst>
          </p:cNvPr>
          <p:cNvSpPr txBox="1"/>
          <p:nvPr/>
        </p:nvSpPr>
        <p:spPr>
          <a:xfrm>
            <a:off x="4378405" y="7002525"/>
            <a:ext cx="15627188" cy="11293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t">
            <a:spAutoFit/>
          </a:bodyPr>
          <a:lstStyle/>
          <a:p>
            <a:pPr defTabSz="13716">
              <a:lnSpc>
                <a:spcPct val="130000"/>
              </a:lnSpc>
              <a:tabLst>
                <a:tab pos="381000" algn="l"/>
                <a:tab pos="762000" algn="l"/>
                <a:tab pos="1143000" algn="l"/>
                <a:tab pos="1524000" algn="l"/>
                <a:tab pos="1917700" algn="l"/>
                <a:tab pos="2298700" algn="l"/>
                <a:tab pos="2679700" algn="l"/>
                <a:tab pos="3060700" algn="l"/>
                <a:tab pos="3454400" algn="l"/>
                <a:tab pos="3835400" algn="l"/>
                <a:tab pos="4216400" algn="l"/>
                <a:tab pos="4597400" algn="l"/>
              </a:tabLst>
              <a:defRPr sz="7100" b="0">
                <a:latin typeface="FZQingKeBenYueSongS-R-GB"/>
                <a:ea typeface="FZQingKeBenYueSongS-R-GB"/>
                <a:cs typeface="FZQingKeBenYueSongS-R-GB"/>
                <a:sym typeface="FZQingKeBenYueSongS-R-GB"/>
              </a:defRPr>
            </a:pPr>
            <a:r>
              <a:rPr lang="zh-CN" altLang="en-US" sz="5400" b="0" dirty="0">
                <a:solidFill>
                  <a:schemeClr val="bg1"/>
                </a:solidFill>
                <a:sym typeface="FZQingKeBenYueSongS-R-GB"/>
              </a:rPr>
              <a:t>暨</a:t>
            </a:r>
            <a:r>
              <a:rPr lang="zh-CN" altLang="zh-CN" sz="5400" b="0" dirty="0">
                <a:solidFill>
                  <a:schemeClr val="bg1"/>
                </a:solidFill>
                <a:sym typeface="FZQingKeBenYueSongS-R-GB"/>
              </a:rPr>
              <a:t>广东省政务服务和数据管理局</a:t>
            </a:r>
            <a:r>
              <a:rPr lang="zh-CN" altLang="en-US" sz="5400" b="0" dirty="0">
                <a:solidFill>
                  <a:schemeClr val="bg1"/>
                </a:solidFill>
                <a:sym typeface="FZQingKeBenYueSongS-R-GB"/>
              </a:rPr>
              <a:t>工作成果展示</a:t>
            </a:r>
            <a:endParaRPr sz="5400" b="0" dirty="0">
              <a:solidFill>
                <a:schemeClr val="bg1"/>
              </a:solidFill>
              <a:latin typeface="Source Han Serif SC" panose="02020400000000000000" pitchFamily="18" charset="-128"/>
              <a:ea typeface="Source Han Serif SC" panose="02020400000000000000" pitchFamily="18" charset="-128"/>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C37BB09-1AE4-1989-DEF9-41908E55AD86}"/>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9013" r="9015"/>
          <a:stretch>
            <a:fillRect/>
          </a:stretch>
        </p:blipFill>
        <p:spPr>
          <a:xfrm>
            <a:off x="0" y="0"/>
            <a:ext cx="24384000" cy="13716000"/>
          </a:xfrm>
          <a:prstGeom prst="rect">
            <a:avLst/>
          </a:prstGeom>
        </p:spPr>
      </p:pic>
      <p:sp>
        <p:nvSpPr>
          <p:cNvPr id="21" name="Text 7">
            <a:extLst>
              <a:ext uri="{FF2B5EF4-FFF2-40B4-BE49-F238E27FC236}">
                <a16:creationId xmlns:a16="http://schemas.microsoft.com/office/drawing/2014/main" id="{7BF70088-5823-86F2-FB9E-21AA41635A36}"/>
              </a:ext>
            </a:extLst>
          </p:cNvPr>
          <p:cNvSpPr txBox="1"/>
          <p:nvPr/>
        </p:nvSpPr>
        <p:spPr>
          <a:xfrm>
            <a:off x="1143000" y="2536700"/>
            <a:ext cx="2534126" cy="5943040"/>
          </a:xfrm>
          <a:prstGeom prst="rect">
            <a:avLst/>
          </a:prstGeom>
          <a:noFill/>
          <a:ln/>
        </p:spPr>
        <p:txBody>
          <a:bodyPr wrap="square" lIns="0" tIns="0" rIns="0" bIns="0" rtlCol="0" anchor="ctr">
            <a:noAutofit/>
          </a:bodyPr>
          <a:lstStyle/>
          <a:p>
            <a:pPr algn="l"/>
            <a:r>
              <a:rPr lang="en-US" sz="9600" b="1" spc="1800" dirty="0" err="1">
                <a:solidFill>
                  <a:srgbClr val="1A2A3A"/>
                </a:solidFill>
                <a:latin typeface="Source Han Serif SC" panose="02020400000000000000" pitchFamily="18" charset="-128"/>
                <a:ea typeface="Source Han Serif SC" panose="02020400000000000000" pitchFamily="18" charset="-128"/>
                <a:cs typeface="Source Han Sans SC"/>
              </a:rPr>
              <a:t>汇报概要</a:t>
            </a:r>
            <a:endParaRPr lang="en-US" sz="9600" dirty="0">
              <a:latin typeface="Source Han Serif SC" panose="02020400000000000000" pitchFamily="18" charset="-128"/>
              <a:ea typeface="Source Han Serif SC" panose="02020400000000000000" pitchFamily="18" charset="-128"/>
            </a:endParaRPr>
          </a:p>
        </p:txBody>
      </p:sp>
      <p:sp>
        <p:nvSpPr>
          <p:cNvPr id="24" name="Shape 10">
            <a:extLst>
              <a:ext uri="{FF2B5EF4-FFF2-40B4-BE49-F238E27FC236}">
                <a16:creationId xmlns:a16="http://schemas.microsoft.com/office/drawing/2014/main" id="{C4FE4CB9-A92B-4844-5A45-F647C15061D4}"/>
              </a:ext>
            </a:extLst>
          </p:cNvPr>
          <p:cNvSpPr/>
          <p:nvPr/>
        </p:nvSpPr>
        <p:spPr>
          <a:xfrm>
            <a:off x="5335189" y="3304402"/>
            <a:ext cx="12050005" cy="19435"/>
          </a:xfrm>
          <a:prstGeom prst="rect">
            <a:avLst/>
          </a:prstGeom>
          <a:solidFill>
            <a:srgbClr val="1A2A3A">
              <a:alpha val="1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25" name="Text 11">
            <a:extLst>
              <a:ext uri="{FF2B5EF4-FFF2-40B4-BE49-F238E27FC236}">
                <a16:creationId xmlns:a16="http://schemas.microsoft.com/office/drawing/2014/main" id="{56D90AB6-11EB-A36D-C5EC-8F9897D8F0FB}"/>
              </a:ext>
            </a:extLst>
          </p:cNvPr>
          <p:cNvSpPr txBox="1"/>
          <p:nvPr/>
        </p:nvSpPr>
        <p:spPr>
          <a:xfrm>
            <a:off x="5335189" y="1840543"/>
            <a:ext cx="716842" cy="1049517"/>
          </a:xfrm>
          <a:prstGeom prst="rect">
            <a:avLst/>
          </a:prstGeom>
          <a:noFill/>
          <a:ln/>
        </p:spPr>
        <p:txBody>
          <a:bodyPr wrap="square" lIns="0" tIns="0" rIns="0" bIns="0" rtlCol="0" anchor="ctr">
            <a:noAutofit/>
          </a:bodyPr>
          <a:lstStyle/>
          <a:p>
            <a:pPr algn="l">
              <a:lnSpc>
                <a:spcPct val="125000"/>
              </a:lnSpc>
            </a:pPr>
            <a:r>
              <a:rPr lang="en-US" sz="4800" dirty="0">
                <a:solidFill>
                  <a:srgbClr val="0057E4"/>
                </a:solidFill>
                <a:latin typeface="Source Han Serif SC" panose="02020400000000000000" pitchFamily="18" charset="-128"/>
                <a:ea typeface="Source Han Serif SC" panose="02020400000000000000" pitchFamily="18" charset="-128"/>
                <a:cs typeface="OPPO Sans 4.0"/>
              </a:rPr>
              <a:t>01</a:t>
            </a:r>
            <a:endParaRPr lang="en-US" sz="4800" dirty="0">
              <a:latin typeface="Source Han Serif SC" panose="02020400000000000000" pitchFamily="18" charset="-128"/>
              <a:ea typeface="Source Han Serif SC" panose="02020400000000000000" pitchFamily="18" charset="-128"/>
            </a:endParaRPr>
          </a:p>
        </p:txBody>
      </p:sp>
      <p:sp>
        <p:nvSpPr>
          <p:cNvPr id="26" name="Text 12">
            <a:extLst>
              <a:ext uri="{FF2B5EF4-FFF2-40B4-BE49-F238E27FC236}">
                <a16:creationId xmlns:a16="http://schemas.microsoft.com/office/drawing/2014/main" id="{2FF3CEEC-6CF0-9CC5-CD5D-982D62B2B276}"/>
              </a:ext>
            </a:extLst>
          </p:cNvPr>
          <p:cNvSpPr txBox="1"/>
          <p:nvPr/>
        </p:nvSpPr>
        <p:spPr>
          <a:xfrm>
            <a:off x="6967770" y="1982789"/>
            <a:ext cx="1904115" cy="699678"/>
          </a:xfrm>
          <a:prstGeom prst="rect">
            <a:avLst/>
          </a:prstGeom>
          <a:noFill/>
          <a:ln/>
        </p:spPr>
        <p:txBody>
          <a:bodyPr wrap="square" lIns="0" tIns="0" rIns="0" bIns="0" rtlCol="0" anchor="ctr">
            <a:noAutofit/>
          </a:bodyPr>
          <a:lstStyle/>
          <a:p>
            <a:pPr algn="l">
              <a:lnSpc>
                <a:spcPct val="125000"/>
              </a:lnSpc>
            </a:pPr>
            <a:r>
              <a:rPr lang="en-US" sz="3600" b="1" dirty="0">
                <a:solidFill>
                  <a:srgbClr val="192A3A"/>
                </a:solidFill>
                <a:latin typeface="Source Han Serif SC" panose="02020400000000000000" pitchFamily="18" charset="-128"/>
                <a:ea typeface="Source Han Serif SC" panose="02020400000000000000" pitchFamily="18" charset="-128"/>
                <a:cs typeface="Source Han Sans SC"/>
              </a:rPr>
              <a:t>总体发展</a:t>
            </a:r>
            <a:endParaRPr lang="en-US" sz="3600" dirty="0">
              <a:solidFill>
                <a:srgbClr val="192A3A"/>
              </a:solidFill>
              <a:latin typeface="Source Han Serif SC" panose="02020400000000000000" pitchFamily="18" charset="-128"/>
              <a:ea typeface="Source Han Serif SC" panose="02020400000000000000" pitchFamily="18" charset="-128"/>
            </a:endParaRPr>
          </a:p>
        </p:txBody>
      </p:sp>
      <p:sp>
        <p:nvSpPr>
          <p:cNvPr id="27" name="Text 13">
            <a:extLst>
              <a:ext uri="{FF2B5EF4-FFF2-40B4-BE49-F238E27FC236}">
                <a16:creationId xmlns:a16="http://schemas.microsoft.com/office/drawing/2014/main" id="{B387AF07-69A0-8FA3-1254-4703D4183172}"/>
              </a:ext>
            </a:extLst>
          </p:cNvPr>
          <p:cNvSpPr txBox="1"/>
          <p:nvPr/>
        </p:nvSpPr>
        <p:spPr>
          <a:xfrm>
            <a:off x="6967770" y="2750492"/>
            <a:ext cx="3018137" cy="349839"/>
          </a:xfrm>
          <a:prstGeom prst="rect">
            <a:avLst/>
          </a:prstGeom>
          <a:noFill/>
          <a:ln/>
        </p:spPr>
        <p:txBody>
          <a:bodyPr wrap="square" lIns="0" tIns="0" rIns="0" bIns="0" rtlCol="0" anchor="ctr">
            <a:noAutofit/>
          </a:bodyPr>
          <a:lstStyle/>
          <a:p>
            <a:pPr algn="l">
              <a:lnSpc>
                <a:spcPct val="125000"/>
              </a:lnSpc>
            </a:pPr>
            <a:r>
              <a:rPr lang="en-US" sz="900" spc="75" dirty="0">
                <a:solidFill>
                  <a:srgbClr val="87909A"/>
                </a:solidFill>
                <a:latin typeface="Source Han Serif SC" panose="02020400000000000000" pitchFamily="18" charset="-128"/>
                <a:ea typeface="Source Han Serif SC" panose="02020400000000000000" pitchFamily="18" charset="-128"/>
                <a:cs typeface="Source Han Sans SC"/>
              </a:rPr>
              <a:t>OVERALL DEVELOPMENT</a:t>
            </a:r>
            <a:endParaRPr lang="en-US" sz="900" dirty="0">
              <a:solidFill>
                <a:srgbClr val="87909A"/>
              </a:solidFill>
              <a:latin typeface="Source Han Serif SC" panose="02020400000000000000" pitchFamily="18" charset="-128"/>
              <a:ea typeface="Source Han Serif SC" panose="02020400000000000000" pitchFamily="18" charset="-128"/>
            </a:endParaRPr>
          </a:p>
        </p:txBody>
      </p:sp>
      <p:sp>
        <p:nvSpPr>
          <p:cNvPr id="28" name="Shape 14">
            <a:extLst>
              <a:ext uri="{FF2B5EF4-FFF2-40B4-BE49-F238E27FC236}">
                <a16:creationId xmlns:a16="http://schemas.microsoft.com/office/drawing/2014/main" id="{573EF851-4295-748D-0D53-072A0ABFA138}"/>
              </a:ext>
            </a:extLst>
          </p:cNvPr>
          <p:cNvSpPr/>
          <p:nvPr/>
        </p:nvSpPr>
        <p:spPr>
          <a:xfrm>
            <a:off x="15830355" y="2526983"/>
            <a:ext cx="1554839" cy="19435"/>
          </a:xfrm>
          <a:prstGeom prst="rect">
            <a:avLst/>
          </a:prstGeom>
          <a:solidFill>
            <a:srgbClr val="1A2A3A">
              <a:alpha val="20000"/>
            </a:srgbClr>
          </a:solidFill>
          <a:ln/>
        </p:spPr>
        <p:txBody>
          <a:bodyPr/>
          <a:lstStyle/>
          <a:p>
            <a:endParaRPr lang="zh-CN" altLang="en-US" dirty="0">
              <a:latin typeface="Source Han Serif SC" panose="02020400000000000000" pitchFamily="18" charset="-128"/>
              <a:ea typeface="Source Han Serif SC" panose="02020400000000000000" pitchFamily="18" charset="-128"/>
            </a:endParaRPr>
          </a:p>
        </p:txBody>
      </p:sp>
      <p:sp>
        <p:nvSpPr>
          <p:cNvPr id="29" name="Shape 15">
            <a:extLst>
              <a:ext uri="{FF2B5EF4-FFF2-40B4-BE49-F238E27FC236}">
                <a16:creationId xmlns:a16="http://schemas.microsoft.com/office/drawing/2014/main" id="{C9B5B5CE-8453-1BF8-82AB-70679A17EA74}"/>
              </a:ext>
            </a:extLst>
          </p:cNvPr>
          <p:cNvSpPr/>
          <p:nvPr/>
        </p:nvSpPr>
        <p:spPr>
          <a:xfrm>
            <a:off x="5335189" y="5014726"/>
            <a:ext cx="12050005" cy="19435"/>
          </a:xfrm>
          <a:prstGeom prst="rect">
            <a:avLst/>
          </a:prstGeom>
          <a:solidFill>
            <a:srgbClr val="1A2A3A">
              <a:alpha val="1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30" name="Text 16">
            <a:extLst>
              <a:ext uri="{FF2B5EF4-FFF2-40B4-BE49-F238E27FC236}">
                <a16:creationId xmlns:a16="http://schemas.microsoft.com/office/drawing/2014/main" id="{761D1228-D2FC-1A30-DD62-D1276E2771D5}"/>
              </a:ext>
            </a:extLst>
          </p:cNvPr>
          <p:cNvSpPr txBox="1"/>
          <p:nvPr/>
        </p:nvSpPr>
        <p:spPr>
          <a:xfrm>
            <a:off x="5335189" y="3550867"/>
            <a:ext cx="834598" cy="1049517"/>
          </a:xfrm>
          <a:prstGeom prst="rect">
            <a:avLst/>
          </a:prstGeom>
          <a:noFill/>
          <a:ln/>
        </p:spPr>
        <p:txBody>
          <a:bodyPr wrap="square" lIns="0" tIns="0" rIns="0" bIns="0" rtlCol="0" anchor="ctr">
            <a:noAutofit/>
          </a:bodyPr>
          <a:lstStyle/>
          <a:p>
            <a:pPr algn="l">
              <a:lnSpc>
                <a:spcPct val="125000"/>
              </a:lnSpc>
            </a:pPr>
            <a:r>
              <a:rPr lang="en-US" sz="4800" dirty="0">
                <a:solidFill>
                  <a:srgbClr val="0057E4"/>
                </a:solidFill>
                <a:latin typeface="Source Han Serif SC" panose="02020400000000000000" pitchFamily="18" charset="-128"/>
                <a:ea typeface="Source Han Serif SC" panose="02020400000000000000" pitchFamily="18" charset="-128"/>
                <a:cs typeface="OPPO Sans 4.0"/>
              </a:rPr>
              <a:t>02</a:t>
            </a:r>
            <a:endParaRPr lang="en-US" sz="4800" dirty="0">
              <a:latin typeface="Source Han Serif SC" panose="02020400000000000000" pitchFamily="18" charset="-128"/>
              <a:ea typeface="Source Han Serif SC" panose="02020400000000000000" pitchFamily="18" charset="-128"/>
            </a:endParaRPr>
          </a:p>
        </p:txBody>
      </p:sp>
      <p:sp>
        <p:nvSpPr>
          <p:cNvPr id="31" name="Text 17">
            <a:extLst>
              <a:ext uri="{FF2B5EF4-FFF2-40B4-BE49-F238E27FC236}">
                <a16:creationId xmlns:a16="http://schemas.microsoft.com/office/drawing/2014/main" id="{CBAE3289-A728-C136-21E4-6167ACA43C20}"/>
              </a:ext>
            </a:extLst>
          </p:cNvPr>
          <p:cNvSpPr txBox="1"/>
          <p:nvPr/>
        </p:nvSpPr>
        <p:spPr>
          <a:xfrm>
            <a:off x="6967770" y="3693112"/>
            <a:ext cx="1904115" cy="699678"/>
          </a:xfrm>
          <a:prstGeom prst="rect">
            <a:avLst/>
          </a:prstGeom>
          <a:noFill/>
          <a:ln/>
        </p:spPr>
        <p:txBody>
          <a:bodyPr wrap="square" lIns="0" tIns="0" rIns="0" bIns="0" rtlCol="0" anchor="ctr">
            <a:noAutofit/>
          </a:bodyPr>
          <a:lstStyle/>
          <a:p>
            <a:pPr algn="l">
              <a:lnSpc>
                <a:spcPct val="125000"/>
              </a:lnSpc>
            </a:pPr>
            <a:r>
              <a:rPr lang="en-US" sz="3600" b="1" dirty="0">
                <a:solidFill>
                  <a:srgbClr val="1A2A3A"/>
                </a:solidFill>
                <a:latin typeface="Source Han Serif SC" panose="02020400000000000000" pitchFamily="18" charset="-128"/>
                <a:ea typeface="Source Han Serif SC" panose="02020400000000000000" pitchFamily="18" charset="-128"/>
                <a:cs typeface="Source Han Sans SC"/>
              </a:rPr>
              <a:t>经济发展</a:t>
            </a:r>
            <a:endParaRPr lang="en-US" sz="3600" dirty="0">
              <a:latin typeface="Source Han Serif SC" panose="02020400000000000000" pitchFamily="18" charset="-128"/>
              <a:ea typeface="Source Han Serif SC" panose="02020400000000000000" pitchFamily="18" charset="-128"/>
            </a:endParaRPr>
          </a:p>
        </p:txBody>
      </p:sp>
      <p:sp>
        <p:nvSpPr>
          <p:cNvPr id="32" name="Text 18">
            <a:extLst>
              <a:ext uri="{FF2B5EF4-FFF2-40B4-BE49-F238E27FC236}">
                <a16:creationId xmlns:a16="http://schemas.microsoft.com/office/drawing/2014/main" id="{746800F5-E98F-BB9A-6A43-916115B9E96F}"/>
              </a:ext>
            </a:extLst>
          </p:cNvPr>
          <p:cNvSpPr txBox="1"/>
          <p:nvPr/>
        </p:nvSpPr>
        <p:spPr>
          <a:xfrm>
            <a:off x="6967770" y="4460815"/>
            <a:ext cx="3265342" cy="349839"/>
          </a:xfrm>
          <a:prstGeom prst="rect">
            <a:avLst/>
          </a:prstGeom>
          <a:noFill/>
          <a:ln/>
        </p:spPr>
        <p:txBody>
          <a:bodyPr wrap="square" lIns="0" tIns="0" rIns="0" bIns="0" rtlCol="0" anchor="ctr">
            <a:noAutofit/>
          </a:bodyPr>
          <a:lstStyle/>
          <a:p>
            <a:pPr algn="l">
              <a:lnSpc>
                <a:spcPct val="125000"/>
              </a:lnSpc>
            </a:pPr>
            <a:r>
              <a:rPr lang="en-US" sz="900" spc="75" dirty="0">
                <a:solidFill>
                  <a:srgbClr val="1A2A3A">
                    <a:alpha val="50000"/>
                  </a:srgbClr>
                </a:solidFill>
                <a:latin typeface="Source Han Serif SC" panose="02020400000000000000" pitchFamily="18" charset="-128"/>
                <a:ea typeface="Source Han Serif SC" panose="02020400000000000000" pitchFamily="18" charset="-128"/>
                <a:cs typeface="Source Han Sans SC"/>
              </a:rPr>
              <a:t>ECONOMIC DEVELOPMENT</a:t>
            </a:r>
            <a:endParaRPr lang="en-US" sz="900" dirty="0">
              <a:latin typeface="Source Han Serif SC" panose="02020400000000000000" pitchFamily="18" charset="-128"/>
              <a:ea typeface="Source Han Serif SC" panose="02020400000000000000" pitchFamily="18" charset="-128"/>
            </a:endParaRPr>
          </a:p>
        </p:txBody>
      </p:sp>
      <p:sp>
        <p:nvSpPr>
          <p:cNvPr id="33" name="Shape 19">
            <a:extLst>
              <a:ext uri="{FF2B5EF4-FFF2-40B4-BE49-F238E27FC236}">
                <a16:creationId xmlns:a16="http://schemas.microsoft.com/office/drawing/2014/main" id="{D4673F5D-6399-EC07-E3D8-38F4EC45AEEE}"/>
              </a:ext>
            </a:extLst>
          </p:cNvPr>
          <p:cNvSpPr/>
          <p:nvPr/>
        </p:nvSpPr>
        <p:spPr>
          <a:xfrm>
            <a:off x="15830355" y="4237306"/>
            <a:ext cx="1554839" cy="19435"/>
          </a:xfrm>
          <a:prstGeom prst="rect">
            <a:avLst/>
          </a:prstGeom>
          <a:solidFill>
            <a:srgbClr val="1A2A3A">
              <a:alpha val="2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34" name="Shape 20">
            <a:extLst>
              <a:ext uri="{FF2B5EF4-FFF2-40B4-BE49-F238E27FC236}">
                <a16:creationId xmlns:a16="http://schemas.microsoft.com/office/drawing/2014/main" id="{A69E5AE8-AE90-C626-0396-195969575ADF}"/>
              </a:ext>
            </a:extLst>
          </p:cNvPr>
          <p:cNvSpPr/>
          <p:nvPr/>
        </p:nvSpPr>
        <p:spPr>
          <a:xfrm>
            <a:off x="5335189" y="6725049"/>
            <a:ext cx="12050005" cy="19435"/>
          </a:xfrm>
          <a:prstGeom prst="rect">
            <a:avLst/>
          </a:prstGeom>
          <a:solidFill>
            <a:srgbClr val="1A2A3A">
              <a:alpha val="1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35" name="Text 21">
            <a:extLst>
              <a:ext uri="{FF2B5EF4-FFF2-40B4-BE49-F238E27FC236}">
                <a16:creationId xmlns:a16="http://schemas.microsoft.com/office/drawing/2014/main" id="{A782DC11-CC28-3DF9-43A4-191CAA80AD63}"/>
              </a:ext>
            </a:extLst>
          </p:cNvPr>
          <p:cNvSpPr txBox="1"/>
          <p:nvPr/>
        </p:nvSpPr>
        <p:spPr>
          <a:xfrm>
            <a:off x="5335189" y="5261190"/>
            <a:ext cx="841735" cy="1049517"/>
          </a:xfrm>
          <a:prstGeom prst="rect">
            <a:avLst/>
          </a:prstGeom>
          <a:noFill/>
          <a:ln/>
        </p:spPr>
        <p:txBody>
          <a:bodyPr wrap="square" lIns="0" tIns="0" rIns="0" bIns="0" rtlCol="0" anchor="ctr">
            <a:noAutofit/>
          </a:bodyPr>
          <a:lstStyle/>
          <a:p>
            <a:pPr algn="l">
              <a:lnSpc>
                <a:spcPct val="125000"/>
              </a:lnSpc>
            </a:pPr>
            <a:r>
              <a:rPr lang="en-US" sz="4800" dirty="0">
                <a:solidFill>
                  <a:srgbClr val="0057E4"/>
                </a:solidFill>
                <a:latin typeface="Source Han Serif SC" panose="02020400000000000000" pitchFamily="18" charset="-128"/>
                <a:ea typeface="Source Han Serif SC" panose="02020400000000000000" pitchFamily="18" charset="-128"/>
                <a:cs typeface="OPPO Sans 4.0"/>
              </a:rPr>
              <a:t>03</a:t>
            </a:r>
            <a:endParaRPr lang="en-US" sz="4800" dirty="0">
              <a:latin typeface="Source Han Serif SC" panose="02020400000000000000" pitchFamily="18" charset="-128"/>
              <a:ea typeface="Source Han Serif SC" panose="02020400000000000000" pitchFamily="18" charset="-128"/>
            </a:endParaRPr>
          </a:p>
        </p:txBody>
      </p:sp>
      <p:sp>
        <p:nvSpPr>
          <p:cNvPr id="36" name="Text 22">
            <a:extLst>
              <a:ext uri="{FF2B5EF4-FFF2-40B4-BE49-F238E27FC236}">
                <a16:creationId xmlns:a16="http://schemas.microsoft.com/office/drawing/2014/main" id="{3AD627ED-20A4-B389-CDB6-0F31F12DC735}"/>
              </a:ext>
            </a:extLst>
          </p:cNvPr>
          <p:cNvSpPr txBox="1"/>
          <p:nvPr/>
        </p:nvSpPr>
        <p:spPr>
          <a:xfrm>
            <a:off x="6967770" y="5403435"/>
            <a:ext cx="1904115" cy="699678"/>
          </a:xfrm>
          <a:prstGeom prst="rect">
            <a:avLst/>
          </a:prstGeom>
          <a:noFill/>
          <a:ln/>
        </p:spPr>
        <p:txBody>
          <a:bodyPr wrap="square" lIns="0" tIns="0" rIns="0" bIns="0" rtlCol="0" anchor="ctr">
            <a:noAutofit/>
          </a:bodyPr>
          <a:lstStyle/>
          <a:p>
            <a:pPr algn="l">
              <a:lnSpc>
                <a:spcPct val="125000"/>
              </a:lnSpc>
            </a:pPr>
            <a:r>
              <a:rPr lang="en-US" sz="3600" b="1" dirty="0">
                <a:solidFill>
                  <a:srgbClr val="1A2A3A"/>
                </a:solidFill>
                <a:latin typeface="Source Han Serif SC" panose="02020400000000000000" pitchFamily="18" charset="-128"/>
                <a:ea typeface="Source Han Serif SC" panose="02020400000000000000" pitchFamily="18" charset="-128"/>
                <a:cs typeface="Source Han Sans SC"/>
              </a:rPr>
              <a:t>民生改善</a:t>
            </a:r>
            <a:endParaRPr lang="en-US" sz="3600" dirty="0">
              <a:latin typeface="Source Han Serif SC" panose="02020400000000000000" pitchFamily="18" charset="-128"/>
              <a:ea typeface="Source Han Serif SC" panose="02020400000000000000" pitchFamily="18" charset="-128"/>
            </a:endParaRPr>
          </a:p>
        </p:txBody>
      </p:sp>
      <p:sp>
        <p:nvSpPr>
          <p:cNvPr id="37" name="Text 23">
            <a:extLst>
              <a:ext uri="{FF2B5EF4-FFF2-40B4-BE49-F238E27FC236}">
                <a16:creationId xmlns:a16="http://schemas.microsoft.com/office/drawing/2014/main" id="{32286C1A-46E2-ED78-3475-F80DCC125AC2}"/>
              </a:ext>
            </a:extLst>
          </p:cNvPr>
          <p:cNvSpPr txBox="1"/>
          <p:nvPr/>
        </p:nvSpPr>
        <p:spPr>
          <a:xfrm>
            <a:off x="6967770" y="6171138"/>
            <a:ext cx="3399950" cy="349839"/>
          </a:xfrm>
          <a:prstGeom prst="rect">
            <a:avLst/>
          </a:prstGeom>
          <a:noFill/>
          <a:ln/>
        </p:spPr>
        <p:txBody>
          <a:bodyPr wrap="square" lIns="0" tIns="0" rIns="0" bIns="0" rtlCol="0" anchor="ctr">
            <a:noAutofit/>
          </a:bodyPr>
          <a:lstStyle/>
          <a:p>
            <a:pPr algn="l">
              <a:lnSpc>
                <a:spcPct val="125000"/>
              </a:lnSpc>
            </a:pPr>
            <a:r>
              <a:rPr lang="en-US" sz="900" spc="75" dirty="0">
                <a:solidFill>
                  <a:srgbClr val="1A2A3A">
                    <a:alpha val="50000"/>
                  </a:srgbClr>
                </a:solidFill>
                <a:latin typeface="Source Han Serif SC" panose="02020400000000000000" pitchFamily="18" charset="-128"/>
                <a:ea typeface="Source Han Serif SC" panose="02020400000000000000" pitchFamily="18" charset="-128"/>
                <a:cs typeface="Source Han Sans SC"/>
              </a:rPr>
              <a:t>LIVELIHOOD IMPROVEMENT</a:t>
            </a:r>
            <a:endParaRPr lang="en-US" sz="900" dirty="0">
              <a:latin typeface="Source Han Serif SC" panose="02020400000000000000" pitchFamily="18" charset="-128"/>
              <a:ea typeface="Source Han Serif SC" panose="02020400000000000000" pitchFamily="18" charset="-128"/>
            </a:endParaRPr>
          </a:p>
        </p:txBody>
      </p:sp>
      <p:sp>
        <p:nvSpPr>
          <p:cNvPr id="38" name="Shape 24">
            <a:extLst>
              <a:ext uri="{FF2B5EF4-FFF2-40B4-BE49-F238E27FC236}">
                <a16:creationId xmlns:a16="http://schemas.microsoft.com/office/drawing/2014/main" id="{1AD6AD57-9A3E-E2DE-360A-309FB68E57F4}"/>
              </a:ext>
            </a:extLst>
          </p:cNvPr>
          <p:cNvSpPr/>
          <p:nvPr/>
        </p:nvSpPr>
        <p:spPr>
          <a:xfrm>
            <a:off x="15830355" y="5947629"/>
            <a:ext cx="1554839" cy="19435"/>
          </a:xfrm>
          <a:prstGeom prst="rect">
            <a:avLst/>
          </a:prstGeom>
          <a:solidFill>
            <a:srgbClr val="1A2A3A">
              <a:alpha val="2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39" name="Shape 25">
            <a:extLst>
              <a:ext uri="{FF2B5EF4-FFF2-40B4-BE49-F238E27FC236}">
                <a16:creationId xmlns:a16="http://schemas.microsoft.com/office/drawing/2014/main" id="{71DC5CE4-80AF-CC2C-837A-14A6C391E3A6}"/>
              </a:ext>
            </a:extLst>
          </p:cNvPr>
          <p:cNvSpPr/>
          <p:nvPr/>
        </p:nvSpPr>
        <p:spPr>
          <a:xfrm>
            <a:off x="5335189" y="8435372"/>
            <a:ext cx="12050005" cy="19435"/>
          </a:xfrm>
          <a:prstGeom prst="rect">
            <a:avLst/>
          </a:prstGeom>
          <a:solidFill>
            <a:srgbClr val="1A2A3A">
              <a:alpha val="1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40" name="Text 26">
            <a:extLst>
              <a:ext uri="{FF2B5EF4-FFF2-40B4-BE49-F238E27FC236}">
                <a16:creationId xmlns:a16="http://schemas.microsoft.com/office/drawing/2014/main" id="{F84C8700-1B05-B3A7-2BA1-C1E2A5F4C67A}"/>
              </a:ext>
            </a:extLst>
          </p:cNvPr>
          <p:cNvSpPr txBox="1"/>
          <p:nvPr/>
        </p:nvSpPr>
        <p:spPr>
          <a:xfrm>
            <a:off x="5335189" y="6971513"/>
            <a:ext cx="883069" cy="1049517"/>
          </a:xfrm>
          <a:prstGeom prst="rect">
            <a:avLst/>
          </a:prstGeom>
          <a:noFill/>
          <a:ln/>
        </p:spPr>
        <p:txBody>
          <a:bodyPr wrap="square" lIns="0" tIns="0" rIns="0" bIns="0" rtlCol="0" anchor="ctr">
            <a:noAutofit/>
          </a:bodyPr>
          <a:lstStyle/>
          <a:p>
            <a:pPr algn="l">
              <a:lnSpc>
                <a:spcPct val="125000"/>
              </a:lnSpc>
            </a:pPr>
            <a:r>
              <a:rPr lang="en-US" sz="4800" dirty="0">
                <a:solidFill>
                  <a:srgbClr val="0057E4"/>
                </a:solidFill>
                <a:latin typeface="Source Han Serif SC" panose="02020400000000000000" pitchFamily="18" charset="-128"/>
                <a:ea typeface="Source Han Serif SC" panose="02020400000000000000" pitchFamily="18" charset="-128"/>
                <a:cs typeface="OPPO Sans 4.0"/>
              </a:rPr>
              <a:t>04</a:t>
            </a:r>
            <a:endParaRPr lang="en-US" sz="4800" dirty="0">
              <a:latin typeface="Source Han Serif SC" panose="02020400000000000000" pitchFamily="18" charset="-128"/>
              <a:ea typeface="Source Han Serif SC" panose="02020400000000000000" pitchFamily="18" charset="-128"/>
            </a:endParaRPr>
          </a:p>
        </p:txBody>
      </p:sp>
      <p:sp>
        <p:nvSpPr>
          <p:cNvPr id="41" name="Text 27">
            <a:extLst>
              <a:ext uri="{FF2B5EF4-FFF2-40B4-BE49-F238E27FC236}">
                <a16:creationId xmlns:a16="http://schemas.microsoft.com/office/drawing/2014/main" id="{F5B2FB59-A557-926A-88D3-2B3EEA78F73A}"/>
              </a:ext>
            </a:extLst>
          </p:cNvPr>
          <p:cNvSpPr txBox="1"/>
          <p:nvPr/>
        </p:nvSpPr>
        <p:spPr>
          <a:xfrm>
            <a:off x="6967770" y="7113759"/>
            <a:ext cx="1904115" cy="699678"/>
          </a:xfrm>
          <a:prstGeom prst="rect">
            <a:avLst/>
          </a:prstGeom>
          <a:noFill/>
          <a:ln/>
        </p:spPr>
        <p:txBody>
          <a:bodyPr wrap="square" lIns="0" tIns="0" rIns="0" bIns="0" rtlCol="0" anchor="ctr">
            <a:noAutofit/>
          </a:bodyPr>
          <a:lstStyle/>
          <a:p>
            <a:pPr algn="l">
              <a:lnSpc>
                <a:spcPct val="125000"/>
              </a:lnSpc>
            </a:pPr>
            <a:r>
              <a:rPr lang="en-US" sz="3600" b="1" dirty="0">
                <a:solidFill>
                  <a:srgbClr val="1A2A3A"/>
                </a:solidFill>
                <a:latin typeface="Source Han Serif SC" panose="02020400000000000000" pitchFamily="18" charset="-128"/>
                <a:ea typeface="Source Han Serif SC" panose="02020400000000000000" pitchFamily="18" charset="-128"/>
                <a:cs typeface="Source Han Sans SC"/>
              </a:rPr>
              <a:t>社会治理</a:t>
            </a:r>
            <a:endParaRPr lang="en-US" sz="3600" dirty="0">
              <a:latin typeface="Source Han Serif SC" panose="02020400000000000000" pitchFamily="18" charset="-128"/>
              <a:ea typeface="Source Han Serif SC" panose="02020400000000000000" pitchFamily="18" charset="-128"/>
            </a:endParaRPr>
          </a:p>
        </p:txBody>
      </p:sp>
      <p:sp>
        <p:nvSpPr>
          <p:cNvPr id="42" name="Text 28">
            <a:extLst>
              <a:ext uri="{FF2B5EF4-FFF2-40B4-BE49-F238E27FC236}">
                <a16:creationId xmlns:a16="http://schemas.microsoft.com/office/drawing/2014/main" id="{86FE2325-B5D9-DBE8-219A-EE557D10B906}"/>
              </a:ext>
            </a:extLst>
          </p:cNvPr>
          <p:cNvSpPr txBox="1"/>
          <p:nvPr/>
        </p:nvSpPr>
        <p:spPr>
          <a:xfrm>
            <a:off x="6967770" y="7881462"/>
            <a:ext cx="2664372" cy="349839"/>
          </a:xfrm>
          <a:prstGeom prst="rect">
            <a:avLst/>
          </a:prstGeom>
          <a:noFill/>
          <a:ln/>
        </p:spPr>
        <p:txBody>
          <a:bodyPr wrap="square" lIns="0" tIns="0" rIns="0" bIns="0" rtlCol="0" anchor="ctr">
            <a:noAutofit/>
          </a:bodyPr>
          <a:lstStyle/>
          <a:p>
            <a:pPr algn="l">
              <a:lnSpc>
                <a:spcPct val="125000"/>
              </a:lnSpc>
            </a:pPr>
            <a:r>
              <a:rPr lang="en-US" sz="900" spc="75" dirty="0">
                <a:solidFill>
                  <a:srgbClr val="1A2A3A">
                    <a:alpha val="50000"/>
                  </a:srgbClr>
                </a:solidFill>
                <a:latin typeface="Source Han Serif SC" panose="02020400000000000000" pitchFamily="18" charset="-128"/>
                <a:ea typeface="Source Han Serif SC" panose="02020400000000000000" pitchFamily="18" charset="-128"/>
                <a:cs typeface="Source Han Sans SC"/>
              </a:rPr>
              <a:t>SOCIAL GOVERNANCE</a:t>
            </a:r>
            <a:endParaRPr lang="en-US" sz="900" dirty="0">
              <a:latin typeface="Source Han Serif SC" panose="02020400000000000000" pitchFamily="18" charset="-128"/>
              <a:ea typeface="Source Han Serif SC" panose="02020400000000000000" pitchFamily="18" charset="-128"/>
            </a:endParaRPr>
          </a:p>
        </p:txBody>
      </p:sp>
      <p:sp>
        <p:nvSpPr>
          <p:cNvPr id="43" name="Shape 29">
            <a:extLst>
              <a:ext uri="{FF2B5EF4-FFF2-40B4-BE49-F238E27FC236}">
                <a16:creationId xmlns:a16="http://schemas.microsoft.com/office/drawing/2014/main" id="{3C2101C2-45B3-E204-0968-FB471B671A1F}"/>
              </a:ext>
            </a:extLst>
          </p:cNvPr>
          <p:cNvSpPr/>
          <p:nvPr/>
        </p:nvSpPr>
        <p:spPr>
          <a:xfrm>
            <a:off x="15830355" y="7657952"/>
            <a:ext cx="1554839" cy="19435"/>
          </a:xfrm>
          <a:prstGeom prst="rect">
            <a:avLst/>
          </a:prstGeom>
          <a:solidFill>
            <a:srgbClr val="1A2A3A">
              <a:alpha val="2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44" name="Shape 30">
            <a:extLst>
              <a:ext uri="{FF2B5EF4-FFF2-40B4-BE49-F238E27FC236}">
                <a16:creationId xmlns:a16="http://schemas.microsoft.com/office/drawing/2014/main" id="{719C9916-FD80-00E5-C20E-997F3173345A}"/>
              </a:ext>
            </a:extLst>
          </p:cNvPr>
          <p:cNvSpPr/>
          <p:nvPr/>
        </p:nvSpPr>
        <p:spPr>
          <a:xfrm>
            <a:off x="5335189" y="10145695"/>
            <a:ext cx="12050005" cy="19435"/>
          </a:xfrm>
          <a:prstGeom prst="rect">
            <a:avLst/>
          </a:prstGeom>
          <a:solidFill>
            <a:srgbClr val="1A2A3A">
              <a:alpha val="1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45" name="Text 31">
            <a:extLst>
              <a:ext uri="{FF2B5EF4-FFF2-40B4-BE49-F238E27FC236}">
                <a16:creationId xmlns:a16="http://schemas.microsoft.com/office/drawing/2014/main" id="{E01E89BC-56E4-F230-3C05-4F0D1F66A54A}"/>
              </a:ext>
            </a:extLst>
          </p:cNvPr>
          <p:cNvSpPr txBox="1"/>
          <p:nvPr/>
        </p:nvSpPr>
        <p:spPr>
          <a:xfrm>
            <a:off x="5335189" y="8681836"/>
            <a:ext cx="860965" cy="1049517"/>
          </a:xfrm>
          <a:prstGeom prst="rect">
            <a:avLst/>
          </a:prstGeom>
          <a:noFill/>
          <a:ln/>
        </p:spPr>
        <p:txBody>
          <a:bodyPr wrap="square" lIns="0" tIns="0" rIns="0" bIns="0" rtlCol="0" anchor="ctr">
            <a:noAutofit/>
          </a:bodyPr>
          <a:lstStyle/>
          <a:p>
            <a:pPr algn="l">
              <a:lnSpc>
                <a:spcPct val="125000"/>
              </a:lnSpc>
            </a:pPr>
            <a:r>
              <a:rPr lang="en-US" sz="4800" dirty="0">
                <a:solidFill>
                  <a:srgbClr val="0057E4"/>
                </a:solidFill>
                <a:latin typeface="Source Han Serif SC" panose="02020400000000000000" pitchFamily="18" charset="-128"/>
                <a:ea typeface="Source Han Serif SC" panose="02020400000000000000" pitchFamily="18" charset="-128"/>
                <a:cs typeface="OPPO Sans 4.0"/>
              </a:rPr>
              <a:t>05</a:t>
            </a:r>
            <a:endParaRPr lang="en-US" sz="4800" dirty="0">
              <a:latin typeface="Source Han Serif SC" panose="02020400000000000000" pitchFamily="18" charset="-128"/>
              <a:ea typeface="Source Han Serif SC" panose="02020400000000000000" pitchFamily="18" charset="-128"/>
            </a:endParaRPr>
          </a:p>
        </p:txBody>
      </p:sp>
      <p:sp>
        <p:nvSpPr>
          <p:cNvPr id="46" name="Text 32">
            <a:extLst>
              <a:ext uri="{FF2B5EF4-FFF2-40B4-BE49-F238E27FC236}">
                <a16:creationId xmlns:a16="http://schemas.microsoft.com/office/drawing/2014/main" id="{13E6FCE5-00DF-0962-AE3D-1972B3C7F99C}"/>
              </a:ext>
            </a:extLst>
          </p:cNvPr>
          <p:cNvSpPr txBox="1"/>
          <p:nvPr/>
        </p:nvSpPr>
        <p:spPr>
          <a:xfrm>
            <a:off x="6967770" y="8824082"/>
            <a:ext cx="1904115" cy="699678"/>
          </a:xfrm>
          <a:prstGeom prst="rect">
            <a:avLst/>
          </a:prstGeom>
          <a:noFill/>
          <a:ln/>
        </p:spPr>
        <p:txBody>
          <a:bodyPr wrap="square" lIns="0" tIns="0" rIns="0" bIns="0" rtlCol="0" anchor="ctr">
            <a:noAutofit/>
          </a:bodyPr>
          <a:lstStyle/>
          <a:p>
            <a:pPr algn="l">
              <a:lnSpc>
                <a:spcPct val="125000"/>
              </a:lnSpc>
            </a:pPr>
            <a:r>
              <a:rPr lang="en-US" sz="3600" b="1" dirty="0">
                <a:solidFill>
                  <a:srgbClr val="1A2A3A"/>
                </a:solidFill>
                <a:latin typeface="Source Han Serif SC" panose="02020400000000000000" pitchFamily="18" charset="-128"/>
                <a:ea typeface="Source Han Serif SC" panose="02020400000000000000" pitchFamily="18" charset="-128"/>
                <a:cs typeface="Source Han Sans SC"/>
              </a:rPr>
              <a:t>生态环保</a:t>
            </a:r>
            <a:endParaRPr lang="en-US" sz="3600" dirty="0">
              <a:latin typeface="Source Han Serif SC" panose="02020400000000000000" pitchFamily="18" charset="-128"/>
              <a:ea typeface="Source Han Serif SC" panose="02020400000000000000" pitchFamily="18" charset="-128"/>
            </a:endParaRPr>
          </a:p>
        </p:txBody>
      </p:sp>
      <p:sp>
        <p:nvSpPr>
          <p:cNvPr id="47" name="Text 33">
            <a:extLst>
              <a:ext uri="{FF2B5EF4-FFF2-40B4-BE49-F238E27FC236}">
                <a16:creationId xmlns:a16="http://schemas.microsoft.com/office/drawing/2014/main" id="{0943D7CC-2358-A118-C39C-63707D126AD2}"/>
              </a:ext>
            </a:extLst>
          </p:cNvPr>
          <p:cNvSpPr txBox="1"/>
          <p:nvPr/>
        </p:nvSpPr>
        <p:spPr>
          <a:xfrm>
            <a:off x="6967770" y="9591785"/>
            <a:ext cx="3273371" cy="349839"/>
          </a:xfrm>
          <a:prstGeom prst="rect">
            <a:avLst/>
          </a:prstGeom>
          <a:noFill/>
          <a:ln/>
        </p:spPr>
        <p:txBody>
          <a:bodyPr wrap="square" lIns="0" tIns="0" rIns="0" bIns="0" rtlCol="0" anchor="ctr">
            <a:noAutofit/>
          </a:bodyPr>
          <a:lstStyle/>
          <a:p>
            <a:pPr algn="l">
              <a:lnSpc>
                <a:spcPct val="125000"/>
              </a:lnSpc>
            </a:pPr>
            <a:r>
              <a:rPr lang="en-US" sz="900" spc="75" dirty="0">
                <a:solidFill>
                  <a:srgbClr val="1A2A3A">
                    <a:alpha val="50000"/>
                  </a:srgbClr>
                </a:solidFill>
                <a:latin typeface="Source Han Serif SC" panose="02020400000000000000" pitchFamily="18" charset="-128"/>
                <a:ea typeface="Source Han Serif SC" panose="02020400000000000000" pitchFamily="18" charset="-128"/>
                <a:cs typeface="Source Han Sans SC"/>
              </a:rPr>
              <a:t>ECOLOGICAL PROTECTION</a:t>
            </a:r>
            <a:endParaRPr lang="en-US" sz="900" dirty="0">
              <a:latin typeface="Source Han Serif SC" panose="02020400000000000000" pitchFamily="18" charset="-128"/>
              <a:ea typeface="Source Han Serif SC" panose="02020400000000000000" pitchFamily="18" charset="-128"/>
            </a:endParaRPr>
          </a:p>
        </p:txBody>
      </p:sp>
      <p:sp>
        <p:nvSpPr>
          <p:cNvPr id="48" name="Shape 34">
            <a:extLst>
              <a:ext uri="{FF2B5EF4-FFF2-40B4-BE49-F238E27FC236}">
                <a16:creationId xmlns:a16="http://schemas.microsoft.com/office/drawing/2014/main" id="{00DF7D19-1D32-D771-D68E-5C5E2F1592A7}"/>
              </a:ext>
            </a:extLst>
          </p:cNvPr>
          <p:cNvSpPr/>
          <p:nvPr/>
        </p:nvSpPr>
        <p:spPr>
          <a:xfrm>
            <a:off x="15830355" y="9368276"/>
            <a:ext cx="1554839" cy="19435"/>
          </a:xfrm>
          <a:prstGeom prst="rect">
            <a:avLst/>
          </a:prstGeom>
          <a:solidFill>
            <a:srgbClr val="1A2A3A">
              <a:alpha val="2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49" name="Shape 35">
            <a:extLst>
              <a:ext uri="{FF2B5EF4-FFF2-40B4-BE49-F238E27FC236}">
                <a16:creationId xmlns:a16="http://schemas.microsoft.com/office/drawing/2014/main" id="{BE7B4841-BC13-C8F0-FD30-65A1DC69A18D}"/>
              </a:ext>
            </a:extLst>
          </p:cNvPr>
          <p:cNvSpPr/>
          <p:nvPr/>
        </p:nvSpPr>
        <p:spPr>
          <a:xfrm>
            <a:off x="5335189" y="11856019"/>
            <a:ext cx="12050005" cy="19435"/>
          </a:xfrm>
          <a:prstGeom prst="rect">
            <a:avLst/>
          </a:prstGeom>
          <a:solidFill>
            <a:srgbClr val="1A2A3A">
              <a:alpha val="1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50" name="Text 36">
            <a:extLst>
              <a:ext uri="{FF2B5EF4-FFF2-40B4-BE49-F238E27FC236}">
                <a16:creationId xmlns:a16="http://schemas.microsoft.com/office/drawing/2014/main" id="{483B48D2-41DE-78FC-1F4E-DA384C315309}"/>
              </a:ext>
            </a:extLst>
          </p:cNvPr>
          <p:cNvSpPr txBox="1"/>
          <p:nvPr/>
        </p:nvSpPr>
        <p:spPr>
          <a:xfrm>
            <a:off x="5335189" y="10392160"/>
            <a:ext cx="870284" cy="1049517"/>
          </a:xfrm>
          <a:prstGeom prst="rect">
            <a:avLst/>
          </a:prstGeom>
          <a:noFill/>
          <a:ln/>
        </p:spPr>
        <p:txBody>
          <a:bodyPr wrap="square" lIns="0" tIns="0" rIns="0" bIns="0" rtlCol="0" anchor="ctr">
            <a:noAutofit/>
          </a:bodyPr>
          <a:lstStyle/>
          <a:p>
            <a:pPr algn="l">
              <a:lnSpc>
                <a:spcPct val="125000"/>
              </a:lnSpc>
            </a:pPr>
            <a:r>
              <a:rPr lang="en-US" sz="4800" dirty="0">
                <a:solidFill>
                  <a:srgbClr val="0057E4"/>
                </a:solidFill>
                <a:latin typeface="Source Han Serif SC" panose="02020400000000000000" pitchFamily="18" charset="-128"/>
                <a:ea typeface="Source Han Serif SC" panose="02020400000000000000" pitchFamily="18" charset="-128"/>
                <a:cs typeface="OPPO Sans 4.0"/>
              </a:rPr>
              <a:t>06</a:t>
            </a:r>
            <a:endParaRPr lang="en-US" sz="4800" dirty="0">
              <a:latin typeface="Source Han Serif SC" panose="02020400000000000000" pitchFamily="18" charset="-128"/>
              <a:ea typeface="Source Han Serif SC" panose="02020400000000000000" pitchFamily="18" charset="-128"/>
            </a:endParaRPr>
          </a:p>
        </p:txBody>
      </p:sp>
      <p:sp>
        <p:nvSpPr>
          <p:cNvPr id="51" name="Text 37">
            <a:extLst>
              <a:ext uri="{FF2B5EF4-FFF2-40B4-BE49-F238E27FC236}">
                <a16:creationId xmlns:a16="http://schemas.microsoft.com/office/drawing/2014/main" id="{BEB2509E-C8C1-FCD0-2640-A06E9699133F}"/>
              </a:ext>
            </a:extLst>
          </p:cNvPr>
          <p:cNvSpPr txBox="1"/>
          <p:nvPr/>
        </p:nvSpPr>
        <p:spPr>
          <a:xfrm>
            <a:off x="6967770" y="10534405"/>
            <a:ext cx="1904115" cy="699678"/>
          </a:xfrm>
          <a:prstGeom prst="rect">
            <a:avLst/>
          </a:prstGeom>
          <a:noFill/>
          <a:ln/>
        </p:spPr>
        <p:txBody>
          <a:bodyPr wrap="square" lIns="0" tIns="0" rIns="0" bIns="0" rtlCol="0" anchor="ctr">
            <a:noAutofit/>
          </a:bodyPr>
          <a:lstStyle/>
          <a:p>
            <a:pPr algn="l">
              <a:lnSpc>
                <a:spcPct val="125000"/>
              </a:lnSpc>
            </a:pPr>
            <a:r>
              <a:rPr lang="en-US" sz="3600" b="1" dirty="0">
                <a:solidFill>
                  <a:srgbClr val="1A2A3A"/>
                </a:solidFill>
                <a:latin typeface="Source Han Serif SC" panose="02020400000000000000" pitchFamily="18" charset="-128"/>
                <a:ea typeface="Source Han Serif SC" panose="02020400000000000000" pitchFamily="18" charset="-128"/>
                <a:cs typeface="Source Han Sans SC"/>
              </a:rPr>
              <a:t>未来规划</a:t>
            </a:r>
            <a:endParaRPr lang="en-US" sz="3600" dirty="0">
              <a:latin typeface="Source Han Serif SC" panose="02020400000000000000" pitchFamily="18" charset="-128"/>
              <a:ea typeface="Source Han Serif SC" panose="02020400000000000000" pitchFamily="18" charset="-128"/>
            </a:endParaRPr>
          </a:p>
        </p:txBody>
      </p:sp>
      <p:sp>
        <p:nvSpPr>
          <p:cNvPr id="52" name="Text 38">
            <a:extLst>
              <a:ext uri="{FF2B5EF4-FFF2-40B4-BE49-F238E27FC236}">
                <a16:creationId xmlns:a16="http://schemas.microsoft.com/office/drawing/2014/main" id="{782865C0-4851-818B-EC4C-EA269BD93392}"/>
              </a:ext>
            </a:extLst>
          </p:cNvPr>
          <p:cNvSpPr txBox="1"/>
          <p:nvPr/>
        </p:nvSpPr>
        <p:spPr>
          <a:xfrm>
            <a:off x="6967770" y="11302108"/>
            <a:ext cx="2350852" cy="349839"/>
          </a:xfrm>
          <a:prstGeom prst="rect">
            <a:avLst/>
          </a:prstGeom>
          <a:noFill/>
          <a:ln/>
        </p:spPr>
        <p:txBody>
          <a:bodyPr wrap="square" lIns="0" tIns="0" rIns="0" bIns="0" rtlCol="0" anchor="ctr">
            <a:noAutofit/>
          </a:bodyPr>
          <a:lstStyle/>
          <a:p>
            <a:pPr algn="l">
              <a:lnSpc>
                <a:spcPct val="125000"/>
              </a:lnSpc>
            </a:pPr>
            <a:r>
              <a:rPr lang="en-US" sz="900" spc="75" dirty="0">
                <a:solidFill>
                  <a:srgbClr val="1A2A3A">
                    <a:alpha val="50000"/>
                  </a:srgbClr>
                </a:solidFill>
                <a:latin typeface="Source Han Serif SC" panose="02020400000000000000" pitchFamily="18" charset="-128"/>
                <a:ea typeface="Source Han Serif SC" panose="02020400000000000000" pitchFamily="18" charset="-128"/>
                <a:cs typeface="Source Han Sans SC"/>
              </a:rPr>
              <a:t>FUTURE PLANNING</a:t>
            </a:r>
            <a:endParaRPr lang="en-US" sz="900" dirty="0">
              <a:latin typeface="Source Han Serif SC" panose="02020400000000000000" pitchFamily="18" charset="-128"/>
              <a:ea typeface="Source Han Serif SC" panose="02020400000000000000" pitchFamily="18" charset="-128"/>
            </a:endParaRPr>
          </a:p>
        </p:txBody>
      </p:sp>
      <p:sp>
        <p:nvSpPr>
          <p:cNvPr id="53" name="Shape 39">
            <a:extLst>
              <a:ext uri="{FF2B5EF4-FFF2-40B4-BE49-F238E27FC236}">
                <a16:creationId xmlns:a16="http://schemas.microsoft.com/office/drawing/2014/main" id="{A194C96A-B11B-B3C8-C0F3-DA5608181EF7}"/>
              </a:ext>
            </a:extLst>
          </p:cNvPr>
          <p:cNvSpPr/>
          <p:nvPr/>
        </p:nvSpPr>
        <p:spPr>
          <a:xfrm>
            <a:off x="15830355" y="11078599"/>
            <a:ext cx="1554839" cy="19435"/>
          </a:xfrm>
          <a:prstGeom prst="rect">
            <a:avLst/>
          </a:prstGeom>
          <a:solidFill>
            <a:srgbClr val="1A2A3A">
              <a:alpha val="20000"/>
            </a:srgbClr>
          </a:solidFill>
          <a:ln/>
        </p:spPr>
        <p:txBody>
          <a:bodyPr/>
          <a:lstStyle/>
          <a:p>
            <a:endParaRPr lang="zh-CN" altLang="en-US">
              <a:latin typeface="Source Han Serif SC" panose="02020400000000000000" pitchFamily="18" charset="-128"/>
              <a:ea typeface="Source Han Serif SC" panose="02020400000000000000" pitchFamily="18" charset="-128"/>
            </a:endParaRPr>
          </a:p>
        </p:txBody>
      </p:sp>
      <p:sp>
        <p:nvSpPr>
          <p:cNvPr id="57" name="矩形 56">
            <a:extLst>
              <a:ext uri="{FF2B5EF4-FFF2-40B4-BE49-F238E27FC236}">
                <a16:creationId xmlns:a16="http://schemas.microsoft.com/office/drawing/2014/main" id="{90FB1651-4136-1EF4-6AE8-A5648C885FEB}"/>
              </a:ext>
            </a:extLst>
          </p:cNvPr>
          <p:cNvSpPr/>
          <p:nvPr/>
        </p:nvSpPr>
        <p:spPr>
          <a:xfrm>
            <a:off x="1143000" y="2020027"/>
            <a:ext cx="1212574" cy="203820"/>
          </a:xfrm>
          <a:prstGeom prst="rect">
            <a:avLst/>
          </a:prstGeom>
          <a:solidFill>
            <a:srgbClr val="0057E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F3060-91DC-04DC-F31A-5AC52BA93BE6}"/>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23315675-B6A4-0617-179B-E9AA627E8AF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44000"/>
                    </a14:imgEffect>
                    <a14:imgEffect>
                      <a14:saturation sat="154000"/>
                    </a14:imgEffect>
                  </a14:imgLayer>
                </a14:imgProps>
              </a:ext>
              <a:ext uri="{28A0092B-C50C-407E-A947-70E740481C1C}">
                <a14:useLocalDpi xmlns:a14="http://schemas.microsoft.com/office/drawing/2010/main" val="0"/>
              </a:ext>
            </a:extLst>
          </a:blip>
          <a:srcRect l="9013" r="9015"/>
          <a:stretch>
            <a:fillRect/>
          </a:stretch>
        </p:blipFill>
        <p:spPr>
          <a:xfrm>
            <a:off x="0" y="0"/>
            <a:ext cx="24384000" cy="13716000"/>
          </a:xfrm>
          <a:prstGeom prst="rect">
            <a:avLst/>
          </a:prstGeom>
        </p:spPr>
      </p:pic>
      <p:sp>
        <p:nvSpPr>
          <p:cNvPr id="4" name="Shape 6">
            <a:extLst>
              <a:ext uri="{FF2B5EF4-FFF2-40B4-BE49-F238E27FC236}">
                <a16:creationId xmlns:a16="http://schemas.microsoft.com/office/drawing/2014/main" id="{11E423CB-4F6D-441B-D816-4D291AC17A0C}"/>
              </a:ext>
            </a:extLst>
          </p:cNvPr>
          <p:cNvSpPr/>
          <p:nvPr/>
        </p:nvSpPr>
        <p:spPr>
          <a:xfrm>
            <a:off x="952501" y="2794137"/>
            <a:ext cx="1837956" cy="62371"/>
          </a:xfrm>
          <a:prstGeom prst="rect">
            <a:avLst/>
          </a:prstGeom>
          <a:solidFill>
            <a:srgbClr val="0057E4">
              <a:alpha val="60000"/>
            </a:srgbClr>
          </a:solidFill>
          <a:ln/>
        </p:spPr>
        <p:txBody>
          <a:bodyPr/>
          <a:lstStyle/>
          <a:p>
            <a:endParaRPr lang="zh-CN" altLang="en-US"/>
          </a:p>
        </p:txBody>
      </p:sp>
      <p:sp>
        <p:nvSpPr>
          <p:cNvPr id="5" name="Text 7">
            <a:extLst>
              <a:ext uri="{FF2B5EF4-FFF2-40B4-BE49-F238E27FC236}">
                <a16:creationId xmlns:a16="http://schemas.microsoft.com/office/drawing/2014/main" id="{82A67699-0B0D-72E3-13CC-D82A3BF50046}"/>
              </a:ext>
            </a:extLst>
          </p:cNvPr>
          <p:cNvSpPr txBox="1"/>
          <p:nvPr/>
        </p:nvSpPr>
        <p:spPr>
          <a:xfrm>
            <a:off x="952501" y="5286154"/>
            <a:ext cx="22478998" cy="2331714"/>
          </a:xfrm>
          <a:prstGeom prst="rect">
            <a:avLst/>
          </a:prstGeom>
          <a:noFill/>
          <a:ln/>
        </p:spPr>
        <p:txBody>
          <a:bodyPr wrap="square" lIns="0" tIns="0" rIns="0" bIns="0" rtlCol="0" anchor="ctr" anchorCtr="0">
            <a:noAutofit/>
          </a:bodyPr>
          <a:lstStyle/>
          <a:p>
            <a:pPr algn="l">
              <a:lnSpc>
                <a:spcPct val="83333"/>
              </a:lnSpc>
            </a:pPr>
            <a:r>
              <a:rPr lang="en-US" sz="12000" b="1" spc="602" dirty="0">
                <a:solidFill>
                  <a:srgbClr val="0057E4"/>
                </a:solidFill>
                <a:latin typeface="Source Han Serif SC" panose="02020400000000000000" pitchFamily="18" charset="-128"/>
                <a:ea typeface="Source Han Serif SC" panose="02020400000000000000" pitchFamily="18" charset="-128"/>
                <a:cs typeface="Source Han Sans SC"/>
              </a:rPr>
              <a:t>总体发展</a:t>
            </a:r>
            <a:endParaRPr lang="en-US" sz="12000" dirty="0">
              <a:latin typeface="Source Han Serif SC" panose="02020400000000000000" pitchFamily="18" charset="-128"/>
              <a:ea typeface="Source Han Serif SC" panose="02020400000000000000" pitchFamily="18" charset="-128"/>
            </a:endParaRPr>
          </a:p>
        </p:txBody>
      </p:sp>
      <p:sp>
        <p:nvSpPr>
          <p:cNvPr id="7" name="Text 8">
            <a:extLst>
              <a:ext uri="{FF2B5EF4-FFF2-40B4-BE49-F238E27FC236}">
                <a16:creationId xmlns:a16="http://schemas.microsoft.com/office/drawing/2014/main" id="{A989D29F-DFF3-54C8-A1F2-B41E9AF64E1B}"/>
              </a:ext>
            </a:extLst>
          </p:cNvPr>
          <p:cNvSpPr txBox="1"/>
          <p:nvPr/>
        </p:nvSpPr>
        <p:spPr>
          <a:xfrm>
            <a:off x="952500" y="7287667"/>
            <a:ext cx="22478997" cy="748452"/>
          </a:xfrm>
          <a:prstGeom prst="rect">
            <a:avLst/>
          </a:prstGeom>
          <a:noFill/>
          <a:ln/>
        </p:spPr>
        <p:txBody>
          <a:bodyPr wrap="square" lIns="0" tIns="0" rIns="0" bIns="0" rtlCol="0" anchor="ctr">
            <a:noAutofit/>
          </a:bodyPr>
          <a:lstStyle/>
          <a:p>
            <a:pPr algn="l">
              <a:lnSpc>
                <a:spcPct val="125000"/>
              </a:lnSpc>
            </a:pPr>
            <a:r>
              <a:rPr lang="en-US" sz="2400" b="1" spc="450" dirty="0">
                <a:solidFill>
                  <a:srgbClr val="1A3D83"/>
                </a:solidFill>
                <a:latin typeface="Source Han Serif SC" panose="02020400000000000000" pitchFamily="18" charset="-128"/>
                <a:ea typeface="Source Han Serif SC" panose="02020400000000000000" pitchFamily="18" charset="-128"/>
                <a:cs typeface="Source Han Sans SC"/>
              </a:rPr>
              <a:t>OVERALL DEVELOPMENT</a:t>
            </a:r>
            <a:endParaRPr lang="en-US" sz="2400" dirty="0">
              <a:latin typeface="Source Han Serif SC" panose="02020400000000000000" pitchFamily="18" charset="-128"/>
              <a:ea typeface="Source Han Serif SC" panose="02020400000000000000" pitchFamily="18" charset="-128"/>
            </a:endParaRPr>
          </a:p>
        </p:txBody>
      </p:sp>
      <p:sp>
        <p:nvSpPr>
          <p:cNvPr id="8" name="Text 9">
            <a:extLst>
              <a:ext uri="{FF2B5EF4-FFF2-40B4-BE49-F238E27FC236}">
                <a16:creationId xmlns:a16="http://schemas.microsoft.com/office/drawing/2014/main" id="{98D80307-F78D-6B07-8574-DC0D86E3217A}"/>
              </a:ext>
            </a:extLst>
          </p:cNvPr>
          <p:cNvSpPr txBox="1"/>
          <p:nvPr/>
        </p:nvSpPr>
        <p:spPr>
          <a:xfrm>
            <a:off x="952499" y="11879508"/>
            <a:ext cx="22478997" cy="788741"/>
          </a:xfrm>
          <a:prstGeom prst="rect">
            <a:avLst/>
          </a:prstGeom>
          <a:noFill/>
          <a:ln/>
        </p:spPr>
        <p:txBody>
          <a:bodyPr wrap="square" lIns="0" tIns="0" rIns="0" bIns="0" rtlCol="0" anchor="ctr">
            <a:noAutofit/>
          </a:bodyPr>
          <a:lstStyle/>
          <a:p>
            <a:pPr algn="l">
              <a:lnSpc>
                <a:spcPct val="133333"/>
              </a:lnSpc>
            </a:pPr>
            <a:r>
              <a:rPr lang="en-US" sz="4000" dirty="0">
                <a:solidFill>
                  <a:srgbClr val="1A2A3A">
                    <a:alpha val="70000"/>
                  </a:srgbClr>
                </a:solidFill>
                <a:latin typeface="Source Han Serif SC" panose="02020400000000000000" pitchFamily="18" charset="-128"/>
                <a:ea typeface="Source Han Serif SC" panose="02020400000000000000" pitchFamily="18" charset="-128"/>
                <a:cs typeface="Source Han Sans SC"/>
              </a:rPr>
              <a:t>本章节全面呈现2025年经济社会发展总体态势与核心指标完成情况</a:t>
            </a:r>
            <a:endParaRPr lang="en-US" sz="4000" dirty="0">
              <a:latin typeface="Source Han Serif SC" panose="02020400000000000000" pitchFamily="18" charset="-128"/>
              <a:ea typeface="Source Han Serif SC" panose="02020400000000000000" pitchFamily="18" charset="-128"/>
            </a:endParaRPr>
          </a:p>
        </p:txBody>
      </p:sp>
      <p:sp>
        <p:nvSpPr>
          <p:cNvPr id="10" name="Shape 4">
            <a:extLst>
              <a:ext uri="{FF2B5EF4-FFF2-40B4-BE49-F238E27FC236}">
                <a16:creationId xmlns:a16="http://schemas.microsoft.com/office/drawing/2014/main" id="{CE67E8A6-6EDA-7430-E77D-7E9FE03EBE88}"/>
              </a:ext>
            </a:extLst>
          </p:cNvPr>
          <p:cNvSpPr/>
          <p:nvPr/>
        </p:nvSpPr>
        <p:spPr>
          <a:xfrm>
            <a:off x="952500" y="1047750"/>
            <a:ext cx="3820222" cy="1330581"/>
          </a:xfrm>
          <a:prstGeom prst="roundRect">
            <a:avLst>
              <a:gd name="adj" fmla="val 21875"/>
            </a:avLst>
          </a:prstGeom>
          <a:solidFill>
            <a:srgbClr val="0057E4"/>
          </a:solidFill>
          <a:ln/>
        </p:spPr>
        <p:txBody>
          <a:bodyPr/>
          <a:lstStyle/>
          <a:p>
            <a:endParaRPr lang="zh-CN" altLang="en-US"/>
          </a:p>
        </p:txBody>
      </p:sp>
      <p:sp>
        <p:nvSpPr>
          <p:cNvPr id="11" name="Text 5">
            <a:extLst>
              <a:ext uri="{FF2B5EF4-FFF2-40B4-BE49-F238E27FC236}">
                <a16:creationId xmlns:a16="http://schemas.microsoft.com/office/drawing/2014/main" id="{84BDD36C-1E3B-09A2-D7B7-A01116D90B7F}"/>
              </a:ext>
            </a:extLst>
          </p:cNvPr>
          <p:cNvSpPr txBox="1"/>
          <p:nvPr/>
        </p:nvSpPr>
        <p:spPr>
          <a:xfrm>
            <a:off x="1292334" y="1276443"/>
            <a:ext cx="3203184" cy="873194"/>
          </a:xfrm>
          <a:prstGeom prst="rect">
            <a:avLst/>
          </a:prstGeom>
          <a:noFill/>
          <a:ln/>
        </p:spPr>
        <p:txBody>
          <a:bodyPr wrap="square" lIns="0" tIns="0" rIns="0" bIns="0" rtlCol="0" anchor="ctr">
            <a:noAutofit/>
          </a:bodyPr>
          <a:lstStyle/>
          <a:p>
            <a:pPr>
              <a:lnSpc>
                <a:spcPct val="125000"/>
              </a:lnSpc>
            </a:pPr>
            <a:r>
              <a:rPr lang="en-US" sz="4800" b="1" spc="300" dirty="0">
                <a:solidFill>
                  <a:srgbClr val="FFFFFF"/>
                </a:solidFill>
                <a:latin typeface="Source Han Serif SC" panose="02020400000000000000" pitchFamily="18" charset="-128"/>
                <a:ea typeface="Source Han Serif SC" panose="02020400000000000000" pitchFamily="18" charset="-128"/>
                <a:cs typeface="Source Han Sans SC"/>
              </a:rPr>
              <a:t>PART </a:t>
            </a:r>
            <a:r>
              <a:rPr lang="en-US" altLang="zh-CN" sz="4800" b="1" spc="300" dirty="0">
                <a:solidFill>
                  <a:srgbClr val="FFFFFF"/>
                </a:solidFill>
                <a:latin typeface="Source Han Serif SC" panose="02020400000000000000" pitchFamily="18" charset="-128"/>
                <a:ea typeface="Source Han Serif SC" panose="02020400000000000000" pitchFamily="18" charset="-128"/>
                <a:cs typeface="Source Han Sans SC"/>
              </a:rPr>
              <a:t>01</a:t>
            </a:r>
            <a:endParaRPr lang="en-US" sz="4800" dirty="0">
              <a:latin typeface="Source Han Serif SC" panose="02020400000000000000" pitchFamily="18" charset="-128"/>
              <a:ea typeface="Source Han Serif SC" panose="02020400000000000000" pitchFamily="18" charset="-128"/>
            </a:endParaRPr>
          </a:p>
        </p:txBody>
      </p:sp>
    </p:spTree>
    <p:extLst>
      <p:ext uri="{BB962C8B-B14F-4D97-AF65-F5344CB8AC3E}">
        <p14:creationId xmlns:p14="http://schemas.microsoft.com/office/powerpoint/2010/main" val="396353485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A2365C0C-A5AB-7324-4F37-BB537C391714}"/>
              </a:ext>
            </a:extLst>
          </p:cNvPr>
          <p:cNvGrpSpPr/>
          <p:nvPr/>
        </p:nvGrpSpPr>
        <p:grpSpPr>
          <a:xfrm>
            <a:off x="3986527" y="16752"/>
            <a:ext cx="12768764" cy="13699248"/>
            <a:chOff x="11695610" y="0"/>
            <a:chExt cx="12768764" cy="13699248"/>
          </a:xfrm>
        </p:grpSpPr>
        <p:pic>
          <p:nvPicPr>
            <p:cNvPr id="138" name="图层 2.png" descr="图层 2.png"/>
            <p:cNvPicPr>
              <a:picLocks noChangeAspect="1"/>
            </p:cNvPicPr>
            <p:nvPr/>
          </p:nvPicPr>
          <p:blipFill>
            <a:blip r:embed="rId2">
              <a:alphaModFix amt="29012"/>
            </a:blip>
            <a:srcRect l="1127" t="22928" r="9226" b="15461"/>
            <a:stretch>
              <a:fillRect/>
            </a:stretch>
          </p:blipFill>
          <p:spPr>
            <a:xfrm>
              <a:off x="11782141" y="16751"/>
              <a:ext cx="12682233" cy="13682497"/>
            </a:xfrm>
            <a:prstGeom prst="rect">
              <a:avLst/>
            </a:prstGeom>
            <a:ln w="12700">
              <a:miter lim="400000"/>
            </a:ln>
          </p:spPr>
        </p:pic>
        <p:sp>
          <p:nvSpPr>
            <p:cNvPr id="139" name="矩形"/>
            <p:cNvSpPr/>
            <p:nvPr/>
          </p:nvSpPr>
          <p:spPr>
            <a:xfrm>
              <a:off x="11695610" y="0"/>
              <a:ext cx="5624038" cy="13682497"/>
            </a:xfrm>
            <a:prstGeom prst="rect">
              <a:avLst/>
            </a:prstGeom>
            <a:gradFill>
              <a:gsLst>
                <a:gs pos="0">
                  <a:srgbClr val="FFFFFF"/>
                </a:gs>
                <a:gs pos="100000">
                  <a:srgbClr val="FFFFFF">
                    <a:alpha val="0"/>
                  </a:srgbClr>
                </a:gs>
              </a:gsLst>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grpSp>
      <p:sp>
        <p:nvSpPr>
          <p:cNvPr id="140" name="指导摘要"/>
          <p:cNvSpPr txBox="1"/>
          <p:nvPr/>
        </p:nvSpPr>
        <p:spPr>
          <a:xfrm>
            <a:off x="1299373" y="906129"/>
            <a:ext cx="3467616" cy="1169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algn="l" defTabSz="1828800">
              <a:defRPr sz="6400" b="0">
                <a:latin typeface="PingFang SC Light"/>
                <a:ea typeface="PingFang SC Light"/>
                <a:cs typeface="PingFang SC Light"/>
                <a:sym typeface="PingFang SC Light"/>
              </a:defRPr>
            </a:lvl1pPr>
          </a:lstStyle>
          <a:p>
            <a:r>
              <a:rPr b="1" dirty="0" err="1">
                <a:latin typeface="Source Han Serif SC Heavy" panose="02020400000000000000" pitchFamily="18" charset="-128"/>
                <a:ea typeface="Source Han Serif SC Heavy" panose="02020400000000000000" pitchFamily="18" charset="-128"/>
              </a:rPr>
              <a:t>指导摘要</a:t>
            </a:r>
            <a:endParaRPr b="1" dirty="0">
              <a:latin typeface="Source Han Serif SC Heavy" panose="02020400000000000000" pitchFamily="18" charset="-128"/>
              <a:ea typeface="Source Han Serif SC Heavy" panose="02020400000000000000" pitchFamily="18" charset="-128"/>
            </a:endParaRPr>
          </a:p>
        </p:txBody>
      </p:sp>
      <p:sp>
        <p:nvSpPr>
          <p:cNvPr id="144" name="…坚定“ 四个自信” ，做到“ 两个维护” ，广泛凝聚共识， 打牢团结奋斗的共同思想政治基础，更好履行委员职责，更好胜任岗位工作，更好发挥人民政协专门协商机构作用。…"/>
          <p:cNvSpPr txBox="1"/>
          <p:nvPr/>
        </p:nvSpPr>
        <p:spPr>
          <a:xfrm>
            <a:off x="1299373" y="5238763"/>
            <a:ext cx="9914351" cy="500188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just" defTabSz="457200">
              <a:lnSpc>
                <a:spcPct val="130000"/>
              </a:lnSpc>
              <a:defRPr sz="3200" b="0">
                <a:solidFill>
                  <a:srgbClr val="5E5E5E"/>
                </a:solidFill>
                <a:latin typeface="PingFang SC Light"/>
                <a:ea typeface="PingFang SC Light"/>
                <a:cs typeface="PingFang SC Light"/>
                <a:sym typeface="PingFang SC Light"/>
              </a:defRPr>
            </a:pPr>
            <a:r>
              <a:rPr dirty="0">
                <a:solidFill>
                  <a:schemeClr val="tx1"/>
                </a:solidFill>
                <a:latin typeface="Source Han Serif SC" panose="02020400000000000000" pitchFamily="18" charset="-128"/>
                <a:ea typeface="Source Han Serif SC" panose="02020400000000000000" pitchFamily="18" charset="-128"/>
              </a:rPr>
              <a:t>…</a:t>
            </a:r>
            <a:r>
              <a:rPr dirty="0" err="1">
                <a:solidFill>
                  <a:schemeClr val="tx1"/>
                </a:solidFill>
                <a:latin typeface="Source Han Serif SC" panose="02020400000000000000" pitchFamily="18" charset="-128"/>
                <a:ea typeface="Source Han Serif SC" panose="02020400000000000000" pitchFamily="18" charset="-128"/>
              </a:rPr>
              <a:t>坚定</a:t>
            </a:r>
            <a:r>
              <a:rPr dirty="0">
                <a:solidFill>
                  <a:schemeClr val="tx1"/>
                </a:solidFill>
                <a:latin typeface="Source Han Serif SC" panose="02020400000000000000" pitchFamily="18" charset="-128"/>
                <a:ea typeface="Source Han Serif SC" panose="02020400000000000000" pitchFamily="18" charset="-128"/>
              </a:rPr>
              <a:t>“ </a:t>
            </a:r>
            <a:r>
              <a:rPr dirty="0" err="1">
                <a:solidFill>
                  <a:schemeClr val="tx1"/>
                </a:solidFill>
                <a:latin typeface="Source Han Serif SC" panose="02020400000000000000" pitchFamily="18" charset="-128"/>
                <a:ea typeface="Source Han Serif SC" panose="02020400000000000000" pitchFamily="18" charset="-128"/>
              </a:rPr>
              <a:t>四个自信</a:t>
            </a:r>
            <a:r>
              <a:rPr dirty="0">
                <a:solidFill>
                  <a:schemeClr val="tx1"/>
                </a:solidFill>
                <a:latin typeface="Source Han Serif SC" panose="02020400000000000000" pitchFamily="18" charset="-128"/>
                <a:ea typeface="Source Han Serif SC" panose="02020400000000000000" pitchFamily="18" charset="-128"/>
              </a:rPr>
              <a:t>” ，</a:t>
            </a:r>
            <a:r>
              <a:rPr dirty="0" err="1">
                <a:solidFill>
                  <a:schemeClr val="tx1"/>
                </a:solidFill>
                <a:latin typeface="Source Han Serif SC" panose="02020400000000000000" pitchFamily="18" charset="-128"/>
                <a:ea typeface="Source Han Serif SC" panose="02020400000000000000" pitchFamily="18" charset="-128"/>
              </a:rPr>
              <a:t>做到</a:t>
            </a:r>
            <a:r>
              <a:rPr dirty="0">
                <a:solidFill>
                  <a:schemeClr val="tx1"/>
                </a:solidFill>
                <a:latin typeface="Source Han Serif SC" panose="02020400000000000000" pitchFamily="18" charset="-128"/>
                <a:ea typeface="Source Han Serif SC" panose="02020400000000000000" pitchFamily="18" charset="-128"/>
              </a:rPr>
              <a:t>“ </a:t>
            </a:r>
            <a:r>
              <a:rPr dirty="0" err="1">
                <a:solidFill>
                  <a:schemeClr val="tx1"/>
                </a:solidFill>
                <a:latin typeface="Source Han Serif SC" panose="02020400000000000000" pitchFamily="18" charset="-128"/>
                <a:ea typeface="Source Han Serif SC" panose="02020400000000000000" pitchFamily="18" charset="-128"/>
              </a:rPr>
              <a:t>两个维护</a:t>
            </a:r>
            <a:r>
              <a:rPr dirty="0">
                <a:solidFill>
                  <a:schemeClr val="tx1"/>
                </a:solidFill>
                <a:latin typeface="Source Han Serif SC" panose="02020400000000000000" pitchFamily="18" charset="-128"/>
                <a:ea typeface="Source Han Serif SC" panose="02020400000000000000" pitchFamily="18" charset="-128"/>
              </a:rPr>
              <a:t>” ，</a:t>
            </a:r>
            <a:r>
              <a:rPr dirty="0" err="1">
                <a:solidFill>
                  <a:schemeClr val="tx1"/>
                </a:solidFill>
                <a:latin typeface="Source Han Serif SC SemiBold" panose="02020400000000000000" pitchFamily="18" charset="-128"/>
                <a:ea typeface="Source Han Serif SC SemiBold" panose="02020400000000000000" pitchFamily="18" charset="-128"/>
                <a:cs typeface="PingFang SC Semibold"/>
                <a:sym typeface="PingFang SC Semibold"/>
              </a:rPr>
              <a:t>广泛凝聚共识</a:t>
            </a:r>
            <a:r>
              <a:rPr dirty="0">
                <a:solidFill>
                  <a:schemeClr val="tx1"/>
                </a:solidFill>
                <a:latin typeface="Source Han Serif SC SemiBold" panose="02020400000000000000" pitchFamily="18" charset="-128"/>
                <a:ea typeface="Source Han Serif SC SemiBold" panose="02020400000000000000" pitchFamily="18" charset="-128"/>
                <a:cs typeface="PingFang SC Semibold"/>
                <a:sym typeface="PingFang SC Semibold"/>
              </a:rPr>
              <a:t>， </a:t>
            </a:r>
            <a:r>
              <a:rPr dirty="0" err="1">
                <a:solidFill>
                  <a:schemeClr val="tx1"/>
                </a:solidFill>
                <a:latin typeface="Source Han Serif SC SemiBold" panose="02020400000000000000" pitchFamily="18" charset="-128"/>
                <a:ea typeface="Source Han Serif SC SemiBold" panose="02020400000000000000" pitchFamily="18" charset="-128"/>
                <a:cs typeface="PingFang SC Semibold"/>
                <a:sym typeface="PingFang SC Semibold"/>
              </a:rPr>
              <a:t>打牢团结奋斗的共同思想政治基础，更好履行委员职责</a:t>
            </a:r>
            <a:r>
              <a:rPr dirty="0" err="1">
                <a:solidFill>
                  <a:schemeClr val="tx1"/>
                </a:solidFill>
                <a:latin typeface="Source Han Serif SC" panose="02020400000000000000" pitchFamily="18" charset="-128"/>
                <a:ea typeface="Source Han Serif SC" panose="02020400000000000000" pitchFamily="18" charset="-128"/>
              </a:rPr>
              <a:t>，更好胜任岗位工作，更好发挥人民政协专门协商机构作用</a:t>
            </a:r>
            <a:r>
              <a:rPr dirty="0">
                <a:solidFill>
                  <a:schemeClr val="tx1"/>
                </a:solidFill>
                <a:latin typeface="Source Han Serif SC" panose="02020400000000000000" pitchFamily="18" charset="-128"/>
                <a:ea typeface="Source Han Serif SC" panose="02020400000000000000" pitchFamily="18" charset="-128"/>
              </a:rPr>
              <a:t>。</a:t>
            </a:r>
          </a:p>
          <a:p>
            <a:pPr algn="just" defTabSz="457200">
              <a:lnSpc>
                <a:spcPct val="130000"/>
              </a:lnSpc>
              <a:defRPr sz="2400" b="0">
                <a:solidFill>
                  <a:srgbClr val="5E5E5E"/>
                </a:solidFill>
                <a:latin typeface="PingFang SC Light"/>
                <a:ea typeface="PingFang SC Light"/>
                <a:cs typeface="PingFang SC Light"/>
                <a:sym typeface="PingFang SC Light"/>
              </a:defRPr>
            </a:pPr>
            <a:endParaRPr dirty="0">
              <a:solidFill>
                <a:schemeClr val="tx1"/>
              </a:solidFill>
              <a:latin typeface="Source Han Serif SC" panose="02020400000000000000" pitchFamily="18" charset="-128"/>
              <a:ea typeface="Source Han Serif SC" panose="02020400000000000000" pitchFamily="18" charset="-128"/>
            </a:endParaRPr>
          </a:p>
          <a:p>
            <a:pPr algn="just" defTabSz="457200">
              <a:lnSpc>
                <a:spcPct val="130000"/>
              </a:lnSpc>
              <a:defRPr sz="3200" b="0">
                <a:solidFill>
                  <a:srgbClr val="5E5E5E"/>
                </a:solidFill>
                <a:latin typeface="PingFang SC Light"/>
                <a:ea typeface="PingFang SC Light"/>
                <a:cs typeface="PingFang SC Light"/>
                <a:sym typeface="PingFang SC Light"/>
              </a:defRPr>
            </a:pPr>
            <a:r>
              <a:rPr dirty="0">
                <a:solidFill>
                  <a:schemeClr val="tx1"/>
                </a:solidFill>
                <a:latin typeface="Source Han Serif SC" panose="02020400000000000000" pitchFamily="18" charset="-128"/>
                <a:ea typeface="Source Han Serif SC" panose="02020400000000000000" pitchFamily="18" charset="-128"/>
              </a:rPr>
              <a:t>( </a:t>
            </a:r>
            <a:r>
              <a:rPr dirty="0" err="1">
                <a:solidFill>
                  <a:schemeClr val="tx1"/>
                </a:solidFill>
                <a:latin typeface="Source Han Serif SC" panose="02020400000000000000" pitchFamily="18" charset="-128"/>
                <a:ea typeface="Source Han Serif SC" panose="02020400000000000000" pitchFamily="18" charset="-128"/>
              </a:rPr>
              <a:t>四</a:t>
            </a:r>
            <a:r>
              <a:rPr dirty="0">
                <a:solidFill>
                  <a:schemeClr val="tx1"/>
                </a:solidFill>
                <a:latin typeface="Source Han Serif SC" panose="02020400000000000000" pitchFamily="18" charset="-128"/>
                <a:ea typeface="Source Han Serif SC" panose="02020400000000000000" pitchFamily="18" charset="-128"/>
              </a:rPr>
              <a:t>) </a:t>
            </a:r>
            <a:r>
              <a:rPr dirty="0" err="1">
                <a:solidFill>
                  <a:schemeClr val="tx1"/>
                </a:solidFill>
                <a:latin typeface="Source Han Serif SC" panose="02020400000000000000" pitchFamily="18" charset="-128"/>
                <a:ea typeface="Source Han Serif SC" panose="02020400000000000000" pitchFamily="18" charset="-128"/>
              </a:rPr>
              <a:t>坚持理论与实践相结合，</a:t>
            </a:r>
            <a:r>
              <a:rPr dirty="0" err="1">
                <a:solidFill>
                  <a:schemeClr val="tx1"/>
                </a:solidFill>
                <a:latin typeface="Source Han Serif SC SemiBold" panose="02020400000000000000" pitchFamily="18" charset="-128"/>
                <a:ea typeface="Source Han Serif SC SemiBold" panose="02020400000000000000" pitchFamily="18" charset="-128"/>
                <a:cs typeface="PingFang SC Semibold"/>
                <a:sym typeface="PingFang SC Semibold"/>
              </a:rPr>
              <a:t>读书与履职相结合</a:t>
            </a:r>
            <a:r>
              <a:rPr dirty="0">
                <a:solidFill>
                  <a:schemeClr val="tx1"/>
                </a:solidFill>
                <a:latin typeface="Source Han Serif SC SemiBold" panose="02020400000000000000" pitchFamily="18" charset="-128"/>
                <a:ea typeface="Source Han Serif SC SemiBold" panose="02020400000000000000" pitchFamily="18" charset="-128"/>
                <a:cs typeface="PingFang SC Semibold"/>
                <a:sym typeface="PingFang SC Semibold"/>
              </a:rPr>
              <a:t>， </a:t>
            </a:r>
            <a:r>
              <a:rPr dirty="0" err="1">
                <a:solidFill>
                  <a:schemeClr val="tx1"/>
                </a:solidFill>
                <a:latin typeface="Source Han Serif SC SemiBold" panose="02020400000000000000" pitchFamily="18" charset="-128"/>
                <a:ea typeface="Source Han Serif SC SemiBold" panose="02020400000000000000" pitchFamily="18" charset="-128"/>
                <a:cs typeface="PingFang SC Semibold"/>
                <a:sym typeface="PingFang SC Semibold"/>
              </a:rPr>
              <a:t>以读书提升履职能力、促进凝聚共识</a:t>
            </a:r>
            <a:r>
              <a:rPr dirty="0" err="1">
                <a:solidFill>
                  <a:schemeClr val="tx1"/>
                </a:solidFill>
                <a:latin typeface="Source Han Serif SC" panose="02020400000000000000" pitchFamily="18" charset="-128"/>
                <a:ea typeface="Source Han Serif SC" panose="02020400000000000000" pitchFamily="18" charset="-128"/>
              </a:rPr>
              <a:t>，营造畅所欲言、各抒己见、理性有度、识见分享的良好读书氛围</a:t>
            </a:r>
            <a:r>
              <a:rPr dirty="0">
                <a:solidFill>
                  <a:schemeClr val="tx1"/>
                </a:solidFill>
                <a:latin typeface="Source Han Serif SC" panose="02020400000000000000" pitchFamily="18" charset="-128"/>
                <a:ea typeface="Source Han Serif SC" panose="02020400000000000000" pitchFamily="18" charset="-128"/>
              </a:rPr>
              <a:t>。</a:t>
            </a:r>
          </a:p>
        </p:txBody>
      </p:sp>
      <p:sp>
        <p:nvSpPr>
          <p:cNvPr id="145" name="《全国政协委员读书活动方案》指导思想"/>
          <p:cNvSpPr txBox="1"/>
          <p:nvPr/>
        </p:nvSpPr>
        <p:spPr>
          <a:xfrm>
            <a:off x="1299373" y="3885699"/>
            <a:ext cx="9914351"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defTabSz="457200">
              <a:defRPr sz="4000" b="0">
                <a:latin typeface="PingFang SC Medium"/>
                <a:ea typeface="PingFang SC Medium"/>
                <a:cs typeface="PingFang SC Medium"/>
                <a:sym typeface="PingFang SC Medium"/>
              </a:defRPr>
            </a:lvl1pPr>
          </a:lstStyle>
          <a:p>
            <a:pPr algn="l"/>
            <a:r>
              <a:rPr b="1" dirty="0">
                <a:latin typeface="Source Han Serif SC SemiBold" panose="02020400000000000000" pitchFamily="18" charset="-128"/>
                <a:ea typeface="Source Han Serif SC SemiBold" panose="02020400000000000000" pitchFamily="18" charset="-128"/>
              </a:rPr>
              <a:t>《</a:t>
            </a:r>
            <a:r>
              <a:rPr b="1" dirty="0" err="1">
                <a:latin typeface="Source Han Serif SC SemiBold" panose="02020400000000000000" pitchFamily="18" charset="-128"/>
                <a:ea typeface="Source Han Serif SC SemiBold" panose="02020400000000000000" pitchFamily="18" charset="-128"/>
              </a:rPr>
              <a:t>全国政协委员读书活动方案》指导思想</a:t>
            </a:r>
            <a:endParaRPr b="1" dirty="0">
              <a:latin typeface="Source Han Serif SC SemiBold" panose="02020400000000000000" pitchFamily="18" charset="-128"/>
              <a:ea typeface="Source Han Serif SC SemiBold" panose="02020400000000000000" pitchFamily="18" charset="-128"/>
            </a:endParaRPr>
          </a:p>
        </p:txBody>
      </p:sp>
      <p:sp>
        <p:nvSpPr>
          <p:cNvPr id="3" name="Shape 6">
            <a:extLst>
              <a:ext uri="{FF2B5EF4-FFF2-40B4-BE49-F238E27FC236}">
                <a16:creationId xmlns:a16="http://schemas.microsoft.com/office/drawing/2014/main" id="{9AC3E6F0-0FBB-DA90-8F40-4EB72C572B66}"/>
              </a:ext>
            </a:extLst>
          </p:cNvPr>
          <p:cNvSpPr/>
          <p:nvPr/>
        </p:nvSpPr>
        <p:spPr>
          <a:xfrm>
            <a:off x="1409701" y="2013307"/>
            <a:ext cx="1837956" cy="62371"/>
          </a:xfrm>
          <a:prstGeom prst="rect">
            <a:avLst/>
          </a:prstGeom>
          <a:solidFill>
            <a:srgbClr val="0057E4"/>
          </a:solidFill>
          <a:ln/>
        </p:spPr>
        <p:txBody>
          <a:bodyPr/>
          <a:lstStyle/>
          <a:p>
            <a:endParaRPr lang="zh-CN" altLang="en-US"/>
          </a:p>
        </p:txBody>
      </p:sp>
      <p:pic>
        <p:nvPicPr>
          <p:cNvPr id="9" name="图片 8">
            <a:extLst>
              <a:ext uri="{FF2B5EF4-FFF2-40B4-BE49-F238E27FC236}">
                <a16:creationId xmlns:a16="http://schemas.microsoft.com/office/drawing/2014/main" id="{C55BB32F-0FA9-148B-40AF-3BF1C18327B9}"/>
              </a:ext>
            </a:extLst>
          </p:cNvPr>
          <p:cNvPicPr>
            <a:picLocks noChangeAspect="1"/>
          </p:cNvPicPr>
          <p:nvPr/>
        </p:nvPicPr>
        <p:blipFill>
          <a:blip r:embed="rId3">
            <a:extLst>
              <a:ext uri="{28A0092B-C50C-407E-A947-70E740481C1C}">
                <a14:useLocalDpi xmlns:a14="http://schemas.microsoft.com/office/drawing/2010/main" val="0"/>
              </a:ext>
            </a:extLst>
          </a:blip>
          <a:srcRect l="21903" r="20490"/>
          <a:stretch>
            <a:fillRect/>
          </a:stretch>
        </p:blipFill>
        <p:spPr>
          <a:xfrm>
            <a:off x="12546419" y="0"/>
            <a:ext cx="11837581" cy="13699248"/>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圆形"/>
          <p:cNvSpPr/>
          <p:nvPr/>
        </p:nvSpPr>
        <p:spPr>
          <a:xfrm>
            <a:off x="1805510" y="-3373760"/>
            <a:ext cx="20814141" cy="20814141"/>
          </a:xfrm>
          <a:prstGeom prst="ellipse">
            <a:avLst/>
          </a:prstGeom>
          <a:gradFill>
            <a:gsLst>
              <a:gs pos="0">
                <a:srgbClr val="FFFFFF">
                  <a:alpha val="79374"/>
                </a:srgbClr>
              </a:gs>
              <a:gs pos="56272">
                <a:srgbClr val="FFFFFF">
                  <a:alpha val="79374"/>
                </a:srgbClr>
              </a:gs>
              <a:gs pos="100000">
                <a:srgbClr val="C9E4FF">
                  <a:alpha val="39687"/>
                </a:srgbClr>
              </a:gs>
              <a:gs pos="100000">
                <a:srgbClr val="93C8FF">
                  <a:alpha val="0"/>
                </a:srgbClr>
              </a:gs>
            </a:gsLst>
            <a:path path="circle">
              <a:fillToRect l="37721" t="-19636" r="62278" b="119636"/>
            </a:path>
          </a:gradFill>
          <a:ln w="12700">
            <a:solidFill>
              <a:schemeClr val="accent1">
                <a:hueOff val="114395"/>
                <a:lumOff val="-24975"/>
                <a:alpha val="79374"/>
              </a:schemeClr>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149" name="圆形"/>
          <p:cNvSpPr/>
          <p:nvPr/>
        </p:nvSpPr>
        <p:spPr>
          <a:xfrm>
            <a:off x="6743158" y="1584469"/>
            <a:ext cx="10897684" cy="10897683"/>
          </a:xfrm>
          <a:prstGeom prst="ellipse">
            <a:avLst/>
          </a:prstGeom>
          <a:gradFill>
            <a:gsLst>
              <a:gs pos="0">
                <a:srgbClr val="FFFFFF">
                  <a:alpha val="43536"/>
                </a:srgbClr>
              </a:gs>
              <a:gs pos="56272">
                <a:srgbClr val="FFFFFF">
                  <a:alpha val="43536"/>
                </a:srgbClr>
              </a:gs>
              <a:gs pos="100000">
                <a:srgbClr val="C9E4FF">
                  <a:alpha val="21768"/>
                </a:srgbClr>
              </a:gs>
              <a:gs pos="100000">
                <a:srgbClr val="93C8FF">
                  <a:alpha val="0"/>
                </a:srgbClr>
              </a:gs>
            </a:gsLst>
            <a:path path="circle">
              <a:fillToRect l="37721" t="-19636" r="62278" b="119636"/>
            </a:path>
          </a:gradFill>
          <a:ln w="12700">
            <a:solidFill>
              <a:schemeClr val="accent1">
                <a:lumOff val="-13575"/>
                <a:alpha val="43536"/>
              </a:schemeClr>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150" name="圆形"/>
          <p:cNvSpPr/>
          <p:nvPr/>
        </p:nvSpPr>
        <p:spPr>
          <a:xfrm>
            <a:off x="9931830" y="4773141"/>
            <a:ext cx="4520340" cy="4520340"/>
          </a:xfrm>
          <a:prstGeom prst="ellipse">
            <a:avLst/>
          </a:prstGeom>
          <a:gradFill>
            <a:gsLst>
              <a:gs pos="0">
                <a:srgbClr val="FFFFFF"/>
              </a:gs>
              <a:gs pos="39268">
                <a:srgbClr val="FFFFFF"/>
              </a:gs>
              <a:gs pos="100000">
                <a:srgbClr val="C9E4FF">
                  <a:alpha val="50000"/>
                </a:srgbClr>
              </a:gs>
              <a:gs pos="100000">
                <a:srgbClr val="93C8FF">
                  <a:alpha val="0"/>
                </a:srgbClr>
              </a:gs>
            </a:gsLst>
            <a:path path="circle">
              <a:fillToRect l="37721" t="-19636" r="62278" b="119636"/>
            </a:path>
          </a:gradFill>
          <a:ln w="12700">
            <a:solidFill>
              <a:schemeClr val="accent1">
                <a:lumOff val="16847"/>
              </a:schemeClr>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grpSp>
        <p:nvGrpSpPr>
          <p:cNvPr id="154" name="成组"/>
          <p:cNvGrpSpPr/>
          <p:nvPr/>
        </p:nvGrpSpPr>
        <p:grpSpPr>
          <a:xfrm>
            <a:off x="11010960" y="5815758"/>
            <a:ext cx="2371600" cy="1389553"/>
            <a:chOff x="0" y="0"/>
            <a:chExt cx="2820613" cy="1652635"/>
          </a:xfrm>
        </p:grpSpPr>
        <p:sp>
          <p:nvSpPr>
            <p:cNvPr id="151" name="带肩膀的头像"/>
            <p:cNvSpPr/>
            <p:nvPr/>
          </p:nvSpPr>
          <p:spPr>
            <a:xfrm>
              <a:off x="0" y="248123"/>
              <a:ext cx="1621135" cy="1404513"/>
            </a:xfrm>
            <a:custGeom>
              <a:avLst/>
              <a:gdLst/>
              <a:ahLst/>
              <a:cxnLst>
                <a:cxn ang="0">
                  <a:pos x="wd2" y="hd2"/>
                </a:cxn>
                <a:cxn ang="5400000">
                  <a:pos x="wd2" y="hd2"/>
                </a:cxn>
                <a:cxn ang="10800000">
                  <a:pos x="wd2" y="hd2"/>
                </a:cxn>
                <a:cxn ang="16200000">
                  <a:pos x="wd2" y="hd2"/>
                </a:cxn>
              </a:cxnLst>
              <a:rect l="0" t="0" r="r" b="b"/>
              <a:pathLst>
                <a:path w="21600" h="21600" extrusionOk="0">
                  <a:moveTo>
                    <a:pt x="10801" y="0"/>
                  </a:moveTo>
                  <a:cubicBezTo>
                    <a:pt x="8419" y="0"/>
                    <a:pt x="7041" y="1374"/>
                    <a:pt x="6553" y="3337"/>
                  </a:cubicBezTo>
                  <a:cubicBezTo>
                    <a:pt x="6322" y="4269"/>
                    <a:pt x="6312" y="5365"/>
                    <a:pt x="6383" y="6556"/>
                  </a:cubicBezTo>
                  <a:cubicBezTo>
                    <a:pt x="6251" y="6550"/>
                    <a:pt x="6103" y="6550"/>
                    <a:pt x="5944" y="6556"/>
                  </a:cubicBezTo>
                  <a:cubicBezTo>
                    <a:pt x="5170" y="6600"/>
                    <a:pt x="5740" y="8660"/>
                    <a:pt x="6261" y="9870"/>
                  </a:cubicBezTo>
                  <a:cubicBezTo>
                    <a:pt x="6371" y="10117"/>
                    <a:pt x="6602" y="10060"/>
                    <a:pt x="6700" y="10028"/>
                  </a:cubicBezTo>
                  <a:cubicBezTo>
                    <a:pt x="6898" y="12074"/>
                    <a:pt x="7173" y="12688"/>
                    <a:pt x="7865" y="13587"/>
                  </a:cubicBezTo>
                  <a:lnTo>
                    <a:pt x="7853" y="14563"/>
                  </a:lnTo>
                  <a:cubicBezTo>
                    <a:pt x="7836" y="15893"/>
                    <a:pt x="7177" y="16995"/>
                    <a:pt x="6102" y="17704"/>
                  </a:cubicBezTo>
                  <a:cubicBezTo>
                    <a:pt x="6014" y="17761"/>
                    <a:pt x="5927" y="17818"/>
                    <a:pt x="5839" y="17863"/>
                  </a:cubicBezTo>
                  <a:cubicBezTo>
                    <a:pt x="5335" y="18148"/>
                    <a:pt x="4780" y="18293"/>
                    <a:pt x="4221" y="18318"/>
                  </a:cubicBezTo>
                  <a:cubicBezTo>
                    <a:pt x="1630" y="18457"/>
                    <a:pt x="779" y="19820"/>
                    <a:pt x="0" y="21600"/>
                  </a:cubicBezTo>
                  <a:lnTo>
                    <a:pt x="10801" y="21600"/>
                  </a:lnTo>
                  <a:lnTo>
                    <a:pt x="21600" y="21600"/>
                  </a:lnTo>
                  <a:cubicBezTo>
                    <a:pt x="20821" y="19820"/>
                    <a:pt x="19970" y="18457"/>
                    <a:pt x="17379" y="18318"/>
                  </a:cubicBezTo>
                  <a:cubicBezTo>
                    <a:pt x="16820" y="18286"/>
                    <a:pt x="16260" y="18148"/>
                    <a:pt x="15761" y="17863"/>
                  </a:cubicBezTo>
                  <a:cubicBezTo>
                    <a:pt x="15678" y="17812"/>
                    <a:pt x="15591" y="17761"/>
                    <a:pt x="15498" y="17704"/>
                  </a:cubicBezTo>
                  <a:cubicBezTo>
                    <a:pt x="14423" y="16995"/>
                    <a:pt x="13758" y="15893"/>
                    <a:pt x="13747" y="14563"/>
                  </a:cubicBezTo>
                  <a:lnTo>
                    <a:pt x="13737" y="13587"/>
                  </a:lnTo>
                  <a:cubicBezTo>
                    <a:pt x="14428" y="12688"/>
                    <a:pt x="14697" y="12074"/>
                    <a:pt x="14900" y="10028"/>
                  </a:cubicBezTo>
                  <a:cubicBezTo>
                    <a:pt x="14993" y="10066"/>
                    <a:pt x="15229" y="10123"/>
                    <a:pt x="15339" y="9870"/>
                  </a:cubicBezTo>
                  <a:cubicBezTo>
                    <a:pt x="15865" y="8660"/>
                    <a:pt x="16431" y="6600"/>
                    <a:pt x="15658" y="6556"/>
                  </a:cubicBezTo>
                  <a:cubicBezTo>
                    <a:pt x="15498" y="6550"/>
                    <a:pt x="15350" y="6543"/>
                    <a:pt x="15219" y="6556"/>
                  </a:cubicBezTo>
                  <a:cubicBezTo>
                    <a:pt x="15290" y="5371"/>
                    <a:pt x="15283" y="4269"/>
                    <a:pt x="15047" y="3337"/>
                  </a:cubicBezTo>
                  <a:cubicBezTo>
                    <a:pt x="14559" y="1374"/>
                    <a:pt x="13183" y="0"/>
                    <a:pt x="10801" y="0"/>
                  </a:cubicBezTo>
                  <a:close/>
                </a:path>
              </a:pathLst>
            </a:custGeom>
            <a:solidFill>
              <a:schemeClr val="accent1">
                <a:lumOff val="16847"/>
              </a:schemeClr>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152" name="带肩膀的头像"/>
            <p:cNvSpPr/>
            <p:nvPr/>
          </p:nvSpPr>
          <p:spPr>
            <a:xfrm>
              <a:off x="1199478" y="248123"/>
              <a:ext cx="1621135" cy="1404513"/>
            </a:xfrm>
            <a:custGeom>
              <a:avLst/>
              <a:gdLst/>
              <a:ahLst/>
              <a:cxnLst>
                <a:cxn ang="0">
                  <a:pos x="wd2" y="hd2"/>
                </a:cxn>
                <a:cxn ang="5400000">
                  <a:pos x="wd2" y="hd2"/>
                </a:cxn>
                <a:cxn ang="10800000">
                  <a:pos x="wd2" y="hd2"/>
                </a:cxn>
                <a:cxn ang="16200000">
                  <a:pos x="wd2" y="hd2"/>
                </a:cxn>
              </a:cxnLst>
              <a:rect l="0" t="0" r="r" b="b"/>
              <a:pathLst>
                <a:path w="21600" h="21600" extrusionOk="0">
                  <a:moveTo>
                    <a:pt x="10801" y="0"/>
                  </a:moveTo>
                  <a:cubicBezTo>
                    <a:pt x="8419" y="0"/>
                    <a:pt x="7041" y="1374"/>
                    <a:pt x="6553" y="3337"/>
                  </a:cubicBezTo>
                  <a:cubicBezTo>
                    <a:pt x="6322" y="4269"/>
                    <a:pt x="6312" y="5365"/>
                    <a:pt x="6383" y="6556"/>
                  </a:cubicBezTo>
                  <a:cubicBezTo>
                    <a:pt x="6251" y="6550"/>
                    <a:pt x="6103" y="6550"/>
                    <a:pt x="5944" y="6556"/>
                  </a:cubicBezTo>
                  <a:cubicBezTo>
                    <a:pt x="5170" y="6600"/>
                    <a:pt x="5740" y="8660"/>
                    <a:pt x="6261" y="9870"/>
                  </a:cubicBezTo>
                  <a:cubicBezTo>
                    <a:pt x="6371" y="10117"/>
                    <a:pt x="6602" y="10060"/>
                    <a:pt x="6700" y="10028"/>
                  </a:cubicBezTo>
                  <a:cubicBezTo>
                    <a:pt x="6898" y="12074"/>
                    <a:pt x="7173" y="12688"/>
                    <a:pt x="7865" y="13587"/>
                  </a:cubicBezTo>
                  <a:lnTo>
                    <a:pt x="7853" y="14563"/>
                  </a:lnTo>
                  <a:cubicBezTo>
                    <a:pt x="7836" y="15893"/>
                    <a:pt x="7177" y="16995"/>
                    <a:pt x="6102" y="17704"/>
                  </a:cubicBezTo>
                  <a:cubicBezTo>
                    <a:pt x="6014" y="17761"/>
                    <a:pt x="5927" y="17818"/>
                    <a:pt x="5839" y="17863"/>
                  </a:cubicBezTo>
                  <a:cubicBezTo>
                    <a:pt x="5335" y="18148"/>
                    <a:pt x="4780" y="18293"/>
                    <a:pt x="4221" y="18318"/>
                  </a:cubicBezTo>
                  <a:cubicBezTo>
                    <a:pt x="1630" y="18457"/>
                    <a:pt x="779" y="19820"/>
                    <a:pt x="0" y="21600"/>
                  </a:cubicBezTo>
                  <a:lnTo>
                    <a:pt x="10801" y="21600"/>
                  </a:lnTo>
                  <a:lnTo>
                    <a:pt x="21600" y="21600"/>
                  </a:lnTo>
                  <a:cubicBezTo>
                    <a:pt x="20821" y="19820"/>
                    <a:pt x="19970" y="18457"/>
                    <a:pt x="17379" y="18318"/>
                  </a:cubicBezTo>
                  <a:cubicBezTo>
                    <a:pt x="16820" y="18286"/>
                    <a:pt x="16260" y="18148"/>
                    <a:pt x="15761" y="17863"/>
                  </a:cubicBezTo>
                  <a:cubicBezTo>
                    <a:pt x="15678" y="17812"/>
                    <a:pt x="15591" y="17761"/>
                    <a:pt x="15498" y="17704"/>
                  </a:cubicBezTo>
                  <a:cubicBezTo>
                    <a:pt x="14423" y="16995"/>
                    <a:pt x="13758" y="15893"/>
                    <a:pt x="13747" y="14563"/>
                  </a:cubicBezTo>
                  <a:lnTo>
                    <a:pt x="13737" y="13587"/>
                  </a:lnTo>
                  <a:cubicBezTo>
                    <a:pt x="14428" y="12688"/>
                    <a:pt x="14697" y="12074"/>
                    <a:pt x="14900" y="10028"/>
                  </a:cubicBezTo>
                  <a:cubicBezTo>
                    <a:pt x="14993" y="10066"/>
                    <a:pt x="15229" y="10123"/>
                    <a:pt x="15339" y="9870"/>
                  </a:cubicBezTo>
                  <a:cubicBezTo>
                    <a:pt x="15865" y="8660"/>
                    <a:pt x="16431" y="6600"/>
                    <a:pt x="15658" y="6556"/>
                  </a:cubicBezTo>
                  <a:cubicBezTo>
                    <a:pt x="15498" y="6550"/>
                    <a:pt x="15350" y="6543"/>
                    <a:pt x="15219" y="6556"/>
                  </a:cubicBezTo>
                  <a:cubicBezTo>
                    <a:pt x="15290" y="5371"/>
                    <a:pt x="15283" y="4269"/>
                    <a:pt x="15047" y="3337"/>
                  </a:cubicBezTo>
                  <a:cubicBezTo>
                    <a:pt x="14559" y="1374"/>
                    <a:pt x="13183" y="0"/>
                    <a:pt x="10801" y="0"/>
                  </a:cubicBezTo>
                  <a:close/>
                </a:path>
              </a:pathLst>
            </a:custGeom>
            <a:solidFill>
              <a:schemeClr val="accent1">
                <a:lumOff val="16847"/>
              </a:schemeClr>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153" name="带肩膀的头像"/>
            <p:cNvSpPr/>
            <p:nvPr/>
          </p:nvSpPr>
          <p:spPr>
            <a:xfrm>
              <a:off x="443019" y="0"/>
              <a:ext cx="1907528" cy="1652635"/>
            </a:xfrm>
            <a:custGeom>
              <a:avLst/>
              <a:gdLst/>
              <a:ahLst/>
              <a:cxnLst>
                <a:cxn ang="0">
                  <a:pos x="wd2" y="hd2"/>
                </a:cxn>
                <a:cxn ang="5400000">
                  <a:pos x="wd2" y="hd2"/>
                </a:cxn>
                <a:cxn ang="10800000">
                  <a:pos x="wd2" y="hd2"/>
                </a:cxn>
                <a:cxn ang="16200000">
                  <a:pos x="wd2" y="hd2"/>
                </a:cxn>
              </a:cxnLst>
              <a:rect l="0" t="0" r="r" b="b"/>
              <a:pathLst>
                <a:path w="21600" h="21600" extrusionOk="0">
                  <a:moveTo>
                    <a:pt x="10801" y="0"/>
                  </a:moveTo>
                  <a:cubicBezTo>
                    <a:pt x="8419" y="0"/>
                    <a:pt x="7041" y="1374"/>
                    <a:pt x="6553" y="3337"/>
                  </a:cubicBezTo>
                  <a:cubicBezTo>
                    <a:pt x="6322" y="4269"/>
                    <a:pt x="6312" y="5365"/>
                    <a:pt x="6383" y="6556"/>
                  </a:cubicBezTo>
                  <a:cubicBezTo>
                    <a:pt x="6251" y="6550"/>
                    <a:pt x="6103" y="6550"/>
                    <a:pt x="5944" y="6556"/>
                  </a:cubicBezTo>
                  <a:cubicBezTo>
                    <a:pt x="5170" y="6600"/>
                    <a:pt x="5740" y="8660"/>
                    <a:pt x="6261" y="9870"/>
                  </a:cubicBezTo>
                  <a:cubicBezTo>
                    <a:pt x="6371" y="10117"/>
                    <a:pt x="6602" y="10060"/>
                    <a:pt x="6700" y="10028"/>
                  </a:cubicBezTo>
                  <a:cubicBezTo>
                    <a:pt x="6898" y="12074"/>
                    <a:pt x="7173" y="12688"/>
                    <a:pt x="7865" y="13587"/>
                  </a:cubicBezTo>
                  <a:lnTo>
                    <a:pt x="7853" y="14563"/>
                  </a:lnTo>
                  <a:cubicBezTo>
                    <a:pt x="7836" y="15893"/>
                    <a:pt x="7177" y="16995"/>
                    <a:pt x="6102" y="17704"/>
                  </a:cubicBezTo>
                  <a:cubicBezTo>
                    <a:pt x="6014" y="17761"/>
                    <a:pt x="5927" y="17818"/>
                    <a:pt x="5839" y="17863"/>
                  </a:cubicBezTo>
                  <a:cubicBezTo>
                    <a:pt x="5335" y="18148"/>
                    <a:pt x="4780" y="18293"/>
                    <a:pt x="4221" y="18318"/>
                  </a:cubicBezTo>
                  <a:cubicBezTo>
                    <a:pt x="1630" y="18457"/>
                    <a:pt x="779" y="19820"/>
                    <a:pt x="0" y="21600"/>
                  </a:cubicBezTo>
                  <a:lnTo>
                    <a:pt x="10801" y="21600"/>
                  </a:lnTo>
                  <a:lnTo>
                    <a:pt x="21600" y="21600"/>
                  </a:lnTo>
                  <a:cubicBezTo>
                    <a:pt x="20821" y="19820"/>
                    <a:pt x="19970" y="18457"/>
                    <a:pt x="17379" y="18318"/>
                  </a:cubicBezTo>
                  <a:cubicBezTo>
                    <a:pt x="16820" y="18286"/>
                    <a:pt x="16260" y="18148"/>
                    <a:pt x="15761" y="17863"/>
                  </a:cubicBezTo>
                  <a:cubicBezTo>
                    <a:pt x="15678" y="17812"/>
                    <a:pt x="15591" y="17761"/>
                    <a:pt x="15498" y="17704"/>
                  </a:cubicBezTo>
                  <a:cubicBezTo>
                    <a:pt x="14423" y="16995"/>
                    <a:pt x="13758" y="15893"/>
                    <a:pt x="13747" y="14563"/>
                  </a:cubicBezTo>
                  <a:lnTo>
                    <a:pt x="13737" y="13587"/>
                  </a:lnTo>
                  <a:cubicBezTo>
                    <a:pt x="14428" y="12688"/>
                    <a:pt x="14697" y="12074"/>
                    <a:pt x="14900" y="10028"/>
                  </a:cubicBezTo>
                  <a:cubicBezTo>
                    <a:pt x="14993" y="10066"/>
                    <a:pt x="15229" y="10123"/>
                    <a:pt x="15339" y="9870"/>
                  </a:cubicBezTo>
                  <a:cubicBezTo>
                    <a:pt x="15865" y="8660"/>
                    <a:pt x="16431" y="6600"/>
                    <a:pt x="15658" y="6556"/>
                  </a:cubicBezTo>
                  <a:cubicBezTo>
                    <a:pt x="15498" y="6550"/>
                    <a:pt x="15350" y="6543"/>
                    <a:pt x="15219" y="6556"/>
                  </a:cubicBezTo>
                  <a:cubicBezTo>
                    <a:pt x="15290" y="5371"/>
                    <a:pt x="15283" y="4269"/>
                    <a:pt x="15047" y="3337"/>
                  </a:cubicBezTo>
                  <a:cubicBezTo>
                    <a:pt x="14559" y="1374"/>
                    <a:pt x="13183" y="0"/>
                    <a:pt x="10801" y="0"/>
                  </a:cubicBezTo>
                  <a:close/>
                </a:path>
              </a:pathLst>
            </a:custGeom>
            <a:solidFill>
              <a:srgbClr val="215EDB"/>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grpSp>
      <p:sp>
        <p:nvSpPr>
          <p:cNvPr id="157" name="读书智能平台"/>
          <p:cNvSpPr/>
          <p:nvPr/>
        </p:nvSpPr>
        <p:spPr>
          <a:xfrm>
            <a:off x="15957213" y="5277881"/>
            <a:ext cx="3160238" cy="3160238"/>
          </a:xfrm>
          <a:prstGeom prst="ellipse">
            <a:avLst/>
          </a:prstGeom>
          <a:gradFill>
            <a:gsLst>
              <a:gs pos="0">
                <a:schemeClr val="accent1"/>
              </a:gs>
              <a:gs pos="100000">
                <a:schemeClr val="accent1">
                  <a:lumOff val="16847"/>
                </a:schemeClr>
              </a:gs>
            </a:gsLst>
            <a:lin ang="2700000"/>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3200" b="0">
                <a:solidFill>
                  <a:srgbClr val="FFFFFF"/>
                </a:solidFill>
                <a:latin typeface="FZYanSongS-DB-GB"/>
                <a:ea typeface="FZYanSongS-DB-GB"/>
                <a:cs typeface="FZYanSongS-DB-GB"/>
                <a:sym typeface="FZYanSongS-DB-GB"/>
              </a:defRPr>
            </a:lvl1pPr>
          </a:lstStyle>
          <a:p>
            <a:r>
              <a:rPr dirty="0" err="1"/>
              <a:t>读书智能平台</a:t>
            </a:r>
            <a:endParaRPr dirty="0"/>
          </a:p>
        </p:txBody>
      </p:sp>
      <p:sp>
        <p:nvSpPr>
          <p:cNvPr id="158" name="移动履职平台"/>
          <p:cNvSpPr/>
          <p:nvPr/>
        </p:nvSpPr>
        <p:spPr>
          <a:xfrm>
            <a:off x="5266548" y="5277881"/>
            <a:ext cx="3160238" cy="3160238"/>
          </a:xfrm>
          <a:prstGeom prst="ellipse">
            <a:avLst/>
          </a:prstGeom>
          <a:gradFill>
            <a:gsLst>
              <a:gs pos="0">
                <a:schemeClr val="accent1"/>
              </a:gs>
              <a:gs pos="100000">
                <a:schemeClr val="accent1">
                  <a:lumOff val="-13575"/>
                </a:schemeClr>
              </a:gs>
            </a:gsLst>
            <a:lin ang="2700000"/>
          </a:gra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3200" b="0">
                <a:solidFill>
                  <a:srgbClr val="FFFFFF"/>
                </a:solidFill>
                <a:latin typeface="FZYanSongS-DB-GB"/>
                <a:ea typeface="FZYanSongS-DB-GB"/>
                <a:cs typeface="FZYanSongS-DB-GB"/>
                <a:sym typeface="FZYanSongS-DB-GB"/>
              </a:defRPr>
            </a:lvl1pPr>
          </a:lstStyle>
          <a:p>
            <a:r>
              <a:rPr b="1" dirty="0" err="1">
                <a:latin typeface="Source Han Serif SC SemiBold" panose="02020400000000000000" pitchFamily="18" charset="-128"/>
                <a:ea typeface="Source Han Serif SC SemiBold" panose="02020400000000000000" pitchFamily="18" charset="-128"/>
              </a:rPr>
              <a:t>移动履职平台</a:t>
            </a:r>
            <a:endParaRPr b="1" dirty="0">
              <a:latin typeface="Source Han Serif SC SemiBold" panose="02020400000000000000" pitchFamily="18" charset="-128"/>
              <a:ea typeface="Source Han Serif SC SemiBold" panose="02020400000000000000" pitchFamily="18" charset="-128"/>
            </a:endParaRPr>
          </a:p>
        </p:txBody>
      </p:sp>
      <p:sp>
        <p:nvSpPr>
          <p:cNvPr id="159" name="线条"/>
          <p:cNvSpPr/>
          <p:nvPr/>
        </p:nvSpPr>
        <p:spPr>
          <a:xfrm rot="18900000">
            <a:off x="10317753" y="7807246"/>
            <a:ext cx="3741877" cy="3745820"/>
          </a:xfrm>
          <a:custGeom>
            <a:avLst/>
            <a:gdLst/>
            <a:ahLst/>
            <a:cxnLst>
              <a:cxn ang="0">
                <a:pos x="wd2" y="hd2"/>
              </a:cxn>
              <a:cxn ang="5400000">
                <a:pos x="wd2" y="hd2"/>
              </a:cxn>
              <a:cxn ang="10800000">
                <a:pos x="wd2" y="hd2"/>
              </a:cxn>
              <a:cxn ang="16200000">
                <a:pos x="wd2" y="hd2"/>
              </a:cxn>
            </a:cxnLst>
            <a:rect l="0" t="0" r="r" b="b"/>
            <a:pathLst>
              <a:path w="21569" h="21515" extrusionOk="0">
                <a:moveTo>
                  <a:pt x="21569" y="21512"/>
                </a:moveTo>
                <a:cubicBezTo>
                  <a:pt x="15834" y="21600"/>
                  <a:pt x="10433" y="19375"/>
                  <a:pt x="6310" y="15243"/>
                </a:cubicBezTo>
                <a:cubicBezTo>
                  <a:pt x="2100" y="11024"/>
                  <a:pt x="-31" y="5511"/>
                  <a:pt x="0" y="0"/>
                </a:cubicBezTo>
              </a:path>
            </a:pathLst>
          </a:custGeom>
          <a:ln w="88900">
            <a:solidFill>
              <a:schemeClr val="accent1">
                <a:lumOff val="16847"/>
              </a:schemeClr>
            </a:solidFill>
            <a:miter lim="400000"/>
            <a:headEnd type="triangle"/>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160" name="线条"/>
          <p:cNvSpPr/>
          <p:nvPr/>
        </p:nvSpPr>
        <p:spPr>
          <a:xfrm rot="18900000">
            <a:off x="10322633" y="2520552"/>
            <a:ext cx="3748254" cy="3734687"/>
          </a:xfrm>
          <a:custGeom>
            <a:avLst/>
            <a:gdLst/>
            <a:ahLst/>
            <a:cxnLst>
              <a:cxn ang="0">
                <a:pos x="wd2" y="hd2"/>
              </a:cxn>
              <a:cxn ang="5400000">
                <a:pos x="wd2" y="hd2"/>
              </a:cxn>
              <a:cxn ang="10800000">
                <a:pos x="wd2" y="hd2"/>
              </a:cxn>
              <a:cxn ang="16200000">
                <a:pos x="wd2" y="hd2"/>
              </a:cxn>
            </a:cxnLst>
            <a:rect l="0" t="0" r="r" b="b"/>
            <a:pathLst>
              <a:path w="21510" h="21566" extrusionOk="0">
                <a:moveTo>
                  <a:pt x="0" y="0"/>
                </a:moveTo>
                <a:cubicBezTo>
                  <a:pt x="5696" y="-34"/>
                  <a:pt x="11075" y="2153"/>
                  <a:pt x="15208" y="6263"/>
                </a:cubicBezTo>
                <a:cubicBezTo>
                  <a:pt x="19359" y="10392"/>
                  <a:pt x="21600" y="15808"/>
                  <a:pt x="21507" y="21566"/>
                </a:cubicBezTo>
              </a:path>
            </a:pathLst>
          </a:custGeom>
          <a:ln w="88900">
            <a:solidFill>
              <a:schemeClr val="accent1">
                <a:lumOff val="16847"/>
              </a:schemeClr>
            </a:solidFill>
            <a:miter lim="400000"/>
            <a:headEnd type="triangle"/>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161" name="政协委员"/>
          <p:cNvSpPr txBox="1"/>
          <p:nvPr/>
        </p:nvSpPr>
        <p:spPr>
          <a:xfrm>
            <a:off x="11322049" y="7596917"/>
            <a:ext cx="1739901" cy="609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200" b="0">
                <a:solidFill>
                  <a:srgbClr val="215EDB"/>
                </a:solidFill>
                <a:latin typeface="FZYanSongS-DB-GB"/>
                <a:ea typeface="FZYanSongS-DB-GB"/>
                <a:cs typeface="FZYanSongS-DB-GB"/>
                <a:sym typeface="FZYanSongS-DB-GB"/>
              </a:defRPr>
            </a:lvl1pPr>
          </a:lstStyle>
          <a:p>
            <a:r>
              <a:rPr b="1" dirty="0" err="1">
                <a:latin typeface="Source Han Serif SC SemiBold" panose="02020400000000000000" pitchFamily="18" charset="-128"/>
                <a:ea typeface="Source Han Serif SC SemiBold" panose="02020400000000000000" pitchFamily="18" charset="-128"/>
              </a:rPr>
              <a:t>政协委员</a:t>
            </a:r>
            <a:endParaRPr b="1" dirty="0">
              <a:latin typeface="Source Han Serif SC SemiBold" panose="02020400000000000000" pitchFamily="18" charset="-128"/>
              <a:ea typeface="Source Han Serif SC SemiBold" panose="02020400000000000000" pitchFamily="18" charset="-128"/>
            </a:endParaRPr>
          </a:p>
        </p:txBody>
      </p:sp>
      <p:sp>
        <p:nvSpPr>
          <p:cNvPr id="162" name="整合履职服务，为委员提供高效高标准的履职、参政议政平台"/>
          <p:cNvSpPr txBox="1"/>
          <p:nvPr/>
        </p:nvSpPr>
        <p:spPr>
          <a:xfrm>
            <a:off x="2367408" y="5634875"/>
            <a:ext cx="2390104" cy="23356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spAutoFit/>
          </a:bodyPr>
          <a:lstStyle>
            <a:lvl1pPr algn="l" defTabSz="1828800">
              <a:defRPr sz="2400" b="0">
                <a:latin typeface="PingFang SC Light"/>
                <a:ea typeface="PingFang SC Light"/>
                <a:cs typeface="PingFang SC Light"/>
                <a:sym typeface="PingFang SC Light"/>
              </a:defRPr>
            </a:lvl1pPr>
          </a:lstStyle>
          <a:p>
            <a:pPr>
              <a:lnSpc>
                <a:spcPct val="150000"/>
              </a:lnSpc>
            </a:pPr>
            <a:r>
              <a:rPr dirty="0" err="1">
                <a:latin typeface="Source Han Serif SC" panose="02020400000000000000" pitchFamily="18" charset="-128"/>
                <a:ea typeface="Source Han Serif SC" panose="02020400000000000000" pitchFamily="18" charset="-128"/>
              </a:rPr>
              <a:t>整合履职服务，为委员提供高效高标准的履职、参政议政平台</a:t>
            </a:r>
            <a:endParaRPr dirty="0">
              <a:latin typeface="Source Han Serif SC" panose="02020400000000000000" pitchFamily="18" charset="-128"/>
              <a:ea typeface="Source Han Serif SC" panose="02020400000000000000" pitchFamily="18" charset="-128"/>
            </a:endParaRPr>
          </a:p>
        </p:txBody>
      </p:sp>
      <p:sp>
        <p:nvSpPr>
          <p:cNvPr id="164" name="运维保障"/>
          <p:cNvSpPr/>
          <p:nvPr/>
        </p:nvSpPr>
        <p:spPr>
          <a:xfrm>
            <a:off x="20253442" y="735220"/>
            <a:ext cx="2013066" cy="2013065"/>
          </a:xfrm>
          <a:prstGeom prst="ellipse">
            <a:avLst/>
          </a:prstGeom>
          <a:solidFill>
            <a:srgbClr val="FFFFFF"/>
          </a:solidFill>
          <a:ln w="25400">
            <a:solidFill>
              <a:schemeClr val="accent1"/>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2700" b="0">
                <a:solidFill>
                  <a:schemeClr val="accent1"/>
                </a:solidFill>
                <a:latin typeface="FZYanSongS-DB-GB"/>
                <a:ea typeface="FZYanSongS-DB-GB"/>
                <a:cs typeface="FZYanSongS-DB-GB"/>
                <a:sym typeface="FZYanSongS-DB-GB"/>
              </a:defRPr>
            </a:lvl1pPr>
          </a:lstStyle>
          <a:p>
            <a:r>
              <a:rPr dirty="0" err="1">
                <a:latin typeface="Source Han Serif SC" panose="02020400000000000000" pitchFamily="18" charset="-128"/>
                <a:ea typeface="Source Han Serif SC" panose="02020400000000000000" pitchFamily="18" charset="-128"/>
              </a:rPr>
              <a:t>运维保障</a:t>
            </a:r>
            <a:endParaRPr dirty="0">
              <a:latin typeface="Source Han Serif SC" panose="02020400000000000000" pitchFamily="18" charset="-128"/>
              <a:ea typeface="Source Han Serif SC" panose="02020400000000000000" pitchFamily="18" charset="-128"/>
            </a:endParaRPr>
          </a:p>
        </p:txBody>
      </p:sp>
      <p:sp>
        <p:nvSpPr>
          <p:cNvPr id="165" name="安全保障"/>
          <p:cNvSpPr/>
          <p:nvPr/>
        </p:nvSpPr>
        <p:spPr>
          <a:xfrm>
            <a:off x="20253442" y="10585905"/>
            <a:ext cx="2013066" cy="2013066"/>
          </a:xfrm>
          <a:prstGeom prst="ellipse">
            <a:avLst/>
          </a:prstGeom>
          <a:solidFill>
            <a:srgbClr val="FFFFFF"/>
          </a:solidFill>
          <a:ln w="25400">
            <a:solidFill>
              <a:schemeClr val="accent1"/>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2700" b="0">
                <a:solidFill>
                  <a:schemeClr val="accent1"/>
                </a:solidFill>
                <a:latin typeface="FZYanSongS-DB-GB"/>
                <a:ea typeface="FZYanSongS-DB-GB"/>
                <a:cs typeface="FZYanSongS-DB-GB"/>
                <a:sym typeface="FZYanSongS-DB-GB"/>
              </a:defRPr>
            </a:lvl1pPr>
          </a:lstStyle>
          <a:p>
            <a:r>
              <a:rPr dirty="0" err="1">
                <a:latin typeface="Source Han Serif SC" panose="02020400000000000000" pitchFamily="18" charset="-128"/>
                <a:ea typeface="Source Han Serif SC" panose="02020400000000000000" pitchFamily="18" charset="-128"/>
              </a:rPr>
              <a:t>安全保障</a:t>
            </a:r>
            <a:endParaRPr dirty="0">
              <a:latin typeface="Source Han Serif SC" panose="02020400000000000000" pitchFamily="18" charset="-128"/>
              <a:ea typeface="Source Han Serif SC" panose="02020400000000000000" pitchFamily="18" charset="-128"/>
            </a:endParaRPr>
          </a:p>
        </p:txBody>
      </p:sp>
      <p:sp>
        <p:nvSpPr>
          <p:cNvPr id="166" name="体验设计"/>
          <p:cNvSpPr/>
          <p:nvPr/>
        </p:nvSpPr>
        <p:spPr>
          <a:xfrm>
            <a:off x="2117494" y="10967715"/>
            <a:ext cx="2013065" cy="2013065"/>
          </a:xfrm>
          <a:prstGeom prst="ellipse">
            <a:avLst/>
          </a:prstGeom>
          <a:solidFill>
            <a:srgbClr val="FFFFFF"/>
          </a:solidFill>
          <a:ln w="25400">
            <a:solidFill>
              <a:schemeClr val="accent1"/>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2700" b="0">
                <a:solidFill>
                  <a:schemeClr val="accent1"/>
                </a:solidFill>
                <a:latin typeface="FZYanSongS-DB-GB"/>
                <a:ea typeface="FZYanSongS-DB-GB"/>
                <a:cs typeface="FZYanSongS-DB-GB"/>
                <a:sym typeface="FZYanSongS-DB-GB"/>
              </a:defRPr>
            </a:lvl1pPr>
          </a:lstStyle>
          <a:p>
            <a:r>
              <a:rPr dirty="0" err="1">
                <a:latin typeface="Source Han Serif SC" panose="02020400000000000000" pitchFamily="18" charset="-128"/>
                <a:ea typeface="Source Han Serif SC" panose="02020400000000000000" pitchFamily="18" charset="-128"/>
              </a:rPr>
              <a:t>体验设计</a:t>
            </a:r>
            <a:endParaRPr dirty="0">
              <a:latin typeface="Source Han Serif SC" panose="02020400000000000000" pitchFamily="18" charset="-128"/>
              <a:ea typeface="Source Han Serif SC" panose="02020400000000000000" pitchFamily="18" charset="-128"/>
            </a:endParaRPr>
          </a:p>
        </p:txBody>
      </p:sp>
      <p:sp>
        <p:nvSpPr>
          <p:cNvPr id="167" name="前端研发"/>
          <p:cNvSpPr/>
          <p:nvPr/>
        </p:nvSpPr>
        <p:spPr>
          <a:xfrm>
            <a:off x="2117494" y="735220"/>
            <a:ext cx="2013065" cy="2013065"/>
          </a:xfrm>
          <a:prstGeom prst="ellipse">
            <a:avLst/>
          </a:prstGeom>
          <a:solidFill>
            <a:srgbClr val="FFFFFF"/>
          </a:solidFill>
          <a:ln w="25400">
            <a:solidFill>
              <a:schemeClr val="accent1"/>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defRPr sz="2700" b="0">
                <a:solidFill>
                  <a:schemeClr val="accent1"/>
                </a:solidFill>
                <a:latin typeface="FZYanSongS-DB-GB"/>
                <a:ea typeface="FZYanSongS-DB-GB"/>
                <a:cs typeface="FZYanSongS-DB-GB"/>
                <a:sym typeface="FZYanSongS-DB-GB"/>
              </a:defRPr>
            </a:lvl1pPr>
          </a:lstStyle>
          <a:p>
            <a:r>
              <a:rPr dirty="0" err="1">
                <a:latin typeface="Source Han Serif SC" panose="02020400000000000000" pitchFamily="18" charset="-128"/>
                <a:ea typeface="Source Han Serif SC" panose="02020400000000000000" pitchFamily="18" charset="-128"/>
              </a:rPr>
              <a:t>前端研发</a:t>
            </a:r>
            <a:endParaRPr dirty="0">
              <a:latin typeface="Source Han Serif SC" panose="02020400000000000000" pitchFamily="18" charset="-128"/>
              <a:ea typeface="Source Han Serif SC" panose="02020400000000000000" pitchFamily="18" charset="-128"/>
            </a:endParaRPr>
          </a:p>
        </p:txBody>
      </p:sp>
      <p:sp>
        <p:nvSpPr>
          <p:cNvPr id="168" name="建设规划背景"/>
          <p:cNvSpPr txBox="1"/>
          <p:nvPr/>
        </p:nvSpPr>
        <p:spPr>
          <a:xfrm>
            <a:off x="9636566" y="835659"/>
            <a:ext cx="5072381" cy="1325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defTabSz="1828800">
              <a:defRPr sz="6400">
                <a:latin typeface="Source Han Serif SC Heavy" panose="02020400000000000000" pitchFamily="18" charset="-128"/>
                <a:ea typeface="Source Han Serif SC Heavy" panose="02020400000000000000" pitchFamily="18" charset="-128"/>
                <a:cs typeface="PingFang SC Light"/>
              </a:defRPr>
            </a:lvl1pPr>
          </a:lstStyle>
          <a:p>
            <a:r>
              <a:rPr dirty="0" err="1"/>
              <a:t>建设规划背景</a:t>
            </a:r>
            <a:endParaRPr dirty="0"/>
          </a:p>
        </p:txBody>
      </p:sp>
      <p:sp>
        <p:nvSpPr>
          <p:cNvPr id="169" name="以政协委员为核心"/>
          <p:cNvSpPr txBox="1"/>
          <p:nvPr/>
        </p:nvSpPr>
        <p:spPr>
          <a:xfrm>
            <a:off x="10886908" y="9427454"/>
            <a:ext cx="2651347" cy="5539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spAutoFit/>
          </a:bodyPr>
          <a:lstStyle>
            <a:lvl1pPr defTabSz="1828800">
              <a:defRPr sz="2400" b="0">
                <a:latin typeface="PingFang SC Light"/>
                <a:ea typeface="PingFang SC Light"/>
                <a:cs typeface="PingFang SC Light"/>
                <a:sym typeface="PingFang SC Light"/>
              </a:defRPr>
            </a:lvl1pPr>
          </a:lstStyle>
          <a:p>
            <a:r>
              <a:rPr dirty="0" err="1">
                <a:latin typeface="Source Han Serif SC" panose="02020400000000000000" pitchFamily="18" charset="-128"/>
                <a:ea typeface="Source Han Serif SC" panose="02020400000000000000" pitchFamily="18" charset="-128"/>
              </a:rPr>
              <a:t>以政协委员为核心</a:t>
            </a:r>
            <a:endParaRPr dirty="0">
              <a:latin typeface="Source Han Serif SC" panose="02020400000000000000" pitchFamily="18" charset="-128"/>
              <a:ea typeface="Source Han Serif SC" panose="02020400000000000000" pitchFamily="18" charset="-128"/>
            </a:endParaRPr>
          </a:p>
        </p:txBody>
      </p:sp>
      <p:sp>
        <p:nvSpPr>
          <p:cNvPr id="163" name="智能全面的读书平台，更好得服务委员讨论交流，凝聚共识"/>
          <p:cNvSpPr txBox="1"/>
          <p:nvPr/>
        </p:nvSpPr>
        <p:spPr>
          <a:xfrm>
            <a:off x="19371909" y="5690181"/>
            <a:ext cx="2390103" cy="23356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spAutoFit/>
          </a:bodyPr>
          <a:lstStyle>
            <a:lvl1pPr algn="l" defTabSz="1828800">
              <a:defRPr sz="2400" b="0">
                <a:latin typeface="PingFang SC Light"/>
                <a:ea typeface="PingFang SC Light"/>
                <a:cs typeface="PingFang SC Light"/>
                <a:sym typeface="PingFang SC Light"/>
              </a:defRPr>
            </a:lvl1pPr>
          </a:lstStyle>
          <a:p>
            <a:pPr>
              <a:lnSpc>
                <a:spcPct val="150000"/>
              </a:lnSpc>
            </a:pPr>
            <a:r>
              <a:rPr dirty="0" err="1">
                <a:latin typeface="Source Han Serif SC" panose="02020400000000000000" pitchFamily="18" charset="-128"/>
                <a:ea typeface="Source Han Serif SC" panose="02020400000000000000" pitchFamily="18" charset="-128"/>
              </a:rPr>
              <a:t>智能全面的读书平台，更好得服务委员讨论交流，凝聚共识</a:t>
            </a:r>
            <a:endParaRPr dirty="0">
              <a:latin typeface="Source Han Serif SC" panose="02020400000000000000" pitchFamily="18" charset="-128"/>
              <a:ea typeface="Source Han Serif SC" panose="02020400000000000000" pitchFamily="18" charset="-128"/>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FA406-5DF6-656E-D26E-D520120B619B}"/>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360A309B-D70F-6FFE-904A-78AC8EF07C7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44000"/>
                    </a14:imgEffect>
                    <a14:imgEffect>
                      <a14:saturation sat="154000"/>
                    </a14:imgEffect>
                  </a14:imgLayer>
                </a14:imgProps>
              </a:ext>
              <a:ext uri="{28A0092B-C50C-407E-A947-70E740481C1C}">
                <a14:useLocalDpi xmlns:a14="http://schemas.microsoft.com/office/drawing/2010/main" val="0"/>
              </a:ext>
            </a:extLst>
          </a:blip>
          <a:srcRect l="9013" r="9015"/>
          <a:stretch>
            <a:fillRect/>
          </a:stretch>
        </p:blipFill>
        <p:spPr>
          <a:xfrm>
            <a:off x="0" y="0"/>
            <a:ext cx="24384000" cy="13716000"/>
          </a:xfrm>
          <a:prstGeom prst="rect">
            <a:avLst/>
          </a:prstGeom>
        </p:spPr>
      </p:pic>
      <p:sp>
        <p:nvSpPr>
          <p:cNvPr id="2" name="Shape 4">
            <a:extLst>
              <a:ext uri="{FF2B5EF4-FFF2-40B4-BE49-F238E27FC236}">
                <a16:creationId xmlns:a16="http://schemas.microsoft.com/office/drawing/2014/main" id="{56D15A91-0160-EDFC-DBF9-BC7F69F3B1CC}"/>
              </a:ext>
            </a:extLst>
          </p:cNvPr>
          <p:cNvSpPr/>
          <p:nvPr/>
        </p:nvSpPr>
        <p:spPr>
          <a:xfrm>
            <a:off x="952500" y="1047750"/>
            <a:ext cx="3820222" cy="1330581"/>
          </a:xfrm>
          <a:prstGeom prst="roundRect">
            <a:avLst>
              <a:gd name="adj" fmla="val 21875"/>
            </a:avLst>
          </a:prstGeom>
          <a:solidFill>
            <a:srgbClr val="0057E4"/>
          </a:solidFill>
          <a:ln/>
        </p:spPr>
        <p:txBody>
          <a:bodyPr/>
          <a:lstStyle/>
          <a:p>
            <a:endParaRPr lang="zh-CN" altLang="en-US"/>
          </a:p>
        </p:txBody>
      </p:sp>
      <p:sp>
        <p:nvSpPr>
          <p:cNvPr id="3" name="Text 5">
            <a:extLst>
              <a:ext uri="{FF2B5EF4-FFF2-40B4-BE49-F238E27FC236}">
                <a16:creationId xmlns:a16="http://schemas.microsoft.com/office/drawing/2014/main" id="{9227D071-F943-55FC-8D60-D4A122B02FE1}"/>
              </a:ext>
            </a:extLst>
          </p:cNvPr>
          <p:cNvSpPr txBox="1"/>
          <p:nvPr/>
        </p:nvSpPr>
        <p:spPr>
          <a:xfrm>
            <a:off x="1292334" y="1276443"/>
            <a:ext cx="3203184" cy="873194"/>
          </a:xfrm>
          <a:prstGeom prst="rect">
            <a:avLst/>
          </a:prstGeom>
          <a:noFill/>
          <a:ln/>
        </p:spPr>
        <p:txBody>
          <a:bodyPr wrap="square" lIns="0" tIns="0" rIns="0" bIns="0" rtlCol="0" anchor="ctr">
            <a:noAutofit/>
          </a:bodyPr>
          <a:lstStyle/>
          <a:p>
            <a:pPr>
              <a:lnSpc>
                <a:spcPct val="125000"/>
              </a:lnSpc>
            </a:pPr>
            <a:r>
              <a:rPr lang="en-US" sz="4800" b="1" spc="300" dirty="0">
                <a:solidFill>
                  <a:srgbClr val="FFFFFF"/>
                </a:solidFill>
                <a:latin typeface="Source Han Serif SC" panose="02020400000000000000" pitchFamily="18" charset="-128"/>
                <a:ea typeface="Source Han Serif SC" panose="02020400000000000000" pitchFamily="18" charset="-128"/>
                <a:cs typeface="Source Han Sans SC"/>
              </a:rPr>
              <a:t>PART </a:t>
            </a:r>
            <a:r>
              <a:rPr lang="en-US" altLang="zh-CN" sz="4800" b="1" spc="300" dirty="0">
                <a:solidFill>
                  <a:srgbClr val="FFFFFF"/>
                </a:solidFill>
                <a:latin typeface="Source Han Serif SC" panose="02020400000000000000" pitchFamily="18" charset="-128"/>
                <a:ea typeface="Source Han Serif SC" panose="02020400000000000000" pitchFamily="18" charset="-128"/>
                <a:cs typeface="Source Han Sans SC"/>
              </a:rPr>
              <a:t>02</a:t>
            </a:r>
            <a:endParaRPr lang="en-US" sz="4800" dirty="0">
              <a:latin typeface="Source Han Serif SC" panose="02020400000000000000" pitchFamily="18" charset="-128"/>
              <a:ea typeface="Source Han Serif SC" panose="02020400000000000000" pitchFamily="18" charset="-128"/>
            </a:endParaRPr>
          </a:p>
        </p:txBody>
      </p:sp>
      <p:sp>
        <p:nvSpPr>
          <p:cNvPr id="4" name="Shape 6">
            <a:extLst>
              <a:ext uri="{FF2B5EF4-FFF2-40B4-BE49-F238E27FC236}">
                <a16:creationId xmlns:a16="http://schemas.microsoft.com/office/drawing/2014/main" id="{45973A9C-3E47-D07F-85F9-3BD528FB9471}"/>
              </a:ext>
            </a:extLst>
          </p:cNvPr>
          <p:cNvSpPr/>
          <p:nvPr/>
        </p:nvSpPr>
        <p:spPr>
          <a:xfrm>
            <a:off x="952501" y="2794137"/>
            <a:ext cx="1837956" cy="62371"/>
          </a:xfrm>
          <a:prstGeom prst="rect">
            <a:avLst/>
          </a:prstGeom>
          <a:solidFill>
            <a:srgbClr val="0057E4">
              <a:alpha val="60000"/>
            </a:srgbClr>
          </a:solidFill>
          <a:ln/>
        </p:spPr>
        <p:txBody>
          <a:bodyPr/>
          <a:lstStyle/>
          <a:p>
            <a:endParaRPr lang="zh-CN" altLang="en-US"/>
          </a:p>
        </p:txBody>
      </p:sp>
      <p:sp>
        <p:nvSpPr>
          <p:cNvPr id="5" name="Text 7">
            <a:extLst>
              <a:ext uri="{FF2B5EF4-FFF2-40B4-BE49-F238E27FC236}">
                <a16:creationId xmlns:a16="http://schemas.microsoft.com/office/drawing/2014/main" id="{D9AC836A-0A49-12B5-64AB-8B730FF7B8C1}"/>
              </a:ext>
            </a:extLst>
          </p:cNvPr>
          <p:cNvSpPr txBox="1"/>
          <p:nvPr/>
        </p:nvSpPr>
        <p:spPr>
          <a:xfrm>
            <a:off x="952501" y="5286154"/>
            <a:ext cx="22478998" cy="2331714"/>
          </a:xfrm>
          <a:prstGeom prst="rect">
            <a:avLst/>
          </a:prstGeom>
          <a:noFill/>
          <a:ln/>
        </p:spPr>
        <p:txBody>
          <a:bodyPr wrap="square" lIns="0" tIns="0" rIns="0" bIns="0" rtlCol="0" anchor="ctr" anchorCtr="0">
            <a:noAutofit/>
          </a:bodyPr>
          <a:lstStyle/>
          <a:p>
            <a:pPr algn="l">
              <a:lnSpc>
                <a:spcPct val="83333"/>
              </a:lnSpc>
            </a:pPr>
            <a:r>
              <a:rPr lang="en-US" sz="12000" b="1" spc="602" dirty="0" err="1">
                <a:solidFill>
                  <a:srgbClr val="0057E4"/>
                </a:solidFill>
                <a:latin typeface="Source Han Serif SC" panose="02020400000000000000" pitchFamily="18" charset="-128"/>
                <a:ea typeface="Source Han Serif SC" panose="02020400000000000000" pitchFamily="18" charset="-128"/>
                <a:cs typeface="Source Han Sans SC"/>
              </a:rPr>
              <a:t>经济发展</a:t>
            </a:r>
            <a:endParaRPr lang="en-US" sz="12000" dirty="0">
              <a:latin typeface="Source Han Serif SC" panose="02020400000000000000" pitchFamily="18" charset="-128"/>
              <a:ea typeface="Source Han Serif SC" panose="02020400000000000000" pitchFamily="18" charset="-128"/>
            </a:endParaRPr>
          </a:p>
        </p:txBody>
      </p:sp>
      <p:sp>
        <p:nvSpPr>
          <p:cNvPr id="7" name="Text 8">
            <a:extLst>
              <a:ext uri="{FF2B5EF4-FFF2-40B4-BE49-F238E27FC236}">
                <a16:creationId xmlns:a16="http://schemas.microsoft.com/office/drawing/2014/main" id="{63CFA82D-02F0-B2E9-9E40-D33DA69F1060}"/>
              </a:ext>
            </a:extLst>
          </p:cNvPr>
          <p:cNvSpPr txBox="1"/>
          <p:nvPr/>
        </p:nvSpPr>
        <p:spPr>
          <a:xfrm>
            <a:off x="952500" y="7287667"/>
            <a:ext cx="22478997" cy="748452"/>
          </a:xfrm>
          <a:prstGeom prst="rect">
            <a:avLst/>
          </a:prstGeom>
          <a:noFill/>
          <a:ln/>
        </p:spPr>
        <p:txBody>
          <a:bodyPr wrap="square" lIns="0" tIns="0" rIns="0" bIns="0" rtlCol="0" anchor="ctr">
            <a:noAutofit/>
          </a:bodyPr>
          <a:lstStyle/>
          <a:p>
            <a:pPr algn="l">
              <a:lnSpc>
                <a:spcPct val="125000"/>
              </a:lnSpc>
            </a:pPr>
            <a:r>
              <a:rPr lang="en-US" altLang="zh-CN" sz="2400" spc="75" dirty="0">
                <a:solidFill>
                  <a:srgbClr val="1A2A3A">
                    <a:alpha val="50000"/>
                  </a:srgbClr>
                </a:solidFill>
                <a:latin typeface="Source Han Serif SC" panose="02020400000000000000" pitchFamily="18" charset="-128"/>
                <a:ea typeface="Source Han Serif SC" panose="02020400000000000000" pitchFamily="18" charset="-128"/>
                <a:cs typeface="Source Han Sans SC"/>
              </a:rPr>
              <a:t>ECONOMIC DEVELOPMENT</a:t>
            </a:r>
            <a:endParaRPr lang="en-US" altLang="zh-CN" sz="2400" dirty="0">
              <a:latin typeface="Source Han Serif SC" panose="02020400000000000000" pitchFamily="18" charset="-128"/>
              <a:ea typeface="Source Han Serif SC" panose="02020400000000000000" pitchFamily="18" charset="-128"/>
            </a:endParaRPr>
          </a:p>
        </p:txBody>
      </p:sp>
      <p:sp>
        <p:nvSpPr>
          <p:cNvPr id="8" name="Text 9">
            <a:extLst>
              <a:ext uri="{FF2B5EF4-FFF2-40B4-BE49-F238E27FC236}">
                <a16:creationId xmlns:a16="http://schemas.microsoft.com/office/drawing/2014/main" id="{F2D2FC38-8D69-6B48-661D-CA45D9C88EC9}"/>
              </a:ext>
            </a:extLst>
          </p:cNvPr>
          <p:cNvSpPr txBox="1"/>
          <p:nvPr/>
        </p:nvSpPr>
        <p:spPr>
          <a:xfrm>
            <a:off x="952499" y="11879508"/>
            <a:ext cx="22478997" cy="788741"/>
          </a:xfrm>
          <a:prstGeom prst="rect">
            <a:avLst/>
          </a:prstGeom>
          <a:noFill/>
          <a:ln/>
        </p:spPr>
        <p:txBody>
          <a:bodyPr wrap="square" lIns="0" tIns="0" rIns="0" bIns="0" rtlCol="0" anchor="ctr">
            <a:noAutofit/>
          </a:bodyPr>
          <a:lstStyle/>
          <a:p>
            <a:pPr algn="l">
              <a:lnSpc>
                <a:spcPct val="133333"/>
              </a:lnSpc>
            </a:pPr>
            <a:r>
              <a:rPr lang="en-US" altLang="zh-CN" sz="4000" dirty="0" err="1">
                <a:solidFill>
                  <a:srgbClr val="1A2A3A">
                    <a:alpha val="70000"/>
                  </a:srgbClr>
                </a:solidFill>
                <a:latin typeface="Source Han Serif SC" panose="02020400000000000000" pitchFamily="18" charset="-128"/>
                <a:ea typeface="Source Han Serif SC" panose="02020400000000000000" pitchFamily="18" charset="-128"/>
              </a:rPr>
              <a:t>聚焦经济增长动能，展示工业、投资、消费等关键领域实绩</a:t>
            </a:r>
            <a:endParaRPr lang="en-US" altLang="zh-CN" sz="4000" dirty="0">
              <a:solidFill>
                <a:srgbClr val="1A2A3A">
                  <a:alpha val="70000"/>
                </a:srgbClr>
              </a:solidFill>
              <a:latin typeface="Source Han Serif SC" panose="02020400000000000000" pitchFamily="18" charset="-128"/>
              <a:ea typeface="Source Han Serif SC" panose="02020400000000000000" pitchFamily="18" charset="-128"/>
            </a:endParaRPr>
          </a:p>
        </p:txBody>
      </p:sp>
    </p:spTree>
    <p:extLst>
      <p:ext uri="{BB962C8B-B14F-4D97-AF65-F5344CB8AC3E}">
        <p14:creationId xmlns:p14="http://schemas.microsoft.com/office/powerpoint/2010/main" val="205229994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8360127-5A5B-AF65-FECB-6921E63FD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4000" cy="13716000"/>
          </a:xfrm>
          <a:prstGeom prst="rect">
            <a:avLst/>
          </a:prstGeom>
        </p:spPr>
      </p:pic>
      <p:sp>
        <p:nvSpPr>
          <p:cNvPr id="184" name="WHO"/>
          <p:cNvSpPr txBox="1"/>
          <p:nvPr/>
        </p:nvSpPr>
        <p:spPr>
          <a:xfrm>
            <a:off x="10448766" y="581394"/>
            <a:ext cx="3507692" cy="22763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algn="l" defTabSz="1828800">
              <a:lnSpc>
                <a:spcPct val="160000"/>
              </a:lnSpc>
              <a:defRPr sz="9600" b="0">
                <a:solidFill>
                  <a:srgbClr val="215EDB"/>
                </a:solidFill>
                <a:latin typeface="FZYanSongS-DB-GB"/>
                <a:ea typeface="FZYanSongS-DB-GB"/>
                <a:cs typeface="FZYanSongS-DB-GB"/>
                <a:sym typeface="FZYanSongS-DB-GB"/>
              </a:defRPr>
            </a:lvl1pPr>
          </a:lstStyle>
          <a:p>
            <a:r>
              <a:rPr dirty="0">
                <a:solidFill>
                  <a:srgbClr val="215EDB">
                    <a:alpha val="20000"/>
                  </a:srgbClr>
                </a:solidFill>
              </a:rPr>
              <a:t>WHO</a:t>
            </a:r>
          </a:p>
        </p:txBody>
      </p:sp>
      <p:sp>
        <p:nvSpPr>
          <p:cNvPr id="185" name="分布广泛"/>
          <p:cNvSpPr txBox="1"/>
          <p:nvPr/>
        </p:nvSpPr>
        <p:spPr>
          <a:xfrm>
            <a:off x="10468610" y="9016486"/>
            <a:ext cx="3446781" cy="11861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defTabSz="1828800">
              <a:defRPr sz="6400" b="0">
                <a:latin typeface="FZYanSongS-DB-GB"/>
                <a:ea typeface="FZYanSongS-DB-GB"/>
                <a:cs typeface="FZYanSongS-DB-GB"/>
                <a:sym typeface="FZYanSongS-DB-GB"/>
              </a:defRPr>
            </a:lvl1pPr>
          </a:lstStyle>
          <a:p>
            <a:r>
              <a:rPr b="1" dirty="0" err="1">
                <a:latin typeface="Source Han Serif SC SemiBold" panose="02020400000000000000" pitchFamily="18" charset="-128"/>
                <a:ea typeface="Source Han Serif SC SemiBold" panose="02020400000000000000" pitchFamily="18" charset="-128"/>
              </a:rPr>
              <a:t>分布广泛</a:t>
            </a:r>
            <a:endParaRPr b="1" dirty="0">
              <a:latin typeface="Source Han Serif SC SemiBold" panose="02020400000000000000" pitchFamily="18" charset="-128"/>
              <a:ea typeface="Source Han Serif SC SemiBold" panose="02020400000000000000" pitchFamily="18" charset="-128"/>
            </a:endParaRPr>
          </a:p>
        </p:txBody>
      </p:sp>
      <p:sp>
        <p:nvSpPr>
          <p:cNvPr id="186" name="人群辐射面广"/>
          <p:cNvSpPr txBox="1"/>
          <p:nvPr/>
        </p:nvSpPr>
        <p:spPr>
          <a:xfrm>
            <a:off x="10560785" y="10162664"/>
            <a:ext cx="3262432" cy="8002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defTabSz="1828800">
              <a:defRPr sz="4000" b="0">
                <a:solidFill>
                  <a:srgbClr val="5E5E5E"/>
                </a:solidFill>
                <a:latin typeface="PingFang SC Light"/>
                <a:ea typeface="PingFang SC Light"/>
                <a:cs typeface="PingFang SC Light"/>
                <a:sym typeface="PingFang SC Light"/>
              </a:defRPr>
            </a:lvl1pPr>
          </a:lstStyle>
          <a:p>
            <a:r>
              <a:rPr>
                <a:latin typeface="Source Han Serif SC" panose="02020400000000000000" pitchFamily="18" charset="-128"/>
                <a:ea typeface="Source Han Serif SC" panose="02020400000000000000" pitchFamily="18" charset="-128"/>
              </a:rPr>
              <a:t>人群辐射面广</a:t>
            </a:r>
          </a:p>
        </p:txBody>
      </p:sp>
      <p:sp>
        <p:nvSpPr>
          <p:cNvPr id="187" name="平均年龄55.9"/>
          <p:cNvSpPr txBox="1"/>
          <p:nvPr/>
        </p:nvSpPr>
        <p:spPr>
          <a:xfrm>
            <a:off x="2311991" y="9016486"/>
            <a:ext cx="5166800" cy="1169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defTabSz="1828800">
              <a:defRPr sz="6400" b="0">
                <a:latin typeface="FZYanSongS-DB-GB"/>
                <a:ea typeface="FZYanSongS-DB-GB"/>
                <a:cs typeface="FZYanSongS-DB-GB"/>
                <a:sym typeface="FZYanSongS-DB-GB"/>
              </a:defRPr>
            </a:lvl1pPr>
          </a:lstStyle>
          <a:p>
            <a:r>
              <a:rPr b="1" dirty="0">
                <a:latin typeface="Source Han Serif SC SemiBold" panose="02020400000000000000" pitchFamily="18" charset="-128"/>
                <a:ea typeface="Source Han Serif SC SemiBold" panose="02020400000000000000" pitchFamily="18" charset="-128"/>
              </a:rPr>
              <a:t>平均年龄55.9</a:t>
            </a:r>
          </a:p>
        </p:txBody>
      </p:sp>
      <p:sp>
        <p:nvSpPr>
          <p:cNvPr id="188" name="基本覆盖各年龄"/>
          <p:cNvSpPr txBox="1"/>
          <p:nvPr/>
        </p:nvSpPr>
        <p:spPr>
          <a:xfrm>
            <a:off x="3007695" y="10162664"/>
            <a:ext cx="3775393" cy="8002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defTabSz="1828800">
              <a:defRPr sz="4000" b="0">
                <a:solidFill>
                  <a:srgbClr val="5E5E5E"/>
                </a:solidFill>
                <a:latin typeface="PingFang SC Light"/>
                <a:ea typeface="PingFang SC Light"/>
                <a:cs typeface="PingFang SC Light"/>
                <a:sym typeface="PingFang SC Light"/>
              </a:defRPr>
            </a:lvl1pPr>
          </a:lstStyle>
          <a:p>
            <a:r>
              <a:rPr>
                <a:latin typeface="Source Han Serif SC" panose="02020400000000000000" pitchFamily="18" charset="-128"/>
                <a:ea typeface="Source Han Serif SC" panose="02020400000000000000" pitchFamily="18" charset="-128"/>
              </a:rPr>
              <a:t>基本覆盖各年龄</a:t>
            </a:r>
          </a:p>
        </p:txBody>
      </p:sp>
      <p:sp>
        <p:nvSpPr>
          <p:cNvPr id="189" name="综合素质高"/>
          <p:cNvSpPr txBox="1"/>
          <p:nvPr/>
        </p:nvSpPr>
        <p:spPr>
          <a:xfrm>
            <a:off x="17511218" y="9016486"/>
            <a:ext cx="4259581" cy="11861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defTabSz="1828800">
              <a:defRPr sz="6400" b="0">
                <a:latin typeface="FZYanSongS-DB-GB"/>
                <a:ea typeface="FZYanSongS-DB-GB"/>
                <a:cs typeface="FZYanSongS-DB-GB"/>
                <a:sym typeface="FZYanSongS-DB-GB"/>
              </a:defRPr>
            </a:lvl1pPr>
          </a:lstStyle>
          <a:p>
            <a:r>
              <a:rPr b="1">
                <a:latin typeface="Source Han Serif SC SemiBold" panose="02020400000000000000" pitchFamily="18" charset="-128"/>
                <a:ea typeface="Source Han Serif SC SemiBold" panose="02020400000000000000" pitchFamily="18" charset="-128"/>
              </a:rPr>
              <a:t>综合素质高</a:t>
            </a:r>
          </a:p>
        </p:txBody>
      </p:sp>
      <p:sp>
        <p:nvSpPr>
          <p:cNvPr id="190" name="本科以上90%"/>
          <p:cNvSpPr txBox="1"/>
          <p:nvPr/>
        </p:nvSpPr>
        <p:spPr>
          <a:xfrm>
            <a:off x="17999373" y="10162664"/>
            <a:ext cx="3283271" cy="8002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defTabSz="1828800">
              <a:defRPr sz="4000" b="0">
                <a:solidFill>
                  <a:srgbClr val="5E5E5E"/>
                </a:solidFill>
                <a:latin typeface="PingFang SC Light"/>
                <a:ea typeface="PingFang SC Light"/>
                <a:cs typeface="PingFang SC Light"/>
                <a:sym typeface="PingFang SC Light"/>
              </a:defRPr>
            </a:lvl1pPr>
          </a:lstStyle>
          <a:p>
            <a:r>
              <a:rPr>
                <a:latin typeface="Source Han Serif SC" panose="02020400000000000000" pitchFamily="18" charset="-128"/>
                <a:ea typeface="Source Han Serif SC" panose="02020400000000000000" pitchFamily="18" charset="-128"/>
              </a:rPr>
              <a:t>本科以上90%</a:t>
            </a:r>
          </a:p>
        </p:txBody>
      </p:sp>
      <p:sp>
        <p:nvSpPr>
          <p:cNvPr id="191" name="圆形"/>
          <p:cNvSpPr/>
          <p:nvPr/>
        </p:nvSpPr>
        <p:spPr>
          <a:xfrm>
            <a:off x="3426001" y="5211823"/>
            <a:ext cx="2938781" cy="2938781"/>
          </a:xfrm>
          <a:prstGeom prst="ellipse">
            <a:avLst/>
          </a:prstGeom>
          <a:solidFill>
            <a:schemeClr val="accent1"/>
          </a:solidFill>
          <a:ln w="12700">
            <a:miter lim="400000"/>
          </a:ln>
          <a:effectLst>
            <a:outerShdw blurRad="444500" dist="409212" dir="5400000" rotWithShape="0">
              <a:srgbClr val="000000">
                <a:alpha val="17343"/>
              </a:srgbClr>
            </a:outerShdw>
          </a:effectLst>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pic>
        <p:nvPicPr>
          <p:cNvPr id="192" name="ddc1d3d059f30e90de4b588dbfdba986.jpeg" descr="ddc1d3d059f30e90de4b588dbfdba986.jpeg"/>
          <p:cNvPicPr>
            <a:picLocks noChangeAspect="1"/>
          </p:cNvPicPr>
          <p:nvPr/>
        </p:nvPicPr>
        <p:blipFill>
          <a:blip r:embed="rId3"/>
          <a:srcRect l="15939" r="15940"/>
          <a:stretch>
            <a:fillRect/>
          </a:stretch>
        </p:blipFill>
        <p:spPr>
          <a:xfrm>
            <a:off x="3204797" y="4990513"/>
            <a:ext cx="3381165" cy="3381376"/>
          </a:xfrm>
          <a:custGeom>
            <a:avLst/>
            <a:gdLst/>
            <a:ahLst/>
            <a:cxnLst>
              <a:cxn ang="0">
                <a:pos x="wd2" y="hd2"/>
              </a:cxn>
              <a:cxn ang="5400000">
                <a:pos x="wd2" y="hd2"/>
              </a:cxn>
              <a:cxn ang="10800000">
                <a:pos x="wd2" y="hd2"/>
              </a:cxn>
              <a:cxn ang="16200000">
                <a:pos x="wd2" y="hd2"/>
              </a:cxn>
            </a:cxnLst>
            <a:rect l="0" t="0" r="r" b="b"/>
            <a:pathLst>
              <a:path w="19679" h="21600" extrusionOk="0">
                <a:moveTo>
                  <a:pt x="9839" y="0"/>
                </a:moveTo>
                <a:cubicBezTo>
                  <a:pt x="7321" y="0"/>
                  <a:pt x="4803" y="1055"/>
                  <a:pt x="2882" y="3164"/>
                </a:cubicBezTo>
                <a:cubicBezTo>
                  <a:pt x="-961" y="7382"/>
                  <a:pt x="-961" y="14218"/>
                  <a:pt x="2882" y="18436"/>
                </a:cubicBezTo>
                <a:cubicBezTo>
                  <a:pt x="4803" y="20545"/>
                  <a:pt x="7321" y="21600"/>
                  <a:pt x="9839" y="21600"/>
                </a:cubicBezTo>
                <a:cubicBezTo>
                  <a:pt x="12357" y="21600"/>
                  <a:pt x="14875" y="20545"/>
                  <a:pt x="16796" y="18436"/>
                </a:cubicBezTo>
                <a:cubicBezTo>
                  <a:pt x="20639" y="14218"/>
                  <a:pt x="20639" y="7382"/>
                  <a:pt x="16796" y="3164"/>
                </a:cubicBezTo>
                <a:cubicBezTo>
                  <a:pt x="14875" y="1055"/>
                  <a:pt x="12357" y="0"/>
                  <a:pt x="9839" y="0"/>
                </a:cubicBezTo>
                <a:close/>
              </a:path>
            </a:pathLst>
          </a:custGeom>
          <a:ln w="12700">
            <a:miter lim="400000"/>
          </a:ln>
        </p:spPr>
      </p:pic>
      <p:sp>
        <p:nvSpPr>
          <p:cNvPr id="193" name="圆形"/>
          <p:cNvSpPr/>
          <p:nvPr/>
        </p:nvSpPr>
        <p:spPr>
          <a:xfrm>
            <a:off x="10722609" y="5211823"/>
            <a:ext cx="2938781" cy="2938781"/>
          </a:xfrm>
          <a:prstGeom prst="ellipse">
            <a:avLst/>
          </a:prstGeom>
          <a:solidFill>
            <a:schemeClr val="accent1"/>
          </a:solidFill>
          <a:ln w="12700">
            <a:miter lim="400000"/>
          </a:ln>
          <a:effectLst>
            <a:outerShdw blurRad="444500" dist="409212" dir="5400000" rotWithShape="0">
              <a:srgbClr val="000000">
                <a:alpha val="17343"/>
              </a:srgbClr>
            </a:outerShdw>
          </a:effectLst>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pic>
        <p:nvPicPr>
          <p:cNvPr id="194" name="u=329144588,871908664&amp;fm=15&amp;fmt=auto&amp;gp=0.jpeg" descr="u=329144588,871908664&amp;fm=15&amp;fmt=auto&amp;gp=0.jpeg"/>
          <p:cNvPicPr>
            <a:picLocks noChangeAspect="1"/>
          </p:cNvPicPr>
          <p:nvPr/>
        </p:nvPicPr>
        <p:blipFill>
          <a:blip r:embed="rId4"/>
          <a:srcRect l="15107" r="5697"/>
          <a:stretch>
            <a:fillRect/>
          </a:stretch>
        </p:blipFill>
        <p:spPr>
          <a:xfrm>
            <a:off x="10501405" y="4990513"/>
            <a:ext cx="3381165" cy="3381376"/>
          </a:xfrm>
          <a:custGeom>
            <a:avLst/>
            <a:gdLst/>
            <a:ahLst/>
            <a:cxnLst>
              <a:cxn ang="0">
                <a:pos x="wd2" y="hd2"/>
              </a:cxn>
              <a:cxn ang="5400000">
                <a:pos x="wd2" y="hd2"/>
              </a:cxn>
              <a:cxn ang="10800000">
                <a:pos x="wd2" y="hd2"/>
              </a:cxn>
              <a:cxn ang="16200000">
                <a:pos x="wd2" y="hd2"/>
              </a:cxn>
            </a:cxnLst>
            <a:rect l="0" t="0" r="r" b="b"/>
            <a:pathLst>
              <a:path w="19679" h="21600" extrusionOk="0">
                <a:moveTo>
                  <a:pt x="9839" y="0"/>
                </a:moveTo>
                <a:cubicBezTo>
                  <a:pt x="7321" y="0"/>
                  <a:pt x="4803" y="1055"/>
                  <a:pt x="2882" y="3164"/>
                </a:cubicBezTo>
                <a:cubicBezTo>
                  <a:pt x="-961" y="7382"/>
                  <a:pt x="-961" y="14218"/>
                  <a:pt x="2882" y="18436"/>
                </a:cubicBezTo>
                <a:cubicBezTo>
                  <a:pt x="4803" y="20545"/>
                  <a:pt x="7321" y="21600"/>
                  <a:pt x="9839" y="21600"/>
                </a:cubicBezTo>
                <a:cubicBezTo>
                  <a:pt x="12357" y="21600"/>
                  <a:pt x="14875" y="20545"/>
                  <a:pt x="16796" y="18436"/>
                </a:cubicBezTo>
                <a:cubicBezTo>
                  <a:pt x="20639" y="14218"/>
                  <a:pt x="20639" y="7382"/>
                  <a:pt x="16796" y="3164"/>
                </a:cubicBezTo>
                <a:cubicBezTo>
                  <a:pt x="14875" y="1055"/>
                  <a:pt x="12357" y="0"/>
                  <a:pt x="9839" y="0"/>
                </a:cubicBezTo>
                <a:close/>
              </a:path>
            </a:pathLst>
          </a:custGeom>
          <a:ln w="12700">
            <a:miter lim="400000"/>
          </a:ln>
        </p:spPr>
      </p:pic>
      <p:sp>
        <p:nvSpPr>
          <p:cNvPr id="195" name="圆形"/>
          <p:cNvSpPr/>
          <p:nvPr/>
        </p:nvSpPr>
        <p:spPr>
          <a:xfrm>
            <a:off x="18019217" y="5211823"/>
            <a:ext cx="2938781" cy="2938781"/>
          </a:xfrm>
          <a:prstGeom prst="ellipse">
            <a:avLst/>
          </a:prstGeom>
          <a:solidFill>
            <a:schemeClr val="accent1"/>
          </a:solidFill>
          <a:ln w="12700">
            <a:miter lim="400000"/>
          </a:ln>
          <a:effectLst>
            <a:outerShdw blurRad="444500" dist="409212" dir="5400000" rotWithShape="0">
              <a:srgbClr val="000000">
                <a:alpha val="17343"/>
              </a:srgbClr>
            </a:outerShdw>
          </a:effectLst>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pic>
        <p:nvPicPr>
          <p:cNvPr id="196" name="u=2799108390,2721306764&amp;fm=26&amp;fmt=auto&amp;gp=0.jpeg" descr="u=2799108390,2721306764&amp;fm=26&amp;fmt=auto&amp;gp=0.jpeg"/>
          <p:cNvPicPr>
            <a:picLocks noChangeAspect="1"/>
          </p:cNvPicPr>
          <p:nvPr/>
        </p:nvPicPr>
        <p:blipFill>
          <a:blip r:embed="rId5"/>
          <a:srcRect l="18531" r="14873"/>
          <a:stretch>
            <a:fillRect/>
          </a:stretch>
        </p:blipFill>
        <p:spPr>
          <a:xfrm>
            <a:off x="17798014" y="4990513"/>
            <a:ext cx="3381165" cy="3381376"/>
          </a:xfrm>
          <a:custGeom>
            <a:avLst/>
            <a:gdLst/>
            <a:ahLst/>
            <a:cxnLst>
              <a:cxn ang="0">
                <a:pos x="wd2" y="hd2"/>
              </a:cxn>
              <a:cxn ang="5400000">
                <a:pos x="wd2" y="hd2"/>
              </a:cxn>
              <a:cxn ang="10800000">
                <a:pos x="wd2" y="hd2"/>
              </a:cxn>
              <a:cxn ang="16200000">
                <a:pos x="wd2" y="hd2"/>
              </a:cxn>
            </a:cxnLst>
            <a:rect l="0" t="0" r="r" b="b"/>
            <a:pathLst>
              <a:path w="19679" h="21600" extrusionOk="0">
                <a:moveTo>
                  <a:pt x="9839" y="0"/>
                </a:moveTo>
                <a:cubicBezTo>
                  <a:pt x="7321" y="0"/>
                  <a:pt x="4803" y="1055"/>
                  <a:pt x="2882" y="3164"/>
                </a:cubicBezTo>
                <a:cubicBezTo>
                  <a:pt x="-961" y="7382"/>
                  <a:pt x="-961" y="14218"/>
                  <a:pt x="2882" y="18436"/>
                </a:cubicBezTo>
                <a:cubicBezTo>
                  <a:pt x="4803" y="20545"/>
                  <a:pt x="7321" y="21600"/>
                  <a:pt x="9839" y="21600"/>
                </a:cubicBezTo>
                <a:cubicBezTo>
                  <a:pt x="12357" y="21600"/>
                  <a:pt x="14875" y="20545"/>
                  <a:pt x="16796" y="18436"/>
                </a:cubicBezTo>
                <a:cubicBezTo>
                  <a:pt x="20639" y="14218"/>
                  <a:pt x="20639" y="7382"/>
                  <a:pt x="16796" y="3164"/>
                </a:cubicBezTo>
                <a:cubicBezTo>
                  <a:pt x="14875" y="1055"/>
                  <a:pt x="12357" y="0"/>
                  <a:pt x="9839" y="0"/>
                </a:cubicBezTo>
                <a:close/>
              </a:path>
            </a:pathLst>
          </a:custGeom>
          <a:ln w="12700">
            <a:miter lim="400000"/>
          </a:ln>
        </p:spPr>
      </p:pic>
      <p:sp>
        <p:nvSpPr>
          <p:cNvPr id="183" name="全国及地方政协委员"/>
          <p:cNvSpPr txBox="1"/>
          <p:nvPr/>
        </p:nvSpPr>
        <p:spPr>
          <a:xfrm>
            <a:off x="6764864" y="2176781"/>
            <a:ext cx="10854253" cy="1169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defTabSz="1828800">
              <a:defRPr sz="6400">
                <a:latin typeface="Source Han Serif SC Heavy" panose="02020400000000000000" pitchFamily="18" charset="-128"/>
                <a:ea typeface="Source Han Serif SC Heavy" panose="02020400000000000000" pitchFamily="18" charset="-128"/>
                <a:cs typeface="PingFang SC Light"/>
              </a:defRPr>
            </a:lvl1pPr>
          </a:lstStyle>
          <a:p>
            <a:pPr algn="ctr"/>
            <a:r>
              <a:rPr lang="zh-CN" altLang="en-US" dirty="0"/>
              <a:t>全国及地方政协委员人员结构</a:t>
            </a:r>
            <a:endParaRPr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66F1F92-58CE-AE36-78C1-3148C08BE62B}"/>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9013" r="9015"/>
          <a:stretch>
            <a:fillRect/>
          </a:stretch>
        </p:blipFill>
        <p:spPr>
          <a:xfrm>
            <a:off x="0" y="0"/>
            <a:ext cx="24384000" cy="13716000"/>
          </a:xfrm>
          <a:prstGeom prst="rect">
            <a:avLst/>
          </a:prstGeom>
        </p:spPr>
      </p:pic>
      <p:sp>
        <p:nvSpPr>
          <p:cNvPr id="5" name="Shape 20">
            <a:extLst>
              <a:ext uri="{FF2B5EF4-FFF2-40B4-BE49-F238E27FC236}">
                <a16:creationId xmlns:a16="http://schemas.microsoft.com/office/drawing/2014/main" id="{DE1E5089-B077-FE59-1437-940E6553D9B2}"/>
              </a:ext>
            </a:extLst>
          </p:cNvPr>
          <p:cNvSpPr/>
          <p:nvPr/>
        </p:nvSpPr>
        <p:spPr>
          <a:xfrm>
            <a:off x="6857416" y="7195728"/>
            <a:ext cx="10669167" cy="1039459"/>
          </a:xfrm>
          <a:prstGeom prst="roundRect">
            <a:avLst>
              <a:gd name="adj" fmla="val 50000"/>
            </a:avLst>
          </a:prstGeom>
          <a:solidFill>
            <a:srgbClr val="F4F7FC"/>
          </a:solidFill>
          <a:ln w="12700">
            <a:solidFill>
              <a:srgbClr val="0057E4">
                <a:alpha val="10000"/>
              </a:srgbClr>
            </a:solidFill>
          </a:ln>
        </p:spPr>
        <p:txBody>
          <a:bodyPr/>
          <a:lstStyle/>
          <a:p>
            <a:endParaRPr lang="zh-CN" altLang="en-US"/>
          </a:p>
        </p:txBody>
      </p:sp>
      <p:sp>
        <p:nvSpPr>
          <p:cNvPr id="6" name="Text 21">
            <a:extLst>
              <a:ext uri="{FF2B5EF4-FFF2-40B4-BE49-F238E27FC236}">
                <a16:creationId xmlns:a16="http://schemas.microsoft.com/office/drawing/2014/main" id="{39C4EC1B-A3B0-597B-5680-23C378ECED05}"/>
              </a:ext>
            </a:extLst>
          </p:cNvPr>
          <p:cNvSpPr txBox="1"/>
          <p:nvPr/>
        </p:nvSpPr>
        <p:spPr>
          <a:xfrm>
            <a:off x="7975325" y="7433989"/>
            <a:ext cx="9003110" cy="529536"/>
          </a:xfrm>
          <a:prstGeom prst="rect">
            <a:avLst/>
          </a:prstGeom>
          <a:noFill/>
          <a:ln/>
        </p:spPr>
        <p:txBody>
          <a:bodyPr wrap="square" lIns="0" tIns="0" rIns="0" bIns="0" rtlCol="0" anchor="ctr">
            <a:noAutofit/>
          </a:bodyPr>
          <a:lstStyle/>
          <a:p>
            <a:pPr algn="l">
              <a:lnSpc>
                <a:spcPct val="125000"/>
              </a:lnSpc>
            </a:pPr>
            <a:r>
              <a:rPr lang="en-US" sz="2800" dirty="0">
                <a:solidFill>
                  <a:srgbClr val="1A2A3A"/>
                </a:solidFill>
                <a:latin typeface="Source Han Serif SC" panose="02020400000000000000" pitchFamily="18" charset="-128"/>
                <a:ea typeface="Source Han Serif SC" panose="02020400000000000000" pitchFamily="18" charset="-128"/>
                <a:cs typeface="Source Han Sans SC"/>
              </a:rPr>
              <a:t>居民收入增速与经济增长基本同步，发展成果由人民共享</a:t>
            </a:r>
            <a:endParaRPr lang="en-US" sz="2800" dirty="0">
              <a:latin typeface="Source Han Serif SC" panose="02020400000000000000" pitchFamily="18" charset="-128"/>
              <a:ea typeface="Source Han Serif SC" panose="02020400000000000000" pitchFamily="18" charset="-128"/>
            </a:endParaRPr>
          </a:p>
        </p:txBody>
      </p:sp>
      <p:pic>
        <p:nvPicPr>
          <p:cNvPr id="7" name="Image 22">
            <a:extLst>
              <a:ext uri="{FF2B5EF4-FFF2-40B4-BE49-F238E27FC236}">
                <a16:creationId xmlns:a16="http://schemas.microsoft.com/office/drawing/2014/main" id="{DEE97316-BBC9-AE1F-1345-43F50328C9FB}"/>
              </a:ext>
            </a:extLst>
          </p:cNvPr>
          <p:cNvPicPr>
            <a:picLocks/>
          </p:cNvPicPr>
          <p:nvPr/>
        </p:nvPicPr>
        <p:blipFill>
          <a:blip r:embed="rId3"/>
          <a:stretch>
            <a:fillRect/>
          </a:stretch>
        </p:blipFill>
        <p:spPr>
          <a:xfrm>
            <a:off x="7406564" y="7502634"/>
            <a:ext cx="470698" cy="470698"/>
          </a:xfrm>
          <a:prstGeom prst="rect">
            <a:avLst/>
          </a:prstGeom>
        </p:spPr>
      </p:pic>
      <p:sp>
        <p:nvSpPr>
          <p:cNvPr id="10" name="Text 25">
            <a:extLst>
              <a:ext uri="{FF2B5EF4-FFF2-40B4-BE49-F238E27FC236}">
                <a16:creationId xmlns:a16="http://schemas.microsoft.com/office/drawing/2014/main" id="{2FAA6A32-1E66-6ECD-BC40-F3B49B212D13}"/>
              </a:ext>
            </a:extLst>
          </p:cNvPr>
          <p:cNvSpPr txBox="1"/>
          <p:nvPr/>
        </p:nvSpPr>
        <p:spPr>
          <a:xfrm>
            <a:off x="9658123" y="4584361"/>
            <a:ext cx="4994408" cy="2251450"/>
          </a:xfrm>
          <a:prstGeom prst="rect">
            <a:avLst/>
          </a:prstGeom>
          <a:noFill/>
          <a:ln/>
          <a:effectLst>
            <a:outerShdw blurRad="228600" dist="114300" dir="5400000" rotWithShape="0">
              <a:srgbClr val="0057E4">
                <a:alpha val="15000"/>
              </a:srgbClr>
            </a:outerShdw>
          </a:effectLst>
        </p:spPr>
        <p:txBody>
          <a:bodyPr wrap="square" lIns="0" tIns="0" rIns="0" bIns="0" rtlCol="0" anchor="b">
            <a:spAutoFit/>
          </a:bodyPr>
          <a:lstStyle/>
          <a:p>
            <a:pPr algn="l">
              <a:lnSpc>
                <a:spcPct val="70833"/>
              </a:lnSpc>
            </a:pPr>
            <a:r>
              <a:rPr lang="en-US" sz="20000" spc="-675" dirty="0">
                <a:solidFill>
                  <a:srgbClr val="0057E4"/>
                </a:solidFill>
                <a:latin typeface="Source Han Serif SC Heavy" panose="02020400000000000000" pitchFamily="18" charset="-128"/>
                <a:ea typeface="Source Han Serif SC Heavy" panose="02020400000000000000" pitchFamily="18" charset="-128"/>
                <a:cs typeface="OPPO Sans 4.0"/>
              </a:rPr>
              <a:t>5.3</a:t>
            </a:r>
            <a:endParaRPr lang="en-US" sz="20000" dirty="0">
              <a:latin typeface="Source Han Serif SC Heavy" panose="02020400000000000000" pitchFamily="18" charset="-128"/>
              <a:ea typeface="Source Han Serif SC Heavy" panose="02020400000000000000" pitchFamily="18" charset="-128"/>
            </a:endParaRPr>
          </a:p>
        </p:txBody>
      </p:sp>
      <p:sp>
        <p:nvSpPr>
          <p:cNvPr id="11" name="Text 26">
            <a:extLst>
              <a:ext uri="{FF2B5EF4-FFF2-40B4-BE49-F238E27FC236}">
                <a16:creationId xmlns:a16="http://schemas.microsoft.com/office/drawing/2014/main" id="{02728493-A8F3-25BD-370C-C9213030BBFB}"/>
              </a:ext>
            </a:extLst>
          </p:cNvPr>
          <p:cNvSpPr txBox="1"/>
          <p:nvPr/>
        </p:nvSpPr>
        <p:spPr>
          <a:xfrm>
            <a:off x="13938682" y="5258805"/>
            <a:ext cx="1076920" cy="1226170"/>
          </a:xfrm>
          <a:prstGeom prst="rect">
            <a:avLst/>
          </a:prstGeom>
          <a:noFill/>
          <a:ln/>
        </p:spPr>
        <p:txBody>
          <a:bodyPr wrap="square" lIns="0" tIns="0" rIns="0" bIns="0" rtlCol="0" anchor="ctr">
            <a:spAutoFit/>
          </a:bodyPr>
          <a:lstStyle/>
          <a:p>
            <a:pPr algn="l">
              <a:lnSpc>
                <a:spcPct val="83333"/>
              </a:lnSpc>
            </a:pPr>
            <a:r>
              <a:rPr lang="en-US" sz="9600" dirty="0">
                <a:solidFill>
                  <a:srgbClr val="0057E4"/>
                </a:solidFill>
                <a:latin typeface="Source Han Serif SC" panose="02020400000000000000" pitchFamily="18" charset="-128"/>
                <a:ea typeface="Source Han Serif SC" panose="02020400000000000000" pitchFamily="18" charset="-128"/>
                <a:cs typeface="OPPO Sans 4.0"/>
              </a:rPr>
              <a:t>%</a:t>
            </a:r>
            <a:endParaRPr lang="en-US" sz="9600" dirty="0">
              <a:latin typeface="Source Han Serif SC" panose="02020400000000000000" pitchFamily="18" charset="-128"/>
              <a:ea typeface="Source Han Serif SC" panose="02020400000000000000" pitchFamily="18" charset="-128"/>
            </a:endParaRPr>
          </a:p>
        </p:txBody>
      </p:sp>
      <p:sp>
        <p:nvSpPr>
          <p:cNvPr id="12" name="Shape 27">
            <a:extLst>
              <a:ext uri="{FF2B5EF4-FFF2-40B4-BE49-F238E27FC236}">
                <a16:creationId xmlns:a16="http://schemas.microsoft.com/office/drawing/2014/main" id="{FCFB9819-32D8-9536-A135-C94718C97A42}"/>
              </a:ext>
            </a:extLst>
          </p:cNvPr>
          <p:cNvSpPr/>
          <p:nvPr/>
        </p:nvSpPr>
        <p:spPr>
          <a:xfrm>
            <a:off x="816785" y="9255035"/>
            <a:ext cx="5393421" cy="2745741"/>
          </a:xfrm>
          <a:prstGeom prst="roundRect">
            <a:avLst>
              <a:gd name="adj" fmla="val 5714"/>
            </a:avLst>
          </a:prstGeom>
          <a:solidFill>
            <a:srgbClr val="FFFFFF"/>
          </a:solidFill>
          <a:ln w="12700">
            <a:solidFill>
              <a:srgbClr val="1A3D83">
                <a:alpha val="10000"/>
              </a:srgbClr>
            </a:solidFill>
          </a:ln>
        </p:spPr>
        <p:txBody>
          <a:bodyPr/>
          <a:lstStyle/>
          <a:p>
            <a:endParaRPr lang="zh-CN" altLang="en-US"/>
          </a:p>
        </p:txBody>
      </p:sp>
      <p:sp>
        <p:nvSpPr>
          <p:cNvPr id="13" name="Text 28">
            <a:extLst>
              <a:ext uri="{FF2B5EF4-FFF2-40B4-BE49-F238E27FC236}">
                <a16:creationId xmlns:a16="http://schemas.microsoft.com/office/drawing/2014/main" id="{F1AA446D-9174-ACF9-6279-30311737C8AF}"/>
              </a:ext>
            </a:extLst>
          </p:cNvPr>
          <p:cNvSpPr txBox="1"/>
          <p:nvPr/>
        </p:nvSpPr>
        <p:spPr>
          <a:xfrm>
            <a:off x="1385545" y="9676703"/>
            <a:ext cx="4431625" cy="411861"/>
          </a:xfrm>
          <a:prstGeom prst="rect">
            <a:avLst/>
          </a:prstGeom>
          <a:noFill/>
          <a:ln/>
        </p:spPr>
        <p:txBody>
          <a:bodyPr wrap="square" lIns="0" tIns="0" rIns="0" bIns="0" rtlCol="0" anchor="ctr">
            <a:noAutofit/>
          </a:bodyPr>
          <a:lstStyle/>
          <a:p>
            <a:pPr algn="l">
              <a:lnSpc>
                <a:spcPct val="125000"/>
              </a:lnSpc>
            </a:pPr>
            <a:r>
              <a:rPr lang="en-US" sz="2400" dirty="0">
                <a:solidFill>
                  <a:srgbClr val="1A3D83"/>
                </a:solidFill>
                <a:latin typeface="Source Han Serif SC" panose="02020400000000000000" pitchFamily="18" charset="-128"/>
                <a:ea typeface="Source Han Serif SC" panose="02020400000000000000" pitchFamily="18" charset="-128"/>
                <a:cs typeface="Source Han Sans SC"/>
              </a:rPr>
              <a:t>城镇居民收入增速</a:t>
            </a:r>
            <a:endParaRPr lang="en-US" sz="2400" dirty="0">
              <a:latin typeface="Source Han Serif SC" panose="02020400000000000000" pitchFamily="18" charset="-128"/>
              <a:ea typeface="Source Han Serif SC" panose="02020400000000000000" pitchFamily="18" charset="-128"/>
            </a:endParaRPr>
          </a:p>
        </p:txBody>
      </p:sp>
      <p:sp>
        <p:nvSpPr>
          <p:cNvPr id="14" name="Text 29">
            <a:extLst>
              <a:ext uri="{FF2B5EF4-FFF2-40B4-BE49-F238E27FC236}">
                <a16:creationId xmlns:a16="http://schemas.microsoft.com/office/drawing/2014/main" id="{3E44B233-4ECF-4D53-551E-9BA7246D3BBF}"/>
              </a:ext>
            </a:extLst>
          </p:cNvPr>
          <p:cNvSpPr txBox="1"/>
          <p:nvPr/>
        </p:nvSpPr>
        <p:spPr>
          <a:xfrm>
            <a:off x="1385545" y="10300803"/>
            <a:ext cx="1194525" cy="833530"/>
          </a:xfrm>
          <a:prstGeom prst="rect">
            <a:avLst/>
          </a:prstGeom>
          <a:noFill/>
          <a:ln/>
        </p:spPr>
        <p:txBody>
          <a:bodyPr wrap="square" lIns="0" tIns="0" rIns="0" bIns="0" rtlCol="0" anchor="ctr">
            <a:noAutofit/>
          </a:bodyPr>
          <a:lstStyle/>
          <a:p>
            <a:pPr algn="l">
              <a:lnSpc>
                <a:spcPct val="83333"/>
              </a:lnSpc>
            </a:pPr>
            <a:r>
              <a:rPr lang="en-US" sz="5400" dirty="0">
                <a:solidFill>
                  <a:srgbClr val="0057E4"/>
                </a:solidFill>
                <a:latin typeface="Source Han Serif SC" panose="02020400000000000000" pitchFamily="18" charset="-128"/>
                <a:ea typeface="Source Han Serif SC" panose="02020400000000000000" pitchFamily="18" charset="-128"/>
                <a:cs typeface="OPPO Sans 4.0"/>
              </a:rPr>
              <a:t>4.8</a:t>
            </a:r>
            <a:endParaRPr lang="en-US" sz="5400" dirty="0">
              <a:latin typeface="Source Han Serif SC" panose="02020400000000000000" pitchFamily="18" charset="-128"/>
              <a:ea typeface="Source Han Serif SC" panose="02020400000000000000" pitchFamily="18" charset="-128"/>
            </a:endParaRPr>
          </a:p>
        </p:txBody>
      </p:sp>
      <p:sp>
        <p:nvSpPr>
          <p:cNvPr id="15" name="Text 30">
            <a:extLst>
              <a:ext uri="{FF2B5EF4-FFF2-40B4-BE49-F238E27FC236}">
                <a16:creationId xmlns:a16="http://schemas.microsoft.com/office/drawing/2014/main" id="{D82B8D8A-3B87-3B0C-520B-5CBCDB323CDB}"/>
              </a:ext>
            </a:extLst>
          </p:cNvPr>
          <p:cNvSpPr txBox="1"/>
          <p:nvPr/>
        </p:nvSpPr>
        <p:spPr>
          <a:xfrm>
            <a:off x="2735051" y="10539650"/>
            <a:ext cx="290968" cy="470699"/>
          </a:xfrm>
          <a:prstGeom prst="rect">
            <a:avLst/>
          </a:prstGeom>
          <a:noFill/>
          <a:ln/>
        </p:spPr>
        <p:txBody>
          <a:bodyPr wrap="square" lIns="0" tIns="0" rIns="0" bIns="0" rtlCol="0" anchor="ctr">
            <a:noAutofit/>
          </a:bodyPr>
          <a:lstStyle/>
          <a:p>
            <a:pPr algn="l">
              <a:lnSpc>
                <a:spcPct val="125000"/>
              </a:lnSpc>
            </a:pPr>
            <a:r>
              <a:rPr lang="en-US" sz="2400" dirty="0">
                <a:solidFill>
                  <a:srgbClr val="0057E4"/>
                </a:solidFill>
                <a:latin typeface="Source Han Serif SC" panose="02020400000000000000" pitchFamily="18" charset="-128"/>
                <a:ea typeface="Source Han Serif SC" panose="02020400000000000000" pitchFamily="18" charset="-128"/>
                <a:cs typeface="OPPO Sans 4.0"/>
              </a:rPr>
              <a:t>%</a:t>
            </a:r>
            <a:endParaRPr lang="en-US" sz="2400" dirty="0">
              <a:latin typeface="Source Han Serif SC" panose="02020400000000000000" pitchFamily="18" charset="-128"/>
              <a:ea typeface="Source Han Serif SC" panose="02020400000000000000" pitchFamily="18" charset="-128"/>
            </a:endParaRPr>
          </a:p>
        </p:txBody>
      </p:sp>
      <p:sp>
        <p:nvSpPr>
          <p:cNvPr id="16" name="Text 31">
            <a:extLst>
              <a:ext uri="{FF2B5EF4-FFF2-40B4-BE49-F238E27FC236}">
                <a16:creationId xmlns:a16="http://schemas.microsoft.com/office/drawing/2014/main" id="{77E6945C-B190-A6A2-6228-64E6812EB72C}"/>
              </a:ext>
            </a:extLst>
          </p:cNvPr>
          <p:cNvSpPr txBox="1"/>
          <p:nvPr/>
        </p:nvSpPr>
        <p:spPr>
          <a:xfrm>
            <a:off x="1699344" y="11216278"/>
            <a:ext cx="4117825" cy="382444"/>
          </a:xfrm>
          <a:prstGeom prst="rect">
            <a:avLst/>
          </a:prstGeom>
          <a:noFill/>
          <a:ln/>
        </p:spPr>
        <p:txBody>
          <a:bodyPr wrap="square" lIns="0" tIns="0" rIns="0" bIns="0" rtlCol="0" anchor="ctr">
            <a:noAutofit/>
          </a:bodyPr>
          <a:lstStyle/>
          <a:p>
            <a:pPr algn="l">
              <a:lnSpc>
                <a:spcPct val="125000"/>
              </a:lnSpc>
            </a:pPr>
            <a:r>
              <a:rPr lang="en-US" sz="2000" dirty="0">
                <a:solidFill>
                  <a:srgbClr val="1A2A3A">
                    <a:alpha val="70000"/>
                  </a:srgbClr>
                </a:solidFill>
                <a:latin typeface="Source Han Serif SC" panose="02020400000000000000" pitchFamily="18" charset="-128"/>
                <a:ea typeface="Source Han Serif SC" panose="02020400000000000000" pitchFamily="18" charset="-128"/>
                <a:cs typeface="Source Han Sans SC"/>
              </a:rPr>
              <a:t>稳步提升</a:t>
            </a:r>
            <a:endParaRPr lang="en-US" sz="2000" dirty="0">
              <a:latin typeface="Source Han Serif SC" panose="02020400000000000000" pitchFamily="18" charset="-128"/>
              <a:ea typeface="Source Han Serif SC" panose="02020400000000000000" pitchFamily="18" charset="-128"/>
            </a:endParaRPr>
          </a:p>
        </p:txBody>
      </p:sp>
      <p:pic>
        <p:nvPicPr>
          <p:cNvPr id="17" name="Image 32">
            <a:extLst>
              <a:ext uri="{FF2B5EF4-FFF2-40B4-BE49-F238E27FC236}">
                <a16:creationId xmlns:a16="http://schemas.microsoft.com/office/drawing/2014/main" id="{410BDFBD-FC74-19A6-1720-91D3EB9DA1A9}"/>
              </a:ext>
            </a:extLst>
          </p:cNvPr>
          <p:cNvPicPr>
            <a:picLocks/>
          </p:cNvPicPr>
          <p:nvPr/>
        </p:nvPicPr>
        <p:blipFill>
          <a:blip r:embed="rId4"/>
          <a:stretch>
            <a:fillRect/>
          </a:stretch>
        </p:blipFill>
        <p:spPr>
          <a:xfrm>
            <a:off x="1385546" y="11280018"/>
            <a:ext cx="235349" cy="235349"/>
          </a:xfrm>
          <a:prstGeom prst="rect">
            <a:avLst/>
          </a:prstGeom>
        </p:spPr>
      </p:pic>
      <p:pic>
        <p:nvPicPr>
          <p:cNvPr id="18" name="Image 33">
            <a:extLst>
              <a:ext uri="{FF2B5EF4-FFF2-40B4-BE49-F238E27FC236}">
                <a16:creationId xmlns:a16="http://schemas.microsoft.com/office/drawing/2014/main" id="{663967C4-44DE-A9FC-CFE5-FAF23A413780}"/>
              </a:ext>
            </a:extLst>
          </p:cNvPr>
          <p:cNvPicPr>
            <a:picLocks/>
          </p:cNvPicPr>
          <p:nvPr/>
        </p:nvPicPr>
        <p:blipFill>
          <a:blip r:embed="rId5"/>
          <a:stretch>
            <a:fillRect/>
          </a:stretch>
        </p:blipFill>
        <p:spPr>
          <a:xfrm>
            <a:off x="836397" y="9287983"/>
            <a:ext cx="77665" cy="2653564"/>
          </a:xfrm>
          <a:prstGeom prst="rect">
            <a:avLst/>
          </a:prstGeom>
        </p:spPr>
      </p:pic>
      <p:sp>
        <p:nvSpPr>
          <p:cNvPr id="19" name="Shape 34">
            <a:extLst>
              <a:ext uri="{FF2B5EF4-FFF2-40B4-BE49-F238E27FC236}">
                <a16:creationId xmlns:a16="http://schemas.microsoft.com/office/drawing/2014/main" id="{C44CCED9-807E-C8F8-A9E3-AF5D23F12410}"/>
              </a:ext>
            </a:extLst>
          </p:cNvPr>
          <p:cNvSpPr/>
          <p:nvPr/>
        </p:nvSpPr>
        <p:spPr>
          <a:xfrm>
            <a:off x="6602454" y="9255035"/>
            <a:ext cx="5393421" cy="2745741"/>
          </a:xfrm>
          <a:prstGeom prst="roundRect">
            <a:avLst>
              <a:gd name="adj" fmla="val 5714"/>
            </a:avLst>
          </a:prstGeom>
          <a:solidFill>
            <a:srgbClr val="FFFFFF"/>
          </a:solidFill>
          <a:ln w="12700">
            <a:solidFill>
              <a:srgbClr val="1A3D83">
                <a:alpha val="10000"/>
              </a:srgbClr>
            </a:solidFill>
          </a:ln>
        </p:spPr>
        <p:txBody>
          <a:bodyPr/>
          <a:lstStyle/>
          <a:p>
            <a:endParaRPr lang="zh-CN" altLang="en-US"/>
          </a:p>
        </p:txBody>
      </p:sp>
      <p:sp>
        <p:nvSpPr>
          <p:cNvPr id="20" name="Text 35">
            <a:extLst>
              <a:ext uri="{FF2B5EF4-FFF2-40B4-BE49-F238E27FC236}">
                <a16:creationId xmlns:a16="http://schemas.microsoft.com/office/drawing/2014/main" id="{0D528F51-078B-A133-B105-32A3507E2921}"/>
              </a:ext>
            </a:extLst>
          </p:cNvPr>
          <p:cNvSpPr txBox="1"/>
          <p:nvPr/>
        </p:nvSpPr>
        <p:spPr>
          <a:xfrm>
            <a:off x="7171215" y="9676703"/>
            <a:ext cx="4431626" cy="411861"/>
          </a:xfrm>
          <a:prstGeom prst="rect">
            <a:avLst/>
          </a:prstGeom>
          <a:noFill/>
          <a:ln/>
        </p:spPr>
        <p:txBody>
          <a:bodyPr wrap="square" lIns="0" tIns="0" rIns="0" bIns="0" rtlCol="0" anchor="ctr">
            <a:noAutofit/>
          </a:bodyPr>
          <a:lstStyle/>
          <a:p>
            <a:pPr algn="l">
              <a:lnSpc>
                <a:spcPct val="125000"/>
              </a:lnSpc>
            </a:pPr>
            <a:r>
              <a:rPr lang="en-US" sz="2400" dirty="0">
                <a:solidFill>
                  <a:srgbClr val="1A3D83"/>
                </a:solidFill>
                <a:latin typeface="Source Han Serif SC" panose="02020400000000000000" pitchFamily="18" charset="-128"/>
                <a:ea typeface="Source Han Serif SC" panose="02020400000000000000" pitchFamily="18" charset="-128"/>
                <a:cs typeface="Source Han Sans SC"/>
              </a:rPr>
              <a:t>农村居民收入增速</a:t>
            </a:r>
            <a:endParaRPr lang="en-US" sz="2400" dirty="0">
              <a:latin typeface="Source Han Serif SC" panose="02020400000000000000" pitchFamily="18" charset="-128"/>
              <a:ea typeface="Source Han Serif SC" panose="02020400000000000000" pitchFamily="18" charset="-128"/>
            </a:endParaRPr>
          </a:p>
        </p:txBody>
      </p:sp>
      <p:sp>
        <p:nvSpPr>
          <p:cNvPr id="23" name="Text 38">
            <a:extLst>
              <a:ext uri="{FF2B5EF4-FFF2-40B4-BE49-F238E27FC236}">
                <a16:creationId xmlns:a16="http://schemas.microsoft.com/office/drawing/2014/main" id="{7CE4A9BC-61C0-5DF8-363D-6BDBBF313D80}"/>
              </a:ext>
            </a:extLst>
          </p:cNvPr>
          <p:cNvSpPr txBox="1"/>
          <p:nvPr/>
        </p:nvSpPr>
        <p:spPr>
          <a:xfrm>
            <a:off x="7485014" y="11216278"/>
            <a:ext cx="4015390" cy="382444"/>
          </a:xfrm>
          <a:prstGeom prst="rect">
            <a:avLst/>
          </a:prstGeom>
          <a:noFill/>
          <a:ln/>
        </p:spPr>
        <p:txBody>
          <a:bodyPr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25000"/>
              </a:lnSpc>
              <a:defRPr sz="2000">
                <a:solidFill>
                  <a:srgbClr val="1A2A3A">
                    <a:alpha val="70000"/>
                  </a:srgbClr>
                </a:solidFill>
                <a:latin typeface="Source Han Serif SC" panose="02020400000000000000" pitchFamily="18" charset="-128"/>
                <a:ea typeface="Source Han Serif SC" panose="02020400000000000000" pitchFamily="18" charset="-128"/>
                <a:cs typeface="Source Han Sans SC"/>
              </a:defRPr>
            </a:lvl1pPr>
          </a:lstStyle>
          <a:p>
            <a:r>
              <a:rPr lang="en-US" dirty="0" err="1"/>
              <a:t>高于城镇居民</a:t>
            </a:r>
            <a:endParaRPr lang="en-US" dirty="0"/>
          </a:p>
        </p:txBody>
      </p:sp>
      <p:pic>
        <p:nvPicPr>
          <p:cNvPr id="24" name="Image 39">
            <a:extLst>
              <a:ext uri="{FF2B5EF4-FFF2-40B4-BE49-F238E27FC236}">
                <a16:creationId xmlns:a16="http://schemas.microsoft.com/office/drawing/2014/main" id="{240EEF1A-1357-0036-4EC9-BF7725A752A1}"/>
              </a:ext>
            </a:extLst>
          </p:cNvPr>
          <p:cNvPicPr>
            <a:picLocks/>
          </p:cNvPicPr>
          <p:nvPr/>
        </p:nvPicPr>
        <p:blipFill>
          <a:blip r:embed="rId4"/>
          <a:stretch>
            <a:fillRect/>
          </a:stretch>
        </p:blipFill>
        <p:spPr>
          <a:xfrm>
            <a:off x="7171215" y="11280018"/>
            <a:ext cx="235349" cy="235349"/>
          </a:xfrm>
          <a:prstGeom prst="rect">
            <a:avLst/>
          </a:prstGeom>
        </p:spPr>
      </p:pic>
      <p:pic>
        <p:nvPicPr>
          <p:cNvPr id="25" name="Image 40">
            <a:extLst>
              <a:ext uri="{FF2B5EF4-FFF2-40B4-BE49-F238E27FC236}">
                <a16:creationId xmlns:a16="http://schemas.microsoft.com/office/drawing/2014/main" id="{6CFA870E-10BF-D43A-36AF-27EB79BFE959}"/>
              </a:ext>
            </a:extLst>
          </p:cNvPr>
          <p:cNvPicPr>
            <a:picLocks/>
          </p:cNvPicPr>
          <p:nvPr/>
        </p:nvPicPr>
        <p:blipFill>
          <a:blip r:embed="rId5"/>
          <a:stretch>
            <a:fillRect/>
          </a:stretch>
        </p:blipFill>
        <p:spPr>
          <a:xfrm>
            <a:off x="6622067" y="9287983"/>
            <a:ext cx="77665" cy="2653564"/>
          </a:xfrm>
          <a:prstGeom prst="rect">
            <a:avLst/>
          </a:prstGeom>
        </p:spPr>
      </p:pic>
      <p:sp>
        <p:nvSpPr>
          <p:cNvPr id="26" name="Shape 41">
            <a:extLst>
              <a:ext uri="{FF2B5EF4-FFF2-40B4-BE49-F238E27FC236}">
                <a16:creationId xmlns:a16="http://schemas.microsoft.com/office/drawing/2014/main" id="{DA7564E1-1A81-C417-2A2A-AD2FB9B379B1}"/>
              </a:ext>
            </a:extLst>
          </p:cNvPr>
          <p:cNvSpPr/>
          <p:nvPr/>
        </p:nvSpPr>
        <p:spPr>
          <a:xfrm>
            <a:off x="12388124" y="9255035"/>
            <a:ext cx="5393421" cy="2745741"/>
          </a:xfrm>
          <a:prstGeom prst="roundRect">
            <a:avLst>
              <a:gd name="adj" fmla="val 5714"/>
            </a:avLst>
          </a:prstGeom>
          <a:solidFill>
            <a:srgbClr val="FFFFFF"/>
          </a:solidFill>
          <a:ln w="12700">
            <a:solidFill>
              <a:srgbClr val="1A3D83">
                <a:alpha val="10000"/>
              </a:srgbClr>
            </a:solidFill>
          </a:ln>
        </p:spPr>
        <p:txBody>
          <a:bodyPr/>
          <a:lstStyle/>
          <a:p>
            <a:endParaRPr lang="zh-CN" altLang="en-US"/>
          </a:p>
        </p:txBody>
      </p:sp>
      <p:sp>
        <p:nvSpPr>
          <p:cNvPr id="27" name="Text 42">
            <a:extLst>
              <a:ext uri="{FF2B5EF4-FFF2-40B4-BE49-F238E27FC236}">
                <a16:creationId xmlns:a16="http://schemas.microsoft.com/office/drawing/2014/main" id="{5D017828-A0DE-486A-C3B6-7ED5BF43F988}"/>
              </a:ext>
            </a:extLst>
          </p:cNvPr>
          <p:cNvSpPr txBox="1"/>
          <p:nvPr/>
        </p:nvSpPr>
        <p:spPr>
          <a:xfrm>
            <a:off x="12956885" y="9676703"/>
            <a:ext cx="4444722" cy="411861"/>
          </a:xfrm>
          <a:prstGeom prst="rect">
            <a:avLst/>
          </a:prstGeom>
          <a:noFill/>
          <a:ln/>
        </p:spPr>
        <p:txBody>
          <a:bodyPr wrap="square" lIns="0" tIns="0" rIns="0" bIns="0" rtlCol="0" anchor="ctr">
            <a:noAutofit/>
          </a:bodyPr>
          <a:lstStyle/>
          <a:p>
            <a:pPr algn="l">
              <a:lnSpc>
                <a:spcPct val="125000"/>
              </a:lnSpc>
            </a:pPr>
            <a:r>
              <a:rPr lang="en-US" sz="2400" dirty="0">
                <a:solidFill>
                  <a:srgbClr val="1A3D83"/>
                </a:solidFill>
                <a:latin typeface="Source Han Serif SC" panose="02020400000000000000" pitchFamily="18" charset="-128"/>
                <a:ea typeface="Source Han Serif SC" panose="02020400000000000000" pitchFamily="18" charset="-128"/>
                <a:cs typeface="Source Han Sans SC"/>
              </a:rPr>
              <a:t>城乡收入比</a:t>
            </a:r>
            <a:endParaRPr lang="en-US" sz="2400" dirty="0">
              <a:latin typeface="Source Han Serif SC" panose="02020400000000000000" pitchFamily="18" charset="-128"/>
              <a:ea typeface="Source Han Serif SC" panose="02020400000000000000" pitchFamily="18" charset="-128"/>
            </a:endParaRPr>
          </a:p>
        </p:txBody>
      </p:sp>
      <p:sp>
        <p:nvSpPr>
          <p:cNvPr id="30" name="Text 45">
            <a:extLst>
              <a:ext uri="{FF2B5EF4-FFF2-40B4-BE49-F238E27FC236}">
                <a16:creationId xmlns:a16="http://schemas.microsoft.com/office/drawing/2014/main" id="{409BFAC8-9C86-12CA-470B-D26E71F155F1}"/>
              </a:ext>
            </a:extLst>
          </p:cNvPr>
          <p:cNvSpPr txBox="1"/>
          <p:nvPr/>
        </p:nvSpPr>
        <p:spPr>
          <a:xfrm>
            <a:off x="13270683" y="11216278"/>
            <a:ext cx="4117827" cy="382444"/>
          </a:xfrm>
          <a:prstGeom prst="rect">
            <a:avLst/>
          </a:prstGeom>
          <a:noFill/>
          <a:ln/>
        </p:spPr>
        <p:txBody>
          <a:bodyPr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25000"/>
              </a:lnSpc>
              <a:defRPr sz="2000">
                <a:solidFill>
                  <a:srgbClr val="1A2A3A">
                    <a:alpha val="70000"/>
                  </a:srgbClr>
                </a:solidFill>
                <a:latin typeface="Source Han Serif SC" panose="02020400000000000000" pitchFamily="18" charset="-128"/>
                <a:ea typeface="Source Han Serif SC" panose="02020400000000000000" pitchFamily="18" charset="-128"/>
                <a:cs typeface="Source Han Sans SC"/>
              </a:defRPr>
            </a:lvl1pPr>
          </a:lstStyle>
          <a:p>
            <a:r>
              <a:rPr lang="en-US" dirty="0"/>
              <a:t>较2020年持续缩小</a:t>
            </a:r>
          </a:p>
        </p:txBody>
      </p:sp>
      <p:pic>
        <p:nvPicPr>
          <p:cNvPr id="31" name="Image 46">
            <a:extLst>
              <a:ext uri="{FF2B5EF4-FFF2-40B4-BE49-F238E27FC236}">
                <a16:creationId xmlns:a16="http://schemas.microsoft.com/office/drawing/2014/main" id="{8A3A548E-F01A-66A8-094F-A7CB26B35964}"/>
              </a:ext>
            </a:extLst>
          </p:cNvPr>
          <p:cNvPicPr>
            <a:picLocks/>
          </p:cNvPicPr>
          <p:nvPr/>
        </p:nvPicPr>
        <p:blipFill>
          <a:blip r:embed="rId6"/>
          <a:stretch>
            <a:fillRect/>
          </a:stretch>
        </p:blipFill>
        <p:spPr>
          <a:xfrm>
            <a:off x="12956885" y="11280018"/>
            <a:ext cx="235349" cy="235349"/>
          </a:xfrm>
          <a:prstGeom prst="rect">
            <a:avLst/>
          </a:prstGeom>
        </p:spPr>
      </p:pic>
      <p:pic>
        <p:nvPicPr>
          <p:cNvPr id="32" name="Image 47">
            <a:extLst>
              <a:ext uri="{FF2B5EF4-FFF2-40B4-BE49-F238E27FC236}">
                <a16:creationId xmlns:a16="http://schemas.microsoft.com/office/drawing/2014/main" id="{649FEA9C-AFC4-8DAF-C564-93B1A7316EBC}"/>
              </a:ext>
            </a:extLst>
          </p:cNvPr>
          <p:cNvPicPr>
            <a:picLocks/>
          </p:cNvPicPr>
          <p:nvPr/>
        </p:nvPicPr>
        <p:blipFill>
          <a:blip r:embed="rId7"/>
          <a:stretch>
            <a:fillRect/>
          </a:stretch>
        </p:blipFill>
        <p:spPr>
          <a:xfrm>
            <a:off x="12407736" y="9287983"/>
            <a:ext cx="77665" cy="2653564"/>
          </a:xfrm>
          <a:prstGeom prst="rect">
            <a:avLst/>
          </a:prstGeom>
        </p:spPr>
      </p:pic>
      <p:sp>
        <p:nvSpPr>
          <p:cNvPr id="33" name="Shape 48">
            <a:extLst>
              <a:ext uri="{FF2B5EF4-FFF2-40B4-BE49-F238E27FC236}">
                <a16:creationId xmlns:a16="http://schemas.microsoft.com/office/drawing/2014/main" id="{1D1DC631-DA7C-9AA5-1AE6-BF00BDA1FB9F}"/>
              </a:ext>
            </a:extLst>
          </p:cNvPr>
          <p:cNvSpPr/>
          <p:nvPr/>
        </p:nvSpPr>
        <p:spPr>
          <a:xfrm>
            <a:off x="18173793" y="9255035"/>
            <a:ext cx="5393421" cy="2745741"/>
          </a:xfrm>
          <a:prstGeom prst="roundRect">
            <a:avLst>
              <a:gd name="adj" fmla="val 5714"/>
            </a:avLst>
          </a:prstGeom>
          <a:solidFill>
            <a:srgbClr val="FFFFFF"/>
          </a:solidFill>
          <a:ln w="12700">
            <a:solidFill>
              <a:srgbClr val="1A3D83">
                <a:alpha val="10000"/>
              </a:srgbClr>
            </a:solidFill>
          </a:ln>
        </p:spPr>
        <p:txBody>
          <a:bodyPr/>
          <a:lstStyle/>
          <a:p>
            <a:endParaRPr lang="zh-CN" altLang="en-US"/>
          </a:p>
        </p:txBody>
      </p:sp>
      <p:sp>
        <p:nvSpPr>
          <p:cNvPr id="34" name="Text 49">
            <a:extLst>
              <a:ext uri="{FF2B5EF4-FFF2-40B4-BE49-F238E27FC236}">
                <a16:creationId xmlns:a16="http://schemas.microsoft.com/office/drawing/2014/main" id="{9A7D147E-C364-9AF4-FCAF-017FA228B9AE}"/>
              </a:ext>
            </a:extLst>
          </p:cNvPr>
          <p:cNvSpPr txBox="1"/>
          <p:nvPr/>
        </p:nvSpPr>
        <p:spPr>
          <a:xfrm>
            <a:off x="18742554" y="9676703"/>
            <a:ext cx="4287754" cy="411861"/>
          </a:xfrm>
          <a:prstGeom prst="rect">
            <a:avLst/>
          </a:prstGeom>
          <a:noFill/>
          <a:ln/>
        </p:spPr>
        <p:txBody>
          <a:bodyPr wrap="square" lIns="0" tIns="0" rIns="0" bIns="0" rtlCol="0" anchor="ctr">
            <a:noAutofit/>
          </a:bodyPr>
          <a:lstStyle/>
          <a:p>
            <a:pPr algn="l">
              <a:lnSpc>
                <a:spcPct val="125000"/>
              </a:lnSpc>
            </a:pPr>
            <a:r>
              <a:rPr lang="en-US" sz="2400" dirty="0">
                <a:solidFill>
                  <a:srgbClr val="1A3D83"/>
                </a:solidFill>
                <a:latin typeface="Source Han Serif SC" panose="02020400000000000000" pitchFamily="18" charset="-128"/>
                <a:ea typeface="Source Han Serif SC" panose="02020400000000000000" pitchFamily="18" charset="-128"/>
                <a:cs typeface="Source Han Sans SC"/>
              </a:rPr>
              <a:t>恩格尔系数</a:t>
            </a:r>
            <a:endParaRPr lang="en-US" sz="2400" dirty="0">
              <a:latin typeface="Source Han Serif SC" panose="02020400000000000000" pitchFamily="18" charset="-128"/>
              <a:ea typeface="Source Han Serif SC" panose="02020400000000000000" pitchFamily="18" charset="-128"/>
            </a:endParaRPr>
          </a:p>
        </p:txBody>
      </p:sp>
      <p:sp>
        <p:nvSpPr>
          <p:cNvPr id="35" name="Text 50">
            <a:extLst>
              <a:ext uri="{FF2B5EF4-FFF2-40B4-BE49-F238E27FC236}">
                <a16:creationId xmlns:a16="http://schemas.microsoft.com/office/drawing/2014/main" id="{EDAF43FD-A177-76EE-6AC9-5286D7E50578}"/>
              </a:ext>
            </a:extLst>
          </p:cNvPr>
          <p:cNvSpPr txBox="1"/>
          <p:nvPr/>
        </p:nvSpPr>
        <p:spPr>
          <a:xfrm>
            <a:off x="18742554" y="10296785"/>
            <a:ext cx="1537071" cy="833530"/>
          </a:xfrm>
          <a:prstGeom prst="rect">
            <a:avLst/>
          </a:prstGeom>
          <a:noFill/>
          <a:ln/>
        </p:spPr>
        <p:txBody>
          <a:bodyPr wrap="square" lIns="0" tIns="0" rIns="0" bIns="0" rtlCol="0" anchor="ctr">
            <a:noAutofit/>
          </a:bodyPr>
          <a:lstStyle/>
          <a:p>
            <a:pPr algn="l">
              <a:lnSpc>
                <a:spcPct val="83333"/>
              </a:lnSpc>
            </a:pPr>
            <a:r>
              <a:rPr lang="en-US" sz="5400" dirty="0">
                <a:solidFill>
                  <a:srgbClr val="1A3D83"/>
                </a:solidFill>
                <a:latin typeface="Source Han Serif SC" panose="02020400000000000000" pitchFamily="18" charset="-128"/>
                <a:ea typeface="Source Han Serif SC" panose="02020400000000000000" pitchFamily="18" charset="-128"/>
                <a:cs typeface="OPPO Sans 4.0"/>
              </a:rPr>
              <a:t>28.5</a:t>
            </a:r>
            <a:endParaRPr lang="en-US" sz="5400" dirty="0">
              <a:latin typeface="Source Han Serif SC" panose="02020400000000000000" pitchFamily="18" charset="-128"/>
              <a:ea typeface="Source Han Serif SC" panose="02020400000000000000" pitchFamily="18" charset="-128"/>
            </a:endParaRPr>
          </a:p>
        </p:txBody>
      </p:sp>
      <p:sp>
        <p:nvSpPr>
          <p:cNvPr id="36" name="Text 51">
            <a:extLst>
              <a:ext uri="{FF2B5EF4-FFF2-40B4-BE49-F238E27FC236}">
                <a16:creationId xmlns:a16="http://schemas.microsoft.com/office/drawing/2014/main" id="{1F06CCF0-DE42-0AB3-3FA7-F9AE7912CB8F}"/>
              </a:ext>
            </a:extLst>
          </p:cNvPr>
          <p:cNvSpPr txBox="1"/>
          <p:nvPr/>
        </p:nvSpPr>
        <p:spPr>
          <a:xfrm>
            <a:off x="20431193" y="10539650"/>
            <a:ext cx="290968" cy="470699"/>
          </a:xfrm>
          <a:prstGeom prst="rect">
            <a:avLst/>
          </a:prstGeom>
          <a:noFill/>
          <a:ln/>
        </p:spPr>
        <p:txBody>
          <a:bodyPr wrap="square" lIns="0" tIns="0" rIns="0" bIns="0" rtlCol="0" anchor="ctr">
            <a:noAutofit/>
          </a:bodyPr>
          <a:lstStyle/>
          <a:p>
            <a:pPr algn="l">
              <a:lnSpc>
                <a:spcPct val="125000"/>
              </a:lnSpc>
            </a:pPr>
            <a:r>
              <a:rPr lang="en-US" sz="2400" dirty="0">
                <a:solidFill>
                  <a:srgbClr val="1A3D83"/>
                </a:solidFill>
                <a:latin typeface="Source Han Serif SC" panose="02020400000000000000" pitchFamily="18" charset="-128"/>
                <a:ea typeface="Source Han Serif SC" panose="02020400000000000000" pitchFamily="18" charset="-128"/>
                <a:cs typeface="OPPO Sans 4.0"/>
              </a:rPr>
              <a:t>%</a:t>
            </a:r>
            <a:endParaRPr lang="en-US" sz="2400" dirty="0">
              <a:latin typeface="Source Han Serif SC" panose="02020400000000000000" pitchFamily="18" charset="-128"/>
              <a:ea typeface="Source Han Serif SC" panose="02020400000000000000" pitchFamily="18" charset="-128"/>
            </a:endParaRPr>
          </a:p>
        </p:txBody>
      </p:sp>
      <p:sp>
        <p:nvSpPr>
          <p:cNvPr id="37" name="Text 52">
            <a:extLst>
              <a:ext uri="{FF2B5EF4-FFF2-40B4-BE49-F238E27FC236}">
                <a16:creationId xmlns:a16="http://schemas.microsoft.com/office/drawing/2014/main" id="{1C8232DE-FFB4-4E6E-688B-E8F87500C7F4}"/>
              </a:ext>
            </a:extLst>
          </p:cNvPr>
          <p:cNvSpPr txBox="1"/>
          <p:nvPr/>
        </p:nvSpPr>
        <p:spPr>
          <a:xfrm>
            <a:off x="19056353" y="11216278"/>
            <a:ext cx="4082616" cy="382444"/>
          </a:xfrm>
          <a:prstGeom prst="rect">
            <a:avLst/>
          </a:prstGeom>
          <a:noFill/>
          <a:ln/>
        </p:spPr>
        <p:txBody>
          <a:bodyPr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25000"/>
              </a:lnSpc>
              <a:defRPr sz="2000">
                <a:solidFill>
                  <a:srgbClr val="1A2A3A">
                    <a:alpha val="70000"/>
                  </a:srgbClr>
                </a:solidFill>
                <a:latin typeface="Source Han Serif SC" panose="02020400000000000000" pitchFamily="18" charset="-128"/>
                <a:ea typeface="Source Han Serif SC" panose="02020400000000000000" pitchFamily="18" charset="-128"/>
                <a:cs typeface="Source Han Sans SC"/>
              </a:defRPr>
            </a:lvl1pPr>
          </a:lstStyle>
          <a:p>
            <a:r>
              <a:rPr lang="en-US"/>
              <a:t>消费结构显著优化</a:t>
            </a:r>
            <a:endParaRPr lang="en-US" dirty="0"/>
          </a:p>
        </p:txBody>
      </p:sp>
      <p:pic>
        <p:nvPicPr>
          <p:cNvPr id="38" name="Image 53">
            <a:extLst>
              <a:ext uri="{FF2B5EF4-FFF2-40B4-BE49-F238E27FC236}">
                <a16:creationId xmlns:a16="http://schemas.microsoft.com/office/drawing/2014/main" id="{56EBF359-7FDB-81EF-D8DC-3E6AEF76C217}"/>
              </a:ext>
            </a:extLst>
          </p:cNvPr>
          <p:cNvPicPr>
            <a:picLocks/>
          </p:cNvPicPr>
          <p:nvPr/>
        </p:nvPicPr>
        <p:blipFill>
          <a:blip r:embed="rId6"/>
          <a:stretch>
            <a:fillRect/>
          </a:stretch>
        </p:blipFill>
        <p:spPr>
          <a:xfrm>
            <a:off x="18742554" y="11280018"/>
            <a:ext cx="235349" cy="235349"/>
          </a:xfrm>
          <a:prstGeom prst="rect">
            <a:avLst/>
          </a:prstGeom>
        </p:spPr>
      </p:pic>
      <p:pic>
        <p:nvPicPr>
          <p:cNvPr id="39" name="Image 54">
            <a:extLst>
              <a:ext uri="{FF2B5EF4-FFF2-40B4-BE49-F238E27FC236}">
                <a16:creationId xmlns:a16="http://schemas.microsoft.com/office/drawing/2014/main" id="{41AB2169-1B0F-9465-59FC-5E7AAB46B055}"/>
              </a:ext>
            </a:extLst>
          </p:cNvPr>
          <p:cNvPicPr>
            <a:picLocks/>
          </p:cNvPicPr>
          <p:nvPr/>
        </p:nvPicPr>
        <p:blipFill>
          <a:blip r:embed="rId7"/>
          <a:stretch>
            <a:fillRect/>
          </a:stretch>
        </p:blipFill>
        <p:spPr>
          <a:xfrm>
            <a:off x="18193406" y="9287983"/>
            <a:ext cx="77665" cy="2653564"/>
          </a:xfrm>
          <a:prstGeom prst="rect">
            <a:avLst/>
          </a:prstGeom>
        </p:spPr>
      </p:pic>
      <p:sp>
        <p:nvSpPr>
          <p:cNvPr id="41" name="指导摘要">
            <a:extLst>
              <a:ext uri="{FF2B5EF4-FFF2-40B4-BE49-F238E27FC236}">
                <a16:creationId xmlns:a16="http://schemas.microsoft.com/office/drawing/2014/main" id="{7DA62DC9-6683-5EB0-F7C2-C13BC18A6EEA}"/>
              </a:ext>
            </a:extLst>
          </p:cNvPr>
          <p:cNvSpPr txBox="1"/>
          <p:nvPr/>
        </p:nvSpPr>
        <p:spPr>
          <a:xfrm>
            <a:off x="1299373" y="906129"/>
            <a:ext cx="13686760" cy="1169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algn="l" defTabSz="1828800">
              <a:defRPr sz="6400" b="0">
                <a:latin typeface="PingFang SC Light"/>
                <a:ea typeface="PingFang SC Light"/>
                <a:cs typeface="PingFang SC Light"/>
                <a:sym typeface="PingFang SC Light"/>
              </a:defRPr>
            </a:lvl1pPr>
          </a:lstStyle>
          <a:p>
            <a:r>
              <a:rPr lang="en-US" altLang="zh-CN" b="1" dirty="0">
                <a:latin typeface="Source Han Serif SC Heavy" panose="02020400000000000000" pitchFamily="18" charset="-128"/>
                <a:ea typeface="Source Han Serif SC Heavy" panose="02020400000000000000" pitchFamily="18" charset="-128"/>
              </a:rPr>
              <a:t>2025</a:t>
            </a:r>
            <a:r>
              <a:rPr lang="zh-CN" altLang="en-US" b="1" dirty="0">
                <a:latin typeface="Source Han Serif SC Heavy" panose="02020400000000000000" pitchFamily="18" charset="-128"/>
                <a:ea typeface="Source Han Serif SC Heavy" panose="02020400000000000000" pitchFamily="18" charset="-128"/>
              </a:rPr>
              <a:t>年全体居民人均可支配收入增长</a:t>
            </a:r>
          </a:p>
        </p:txBody>
      </p:sp>
      <p:sp>
        <p:nvSpPr>
          <p:cNvPr id="42" name="Shape 6">
            <a:extLst>
              <a:ext uri="{FF2B5EF4-FFF2-40B4-BE49-F238E27FC236}">
                <a16:creationId xmlns:a16="http://schemas.microsoft.com/office/drawing/2014/main" id="{76BEA508-1782-38F9-B576-EEC725D94D2A}"/>
              </a:ext>
            </a:extLst>
          </p:cNvPr>
          <p:cNvSpPr/>
          <p:nvPr/>
        </p:nvSpPr>
        <p:spPr>
          <a:xfrm>
            <a:off x="1409701" y="2013307"/>
            <a:ext cx="1837956" cy="62371"/>
          </a:xfrm>
          <a:prstGeom prst="rect">
            <a:avLst/>
          </a:prstGeom>
          <a:solidFill>
            <a:srgbClr val="0057E4"/>
          </a:solidFill>
          <a:ln/>
        </p:spPr>
        <p:txBody>
          <a:bodyPr/>
          <a:lstStyle/>
          <a:p>
            <a:endParaRPr lang="zh-CN" altLang="en-US"/>
          </a:p>
        </p:txBody>
      </p:sp>
      <p:sp>
        <p:nvSpPr>
          <p:cNvPr id="47" name="Text 29">
            <a:extLst>
              <a:ext uri="{FF2B5EF4-FFF2-40B4-BE49-F238E27FC236}">
                <a16:creationId xmlns:a16="http://schemas.microsoft.com/office/drawing/2014/main" id="{21952C44-F107-A62D-9408-61CE6EF3C442}"/>
              </a:ext>
            </a:extLst>
          </p:cNvPr>
          <p:cNvSpPr txBox="1"/>
          <p:nvPr/>
        </p:nvSpPr>
        <p:spPr>
          <a:xfrm>
            <a:off x="7171215" y="10297152"/>
            <a:ext cx="1194525" cy="833530"/>
          </a:xfrm>
          <a:prstGeom prst="rect">
            <a:avLst/>
          </a:prstGeom>
          <a:noFill/>
          <a:ln/>
        </p:spPr>
        <p:txBody>
          <a:bodyPr wrap="square" lIns="0" tIns="0" rIns="0" bIns="0" rtlCol="0" anchor="ctr">
            <a:noAutofit/>
          </a:bodyPr>
          <a:lstStyle/>
          <a:p>
            <a:pPr algn="l">
              <a:lnSpc>
                <a:spcPct val="83333"/>
              </a:lnSpc>
            </a:pPr>
            <a:r>
              <a:rPr lang="en-US" altLang="zh-CN" sz="5400" dirty="0">
                <a:solidFill>
                  <a:srgbClr val="0057E4"/>
                </a:solidFill>
                <a:latin typeface="Source Han Serif SC" panose="02020400000000000000" pitchFamily="18" charset="-128"/>
                <a:ea typeface="Source Han Serif SC" panose="02020400000000000000" pitchFamily="18" charset="-128"/>
                <a:cs typeface="OPPO Sans 4.0"/>
              </a:rPr>
              <a:t>6</a:t>
            </a:r>
            <a:r>
              <a:rPr lang="en-US" sz="5400" dirty="0">
                <a:solidFill>
                  <a:srgbClr val="0057E4"/>
                </a:solidFill>
                <a:latin typeface="Source Han Serif SC" panose="02020400000000000000" pitchFamily="18" charset="-128"/>
                <a:ea typeface="Source Han Serif SC" panose="02020400000000000000" pitchFamily="18" charset="-128"/>
                <a:cs typeface="OPPO Sans 4.0"/>
              </a:rPr>
              <a:t>.</a:t>
            </a:r>
            <a:r>
              <a:rPr lang="en-US" altLang="zh-CN" sz="5400" dirty="0">
                <a:solidFill>
                  <a:srgbClr val="0057E4"/>
                </a:solidFill>
                <a:latin typeface="Source Han Serif SC" panose="02020400000000000000" pitchFamily="18" charset="-128"/>
                <a:ea typeface="Source Han Serif SC" panose="02020400000000000000" pitchFamily="18" charset="-128"/>
                <a:cs typeface="OPPO Sans 4.0"/>
              </a:rPr>
              <a:t>2</a:t>
            </a:r>
            <a:endParaRPr lang="en-US" sz="5400" dirty="0">
              <a:latin typeface="Source Han Serif SC" panose="02020400000000000000" pitchFamily="18" charset="-128"/>
              <a:ea typeface="Source Han Serif SC" panose="02020400000000000000" pitchFamily="18" charset="-128"/>
            </a:endParaRPr>
          </a:p>
        </p:txBody>
      </p:sp>
      <p:sp>
        <p:nvSpPr>
          <p:cNvPr id="48" name="Text 30">
            <a:extLst>
              <a:ext uri="{FF2B5EF4-FFF2-40B4-BE49-F238E27FC236}">
                <a16:creationId xmlns:a16="http://schemas.microsoft.com/office/drawing/2014/main" id="{5AF5526B-2979-FD70-30AC-410FDC2BCE0D}"/>
              </a:ext>
            </a:extLst>
          </p:cNvPr>
          <p:cNvSpPr txBox="1"/>
          <p:nvPr/>
        </p:nvSpPr>
        <p:spPr>
          <a:xfrm>
            <a:off x="8520721" y="10535999"/>
            <a:ext cx="290968" cy="470699"/>
          </a:xfrm>
          <a:prstGeom prst="rect">
            <a:avLst/>
          </a:prstGeom>
          <a:noFill/>
          <a:ln/>
        </p:spPr>
        <p:txBody>
          <a:bodyPr wrap="square" lIns="0" tIns="0" rIns="0" bIns="0" rtlCol="0" anchor="ctr">
            <a:noAutofit/>
          </a:bodyPr>
          <a:lstStyle/>
          <a:p>
            <a:pPr algn="l">
              <a:lnSpc>
                <a:spcPct val="125000"/>
              </a:lnSpc>
            </a:pPr>
            <a:r>
              <a:rPr lang="en-US" sz="2400" dirty="0">
                <a:solidFill>
                  <a:srgbClr val="0057E4"/>
                </a:solidFill>
                <a:latin typeface="Source Han Serif SC" panose="02020400000000000000" pitchFamily="18" charset="-128"/>
                <a:ea typeface="Source Han Serif SC" panose="02020400000000000000" pitchFamily="18" charset="-128"/>
                <a:cs typeface="OPPO Sans 4.0"/>
              </a:rPr>
              <a:t>%</a:t>
            </a:r>
            <a:endParaRPr lang="en-US" sz="2400" dirty="0">
              <a:latin typeface="Source Han Serif SC" panose="02020400000000000000" pitchFamily="18" charset="-128"/>
              <a:ea typeface="Source Han Serif SC" panose="02020400000000000000" pitchFamily="18" charset="-128"/>
            </a:endParaRPr>
          </a:p>
        </p:txBody>
      </p:sp>
      <p:sp>
        <p:nvSpPr>
          <p:cNvPr id="49" name="Text 29">
            <a:extLst>
              <a:ext uri="{FF2B5EF4-FFF2-40B4-BE49-F238E27FC236}">
                <a16:creationId xmlns:a16="http://schemas.microsoft.com/office/drawing/2014/main" id="{DE9917C1-092F-B7D6-0792-61687F833B00}"/>
              </a:ext>
            </a:extLst>
          </p:cNvPr>
          <p:cNvSpPr txBox="1"/>
          <p:nvPr/>
        </p:nvSpPr>
        <p:spPr>
          <a:xfrm>
            <a:off x="12877649" y="10296785"/>
            <a:ext cx="4510861" cy="833530"/>
          </a:xfrm>
          <a:prstGeom prst="rect">
            <a:avLst/>
          </a:prstGeom>
          <a:noFill/>
          <a:ln/>
        </p:spPr>
        <p:txBody>
          <a:bodyPr wrap="square" lIns="0" tIns="0" rIns="0" bIns="0" rtlCol="0" anchor="ctr">
            <a:noAutofit/>
          </a:bodyPr>
          <a:lstStyle/>
          <a:p>
            <a:pPr algn="l">
              <a:lnSpc>
                <a:spcPct val="83333"/>
              </a:lnSpc>
            </a:pPr>
            <a:r>
              <a:rPr lang="en-US" altLang="zh-CN" sz="5400" dirty="0">
                <a:solidFill>
                  <a:srgbClr val="0057E4"/>
                </a:solidFill>
                <a:latin typeface="Source Han Serif SC" panose="02020400000000000000" pitchFamily="18" charset="-128"/>
                <a:ea typeface="Source Han Serif SC" panose="02020400000000000000" pitchFamily="18" charset="-128"/>
                <a:cs typeface="OPPO Sans 4.0"/>
              </a:rPr>
              <a:t>2.35:1</a:t>
            </a:r>
            <a:endParaRPr lang="en-US" sz="5400" dirty="0">
              <a:latin typeface="Source Han Serif SC" panose="02020400000000000000" pitchFamily="18" charset="-128"/>
              <a:ea typeface="Source Han Serif SC" panose="02020400000000000000" pitchFamily="18"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F6612A0-7522-2E5B-E108-C2B577161F4E}"/>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9013" r="9015"/>
          <a:stretch>
            <a:fillRect/>
          </a:stretch>
        </p:blipFill>
        <p:spPr>
          <a:xfrm>
            <a:off x="0" y="0"/>
            <a:ext cx="24384000" cy="13716000"/>
          </a:xfrm>
          <a:prstGeom prst="rect">
            <a:avLst/>
          </a:prstGeom>
        </p:spPr>
      </p:pic>
      <p:sp>
        <p:nvSpPr>
          <p:cNvPr id="2" name="Shape 6">
            <a:extLst>
              <a:ext uri="{FF2B5EF4-FFF2-40B4-BE49-F238E27FC236}">
                <a16:creationId xmlns:a16="http://schemas.microsoft.com/office/drawing/2014/main" id="{448D1612-25D2-B607-2D1E-5EE1BDE210E5}"/>
              </a:ext>
            </a:extLst>
          </p:cNvPr>
          <p:cNvSpPr/>
          <p:nvPr/>
        </p:nvSpPr>
        <p:spPr>
          <a:xfrm>
            <a:off x="1121573" y="3034336"/>
            <a:ext cx="8655551" cy="9408208"/>
          </a:xfrm>
          <a:prstGeom prst="roundRect">
            <a:avLst>
              <a:gd name="adj" fmla="val 3478"/>
            </a:avLst>
          </a:prstGeom>
          <a:noFill/>
          <a:ln w="25400">
            <a:solidFill>
              <a:srgbClr val="0057E5"/>
            </a:solidFill>
          </a:ln>
        </p:spPr>
        <p:txBody>
          <a:bodyPr/>
          <a:lstStyle/>
          <a:p>
            <a:endParaRPr lang="zh-CN" altLang="en-US"/>
          </a:p>
        </p:txBody>
      </p:sp>
      <p:pic>
        <p:nvPicPr>
          <p:cNvPr id="4" name="Image 10">
            <a:extLst>
              <a:ext uri="{FF2B5EF4-FFF2-40B4-BE49-F238E27FC236}">
                <a16:creationId xmlns:a16="http://schemas.microsoft.com/office/drawing/2014/main" id="{E7DB1EC1-11A0-D063-DE24-DC09DC3F1479}"/>
              </a:ext>
            </a:extLst>
          </p:cNvPr>
          <p:cNvPicPr>
            <a:picLocks/>
          </p:cNvPicPr>
          <p:nvPr/>
        </p:nvPicPr>
        <p:blipFill>
          <a:blip r:embed="rId3"/>
          <a:stretch>
            <a:fillRect/>
          </a:stretch>
        </p:blipFill>
        <p:spPr>
          <a:xfrm>
            <a:off x="1403819" y="2752089"/>
            <a:ext cx="8655551" cy="9408208"/>
          </a:xfrm>
          <a:prstGeom prst="roundRect">
            <a:avLst>
              <a:gd name="adj" fmla="val 3478"/>
            </a:avLst>
          </a:prstGeom>
        </p:spPr>
      </p:pic>
      <p:sp>
        <p:nvSpPr>
          <p:cNvPr id="5" name="Shape 11">
            <a:extLst>
              <a:ext uri="{FF2B5EF4-FFF2-40B4-BE49-F238E27FC236}">
                <a16:creationId xmlns:a16="http://schemas.microsoft.com/office/drawing/2014/main" id="{716FCB54-E5F3-41E8-D1E3-1F0F3E0588DC}"/>
              </a:ext>
            </a:extLst>
          </p:cNvPr>
          <p:cNvSpPr/>
          <p:nvPr/>
        </p:nvSpPr>
        <p:spPr>
          <a:xfrm>
            <a:off x="10661496" y="2752089"/>
            <a:ext cx="13020960" cy="2310561"/>
          </a:xfrm>
          <a:prstGeom prst="roundRect">
            <a:avLst>
              <a:gd name="adj" fmla="val 9772"/>
            </a:avLst>
          </a:prstGeom>
          <a:solidFill>
            <a:schemeClr val="bg1"/>
          </a:solidFill>
          <a:ln/>
        </p:spPr>
        <p:txBody>
          <a:bodyPr/>
          <a:lstStyle/>
          <a:p>
            <a:endParaRPr lang="zh-CN" altLang="en-US"/>
          </a:p>
        </p:txBody>
      </p:sp>
      <p:sp>
        <p:nvSpPr>
          <p:cNvPr id="7" name="Shape 13">
            <a:extLst>
              <a:ext uri="{FF2B5EF4-FFF2-40B4-BE49-F238E27FC236}">
                <a16:creationId xmlns:a16="http://schemas.microsoft.com/office/drawing/2014/main" id="{A741E73E-DE08-7DDE-BDE5-EF56EEBC9A4A}"/>
              </a:ext>
            </a:extLst>
          </p:cNvPr>
          <p:cNvSpPr/>
          <p:nvPr/>
        </p:nvSpPr>
        <p:spPr>
          <a:xfrm>
            <a:off x="11113090" y="3128418"/>
            <a:ext cx="903188" cy="903188"/>
          </a:xfrm>
          <a:prstGeom prst="ellipse">
            <a:avLst/>
          </a:prstGeom>
          <a:solidFill>
            <a:srgbClr val="0057E4"/>
          </a:solidFill>
          <a:ln/>
        </p:spPr>
        <p:txBody>
          <a:bodyPr/>
          <a:lstStyle/>
          <a:p>
            <a:endParaRPr lang="zh-CN" altLang="en-US"/>
          </a:p>
        </p:txBody>
      </p:sp>
      <p:sp>
        <p:nvSpPr>
          <p:cNvPr id="8" name="Text 14">
            <a:extLst>
              <a:ext uri="{FF2B5EF4-FFF2-40B4-BE49-F238E27FC236}">
                <a16:creationId xmlns:a16="http://schemas.microsoft.com/office/drawing/2014/main" id="{4FB655D6-3F36-F472-E676-F64D33522A97}"/>
              </a:ext>
            </a:extLst>
          </p:cNvPr>
          <p:cNvSpPr txBox="1"/>
          <p:nvPr/>
        </p:nvSpPr>
        <p:spPr>
          <a:xfrm>
            <a:off x="11339678" y="3267874"/>
            <a:ext cx="462929" cy="677391"/>
          </a:xfrm>
          <a:prstGeom prst="rect">
            <a:avLst/>
          </a:prstGeom>
          <a:noFill/>
          <a:ln/>
        </p:spPr>
        <p:txBody>
          <a:bodyPr wrap="square" lIns="0" tIns="0" rIns="0" bIns="0" rtlCol="0" anchor="t">
            <a:noAutofit/>
          </a:bodyPr>
          <a:lstStyle/>
          <a:p>
            <a:pPr algn="l">
              <a:lnSpc>
                <a:spcPct val="125000"/>
              </a:lnSpc>
            </a:pPr>
            <a:r>
              <a:rPr lang="en-US" sz="3200" dirty="0">
                <a:solidFill>
                  <a:srgbClr val="FFFFFF"/>
                </a:solidFill>
                <a:latin typeface="Source Han Serif SC" panose="02020400000000000000" pitchFamily="18" charset="-128"/>
                <a:ea typeface="Source Han Serif SC" panose="02020400000000000000" pitchFamily="18" charset="-128"/>
                <a:cs typeface="OPPO Sans 4.0"/>
              </a:rPr>
              <a:t>01</a:t>
            </a:r>
            <a:endParaRPr lang="en-US" sz="3200" dirty="0">
              <a:latin typeface="Source Han Serif SC" panose="02020400000000000000" pitchFamily="18" charset="-128"/>
              <a:ea typeface="Source Han Serif SC" panose="02020400000000000000" pitchFamily="18" charset="-128"/>
            </a:endParaRPr>
          </a:p>
        </p:txBody>
      </p:sp>
      <p:sp>
        <p:nvSpPr>
          <p:cNvPr id="9" name="Text 15">
            <a:extLst>
              <a:ext uri="{FF2B5EF4-FFF2-40B4-BE49-F238E27FC236}">
                <a16:creationId xmlns:a16="http://schemas.microsoft.com/office/drawing/2014/main" id="{B2753762-4616-1916-A774-13670A6A8251}"/>
              </a:ext>
            </a:extLst>
          </p:cNvPr>
          <p:cNvSpPr txBox="1"/>
          <p:nvPr/>
        </p:nvSpPr>
        <p:spPr>
          <a:xfrm>
            <a:off x="12392606" y="3128418"/>
            <a:ext cx="10587575" cy="564493"/>
          </a:xfrm>
          <a:prstGeom prst="rect">
            <a:avLst/>
          </a:prstGeom>
          <a:noFill/>
          <a:ln/>
        </p:spPr>
        <p:txBody>
          <a:bodyPr wrap="square" lIns="0" tIns="0" rIns="0" bIns="0" rtlCol="0" anchor="ctr">
            <a:noAutofit/>
          </a:bodyPr>
          <a:lstStyle/>
          <a:p>
            <a:pPr algn="l">
              <a:lnSpc>
                <a:spcPct val="125000"/>
              </a:lnSpc>
            </a:pPr>
            <a:r>
              <a:rPr lang="en-US" sz="3200" b="1" dirty="0">
                <a:solidFill>
                  <a:srgbClr val="1A2A3A"/>
                </a:solidFill>
                <a:latin typeface="Source Han Serif SC" panose="02020400000000000000" pitchFamily="18" charset="-128"/>
                <a:ea typeface="Source Han Serif SC" panose="02020400000000000000" pitchFamily="18" charset="-128"/>
                <a:cs typeface="Source Han Sans SC"/>
              </a:rPr>
              <a:t>安全生产形势稳定向好</a:t>
            </a:r>
            <a:endParaRPr lang="en-US" sz="3200" dirty="0">
              <a:latin typeface="Source Han Serif SC" panose="02020400000000000000" pitchFamily="18" charset="-128"/>
              <a:ea typeface="Source Han Serif SC" panose="02020400000000000000" pitchFamily="18" charset="-128"/>
            </a:endParaRPr>
          </a:p>
        </p:txBody>
      </p:sp>
      <p:sp>
        <p:nvSpPr>
          <p:cNvPr id="10" name="Shape 16">
            <a:extLst>
              <a:ext uri="{FF2B5EF4-FFF2-40B4-BE49-F238E27FC236}">
                <a16:creationId xmlns:a16="http://schemas.microsoft.com/office/drawing/2014/main" id="{07C3680F-50F0-3F3E-7C93-1281F05F73F8}"/>
              </a:ext>
            </a:extLst>
          </p:cNvPr>
          <p:cNvSpPr/>
          <p:nvPr/>
        </p:nvSpPr>
        <p:spPr>
          <a:xfrm>
            <a:off x="10661496" y="5117972"/>
            <a:ext cx="13020960" cy="2310561"/>
          </a:xfrm>
          <a:prstGeom prst="roundRect">
            <a:avLst>
              <a:gd name="adj" fmla="val 9772"/>
            </a:avLst>
          </a:prstGeom>
          <a:solidFill>
            <a:schemeClr val="bg1"/>
          </a:solidFill>
          <a:ln/>
        </p:spPr>
        <p:txBody>
          <a:bodyPr/>
          <a:lstStyle/>
          <a:p>
            <a:endParaRPr lang="zh-CN" altLang="en-US"/>
          </a:p>
        </p:txBody>
      </p:sp>
      <p:pic>
        <p:nvPicPr>
          <p:cNvPr id="11" name="Image 17">
            <a:extLst>
              <a:ext uri="{FF2B5EF4-FFF2-40B4-BE49-F238E27FC236}">
                <a16:creationId xmlns:a16="http://schemas.microsoft.com/office/drawing/2014/main" id="{9F49B0B3-9000-6116-EA52-D97CB842032C}"/>
              </a:ext>
            </a:extLst>
          </p:cNvPr>
          <p:cNvPicPr>
            <a:picLocks/>
          </p:cNvPicPr>
          <p:nvPr/>
        </p:nvPicPr>
        <p:blipFill>
          <a:blip r:embed="rId4"/>
          <a:srcRect r="97901"/>
          <a:stretch>
            <a:fillRect/>
          </a:stretch>
        </p:blipFill>
        <p:spPr>
          <a:xfrm>
            <a:off x="10661496" y="5117972"/>
            <a:ext cx="275033" cy="2325521"/>
          </a:xfrm>
          <a:prstGeom prst="rect">
            <a:avLst/>
          </a:prstGeom>
          <a:solidFill>
            <a:schemeClr val="bg1"/>
          </a:solidFill>
          <a:ln/>
        </p:spPr>
      </p:pic>
      <p:sp>
        <p:nvSpPr>
          <p:cNvPr id="12" name="Shape 18">
            <a:extLst>
              <a:ext uri="{FF2B5EF4-FFF2-40B4-BE49-F238E27FC236}">
                <a16:creationId xmlns:a16="http://schemas.microsoft.com/office/drawing/2014/main" id="{59FDD15B-E968-2517-61FE-B3D04CA86E3A}"/>
              </a:ext>
            </a:extLst>
          </p:cNvPr>
          <p:cNvSpPr/>
          <p:nvPr/>
        </p:nvSpPr>
        <p:spPr>
          <a:xfrm>
            <a:off x="11113090" y="5494300"/>
            <a:ext cx="903188" cy="903188"/>
          </a:xfrm>
          <a:prstGeom prst="ellipse">
            <a:avLst/>
          </a:prstGeom>
          <a:solidFill>
            <a:srgbClr val="0057E4"/>
          </a:solidFill>
          <a:ln/>
        </p:spPr>
        <p:txBody>
          <a:bodyPr/>
          <a:lstStyle/>
          <a:p>
            <a:endParaRPr lang="zh-CN" altLang="en-US"/>
          </a:p>
        </p:txBody>
      </p:sp>
      <p:sp>
        <p:nvSpPr>
          <p:cNvPr id="13" name="Text 19">
            <a:extLst>
              <a:ext uri="{FF2B5EF4-FFF2-40B4-BE49-F238E27FC236}">
                <a16:creationId xmlns:a16="http://schemas.microsoft.com/office/drawing/2014/main" id="{3AD7508C-66C5-0725-E42F-74667419D24F}"/>
              </a:ext>
            </a:extLst>
          </p:cNvPr>
          <p:cNvSpPr txBox="1"/>
          <p:nvPr/>
        </p:nvSpPr>
        <p:spPr>
          <a:xfrm>
            <a:off x="11301676" y="5607198"/>
            <a:ext cx="538932" cy="677391"/>
          </a:xfrm>
          <a:prstGeom prst="rect">
            <a:avLst/>
          </a:prstGeom>
          <a:noFill/>
          <a:ln/>
        </p:spPr>
        <p:txBody>
          <a:bodyPr wrap="square" lIns="0" tIns="0" rIns="0" bIns="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25000"/>
              </a:lnSpc>
              <a:defRPr sz="3200">
                <a:solidFill>
                  <a:srgbClr val="FFFFFF"/>
                </a:solidFill>
                <a:latin typeface="Source Han Serif SC" panose="02020400000000000000" pitchFamily="18" charset="-128"/>
                <a:ea typeface="Source Han Serif SC" panose="02020400000000000000" pitchFamily="18" charset="-128"/>
                <a:cs typeface="OPPO Sans 4.0"/>
              </a:defRPr>
            </a:lvl1pPr>
          </a:lstStyle>
          <a:p>
            <a:r>
              <a:rPr lang="en-US" dirty="0"/>
              <a:t>02</a:t>
            </a:r>
          </a:p>
        </p:txBody>
      </p:sp>
      <p:sp>
        <p:nvSpPr>
          <p:cNvPr id="14" name="Text 20">
            <a:extLst>
              <a:ext uri="{FF2B5EF4-FFF2-40B4-BE49-F238E27FC236}">
                <a16:creationId xmlns:a16="http://schemas.microsoft.com/office/drawing/2014/main" id="{D503387C-7213-C800-725D-C98CD07937DA}"/>
              </a:ext>
            </a:extLst>
          </p:cNvPr>
          <p:cNvSpPr txBox="1"/>
          <p:nvPr/>
        </p:nvSpPr>
        <p:spPr>
          <a:xfrm>
            <a:off x="12392606" y="5503707"/>
            <a:ext cx="10296913" cy="564493"/>
          </a:xfrm>
          <a:prstGeom prst="rect">
            <a:avLst/>
          </a:prstGeom>
          <a:noFill/>
          <a:ln/>
        </p:spPr>
        <p:txBody>
          <a:bodyPr wrap="square" lIns="0" tIns="0" rIns="0" bIns="0" rtlCol="0" anchor="ctr">
            <a:noAutofit/>
          </a:bodyPr>
          <a:lstStyle/>
          <a:p>
            <a:pPr algn="l">
              <a:lnSpc>
                <a:spcPct val="125000"/>
              </a:lnSpc>
            </a:pPr>
            <a:r>
              <a:rPr lang="en-US" sz="3200" dirty="0" err="1">
                <a:solidFill>
                  <a:srgbClr val="1A2A3A"/>
                </a:solidFill>
                <a:latin typeface="Source Han Serif SC" panose="02020400000000000000" pitchFamily="18" charset="-128"/>
                <a:ea typeface="Source Han Serif SC" panose="02020400000000000000" pitchFamily="18" charset="-128"/>
              </a:rPr>
              <a:t>城乡治理体系不断完善</a:t>
            </a:r>
            <a:endParaRPr lang="en-US" sz="3200" dirty="0">
              <a:solidFill>
                <a:srgbClr val="1A2A3A"/>
              </a:solidFill>
              <a:latin typeface="Source Han Serif SC" panose="02020400000000000000" pitchFamily="18" charset="-128"/>
              <a:ea typeface="Source Han Serif SC" panose="02020400000000000000" pitchFamily="18" charset="-128"/>
            </a:endParaRPr>
          </a:p>
        </p:txBody>
      </p:sp>
      <p:sp>
        <p:nvSpPr>
          <p:cNvPr id="15" name="Shape 21">
            <a:extLst>
              <a:ext uri="{FF2B5EF4-FFF2-40B4-BE49-F238E27FC236}">
                <a16:creationId xmlns:a16="http://schemas.microsoft.com/office/drawing/2014/main" id="{BD8CB977-4A4D-A54B-E5D0-ACE2096F51DF}"/>
              </a:ext>
            </a:extLst>
          </p:cNvPr>
          <p:cNvSpPr/>
          <p:nvPr/>
        </p:nvSpPr>
        <p:spPr>
          <a:xfrm>
            <a:off x="10661496" y="7483854"/>
            <a:ext cx="13020960" cy="2310561"/>
          </a:xfrm>
          <a:prstGeom prst="roundRect">
            <a:avLst>
              <a:gd name="adj" fmla="val 9772"/>
            </a:avLst>
          </a:prstGeom>
          <a:solidFill>
            <a:schemeClr val="bg1"/>
          </a:solidFill>
          <a:ln/>
        </p:spPr>
        <p:txBody>
          <a:bodyPr/>
          <a:lstStyle/>
          <a:p>
            <a:endParaRPr lang="zh-CN" altLang="en-US"/>
          </a:p>
        </p:txBody>
      </p:sp>
      <p:sp>
        <p:nvSpPr>
          <p:cNvPr id="17" name="Shape 23">
            <a:extLst>
              <a:ext uri="{FF2B5EF4-FFF2-40B4-BE49-F238E27FC236}">
                <a16:creationId xmlns:a16="http://schemas.microsoft.com/office/drawing/2014/main" id="{E772DC9A-D3E5-EA71-DD29-8D65C3393A18}"/>
              </a:ext>
            </a:extLst>
          </p:cNvPr>
          <p:cNvSpPr/>
          <p:nvPr/>
        </p:nvSpPr>
        <p:spPr>
          <a:xfrm>
            <a:off x="11113090" y="7860183"/>
            <a:ext cx="903188" cy="903188"/>
          </a:xfrm>
          <a:prstGeom prst="ellipse">
            <a:avLst/>
          </a:prstGeom>
          <a:solidFill>
            <a:srgbClr val="0057E4"/>
          </a:solidFill>
          <a:ln/>
        </p:spPr>
        <p:txBody>
          <a:bodyPr/>
          <a:lstStyle/>
          <a:p>
            <a:endParaRPr lang="zh-CN" altLang="en-US"/>
          </a:p>
        </p:txBody>
      </p:sp>
      <p:sp>
        <p:nvSpPr>
          <p:cNvPr id="18" name="Text 24">
            <a:extLst>
              <a:ext uri="{FF2B5EF4-FFF2-40B4-BE49-F238E27FC236}">
                <a16:creationId xmlns:a16="http://schemas.microsoft.com/office/drawing/2014/main" id="{5AF065E9-535E-5A77-447D-2698BED33BD2}"/>
              </a:ext>
            </a:extLst>
          </p:cNvPr>
          <p:cNvSpPr txBox="1"/>
          <p:nvPr/>
        </p:nvSpPr>
        <p:spPr>
          <a:xfrm>
            <a:off x="11299374" y="8038937"/>
            <a:ext cx="543539" cy="677391"/>
          </a:xfrm>
          <a:prstGeom prst="rect">
            <a:avLst/>
          </a:prstGeom>
          <a:noFill/>
          <a:ln/>
        </p:spPr>
        <p:txBody>
          <a:bodyPr wrap="square" lIns="0" tIns="0" rIns="0" bIns="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25000"/>
              </a:lnSpc>
              <a:defRPr sz="3200">
                <a:solidFill>
                  <a:srgbClr val="FFFFFF"/>
                </a:solidFill>
                <a:latin typeface="Source Han Serif SC" panose="02020400000000000000" pitchFamily="18" charset="-128"/>
                <a:ea typeface="Source Han Serif SC" panose="02020400000000000000" pitchFamily="18" charset="-128"/>
                <a:cs typeface="OPPO Sans 4.0"/>
              </a:defRPr>
            </a:lvl1pPr>
          </a:lstStyle>
          <a:p>
            <a:r>
              <a:rPr lang="en-US" dirty="0"/>
              <a:t>03</a:t>
            </a:r>
          </a:p>
        </p:txBody>
      </p:sp>
      <p:sp>
        <p:nvSpPr>
          <p:cNvPr id="19" name="Text 25">
            <a:extLst>
              <a:ext uri="{FF2B5EF4-FFF2-40B4-BE49-F238E27FC236}">
                <a16:creationId xmlns:a16="http://schemas.microsoft.com/office/drawing/2014/main" id="{300852C5-D327-D0D6-827A-811E7F084D01}"/>
              </a:ext>
            </a:extLst>
          </p:cNvPr>
          <p:cNvSpPr txBox="1"/>
          <p:nvPr/>
        </p:nvSpPr>
        <p:spPr>
          <a:xfrm>
            <a:off x="12392606" y="7869590"/>
            <a:ext cx="10869821" cy="564493"/>
          </a:xfrm>
          <a:prstGeom prst="rect">
            <a:avLst/>
          </a:prstGeom>
          <a:noFill/>
          <a:ln/>
        </p:spPr>
        <p:txBody>
          <a:bodyPr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25000"/>
              </a:lnSpc>
              <a:defRPr sz="3200">
                <a:solidFill>
                  <a:srgbClr val="1A2A3A"/>
                </a:solidFill>
                <a:latin typeface="Source Han Serif SC" panose="02020400000000000000" pitchFamily="18" charset="-128"/>
                <a:ea typeface="Source Han Serif SC" panose="02020400000000000000" pitchFamily="18" charset="-128"/>
              </a:defRPr>
            </a:lvl1pPr>
          </a:lstStyle>
          <a:p>
            <a:r>
              <a:rPr lang="en-US" dirty="0" err="1"/>
              <a:t>政府风险防控能力显著提升</a:t>
            </a:r>
            <a:endParaRPr lang="en-US" dirty="0"/>
          </a:p>
        </p:txBody>
      </p:sp>
      <p:sp>
        <p:nvSpPr>
          <p:cNvPr id="20" name="Shape 26">
            <a:extLst>
              <a:ext uri="{FF2B5EF4-FFF2-40B4-BE49-F238E27FC236}">
                <a16:creationId xmlns:a16="http://schemas.microsoft.com/office/drawing/2014/main" id="{6FEA86BA-20A7-9562-F63D-861A1FDAE540}"/>
              </a:ext>
            </a:extLst>
          </p:cNvPr>
          <p:cNvSpPr/>
          <p:nvPr/>
        </p:nvSpPr>
        <p:spPr>
          <a:xfrm>
            <a:off x="10661496" y="9849737"/>
            <a:ext cx="13020960" cy="2310561"/>
          </a:xfrm>
          <a:prstGeom prst="roundRect">
            <a:avLst>
              <a:gd name="adj" fmla="val 9772"/>
            </a:avLst>
          </a:prstGeom>
          <a:solidFill>
            <a:schemeClr val="bg1"/>
          </a:solidFill>
          <a:ln/>
        </p:spPr>
        <p:txBody>
          <a:bodyPr/>
          <a:lstStyle/>
          <a:p>
            <a:endParaRPr lang="zh-CN" altLang="en-US"/>
          </a:p>
        </p:txBody>
      </p:sp>
      <p:sp>
        <p:nvSpPr>
          <p:cNvPr id="22" name="Shape 28">
            <a:extLst>
              <a:ext uri="{FF2B5EF4-FFF2-40B4-BE49-F238E27FC236}">
                <a16:creationId xmlns:a16="http://schemas.microsoft.com/office/drawing/2014/main" id="{8DC4767B-0227-A419-5B7F-98B9D0CCE9C4}"/>
              </a:ext>
            </a:extLst>
          </p:cNvPr>
          <p:cNvSpPr/>
          <p:nvPr/>
        </p:nvSpPr>
        <p:spPr>
          <a:xfrm>
            <a:off x="11113090" y="10226065"/>
            <a:ext cx="903188" cy="903188"/>
          </a:xfrm>
          <a:prstGeom prst="ellipse">
            <a:avLst/>
          </a:prstGeom>
          <a:solidFill>
            <a:srgbClr val="0057E4"/>
          </a:solidFill>
          <a:ln/>
        </p:spPr>
        <p:txBody>
          <a:bodyPr/>
          <a:lstStyle/>
          <a:p>
            <a:endParaRPr lang="zh-CN" altLang="en-US"/>
          </a:p>
        </p:txBody>
      </p:sp>
      <p:sp>
        <p:nvSpPr>
          <p:cNvPr id="23" name="Text 29">
            <a:extLst>
              <a:ext uri="{FF2B5EF4-FFF2-40B4-BE49-F238E27FC236}">
                <a16:creationId xmlns:a16="http://schemas.microsoft.com/office/drawing/2014/main" id="{56DBB8DD-BAD1-AE36-311E-C24B34D2A996}"/>
              </a:ext>
            </a:extLst>
          </p:cNvPr>
          <p:cNvSpPr txBox="1"/>
          <p:nvPr/>
        </p:nvSpPr>
        <p:spPr>
          <a:xfrm>
            <a:off x="11281020" y="10354331"/>
            <a:ext cx="570312" cy="677391"/>
          </a:xfrm>
          <a:prstGeom prst="rect">
            <a:avLst/>
          </a:prstGeom>
          <a:noFill/>
          <a:ln/>
        </p:spPr>
        <p:txBody>
          <a:bodyPr wrap="square" lIns="0" tIns="0" rIns="0" bIns="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25000"/>
              </a:lnSpc>
              <a:defRPr sz="3200">
                <a:solidFill>
                  <a:srgbClr val="FFFFFF"/>
                </a:solidFill>
                <a:latin typeface="Source Han Serif SC" panose="02020400000000000000" pitchFamily="18" charset="-128"/>
                <a:ea typeface="Source Han Serif SC" panose="02020400000000000000" pitchFamily="18" charset="-128"/>
                <a:cs typeface="OPPO Sans 4.0"/>
              </a:defRPr>
            </a:lvl1pPr>
          </a:lstStyle>
          <a:p>
            <a:pPr algn="ctr"/>
            <a:r>
              <a:rPr lang="en-US" dirty="0"/>
              <a:t>04</a:t>
            </a:r>
          </a:p>
        </p:txBody>
      </p:sp>
      <p:sp>
        <p:nvSpPr>
          <p:cNvPr id="24" name="Text 30">
            <a:extLst>
              <a:ext uri="{FF2B5EF4-FFF2-40B4-BE49-F238E27FC236}">
                <a16:creationId xmlns:a16="http://schemas.microsoft.com/office/drawing/2014/main" id="{88D8B95B-0679-FFBC-DC69-5E04F0177D6F}"/>
              </a:ext>
            </a:extLst>
          </p:cNvPr>
          <p:cNvSpPr txBox="1"/>
          <p:nvPr/>
        </p:nvSpPr>
        <p:spPr>
          <a:xfrm>
            <a:off x="12392606" y="10235472"/>
            <a:ext cx="10924703" cy="564493"/>
          </a:xfrm>
          <a:prstGeom prst="rect">
            <a:avLst/>
          </a:prstGeom>
          <a:noFill/>
          <a:ln/>
        </p:spPr>
        <p:txBody>
          <a:bodyPr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25000"/>
              </a:lnSpc>
              <a:defRPr sz="3200">
                <a:solidFill>
                  <a:srgbClr val="1A2A3A"/>
                </a:solidFill>
                <a:latin typeface="Source Han Serif SC" panose="02020400000000000000" pitchFamily="18" charset="-128"/>
                <a:ea typeface="Source Han Serif SC" panose="02020400000000000000" pitchFamily="18" charset="-128"/>
              </a:defRPr>
            </a:lvl1pPr>
          </a:lstStyle>
          <a:p>
            <a:r>
              <a:rPr lang="en-US" dirty="0" err="1"/>
              <a:t>基层治理效能和群众安全感增强</a:t>
            </a:r>
            <a:endParaRPr lang="en-US" dirty="0"/>
          </a:p>
        </p:txBody>
      </p:sp>
      <p:sp>
        <p:nvSpPr>
          <p:cNvPr id="25" name="Text 31">
            <a:extLst>
              <a:ext uri="{FF2B5EF4-FFF2-40B4-BE49-F238E27FC236}">
                <a16:creationId xmlns:a16="http://schemas.microsoft.com/office/drawing/2014/main" id="{A665BB3A-D1E3-1B7B-A907-7A8F52DB008B}"/>
              </a:ext>
            </a:extLst>
          </p:cNvPr>
          <p:cNvSpPr txBox="1"/>
          <p:nvPr/>
        </p:nvSpPr>
        <p:spPr>
          <a:xfrm>
            <a:off x="12392606" y="3800266"/>
            <a:ext cx="10869821" cy="842975"/>
          </a:xfrm>
          <a:prstGeom prst="rect">
            <a:avLst/>
          </a:prstGeom>
          <a:noFill/>
          <a:ln/>
        </p:spPr>
        <p:txBody>
          <a:bodyPr wrap="square" lIns="0" tIns="0" rIns="0" bIns="0" rtlCol="0" anchor="ctr">
            <a:noAutofit/>
          </a:bodyPr>
          <a:lstStyle/>
          <a:p>
            <a:pPr algn="l">
              <a:lnSpc>
                <a:spcPct val="133333"/>
              </a:lnSpc>
            </a:pPr>
            <a:r>
              <a:rPr lang="en-US" sz="1800" dirty="0">
                <a:solidFill>
                  <a:srgbClr val="1A2A3A">
                    <a:alpha val="80000"/>
                  </a:srgbClr>
                </a:solidFill>
                <a:latin typeface="Source Han Serif SC" panose="02020400000000000000" pitchFamily="18" charset="-128"/>
                <a:ea typeface="Source Han Serif SC" panose="02020400000000000000" pitchFamily="18" charset="-128"/>
                <a:cs typeface="Source Han Sans SC"/>
              </a:rPr>
              <a:t>2025年，全区安全生产形势稳定向好，事故起数和死亡人数同比分别下降15%和12%，未发生重特大安全生产事故，重点行业领域安全监管得到全面加强。</a:t>
            </a:r>
            <a:endParaRPr lang="en-US" sz="1800" dirty="0">
              <a:latin typeface="Source Han Serif SC" panose="02020400000000000000" pitchFamily="18" charset="-128"/>
              <a:ea typeface="Source Han Serif SC" panose="02020400000000000000" pitchFamily="18" charset="-128"/>
            </a:endParaRPr>
          </a:p>
        </p:txBody>
      </p:sp>
      <p:sp>
        <p:nvSpPr>
          <p:cNvPr id="26" name="Text 32">
            <a:extLst>
              <a:ext uri="{FF2B5EF4-FFF2-40B4-BE49-F238E27FC236}">
                <a16:creationId xmlns:a16="http://schemas.microsoft.com/office/drawing/2014/main" id="{FB6EF16C-DBFD-04F0-59CD-84A315CDE082}"/>
              </a:ext>
            </a:extLst>
          </p:cNvPr>
          <p:cNvSpPr txBox="1"/>
          <p:nvPr/>
        </p:nvSpPr>
        <p:spPr>
          <a:xfrm>
            <a:off x="12392606" y="6166148"/>
            <a:ext cx="10924703" cy="842975"/>
          </a:xfrm>
          <a:prstGeom prst="rect">
            <a:avLst/>
          </a:prstGeom>
          <a:noFill/>
          <a:ln/>
        </p:spPr>
        <p:txBody>
          <a:bodyPr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33333"/>
              </a:lnSpc>
              <a:defRPr sz="1800">
                <a:solidFill>
                  <a:srgbClr val="1A2A3A">
                    <a:alpha val="80000"/>
                  </a:srgbClr>
                </a:solidFill>
                <a:latin typeface="Source Han Serif SC" panose="02020400000000000000" pitchFamily="18" charset="-128"/>
                <a:ea typeface="Source Han Serif SC" panose="02020400000000000000" pitchFamily="18" charset="-128"/>
                <a:cs typeface="Source Han Sans SC"/>
              </a:defRPr>
            </a:lvl1pPr>
          </a:lstStyle>
          <a:p>
            <a:r>
              <a:rPr lang="en-US" dirty="0"/>
              <a:t>城乡治理体系不断完善，推进智慧城市管理平台建设，实现网格化覆盖率达100%，城乡环境整治、垃圾分类、交通秩序等治理成效显著，居民满意度达90%以上。</a:t>
            </a:r>
          </a:p>
        </p:txBody>
      </p:sp>
      <p:sp>
        <p:nvSpPr>
          <p:cNvPr id="27" name="Text 33">
            <a:extLst>
              <a:ext uri="{FF2B5EF4-FFF2-40B4-BE49-F238E27FC236}">
                <a16:creationId xmlns:a16="http://schemas.microsoft.com/office/drawing/2014/main" id="{EA9733FD-EDEC-D0FF-AF2C-73708C7B9727}"/>
              </a:ext>
            </a:extLst>
          </p:cNvPr>
          <p:cNvSpPr txBox="1"/>
          <p:nvPr/>
        </p:nvSpPr>
        <p:spPr>
          <a:xfrm>
            <a:off x="12392606" y="8532031"/>
            <a:ext cx="10924703" cy="842975"/>
          </a:xfrm>
          <a:prstGeom prst="rect">
            <a:avLst/>
          </a:prstGeom>
          <a:noFill/>
          <a:ln/>
        </p:spPr>
        <p:txBody>
          <a:bodyPr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33333"/>
              </a:lnSpc>
              <a:defRPr sz="1800">
                <a:solidFill>
                  <a:srgbClr val="1A2A3A">
                    <a:alpha val="80000"/>
                  </a:srgbClr>
                </a:solidFill>
                <a:latin typeface="Source Han Serif SC" panose="02020400000000000000" pitchFamily="18" charset="-128"/>
                <a:ea typeface="Source Han Serif SC" panose="02020400000000000000" pitchFamily="18" charset="-128"/>
                <a:cs typeface="Source Han Sans SC"/>
              </a:defRPr>
            </a:lvl1pPr>
          </a:lstStyle>
          <a:p>
            <a:r>
              <a:rPr lang="en-US" dirty="0"/>
              <a:t>政府风险防控能力显著提升，建立健全金融风险监测预警机制，成功化解多起潜在风险事件，政府债务率控制在警戒线以内，财政金融风险总体可控。</a:t>
            </a:r>
          </a:p>
        </p:txBody>
      </p:sp>
      <p:sp>
        <p:nvSpPr>
          <p:cNvPr id="28" name="Text 34">
            <a:extLst>
              <a:ext uri="{FF2B5EF4-FFF2-40B4-BE49-F238E27FC236}">
                <a16:creationId xmlns:a16="http://schemas.microsoft.com/office/drawing/2014/main" id="{7C53C1D3-E169-8269-8843-D58EE616B568}"/>
              </a:ext>
            </a:extLst>
          </p:cNvPr>
          <p:cNvSpPr txBox="1"/>
          <p:nvPr/>
        </p:nvSpPr>
        <p:spPr>
          <a:xfrm>
            <a:off x="12392606" y="10959905"/>
            <a:ext cx="10924703" cy="842975"/>
          </a:xfrm>
          <a:prstGeom prst="rect">
            <a:avLst/>
          </a:prstGeom>
          <a:noFill/>
          <a:ln/>
        </p:spPr>
        <p:txBody>
          <a:bodyPr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lnSpc>
                <a:spcPct val="133333"/>
              </a:lnSpc>
              <a:defRPr sz="1800">
                <a:solidFill>
                  <a:srgbClr val="1A2A3A">
                    <a:alpha val="80000"/>
                  </a:srgbClr>
                </a:solidFill>
                <a:latin typeface="Source Han Serif SC" panose="02020400000000000000" pitchFamily="18" charset="-128"/>
                <a:ea typeface="Source Han Serif SC" panose="02020400000000000000" pitchFamily="18" charset="-128"/>
                <a:cs typeface="Source Han Sans SC"/>
              </a:defRPr>
            </a:lvl1pPr>
          </a:lstStyle>
          <a:p>
            <a:r>
              <a:rPr lang="en-US" dirty="0"/>
              <a:t>基层治理效能和群众安全感持续增强，通过“一网通办”改革和社区协商议事机制，矛盾纠纷调解成功率达95%以上，群众安全感测评得分达98.5分，</a:t>
            </a:r>
            <a:r>
              <a:rPr lang="en-US"/>
              <a:t>创历史新高。</a:t>
            </a:r>
            <a:endParaRPr lang="en-US" dirty="0"/>
          </a:p>
        </p:txBody>
      </p:sp>
      <p:sp>
        <p:nvSpPr>
          <p:cNvPr id="35" name="指导摘要">
            <a:extLst>
              <a:ext uri="{FF2B5EF4-FFF2-40B4-BE49-F238E27FC236}">
                <a16:creationId xmlns:a16="http://schemas.microsoft.com/office/drawing/2014/main" id="{320FA2B1-1BD0-5466-D5A8-3F38EC5D95E7}"/>
              </a:ext>
            </a:extLst>
          </p:cNvPr>
          <p:cNvSpPr txBox="1"/>
          <p:nvPr/>
        </p:nvSpPr>
        <p:spPr>
          <a:xfrm>
            <a:off x="1299373" y="906129"/>
            <a:ext cx="7571303" cy="1169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algn="l" defTabSz="1828800">
              <a:defRPr sz="6400" b="0">
                <a:latin typeface="PingFang SC Light"/>
                <a:ea typeface="PingFang SC Light"/>
                <a:cs typeface="PingFang SC Light"/>
                <a:sym typeface="PingFang SC Light"/>
              </a:defRPr>
            </a:lvl1pPr>
          </a:lstStyle>
          <a:p>
            <a:r>
              <a:rPr lang="zh-CN" altLang="en-US" b="1" dirty="0">
                <a:latin typeface="Source Han Serif SC Heavy" panose="02020400000000000000" pitchFamily="18" charset="-128"/>
                <a:ea typeface="Source Han Serif SC Heavy" panose="02020400000000000000" pitchFamily="18" charset="-128"/>
              </a:rPr>
              <a:t>安全治理与城乡提升</a:t>
            </a:r>
          </a:p>
        </p:txBody>
      </p:sp>
      <p:sp>
        <p:nvSpPr>
          <p:cNvPr id="36" name="Shape 6">
            <a:extLst>
              <a:ext uri="{FF2B5EF4-FFF2-40B4-BE49-F238E27FC236}">
                <a16:creationId xmlns:a16="http://schemas.microsoft.com/office/drawing/2014/main" id="{42C19865-82B4-F836-6E1E-E3923D7EC7B8}"/>
              </a:ext>
            </a:extLst>
          </p:cNvPr>
          <p:cNvSpPr/>
          <p:nvPr/>
        </p:nvSpPr>
        <p:spPr>
          <a:xfrm>
            <a:off x="1409701" y="2013307"/>
            <a:ext cx="1837956" cy="62371"/>
          </a:xfrm>
          <a:prstGeom prst="rect">
            <a:avLst/>
          </a:prstGeom>
          <a:solidFill>
            <a:srgbClr val="0057E4"/>
          </a:solidFill>
          <a:ln/>
        </p:spPr>
        <p:txBody>
          <a:bodyPr/>
          <a:lstStyle/>
          <a:p>
            <a:endParaRPr lang="zh-CN" altLang="en-US"/>
          </a:p>
        </p:txBody>
      </p:sp>
      <p:pic>
        <p:nvPicPr>
          <p:cNvPr id="37" name="Image 17">
            <a:extLst>
              <a:ext uri="{FF2B5EF4-FFF2-40B4-BE49-F238E27FC236}">
                <a16:creationId xmlns:a16="http://schemas.microsoft.com/office/drawing/2014/main" id="{DAD2C039-43F4-06D9-69A5-2E0D57ABD67E}"/>
              </a:ext>
            </a:extLst>
          </p:cNvPr>
          <p:cNvPicPr>
            <a:picLocks/>
          </p:cNvPicPr>
          <p:nvPr/>
        </p:nvPicPr>
        <p:blipFill>
          <a:blip r:embed="rId4"/>
          <a:srcRect r="97901"/>
          <a:stretch>
            <a:fillRect/>
          </a:stretch>
        </p:blipFill>
        <p:spPr>
          <a:xfrm>
            <a:off x="10661496" y="2754599"/>
            <a:ext cx="275033" cy="2325521"/>
          </a:xfrm>
          <a:prstGeom prst="rect">
            <a:avLst/>
          </a:prstGeom>
          <a:solidFill>
            <a:schemeClr val="bg1"/>
          </a:solidFill>
          <a:ln/>
        </p:spPr>
      </p:pic>
      <p:pic>
        <p:nvPicPr>
          <p:cNvPr id="38" name="Image 17">
            <a:extLst>
              <a:ext uri="{FF2B5EF4-FFF2-40B4-BE49-F238E27FC236}">
                <a16:creationId xmlns:a16="http://schemas.microsoft.com/office/drawing/2014/main" id="{42367D33-3F7A-2892-4066-62E34CE40EAC}"/>
              </a:ext>
            </a:extLst>
          </p:cNvPr>
          <p:cNvPicPr>
            <a:picLocks/>
          </p:cNvPicPr>
          <p:nvPr/>
        </p:nvPicPr>
        <p:blipFill>
          <a:blip r:embed="rId4"/>
          <a:srcRect r="97901"/>
          <a:stretch>
            <a:fillRect/>
          </a:stretch>
        </p:blipFill>
        <p:spPr>
          <a:xfrm>
            <a:off x="10661496" y="7481344"/>
            <a:ext cx="275033" cy="2325521"/>
          </a:xfrm>
          <a:prstGeom prst="rect">
            <a:avLst/>
          </a:prstGeom>
          <a:solidFill>
            <a:schemeClr val="bg1"/>
          </a:solidFill>
          <a:ln/>
        </p:spPr>
      </p:pic>
      <p:pic>
        <p:nvPicPr>
          <p:cNvPr id="39" name="Image 17">
            <a:extLst>
              <a:ext uri="{FF2B5EF4-FFF2-40B4-BE49-F238E27FC236}">
                <a16:creationId xmlns:a16="http://schemas.microsoft.com/office/drawing/2014/main" id="{CEEE40AA-D5F3-D4F4-BB98-48156FB58481}"/>
              </a:ext>
            </a:extLst>
          </p:cNvPr>
          <p:cNvPicPr>
            <a:picLocks/>
          </p:cNvPicPr>
          <p:nvPr/>
        </p:nvPicPr>
        <p:blipFill>
          <a:blip r:embed="rId4"/>
          <a:srcRect r="97901"/>
          <a:stretch>
            <a:fillRect/>
          </a:stretch>
        </p:blipFill>
        <p:spPr>
          <a:xfrm>
            <a:off x="10661496" y="9830649"/>
            <a:ext cx="275033" cy="2325521"/>
          </a:xfrm>
          <a:prstGeom prst="rect">
            <a:avLst/>
          </a:prstGeom>
          <a:solidFill>
            <a:schemeClr val="bg1"/>
          </a:solidFill>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 name="alfons-morales-YLSwjSy7stw-unsplash.jpg" descr="alfons-morales-YLSwjSy7stw-unsplash.jpg"/>
          <p:cNvPicPr>
            <a:picLocks noChangeAspect="1"/>
          </p:cNvPicPr>
          <p:nvPr/>
        </p:nvPicPr>
        <p:blipFill>
          <a:blip r:embed="rId2"/>
          <a:srcRect t="2045" b="2045"/>
          <a:stretch>
            <a:fillRect/>
          </a:stretch>
        </p:blipFill>
        <p:spPr>
          <a:xfrm>
            <a:off x="-1" y="1390"/>
            <a:ext cx="24384001" cy="13713220"/>
          </a:xfrm>
          <a:prstGeom prst="rect">
            <a:avLst/>
          </a:prstGeom>
          <a:ln w="12700">
            <a:miter lim="400000"/>
          </a:ln>
        </p:spPr>
      </p:pic>
      <p:sp>
        <p:nvSpPr>
          <p:cNvPr id="257" name="矩形"/>
          <p:cNvSpPr/>
          <p:nvPr/>
        </p:nvSpPr>
        <p:spPr>
          <a:xfrm>
            <a:off x="0" y="-1"/>
            <a:ext cx="24384000" cy="13716001"/>
          </a:xfrm>
          <a:prstGeom prst="rect">
            <a:avLst/>
          </a:prstGeom>
          <a:gradFill>
            <a:gsLst>
              <a:gs pos="0">
                <a:srgbClr val="000000">
                  <a:alpha val="69888"/>
                </a:srgbClr>
              </a:gs>
              <a:gs pos="100000">
                <a:srgbClr val="000000"/>
              </a:gs>
            </a:gsLst>
            <a:path path="circle">
              <a:fillToRect l="37721" t="-19636" r="62278" b="119636"/>
            </a:path>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258" name="产品定位"/>
          <p:cNvSpPr txBox="1"/>
          <p:nvPr/>
        </p:nvSpPr>
        <p:spPr>
          <a:xfrm>
            <a:off x="10265410" y="3692494"/>
            <a:ext cx="3853181" cy="13004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defTabSz="1828800">
              <a:defRPr sz="7200" b="0">
                <a:solidFill>
                  <a:srgbClr val="FFFFFF"/>
                </a:solidFill>
                <a:latin typeface="FZYanSongS-DB-GB"/>
                <a:ea typeface="FZYanSongS-DB-GB"/>
                <a:cs typeface="FZYanSongS-DB-GB"/>
                <a:sym typeface="FZYanSongS-DB-GB"/>
              </a:defRPr>
            </a:lvl1pPr>
          </a:lstStyle>
          <a:p>
            <a:r>
              <a:rPr dirty="0" err="1">
                <a:latin typeface="Source Han Serif SC" panose="02020400000000000000" pitchFamily="18" charset="-128"/>
                <a:ea typeface="Source Han Serif SC" panose="02020400000000000000" pitchFamily="18" charset="-128"/>
              </a:rPr>
              <a:t>产品定位</a:t>
            </a:r>
            <a:endParaRPr dirty="0">
              <a:latin typeface="Source Han Serif SC" panose="02020400000000000000" pitchFamily="18" charset="-128"/>
              <a:ea typeface="Source Han Serif SC" panose="02020400000000000000" pitchFamily="18" charset="-128"/>
            </a:endParaRPr>
          </a:p>
        </p:txBody>
      </p:sp>
      <p:sp>
        <p:nvSpPr>
          <p:cNvPr id="259" name="书香政协，同谈聚心"/>
          <p:cNvSpPr txBox="1"/>
          <p:nvPr/>
        </p:nvSpPr>
        <p:spPr>
          <a:xfrm>
            <a:off x="5236209" y="5826759"/>
            <a:ext cx="13911581" cy="20624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lvl1pPr defTabSz="1828800">
              <a:defRPr sz="12000" b="0">
                <a:solidFill>
                  <a:srgbClr val="FFFFFF"/>
                </a:solidFill>
                <a:latin typeface="FZYanSongS-DB-GB"/>
                <a:ea typeface="FZYanSongS-DB-GB"/>
                <a:cs typeface="FZYanSongS-DB-GB"/>
                <a:sym typeface="FZYanSongS-DB-GB"/>
              </a:defRPr>
            </a:lvl1pPr>
          </a:lstStyle>
          <a:p>
            <a:r>
              <a:rPr b="1" dirty="0" err="1">
                <a:latin typeface="Source Han Serif SC Heavy" panose="02020400000000000000" pitchFamily="18" charset="-128"/>
                <a:ea typeface="Source Han Serif SC Heavy" panose="02020400000000000000" pitchFamily="18" charset="-128"/>
              </a:rPr>
              <a:t>书香政协，同谈聚心</a:t>
            </a:r>
            <a:endParaRPr b="1" dirty="0">
              <a:latin typeface="Source Han Serif SC Heavy" panose="02020400000000000000" pitchFamily="18" charset="-128"/>
              <a:ea typeface="Source Han Serif SC Heavy" panose="02020400000000000000" pitchFamily="18" charset="-128"/>
            </a:endParaRPr>
          </a:p>
        </p:txBody>
      </p:sp>
      <p:sp>
        <p:nvSpPr>
          <p:cNvPr id="260" name="为政协委员打造群组交流、视频沟通、数据处理为一体的多功能、高性能、智能化读书交流网络平台"/>
          <p:cNvSpPr txBox="1"/>
          <p:nvPr/>
        </p:nvSpPr>
        <p:spPr>
          <a:xfrm>
            <a:off x="5236210" y="8256624"/>
            <a:ext cx="13911581" cy="1661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spAutoFit/>
          </a:bodyPr>
          <a:lstStyle>
            <a:lvl1pPr algn="l" defTabSz="1828800">
              <a:defRPr sz="4800" b="0">
                <a:solidFill>
                  <a:srgbClr val="D5D5D5"/>
                </a:solidFill>
                <a:latin typeface="PingFang SC Light"/>
                <a:ea typeface="PingFang SC Light"/>
                <a:cs typeface="PingFang SC Light"/>
                <a:sym typeface="PingFang SC Light"/>
              </a:defRPr>
            </a:lvl1pPr>
          </a:lstStyle>
          <a:p>
            <a:r>
              <a:rPr>
                <a:latin typeface="Source Han Serif SC" panose="02020400000000000000" pitchFamily="18" charset="-128"/>
                <a:ea typeface="Source Han Serif SC" panose="02020400000000000000" pitchFamily="18" charset="-128"/>
              </a:rPr>
              <a:t>为政协委员打造群组交流、视频沟通、数据处理为一体的多功能、高性能、智能化读书交流网络平台</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BD0D6EB-E798-9D06-68D9-2808AAA6D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4000" cy="13716000"/>
          </a:xfrm>
          <a:prstGeom prst="rect">
            <a:avLst/>
          </a:prstGeom>
        </p:spPr>
      </p:pic>
      <p:sp>
        <p:nvSpPr>
          <p:cNvPr id="535" name="书库阅读"/>
          <p:cNvSpPr txBox="1"/>
          <p:nvPr/>
        </p:nvSpPr>
        <p:spPr>
          <a:xfrm>
            <a:off x="19694109" y="2960370"/>
            <a:ext cx="2318583" cy="68736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eaVert" wrap="none" lIns="50800" tIns="50800" rIns="50800" bIns="50800" anchor="ctr">
            <a:spAutoFit/>
          </a:bodyPr>
          <a:lstStyle>
            <a:lvl1pPr algn="l">
              <a:lnSpc>
                <a:spcPct val="120000"/>
              </a:lnSpc>
              <a:defRPr sz="12000" b="0" spc="1200">
                <a:latin typeface="FZQingKeBenYueSongS-R-GB"/>
                <a:ea typeface="FZQingKeBenYueSongS-R-GB"/>
                <a:cs typeface="FZQingKeBenYueSongS-R-GB"/>
                <a:sym typeface="FZQingKeBenYueSongS-R-GB"/>
              </a:defRPr>
            </a:lvl1pPr>
          </a:lstStyle>
          <a:p>
            <a:r>
              <a:rPr b="1" dirty="0" err="1">
                <a:latin typeface="Source Han Serif SC Heavy" panose="02020400000000000000" pitchFamily="18" charset="-128"/>
                <a:ea typeface="Source Han Serif SC Heavy" panose="02020400000000000000" pitchFamily="18" charset="-128"/>
              </a:rPr>
              <a:t>书库阅读</a:t>
            </a:r>
            <a:endParaRPr b="1" dirty="0">
              <a:latin typeface="Source Han Serif SC Heavy" panose="02020400000000000000" pitchFamily="18" charset="-128"/>
              <a:ea typeface="Source Han Serif SC Heavy" panose="02020400000000000000" pitchFamily="18" charset="-128"/>
            </a:endParaRPr>
          </a:p>
        </p:txBody>
      </p:sp>
      <p:pic>
        <p:nvPicPr>
          <p:cNvPr id="536" name="有声书播放.png" descr="有声书播放.png"/>
          <p:cNvPicPr>
            <a:picLocks noChangeAspect="1"/>
          </p:cNvPicPr>
          <p:nvPr/>
        </p:nvPicPr>
        <p:blipFill>
          <a:blip r:embed="rId3"/>
          <a:stretch>
            <a:fillRect/>
          </a:stretch>
        </p:blipFill>
        <p:spPr>
          <a:xfrm>
            <a:off x="11509178" y="1729581"/>
            <a:ext cx="4736806" cy="10256761"/>
          </a:xfrm>
          <a:prstGeom prst="rect">
            <a:avLst/>
          </a:prstGeom>
          <a:ln w="12700">
            <a:solidFill>
              <a:srgbClr val="D5D5D5"/>
            </a:solidFill>
            <a:miter lim="400000"/>
          </a:ln>
          <a:effectLst>
            <a:outerShdw blurRad="558800" dist="518043" dir="5400000" rotWithShape="0">
              <a:srgbClr val="000000">
                <a:alpha val="6974"/>
              </a:srgbClr>
            </a:outerShdw>
          </a:effectLst>
        </p:spPr>
      </p:pic>
      <p:pic>
        <p:nvPicPr>
          <p:cNvPr id="537" name="书籍阅读.png" descr="书籍阅读.png"/>
          <p:cNvPicPr>
            <a:picLocks noChangeAspect="1"/>
          </p:cNvPicPr>
          <p:nvPr/>
        </p:nvPicPr>
        <p:blipFill>
          <a:blip r:embed="rId4"/>
          <a:stretch>
            <a:fillRect/>
          </a:stretch>
        </p:blipFill>
        <p:spPr>
          <a:xfrm>
            <a:off x="5712262" y="1729581"/>
            <a:ext cx="4736805" cy="10256761"/>
          </a:xfrm>
          <a:prstGeom prst="rect">
            <a:avLst/>
          </a:prstGeom>
          <a:ln w="12700">
            <a:solidFill>
              <a:srgbClr val="D5D5D5"/>
            </a:solidFill>
            <a:miter lim="400000"/>
          </a:ln>
          <a:effectLst>
            <a:outerShdw blurRad="558800" dist="518043" dir="5400000" rotWithShape="0">
              <a:srgbClr val="000000">
                <a:alpha val="6974"/>
              </a:srgbClr>
            </a:outerShdw>
          </a:effectLst>
        </p:spPr>
      </p:pic>
      <p:pic>
        <p:nvPicPr>
          <p:cNvPr id="538" name="书院页面.png" descr="书院页面.png"/>
          <p:cNvPicPr>
            <a:picLocks noChangeAspect="1"/>
          </p:cNvPicPr>
          <p:nvPr/>
        </p:nvPicPr>
        <p:blipFill>
          <a:blip r:embed="rId5"/>
          <a:srcRect t="112" b="23715"/>
          <a:stretch>
            <a:fillRect/>
          </a:stretch>
        </p:blipFill>
        <p:spPr>
          <a:xfrm>
            <a:off x="-84655" y="1729581"/>
            <a:ext cx="4736806" cy="10256761"/>
          </a:xfrm>
          <a:prstGeom prst="rect">
            <a:avLst/>
          </a:prstGeom>
          <a:ln w="12700">
            <a:solidFill>
              <a:srgbClr val="D5D5D5"/>
            </a:solidFill>
            <a:miter lim="400000"/>
          </a:ln>
          <a:effectLst>
            <a:outerShdw blurRad="558800" dist="518043" dir="5400000" rotWithShape="0">
              <a:srgbClr val="000000">
                <a:alpha val="6974"/>
              </a:srgbClr>
            </a:outerShdw>
          </a:effectLst>
        </p:spPr>
      </p:pic>
      <p:sp>
        <p:nvSpPr>
          <p:cNvPr id="539" name="读书 智 能平台"/>
          <p:cNvSpPr txBox="1"/>
          <p:nvPr/>
        </p:nvSpPr>
        <p:spPr>
          <a:xfrm>
            <a:off x="21905972" y="3013552"/>
            <a:ext cx="841256" cy="4996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eaVert" wrap="none" lIns="50800" tIns="50800" rIns="50800" bIns="50800" anchor="ctr">
            <a:spAutoFit/>
          </a:bodyPr>
          <a:lstStyle>
            <a:lvl1pPr>
              <a:defRPr sz="4800" b="0" spc="864">
                <a:latin typeface="PingFang SC Light"/>
                <a:ea typeface="PingFang SC Light"/>
                <a:cs typeface="PingFang SC Light"/>
                <a:sym typeface="PingFang SC Light"/>
              </a:defRPr>
            </a:lvl1pPr>
          </a:lstStyle>
          <a:p>
            <a:r>
              <a:rPr dirty="0" err="1">
                <a:latin typeface="Source Han Serif SC" panose="02020400000000000000" pitchFamily="18" charset="-128"/>
                <a:ea typeface="Source Han Serif SC" panose="02020400000000000000" pitchFamily="18" charset="-128"/>
              </a:rPr>
              <a:t>读书</a:t>
            </a:r>
            <a:r>
              <a:rPr dirty="0">
                <a:latin typeface="Source Han Serif SC" panose="02020400000000000000" pitchFamily="18" charset="-128"/>
                <a:ea typeface="Source Han Serif SC" panose="02020400000000000000" pitchFamily="18" charset="-128"/>
              </a:rPr>
              <a:t> </a:t>
            </a:r>
            <a:r>
              <a:rPr dirty="0" err="1">
                <a:latin typeface="Source Han Serif SC" panose="02020400000000000000" pitchFamily="18" charset="-128"/>
                <a:ea typeface="Source Han Serif SC" panose="02020400000000000000" pitchFamily="18" charset="-128"/>
              </a:rPr>
              <a:t>智</a:t>
            </a:r>
            <a:r>
              <a:rPr dirty="0">
                <a:latin typeface="Source Han Serif SC" panose="02020400000000000000" pitchFamily="18" charset="-128"/>
                <a:ea typeface="Source Han Serif SC" panose="02020400000000000000" pitchFamily="18" charset="-128"/>
              </a:rPr>
              <a:t> </a:t>
            </a:r>
            <a:r>
              <a:rPr dirty="0" err="1">
                <a:latin typeface="Source Han Serif SC" panose="02020400000000000000" pitchFamily="18" charset="-128"/>
                <a:ea typeface="Source Han Serif SC" panose="02020400000000000000" pitchFamily="18" charset="-128"/>
              </a:rPr>
              <a:t>能平台</a:t>
            </a:r>
            <a:endParaRPr dirty="0">
              <a:latin typeface="Source Han Serif SC" panose="02020400000000000000" pitchFamily="18" charset="-128"/>
              <a:ea typeface="Source Han Serif SC" panose="02020400000000000000" pitchFamily="18" charset="-128"/>
            </a:endParaRPr>
          </a:p>
        </p:txBody>
      </p:sp>
      <p:pic>
        <p:nvPicPr>
          <p:cNvPr id="540" name="只.png" descr="只.png"/>
          <p:cNvPicPr>
            <a:picLocks noChangeAspect="1"/>
          </p:cNvPicPr>
          <p:nvPr/>
        </p:nvPicPr>
        <p:blipFill>
          <a:blip r:embed="rId6"/>
          <a:stretch>
            <a:fillRect/>
          </a:stretch>
        </p:blipFill>
        <p:spPr>
          <a:xfrm>
            <a:off x="21860764" y="4508651"/>
            <a:ext cx="1007872" cy="1007872"/>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F3C1C0F-D6C5-65B6-B98A-DD019278CD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4000" cy="13716000"/>
          </a:xfrm>
          <a:prstGeom prst="rect">
            <a:avLst/>
          </a:prstGeom>
        </p:spPr>
      </p:pic>
      <p:sp>
        <p:nvSpPr>
          <p:cNvPr id="544" name="书香氛围"/>
          <p:cNvSpPr txBox="1"/>
          <p:nvPr/>
        </p:nvSpPr>
        <p:spPr>
          <a:xfrm>
            <a:off x="19694109" y="2960370"/>
            <a:ext cx="2318583" cy="68736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eaVert" wrap="none" lIns="50800" tIns="50800" rIns="50800" bIns="50800" anchor="ctr">
            <a:spAutoFit/>
          </a:bodyPr>
          <a:lstStyle>
            <a:lvl1pPr algn="l">
              <a:lnSpc>
                <a:spcPct val="120000"/>
              </a:lnSpc>
              <a:defRPr sz="12000" b="0" spc="1200">
                <a:latin typeface="FZQingKeBenYueSongS-R-GB"/>
                <a:ea typeface="FZQingKeBenYueSongS-R-GB"/>
                <a:cs typeface="FZQingKeBenYueSongS-R-GB"/>
                <a:sym typeface="FZQingKeBenYueSongS-R-GB"/>
              </a:defRPr>
            </a:lvl1pPr>
          </a:lstStyle>
          <a:p>
            <a:r>
              <a:rPr b="1" dirty="0" err="1">
                <a:latin typeface="Source Han Serif SC Heavy" panose="02020400000000000000" pitchFamily="18" charset="-128"/>
                <a:ea typeface="Source Han Serif SC Heavy" panose="02020400000000000000" pitchFamily="18" charset="-128"/>
              </a:rPr>
              <a:t>书香氛围</a:t>
            </a:r>
            <a:endParaRPr b="1" dirty="0">
              <a:latin typeface="Source Han Serif SC Heavy" panose="02020400000000000000" pitchFamily="18" charset="-128"/>
              <a:ea typeface="Source Han Serif SC Heavy" panose="02020400000000000000" pitchFamily="18" charset="-128"/>
            </a:endParaRPr>
          </a:p>
        </p:txBody>
      </p:sp>
      <p:pic>
        <p:nvPicPr>
          <p:cNvPr id="545" name="启动页-1.png" descr="启动页-1.png"/>
          <p:cNvPicPr>
            <a:picLocks noChangeAspect="1"/>
          </p:cNvPicPr>
          <p:nvPr/>
        </p:nvPicPr>
        <p:blipFill>
          <a:blip r:embed="rId3"/>
          <a:stretch>
            <a:fillRect/>
          </a:stretch>
        </p:blipFill>
        <p:spPr>
          <a:xfrm>
            <a:off x="5119092" y="1729581"/>
            <a:ext cx="4736805" cy="10256761"/>
          </a:xfrm>
          <a:prstGeom prst="rect">
            <a:avLst/>
          </a:prstGeom>
          <a:ln w="12700">
            <a:solidFill>
              <a:srgbClr val="D5D5D5"/>
            </a:solidFill>
            <a:miter lim="400000"/>
          </a:ln>
          <a:effectLst>
            <a:outerShdw blurRad="558800" dist="518043" dir="5400000" rotWithShape="0">
              <a:srgbClr val="000000">
                <a:alpha val="6974"/>
              </a:srgbClr>
            </a:outerShdw>
          </a:effectLst>
        </p:spPr>
      </p:pic>
      <p:pic>
        <p:nvPicPr>
          <p:cNvPr id="546" name="启动页-2.png" descr="启动页-2.png"/>
          <p:cNvPicPr>
            <a:picLocks noChangeAspect="1"/>
          </p:cNvPicPr>
          <p:nvPr/>
        </p:nvPicPr>
        <p:blipFill>
          <a:blip r:embed="rId4"/>
          <a:stretch>
            <a:fillRect/>
          </a:stretch>
        </p:blipFill>
        <p:spPr>
          <a:xfrm>
            <a:off x="11194915" y="1729581"/>
            <a:ext cx="4736806" cy="10256761"/>
          </a:xfrm>
          <a:prstGeom prst="rect">
            <a:avLst/>
          </a:prstGeom>
          <a:ln w="12700">
            <a:solidFill>
              <a:srgbClr val="D5D5D5"/>
            </a:solidFill>
            <a:miter lim="400000"/>
          </a:ln>
          <a:effectLst>
            <a:outerShdw blurRad="558800" dist="518043" dir="5400000" rotWithShape="0">
              <a:srgbClr val="000000">
                <a:alpha val="6974"/>
              </a:srgbClr>
            </a:outerShdw>
          </a:effectLst>
        </p:spPr>
      </p:pic>
      <p:sp>
        <p:nvSpPr>
          <p:cNvPr id="547" name="读书 智 能平台"/>
          <p:cNvSpPr txBox="1"/>
          <p:nvPr/>
        </p:nvSpPr>
        <p:spPr>
          <a:xfrm>
            <a:off x="21971000" y="2983941"/>
            <a:ext cx="711200" cy="50557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eaVert" wrap="none" lIns="50800" tIns="50800" rIns="50800" bIns="508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4800" b="0" spc="864">
                <a:latin typeface="Source Han Serif SC" panose="02020400000000000000" pitchFamily="18" charset="-128"/>
                <a:ea typeface="Source Han Serif SC" panose="02020400000000000000" pitchFamily="18" charset="-128"/>
                <a:cs typeface="PingFang SC Light"/>
              </a:defRPr>
            </a:lvl1pPr>
          </a:lstStyle>
          <a:p>
            <a:r>
              <a:rPr dirty="0" err="1"/>
              <a:t>读书</a:t>
            </a:r>
            <a:r>
              <a:rPr dirty="0"/>
              <a:t> </a:t>
            </a:r>
            <a:r>
              <a:rPr dirty="0" err="1"/>
              <a:t>智</a:t>
            </a:r>
            <a:r>
              <a:rPr dirty="0"/>
              <a:t> </a:t>
            </a:r>
            <a:r>
              <a:rPr dirty="0" err="1"/>
              <a:t>能平台</a:t>
            </a:r>
            <a:endParaRPr dirty="0"/>
          </a:p>
        </p:txBody>
      </p:sp>
      <p:pic>
        <p:nvPicPr>
          <p:cNvPr id="548" name="只.png" descr="只.png"/>
          <p:cNvPicPr>
            <a:picLocks noChangeAspect="1"/>
          </p:cNvPicPr>
          <p:nvPr/>
        </p:nvPicPr>
        <p:blipFill>
          <a:blip r:embed="rId5"/>
          <a:stretch>
            <a:fillRect/>
          </a:stretch>
        </p:blipFill>
        <p:spPr>
          <a:xfrm>
            <a:off x="21860764" y="4508651"/>
            <a:ext cx="1007872" cy="1007872"/>
          </a:xfrm>
          <a:prstGeom prst="rect">
            <a:avLst/>
          </a:prstGeom>
          <a:ln w="12700">
            <a:miter lim="400000"/>
          </a:ln>
        </p:spPr>
      </p:pic>
      <p:pic>
        <p:nvPicPr>
          <p:cNvPr id="549" name="启动页-2备份.png" descr="启动页-2备份.png"/>
          <p:cNvPicPr>
            <a:picLocks noChangeAspect="1"/>
          </p:cNvPicPr>
          <p:nvPr/>
        </p:nvPicPr>
        <p:blipFill>
          <a:blip r:embed="rId6"/>
          <a:srcRect/>
          <a:stretch>
            <a:fillRect/>
          </a:stretch>
        </p:blipFill>
        <p:spPr>
          <a:xfrm>
            <a:off x="-956731" y="1729878"/>
            <a:ext cx="4736526" cy="10256156"/>
          </a:xfrm>
          <a:prstGeom prst="rect">
            <a:avLst/>
          </a:prstGeom>
          <a:ln w="12700">
            <a:solidFill>
              <a:srgbClr val="D5D5D5"/>
            </a:solidFill>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6E3C0A1-6907-6E6F-3514-D1CA30558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53" y="-57937"/>
            <a:ext cx="24552442" cy="13830505"/>
          </a:xfrm>
          <a:prstGeom prst="rect">
            <a:avLst/>
          </a:prstGeom>
        </p:spPr>
      </p:pic>
      <p:sp>
        <p:nvSpPr>
          <p:cNvPr id="580" name="感谢各位领导聆听！"/>
          <p:cNvSpPr txBox="1"/>
          <p:nvPr/>
        </p:nvSpPr>
        <p:spPr>
          <a:xfrm>
            <a:off x="2986191" y="5865812"/>
            <a:ext cx="16690226" cy="15271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lgn="l" defTabSz="13716">
              <a:lnSpc>
                <a:spcPct val="120000"/>
              </a:lnSpc>
              <a:tabLst>
                <a:tab pos="381000" algn="l"/>
                <a:tab pos="762000" algn="l"/>
                <a:tab pos="1143000" algn="l"/>
                <a:tab pos="1524000" algn="l"/>
                <a:tab pos="1917700" algn="l"/>
                <a:tab pos="2298700" algn="l"/>
                <a:tab pos="2679700" algn="l"/>
                <a:tab pos="3060700" algn="l"/>
                <a:tab pos="3454400" algn="l"/>
                <a:tab pos="3835400" algn="l"/>
                <a:tab pos="4216400" algn="l"/>
                <a:tab pos="4597400" algn="l"/>
              </a:tabLst>
              <a:defRPr sz="10000" b="0">
                <a:solidFill>
                  <a:srgbClr val="FFFFFF"/>
                </a:solidFill>
                <a:latin typeface="FZQingKeBenYueSongS-R-GB"/>
                <a:ea typeface="FZQingKeBenYueSongS-R-GB"/>
                <a:cs typeface="FZQingKeBenYueSongS-R-GB"/>
                <a:sym typeface="FZQingKeBenYueSongS-R-GB"/>
              </a:defRPr>
            </a:lvl1pPr>
          </a:lstStyle>
          <a:p>
            <a:r>
              <a:t>感谢各位领导聆听！</a:t>
            </a:r>
          </a:p>
        </p:txBody>
      </p:sp>
      <p:sp>
        <p:nvSpPr>
          <p:cNvPr id="584" name="矩形"/>
          <p:cNvSpPr/>
          <p:nvPr/>
        </p:nvSpPr>
        <p:spPr>
          <a:xfrm>
            <a:off x="2288667" y="4484127"/>
            <a:ext cx="12360843" cy="4290546"/>
          </a:xfrm>
          <a:prstGeom prst="rect">
            <a:avLst/>
          </a:prstGeom>
          <a:ln w="101600">
            <a:solidFill>
              <a:srgbClr val="FFFFF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b="0" dirty="0">
              <a:latin typeface="Source Han Serif SC Medium" panose="02020400000000000000" pitchFamily="18" charset="-128"/>
              <a:ea typeface="Source Han Serif SC Medium" panose="02020400000000000000" pitchFamily="18" charset="-128"/>
            </a:endParaRPr>
          </a:p>
        </p:txBody>
      </p:sp>
      <p:sp>
        <p:nvSpPr>
          <p:cNvPr id="585" name="全国政协委员履职与读书智能平台视觉设计汇报"/>
          <p:cNvSpPr txBox="1"/>
          <p:nvPr/>
        </p:nvSpPr>
        <p:spPr>
          <a:xfrm>
            <a:off x="3275326" y="3246768"/>
            <a:ext cx="19052548" cy="829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spAutoFit/>
          </a:bodyPr>
          <a:lstStyle>
            <a:lvl1pPr algn="l" defTabSz="13716">
              <a:lnSpc>
                <a:spcPct val="120000"/>
              </a:lnSpc>
              <a:tabLst>
                <a:tab pos="381000" algn="l"/>
                <a:tab pos="762000" algn="l"/>
                <a:tab pos="1143000" algn="l"/>
                <a:tab pos="1524000" algn="l"/>
                <a:tab pos="1917700" algn="l"/>
                <a:tab pos="2298700" algn="l"/>
                <a:tab pos="2679700" algn="l"/>
                <a:tab pos="3060700" algn="l"/>
                <a:tab pos="3454400" algn="l"/>
                <a:tab pos="3835400" algn="l"/>
                <a:tab pos="4216400" algn="l"/>
                <a:tab pos="4597400" algn="l"/>
              </a:tabLst>
              <a:defRPr sz="4000" b="0">
                <a:solidFill>
                  <a:srgbClr val="FFFFFF"/>
                </a:solidFill>
                <a:latin typeface="FZQingKeBenYueSongS-R-GB"/>
                <a:ea typeface="FZQingKeBenYueSongS-R-GB"/>
                <a:cs typeface="FZQingKeBenYueSongS-R-GB"/>
                <a:sym typeface="FZQingKeBenYueSongS-R-GB"/>
              </a:defRPr>
            </a:lvl1pPr>
          </a:lstStyle>
          <a:p>
            <a:r>
              <a:rPr lang="zh-CN" altLang="zh-CN" dirty="0">
                <a:solidFill>
                  <a:schemeClr val="bg1"/>
                </a:solidFill>
              </a:rPr>
              <a:t>广东省政务服务和数据管理局</a:t>
            </a:r>
            <a:r>
              <a:rPr lang="zh-CN" altLang="en-US" dirty="0">
                <a:solidFill>
                  <a:schemeClr val="bg1"/>
                </a:solidFill>
              </a:rPr>
              <a:t>工作成果展示</a:t>
            </a:r>
            <a:endParaRPr dirty="0"/>
          </a:p>
        </p:txBody>
      </p:sp>
      <p:pic>
        <p:nvPicPr>
          <p:cNvPr id="586" name="b2e504ed386043cb92412fce0f786066.jpg" descr="b2e504ed386043cb92412fce0f786066.jpg"/>
          <p:cNvPicPr>
            <a:picLocks noChangeAspect="1"/>
          </p:cNvPicPr>
          <p:nvPr/>
        </p:nvPicPr>
        <p:blipFill>
          <a:blip r:embed="rId3"/>
          <a:srcRect l="1382" t="2105" r="1253" b="1446"/>
          <a:stretch>
            <a:fillRect/>
          </a:stretch>
        </p:blipFill>
        <p:spPr>
          <a:xfrm>
            <a:off x="2388541" y="3280666"/>
            <a:ext cx="723602" cy="761916"/>
          </a:xfrm>
          <a:custGeom>
            <a:avLst/>
            <a:gdLst/>
            <a:ahLst/>
            <a:cxnLst>
              <a:cxn ang="0">
                <a:pos x="wd2" y="hd2"/>
              </a:cxn>
              <a:cxn ang="5400000">
                <a:pos x="wd2" y="hd2"/>
              </a:cxn>
              <a:cxn ang="10800000">
                <a:pos x="wd2" y="hd2"/>
              </a:cxn>
              <a:cxn ang="16200000">
                <a:pos x="wd2" y="hd2"/>
              </a:cxn>
            </a:cxnLst>
            <a:rect l="0" t="0" r="r" b="b"/>
            <a:pathLst>
              <a:path w="21444" h="21581" extrusionOk="0">
                <a:moveTo>
                  <a:pt x="9800" y="31"/>
                </a:moveTo>
                <a:lnTo>
                  <a:pt x="9589" y="65"/>
                </a:lnTo>
                <a:lnTo>
                  <a:pt x="9589" y="346"/>
                </a:lnTo>
                <a:cubicBezTo>
                  <a:pt x="9589" y="600"/>
                  <a:pt x="9577" y="625"/>
                  <a:pt x="9447" y="672"/>
                </a:cubicBezTo>
                <a:cubicBezTo>
                  <a:pt x="9369" y="700"/>
                  <a:pt x="9159" y="732"/>
                  <a:pt x="8977" y="739"/>
                </a:cubicBezTo>
                <a:lnTo>
                  <a:pt x="8648" y="750"/>
                </a:lnTo>
                <a:lnTo>
                  <a:pt x="8554" y="514"/>
                </a:lnTo>
                <a:cubicBezTo>
                  <a:pt x="8503" y="386"/>
                  <a:pt x="8422" y="276"/>
                  <a:pt x="8377" y="267"/>
                </a:cubicBezTo>
                <a:cubicBezTo>
                  <a:pt x="8258" y="244"/>
                  <a:pt x="7723" y="389"/>
                  <a:pt x="7025" y="627"/>
                </a:cubicBezTo>
                <a:cubicBezTo>
                  <a:pt x="6199" y="907"/>
                  <a:pt x="6233" y="864"/>
                  <a:pt x="6342" y="1189"/>
                </a:cubicBezTo>
                <a:cubicBezTo>
                  <a:pt x="6392" y="1337"/>
                  <a:pt x="6430" y="1477"/>
                  <a:pt x="6413" y="1503"/>
                </a:cubicBezTo>
                <a:cubicBezTo>
                  <a:pt x="6396" y="1530"/>
                  <a:pt x="6206" y="1641"/>
                  <a:pt x="6001" y="1739"/>
                </a:cubicBezTo>
                <a:lnTo>
                  <a:pt x="5637" y="1908"/>
                </a:lnTo>
                <a:lnTo>
                  <a:pt x="5449" y="1683"/>
                </a:lnTo>
                <a:cubicBezTo>
                  <a:pt x="5349" y="1557"/>
                  <a:pt x="5247" y="1448"/>
                  <a:pt x="5225" y="1447"/>
                </a:cubicBezTo>
                <a:cubicBezTo>
                  <a:pt x="5148" y="1444"/>
                  <a:pt x="4444" y="1910"/>
                  <a:pt x="3990" y="2257"/>
                </a:cubicBezTo>
                <a:cubicBezTo>
                  <a:pt x="3316" y="2771"/>
                  <a:pt x="3352" y="2706"/>
                  <a:pt x="3555" y="2976"/>
                </a:cubicBezTo>
                <a:cubicBezTo>
                  <a:pt x="3652" y="3105"/>
                  <a:pt x="3719" y="3230"/>
                  <a:pt x="3708" y="3257"/>
                </a:cubicBezTo>
                <a:cubicBezTo>
                  <a:pt x="3697" y="3284"/>
                  <a:pt x="3561" y="3441"/>
                  <a:pt x="3402" y="3606"/>
                </a:cubicBezTo>
                <a:lnTo>
                  <a:pt x="3120" y="3898"/>
                </a:lnTo>
                <a:lnTo>
                  <a:pt x="2885" y="3740"/>
                </a:lnTo>
                <a:cubicBezTo>
                  <a:pt x="2754" y="3651"/>
                  <a:pt x="2620" y="3583"/>
                  <a:pt x="2591" y="3583"/>
                </a:cubicBezTo>
                <a:cubicBezTo>
                  <a:pt x="2561" y="3583"/>
                  <a:pt x="2397" y="3760"/>
                  <a:pt x="2226" y="3977"/>
                </a:cubicBezTo>
                <a:cubicBezTo>
                  <a:pt x="611" y="6025"/>
                  <a:pt x="-156" y="8442"/>
                  <a:pt x="27" y="10946"/>
                </a:cubicBezTo>
                <a:cubicBezTo>
                  <a:pt x="73" y="11587"/>
                  <a:pt x="194" y="12312"/>
                  <a:pt x="297" y="12655"/>
                </a:cubicBezTo>
                <a:cubicBezTo>
                  <a:pt x="341" y="12799"/>
                  <a:pt x="330" y="12851"/>
                  <a:pt x="238" y="12970"/>
                </a:cubicBezTo>
                <a:cubicBezTo>
                  <a:pt x="112" y="13133"/>
                  <a:pt x="87" y="13517"/>
                  <a:pt x="191" y="13712"/>
                </a:cubicBezTo>
                <a:cubicBezTo>
                  <a:pt x="227" y="13778"/>
                  <a:pt x="396" y="14031"/>
                  <a:pt x="568" y="14274"/>
                </a:cubicBezTo>
                <a:cubicBezTo>
                  <a:pt x="740" y="14516"/>
                  <a:pt x="1033" y="14995"/>
                  <a:pt x="1215" y="15342"/>
                </a:cubicBezTo>
                <a:cubicBezTo>
                  <a:pt x="1450" y="15791"/>
                  <a:pt x="1597" y="16024"/>
                  <a:pt x="1744" y="16140"/>
                </a:cubicBezTo>
                <a:cubicBezTo>
                  <a:pt x="1946" y="16299"/>
                  <a:pt x="1946" y="16305"/>
                  <a:pt x="1932" y="16623"/>
                </a:cubicBezTo>
                <a:cubicBezTo>
                  <a:pt x="1910" y="17117"/>
                  <a:pt x="2033" y="17267"/>
                  <a:pt x="2767" y="17691"/>
                </a:cubicBezTo>
                <a:cubicBezTo>
                  <a:pt x="3656" y="18204"/>
                  <a:pt x="3908" y="18380"/>
                  <a:pt x="4508" y="18860"/>
                </a:cubicBezTo>
                <a:cubicBezTo>
                  <a:pt x="5141" y="19367"/>
                  <a:pt x="5229" y="19410"/>
                  <a:pt x="5472" y="19411"/>
                </a:cubicBezTo>
                <a:cubicBezTo>
                  <a:pt x="5629" y="19412"/>
                  <a:pt x="5825" y="19555"/>
                  <a:pt x="6954" y="20501"/>
                </a:cubicBezTo>
                <a:cubicBezTo>
                  <a:pt x="7669" y="21101"/>
                  <a:pt x="8265" y="21589"/>
                  <a:pt x="8283" y="21581"/>
                </a:cubicBezTo>
                <a:cubicBezTo>
                  <a:pt x="8301" y="21572"/>
                  <a:pt x="8560" y="21445"/>
                  <a:pt x="8859" y="21300"/>
                </a:cubicBezTo>
                <a:cubicBezTo>
                  <a:pt x="9546" y="20965"/>
                  <a:pt x="10306" y="20682"/>
                  <a:pt x="10635" y="20636"/>
                </a:cubicBezTo>
                <a:cubicBezTo>
                  <a:pt x="10859" y="20606"/>
                  <a:pt x="10959" y="20634"/>
                  <a:pt x="11482" y="20839"/>
                </a:cubicBezTo>
                <a:cubicBezTo>
                  <a:pt x="11810" y="20967"/>
                  <a:pt x="12329" y="21187"/>
                  <a:pt x="12635" y="21333"/>
                </a:cubicBezTo>
                <a:cubicBezTo>
                  <a:pt x="13123" y="21567"/>
                  <a:pt x="13203" y="21589"/>
                  <a:pt x="13282" y="21524"/>
                </a:cubicBezTo>
                <a:cubicBezTo>
                  <a:pt x="13331" y="21484"/>
                  <a:pt x="13919" y="20995"/>
                  <a:pt x="14587" y="20434"/>
                </a:cubicBezTo>
                <a:cubicBezTo>
                  <a:pt x="15667" y="19528"/>
                  <a:pt x="15819" y="19411"/>
                  <a:pt x="15987" y="19411"/>
                </a:cubicBezTo>
                <a:cubicBezTo>
                  <a:pt x="16237" y="19411"/>
                  <a:pt x="16333" y="19359"/>
                  <a:pt x="16939" y="18871"/>
                </a:cubicBezTo>
                <a:cubicBezTo>
                  <a:pt x="17430" y="18477"/>
                  <a:pt x="17959" y="18131"/>
                  <a:pt x="18903" y="17579"/>
                </a:cubicBezTo>
                <a:cubicBezTo>
                  <a:pt x="19432" y="17270"/>
                  <a:pt x="19573" y="17058"/>
                  <a:pt x="19539" y="16601"/>
                </a:cubicBezTo>
                <a:cubicBezTo>
                  <a:pt x="19516" y="16305"/>
                  <a:pt x="19519" y="16302"/>
                  <a:pt x="19715" y="16151"/>
                </a:cubicBezTo>
                <a:cubicBezTo>
                  <a:pt x="19858" y="16041"/>
                  <a:pt x="20004" y="15821"/>
                  <a:pt x="20221" y="15398"/>
                </a:cubicBezTo>
                <a:cubicBezTo>
                  <a:pt x="20388" y="15073"/>
                  <a:pt x="20699" y="14552"/>
                  <a:pt x="20915" y="14240"/>
                </a:cubicBezTo>
                <a:cubicBezTo>
                  <a:pt x="21369" y="13583"/>
                  <a:pt x="21437" y="13327"/>
                  <a:pt x="21244" y="13015"/>
                </a:cubicBezTo>
                <a:cubicBezTo>
                  <a:pt x="21136" y="12840"/>
                  <a:pt x="21135" y="12832"/>
                  <a:pt x="21232" y="12441"/>
                </a:cubicBezTo>
                <a:cubicBezTo>
                  <a:pt x="21388" y="11815"/>
                  <a:pt x="21444" y="11205"/>
                  <a:pt x="21444" y="10227"/>
                </a:cubicBezTo>
                <a:cubicBezTo>
                  <a:pt x="21444" y="8521"/>
                  <a:pt x="21116" y="7150"/>
                  <a:pt x="20327" y="5629"/>
                </a:cubicBezTo>
                <a:cubicBezTo>
                  <a:pt x="20044" y="5085"/>
                  <a:pt x="19393" y="4124"/>
                  <a:pt x="19056" y="3740"/>
                </a:cubicBezTo>
                <a:lnTo>
                  <a:pt x="18903" y="3561"/>
                </a:lnTo>
                <a:lnTo>
                  <a:pt x="18645" y="3718"/>
                </a:lnTo>
                <a:lnTo>
                  <a:pt x="18374" y="3887"/>
                </a:lnTo>
                <a:lnTo>
                  <a:pt x="18068" y="3594"/>
                </a:lnTo>
                <a:cubicBezTo>
                  <a:pt x="17896" y="3432"/>
                  <a:pt x="17751" y="3270"/>
                  <a:pt x="17751" y="3246"/>
                </a:cubicBezTo>
                <a:cubicBezTo>
                  <a:pt x="17751" y="3222"/>
                  <a:pt x="17822" y="3105"/>
                  <a:pt x="17915" y="2976"/>
                </a:cubicBezTo>
                <a:cubicBezTo>
                  <a:pt x="18111" y="2705"/>
                  <a:pt x="18153" y="2770"/>
                  <a:pt x="17480" y="2257"/>
                </a:cubicBezTo>
                <a:cubicBezTo>
                  <a:pt x="17026" y="1910"/>
                  <a:pt x="16323" y="1444"/>
                  <a:pt x="16245" y="1447"/>
                </a:cubicBezTo>
                <a:cubicBezTo>
                  <a:pt x="16223" y="1448"/>
                  <a:pt x="16122" y="1557"/>
                  <a:pt x="16022" y="1683"/>
                </a:cubicBezTo>
                <a:lnTo>
                  <a:pt x="15834" y="1908"/>
                </a:lnTo>
                <a:lnTo>
                  <a:pt x="15528" y="1762"/>
                </a:lnTo>
                <a:cubicBezTo>
                  <a:pt x="15008" y="1509"/>
                  <a:pt x="15022" y="1516"/>
                  <a:pt x="15128" y="1200"/>
                </a:cubicBezTo>
                <a:cubicBezTo>
                  <a:pt x="15178" y="1051"/>
                  <a:pt x="15203" y="923"/>
                  <a:pt x="15187" y="908"/>
                </a:cubicBezTo>
                <a:cubicBezTo>
                  <a:pt x="15125" y="848"/>
                  <a:pt x="13971" y="450"/>
                  <a:pt x="13517" y="334"/>
                </a:cubicBezTo>
                <a:lnTo>
                  <a:pt x="13035" y="211"/>
                </a:lnTo>
                <a:lnTo>
                  <a:pt x="12940" y="469"/>
                </a:lnTo>
                <a:cubicBezTo>
                  <a:pt x="12888" y="610"/>
                  <a:pt x="12812" y="744"/>
                  <a:pt x="12764" y="761"/>
                </a:cubicBezTo>
                <a:cubicBezTo>
                  <a:pt x="12716" y="779"/>
                  <a:pt x="12506" y="757"/>
                  <a:pt x="12294" y="717"/>
                </a:cubicBezTo>
                <a:lnTo>
                  <a:pt x="11905" y="649"/>
                </a:lnTo>
                <a:lnTo>
                  <a:pt x="11894" y="357"/>
                </a:lnTo>
                <a:cubicBezTo>
                  <a:pt x="11878" y="76"/>
                  <a:pt x="11866" y="61"/>
                  <a:pt x="11706" y="31"/>
                </a:cubicBezTo>
                <a:cubicBezTo>
                  <a:pt x="11489" y="-11"/>
                  <a:pt x="10065" y="-11"/>
                  <a:pt x="9800" y="31"/>
                </a:cubicBezTo>
                <a:close/>
              </a:path>
            </a:pathLst>
          </a:custGeom>
          <a:ln w="12700">
            <a:miter lim="400000"/>
          </a:ln>
        </p:spPr>
      </p:pic>
      <p:sp>
        <p:nvSpPr>
          <p:cNvPr id="3" name="汇报人：腾讯CDC 吴俊鹏">
            <a:extLst>
              <a:ext uri="{FF2B5EF4-FFF2-40B4-BE49-F238E27FC236}">
                <a16:creationId xmlns:a16="http://schemas.microsoft.com/office/drawing/2014/main" id="{AAEB1C1F-C481-264A-4D8E-8F23D8CC499C}"/>
              </a:ext>
            </a:extLst>
          </p:cNvPr>
          <p:cNvSpPr txBox="1"/>
          <p:nvPr/>
        </p:nvSpPr>
        <p:spPr>
          <a:xfrm>
            <a:off x="2288667" y="8980516"/>
            <a:ext cx="12360842" cy="677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tIns="91439" bIns="91439">
            <a:spAutoFit/>
          </a:bodyPr>
          <a:lstStyle>
            <a:lvl1pPr algn="l" defTabSz="1828800">
              <a:defRPr sz="3200" b="0">
                <a:solidFill>
                  <a:srgbClr val="5E5E5E"/>
                </a:solidFill>
                <a:latin typeface="PingFang SC Light"/>
                <a:ea typeface="PingFang SC Light"/>
                <a:cs typeface="PingFang SC Light"/>
                <a:sym typeface="PingFang SC Light"/>
              </a:defRPr>
            </a:lvl1pPr>
          </a:lstStyle>
          <a:p>
            <a:r>
              <a:rPr lang="en-US" dirty="0" err="1">
                <a:solidFill>
                  <a:schemeClr val="bg1"/>
                </a:solidFill>
                <a:latin typeface="Source Han Serif SC" panose="02020400000000000000" pitchFamily="18" charset="-128"/>
                <a:ea typeface="Source Han Serif SC" panose="02020400000000000000" pitchFamily="18" charset="-128"/>
              </a:rPr>
              <a:t>汇报人</a:t>
            </a:r>
            <a:r>
              <a:rPr lang="zh-CN" altLang="en-US" dirty="0">
                <a:solidFill>
                  <a:schemeClr val="bg1"/>
                </a:solidFill>
                <a:latin typeface="Source Han Serif SC" panose="02020400000000000000" pitchFamily="18" charset="-128"/>
                <a:ea typeface="Source Han Serif SC" panose="02020400000000000000" pitchFamily="18" charset="-128"/>
              </a:rPr>
              <a:t>： </a:t>
            </a:r>
            <a:r>
              <a:rPr lang="en-US" altLang="zh-CN" dirty="0">
                <a:solidFill>
                  <a:schemeClr val="bg1"/>
                </a:solidFill>
                <a:latin typeface="Source Han Serif SC" panose="02020400000000000000" pitchFamily="18" charset="-128"/>
                <a:ea typeface="Source Han Serif SC" panose="02020400000000000000" pitchFamily="18" charset="-128"/>
              </a:rPr>
              <a:t>XXX</a:t>
            </a:r>
            <a:endParaRPr dirty="0">
              <a:solidFill>
                <a:schemeClr val="bg1"/>
              </a:solidFill>
              <a:latin typeface="Source Han Serif SC" panose="02020400000000000000" pitchFamily="18" charset="-128"/>
              <a:ea typeface="Source Han Serif SC" panose="02020400000000000000" pitchFamily="18" charset="-128"/>
            </a:endParaRP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92</TotalTime>
  <Words>344</Words>
  <Application>Microsoft Macintosh PowerPoint</Application>
  <PresentationFormat>自定义</PresentationFormat>
  <Paragraphs>99</Paragraphs>
  <Slides>13</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FZQingKeBenYueSongS-R-GB</vt:lpstr>
      <vt:lpstr>Source Han Sans CN Light</vt:lpstr>
      <vt:lpstr>Source Han Serif SC</vt:lpstr>
      <vt:lpstr>Source Han Serif SC Heavy</vt:lpstr>
      <vt:lpstr>Source Han Serif SC Medium</vt:lpstr>
      <vt:lpstr>Source Han Serif SC SemiBold</vt:lpstr>
      <vt:lpstr>Helvetica Neue</vt:lpstr>
      <vt:lpstr>White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Wu Peter</cp:lastModifiedBy>
  <cp:revision>6</cp:revision>
  <dcterms:modified xsi:type="dcterms:W3CDTF">2026-06-01T15:26:26Z</dcterms:modified>
</cp:coreProperties>
</file>