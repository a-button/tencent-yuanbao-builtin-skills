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3"/>
    <p:restoredTop sz="96265"/>
  </p:normalViewPr>
  <p:slideViewPr>
    <p:cSldViewPr snapToGrid="0">
      <p:cViewPr>
        <p:scale>
          <a:sx n="138" d="100"/>
          <a:sy n="138" d="100"/>
        </p:scale>
        <p:origin x="512" y="4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</a:lstStyle>
          <a:p>
            <a:fld id="{B7268E1E-0E44-426D-905E-8AD9B19D2182}" type="datetimeFigureOut">
              <a:rPr lang="cs-CZ" smtClean="0"/>
              <a:pPr/>
              <a:t>02.06.2026</a:t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Source Han Serif SC" panose="02020400000000000000" pitchFamily="18" charset="-128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各位代表：现在，我代表市人民政府向大会作工作报告，请予审议，并请各位政协委员和其他列席人员提出意见。本次报告将回顾过去一年的工作，并对新一年的发展进行规划。我们将共同见证一个新时代的开启，踏上新的征程，谱写城市发展的新篇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本次报告将分为四个部分。首先，我们将一同回顾2025年的工作，总结我们取得的成绩。其次，我们将正视发展中存在的问题与挑战。接着，我将阐述2026年的总体工作要求和主要目标。最后，将详细部署新一年的重点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现在，我们进入第一部分：2025年工作回顾。过去的一年，是全面贯彻落实党的二十届四中全会精神的关键之年。在市委的坚强领导下，我们砥砺奋进，实现了经济社会发展的稳中求进，取得了来之不易的新成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2025年，我市经济社会发展交出了一份亮眼的成绩单。经济总量稳步增长，GDP达到1.82万亿元，增速5.2%。财政运行稳健，收入质量进一步提升。更重要的是，发展成果惠及民生，居民收入实现了6.5%的增长，跑赢了GDP增速，人民群众的获得感和幸福感不断增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我们坚持把发展经济的着力点放在实体经济上。一方面，先进制造业集群不断壮大，数字经济、人工智能、生物医药等战略性新兴产业成为拉动增长的主引擎。另一方面，现代服务业提质增效，金融业、会展经济等领域亮点纷呈，为经济高质量发展注入了强大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改革开放是发展的根本动力。我们以更大魄力推进改革攻坚，“放管服”改革持续深化，营商环境不断优化。同时，高水平对外开放迈出坚实步伐，外贸外资稳中有进，国际“朋友圈”不断扩大，为城市发展赢得了更广阔的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我们坚持人民城市人民建、人民城市为人民。过去一年，城市功能品质显著提升。轨道交通网络不断延伸，国际机场扩建稳步推进，城市路网更加畅通。同时，城市更新行动扎实推进，老旧小区和城中村改造让更多市民享受到了更美好的居住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我们坚持生态优先、绿色发展。2025年，我市生态文明建设成效显著。蓝天白云成为常态，PM2.5浓度创历史新低。水环境质量持续改善，国考断面水质全部达标。绿色低碳转型步伐加快，我们成功建成全国首个“无废城市”建设标杆市，为子孙后代守护了绿水青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民生是人民幸福之基、社会和谐之本。我们用心用情解决群众急难愁盼问题。教育方面，新增了10万个学位，让孩子们“有学上、上好学”。医疗方面，优质医疗资源扩容，市民看病就医更方便。社会保障网越织越密，特别是新建了5万套保障性租赁住房，有效缓解了新市民的住房困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各位代表，回顾过去，我们倍感自豪。展望未来，我们信心满怀。在肯定成绩的同时，我们也清醒地认识到经济恢复基础尚不牢固、科技创新能力有待提升等问题。新的一年，我们将直面挑战，锐意进取，共同开创更加辉煌的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展望2026年，我们提出了新的发展目标。我们预期地区生产总值增长5.5%左右，一般公共预算收入增长6%左右，城镇新增就业25万人以上。这些目标的设定，既考虑了当前的宏观环境，也体现了我们推动高质量发展的决心和信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为实现全年目标，我们将首先聚焦高质量发展，加快构建现代化产业体系。一方面，做强做优实体经济，通过智能化改造和产业集群培育，提升产业核心竞争力。另一方面，大力发展现代服务业，促进金融、消费等领域提质升级，形成实体经济与现代服务业双轮驱动的良好格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创新是第一动力，改革是关键一招。新的一年，我们将聚焦科技创新，强化战略科技力量，激发人才创新活力，全面塑造发展新优势。同时，我们将持续深化改革开放，通过优化营商环境和推进高水平对外开放，不断为城市发展注入新的活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我们将聚焦城市更新，加快重大基础设施建设，提升城市综合承载力，让城市更宜居、更韧性。同时，聚焦绿色转型，持续加强污染防治，积极稳妥推进碳达峰碳中和，筑牢生态安全屏障，让绿色成为城市发展最亮丽的底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发展的最终目的是为了人民。我们将聚焦共同富裕，用心用情保障和改善民生，特别是在住房、养老、托育等方面持续发力。同时，聚焦安全稳定，坚决守牢安全发展底线，建设更高水平的平安城市，让市民生活得更安心、更舒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u="none" strike="noStrike" dirty="0">
                <a:solidFill>
                  <a:srgbClr val="000000"/>
                </a:solidFill>
              </a:rPr>
              <a:t>各位代表，新征程的号角已经吹响，新蓝图的画卷正待我们共同描绘。让我们更加紧密地团结起来，在市委的坚强领导下，以永不懈怠的精神状态和一往无前的奋斗姿态，携手并肩，为建设更加美好的XX而努力奋斗！我的报告完了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 b="0" i="0">
                <a:solidFill>
                  <a:srgbClr val="888888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0" i="0"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 dirty="0"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zh-CN" altLang="en-US" dirty="0"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zh-CN" altLang="en-US" dirty="0"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MiSans Medium" pitchFamily="2" charset="-128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ource Han Serif SC" panose="02020400000000000000" pitchFamily="18" charset="-128"/>
          <a:ea typeface="Source Han Serif SC" panose="02020400000000000000" pitchFamily="18" charset="-128"/>
          <a:cs typeface="MiSans Medium" pitchFamily="2" charset="-12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ource Han Serif SC" panose="02020400000000000000" pitchFamily="18" charset="-128"/>
          <a:ea typeface="Source Han Serif SC" panose="02020400000000000000" pitchFamily="18" charset="-128"/>
          <a:cs typeface="MiSans Medium" pitchFamily="2" charset="-12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7277" r="1984" b="893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36600" y="393700"/>
            <a:ext cx="9629449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XX市人民政府工作报告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36600" y="5930900"/>
            <a:ext cx="762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新时代</a:t>
            </a:r>
            <a:r>
              <a:rPr lang="en-US" sz="1400" u="none" strike="noStrike" dirty="0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新征程</a:t>
            </a:r>
            <a:r>
              <a:rPr lang="en-US" sz="1400" u="none" strike="noStrike" dirty="0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新篇章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906000" y="2601318"/>
            <a:ext cx="1905000" cy="30777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ctr">
              <a:defRPr/>
            </a:pPr>
            <a:r>
              <a:rPr lang="en-US" sz="10000" b="1" u="none" strike="noStrike" dirty="0">
                <a:solidFill>
                  <a:srgbClr val="FFDFA1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2026</a:t>
            </a:r>
            <a:endParaRPr lang="en-US" sz="1100" b="1" dirty="0">
              <a:latin typeface="Source Han Serif SC Heavy" panose="02020400000000000000" pitchFamily="18" charset="-128"/>
              <a:ea typeface="Source Han Serif SC Heavy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013950" y="5603402"/>
            <a:ext cx="1689100" cy="629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年度</a:t>
            </a:r>
            <a:endParaRPr lang="en-US" sz="36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366048" y="723900"/>
            <a:ext cx="1051251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市人民政府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366048" y="1003300"/>
            <a:ext cx="1051252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2026年3月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1000"/>
          </a:blip>
          <a:srcRect l="27231" r="151" b="27125"/>
          <a:stretch>
            <a:fillRect/>
          </a:stretch>
        </p:blipFill>
        <p:spPr>
          <a:xfrm rot="10800000" flipV="1"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84200" y="330200"/>
            <a:ext cx="18288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目录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4" name="Connector 4"/>
          <p:cNvCxnSpPr/>
          <p:nvPr/>
        </p:nvCxnSpPr>
        <p:spPr>
          <a:xfrm rot="-5085">
            <a:off x="2819405" y="1047750"/>
            <a:ext cx="858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2D1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 rot="5400000">
            <a:off x="3898900" y="-1498600"/>
            <a:ext cx="4470400" cy="122809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5EAD5">
                  <a:alpha val="0"/>
                </a:srgbClr>
              </a:gs>
              <a:gs pos="85000">
                <a:srgbClr val="FDF9F1">
                  <a:alpha val="49000"/>
                </a:srgbClr>
              </a:gs>
              <a:gs pos="100000">
                <a:srgbClr val="FFFDF8">
                  <a:alpha val="49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78399" y="4312228"/>
            <a:ext cx="3035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全面总结过去一年在经济、社会、民生等各领域取得的成就</a:t>
            </a:r>
            <a:r>
              <a:rPr lang="en-US" sz="14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978399" y="3842328"/>
            <a:ext cx="30353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01 </a:t>
            </a:r>
            <a:r>
              <a:rPr lang="zh-CN" alt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2025年工作回顾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978399" y="5594928"/>
            <a:ext cx="3035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客观分析当前发展面临的困难和不足，直面挑战，剖析根源</a:t>
            </a:r>
            <a:r>
              <a:rPr lang="en-US" sz="14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978399" y="5137728"/>
            <a:ext cx="30353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02 </a:t>
            </a:r>
            <a:r>
              <a:rPr lang="zh-CN" alt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8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存在的问题与挑战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484754" y="4312228"/>
            <a:ext cx="3035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明确新一年的指导思想，锚定发展方位，确立主要发展预期目标</a:t>
            </a:r>
            <a:r>
              <a:rPr lang="en-US" sz="14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484754" y="3842328"/>
            <a:ext cx="30353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03 </a:t>
            </a:r>
            <a:r>
              <a:rPr lang="zh-CN" alt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2026年总体要求与目标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484754" y="5594928"/>
            <a:ext cx="3035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聚焦核心领域，详细阐述新一年的重点任务、关键举措与实施路径</a:t>
            </a:r>
            <a:r>
              <a:rPr lang="en-US" sz="14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484754" y="5137728"/>
            <a:ext cx="30353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04 </a:t>
            </a:r>
            <a:r>
              <a:rPr lang="zh-CN" alt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8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2026年重点工作部署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442" r="644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238500" y="7239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u="none" strike="noStrike" dirty="0">
                <a:solidFill>
                  <a:srgbClr val="E451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2025年工作回顾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37000" y="2019300"/>
            <a:ext cx="1930400" cy="495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u="none" strike="noStrike" dirty="0" err="1">
                <a:solidFill>
                  <a:srgbClr val="7B544B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砥砺奋进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5" name="Connector 5"/>
          <p:cNvCxnSpPr>
            <a:cxnSpLocks/>
          </p:cNvCxnSpPr>
          <p:nvPr/>
        </p:nvCxnSpPr>
        <p:spPr>
          <a:xfrm rot="5256843">
            <a:off x="5943600" y="22797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C2A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26200" y="2019300"/>
            <a:ext cx="1930400" cy="495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u="none" strike="noStrike" dirty="0" err="1">
                <a:solidFill>
                  <a:srgbClr val="7B544B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稳中求进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619" r="4952"/>
          <a:stretch>
            <a:fillRect/>
          </a:stretch>
        </p:blipFill>
        <p:spPr>
          <a:xfrm>
            <a:off x="0" y="-12700"/>
            <a:ext cx="12192000" cy="687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36600" y="508000"/>
            <a:ext cx="10718800" cy="612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1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总体评价与核心指标：经济社会发展交出亮眼成绩单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73100" y="35306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经济总量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333340" y="3530600"/>
            <a:ext cx="127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同比增速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73098" y="3873500"/>
            <a:ext cx="1523999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1.82 </a:t>
            </a: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万亿元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333339" y="3873500"/>
            <a:ext cx="1269999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+ 5.2%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" y="4546600"/>
            <a:ext cx="1523997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财政收入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333340" y="4546600"/>
            <a:ext cx="127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同比增长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73097" y="4888922"/>
            <a:ext cx="1523997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1650 </a:t>
            </a: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亿元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333340" y="4888922"/>
            <a:ext cx="1269998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+ 6.1%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3100" y="56007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居民收入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333340" y="5600700"/>
            <a:ext cx="127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同比增长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73097" y="5943600"/>
            <a:ext cx="1523996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68,500 </a:t>
            </a: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元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333340" y="5905500"/>
            <a:ext cx="1269998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+ 6.5%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16" name="Connector 16"/>
          <p:cNvCxnSpPr>
            <a:cxnSpLocks/>
          </p:cNvCxnSpPr>
          <p:nvPr/>
        </p:nvCxnSpPr>
        <p:spPr>
          <a:xfrm>
            <a:off x="673100" y="5397499"/>
            <a:ext cx="6133081" cy="2"/>
          </a:xfrm>
          <a:prstGeom prst="straightConnector1">
            <a:avLst/>
          </a:prstGeom>
          <a:solidFill>
            <a:srgbClr val="DEE0E3">
              <a:alpha val="42000"/>
            </a:srgbClr>
          </a:solidFill>
          <a:ln w="12700" cap="flat" cmpd="sng">
            <a:solidFill>
              <a:srgbClr val="FFDFA1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Connector 17"/>
          <p:cNvCxnSpPr>
            <a:cxnSpLocks/>
          </p:cNvCxnSpPr>
          <p:nvPr/>
        </p:nvCxnSpPr>
        <p:spPr>
          <a:xfrm>
            <a:off x="673100" y="4343399"/>
            <a:ext cx="6134071" cy="2"/>
          </a:xfrm>
          <a:prstGeom prst="straightConnector1">
            <a:avLst/>
          </a:prstGeom>
          <a:solidFill>
            <a:srgbClr val="DEE0E3">
              <a:alpha val="42000"/>
            </a:srgbClr>
          </a:solidFill>
          <a:ln w="12700" cap="flat" cmpd="sng">
            <a:solidFill>
              <a:srgbClr val="FFDFA1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3797300" y="5905500"/>
            <a:ext cx="300888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增速快于GDP，获得感幸福感增强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97299" y="4888922"/>
            <a:ext cx="3008881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税收占比82%，</a:t>
            </a: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财政运行稳健有力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797299" y="3873500"/>
            <a:ext cx="3008882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总量稳步增长，高于全国平均水平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797300" y="3530600"/>
            <a:ext cx="13716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发展亮点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797300" y="4546600"/>
            <a:ext cx="13716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运行成效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797300" y="5600700"/>
            <a:ext cx="13716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民生成果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经济发展新动能加速培育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55875"/>
            <a:ext cx="5334000" cy="26658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先进制造业集群持续壮大，战略性新兴产业成为增长主引擎。数字经济核心产业增加值增长12.8%，人工智能产业规模突破1500亿元，生物医药产业产值增长10.5%。同时，新增国家级专精特新“小巨人”企业15家，制造业创新能力与核心竞争力不断提升，为实体经济发展筑牢根基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71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制造业转型升级步伐加快，新产业新业态新模式蓬勃发展，产业体系现代化水平稳步提升</a:t>
            </a: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47434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2755876"/>
            <a:ext cx="4889500" cy="26658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现代服务业实现提质增效，多领域亮点纷呈释放发展活力。金融业增加值突破2500亿元，资本市场建设成效显著，新增上市公司12家；会展经济蓬勃发展，成功举办世界数字经济大会等15场国际展会，辐射带动作用强劲，直接拉动消费超300亿元，有效促进了供需对接与产业融合，为经济增长注入强劲动力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5715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服务业与制造业深度融合，生产性服务业支撑能力增强，生活性服务业品质持续升级</a:t>
            </a: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08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改革开放深化拓展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55876"/>
            <a:ext cx="533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重点领域改革取得突破性进展，持续深化“放管服”改革，推动政务服务数字化转型，95%以上政务服务事项实现“一网通办”，企业和群众办事更加便捷高效。国企改革三年行动圆满收官，通过优化治理结构、聚焦主责主业，市属国企发展活力与竞争力显著增强，利润总额实现8%的稳步增长，为经济发展注入强劲动力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71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重点领域改革成效显著，体制机制活力充分迸发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47434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2755876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开放型经济水平实现全面提升，货物贸易规模持续扩大，进出口总额达8500亿元，同比增长6.8%，贸易结构不断向高质量、多元化方向优化。实际使用外资规模达65亿美元，其中制造业和生产性服务业利用外资占比超70%，</a:t>
            </a:r>
            <a:r>
              <a:rPr lang="en-US" u="none" strike="noStrike" dirty="0" err="1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引资结构持续升级，充分彰显了城市在全球产业链供应链中的吸引力，为经济高质量发展构筑了坚实的开放支撑</a:t>
            </a:r>
            <a:r>
              <a:rPr lang="en-US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5715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开放型经济提质增效，外贸外资双轮驱动助力发展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06500" y="3136900"/>
            <a:ext cx="2781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轨道网络延伸覆盖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711700" y="647700"/>
            <a:ext cx="2781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城市路网全面畅通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660900" y="5499100"/>
            <a:ext cx="2781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城市更新惠及民生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204200" y="3136900"/>
            <a:ext cx="2781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机场扩建稳步推进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813300" y="2260600"/>
            <a:ext cx="2552700" cy="2552700"/>
          </a:xfrm>
          <a:prstGeom prst="ellipse">
            <a:avLst/>
          </a:prstGeom>
          <a:solidFill>
            <a:srgbClr val="BD2D1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686300" y="2133600"/>
            <a:ext cx="2819400" cy="2819400"/>
          </a:xfrm>
          <a:prstGeom prst="ellipse">
            <a:avLst/>
          </a:prstGeom>
          <a:noFill/>
          <a:ln w="12700" cap="flat" cmpd="sng">
            <a:solidFill>
              <a:srgbClr val="BD2D1F">
                <a:alpha val="2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524500" y="2997200"/>
            <a:ext cx="114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u="none" strike="noStrike" dirty="0" err="1">
                <a:solidFill>
                  <a:srgbClr val="FFDFA1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品质</a:t>
            </a:r>
            <a:endParaRPr lang="en-US" sz="1100" b="1" dirty="0">
              <a:latin typeface="Source Han Serif SC Heavy" panose="02020400000000000000" pitchFamily="18" charset="-128"/>
              <a:ea typeface="Source Han Serif SC Heavy" panose="02020400000000000000" pitchFamily="18" charset="-128"/>
              <a:cs typeface="MiSans Medium" pitchFamily="2" charset="-128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3500" b="1" u="none" strike="noStrike" dirty="0" err="1">
                <a:solidFill>
                  <a:srgbClr val="FFDFA1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跃升</a:t>
            </a:r>
            <a:endParaRPr lang="en-US" sz="3500" b="1" u="none" strike="noStrike" dirty="0">
              <a:solidFill>
                <a:srgbClr val="FFDFA1"/>
              </a:solidFill>
              <a:latin typeface="Source Han Serif SC Heavy" panose="02020400000000000000" pitchFamily="18" charset="-128"/>
              <a:ea typeface="Source Han Serif SC Heavy" panose="02020400000000000000" pitchFamily="18" charset="-128"/>
              <a:cs typeface="Noto Serif SC"/>
              <a:sym typeface="Noto Serif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49300" y="647700"/>
            <a:ext cx="2781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轨道交通加速建设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906000" y="6477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枢纽能级持续提升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32155">
            <a:off x="4216522" y="35369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2D1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-132155">
            <a:off x="7632822" y="3536950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2D1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Connector 13"/>
          <p:cNvCxnSpPr/>
          <p:nvPr/>
        </p:nvCxnSpPr>
        <p:spPr>
          <a:xfrm rot="5267844">
            <a:off x="5930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2D1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rot="5267844">
            <a:off x="5930900" y="18225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D2D1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49300" y="3416300"/>
            <a:ext cx="32385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第三期建设规划顺利实施，新增运营里程45公里，轨道交通总里程达510公里，织密城市交通网络。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130662" y="5803900"/>
            <a:ext cx="3943376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完成老旧小区改造150个，惠及居民5万户，补齐居住环境短板，让市民乐享高品质居住体验。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04200" y="3416300"/>
            <a:ext cx="32258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XX国际机场三期扩建工程主体结构顺利封顶，各项配套工程有序推进，预计2027年正式投运。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130662" y="980212"/>
            <a:ext cx="3943376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新建改建城市道路120公里，成功打通“断头路”25条，城市路网微循环更加通畅高效。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619" r="4952"/>
          <a:stretch>
            <a:fillRect/>
          </a:stretch>
        </p:blipFill>
        <p:spPr>
          <a:xfrm>
            <a:off x="0" y="-12700"/>
            <a:ext cx="12192000" cy="687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73100" y="35306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空气质量指标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368550" y="3530600"/>
            <a:ext cx="1397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优良天数比例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73098" y="3872922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92.5%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368550" y="3872922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PM2.5 28微克/m³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8" name="Connector 8"/>
          <p:cNvCxnSpPr>
            <a:cxnSpLocks/>
          </p:cNvCxnSpPr>
          <p:nvPr/>
        </p:nvCxnSpPr>
        <p:spPr>
          <a:xfrm>
            <a:off x="673100" y="4343399"/>
            <a:ext cx="8452573" cy="2"/>
          </a:xfrm>
          <a:prstGeom prst="straightConnector1">
            <a:avLst/>
          </a:prstGeom>
          <a:solidFill>
            <a:srgbClr val="DEE0E3">
              <a:alpha val="42000"/>
            </a:srgbClr>
          </a:solidFill>
          <a:ln w="12700" cap="flat" cmpd="sng">
            <a:solidFill>
              <a:srgbClr val="FFDFA1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73100" y="45466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水环境质量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368550" y="4546600"/>
            <a:ext cx="1397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断面水质达标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73098" y="48895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100%优良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368550" y="48514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水源地达标率100%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13" name="Connector 13"/>
          <p:cNvCxnSpPr>
            <a:cxnSpLocks/>
          </p:cNvCxnSpPr>
          <p:nvPr/>
        </p:nvCxnSpPr>
        <p:spPr>
          <a:xfrm>
            <a:off x="673100" y="5397499"/>
            <a:ext cx="8461664" cy="0"/>
          </a:xfrm>
          <a:prstGeom prst="straightConnector1">
            <a:avLst/>
          </a:prstGeom>
          <a:solidFill>
            <a:srgbClr val="DEE0E3">
              <a:alpha val="42000"/>
            </a:srgbClr>
          </a:solidFill>
          <a:ln w="12700" cap="flat" cmpd="sng">
            <a:solidFill>
              <a:srgbClr val="FFDFA1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73100" y="56007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绿色低碳转型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368550" y="56007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单位GDP能耗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73098" y="59436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下降</a:t>
            </a: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3.5%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368550" y="5905500"/>
            <a:ext cx="1524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建成无废标杆市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295773" y="3530600"/>
            <a:ext cx="13716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环境成效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295772" y="3872922"/>
            <a:ext cx="5727699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蓝天白云成为常态，PM2.5年均浓度降至历史最低水平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295773" y="4546600"/>
            <a:ext cx="13716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水源保障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295773" y="4851400"/>
            <a:ext cx="57277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国考断面水质全部优良，饮用水水源地水质安全得到全面保障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295773" y="5600700"/>
            <a:ext cx="13716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DFA1"/>
                </a:solidFill>
                <a:latin typeface="Source Han Serif SC Medium" panose="02020400000000000000" pitchFamily="18" charset="-128"/>
                <a:ea typeface="Source Han Serif SC Medium" panose="02020400000000000000" pitchFamily="18" charset="-128"/>
                <a:cs typeface="Noto Serif SC"/>
                <a:sym typeface="Noto Serif SC"/>
              </a:rPr>
              <a:t>转型成果</a:t>
            </a:r>
            <a:endParaRPr lang="en-US" sz="1100" dirty="0">
              <a:latin typeface="Source Han Serif SC Medium" panose="02020400000000000000" pitchFamily="18" charset="-128"/>
              <a:ea typeface="Source Han Serif SC Medium" panose="02020400000000000000" pitchFamily="18" charset="-128"/>
              <a:cs typeface="MiSans Medium" pitchFamily="2" charset="-128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295773" y="5905500"/>
            <a:ext cx="579755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 err="1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成功建成全国首个“无废城市”建设标杆市，绿色发展根基夯实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B1C64BC0-2400-DDA0-EDED-20D5A21406CE}"/>
              </a:ext>
            </a:extLst>
          </p:cNvPr>
          <p:cNvSpPr/>
          <p:nvPr/>
        </p:nvSpPr>
        <p:spPr>
          <a:xfrm>
            <a:off x="736600" y="508000"/>
            <a:ext cx="10718800" cy="612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3500" b="1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生态文明建设成效显著</a:t>
            </a:r>
            <a:endParaRPr lang="en-US" altLang="zh-CN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81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民生福祉持续增进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30500"/>
            <a:ext cx="533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教育领域持续发力，新建改扩建中小学、幼儿园80所，成功新增学位10万个，切实保障孩子们“有学上、上好学”。医疗资源实现优质扩容，市第一人民医院新院区顺利建成投用，新增床位1500张，有效缓解了群众看病就医的压力，让优质医疗服务触手可及。</a:t>
            </a:r>
            <a:endParaRPr lang="en-US" dirty="0">
              <a:solidFill>
                <a:srgbClr val="AD6C66"/>
              </a:solidFill>
              <a:highlight>
                <a:srgbClr val="000000">
                  <a:alpha val="0"/>
                </a:srgbClr>
              </a:highlight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71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教育医疗提质增效，夯实民生幸福根基</a:t>
            </a:r>
            <a:endParaRPr lang="en-US" dirty="0">
              <a:solidFill>
                <a:srgbClr val="AD6C66"/>
              </a:solidFill>
              <a:highlight>
                <a:srgbClr val="000000">
                  <a:alpha val="0"/>
                </a:srgbClr>
              </a:highlight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47434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2667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社会保障网越织越密，城乡居民养老、医疗保险参保率稳定在99%以上，筑牢全民健康与养老的安全屏障。住房保障力度持续加大，新建筹集保障性租赁住房5万套，同时为2万户家庭发放租赁补贴，有效缓解新市民、青年人的住房困难，让群众住有所居、居有所安。</a:t>
            </a:r>
            <a:endParaRPr lang="en-US" dirty="0">
              <a:solidFill>
                <a:srgbClr val="952419"/>
              </a:solidFill>
              <a:highlight>
                <a:srgbClr val="000000">
                  <a:alpha val="0"/>
                </a:srgbClr>
              </a:highlight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5715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社保体系更加健全，住房保障筑牢民生底线</a:t>
            </a:r>
            <a:endParaRPr lang="en-US" dirty="0">
              <a:solidFill>
                <a:srgbClr val="AD6C66"/>
              </a:solidFill>
              <a:highlight>
                <a:srgbClr val="000000">
                  <a:alpha val="0"/>
                </a:srgbClr>
              </a:highlight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801" b="12801"/>
          <a:stretch>
            <a:fillRect/>
          </a:stretch>
        </p:blipFill>
        <p:spPr>
          <a:xfrm>
            <a:off x="0" y="0"/>
            <a:ext cx="12192000" cy="509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8001" y="5092700"/>
            <a:ext cx="12204700" cy="1778000"/>
          </a:xfrm>
          <a:prstGeom prst="roundRect">
            <a:avLst>
              <a:gd name="adj" fmla="val 0"/>
            </a:avLst>
          </a:prstGeom>
          <a:solidFill>
            <a:srgbClr val="FDF6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266700" y="965915"/>
            <a:ext cx="5658600" cy="3148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u="none" strike="noStrike" dirty="0">
                <a:solidFill>
                  <a:srgbClr val="FFDFA1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2026</a:t>
            </a:r>
            <a:endParaRPr lang="en-US" sz="1100" b="1" dirty="0">
              <a:latin typeface="Source Han Serif SC Heavy" panose="02020400000000000000" pitchFamily="18" charset="-128"/>
              <a:ea typeface="Source Han Serif SC Heavy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55490" y="5461000"/>
            <a:ext cx="6212609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AD6C66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在肯定成绩的同时，我们也清醒地认识到发展中存在的困难和挑战。新的一年，我们将正视问题，采取有力措施，推动经济社会持续健康发展，奋力谱写中国式现代化XX新篇章。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49300" y="5524500"/>
            <a:ext cx="421986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展望未来</a:t>
            </a:r>
            <a:r>
              <a:rPr lang="en-US" sz="3500" b="1" u="none" strike="noStrike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3500" b="1" u="none" strike="noStrike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再创辉煌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18846" y="635715"/>
            <a:ext cx="344631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u="none" strike="noStrike" dirty="0" err="1">
                <a:solidFill>
                  <a:srgbClr val="FFFFFF">
                    <a:alpha val="8862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站在新的历史节点上</a:t>
            </a:r>
            <a:endParaRPr lang="en-US" sz="12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u="none" strike="noStrike" dirty="0" err="1">
                <a:solidFill>
                  <a:srgbClr val="FFFFFF">
                    <a:alpha val="8862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直面挑战</a:t>
            </a:r>
            <a:r>
              <a:rPr lang="en-US" sz="1200" u="none" strike="noStrike" dirty="0">
                <a:solidFill>
                  <a:srgbClr val="FFFFFF">
                    <a:alpha val="8862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 </a:t>
            </a:r>
            <a:r>
              <a:rPr lang="en-US" sz="1200" u="none" strike="noStrike" dirty="0" err="1">
                <a:solidFill>
                  <a:srgbClr val="FFFFFF">
                    <a:alpha val="8862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锐意进取</a:t>
            </a:r>
            <a:endParaRPr lang="en-US" sz="1200" u="none" strike="noStrike" dirty="0">
              <a:solidFill>
                <a:srgbClr val="FFFFFF">
                  <a:alpha val="88627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  <a:cs typeface="Noto Serif SC"/>
              <a:sym typeface="Noto Serif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u="none" strike="noStrike" dirty="0" err="1">
                <a:solidFill>
                  <a:srgbClr val="FFFFFF">
                    <a:alpha val="8862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共绘中国式现代化新图景</a:t>
            </a:r>
            <a:endParaRPr lang="en-US" sz="1200" u="none" strike="noStrike" dirty="0">
              <a:solidFill>
                <a:srgbClr val="FFFFFF">
                  <a:alpha val="88627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  <a:cs typeface="Noto Serif SC"/>
              <a:sym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397000"/>
            <a:ext cx="6705600" cy="4127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8153399" y="1968500"/>
            <a:ext cx="3555999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锚定高质量发展首要任务，地区生产总值增长5.5%左右，高于去年实际增速，着力夯实经济复苏基础，释放发展内生动力。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53400" y="15621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400" b="1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GDP增长目标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53400" y="4127500"/>
            <a:ext cx="3555998" cy="7342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财政收入增长6%左右，保障民生与发展支出；城镇新增就业25万人以上，失业率控制在5.5%内，筑牢民生保障底线。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53400" y="3726873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defRPr/>
            </a:pPr>
            <a:r>
              <a:rPr lang="en-US" sz="1400" b="1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财政与就业双保障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153400" y="889000"/>
            <a:ext cx="32893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1" u="none" strike="noStrike" dirty="0">
                <a:solidFill>
                  <a:srgbClr val="BD3023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5.5%</a:t>
            </a:r>
            <a:endParaRPr lang="en-US" sz="1100" b="1" dirty="0">
              <a:latin typeface="Source Han Serif SC Heavy" panose="02020400000000000000" pitchFamily="18" charset="-128"/>
              <a:ea typeface="Source Han Serif SC Heavy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53399" y="3048000"/>
            <a:ext cx="3289299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1" u="none" strike="noStrike" dirty="0">
                <a:solidFill>
                  <a:srgbClr val="BD3023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25万+</a:t>
            </a:r>
            <a:endParaRPr lang="en-US" sz="1100" b="1" dirty="0">
              <a:latin typeface="Source Han Serif SC Heavy" panose="02020400000000000000" pitchFamily="18" charset="-128"/>
              <a:ea typeface="Source Han Serif SC Heavy" panose="02020400000000000000" pitchFamily="18" charset="-128"/>
              <a:cs typeface="MiSans Medium" pitchFamily="2" charset="-128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02" y="5448300"/>
            <a:ext cx="12192000" cy="1409700"/>
          </a:xfrm>
          <a:prstGeom prst="roundRect">
            <a:avLst>
              <a:gd name="adj" fmla="val 0"/>
            </a:avLst>
          </a:prstGeom>
          <a:solidFill>
            <a:srgbClr val="BE301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23900" y="533400"/>
            <a:ext cx="4445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2026年主要预期目标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987800" y="5943600"/>
            <a:ext cx="7454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u="none" strike="noStrike" dirty="0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坚持稳中求进工作总基调，更好统筹发展和安全，大力提振市场信心，突出做好稳增长、稳就业、稳物价工作，以高质量发展成效回应民生期待。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49299" y="5873330"/>
            <a:ext cx="2631209" cy="559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目标概述</a:t>
            </a:r>
            <a:endParaRPr lang="en-US" sz="32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构建现代化产业体系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55876"/>
            <a:ext cx="520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实施“产业焕新”计划，推动200家规上工业企业开展智能化改造，以数字技术赋能传统产业转型升级。同时聚焦未来产业发展方向，培育壮大人工智能、生物医药、新能源汽车三大战略性新兴产业集群，持续提升实体经济的核心竞争力与发展韧性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9817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以智能化改造与集群化培育，夯实实体经济发展底座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46164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755876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加快建设区域性金融中心，重点发展科技金融、绿色金融等特色金融业态，为产业发展提供精准金融支撑。同时全力打造国际消费中心城市，高标准培育5个高品质核心商圈，计划新增各类品牌首店100个以上，以优质供给激活城市消费潜力，推动现代服务业提质升级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59817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以金融创新与消费升级双轮驱动，激发现代服务业发展活力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79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科技创新与改革开放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30499"/>
            <a:ext cx="5334000" cy="2031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聚焦全面塑造发展新优势，加快建设XX国家实验室，筑牢战略科技力量底座。深入实施“XX英才计划”，精准引进高层次创新创业团队50个，汇聚顶尖智力资源。同时完善全过程创新生态链，促进科技成果转化，让创新活力充分涌流，为高质量发展提供核心支撑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9817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以科技创新为引擎，夯实高质量发展的核心竞争力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47434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27305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持续激发市场主体活力，深化“放管服”改革，精简审批流程、优化监管服务，全力打造市场化、法治化、国际化的一流营商环境。积极融入“一带一路”建设大局，搭建对外合作桥梁，支持外贸企业深耕传统市场、开拓新兴市场，构建多元化国际贸易网络，以高水平对外开放为城市发展注入源源不断的动力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59817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以改革开放为抓手，激活市场潜力与对外合作新动能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城市更新与绿色转型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55876"/>
            <a:ext cx="533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聚焦提升城市综合承载力，我们将确保轨道交通4号线、6号线建成通车，新增运营里程60公里，构建更便捷的交通网络。同步开工建设XX高铁站综合枢纽，强化区域交通枢纽功能。全面实施城市更新行动，完成120个老旧小区改造，改善居民居住环境，补齐城市基础设施短板，让城市空间更宜居、更具韧性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9817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统筹基础设施建设，全面夯实城市发展根基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47434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2755876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坚定不移筑牢生态安全屏障，持续加强大气、水、土壤等污染防治工作，确保空气质量优良天数比例和水环境质量持续改善，守护绿水青山。积极稳妥推进碳达峰碳中和目标落实，大力发展风能、太阳能等清洁能源，优化能源消费结构，推动产业绿色低碳转型，让绿色成为城市高质量发展最鲜明、最亮丽的底色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59817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践行绿色发展理念，以生态优先引领城市可持续发展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6000"/>
          </a:blip>
          <a:srcRect t="4632" r="11111" b="4632"/>
          <a:stretch>
            <a:fillRect/>
          </a:stretch>
        </p:blipFill>
        <p:spPr>
          <a:xfrm rot="10800000" flipV="1">
            <a:off x="0" y="0"/>
            <a:ext cx="12192000" cy="721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sz="3500" b="1" dirty="0" err="1">
                <a:solidFill>
                  <a:srgbClr val="BD2D1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sym typeface="Noto Serif SC"/>
              </a:rPr>
              <a:t>重点工作：民生保障与安全稳定</a:t>
            </a:r>
            <a:endParaRPr lang="en-US" sz="3500" b="1" dirty="0">
              <a:solidFill>
                <a:srgbClr val="BD2D1F"/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49300" y="2755876"/>
            <a:ext cx="546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用心用情保障和改善民生，聚焦新市民、青年人的住房刚需，新建筹集保障性租赁住房6万套，切实缓解住房困难问题。同时积极发展普惠托育服务，完善养老服务体系，补齐民生服务短板，主动应对人口老龄化趋势，让发展成果更多更公平惠及全体人民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49300" y="59817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聚焦民生需求，夯实民生保障根基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cxnSp>
        <p:nvCxnSpPr>
          <p:cNvPr id="6" name="Connector 6"/>
          <p:cNvCxnSpPr/>
          <p:nvPr/>
        </p:nvCxnSpPr>
        <p:spPr>
          <a:xfrm rot="-5412592">
            <a:off x="5200650" y="4483088"/>
            <a:ext cx="346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D6C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15200" y="2730500"/>
            <a:ext cx="4254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u="none" strike="noStrike" dirty="0">
                <a:solidFill>
                  <a:srgbClr val="952419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建设更高水平的平安城市，深入开展安全生产专项整治行动，紧盯重点行业、重点场所强化隐患排查治理，坚决遏制重特大事故发生。健全完善矛盾纠纷多元化解机制，统筹推进法治、德治、自治融合，提升社会治理系统化、科学化、智能化水平，切实保障人民群众生命财产安全，维护社会大局和谐稳定。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315200" y="5981700"/>
            <a:ext cx="4254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u="none" strike="noStrike" dirty="0" err="1">
                <a:solidFill>
                  <a:srgbClr val="AD6C66"/>
                </a:solidFill>
                <a:highlight>
                  <a:srgbClr val="000000">
                    <a:alpha val="0"/>
                  </a:srgbClr>
                </a:highlight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守牢安全底线，提升社会治理效能</a:t>
            </a:r>
            <a:endParaRPr lang="en-US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99000"/>
          </a:blip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36600" y="546100"/>
            <a:ext cx="25400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500" b="1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谢谢聆听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350500" y="241300"/>
            <a:ext cx="16891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u="none" strike="noStrike" dirty="0" err="1">
                <a:solidFill>
                  <a:srgbClr val="FFDFA1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Noto Serif SC"/>
                <a:sym typeface="Noto Serif SC"/>
              </a:rPr>
              <a:t>奋</a:t>
            </a:r>
            <a:endParaRPr lang="en-US" sz="1100" b="1" dirty="0">
              <a:latin typeface="Source Han Serif SC Heavy" panose="02020400000000000000" pitchFamily="18" charset="-128"/>
              <a:ea typeface="Source Han Serif SC Heavy" panose="02020400000000000000" pitchFamily="18" charset="-128"/>
              <a:cs typeface="MiSans Medium" pitchFamily="2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210800" y="1612900"/>
            <a:ext cx="16891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进</a:t>
            </a:r>
            <a:endParaRPr lang="en-US" sz="1100" b="1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36600" y="2476500"/>
            <a:ext cx="107188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200" u="none" strike="noStrike" dirty="0" err="1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新征程的号角已经吹响，新蓝图的画卷正待我们共同描绘</a:t>
            </a:r>
            <a:r>
              <a:rPr lang="en-US" sz="2200" u="none" strike="noStrike" dirty="0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。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800" u="none" strike="noStrike" dirty="0">
                <a:solidFill>
                  <a:srgbClr val="FFDFA1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让我们更加紧密地团结起来，在市委的坚强领导下，以永不懈怠的精神状态和一往无前的奋斗姿态，携手并肩，为建设更加美好的XX而努力奋斗！</a:t>
            </a:r>
          </a:p>
        </p:txBody>
      </p:sp>
      <p:sp>
        <p:nvSpPr>
          <p:cNvPr id="7" name="AutoShape 7"/>
          <p:cNvSpPr/>
          <p:nvPr/>
        </p:nvSpPr>
        <p:spPr>
          <a:xfrm>
            <a:off x="736600" y="5842000"/>
            <a:ext cx="10718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u="none" strike="noStrike" dirty="0" err="1">
                <a:solidFill>
                  <a:srgbClr val="FFDFA1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凝心聚力谋发展，砥砺前行谱新篇。让我们以实干担当诠释初心使命，共同铸就XX更加辉煌的明天</a:t>
            </a:r>
            <a:r>
              <a:rPr lang="en-US" sz="1600" u="none" strike="noStrike" dirty="0">
                <a:solidFill>
                  <a:srgbClr val="FFDFA1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Noto Serif SC"/>
                <a:sym typeface="Noto Serif SC"/>
              </a:rPr>
              <a:t>！</a:t>
            </a:r>
            <a:endParaRPr lang="en-US" sz="1100" dirty="0">
              <a:latin typeface="Source Han Serif SC" panose="02020400000000000000" pitchFamily="18" charset="-128"/>
              <a:ea typeface="Source Han Serif SC" panose="02020400000000000000" pitchFamily="18" charset="-128"/>
              <a:cs typeface="MiSans Medium" pitchFamily="2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Microsoft Macintosh PowerPoint</Application>
  <PresentationFormat>宽屏</PresentationFormat>
  <Paragraphs>172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Source Han Serif SC</vt:lpstr>
      <vt:lpstr>Source Han Serif SC Heavy</vt:lpstr>
      <vt:lpstr>Source Han Serif SC Medium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Wu Peter</cp:lastModifiedBy>
  <cp:revision>1</cp:revision>
  <dcterms:modified xsi:type="dcterms:W3CDTF">2026-06-03T06:11:28Z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{"Label":"1","ContentProducer":"001191110102MACQD9K64010000","ProduceID":"7646797585374530809","ReservedCode1":"","ContentPropagator":"","PropagateID":"","ReservedCode2":""}</vt:lpwstr>
  </property>
</Properties>
</file>