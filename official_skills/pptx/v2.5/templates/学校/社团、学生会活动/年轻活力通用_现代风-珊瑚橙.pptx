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E35"/>
    <a:srgbClr val="FFA299"/>
    <a:srgbClr val="FEC953"/>
    <a:srgbClr val="FFB4AA"/>
    <a:srgbClr val="FFD0CB"/>
    <a:srgbClr val="FFE56E"/>
    <a:srgbClr val="5C68E0"/>
    <a:srgbClr val="FFF0EE"/>
    <a:srgbClr val="384831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894018716972645E-2"/>
          <c:y val="0"/>
          <c:w val="0.95821196256605468"/>
          <c:h val="0.79779047029061989"/>
        </c:manualLayout>
      </c:layout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CC3E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CC3E35"/>
              </a:solidFill>
              <a:ln w="19050">
                <a:solidFill>
                  <a:srgbClr val="CC3E35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7322A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7322A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7322A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7322A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A7322A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85663-6158-3DAA-1568-28A0528A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>
            <a:extLst>
              <a:ext uri="{FF2B5EF4-FFF2-40B4-BE49-F238E27FC236}">
                <a16:creationId xmlns:a16="http://schemas.microsoft.com/office/drawing/2014/main" id="{7B12E57B-BA9F-534C-D6D9-581A075F4C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>
            <a:extLst>
              <a:ext uri="{FF2B5EF4-FFF2-40B4-BE49-F238E27FC236}">
                <a16:creationId xmlns:a16="http://schemas.microsoft.com/office/drawing/2014/main" id="{B2B10C0B-ED25-0A1D-E4C8-5337655FD3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>
            <a:extLst>
              <a:ext uri="{FF2B5EF4-FFF2-40B4-BE49-F238E27FC236}">
                <a16:creationId xmlns:a16="http://schemas.microsoft.com/office/drawing/2014/main" id="{BEDF1196-BCC3-24D3-7689-83FAA90B2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>
            <a:extLst>
              <a:ext uri="{FF2B5EF4-FFF2-40B4-BE49-F238E27FC236}">
                <a16:creationId xmlns:a16="http://schemas.microsoft.com/office/drawing/2014/main" id="{1D2A9B97-7DFA-3917-C16A-C4969AB95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>
            <a:extLst>
              <a:ext uri="{FF2B5EF4-FFF2-40B4-BE49-F238E27FC236}">
                <a16:creationId xmlns:a16="http://schemas.microsoft.com/office/drawing/2014/main" id="{96B47648-3DF7-E9ED-D587-2B67DF2E42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>
            <a:extLst>
              <a:ext uri="{FF2B5EF4-FFF2-40B4-BE49-F238E27FC236}">
                <a16:creationId xmlns:a16="http://schemas.microsoft.com/office/drawing/2014/main" id="{F08F197A-6F81-F05D-88D5-2CBE18F27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5173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/>
          <p:nvPr/>
        </p:nvSpPr>
        <p:spPr>
          <a:xfrm>
            <a:off x="680720" y="608330"/>
            <a:ext cx="5345762" cy="17691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u="none" strike="noStrike" dirty="0" err="1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AI时代的高效</a:t>
            </a:r>
            <a:endParaRPr lang="en-US" sz="1100" b="1" dirty="0">
              <a:solidFill>
                <a:srgbClr val="CC3E3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u="none" strike="noStrike" dirty="0" err="1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工作方式</a:t>
            </a:r>
            <a:endParaRPr b="1" dirty="0">
              <a:solidFill>
                <a:srgbClr val="CC3E3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2000" b="0" i="0" u="none" strike="noStrike" dirty="0">
              <a:solidFill>
                <a:srgbClr val="505050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2000" b="0" i="0" u="none" strike="noStrike" dirty="0" err="1">
                <a:solidFill>
                  <a:srgbClr val="CC3E35"/>
                </a:solidFill>
                <a:latin typeface="PingFang SC"/>
                <a:ea typeface="PingFang SC"/>
                <a:cs typeface="Arial"/>
                <a:sym typeface="Arial"/>
              </a:rPr>
              <a:t>从工具使用到流程重构</a:t>
            </a:r>
            <a:endParaRPr dirty="0">
              <a:solidFill>
                <a:srgbClr val="CC3E35"/>
              </a:solidFill>
            </a:endParaRPr>
          </a:p>
        </p:txBody>
      </p:sp>
      <p:sp>
        <p:nvSpPr>
          <p:cNvPr id="66" name="AutoShape 7"/>
          <p:cNvSpPr/>
          <p:nvPr/>
        </p:nvSpPr>
        <p:spPr>
          <a:xfrm>
            <a:off x="7053769" y="5205730"/>
            <a:ext cx="2209800" cy="3708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核心叙事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7053769" y="5692140"/>
            <a:ext cx="418084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这套内容围绕一个普世性话题展开：AI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8" name="AutoShape 9"/>
          <p:cNvSpPr/>
          <p:nvPr/>
        </p:nvSpPr>
        <p:spPr>
          <a:xfrm rot="2700000">
            <a:off x="2307177" y="5708689"/>
            <a:ext cx="644058" cy="644058"/>
          </a:xfrm>
          <a:prstGeom prst="roundRect">
            <a:avLst>
              <a:gd name="adj" fmla="val 50000"/>
            </a:avLst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69" name="AutoShape 11"/>
          <p:cNvSpPr/>
          <p:nvPr/>
        </p:nvSpPr>
        <p:spPr>
          <a:xfrm>
            <a:off x="1365250" y="5736590"/>
            <a:ext cx="642620" cy="641350"/>
          </a:xfrm>
          <a:prstGeom prst="roundRect">
            <a:avLst>
              <a:gd name="adj" fmla="val 27721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0" name="AutoShape 12"/>
          <p:cNvSpPr/>
          <p:nvPr/>
        </p:nvSpPr>
        <p:spPr>
          <a:xfrm>
            <a:off x="687070" y="5083810"/>
            <a:ext cx="651510" cy="1282700"/>
          </a:xfrm>
          <a:prstGeom prst="roundRect">
            <a:avLst>
              <a:gd name="adj" fmla="val 23391"/>
            </a:avLst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1" name="文本框 70"/>
          <p:cNvSpPr txBox="1"/>
          <p:nvPr/>
        </p:nvSpPr>
        <p:spPr>
          <a:xfrm>
            <a:off x="1206379" y="3553572"/>
            <a:ext cx="17780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2" name="缺角矩形 71"/>
          <p:cNvSpPr/>
          <p:nvPr/>
        </p:nvSpPr>
        <p:spPr>
          <a:xfrm rot="1680000">
            <a:off x="1587755" y="5067524"/>
            <a:ext cx="644713" cy="644713"/>
          </a:xfrm>
          <a:prstGeom prst="plaque">
            <a:avLst>
              <a:gd name="adj" fmla="val 37317"/>
            </a:avLst>
          </a:prstGeom>
          <a:solidFill>
            <a:srgbClr val="5C68E0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折角形 72"/>
          <p:cNvSpPr/>
          <p:nvPr/>
        </p:nvSpPr>
        <p:spPr>
          <a:xfrm rot="360000">
            <a:off x="7824593" y="1848250"/>
            <a:ext cx="1732850" cy="1732850"/>
          </a:xfrm>
          <a:prstGeom prst="foldedCorner">
            <a:avLst>
              <a:gd name="adj" fmla="val 31569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74" name="折角形 73"/>
          <p:cNvSpPr/>
          <p:nvPr/>
        </p:nvSpPr>
        <p:spPr>
          <a:xfrm rot="21060000">
            <a:off x="6833296" y="626460"/>
            <a:ext cx="1732850" cy="1732850"/>
          </a:xfrm>
          <a:prstGeom prst="foldedCorner">
            <a:avLst/>
          </a:prstGeom>
          <a:solidFill>
            <a:schemeClr val="bg1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Courier New"/>
                <a:ea typeface="Courier New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75" name="折角形 74"/>
          <p:cNvSpPr/>
          <p:nvPr/>
        </p:nvSpPr>
        <p:spPr>
          <a:xfrm rot="240000">
            <a:off x="9737790" y="1122144"/>
            <a:ext cx="1732850" cy="1732850"/>
          </a:xfrm>
          <a:prstGeom prst="foldedCorner">
            <a:avLst>
              <a:gd name="adj" fmla="val 0"/>
            </a:avLst>
          </a:prstGeom>
          <a:solidFill>
            <a:srgbClr val="CC3E35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3"/>
          <p:cNvSpPr/>
          <p:nvPr/>
        </p:nvSpPr>
        <p:spPr>
          <a:xfrm>
            <a:off x="5637597" y="573131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所有人的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工作方式升级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096659"/>
            <a:ext cx="2460657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3亿岗位面临</a:t>
            </a:r>
            <a:endParaRPr lang="en-US" sz="1100" dirty="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 dirty="0" err="1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重新拆解与重组</a:t>
            </a:r>
            <a:endParaRPr dirty="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7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这并不意味着岗位会消失，而是从写作、检索到数据分析，大量工作正在被提效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7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Source: Goldman Sachs, 2023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798928" y="4096659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新一代通用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工作基础设施</a:t>
            </a:r>
            <a:endParaRPr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798928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正在嵌入真实工作流，成为日常客户沟通、知识管理与业务闭环的基础。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798928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不再是少数人的工具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85" name="Connector 10"/>
          <p:cNvCxnSpPr/>
          <p:nvPr/>
        </p:nvCxnSpPr>
        <p:spPr>
          <a:xfrm>
            <a:off x="5643312" y="5821316"/>
            <a:ext cx="24549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86" name="Connector 11"/>
          <p:cNvCxnSpPr/>
          <p:nvPr/>
        </p:nvCxnSpPr>
        <p:spPr>
          <a:xfrm>
            <a:off x="8790673" y="5845446"/>
            <a:ext cx="24562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0848D476-81A3-856E-54EA-AEA83CA47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98" y="0"/>
            <a:ext cx="4955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712470" y="12712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影响深远的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关键数据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7546340" y="665480"/>
            <a:ext cx="392303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从高盛到麦肯锡的全球调研数据表明，AI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的影响范围极其广泛，且正在快速渗透到企业的核心工作流中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0" name="AutoShape 4"/>
          <p:cNvSpPr/>
          <p:nvPr/>
        </p:nvSpPr>
        <p:spPr>
          <a:xfrm>
            <a:off x="712470" y="4147820"/>
            <a:ext cx="253492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CC3E35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3亿</a:t>
            </a:r>
            <a:endParaRPr lang="en-US" sz="8000" dirty="0">
              <a:solidFill>
                <a:srgbClr val="CC3E35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1" name="AutoShape 5"/>
          <p:cNvSpPr/>
          <p:nvPr/>
        </p:nvSpPr>
        <p:spPr>
          <a:xfrm>
            <a:off x="4810125" y="4147820"/>
            <a:ext cx="252161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CC3E35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72%</a:t>
            </a:r>
            <a:endParaRPr lang="en-US" sz="8000" dirty="0">
              <a:solidFill>
                <a:srgbClr val="CC3E35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2" name="AutoShape 6"/>
          <p:cNvSpPr/>
          <p:nvPr/>
        </p:nvSpPr>
        <p:spPr>
          <a:xfrm>
            <a:off x="8944611" y="4147820"/>
            <a:ext cx="252288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CC3E35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88%</a:t>
            </a:r>
            <a:endParaRPr lang="en-US" sz="8000" dirty="0">
              <a:solidFill>
                <a:srgbClr val="CC3E35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cxnSp>
        <p:nvCxnSpPr>
          <p:cNvPr id="93" name="Connector 7"/>
          <p:cNvCxnSpPr/>
          <p:nvPr/>
        </p:nvCxnSpPr>
        <p:spPr>
          <a:xfrm>
            <a:off x="710565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3E35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4" name="Connector 8"/>
          <p:cNvCxnSpPr/>
          <p:nvPr/>
        </p:nvCxnSpPr>
        <p:spPr>
          <a:xfrm>
            <a:off x="4810125" y="5558787"/>
            <a:ext cx="25286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3E35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5" name="Connector 9"/>
          <p:cNvCxnSpPr/>
          <p:nvPr/>
        </p:nvCxnSpPr>
        <p:spPr>
          <a:xfrm>
            <a:off x="8951563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3E35"/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6" name="AutoShape 10"/>
          <p:cNvSpPr/>
          <p:nvPr/>
        </p:nvSpPr>
        <p:spPr>
          <a:xfrm>
            <a:off x="71882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全职岗位内容受影响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7" name="AutoShape 11"/>
          <p:cNvSpPr/>
          <p:nvPr/>
        </p:nvSpPr>
        <p:spPr>
          <a:xfrm>
            <a:off x="481076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组织已在职能中使用 AI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8" name="AutoShape 12"/>
          <p:cNvSpPr/>
          <p:nvPr/>
        </p:nvSpPr>
        <p:spPr>
          <a:xfrm>
            <a:off x="8952865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2025年常规使用比例预测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9" name="AutoShape 13"/>
          <p:cNvSpPr/>
          <p:nvPr/>
        </p:nvSpPr>
        <p:spPr>
          <a:xfrm>
            <a:off x="7546340" y="1724660"/>
            <a:ext cx="3923030" cy="953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0" name="AutoShape 14"/>
          <p:cNvSpPr/>
          <p:nvPr/>
        </p:nvSpPr>
        <p:spPr>
          <a:xfrm>
            <a:off x="712470" y="665480"/>
            <a:ext cx="1932940" cy="355600"/>
          </a:xfrm>
          <a:prstGeom prst="roundRect">
            <a:avLst>
              <a:gd name="adj" fmla="val 16666"/>
            </a:avLst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Global Survey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>
            <a:off x="698500" y="457200"/>
            <a:ext cx="47498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500" i="0" u="none" strike="noStrike" dirty="0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 </a:t>
            </a:r>
            <a:r>
              <a:rPr lang="en-US" sz="3500" i="0" u="none" strike="noStrike" dirty="0" err="1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落地场景四象限</a:t>
            </a:r>
            <a:endParaRPr dirty="0">
              <a:solidFill>
                <a:srgbClr val="262626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69850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CC3E35"/>
              </a:solidFill>
              <a:highlight>
                <a:srgbClr val="485546">
                  <a:alpha val="100000"/>
                </a:srgbClr>
              </a:highlight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89535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01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89535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89535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会议纪要、文档总结、邮件草稿、资料初筛。优先落地这些场景以快速见效</a:t>
            </a:r>
            <a:r>
              <a:rPr lang="en-US" sz="1200" b="0" i="0" u="none" strike="noStrike" dirty="0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42265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08" name="AutoShape 8"/>
          <p:cNvSpPr/>
          <p:nvPr/>
        </p:nvSpPr>
        <p:spPr>
          <a:xfrm>
            <a:off x="361950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02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62077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 / 高收益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61950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14807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FFD0CB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2" name="AutoShape 12"/>
          <p:cNvSpPr/>
          <p:nvPr/>
        </p:nvSpPr>
        <p:spPr>
          <a:xfrm>
            <a:off x="634492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03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34492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 / 低收益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30428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887349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6" name="AutoShape 16"/>
          <p:cNvSpPr/>
          <p:nvPr/>
        </p:nvSpPr>
        <p:spPr>
          <a:xfrm>
            <a:off x="907034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04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07034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02589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过度定制、目标不清的 AI 系统、缺少业务闭环的复杂方案。应尽量避免在此投入。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/>
          <p:cNvSpPr/>
          <p:nvPr/>
        </p:nvSpPr>
        <p:spPr>
          <a:xfrm>
            <a:off x="712470" y="445897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不仅是利用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替代个人的单点任务，更重要的是将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嵌入组织的系统流程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12470" y="538734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个人的启动速度提升，与组织的知识复用能力结合，才能最大化技术带来的红利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5844540" y="0"/>
            <a:ext cx="6347460" cy="6858000"/>
          </a:xfrm>
          <a:prstGeom prst="roundRect">
            <a:avLst>
              <a:gd name="adj" fmla="val 0"/>
            </a:avLst>
          </a:prstGeom>
          <a:solidFill>
            <a:srgbClr val="FFF0EE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4" name="AutoShape 8"/>
          <p:cNvSpPr/>
          <p:nvPr/>
        </p:nvSpPr>
        <p:spPr>
          <a:xfrm>
            <a:off x="6650990" y="242062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写作、搜索、总结、计划、学习、时间管理。重点强调个体的启动速度、信息处理速度与输出速度。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6650990" y="203962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个人效率升级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6650990" y="556641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流程自动化、知识库建设、跨部门协作、数据辅助决策。重点强调团队协同与资产复用能力。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6650990" y="518541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8" name="折角形 127"/>
          <p:cNvSpPr/>
          <p:nvPr/>
        </p:nvSpPr>
        <p:spPr>
          <a:xfrm rot="21360000">
            <a:off x="6548950" y="637099"/>
            <a:ext cx="1179923" cy="1179923"/>
          </a:xfrm>
          <a:prstGeom prst="foldedCorner">
            <a:avLst/>
          </a:prstGeom>
          <a:solidFill>
            <a:srgbClr val="FEC953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Personal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129" name="折角形 128"/>
          <p:cNvSpPr/>
          <p:nvPr/>
        </p:nvSpPr>
        <p:spPr>
          <a:xfrm rot="240000">
            <a:off x="6594260" y="3746437"/>
            <a:ext cx="1179923" cy="1179923"/>
          </a:xfrm>
          <a:prstGeom prst="foldedCorner">
            <a:avLst/>
          </a:prstGeom>
          <a:solidFill>
            <a:srgbClr val="CC3E35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TEAM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712470" y="580433"/>
            <a:ext cx="4563109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702310" y="567385"/>
            <a:ext cx="7954010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工作流重构的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四个核心阶段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32" name="Connector 3"/>
          <p:cNvCxnSpPr/>
          <p:nvPr/>
        </p:nvCxnSpPr>
        <p:spPr>
          <a:xfrm>
            <a:off x="705485" y="3008629"/>
            <a:ext cx="107569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288730" y="4934594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085747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6882765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902970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01 任务识别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90297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判断哪些工作适合交给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AI：重复性高、规则明确、信息密集、反馈周期短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518423" y="4201792"/>
            <a:ext cx="1859280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02 工具协作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518423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 AI 参与搜索、分析、生成、复盘，把工具嵌入真实工作流，而不是停留在尝鲜。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405407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03 流程沉淀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405407" y="5191760"/>
            <a:ext cx="21336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把一次性提效变成可复用的标准操作流程 (SOP)，降低跨团队的协作门槛。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203690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04 持续迭代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20369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让团队能够复制、训练、优化这套新流程，并基于反馈持续迭代最佳实践。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902970" y="3286760"/>
            <a:ext cx="662940" cy="662940"/>
          </a:xfrm>
          <a:prstGeom prst="ellipse">
            <a:avLst/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1560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518423" y="3249291"/>
            <a:ext cx="662940" cy="662940"/>
          </a:xfrm>
          <a:prstGeom prst="ellipse">
            <a:avLst/>
          </a:prstGeom>
          <a:solidFill>
            <a:srgbClr val="5C68E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78443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405407" y="3286760"/>
            <a:ext cx="662940" cy="662940"/>
          </a:xfrm>
          <a:prstGeom prst="ellipse">
            <a:avLst/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65427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203690" y="3286760"/>
            <a:ext cx="662940" cy="662940"/>
          </a:xfrm>
          <a:prstGeom prst="ellipse">
            <a:avLst/>
          </a:prstGeom>
          <a:solidFill>
            <a:srgbClr val="FFA299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3710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Connector 2"/>
          <p:cNvCxnSpPr/>
          <p:nvPr/>
        </p:nvCxnSpPr>
        <p:spPr>
          <a:xfrm>
            <a:off x="-1905" y="3354069"/>
            <a:ext cx="121932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lumMod val="95000"/>
                <a:lumOff val="5000"/>
                <a:alpha val="10027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5" name="AutoShape 4"/>
          <p:cNvSpPr/>
          <p:nvPr/>
        </p:nvSpPr>
        <p:spPr>
          <a:xfrm>
            <a:off x="712470" y="10299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AI赋能的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六大应用场景</a:t>
            </a:r>
            <a:endParaRPr dirty="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6" name="AutoShape 5"/>
          <p:cNvSpPr/>
          <p:nvPr/>
        </p:nvSpPr>
        <p:spPr>
          <a:xfrm>
            <a:off x="712470" y="462280"/>
            <a:ext cx="1424940" cy="355600"/>
          </a:xfrm>
          <a:prstGeom prst="roundRect">
            <a:avLst>
              <a:gd name="adj" fmla="val 16666"/>
            </a:avLst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Scenarios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7" name="AutoShape 6"/>
          <p:cNvSpPr/>
          <p:nvPr/>
        </p:nvSpPr>
        <p:spPr>
          <a:xfrm>
            <a:off x="712470" y="3751580"/>
            <a:ext cx="42037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/>
          <p:cNvSpPr/>
          <p:nvPr/>
        </p:nvSpPr>
        <p:spPr>
          <a:xfrm>
            <a:off x="126873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内容生成：降低启动成本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9" name="AutoShape 8"/>
          <p:cNvSpPr/>
          <p:nvPr/>
        </p:nvSpPr>
        <p:spPr>
          <a:xfrm>
            <a:off x="71247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/>
          <p:cNvSpPr/>
          <p:nvPr/>
        </p:nvSpPr>
        <p:spPr>
          <a:xfrm>
            <a:off x="126873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数据分析：提炼趋势异常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1" name="AutoShape 10"/>
          <p:cNvSpPr/>
          <p:nvPr/>
        </p:nvSpPr>
        <p:spPr>
          <a:xfrm>
            <a:off x="71247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/>
          <p:cNvSpPr/>
          <p:nvPr/>
        </p:nvSpPr>
        <p:spPr>
          <a:xfrm>
            <a:off x="126873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客户沟通：辅助自动回复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3" name="AutoShape 12"/>
          <p:cNvSpPr/>
          <p:nvPr/>
        </p:nvSpPr>
        <p:spPr>
          <a:xfrm>
            <a:off x="6623050" y="375158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/>
          <p:cNvSpPr/>
          <p:nvPr/>
        </p:nvSpPr>
        <p:spPr>
          <a:xfrm>
            <a:off x="717804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项目管理：拆解追踪风险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5" name="AutoShape 14"/>
          <p:cNvSpPr/>
          <p:nvPr/>
        </p:nvSpPr>
        <p:spPr>
          <a:xfrm>
            <a:off x="662305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/>
          <p:cNvSpPr/>
          <p:nvPr/>
        </p:nvSpPr>
        <p:spPr>
          <a:xfrm>
            <a:off x="717804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知识沉淀：构建可检索资产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7" name="AutoShape 16"/>
          <p:cNvSpPr/>
          <p:nvPr/>
        </p:nvSpPr>
        <p:spPr>
          <a:xfrm>
            <a:off x="662305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/>
          <p:cNvSpPr/>
          <p:nvPr/>
        </p:nvSpPr>
        <p:spPr>
          <a:xfrm>
            <a:off x="717804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个人学习：生成学习路径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or 2"/>
          <p:cNvCxnSpPr/>
          <p:nvPr/>
        </p:nvCxnSpPr>
        <p:spPr>
          <a:xfrm>
            <a:off x="705485" y="212343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1" name="Connector 3"/>
          <p:cNvCxnSpPr/>
          <p:nvPr/>
        </p:nvCxnSpPr>
        <p:spPr>
          <a:xfrm>
            <a:off x="705485" y="314832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705485" y="417321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705485" y="519937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705485" y="622426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5" name="AutoShape 7"/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i="0" u="none" strike="noStrike" dirty="0">
                <a:solidFill>
                  <a:srgbClr val="CC3E3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6" name="AutoShape 8"/>
          <p:cNvSpPr/>
          <p:nvPr/>
        </p:nvSpPr>
        <p:spPr>
          <a:xfrm>
            <a:off x="2058670" y="2426352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”。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2058670" y="3477878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市场调研：从“手动搜索资料”升级为“快速汇总多来源信息”。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2058670" y="4477401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文案撰写：从“从零起草”升级为“先生成初稿再修改”。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2058670" y="5515609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知识管理：从“依赖个人经验”升级为“自动归档与智能问答”。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缺角矩形 1">
            <a:extLst>
              <a:ext uri="{FF2B5EF4-FFF2-40B4-BE49-F238E27FC236}">
                <a16:creationId xmlns:a16="http://schemas.microsoft.com/office/drawing/2014/main" id="{DA04A13B-516A-F9A9-32DC-86BD7FD0227D}"/>
              </a:ext>
            </a:extLst>
          </p:cNvPr>
          <p:cNvSpPr/>
          <p:nvPr/>
        </p:nvSpPr>
        <p:spPr>
          <a:xfrm rot="1800000">
            <a:off x="1124787" y="2484618"/>
            <a:ext cx="313962" cy="313962"/>
          </a:xfrm>
          <a:prstGeom prst="plaque">
            <a:avLst>
              <a:gd name="adj" fmla="val 37317"/>
            </a:avLst>
          </a:prstGeom>
          <a:solidFill>
            <a:srgbClr val="5C68E0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缺角矩形 2">
            <a:extLst>
              <a:ext uri="{FF2B5EF4-FFF2-40B4-BE49-F238E27FC236}">
                <a16:creationId xmlns:a16="http://schemas.microsoft.com/office/drawing/2014/main" id="{7A507D02-BDBC-0C3D-E52E-E41E8C53EDB1}"/>
              </a:ext>
            </a:extLst>
          </p:cNvPr>
          <p:cNvSpPr/>
          <p:nvPr/>
        </p:nvSpPr>
        <p:spPr>
          <a:xfrm rot="1800000">
            <a:off x="1124787" y="3531198"/>
            <a:ext cx="313962" cy="313962"/>
          </a:xfrm>
          <a:prstGeom prst="plaque">
            <a:avLst>
              <a:gd name="adj" fmla="val 37317"/>
            </a:avLst>
          </a:prstGeom>
          <a:solidFill>
            <a:srgbClr val="FFD0CB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6FF4F3DA-548A-E716-9A9E-CA2ABCB54786}"/>
              </a:ext>
            </a:extLst>
          </p:cNvPr>
          <p:cNvSpPr/>
          <p:nvPr/>
        </p:nvSpPr>
        <p:spPr>
          <a:xfrm rot="1800000">
            <a:off x="1124786" y="4522985"/>
            <a:ext cx="313962" cy="313962"/>
          </a:xfrm>
          <a:prstGeom prst="plaque">
            <a:avLst>
              <a:gd name="adj" fmla="val 37317"/>
            </a:avLst>
          </a:prstGeom>
          <a:solidFill>
            <a:srgbClr val="FEC953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27A85E38-79CA-EDEA-12DF-C18E704FCE00}"/>
              </a:ext>
            </a:extLst>
          </p:cNvPr>
          <p:cNvSpPr/>
          <p:nvPr/>
        </p:nvSpPr>
        <p:spPr>
          <a:xfrm rot="1800000">
            <a:off x="1124785" y="5561192"/>
            <a:ext cx="313962" cy="313962"/>
          </a:xfrm>
          <a:prstGeom prst="plaque">
            <a:avLst>
              <a:gd name="adj" fmla="val 37317"/>
            </a:avLst>
          </a:prstGeom>
          <a:solidFill>
            <a:srgbClr val="CC3E35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78469-F8F1-2E95-1810-D38BDD31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FFC111A-E7FA-B880-B98D-61EDF0565A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5799067"/>
              </p:ext>
            </p:extLst>
          </p:nvPr>
        </p:nvGraphicFramePr>
        <p:xfrm>
          <a:off x="699770" y="1773674"/>
          <a:ext cx="10855975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725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77710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78696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52464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CC3E3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CC3E3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CC3E3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CC3E3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CC3E3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CC3E3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CC3E3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CC3E3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CC3E3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CC3E3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3" name="AutoShape 7">
            <a:extLst>
              <a:ext uri="{FF2B5EF4-FFF2-40B4-BE49-F238E27FC236}">
                <a16:creationId xmlns:a16="http://schemas.microsoft.com/office/drawing/2014/main" id="{BC3FC28C-FE03-7EEA-B045-E465F34D6816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CC3E3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389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42760" y="61087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50" y="122301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麦肯锡全球调研显示，72%的受访组织已在至少一个业务职能中使用 AI，标志着初步普及。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50" y="8458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CC3E35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广泛普及</a:t>
            </a:r>
            <a:endParaRPr lang="en-US" sz="1100" dirty="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476250" y="509270"/>
            <a:ext cx="5080000" cy="6972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 已进入主流工作流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7"/>
          <p:cNvSpPr/>
          <p:nvPr/>
        </p:nvSpPr>
        <p:spPr>
          <a:xfrm>
            <a:off x="476250" y="1276985"/>
            <a:ext cx="534811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AI正从技术工具扩展至营销、产品、IT、运营等日常业务场景，应用已过尝鲜阶段，但多职能协同的深度整合仍不普遍。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6842760" y="211455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50" y="272669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尽管单点普及率高，但仅有 15% 的组织能够在 4 个及以上的核心职能中深度采用 AI。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50" y="2349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CC3E35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深度应用不足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" name="AutoShape 11"/>
          <p:cNvSpPr/>
          <p:nvPr/>
        </p:nvSpPr>
        <p:spPr>
          <a:xfrm>
            <a:off x="6842760" y="361950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50" y="423037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真正深入多职能协同的组织还在少数，跨部门的流程改造将是效率升级的最大难点。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50" y="385318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CC3E35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协同挑战</a:t>
            </a:r>
            <a:endParaRPr lang="en-US" sz="110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" name="AutoShape 14"/>
          <p:cNvSpPr/>
          <p:nvPr/>
        </p:nvSpPr>
        <p:spPr>
          <a:xfrm>
            <a:off x="7129780" y="5247640"/>
            <a:ext cx="406400" cy="406400"/>
          </a:xfrm>
          <a:prstGeom prst="ellipse">
            <a:avLst/>
          </a:prstGeom>
          <a:solidFill>
            <a:srgbClr val="E56F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31380" y="534924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6"/>
          <p:cNvSpPr/>
          <p:nvPr/>
        </p:nvSpPr>
        <p:spPr>
          <a:xfrm>
            <a:off x="7710170" y="531114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 的组织正在尝试拥抱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7129780" y="5876290"/>
            <a:ext cx="406400" cy="406400"/>
          </a:xfrm>
          <a:prstGeom prst="ellipse">
            <a:avLst/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31380" y="597789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9"/>
          <p:cNvSpPr/>
          <p:nvPr/>
        </p:nvSpPr>
        <p:spPr>
          <a:xfrm>
            <a:off x="7710170" y="595249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多职能协同将是下一阶段重点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546028" y="5247640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*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受访组织在不同数量业务职能中使用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AI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的比例（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%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）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75164" y="2349500"/>
            <a:ext cx="5616086" cy="2722312"/>
            <a:chOff x="730250" y="1469958"/>
            <a:chExt cx="4303749" cy="2086176"/>
          </a:xfrm>
        </p:grpSpPr>
        <p:sp>
          <p:nvSpPr>
            <p:cNvPr id="21" name="AutoShape 15"/>
            <p:cNvSpPr/>
            <p:nvPr/>
          </p:nvSpPr>
          <p:spPr>
            <a:xfrm>
              <a:off x="730250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30250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730250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730250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5C68E0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A7322A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E56F66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rgbClr val="FEC953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71693" y="14699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72%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62081" y="21004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50%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64962" y="26536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27%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59568" y="32386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15%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00860"/>
            <a:ext cx="5910580" cy="65277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AI使用率加速上升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477520"/>
            <a:ext cx="343789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b="1" i="0" u="none" strike="noStrike" dirty="0">
                <a:solidFill>
                  <a:srgbClr val="CC3E3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88%</a:t>
            </a:r>
            <a:endParaRPr lang="en-US" sz="1100" dirty="0">
              <a:solidFill>
                <a:srgbClr val="CC3E3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55372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使用率在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2023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年后明显加速，生成式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正在推动组织采用进入新阶段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14871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采用率提升不等于价值兑现，真正的差距在于是否把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嵌入核心工作流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24269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334518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1" name="AutoShape 9"/>
          <p:cNvSpPr/>
          <p:nvPr/>
        </p:nvSpPr>
        <p:spPr>
          <a:xfrm>
            <a:off x="9988550" y="6021070"/>
            <a:ext cx="1485900" cy="355600"/>
          </a:xfrm>
          <a:prstGeom prst="roundRect">
            <a:avLst>
              <a:gd name="adj" fmla="val 16666"/>
            </a:avLst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1504950"/>
            <a:ext cx="203200" cy="203200"/>
          </a:xfrm>
          <a:prstGeom prst="ellipse">
            <a:avLst/>
          </a:prstGeom>
          <a:solidFill>
            <a:srgbClr val="FFD0CB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2453640"/>
            <a:ext cx="203200" cy="20320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3365500"/>
            <a:ext cx="203200" cy="203200"/>
          </a:xfrm>
          <a:prstGeom prst="ellipse">
            <a:avLst/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690589" y="27837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1400496145"/>
              </p:ext>
            </p:extLst>
          </p:nvPr>
        </p:nvGraphicFramePr>
        <p:xfrm>
          <a:off x="370810" y="2555240"/>
          <a:ext cx="6686124" cy="3977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A7322A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23</a:t>
            </a:r>
            <a:r>
              <a:rPr lang="zh-CN" sz="1200" b="1">
                <a:solidFill>
                  <a:srgbClr val="A7322A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年后加速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A7322A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+33%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10">
            <a:extLst>
              <a:ext uri="{FF2B5EF4-FFF2-40B4-BE49-F238E27FC236}">
                <a16:creationId xmlns:a16="http://schemas.microsoft.com/office/drawing/2014/main" id="{15E18008-8B32-E116-D8BA-C56629EDB641}"/>
              </a:ext>
            </a:extLst>
          </p:cNvPr>
          <p:cNvSpPr/>
          <p:nvPr/>
        </p:nvSpPr>
        <p:spPr>
          <a:xfrm>
            <a:off x="8047990" y="650875"/>
            <a:ext cx="203200" cy="203200"/>
          </a:xfrm>
          <a:prstGeom prst="ellipse">
            <a:avLst/>
          </a:prstGeom>
          <a:solidFill>
            <a:srgbClr val="5C68E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折角形 52"/>
          <p:cNvSpPr/>
          <p:nvPr/>
        </p:nvSpPr>
        <p:spPr>
          <a:xfrm rot="21060000">
            <a:off x="750920" y="822662"/>
            <a:ext cx="1732850" cy="1732850"/>
          </a:xfrm>
          <a:prstGeom prst="foldedCorner">
            <a:avLst/>
          </a:prstGeom>
          <a:solidFill>
            <a:srgbClr val="CC3E35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solidFill>
                <a:schemeClr val="bg1"/>
              </a:solidFill>
              <a:latin typeface="Courier New" panose="02070309020205020404" pitchFamily="49" charset="0"/>
              <a:ea typeface="FZLanTingHeiS Bold" panose="02000500000000000000" pitchFamily="2" charset="-122"/>
              <a:cs typeface="Courier New" panose="02070309020205020404" pitchFamily="49" charset="0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solidFill>
                  <a:schemeClr val="bg1"/>
                </a:solidFill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Thanks!</a:t>
            </a:r>
            <a:endParaRPr dirty="0">
              <a:solidFill>
                <a:schemeClr val="bg1"/>
              </a:solidFill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54" name="AutoShape 2"/>
          <p:cNvSpPr/>
          <p:nvPr/>
        </p:nvSpPr>
        <p:spPr>
          <a:xfrm>
            <a:off x="721360" y="5436870"/>
            <a:ext cx="4483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感谢聆听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5" name="AutoShape 3"/>
          <p:cNvSpPr/>
          <p:nvPr/>
        </p:nvSpPr>
        <p:spPr>
          <a:xfrm>
            <a:off x="8956040" y="3580130"/>
            <a:ext cx="1466850" cy="355600"/>
          </a:xfrm>
          <a:prstGeom prst="roundRect">
            <a:avLst>
              <a:gd name="adj" fmla="val 16666"/>
            </a:avLst>
          </a:prstGeom>
          <a:solidFill>
            <a:srgbClr val="FFA299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Conclusion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6" name="AutoShape 4"/>
          <p:cNvSpPr/>
          <p:nvPr/>
        </p:nvSpPr>
        <p:spPr>
          <a:xfrm>
            <a:off x="8956040" y="2641600"/>
            <a:ext cx="292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效率提升不只是用了什么工具。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更是任务拆解与工具协作的升级。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是沉淀可复用流程的系统工程。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7" name="AutoShape 5"/>
          <p:cNvSpPr/>
          <p:nvPr/>
        </p:nvSpPr>
        <p:spPr>
          <a:xfrm>
            <a:off x="8956040" y="1854200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重新定义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效率标准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8" name="AutoShape 6"/>
          <p:cNvSpPr/>
          <p:nvPr/>
        </p:nvSpPr>
        <p:spPr>
          <a:xfrm>
            <a:off x="8956040" y="5755640"/>
            <a:ext cx="292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期待与您在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时代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共同重构更高效的工作方式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 rot="2700000">
            <a:off x="3641365" y="2084705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0" name="AutoShape 8"/>
          <p:cNvSpPr/>
          <p:nvPr/>
        </p:nvSpPr>
        <p:spPr>
          <a:xfrm>
            <a:off x="479363" y="832867"/>
            <a:ext cx="293370" cy="293370"/>
          </a:xfrm>
          <a:prstGeom prst="ellipse">
            <a:avLst/>
          </a:prstGeom>
          <a:solidFill>
            <a:srgbClr val="5C68E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1" name="AutoShape 9"/>
          <p:cNvSpPr/>
          <p:nvPr/>
        </p:nvSpPr>
        <p:spPr>
          <a:xfrm>
            <a:off x="984250" y="277241"/>
            <a:ext cx="293370" cy="293370"/>
          </a:xfrm>
          <a:prstGeom prst="roundRect">
            <a:avLst>
              <a:gd name="adj" fmla="val 90908"/>
            </a:avLst>
          </a:prstGeom>
          <a:solidFill>
            <a:srgbClr val="F6B9B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2" name="AutoShape 10"/>
          <p:cNvSpPr/>
          <p:nvPr/>
        </p:nvSpPr>
        <p:spPr>
          <a:xfrm>
            <a:off x="721360" y="4820431"/>
            <a:ext cx="819150" cy="293370"/>
          </a:xfrm>
          <a:prstGeom prst="roundRect">
            <a:avLst>
              <a:gd name="adj" fmla="val 111004"/>
            </a:avLst>
          </a:prstGeom>
          <a:solidFill>
            <a:srgbClr val="FEC95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3" name="AutoShape 7"/>
          <p:cNvSpPr/>
          <p:nvPr/>
        </p:nvSpPr>
        <p:spPr>
          <a:xfrm rot="2700000">
            <a:off x="8652501" y="1475731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CC3E35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cap="non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b="0" i="0" u="none" strike="noStrike" cap="none">
              <a:solidFill>
                <a:srgbClr val="000000"/>
              </a:solidFill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536</Words>
  <Application>Microsoft Macintosh PowerPoint</Application>
  <PresentationFormat>宽屏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SimHei</vt:lpstr>
      <vt:lpstr>FZLanTingHeiS</vt:lpstr>
      <vt:lpstr>FZLanTingHeiS Bold</vt:lpstr>
      <vt:lpstr>FZLanTingHeiS Extralight</vt:lpstr>
      <vt:lpstr>FZLanTingHeiS Light</vt:lpstr>
      <vt:lpstr>FZLanTingHeiS SemiBold</vt:lpstr>
      <vt:lpstr>PingFang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5</cp:revision>
  <dcterms:created xsi:type="dcterms:W3CDTF">2026-05-27T19:33:57Z</dcterms:created>
  <dcterms:modified xsi:type="dcterms:W3CDTF">2026-05-28T12:57:44Z</dcterms:modified>
</cp:coreProperties>
</file>