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28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2E574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537-AD45-892F-FF54AECE6C18}"/>
              </c:ext>
            </c:extLst>
          </c:dPt>
          <c:dPt>
            <c:idx val="1"/>
            <c:invertIfNegative val="0"/>
            <c:bubble3D val="0"/>
            <c:spPr>
              <a:solidFill>
                <a:srgbClr val="3E75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37-AD45-892F-FF54AECE6C18}"/>
              </c:ext>
            </c:extLst>
          </c:dPt>
          <c:dPt>
            <c:idx val="2"/>
            <c:invertIfNegative val="0"/>
            <c:bubble3D val="0"/>
            <c:spPr>
              <a:solidFill>
                <a:srgbClr val="4E93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37-AD45-892F-FF54AECE6C18}"/>
              </c:ext>
            </c:extLst>
          </c:dPt>
          <c:dPt>
            <c:idx val="3"/>
            <c:invertIfNegative val="0"/>
            <c:bubble3D val="0"/>
            <c:spPr>
              <a:solidFill>
                <a:srgbClr val="62AC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537-AD45-892F-FF54AECE6C18}"/>
              </c:ext>
            </c:extLst>
          </c:dPt>
          <c:cat>
            <c:strRef>
              <c:f>Sheet1!$A$2:$A$5</c:f>
              <c:strCache>
                <c:ptCount val="4"/>
                <c:pt idx="0">
                  <c:v>4个及以上职能</c:v>
                </c:pt>
                <c:pt idx="1">
                  <c:v>3个及以上职能</c:v>
                </c:pt>
                <c:pt idx="2">
                  <c:v>2个及以上职能</c:v>
                </c:pt>
                <c:pt idx="3">
                  <c:v>至少1个职能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27</c:v>
                </c:pt>
                <c:pt idx="2">
                  <c:v>50</c:v>
                </c:pt>
                <c:pt idx="3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537-AD45-892F-FF54AECE6C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6350" cap="flat">
            <a:solidFill>
              <a:srgbClr val="192F27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</a:defRPr>
            </a:pPr>
            <a:endParaRPr lang="zh-C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3DFD5"/>
              </a:solidFill>
              <a:prstDash val="dash"/>
              <a:round/>
            </a:ln>
          </c:spPr>
        </c:majorGridlines>
        <c:numFmt formatCode="###,###,###,###,###,###,###" sourceLinked="0"/>
        <c:majorTickMark val="out"/>
        <c:minorTickMark val="none"/>
        <c:tickLblPos val="low"/>
        <c:spPr>
          <a:ln w="6350" cap="flat">
            <a:solidFill>
              <a:srgbClr val="192F27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92F27"/>
                </a:solidFill>
                <a:latin typeface="Public Sans"/>
              </a:defRPr>
            </a:pPr>
            <a:endParaRPr lang="zh-C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50" b="0" i="0">
              <a:solidFill>
                <a:srgbClr val="192F27"/>
              </a:solidFill>
              <a:latin typeface="MiSans Normal" pitchFamily="2" charset="-122"/>
              <a:ea typeface="MiSans Normal" pitchFamily="2" charset="-122"/>
              <a:cs typeface="Public Sans"/>
            </a:defRPr>
          </a:pPr>
          <a:endParaRPr lang="zh-CN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AI使用率</c:v>
                </c:pt>
              </c:strCache>
            </c:strRef>
          </c:tx>
          <c:spPr>
            <a:ln w="25400" cap="flat">
              <a:solidFill>
                <a:srgbClr val="2E5749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</c:v>
                </c:pt>
                <c:pt idx="1">
                  <c:v>50</c:v>
                </c:pt>
                <c:pt idx="2">
                  <c:v>55</c:v>
                </c:pt>
                <c:pt idx="3">
                  <c:v>78</c:v>
                </c:pt>
                <c:pt idx="4">
                  <c:v>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0EF-B34D-808D-143046F3F6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6350" cap="flat">
            <a:solidFill>
              <a:srgbClr val="192F27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92F27"/>
                </a:solidFill>
                <a:latin typeface="Public Sans"/>
              </a:defRPr>
            </a:pPr>
            <a:endParaRPr lang="zh-C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3DFD5"/>
              </a:solidFill>
              <a:prstDash val="dash"/>
              <a:round/>
            </a:ln>
          </c:spPr>
        </c:majorGridlines>
        <c:numFmt formatCode="###,###,###,###,###,###,###" sourceLinked="0"/>
        <c:majorTickMark val="out"/>
        <c:minorTickMark val="none"/>
        <c:tickLblPos val="nextTo"/>
        <c:spPr>
          <a:ln w="6350" cap="flat">
            <a:solidFill>
              <a:srgbClr val="192F27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92F27"/>
                </a:solidFill>
                <a:latin typeface="Public Sans"/>
              </a:defRPr>
            </a:pPr>
            <a:endParaRPr lang="zh-C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50" b="0" i="0">
              <a:solidFill>
                <a:srgbClr val="192F27"/>
              </a:solidFill>
              <a:latin typeface="MiSans" pitchFamily="2" charset="-122"/>
              <a:ea typeface="MiSans" pitchFamily="2" charset="-122"/>
              <a:cs typeface="Public Sans"/>
            </a:defRPr>
          </a:pPr>
          <a:endParaRPr lang="zh-CN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158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FF9917F-0394-3C4B-E97F-C2C2B1A1F9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5000" contrast="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93914" y="261257"/>
            <a:ext cx="666270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5775"/>
              </a:lnSpc>
            </a:pPr>
            <a:r>
              <a:rPr lang="en-US" sz="4800" kern="0" spc="-36" dirty="0" err="1">
                <a:solidFill>
                  <a:srgbClr val="192F27"/>
                </a:solidFill>
                <a:latin typeface="MiSans Semibold" pitchFamily="2" charset="-122"/>
                <a:ea typeface="MiSans Semibold" pitchFamily="2" charset="-122"/>
                <a:cs typeface="思源黑体" pitchFamily="34" charset="-120"/>
              </a:rPr>
              <a:t>AI时代的高效</a:t>
            </a:r>
            <a:endParaRPr lang="en-US" sz="4800" dirty="0">
              <a:latin typeface="MiSans Semibold" pitchFamily="2" charset="-122"/>
              <a:ea typeface="MiSans Semibold" pitchFamily="2" charset="-122"/>
            </a:endParaRPr>
          </a:p>
          <a:p>
            <a:pPr algn="l">
              <a:lnSpc>
                <a:spcPts val="5775"/>
              </a:lnSpc>
            </a:pPr>
            <a:r>
              <a:rPr lang="en-US" sz="4800" kern="0" spc="-36" dirty="0">
                <a:solidFill>
                  <a:srgbClr val="192F27"/>
                </a:solidFill>
                <a:latin typeface="MiSans Semibold" pitchFamily="2" charset="-122"/>
                <a:ea typeface="MiSans Semibold" pitchFamily="2" charset="-122"/>
                <a:cs typeface="思源黑体" pitchFamily="34" charset="-120"/>
              </a:rPr>
              <a:t>工作方式</a:t>
            </a:r>
            <a:endParaRPr lang="en-US" sz="48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5" name="Text 1"/>
          <p:cNvSpPr/>
          <p:nvPr/>
        </p:nvSpPr>
        <p:spPr>
          <a:xfrm>
            <a:off x="293914" y="1882691"/>
            <a:ext cx="6662700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100" kern="0" spc="12" dirty="0">
                <a:solidFill>
                  <a:srgbClr val="192F27"/>
                </a:solidFill>
                <a:latin typeface="MiSans Light" pitchFamily="2" charset="-122"/>
                <a:ea typeface="MiSans Light" pitchFamily="2" charset="-122"/>
                <a:cs typeface="思源黑体" pitchFamily="34" charset="-120"/>
              </a:rPr>
              <a:t>从工具使用到流程重构，重新定义个人与组织的效率标准</a:t>
            </a:r>
            <a:endParaRPr lang="en-US" sz="1050" dirty="0">
              <a:latin typeface="MiSans Light" pitchFamily="2" charset="-122"/>
              <a:ea typeface="MiSans Light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370513" y="1794439"/>
            <a:ext cx="36591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050"/>
              </a:lnSpc>
            </a:pPr>
            <a:r>
              <a:rPr lang="en-US" sz="4000" kern="0" spc="-36" dirty="0">
                <a:solidFill>
                  <a:srgbClr val="192F27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3</a:t>
            </a:r>
            <a:r>
              <a:rPr lang="en-US" sz="3600" kern="0" spc="-36" dirty="0">
                <a:solidFill>
                  <a:srgbClr val="192F27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亿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4" name="Shape 1"/>
          <p:cNvSpPr/>
          <p:nvPr/>
        </p:nvSpPr>
        <p:spPr>
          <a:xfrm rot="10800000">
            <a:off x="5370512" y="2430307"/>
            <a:ext cx="3658989" cy="0"/>
          </a:xfrm>
          <a:prstGeom prst="line">
            <a:avLst/>
          </a:prstGeom>
          <a:solidFill>
            <a:srgbClr val="CFE5E5"/>
          </a:solidFill>
          <a:ln w="5292">
            <a:solidFill>
              <a:srgbClr val="192F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370513" y="2901827"/>
            <a:ext cx="36591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050"/>
              </a:lnSpc>
            </a:pPr>
            <a:r>
              <a:rPr lang="en-US" sz="3600" kern="0" spc="-36" dirty="0">
                <a:solidFill>
                  <a:srgbClr val="192F27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重新定义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6" name="Shape 3"/>
          <p:cNvSpPr/>
          <p:nvPr/>
        </p:nvSpPr>
        <p:spPr>
          <a:xfrm rot="10800000">
            <a:off x="5370513" y="3537695"/>
            <a:ext cx="3658989" cy="0"/>
          </a:xfrm>
          <a:prstGeom prst="line">
            <a:avLst/>
          </a:prstGeom>
          <a:solidFill>
            <a:srgbClr val="CFE5E5"/>
          </a:solidFill>
          <a:ln w="5292">
            <a:solidFill>
              <a:srgbClr val="192F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370513" y="4009215"/>
            <a:ext cx="36591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050"/>
              </a:lnSpc>
            </a:pPr>
            <a:r>
              <a:rPr lang="en-US" sz="3600" kern="0" spc="-36" dirty="0">
                <a:solidFill>
                  <a:srgbClr val="192F27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系统升级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8" name="Shape 5"/>
          <p:cNvSpPr/>
          <p:nvPr/>
        </p:nvSpPr>
        <p:spPr>
          <a:xfrm rot="10800000">
            <a:off x="5370512" y="4645083"/>
            <a:ext cx="3658989" cy="0"/>
          </a:xfrm>
          <a:prstGeom prst="line">
            <a:avLst/>
          </a:prstGeom>
          <a:solidFill>
            <a:srgbClr val="CFE5E5"/>
          </a:solidFill>
          <a:ln w="5292">
            <a:solidFill>
              <a:srgbClr val="192F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209562" y="367224"/>
            <a:ext cx="4591038" cy="1196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dirty="0">
                <a:solidFill>
                  <a:srgbClr val="192F27"/>
                </a:solidFill>
                <a:latin typeface="MiSans Medium" pitchFamily="2" charset="-122"/>
                <a:ea typeface="MiSans Medium" pitchFamily="2" charset="-122"/>
                <a:cs typeface="思源黑体" pitchFamily="34" charset="-120"/>
              </a:rPr>
              <a:t>不是少数人的工具，而是所有人的工作方式升级</a:t>
            </a:r>
            <a:endParaRPr lang="en-US" sz="2400" dirty="0"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09562" y="3416177"/>
            <a:ext cx="2908288" cy="125493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13"/>
              </a:lnSpc>
            </a:pPr>
            <a:r>
              <a:rPr lang="en-US" sz="800" dirty="0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高盛研究预计，生成式 AI 可能使相当于 3 亿个全职岗位的工作内容暴露于自动化影响之下。这并不意味着岗位消失，而是大量工作正在被重新拆解、重组与提效。</a:t>
            </a:r>
            <a:endParaRPr lang="en-US" sz="7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499887" y="1563741"/>
            <a:ext cx="3529794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192F27"/>
                </a:solidFill>
                <a:latin typeface="MiSans Medium" pitchFamily="2" charset="-122"/>
                <a:ea typeface="MiSans Medium" pitchFamily="2" charset="-122"/>
                <a:cs typeface="思源黑体" pitchFamily="34" charset="-120"/>
              </a:rPr>
              <a:t>全职岗位受影响</a:t>
            </a:r>
            <a:endParaRPr lang="en-US" sz="900" dirty="0">
              <a:latin typeface="MiSans Medium" pitchFamily="2" charset="-122"/>
              <a:ea typeface="MiSans Medium" pitchFamily="2" charset="-122"/>
            </a:endParaRPr>
          </a:p>
        </p:txBody>
      </p:sp>
      <p:pic>
        <p:nvPicPr>
          <p:cNvPr id="12" name="Image 0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70513" y="1617111"/>
            <a:ext cx="76200" cy="76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99887" y="2671137"/>
            <a:ext cx="3529794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192F27"/>
                </a:solidFill>
                <a:latin typeface="MiSans Medium" pitchFamily="2" charset="-122"/>
                <a:ea typeface="MiSans Medium" pitchFamily="2" charset="-122"/>
                <a:cs typeface="思源黑体" pitchFamily="34" charset="-120"/>
              </a:rPr>
              <a:t>工作方式变革</a:t>
            </a:r>
            <a:endParaRPr lang="en-US" sz="900" dirty="0">
              <a:latin typeface="MiSans Medium" pitchFamily="2" charset="-122"/>
              <a:ea typeface="MiSans Medium" pitchFamily="2" charset="-122"/>
            </a:endParaRPr>
          </a:p>
        </p:txBody>
      </p:sp>
      <p:pic>
        <p:nvPicPr>
          <p:cNvPr id="14" name="Image 1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70513" y="2724507"/>
            <a:ext cx="76200" cy="76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99887" y="3775961"/>
            <a:ext cx="3529794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192F27"/>
                </a:solidFill>
                <a:latin typeface="MiSans Medium" pitchFamily="2" charset="-122"/>
                <a:ea typeface="MiSans Medium" pitchFamily="2" charset="-122"/>
                <a:cs typeface="思源黑体" pitchFamily="34" charset="-120"/>
              </a:rPr>
              <a:t>流程重构</a:t>
            </a:r>
            <a:endParaRPr lang="en-US" sz="900" dirty="0">
              <a:latin typeface="MiSans Medium" pitchFamily="2" charset="-122"/>
              <a:ea typeface="MiSans Medium" pitchFamily="2" charset="-122"/>
            </a:endParaRPr>
          </a:p>
        </p:txBody>
      </p:sp>
      <p:pic>
        <p:nvPicPr>
          <p:cNvPr id="16" name="Image 2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70513" y="3829331"/>
            <a:ext cx="76200" cy="76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192F27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AI时代的高效工作方式</a:t>
            </a:r>
            <a:endParaRPr lang="en-US" sz="525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5370513" y="4922527"/>
            <a:ext cx="2157413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192F27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SOURCE: GOLDMAN SACHS RESEARCH, 2023</a:t>
            </a:r>
            <a:endParaRPr lang="en-US" sz="525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dirty="0">
                <a:solidFill>
                  <a:srgbClr val="192F27"/>
                </a:solidFill>
                <a:latin typeface="MiSans Light" pitchFamily="2" charset="-122"/>
                <a:ea typeface="MiSans Light" pitchFamily="2" charset="-122"/>
                <a:cs typeface="思源黑体" pitchFamily="34" charset="-120"/>
              </a:rPr>
              <a:t>2026-06-01</a:t>
            </a:r>
            <a:endParaRPr lang="en-US" sz="525" dirty="0">
              <a:latin typeface="MiSans Light" pitchFamily="2" charset="-122"/>
              <a:ea typeface="MiSans Light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10047" y="289974"/>
            <a:ext cx="3659163" cy="1129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dirty="0" err="1">
                <a:solidFill>
                  <a:srgbClr val="192F27"/>
                </a:solidFill>
                <a:latin typeface="MiSans Medium" pitchFamily="2" charset="-122"/>
                <a:ea typeface="MiSans Medium" pitchFamily="2" charset="-122"/>
              </a:rPr>
              <a:t>从工具使用到流程重构</a:t>
            </a:r>
            <a:endParaRPr lang="en-US" sz="2400" dirty="0">
              <a:solidFill>
                <a:srgbClr val="192F27"/>
              </a:solidFill>
              <a:latin typeface="MiSans Medium" pitchFamily="2" charset="-122"/>
              <a:ea typeface="MiSans Medium" pitchFamily="2" charset="-122"/>
            </a:endParaRPr>
          </a:p>
        </p:txBody>
      </p:sp>
      <p:pic>
        <p:nvPicPr>
          <p:cNvPr id="4" name="Image 0" descr="https://pitch-assets-ccb95893-de3f-4266-973c-20049231b248.s3.eu-west-1.amazonaws.com/852d211f-0aae-4ac4-87b5-35ddd67017dd?pitch-bytes=9989423&amp;pitch-content-type=image%2Fjpeg"/>
          <p:cNvPicPr>
            <a:picLocks noChangeAspect="1"/>
          </p:cNvPicPr>
          <p:nvPr/>
        </p:nvPicPr>
        <p:blipFill>
          <a:blip r:embed="rId3"/>
          <a:srcRect l="38489" r="243"/>
          <a:stretch/>
        </p:blipFill>
        <p:spPr>
          <a:xfrm>
            <a:off x="4239491" y="292128"/>
            <a:ext cx="4790208" cy="43991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0047" y="3557855"/>
            <a:ext cx="2700483" cy="112929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13"/>
              </a:lnSpc>
            </a:pPr>
            <a:r>
              <a:rPr lang="en-US" sz="800" dirty="0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这并不意味着 3 亿个岗位会消失，而是意味着大量工作正在被重新拆解、重组与提效。从写作、检索、会议纪要，到数据分析、客户沟通、知识管理，AI 正在成为新一代通用工作基础设施。</a:t>
            </a:r>
            <a:endParaRPr lang="en-US" sz="7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Text 3"/>
          <p:cNvSpPr/>
          <p:nvPr/>
        </p:nvSpPr>
        <p:spPr>
          <a:xfrm>
            <a:off x="5370513" y="4922527"/>
            <a:ext cx="2157413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9" name="Text 5"/>
          <p:cNvSpPr/>
          <p:nvPr/>
        </p:nvSpPr>
        <p:spPr>
          <a:xfrm>
            <a:off x="210047" y="2938205"/>
            <a:ext cx="2700524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192F27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核心观点</a:t>
            </a:r>
            <a:endParaRPr lang="en-US" sz="9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210120" y="3176935"/>
            <a:ext cx="2700483" cy="0"/>
          </a:xfrm>
          <a:prstGeom prst="line">
            <a:avLst/>
          </a:prstGeom>
          <a:solidFill>
            <a:srgbClr val="CFE5E5"/>
          </a:solidFill>
          <a:ln w="5292">
            <a:solidFill>
              <a:srgbClr val="192F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A85EE254-C713-35F4-593A-8E69E458BA71}"/>
              </a:ext>
            </a:extLst>
          </p:cNvPr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192F27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AI时代的高效工作方式</a:t>
            </a:r>
            <a:endParaRPr lang="en-US" sz="525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EB2E06B8-CBEC-2348-63DF-20AE4E7C6543}"/>
              </a:ext>
            </a:extLst>
          </p:cNvPr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dirty="0">
                <a:solidFill>
                  <a:srgbClr val="192F27"/>
                </a:solidFill>
                <a:latin typeface="MiSans Light" pitchFamily="2" charset="-122"/>
                <a:ea typeface="MiSans Light" pitchFamily="2" charset="-122"/>
                <a:cs typeface="思源黑体" pitchFamily="34" charset="-120"/>
              </a:rPr>
              <a:t>2026-06-01</a:t>
            </a:r>
            <a:endParaRPr lang="en-US" sz="525" dirty="0">
              <a:latin typeface="MiSans Light" pitchFamily="2" charset="-122"/>
              <a:ea typeface="MiSans Light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FE5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261257" y="3710567"/>
            <a:ext cx="3659163" cy="96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altLang="zh-CN" sz="900" kern="0" spc="-12" dirty="0" err="1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写作、搜索、总结、计划、学习、时间管理。重点强调个体的启动速度、信息处理速度与输出速度，让每个人都能借助</a:t>
            </a:r>
            <a:r>
              <a:rPr lang="en-US" altLang="zh-CN" sz="900" kern="0" spc="-12" dirty="0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 AI </a:t>
            </a:r>
            <a:r>
              <a:rPr lang="en-US" altLang="zh-CN" sz="900" kern="0" spc="-12" dirty="0" err="1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提升个人生产力。写作、搜索、总结、计划、学习、时间管理。重点强调个体的启动速度、信息处理速度与输出速度，让每个人都能借助</a:t>
            </a:r>
            <a:r>
              <a:rPr lang="en-US" altLang="zh-CN" sz="900" kern="0" spc="-12" dirty="0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 AI </a:t>
            </a:r>
            <a:r>
              <a:rPr lang="en-US" altLang="zh-CN" sz="900" kern="0" spc="-12" dirty="0" err="1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提升个人生产力</a:t>
            </a:r>
            <a:r>
              <a:rPr lang="en-US" altLang="zh-CN" sz="900" kern="0" spc="-12" dirty="0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。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350"/>
              </a:lnSpc>
            </a:pP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261257" y="3396750"/>
            <a:ext cx="3754413" cy="0"/>
          </a:xfrm>
          <a:prstGeom prst="line">
            <a:avLst/>
          </a:prstGeom>
          <a:solidFill>
            <a:srgbClr val="F7F7F5"/>
          </a:solidFill>
          <a:ln w="5292">
            <a:solidFill>
              <a:srgbClr val="192F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261257" y="3133079"/>
            <a:ext cx="3833812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个人效率升级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4619625" y="3710371"/>
            <a:ext cx="3659125" cy="96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altLang="zh-CN" sz="900" kern="0" spc="-12" dirty="0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流程自动化、知识库建设、跨部门协作、数据辅助决策。重点强调团队协同与复用能力，让组织效率实现系统性提升。流程自动化、知识库建设、跨部门协作、数据辅助决策。重点强调团队协同与复用能力，让组织效率实现系统性提升。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350"/>
              </a:lnSpc>
            </a:pP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19625" y="3396554"/>
            <a:ext cx="3640079" cy="0"/>
          </a:xfrm>
          <a:prstGeom prst="line">
            <a:avLst/>
          </a:prstGeom>
          <a:solidFill>
            <a:srgbClr val="F7F7F5"/>
          </a:solidFill>
          <a:ln w="5292">
            <a:solidFill>
              <a:srgbClr val="192F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4619625" y="3132883"/>
            <a:ext cx="3659163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组织效率升级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370513" y="4922527"/>
            <a:ext cx="2157413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17BDEEB-E435-179B-99AC-25A7469783B5}"/>
              </a:ext>
            </a:extLst>
          </p:cNvPr>
          <p:cNvSpPr/>
          <p:nvPr/>
        </p:nvSpPr>
        <p:spPr>
          <a:xfrm>
            <a:off x="261257" y="241227"/>
            <a:ext cx="4358368" cy="1047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2400" dirty="0" err="1">
                <a:solidFill>
                  <a:srgbClr val="192F27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效率升级的两个层</a:t>
            </a:r>
            <a:r>
              <a:rPr lang="zh-CN" altLang="en-US" sz="2400" dirty="0">
                <a:solidFill>
                  <a:srgbClr val="192F27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面  </a:t>
            </a:r>
            <a:endParaRPr lang="en-US" altLang="zh-CN" sz="2400" dirty="0">
              <a:latin typeface="MiSans Demibold" pitchFamily="2" charset="-122"/>
              <a:ea typeface="MiSans Demibold" pitchFamily="2" charset="-122"/>
            </a:endParaRPr>
          </a:p>
          <a:p>
            <a:pPr algn="l"/>
            <a:endParaRPr lang="en-US" sz="2400" dirty="0">
              <a:solidFill>
                <a:srgbClr val="192F27"/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6806EF21-087F-905B-F52A-CC4DB15CF266}"/>
              </a:ext>
            </a:extLst>
          </p:cNvPr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192F27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AI时代的高效工作方式</a:t>
            </a:r>
            <a:endParaRPr lang="en-US" sz="525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FA959505-CEE7-B940-DB5D-95A5541E232F}"/>
              </a:ext>
            </a:extLst>
          </p:cNvPr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dirty="0">
                <a:solidFill>
                  <a:srgbClr val="192F27"/>
                </a:solidFill>
                <a:latin typeface="MiSans Light" pitchFamily="2" charset="-122"/>
                <a:ea typeface="MiSans Light" pitchFamily="2" charset="-122"/>
                <a:cs typeface="思源黑体" pitchFamily="34" charset="-120"/>
              </a:rPr>
              <a:t>2026-06-01</a:t>
            </a:r>
            <a:endParaRPr lang="en-US" sz="525" dirty="0">
              <a:latin typeface="MiSans Light" pitchFamily="2" charset="-122"/>
              <a:ea typeface="MiSans Light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6121400" y="1688172"/>
            <a:ext cx="2908300" cy="3122013"/>
          </a:xfrm>
          <a:prstGeom prst="roundRect">
            <a:avLst>
              <a:gd name="adj" fmla="val -31441"/>
            </a:avLst>
          </a:prstGeom>
          <a:solidFill>
            <a:srgbClr val="CFE5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114300" y="1688172"/>
            <a:ext cx="2908300" cy="3122013"/>
          </a:xfrm>
          <a:prstGeom prst="roundRect">
            <a:avLst>
              <a:gd name="adj" fmla="val -31441"/>
            </a:avLst>
          </a:prstGeom>
          <a:solidFill>
            <a:srgbClr val="CFE5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209652" y="3293334"/>
            <a:ext cx="2592325" cy="12718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575"/>
              </a:lnSpc>
            </a:pPr>
            <a:r>
              <a:rPr lang="en-US" sz="900" dirty="0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判断哪些工作适合交给 AI：重复性高、规则明确、信息密集、反馈周期短。识别这些特征是有效应用 AI 的第一步。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18209" y="2041088"/>
            <a:ext cx="2700483" cy="0"/>
          </a:xfrm>
          <a:prstGeom prst="line">
            <a:avLst/>
          </a:prstGeom>
          <a:solidFill>
            <a:srgbClr val="CFE5E5"/>
          </a:solidFill>
          <a:ln w="5292">
            <a:solidFill>
              <a:srgbClr val="192F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347231" y="1802358"/>
            <a:ext cx="2571452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01 任务识别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9" name="Image 0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9652" y="1855690"/>
            <a:ext cx="76200" cy="76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117850" y="1688172"/>
            <a:ext cx="2908300" cy="3122013"/>
          </a:xfrm>
          <a:prstGeom prst="roundRect">
            <a:avLst>
              <a:gd name="adj" fmla="val -31441"/>
            </a:avLst>
          </a:prstGeom>
          <a:solidFill>
            <a:srgbClr val="CFE5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3213202" y="3293334"/>
            <a:ext cx="2592325" cy="12718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575"/>
              </a:lnSpc>
            </a:pPr>
            <a:r>
              <a:rPr lang="en-US" sz="900" dirty="0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让 AI 参与搜索、分析、生成、复盘，把工具嵌入真实工作流，而不是停留在尝鲜阶段，实现真正的效率提升。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3221759" y="2041088"/>
            <a:ext cx="2700483" cy="0"/>
          </a:xfrm>
          <a:prstGeom prst="line">
            <a:avLst/>
          </a:prstGeom>
          <a:solidFill>
            <a:srgbClr val="CFE5E5"/>
          </a:solidFill>
          <a:ln w="5292">
            <a:solidFill>
              <a:srgbClr val="192F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3350781" y="1802358"/>
            <a:ext cx="2571452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02 工具协作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4" name="Image 1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13202" y="1855690"/>
            <a:ext cx="76200" cy="76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54331" y="1802358"/>
            <a:ext cx="2571452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03 流程沉淀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6" name="Image 2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216752" y="1855690"/>
            <a:ext cx="76200" cy="76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16752" y="3293334"/>
            <a:ext cx="2639541" cy="12718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575"/>
              </a:lnSpc>
            </a:pPr>
            <a:r>
              <a:rPr lang="en-US" sz="900" dirty="0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把一次性提效变成可复用 SOP，让团队能够复制、训练、优化并持续迭代，形成组织级的 AI 能力。让团队能够复制形成组织级的 AI 能力。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6225309" y="2041088"/>
            <a:ext cx="2700483" cy="0"/>
          </a:xfrm>
          <a:prstGeom prst="line">
            <a:avLst/>
          </a:prstGeom>
          <a:solidFill>
            <a:srgbClr val="CFE5E5"/>
          </a:solidFill>
          <a:ln w="5292">
            <a:solidFill>
              <a:srgbClr val="192F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4"/>
          <p:cNvSpPr/>
          <p:nvPr/>
        </p:nvSpPr>
        <p:spPr>
          <a:xfrm>
            <a:off x="5370513" y="4922527"/>
            <a:ext cx="2157413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7CAE222-7DC1-EB96-7C6D-A7B2DCDE2F58}"/>
              </a:ext>
            </a:extLst>
          </p:cNvPr>
          <p:cNvSpPr/>
          <p:nvPr/>
        </p:nvSpPr>
        <p:spPr>
          <a:xfrm>
            <a:off x="209652" y="247753"/>
            <a:ext cx="5816498" cy="807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2400" dirty="0">
                <a:solidFill>
                  <a:srgbClr val="192F27"/>
                </a:solidFill>
                <a:latin typeface="MiSans Demibold" pitchFamily="2" charset="-122"/>
                <a:ea typeface="MiSans Demibold" pitchFamily="2" charset="-122"/>
              </a:rPr>
              <a:t>AI </a:t>
            </a:r>
            <a:r>
              <a:rPr lang="en-US" altLang="zh-CN" sz="2400" dirty="0" err="1">
                <a:solidFill>
                  <a:srgbClr val="192F27"/>
                </a:solidFill>
                <a:latin typeface="MiSans Demibold" pitchFamily="2" charset="-122"/>
                <a:ea typeface="MiSans Demibold" pitchFamily="2" charset="-122"/>
              </a:rPr>
              <a:t>提效的三个关键步骤</a:t>
            </a:r>
            <a:r>
              <a:rPr lang="zh-CN" altLang="en-US" sz="2400" dirty="0">
                <a:solidFill>
                  <a:srgbClr val="192F27"/>
                </a:solidFill>
                <a:latin typeface="MiSans Demibold" pitchFamily="2" charset="-122"/>
                <a:ea typeface="MiSans Demibold" pitchFamily="2" charset="-122"/>
              </a:rPr>
              <a:t> </a:t>
            </a:r>
            <a:endParaRPr lang="en-US" altLang="zh-CN" sz="2400" dirty="0">
              <a:solidFill>
                <a:srgbClr val="192F27"/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9EAB6E73-86F1-2AED-34D3-07788EF31C06}"/>
              </a:ext>
            </a:extLst>
          </p:cNvPr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spc="-12" dirty="0">
                <a:solidFill>
                  <a:srgbClr val="192F27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AI时代的高效工作方式</a:t>
            </a:r>
            <a:endParaRPr lang="en-US" sz="525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2B23C695-43E9-2ACE-4FE9-68B2E5F26E36}"/>
              </a:ext>
            </a:extLst>
          </p:cNvPr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spc="-12" dirty="0">
                <a:solidFill>
                  <a:srgbClr val="192F27"/>
                </a:solidFill>
                <a:latin typeface="MiSans Light" pitchFamily="2" charset="-122"/>
                <a:ea typeface="MiSans Light" pitchFamily="2" charset="-122"/>
                <a:cs typeface="思源黑体" pitchFamily="34" charset="-120"/>
              </a:rPr>
              <a:t>2026-06-01</a:t>
            </a:r>
            <a:endParaRPr lang="en-US" sz="525" dirty="0">
              <a:latin typeface="MiSans Light" pitchFamily="2" charset="-122"/>
              <a:ea typeface="MiSans Light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846810" y="3670150"/>
            <a:ext cx="3266412" cy="1252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13"/>
              </a:lnSpc>
            </a:pPr>
            <a:r>
              <a:rPr lang="en-US" sz="800" b="1" dirty="0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01 提升个人效率</a:t>
            </a:r>
            <a:endParaRPr lang="en-US" sz="750" b="1" dirty="0">
              <a:latin typeface="MiSans Normal" pitchFamily="2" charset="-122"/>
              <a:ea typeface="MiSans Normal" pitchFamily="2" charset="-122"/>
            </a:endParaRPr>
          </a:p>
          <a:p>
            <a:pPr algn="l">
              <a:lnSpc>
                <a:spcPts val="1313"/>
              </a:lnSpc>
            </a:pPr>
            <a:r>
              <a:rPr lang="en-US" sz="800" dirty="0" err="1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写作、搜索、总结、计划、学习、时间管理。重点强调个体的启动速度、输出速度，让每个人都能借助AI提升个人生产力</a:t>
            </a:r>
            <a:r>
              <a:rPr lang="en-US" sz="800" dirty="0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。</a:t>
            </a:r>
          </a:p>
          <a:p>
            <a:pPr algn="l">
              <a:lnSpc>
                <a:spcPts val="1313"/>
              </a:lnSpc>
            </a:pPr>
            <a:endParaRPr lang="en-US" sz="750" dirty="0">
              <a:latin typeface="MiSans Normal" pitchFamily="2" charset="-122"/>
              <a:ea typeface="MiSans Normal" pitchFamily="2" charset="-122"/>
            </a:endParaRPr>
          </a:p>
          <a:p>
            <a:pPr algn="l">
              <a:lnSpc>
                <a:spcPts val="1413"/>
              </a:lnSpc>
            </a:pPr>
            <a:r>
              <a:rPr lang="en-US" sz="800" b="1" dirty="0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02 组织效率升级</a:t>
            </a:r>
            <a:endParaRPr lang="en-US" sz="750" b="1" dirty="0">
              <a:latin typeface="MiSans Normal" pitchFamily="2" charset="-122"/>
              <a:ea typeface="MiSans Normal" pitchFamily="2" charset="-122"/>
            </a:endParaRPr>
          </a:p>
          <a:p>
            <a:pPr algn="l">
              <a:lnSpc>
                <a:spcPts val="1313"/>
              </a:lnSpc>
            </a:pPr>
            <a:r>
              <a:rPr lang="en-US" sz="800" dirty="0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流程自动化、知识库建设、跨部门协作、数据辅助决策。重点强调团队协同与复用能力，让组织效率实现系统性提升。</a:t>
            </a:r>
            <a:endParaRPr lang="en-US" sz="750" dirty="0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 t="6250" b="6250"/>
          <a:stretch/>
        </p:blipFill>
        <p:spPr>
          <a:xfrm>
            <a:off x="114300" y="114300"/>
            <a:ext cx="8915400" cy="33432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70513" y="4922527"/>
            <a:ext cx="2157412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2902F2B-EE5F-3BFA-0A02-442C58C6F7C4}"/>
              </a:ext>
            </a:extLst>
          </p:cNvPr>
          <p:cNvSpPr/>
          <p:nvPr/>
        </p:nvSpPr>
        <p:spPr>
          <a:xfrm>
            <a:off x="114300" y="3670150"/>
            <a:ext cx="3659163" cy="85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2400" dirty="0" err="1">
                <a:solidFill>
                  <a:srgbClr val="192F27"/>
                </a:solidFill>
                <a:latin typeface="MiSans Demibold" pitchFamily="2" charset="-122"/>
                <a:ea typeface="MiSans Demibold" pitchFamily="2" charset="-122"/>
                <a:cs typeface="Geist" pitchFamily="34" charset="-120"/>
              </a:rPr>
              <a:t>效率升级的两个层面</a:t>
            </a:r>
            <a:r>
              <a:rPr lang="zh-CN" altLang="en-US" sz="2400" dirty="0">
                <a:solidFill>
                  <a:srgbClr val="192F27"/>
                </a:solidFill>
                <a:latin typeface="MiSans Demibold" pitchFamily="2" charset="-122"/>
                <a:ea typeface="MiSans Demibold" pitchFamily="2" charset="-122"/>
                <a:cs typeface="Geist" pitchFamily="34" charset="-120"/>
              </a:rPr>
              <a:t> </a:t>
            </a:r>
            <a:endParaRPr lang="en-US" altLang="zh-CN" sz="2400" dirty="0">
              <a:solidFill>
                <a:srgbClr val="192F27"/>
              </a:solidFill>
              <a:latin typeface="MiSans Demibold" pitchFamily="2" charset="-122"/>
              <a:ea typeface="MiSans Demibold" pitchFamily="2" charset="-122"/>
              <a:cs typeface="Geist" pitchFamily="34" charset="-120"/>
            </a:endParaRPr>
          </a:p>
          <a:p>
            <a:pPr algn="l"/>
            <a:endParaRPr lang="en-US" sz="2400" dirty="0">
              <a:solidFill>
                <a:srgbClr val="192F27"/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4B12CB2C-C984-9792-4DEF-2C8C37BC1541}"/>
              </a:ext>
            </a:extLst>
          </p:cNvPr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spc="-12" dirty="0">
                <a:solidFill>
                  <a:srgbClr val="192F27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AI时代的高效工作方式</a:t>
            </a:r>
            <a:endParaRPr lang="en-US" sz="525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2C03B4F7-B980-A894-F228-FD72E5A32F01}"/>
              </a:ext>
            </a:extLst>
          </p:cNvPr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spc="-12" dirty="0">
                <a:solidFill>
                  <a:srgbClr val="192F27"/>
                </a:solidFill>
                <a:latin typeface="MiSans Light" pitchFamily="2" charset="-122"/>
                <a:ea typeface="MiSans Light" pitchFamily="2" charset="-122"/>
                <a:cs typeface="思源黑体" pitchFamily="34" charset="-120"/>
              </a:rPr>
              <a:t>2026-06-01</a:t>
            </a:r>
            <a:endParaRPr lang="en-US" sz="525" dirty="0">
              <a:latin typeface="MiSans Light" pitchFamily="2" charset="-122"/>
              <a:ea typeface="MiSans Light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121400" y="1649520"/>
            <a:ext cx="2908300" cy="1524408"/>
          </a:xfrm>
          <a:prstGeom prst="roundRect">
            <a:avLst>
              <a:gd name="adj" fmla="val -59984"/>
            </a:avLst>
          </a:prstGeom>
          <a:solidFill>
            <a:srgbClr val="CFE5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6121400" y="3290203"/>
            <a:ext cx="2908300" cy="1524408"/>
          </a:xfrm>
          <a:prstGeom prst="roundRect">
            <a:avLst>
              <a:gd name="adj" fmla="val -59984"/>
            </a:avLst>
          </a:prstGeom>
          <a:solidFill>
            <a:srgbClr val="CFE5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114300" y="1649520"/>
            <a:ext cx="2908300" cy="1524408"/>
          </a:xfrm>
          <a:prstGeom prst="roundRect">
            <a:avLst>
              <a:gd name="adj" fmla="val -59984"/>
            </a:avLst>
          </a:prstGeom>
          <a:solidFill>
            <a:srgbClr val="CFE5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209652" y="2268287"/>
            <a:ext cx="2592325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13"/>
              </a:lnSpc>
            </a:pPr>
            <a:r>
              <a:rPr lang="en-US" sz="800" dirty="0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从空白页到初稿，降低启动成本。AI </a:t>
            </a:r>
            <a:r>
              <a:rPr lang="en-US" sz="800" dirty="0" err="1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帮助快速生成文案初稿，让创作者专注于优化与打磨。从空白页到初稿，降低启动成本</a:t>
            </a:r>
            <a:r>
              <a:rPr lang="en-US" sz="800" dirty="0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。</a:t>
            </a:r>
            <a:endParaRPr lang="en-US" sz="7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18209" y="2002436"/>
            <a:ext cx="2700483" cy="0"/>
          </a:xfrm>
          <a:prstGeom prst="line">
            <a:avLst/>
          </a:prstGeom>
          <a:solidFill>
            <a:srgbClr val="CFE5E5"/>
          </a:solidFill>
          <a:ln w="5292">
            <a:solidFill>
              <a:srgbClr val="192F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0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9652" y="1817039"/>
            <a:ext cx="76200" cy="76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14300" y="3290203"/>
            <a:ext cx="2908300" cy="1524408"/>
          </a:xfrm>
          <a:prstGeom prst="roundRect">
            <a:avLst>
              <a:gd name="adj" fmla="val -59984"/>
            </a:avLst>
          </a:prstGeom>
          <a:solidFill>
            <a:srgbClr val="CFE5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209652" y="3908970"/>
            <a:ext cx="2592325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13"/>
              </a:lnSpc>
            </a:pPr>
            <a:r>
              <a:rPr lang="en-US" sz="800" dirty="0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拆解任务、生成计划、追踪风险与复盘结果。让项目管理更加精细化和数据驱动。拆解任务、生成计划、追踪风险与复盘结果。让项目管理更加精细化和数据驱动。拆解任务、生成计划、追踪风险与复盘结果。</a:t>
            </a:r>
            <a:endParaRPr lang="en-US" sz="7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218209" y="3643119"/>
            <a:ext cx="2700483" cy="0"/>
          </a:xfrm>
          <a:prstGeom prst="line">
            <a:avLst/>
          </a:prstGeom>
          <a:solidFill>
            <a:srgbClr val="CFE5E5"/>
          </a:solidFill>
          <a:ln w="5292">
            <a:solidFill>
              <a:srgbClr val="192F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347231" y="3404389"/>
            <a:ext cx="2571341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04 项目管理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3" name="Image 1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9652" y="3457721"/>
            <a:ext cx="76200" cy="762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117850" y="1649520"/>
            <a:ext cx="2908300" cy="1524408"/>
          </a:xfrm>
          <a:prstGeom prst="roundRect">
            <a:avLst>
              <a:gd name="adj" fmla="val -59984"/>
            </a:avLst>
          </a:prstGeom>
          <a:solidFill>
            <a:srgbClr val="CFE5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0"/>
          <p:cNvSpPr/>
          <p:nvPr/>
        </p:nvSpPr>
        <p:spPr>
          <a:xfrm>
            <a:off x="3213202" y="2268287"/>
            <a:ext cx="2592325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13"/>
              </a:lnSpc>
            </a:pPr>
            <a:r>
              <a:rPr lang="en-US" sz="800" dirty="0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从表格与文本中提炼趋势、异常和洞察。AI 让数据分析不再是专业人员的专属技能。从表格与文本中提炼趋势、异常和洞察。AI </a:t>
            </a:r>
            <a:r>
              <a:rPr lang="en-US" sz="800" dirty="0" err="1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让数据分析不再是专业人员的专属技能。从表格与文本中提炼趋势、异常和洞察</a:t>
            </a:r>
            <a:r>
              <a:rPr lang="en-US" sz="800" dirty="0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。</a:t>
            </a:r>
            <a:endParaRPr lang="en-US" sz="7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3221759" y="2002436"/>
            <a:ext cx="2700483" cy="0"/>
          </a:xfrm>
          <a:prstGeom prst="line">
            <a:avLst/>
          </a:prstGeom>
          <a:solidFill>
            <a:srgbClr val="CFE5E5"/>
          </a:solidFill>
          <a:ln w="5292">
            <a:solidFill>
              <a:srgbClr val="192F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2"/>
          <p:cNvSpPr/>
          <p:nvPr/>
        </p:nvSpPr>
        <p:spPr>
          <a:xfrm>
            <a:off x="3350781" y="1763706"/>
            <a:ext cx="2571341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02 数据分析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8" name="Image 2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13202" y="1817039"/>
            <a:ext cx="76200" cy="76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17850" y="3290203"/>
            <a:ext cx="2908300" cy="1524408"/>
          </a:xfrm>
          <a:prstGeom prst="roundRect">
            <a:avLst>
              <a:gd name="adj" fmla="val -59984"/>
            </a:avLst>
          </a:prstGeom>
          <a:solidFill>
            <a:srgbClr val="CFE5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4"/>
          <p:cNvSpPr/>
          <p:nvPr/>
        </p:nvSpPr>
        <p:spPr>
          <a:xfrm>
            <a:off x="3213202" y="3908970"/>
            <a:ext cx="2592325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13"/>
              </a:lnSpc>
            </a:pPr>
            <a:r>
              <a:rPr lang="en-US" sz="800" dirty="0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把分散文档、会议与经验整理成可检索资产。让组织知识不再依赖个人记忆。把分散文档、会议与经验整理成可检索资产。让组织知识不再依赖个人记忆。</a:t>
            </a:r>
            <a:endParaRPr lang="en-US" sz="7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3221759" y="3643119"/>
            <a:ext cx="2700483" cy="0"/>
          </a:xfrm>
          <a:prstGeom prst="line">
            <a:avLst/>
          </a:prstGeom>
          <a:solidFill>
            <a:srgbClr val="CFE5E5"/>
          </a:solidFill>
          <a:ln w="5292">
            <a:solidFill>
              <a:srgbClr val="192F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6"/>
          <p:cNvSpPr/>
          <p:nvPr/>
        </p:nvSpPr>
        <p:spPr>
          <a:xfrm>
            <a:off x="3350781" y="3404389"/>
            <a:ext cx="2571304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05 知识沉淀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3" name="Image 3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13202" y="3457721"/>
            <a:ext cx="76200" cy="76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354331" y="1763706"/>
            <a:ext cx="2571452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03 客户沟通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5" name="Image 4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216752" y="1817039"/>
            <a:ext cx="76200" cy="76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354331" y="3404389"/>
            <a:ext cx="2571341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06 个人学习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7" name="Image 5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216752" y="3457721"/>
            <a:ext cx="76200" cy="762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216752" y="2268287"/>
            <a:ext cx="2592326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13"/>
              </a:lnSpc>
            </a:pPr>
            <a:r>
              <a:rPr lang="en-US" sz="800" dirty="0" err="1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辅助撰写回复、FAQ、跟进记录与服务摘要。提升客户服务效率与响应速度。辅助撰写回复、FAQ、跟进记录与服务摘要</a:t>
            </a:r>
            <a:r>
              <a:rPr lang="en-US" sz="800" dirty="0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。</a:t>
            </a:r>
            <a:endParaRPr lang="en-US" sz="7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9" name="Shape 20"/>
          <p:cNvSpPr/>
          <p:nvPr/>
        </p:nvSpPr>
        <p:spPr>
          <a:xfrm>
            <a:off x="6225309" y="2002436"/>
            <a:ext cx="2700483" cy="0"/>
          </a:xfrm>
          <a:prstGeom prst="line">
            <a:avLst/>
          </a:prstGeom>
          <a:solidFill>
            <a:srgbClr val="CFE5E5"/>
          </a:solidFill>
          <a:ln w="5292">
            <a:solidFill>
              <a:srgbClr val="192F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1"/>
          <p:cNvSpPr/>
          <p:nvPr/>
        </p:nvSpPr>
        <p:spPr>
          <a:xfrm>
            <a:off x="6216752" y="3908970"/>
            <a:ext cx="2592326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13"/>
              </a:lnSpc>
            </a:pPr>
            <a:r>
              <a:rPr lang="en-US" sz="800" dirty="0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生成学习路径、解释概念、模拟练习与复盘。让每个人都能拥有个性化的学习助手。生成学习路径、解释概念、模拟练习与复盘。让每个人都能拥有个性化的学习助手。</a:t>
            </a:r>
            <a:endParaRPr lang="en-US" sz="7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1" name="Shape 22"/>
          <p:cNvSpPr/>
          <p:nvPr/>
        </p:nvSpPr>
        <p:spPr>
          <a:xfrm>
            <a:off x="6225309" y="3643119"/>
            <a:ext cx="2700483" cy="0"/>
          </a:xfrm>
          <a:prstGeom prst="line">
            <a:avLst/>
          </a:prstGeom>
          <a:solidFill>
            <a:srgbClr val="CFE5E5"/>
          </a:solidFill>
          <a:ln w="5292">
            <a:solidFill>
              <a:srgbClr val="192F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4"/>
          <p:cNvSpPr/>
          <p:nvPr/>
        </p:nvSpPr>
        <p:spPr>
          <a:xfrm>
            <a:off x="5370513" y="4922527"/>
            <a:ext cx="2157413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35" name="Text 26"/>
          <p:cNvSpPr/>
          <p:nvPr/>
        </p:nvSpPr>
        <p:spPr>
          <a:xfrm>
            <a:off x="114300" y="240306"/>
            <a:ext cx="5911850" cy="690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zh-CN" altLang="en-US" sz="2400" dirty="0">
                <a:solidFill>
                  <a:srgbClr val="192F27"/>
                </a:solidFill>
                <a:latin typeface="MiSans Demibold" pitchFamily="2" charset="-122"/>
                <a:ea typeface="MiSans Demibold" pitchFamily="2" charset="-122"/>
                <a:cs typeface="Geist" pitchFamily="34" charset="-120"/>
              </a:rPr>
              <a:t> </a:t>
            </a:r>
            <a:r>
              <a:rPr lang="en-US" sz="2400" dirty="0" err="1">
                <a:solidFill>
                  <a:srgbClr val="192F27"/>
                </a:solidFill>
                <a:latin typeface="MiSans Demibold" pitchFamily="2" charset="-122"/>
                <a:ea typeface="MiSans Demibold" pitchFamily="2" charset="-122"/>
                <a:cs typeface="Geist" pitchFamily="34" charset="-120"/>
              </a:rPr>
              <a:t>AI的六大应用场景</a:t>
            </a:r>
            <a:endParaRPr lang="en-US" sz="24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6" name="Text 27"/>
          <p:cNvSpPr/>
          <p:nvPr/>
        </p:nvSpPr>
        <p:spPr>
          <a:xfrm>
            <a:off x="347472" y="1763706"/>
            <a:ext cx="2571452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01 内容生成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D861389C-55B8-0227-7EA7-9C9E4AA88235}"/>
              </a:ext>
            </a:extLst>
          </p:cNvPr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spc="-12" dirty="0">
                <a:solidFill>
                  <a:srgbClr val="192F27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AI时代的高效工作方式</a:t>
            </a:r>
            <a:endParaRPr lang="en-US" sz="525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4868A822-C616-02C9-3945-5CC629C50663}"/>
              </a:ext>
            </a:extLst>
          </p:cNvPr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spc="-12" dirty="0">
                <a:solidFill>
                  <a:srgbClr val="192F27"/>
                </a:solidFill>
                <a:latin typeface="MiSans Light" pitchFamily="2" charset="-122"/>
                <a:ea typeface="MiSans Light" pitchFamily="2" charset="-122"/>
                <a:cs typeface="思源黑体" pitchFamily="34" charset="-120"/>
              </a:rPr>
              <a:t>2026-06-01</a:t>
            </a:r>
            <a:endParaRPr lang="en-US" sz="525" dirty="0">
              <a:latin typeface="MiSans Light" pitchFamily="2" charset="-122"/>
              <a:ea typeface="MiSans Light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FE5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548328"/>
              </p:ext>
            </p:extLst>
          </p:nvPr>
        </p:nvGraphicFramePr>
        <p:xfrm>
          <a:off x="1380744" y="1370316"/>
          <a:ext cx="6341976" cy="2345798"/>
        </p:xfrm>
        <a:graphic>
          <a:graphicData uri="http://schemas.openxmlformats.org/drawingml/2006/table">
            <a:tbl>
              <a:tblPr/>
              <a:tblGrid>
                <a:gridCol w="1585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5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5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5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998"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CFE5E5"/>
                          </a:solidFill>
                          <a:latin typeface="Microsoft YaHei Light" panose="020B0503020204020204" pitchFamily="34" charset="-122"/>
                          <a:ea typeface="Microsoft YaHei Light" panose="020B0503020204020204" pitchFamily="34" charset="-122"/>
                          <a:cs typeface="思源黑体" pitchFamily="34" charset="-120"/>
                        </a:rPr>
                        <a:t>场景</a:t>
                      </a:r>
                      <a:endParaRPr lang="en-US" sz="900" b="0" i="0" dirty="0">
                        <a:latin typeface="Microsoft YaHei Light" panose="020B0503020204020204" pitchFamily="34" charset="-122"/>
                        <a:ea typeface="Microsoft YaHei Light" panose="020B0503020204020204" pitchFamily="34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F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CFE5E5"/>
                          </a:solidFill>
                          <a:latin typeface="Microsoft YaHei Light" panose="020B0503020204020204" pitchFamily="34" charset="-122"/>
                          <a:ea typeface="Microsoft YaHei Light" panose="020B0503020204020204" pitchFamily="34" charset="-122"/>
                          <a:cs typeface="思源黑体" pitchFamily="34" charset="-120"/>
                        </a:rPr>
                        <a:t>传统方式</a:t>
                      </a:r>
                      <a:endParaRPr lang="en-US" sz="900" b="0" i="0" dirty="0">
                        <a:latin typeface="Microsoft YaHei Light" panose="020B0503020204020204" pitchFamily="34" charset="-122"/>
                        <a:ea typeface="Microsoft YaHei Light" panose="020B0503020204020204" pitchFamily="34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F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CFE5E5"/>
                          </a:solidFill>
                          <a:latin typeface="Microsoft YaHei Light" panose="020B0503020204020204" pitchFamily="34" charset="-122"/>
                          <a:ea typeface="Microsoft YaHei Light" panose="020B0503020204020204" pitchFamily="34" charset="-122"/>
                          <a:cs typeface="思源黑体" pitchFamily="34" charset="-120"/>
                        </a:rPr>
                        <a:t>AI 辅助方式</a:t>
                      </a:r>
                      <a:endParaRPr lang="en-US" sz="900" b="0" i="0" dirty="0">
                        <a:latin typeface="Microsoft YaHei Light" panose="020B0503020204020204" pitchFamily="34" charset="-122"/>
                        <a:ea typeface="Microsoft YaHei Light" panose="020B0503020204020204" pitchFamily="34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F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CFE5E5"/>
                          </a:solidFill>
                          <a:latin typeface="Microsoft YaHei Light" panose="020B0503020204020204" pitchFamily="34" charset="-122"/>
                          <a:ea typeface="Microsoft YaHei Light" panose="020B0503020204020204" pitchFamily="34" charset="-122"/>
                          <a:cs typeface="思源黑体" pitchFamily="34" charset="-120"/>
                        </a:rPr>
                        <a:t>提效价值</a:t>
                      </a:r>
                      <a:endParaRPr lang="en-US" sz="900" b="0" i="0" dirty="0">
                        <a:latin typeface="Microsoft YaHei Light" panose="020B0503020204020204" pitchFamily="34" charset="-122"/>
                        <a:ea typeface="Microsoft YaHei Light" panose="020B0503020204020204" pitchFamily="34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F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760"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192F27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会议纪要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192F27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人工记录整理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192F27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自动转写与摘要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192F27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节省整理时间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760"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192F27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市场调研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192F27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手动搜索资料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192F27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快速汇总多来源信息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192F27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提升信息密度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760"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192F27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文案撰写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192F27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从零起草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192F27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先生成初稿再修改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192F27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降低启动成本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760"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192F27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数据分析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192F27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手动筛选图表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192F27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自动提炼趋势与异常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192F27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辅助判断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760"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192F27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知识管理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192F27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依赖个人经验查找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192F27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知识库问答与自动归档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192F27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提高复用率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2F27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1384473" y="4446873"/>
            <a:ext cx="6381750" cy="13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080"/>
              </a:lnSpc>
            </a:pPr>
            <a:r>
              <a:rPr lang="en-US" sz="700" kern="0" spc="-12" dirty="0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通过 AI 辅助，各场景均可实现显著效率提升</a:t>
            </a:r>
            <a:endParaRPr lang="en-US" sz="675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5" name="Text 1"/>
          <p:cNvSpPr/>
          <p:nvPr/>
        </p:nvSpPr>
        <p:spPr>
          <a:xfrm>
            <a:off x="1380744" y="163903"/>
            <a:ext cx="634197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60"/>
              </a:lnSpc>
            </a:pPr>
            <a:r>
              <a:rPr lang="en-US" sz="1400" kern="0" spc="12" dirty="0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传统方式 VS AI 辅助方式</a:t>
            </a:r>
            <a:endParaRPr lang="en-US" sz="13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Text 3"/>
          <p:cNvSpPr/>
          <p:nvPr/>
        </p:nvSpPr>
        <p:spPr>
          <a:xfrm>
            <a:off x="5370513" y="4922527"/>
            <a:ext cx="2157413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D6E4F3D6-A01C-C07B-189B-E387D1CDDF7A}"/>
              </a:ext>
            </a:extLst>
          </p:cNvPr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spc="-12" dirty="0">
                <a:solidFill>
                  <a:srgbClr val="192F27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AI时代的高效工作方式</a:t>
            </a:r>
            <a:endParaRPr lang="en-US" sz="525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3" name="Text 13">
            <a:extLst>
              <a:ext uri="{FF2B5EF4-FFF2-40B4-BE49-F238E27FC236}">
                <a16:creationId xmlns:a16="http://schemas.microsoft.com/office/drawing/2014/main" id="{D1D583B4-7970-7AEC-20A0-B1AF29C99E81}"/>
              </a:ext>
            </a:extLst>
          </p:cNvPr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spc="-12" dirty="0">
                <a:solidFill>
                  <a:srgbClr val="192F27"/>
                </a:solidFill>
                <a:latin typeface="MiSans Light" pitchFamily="2" charset="-122"/>
                <a:ea typeface="MiSans Light" pitchFamily="2" charset="-122"/>
                <a:cs typeface="思源黑体" pitchFamily="34" charset="-120"/>
              </a:rPr>
              <a:t>2026-06-01</a:t>
            </a:r>
            <a:endParaRPr lang="en-US" sz="525" dirty="0">
              <a:latin typeface="MiSans Light" pitchFamily="2" charset="-122"/>
              <a:ea typeface="MiSans Light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4300" y="114300"/>
            <a:ext cx="4037729" cy="4723440"/>
          </a:xfrm>
          <a:prstGeom prst="roundRect">
            <a:avLst>
              <a:gd name="adj" fmla="val -22646"/>
            </a:avLst>
          </a:prstGeom>
          <a:solidFill>
            <a:srgbClr val="CFE5E5"/>
          </a:solidFill>
          <a:ln/>
        </p:spPr>
        <p:txBody>
          <a:bodyPr wrap="square" lIns="224318" tIns="557628" rIns="224318" bIns="557628" rtlCol="0" anchor="ctr"/>
          <a:lstStyle/>
          <a:p>
            <a:pPr algn="ctr">
              <a:lnSpc>
                <a:spcPts val="1313"/>
              </a:lnSpc>
            </a:pP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571999" y="184270"/>
            <a:ext cx="3208715" cy="439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dirty="0">
                <a:solidFill>
                  <a:srgbClr val="192F27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AI 已进入主流工作流</a:t>
            </a:r>
            <a:endParaRPr lang="en-US" sz="24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1999" y="773971"/>
            <a:ext cx="3208714" cy="155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13"/>
              </a:lnSpc>
            </a:pPr>
            <a:r>
              <a:rPr lang="en-US" sz="800" dirty="0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麦肯锡全球调研显示，72% 的受访组织已在至少一个业务职能中使用 AI。AI 不再只是技术团队的工具，而正在进入营销、产品、IT、运营与管理决策等日常工作场景。AI 采用已经过了尝鲜期，但真正深入多职能协同的组织还在少数。</a:t>
            </a:r>
            <a:endParaRPr lang="en-US" sz="750" dirty="0">
              <a:latin typeface="MiSans Normal" pitchFamily="2" charset="-122"/>
              <a:ea typeface="MiSans Normal" pitchFamily="2" charset="-122"/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640815592"/>
              </p:ext>
            </p:extLst>
          </p:nvPr>
        </p:nvGraphicFramePr>
        <p:xfrm>
          <a:off x="565356" y="1041835"/>
          <a:ext cx="3208131" cy="305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324718" y="179418"/>
            <a:ext cx="3276600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ADOPTION DEPTH / 采用深度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8" name="Shape 4"/>
          <p:cNvSpPr/>
          <p:nvPr/>
        </p:nvSpPr>
        <p:spPr>
          <a:xfrm rot="10800000">
            <a:off x="207279" y="411998"/>
            <a:ext cx="3818906" cy="0"/>
          </a:xfrm>
          <a:prstGeom prst="line">
            <a:avLst/>
          </a:prstGeom>
          <a:solidFill>
            <a:srgbClr val="CFE5E5"/>
          </a:solidFill>
          <a:ln w="5292">
            <a:solidFill>
              <a:srgbClr val="192F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0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95344" y="232788"/>
            <a:ext cx="76200" cy="76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70513" y="4922527"/>
            <a:ext cx="2157413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59EBB553-583F-DD6D-04F1-55B9FCBEE7BB}"/>
              </a:ext>
            </a:extLst>
          </p:cNvPr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spc="-12" dirty="0">
                <a:solidFill>
                  <a:srgbClr val="192F27"/>
                </a:solidFill>
                <a:latin typeface="MiSans ExtraLight" pitchFamily="2" charset="-122"/>
                <a:ea typeface="MiSans ExtraLight" pitchFamily="2" charset="-122"/>
                <a:cs typeface="Geist" pitchFamily="34" charset="-120"/>
              </a:rPr>
              <a:t>AI时代的高效工作方式</a:t>
            </a:r>
            <a:endParaRPr lang="en-US" sz="525" dirty="0">
              <a:latin typeface="MiSans ExtraLight" pitchFamily="2" charset="-122"/>
              <a:ea typeface="MiSans ExtraLight" pitchFamily="2" charset="-122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D241E80-FDCC-44BF-DF54-751F44182B5A}"/>
              </a:ext>
            </a:extLst>
          </p:cNvPr>
          <p:cNvSpPr/>
          <p:nvPr/>
        </p:nvSpPr>
        <p:spPr>
          <a:xfrm>
            <a:off x="4619549" y="4922527"/>
            <a:ext cx="2157413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40"/>
              </a:lnSpc>
            </a:pPr>
            <a:r>
              <a:rPr lang="en-US" sz="500" kern="0" spc="-12" dirty="0">
                <a:solidFill>
                  <a:srgbClr val="192F27"/>
                </a:solidFill>
                <a:latin typeface="MiSans ExtraLight" pitchFamily="2" charset="-122"/>
                <a:ea typeface="MiSans ExtraLight" pitchFamily="2" charset="-122"/>
                <a:cs typeface="Geist" pitchFamily="34" charset="-120"/>
              </a:rPr>
              <a:t>SOURCE: GOLDMAN SACHS RESEARCH, 2023</a:t>
            </a:r>
            <a:endParaRPr lang="en-US" sz="525" dirty="0">
              <a:latin typeface="MiSans ExtraLight" pitchFamily="2" charset="-122"/>
              <a:ea typeface="MiSans ExtraLight" pitchFamily="2" charset="-122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BBCFA52-F13E-F411-08CC-25B35A9BA9DE}"/>
              </a:ext>
            </a:extLst>
          </p:cNvPr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spc="-12" dirty="0">
                <a:solidFill>
                  <a:srgbClr val="192F27"/>
                </a:solidFill>
                <a:latin typeface="MiSans ExtraLight" pitchFamily="2" charset="-122"/>
                <a:ea typeface="MiSans ExtraLight" pitchFamily="2" charset="-122"/>
                <a:cs typeface="思源黑体" pitchFamily="34" charset="-120"/>
              </a:rPr>
              <a:t>2026-06-01</a:t>
            </a:r>
            <a:endParaRPr lang="en-US" sz="525" dirty="0">
              <a:latin typeface="MiSans ExtraLight" pitchFamily="2" charset="-122"/>
              <a:ea typeface="MiSans ExtraLight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370513" y="4922527"/>
            <a:ext cx="2157413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5" name="Text 2"/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dirty="0">
                <a:solidFill>
                  <a:srgbClr val="192F27"/>
                </a:solidFill>
                <a:latin typeface="MiSans ExtraLight" pitchFamily="2" charset="-122"/>
                <a:ea typeface="MiSans ExtraLight" pitchFamily="2" charset="-122"/>
                <a:cs typeface="Geist" pitchFamily="34" charset="-120"/>
              </a:rPr>
              <a:t>2026-06-01</a:t>
            </a:r>
            <a:endParaRPr lang="en-US" sz="525" dirty="0">
              <a:latin typeface="MiSans ExtraLight" pitchFamily="2" charset="-122"/>
              <a:ea typeface="MiSans ExtraLight" pitchFamily="2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4300" y="114300"/>
            <a:ext cx="4037729" cy="4723440"/>
          </a:xfrm>
          <a:prstGeom prst="roundRect">
            <a:avLst>
              <a:gd name="adj" fmla="val -22646"/>
            </a:avLst>
          </a:prstGeom>
          <a:solidFill>
            <a:srgbClr val="CFE5E5"/>
          </a:solidFill>
          <a:ln/>
        </p:spPr>
        <p:txBody>
          <a:bodyPr wrap="square" lIns="224318" tIns="557628" rIns="224318" bIns="557628" rtlCol="0" anchor="ctr"/>
          <a:lstStyle/>
          <a:p>
            <a:pPr algn="ctr">
              <a:lnSpc>
                <a:spcPts val="1313"/>
              </a:lnSpc>
            </a:pP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 rot="10800000">
            <a:off x="207279" y="411998"/>
            <a:ext cx="3818906" cy="0"/>
          </a:xfrm>
          <a:prstGeom prst="line">
            <a:avLst/>
          </a:prstGeom>
          <a:solidFill>
            <a:srgbClr val="CFE5E5"/>
          </a:solidFill>
          <a:ln w="5292">
            <a:solidFill>
              <a:srgbClr val="192F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0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5344" y="232788"/>
            <a:ext cx="76200" cy="76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0" y="232788"/>
            <a:ext cx="3657600" cy="346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dirty="0">
                <a:solidFill>
                  <a:srgbClr val="192F27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AI 使用率加速上升</a:t>
            </a:r>
            <a:endParaRPr lang="en-US" sz="24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23850" y="180975"/>
            <a:ext cx="3276600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2021-2025 年趋势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graphicFrame>
        <p:nvGraphicFramePr>
          <p:cNvPr id="11" name="Chart 0"/>
          <p:cNvGraphicFramePr/>
          <p:nvPr>
            <p:extLst>
              <p:ext uri="{D42A27DB-BD31-4B8C-83A1-F6EECF244321}">
                <p14:modId xmlns:p14="http://schemas.microsoft.com/office/powerpoint/2010/main" val="1940640830"/>
              </p:ext>
            </p:extLst>
          </p:nvPr>
        </p:nvGraphicFramePr>
        <p:xfrm>
          <a:off x="887730" y="1348740"/>
          <a:ext cx="2888933" cy="24460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7"/>
          <p:cNvSpPr/>
          <p:nvPr/>
        </p:nvSpPr>
        <p:spPr>
          <a:xfrm>
            <a:off x="4572000" y="737298"/>
            <a:ext cx="3657600" cy="611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13"/>
              </a:lnSpc>
            </a:pPr>
            <a:r>
              <a:rPr lang="en-US" sz="800" dirty="0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到 2025 年，88% 的受访组织表示已在至少一个业务职能中常规使用 AI。AI 采用不再是线性增长，而是在 2023 年后明显提速。</a:t>
            </a:r>
            <a:endParaRPr lang="en-US" sz="7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572000" y="2098752"/>
            <a:ext cx="3657600" cy="69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500" kern="0" spc="-36" dirty="0">
                <a:solidFill>
                  <a:srgbClr val="192F27"/>
                </a:solidFill>
                <a:latin typeface="MiSans Demibold" pitchFamily="2" charset="-122"/>
                <a:ea typeface="MiSans Demibold" pitchFamily="2" charset="-122"/>
                <a:cs typeface="Geist" pitchFamily="34" charset="-120"/>
              </a:rPr>
              <a:t>88%</a:t>
            </a:r>
            <a:endParaRPr lang="en-US" sz="45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4" name="Text 9"/>
          <p:cNvSpPr/>
          <p:nvPr/>
        </p:nvSpPr>
        <p:spPr>
          <a:xfrm>
            <a:off x="4572988" y="2853278"/>
            <a:ext cx="3657600" cy="611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13"/>
              </a:lnSpc>
            </a:pPr>
            <a:r>
              <a:rPr lang="en-US" sz="800" dirty="0">
                <a:solidFill>
                  <a:srgbClr val="192F27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采用率提升不等于价值兑现，真正的差距在于是否把 AI 嵌入核心工作流。生成式 AI 正在推动组织采用进入新阶段。</a:t>
            </a:r>
            <a:endParaRPr lang="en-US" sz="7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4572000" y="4922526"/>
            <a:ext cx="36576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192F27"/>
                </a:solidFill>
                <a:latin typeface="MiSans ExtraLight" pitchFamily="2" charset="-122"/>
                <a:ea typeface="MiSans ExtraLight" pitchFamily="2" charset="-122"/>
                <a:cs typeface="Geist" pitchFamily="34" charset="-120"/>
              </a:rPr>
              <a:t>SOURCE: MCKINSEY GLOBAL SURVEY ON THE STATE OF AI, 2017-2025</a:t>
            </a:r>
            <a:endParaRPr lang="en-US" sz="525" dirty="0">
              <a:latin typeface="MiSans ExtraLight" pitchFamily="2" charset="-122"/>
              <a:ea typeface="MiSans ExtraLight" pitchFamily="2" charset="-122"/>
            </a:endParaRPr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9B1C5E42-8CB3-C224-1357-C615652ECD80}"/>
              </a:ext>
            </a:extLst>
          </p:cNvPr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192F27"/>
                </a:solidFill>
                <a:latin typeface="MiSans ExtraLight" pitchFamily="2" charset="-122"/>
                <a:ea typeface="MiSans ExtraLight" pitchFamily="2" charset="-122"/>
                <a:cs typeface="Geist" pitchFamily="34" charset="-120"/>
              </a:rPr>
              <a:t>AI时代的高效工作方式</a:t>
            </a:r>
            <a:endParaRPr lang="en-US" sz="525" dirty="0">
              <a:latin typeface="MiSans ExtraLight" pitchFamily="2" charset="-122"/>
              <a:ea typeface="MiSans ExtraLight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2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94044" y="307872"/>
            <a:ext cx="3965443" cy="93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dirty="0">
                <a:solidFill>
                  <a:srgbClr val="FFFFFF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四个关键洞察</a:t>
            </a:r>
            <a:endParaRPr lang="en-US" sz="24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194045" y="3214078"/>
            <a:ext cx="1712826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采用加速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194367" y="3624292"/>
            <a:ext cx="1712458" cy="113601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50"/>
              </a:lnSpc>
            </a:pPr>
            <a:r>
              <a:rPr lang="en-US" sz="900" kern="0" spc="-12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AI 使用率在 2023 年后明显加速，说明生成式 AI 正在推动组织采用进入新阶段。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Shape 3"/>
          <p:cNvSpPr/>
          <p:nvPr/>
        </p:nvSpPr>
        <p:spPr>
          <a:xfrm rot="5400000">
            <a:off x="-940857" y="3700116"/>
            <a:ext cx="2115076" cy="0"/>
          </a:xfrm>
          <a:prstGeom prst="line">
            <a:avLst/>
          </a:prstGeom>
          <a:solidFill>
            <a:srgbClr val="CFE5E5"/>
          </a:solidFill>
          <a:ln w="5292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194044" y="2619375"/>
            <a:ext cx="13267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050"/>
              </a:lnSpc>
            </a:pPr>
            <a:r>
              <a:rPr lang="en-US" sz="4500" b="0" kern="0" spc="-36" dirty="0">
                <a:solidFill>
                  <a:srgbClr val="CFE5E5"/>
                </a:solidFill>
                <a:latin typeface="TCloud Number" pitchFamily="2" charset="0"/>
                <a:ea typeface="FontName" panose="02010600010101010101" pitchFamily="2" charset="-122"/>
                <a:cs typeface="Noto Sans" pitchFamily="34" charset="-120"/>
              </a:rPr>
              <a:t>01</a:t>
            </a:r>
            <a:endParaRPr lang="en-US" sz="4500" dirty="0">
              <a:latin typeface="TCloud Number" pitchFamily="2" charset="0"/>
              <a:ea typeface="FontName" panose="02010600010101010101" pitchFamily="2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2446708" y="3214078"/>
            <a:ext cx="1712788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价值兑现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2447030" y="3647495"/>
            <a:ext cx="1712458" cy="113601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50"/>
              </a:lnSpc>
            </a:pPr>
            <a:r>
              <a:rPr lang="en-US" sz="900" kern="0" spc="-12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采用率提升不等于价值兑现，真正的差距在于是否把 AI 嵌入核心工作流。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Shape 7"/>
          <p:cNvSpPr/>
          <p:nvPr/>
        </p:nvSpPr>
        <p:spPr>
          <a:xfrm rot="5400000">
            <a:off x="1311806" y="3726134"/>
            <a:ext cx="2115076" cy="0"/>
          </a:xfrm>
          <a:prstGeom prst="line">
            <a:avLst/>
          </a:prstGeom>
          <a:solidFill>
            <a:srgbClr val="CFE5E5"/>
          </a:solidFill>
          <a:ln w="5292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2446706" y="2642578"/>
            <a:ext cx="13267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050"/>
              </a:lnSpc>
            </a:pPr>
            <a:r>
              <a:rPr lang="en-US" sz="4500" b="0" kern="0" spc="-36" dirty="0">
                <a:solidFill>
                  <a:srgbClr val="CFE5E5"/>
                </a:solidFill>
                <a:latin typeface="TCloud Number" pitchFamily="2" charset="0"/>
                <a:ea typeface="FontName" panose="02010600010101010101" pitchFamily="2" charset="-122"/>
                <a:cs typeface="Noto Sans" pitchFamily="34" charset="-120"/>
              </a:rPr>
              <a:t>02</a:t>
            </a:r>
            <a:endParaRPr lang="en-US" sz="4500" dirty="0">
              <a:latin typeface="TCloud Number" pitchFamily="2" charset="0"/>
              <a:ea typeface="FontName" panose="02010600010101010101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699370" y="3214078"/>
            <a:ext cx="1712788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流程重构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699692" y="3624349"/>
            <a:ext cx="1712458" cy="113601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50"/>
              </a:lnSpc>
            </a:pPr>
            <a:r>
              <a:rPr lang="en-US" sz="900" kern="0" spc="-12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从单点工具到跨职能协作，AI 的价值正在从“个人提效”转向“流程重构”。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Shape 11"/>
          <p:cNvSpPr/>
          <p:nvPr/>
        </p:nvSpPr>
        <p:spPr>
          <a:xfrm rot="5400000">
            <a:off x="3564468" y="3700180"/>
            <a:ext cx="2115076" cy="0"/>
          </a:xfrm>
          <a:prstGeom prst="line">
            <a:avLst/>
          </a:prstGeom>
          <a:solidFill>
            <a:srgbClr val="CFE5E5"/>
          </a:solidFill>
          <a:ln w="5292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4699369" y="2619432"/>
            <a:ext cx="13267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050"/>
              </a:lnSpc>
            </a:pPr>
            <a:r>
              <a:rPr lang="en-US" sz="4500" b="0" kern="0" spc="-36" dirty="0">
                <a:solidFill>
                  <a:srgbClr val="CFE5E5"/>
                </a:solidFill>
                <a:latin typeface="TCloud Number" pitchFamily="2" charset="0"/>
                <a:ea typeface="FontName" panose="02010600010101010101" pitchFamily="2" charset="-122"/>
                <a:cs typeface="Noto Sans" pitchFamily="34" charset="-120"/>
              </a:rPr>
              <a:t>03</a:t>
            </a:r>
            <a:endParaRPr lang="en-US" sz="4500" dirty="0">
              <a:latin typeface="TCloud Number" pitchFamily="2" charset="0"/>
              <a:ea typeface="FontName" panose="02010600010101010101" pitchFamily="2" charset="-122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952033" y="3214078"/>
            <a:ext cx="1712788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竞争重点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952355" y="3624349"/>
            <a:ext cx="1712458" cy="113601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50"/>
              </a:lnSpc>
            </a:pPr>
            <a:r>
              <a:rPr lang="en-US" sz="900" kern="0" spc="-12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下一阶段的竞争重点，不是谁先使用 AI，而是谁能更快完成规模化落地。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Shape 15"/>
          <p:cNvSpPr/>
          <p:nvPr/>
        </p:nvSpPr>
        <p:spPr>
          <a:xfrm rot="5400000">
            <a:off x="5817131" y="3700180"/>
            <a:ext cx="2115076" cy="0"/>
          </a:xfrm>
          <a:prstGeom prst="line">
            <a:avLst/>
          </a:prstGeom>
          <a:solidFill>
            <a:srgbClr val="CFE5E5"/>
          </a:solidFill>
          <a:ln w="5292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6952031" y="2619432"/>
            <a:ext cx="13267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050"/>
              </a:lnSpc>
            </a:pPr>
            <a:r>
              <a:rPr lang="en-US" sz="4500" b="0" kern="0" spc="-36" dirty="0">
                <a:solidFill>
                  <a:srgbClr val="CFE5E5"/>
                </a:solidFill>
                <a:latin typeface="TCloud Number" pitchFamily="2" charset="0"/>
                <a:ea typeface="FontName" panose="02010600010101010101" pitchFamily="2" charset="-122"/>
                <a:cs typeface="Noto Sans" pitchFamily="34" charset="-120"/>
              </a:rPr>
              <a:t>04</a:t>
            </a:r>
            <a:endParaRPr lang="en-US" sz="4500" dirty="0">
              <a:latin typeface="TCloud Number" pitchFamily="2" charset="0"/>
              <a:ea typeface="FontName" panose="02010600010101010101" pitchFamily="2" charset="-122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FFFFFF"/>
                </a:solidFill>
                <a:latin typeface="MiSans Thin" pitchFamily="2" charset="-122"/>
                <a:ea typeface="MiSans Thin" pitchFamily="2" charset="-122"/>
                <a:cs typeface="Geist" pitchFamily="34" charset="-120"/>
              </a:rPr>
              <a:t>AI时代的高效工作方式</a:t>
            </a:r>
            <a:endParaRPr lang="en-US" sz="500" dirty="0">
              <a:latin typeface="MiSans Thin" pitchFamily="2" charset="-122"/>
              <a:ea typeface="MiSans Thin" pitchFamily="2" charset="-122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370513" y="4922527"/>
            <a:ext cx="2157413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22" name="Text 19"/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dirty="0">
                <a:solidFill>
                  <a:srgbClr val="FFFFFF"/>
                </a:solidFill>
                <a:latin typeface="MiSans Thin" pitchFamily="2" charset="-122"/>
                <a:ea typeface="MiSans Thin" pitchFamily="2" charset="-122"/>
                <a:cs typeface="Geist" pitchFamily="34" charset="-120"/>
              </a:rPr>
              <a:t>2026-06-01</a:t>
            </a:r>
            <a:endParaRPr lang="en-US" sz="500" dirty="0">
              <a:latin typeface="MiSans Thin" pitchFamily="2" charset="-122"/>
              <a:ea typeface="MiSans Thin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FE5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 t="4409" b="4409"/>
          <a:stretch/>
        </p:blipFill>
        <p:spPr>
          <a:xfrm>
            <a:off x="3868737" y="114300"/>
            <a:ext cx="5160963" cy="470588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09575" y="218208"/>
            <a:ext cx="2908288" cy="1228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dirty="0">
                <a:solidFill>
                  <a:srgbClr val="192F27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效率提升的本质</a:t>
            </a:r>
            <a:endParaRPr lang="en-US" sz="24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5" name="Text 1"/>
          <p:cNvSpPr/>
          <p:nvPr/>
        </p:nvSpPr>
        <p:spPr>
          <a:xfrm>
            <a:off x="209574" y="3688776"/>
            <a:ext cx="2908288" cy="104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ct val="150000"/>
              </a:lnSpc>
            </a:pPr>
            <a:r>
              <a:rPr lang="en-US" sz="800" kern="0" spc="-12" dirty="0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效率提升不只是用了什么工具，而是任务拆解、工具协作、流程沉淀的系统升级。AI 不只是提高单点任务效率，而是在改变个人、团队与组织的工作方式。</a:t>
            </a:r>
            <a:endParaRPr lang="en-US" sz="7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6" name="Text 2"/>
          <p:cNvSpPr/>
          <p:nvPr/>
        </p:nvSpPr>
        <p:spPr>
          <a:xfrm>
            <a:off x="209574" y="3104459"/>
            <a:ext cx="2908288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192F27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核心观点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Shape 3"/>
          <p:cNvSpPr/>
          <p:nvPr/>
        </p:nvSpPr>
        <p:spPr>
          <a:xfrm>
            <a:off x="209647" y="3343189"/>
            <a:ext cx="2909159" cy="0"/>
          </a:xfrm>
          <a:prstGeom prst="line">
            <a:avLst/>
          </a:prstGeom>
          <a:solidFill>
            <a:srgbClr val="F7F7F5"/>
          </a:solidFill>
          <a:ln w="5292">
            <a:solidFill>
              <a:srgbClr val="192F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5370513" y="4922527"/>
            <a:ext cx="2157413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EE93AC5C-91C6-E1EF-F5B4-CD0B4CB5BE43}"/>
              </a:ext>
            </a:extLst>
          </p:cNvPr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dirty="0">
                <a:solidFill>
                  <a:srgbClr val="192F27"/>
                </a:solidFill>
                <a:latin typeface="MiSans ExtraLight" pitchFamily="2" charset="-122"/>
                <a:ea typeface="MiSans ExtraLight" pitchFamily="2" charset="-122"/>
                <a:cs typeface="Geist" pitchFamily="34" charset="-120"/>
              </a:rPr>
              <a:t>2026-06-01</a:t>
            </a:r>
            <a:endParaRPr lang="en-US" sz="525" dirty="0">
              <a:latin typeface="MiSans ExtraLight" pitchFamily="2" charset="-122"/>
              <a:ea typeface="MiSans ExtraLight" pitchFamily="2" charset="-122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CE2BAF4E-1E95-7485-529B-509921C6DB20}"/>
              </a:ext>
            </a:extLst>
          </p:cNvPr>
          <p:cNvSpPr/>
          <p:nvPr/>
        </p:nvSpPr>
        <p:spPr>
          <a:xfrm>
            <a:off x="3870326" y="4922526"/>
            <a:ext cx="36576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192F27"/>
                </a:solidFill>
                <a:latin typeface="MiSans ExtraLight" pitchFamily="2" charset="-122"/>
                <a:ea typeface="MiSans ExtraLight" pitchFamily="2" charset="-122"/>
                <a:cs typeface="Geist" pitchFamily="34" charset="-120"/>
              </a:rPr>
              <a:t>SOURCE: MCKINSEY GLOBAL SURVEY ON THE STATE OF AI, 2017-2025</a:t>
            </a:r>
            <a:endParaRPr lang="en-US" sz="525" dirty="0">
              <a:latin typeface="MiSans ExtraLight" pitchFamily="2" charset="-122"/>
              <a:ea typeface="MiSans ExtraLight" pitchFamily="2" charset="-122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1DF4FCA6-81BF-9960-5351-2C1DE8089E41}"/>
              </a:ext>
            </a:extLst>
          </p:cNvPr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192F27"/>
                </a:solidFill>
                <a:latin typeface="MiSans ExtraLight" pitchFamily="2" charset="-122"/>
                <a:ea typeface="MiSans ExtraLight" pitchFamily="2" charset="-122"/>
                <a:cs typeface="Geist" pitchFamily="34" charset="-120"/>
              </a:rPr>
              <a:t>AI时代的高效工作方式</a:t>
            </a:r>
            <a:endParaRPr lang="en-US" sz="525" dirty="0">
              <a:latin typeface="MiSans ExtraLight" pitchFamily="2" charset="-122"/>
              <a:ea typeface="MiSans ExtraLight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92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6839" y="2428295"/>
            <a:ext cx="7432186" cy="2334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225"/>
              </a:lnSpc>
            </a:pPr>
            <a:r>
              <a:rPr lang="en-US" sz="4500" dirty="0" err="1">
                <a:solidFill>
                  <a:srgbClr val="CFE5E5"/>
                </a:solidFill>
                <a:latin typeface="MiSans Semibold" pitchFamily="2" charset="-122"/>
                <a:ea typeface="MiSans Semibold" pitchFamily="2" charset="-122"/>
                <a:cs typeface="思源黑体" pitchFamily="34" charset="-120"/>
              </a:rPr>
              <a:t>从工具使用到流程重</a:t>
            </a:r>
            <a:r>
              <a:rPr lang="en-US" altLang="zh-CN" sz="4500" dirty="0" err="1">
                <a:solidFill>
                  <a:srgbClr val="CFE5E5"/>
                </a:solidFill>
                <a:latin typeface="MiSans Semibold" pitchFamily="2" charset="-122"/>
                <a:ea typeface="MiSans Semibold" pitchFamily="2" charset="-122"/>
                <a:cs typeface="思源黑体" pitchFamily="34" charset="-120"/>
              </a:rPr>
              <a:t>构重新定构重新定</a:t>
            </a:r>
            <a:r>
              <a:rPr lang="en-US" sz="4500" dirty="0" err="1">
                <a:solidFill>
                  <a:srgbClr val="CFE5E5"/>
                </a:solidFill>
                <a:latin typeface="MiSans Semibold" pitchFamily="2" charset="-122"/>
                <a:ea typeface="MiSans Semibold" pitchFamily="2" charset="-122"/>
                <a:cs typeface="思源黑体" pitchFamily="34" charset="-120"/>
              </a:rPr>
              <a:t>义个人与组织的效率标准</a:t>
            </a:r>
            <a:r>
              <a:rPr lang="en-US" sz="4500" dirty="0">
                <a:solidFill>
                  <a:srgbClr val="CFE5E5"/>
                </a:solidFill>
                <a:latin typeface="MiSans Semibold" pitchFamily="2" charset="-122"/>
                <a:ea typeface="MiSans Semibold" pitchFamily="2" charset="-122"/>
                <a:cs typeface="思源黑体" pitchFamily="34" charset="-120"/>
              </a:rPr>
              <a:t>.</a:t>
            </a:r>
            <a:endParaRPr lang="en-US" sz="45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414417" y="2085396"/>
            <a:ext cx="6342906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FFFFFF"/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– AI 时代的高效工作方式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235578" y="223024"/>
            <a:ext cx="242521" cy="662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6075"/>
              </a:lnSpc>
            </a:pPr>
            <a:r>
              <a:rPr lang="en-US" sz="6800" b="0" kern="0" spc="-36" dirty="0">
                <a:solidFill>
                  <a:srgbClr val="CFE5E5"/>
                </a:solidFill>
                <a:latin typeface="FontName" panose="02010600010101010101" pitchFamily="2" charset="-122"/>
                <a:ea typeface="FontName" panose="02010600010101010101" pitchFamily="2" charset="-122"/>
                <a:cs typeface="Geist" pitchFamily="34" charset="-120"/>
              </a:rPr>
              <a:t>“</a:t>
            </a:r>
            <a:endParaRPr lang="en-US" sz="6750" dirty="0">
              <a:latin typeface="FontName" panose="02010600010101010101" pitchFamily="2" charset="-122"/>
              <a:ea typeface="FontName" panose="02010600010101010101" pitchFamily="2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5370513" y="4922527"/>
            <a:ext cx="2157412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2" name="Text 17">
            <a:extLst>
              <a:ext uri="{FF2B5EF4-FFF2-40B4-BE49-F238E27FC236}">
                <a16:creationId xmlns:a16="http://schemas.microsoft.com/office/drawing/2014/main" id="{0B0992C1-5A96-AF8C-7480-6FF541980F4B}"/>
              </a:ext>
            </a:extLst>
          </p:cNvPr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FFFFFF"/>
                </a:solidFill>
                <a:latin typeface="MiSans ExtraLight" pitchFamily="2" charset="-122"/>
                <a:ea typeface="MiSans ExtraLight" pitchFamily="2" charset="-122"/>
                <a:cs typeface="Geist" pitchFamily="34" charset="-120"/>
              </a:rPr>
              <a:t>AI时代的高效工作方式</a:t>
            </a:r>
            <a:endParaRPr lang="en-US" sz="500" dirty="0">
              <a:latin typeface="MiSans ExtraLight" pitchFamily="2" charset="-122"/>
              <a:ea typeface="MiSans ExtraLight" pitchFamily="2" charset="-122"/>
            </a:endParaRPr>
          </a:p>
        </p:txBody>
      </p:sp>
      <p:sp>
        <p:nvSpPr>
          <p:cNvPr id="9" name="Text 19">
            <a:extLst>
              <a:ext uri="{FF2B5EF4-FFF2-40B4-BE49-F238E27FC236}">
                <a16:creationId xmlns:a16="http://schemas.microsoft.com/office/drawing/2014/main" id="{F8ADCA64-2724-63F3-1F5F-54A1205D2525}"/>
              </a:ext>
            </a:extLst>
          </p:cNvPr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dirty="0">
                <a:solidFill>
                  <a:srgbClr val="FFFFFF"/>
                </a:solidFill>
                <a:latin typeface="MiSans ExtraLight" pitchFamily="2" charset="-122"/>
                <a:ea typeface="MiSans ExtraLight" pitchFamily="2" charset="-122"/>
                <a:cs typeface="Geist" pitchFamily="34" charset="-120"/>
              </a:rPr>
              <a:t>2026-06-01</a:t>
            </a:r>
            <a:endParaRPr lang="en-US" sz="500" dirty="0">
              <a:latin typeface="MiSans ExtraLight" pitchFamily="2" charset="-122"/>
              <a:ea typeface="MiSans ExtraLight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FE5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370513" y="238405"/>
            <a:ext cx="2911555" cy="5272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/>
            <a:r>
              <a:rPr lang="en-US" sz="3200" kern="0" spc="-36" dirty="0">
                <a:solidFill>
                  <a:srgbClr val="192F27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联系我们</a:t>
            </a:r>
            <a:endParaRPr lang="en-US" sz="32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70513" y="2777757"/>
            <a:ext cx="291167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125"/>
              </a:lnSpc>
            </a:pPr>
            <a:r>
              <a:rPr lang="en-US" sz="800" kern="0" spc="-12" dirty="0" err="1">
                <a:solidFill>
                  <a:srgbClr val="192F27"/>
                </a:solidFill>
                <a:latin typeface="MiSans Medium" pitchFamily="2" charset="-122"/>
                <a:ea typeface="MiSans Medium" pitchFamily="2" charset="-122"/>
              </a:rPr>
              <a:t>广东省深圳市南山区</a:t>
            </a:r>
            <a:endParaRPr lang="en-US" sz="800" kern="0" spc="-12" dirty="0">
              <a:solidFill>
                <a:srgbClr val="192F27"/>
              </a:solidFill>
              <a:latin typeface="MiSans Medium" pitchFamily="2" charset="-122"/>
              <a:ea typeface="MiSans Medium" pitchFamily="2" charset="-122"/>
            </a:endParaRPr>
          </a:p>
          <a:p>
            <a:pPr algn="l">
              <a:lnSpc>
                <a:spcPts val="1125"/>
              </a:lnSpc>
            </a:pPr>
            <a:r>
              <a:rPr lang="en-US" sz="800" kern="0" spc="-12" dirty="0">
                <a:solidFill>
                  <a:srgbClr val="192F27"/>
                </a:solidFill>
                <a:latin typeface="MiSans Medium" pitchFamily="2" charset="-122"/>
                <a:ea typeface="MiSans Medium" pitchFamily="2" charset="-122"/>
              </a:rPr>
              <a:t>深南大道</a:t>
            </a:r>
            <a:r>
              <a:rPr lang="en-US" altLang="zh-CN" sz="800" kern="0" spc="-12" dirty="0">
                <a:solidFill>
                  <a:srgbClr val="192F27"/>
                </a:solidFill>
                <a:latin typeface="MiSans Medium" pitchFamily="2" charset="-122"/>
                <a:ea typeface="MiSans Medium" pitchFamily="2" charset="-122"/>
              </a:rPr>
              <a:t>10000 </a:t>
            </a:r>
            <a:r>
              <a:rPr lang="zh-CN" altLang="en-US" sz="800" kern="0" spc="-12" dirty="0">
                <a:solidFill>
                  <a:srgbClr val="192F27"/>
                </a:solidFill>
                <a:latin typeface="MiSans Medium" pitchFamily="2" charset="-122"/>
                <a:ea typeface="MiSans Medium" pitchFamily="2" charset="-122"/>
              </a:rPr>
              <a:t>号</a:t>
            </a:r>
            <a:endParaRPr lang="en-US" altLang="zh-CN" sz="800" kern="0" spc="-12" dirty="0">
              <a:solidFill>
                <a:srgbClr val="192F27"/>
              </a:solidFill>
              <a:latin typeface="MiSans Medium" pitchFamily="2" charset="-122"/>
              <a:ea typeface="MiSans Medium" pitchFamily="2" charset="-122"/>
            </a:endParaRPr>
          </a:p>
          <a:p>
            <a:pPr algn="l">
              <a:lnSpc>
                <a:spcPts val="1125"/>
              </a:lnSpc>
            </a:pPr>
            <a:r>
              <a:rPr lang="zh-CN" altLang="en-US" sz="800" kern="0" spc="-12" dirty="0">
                <a:solidFill>
                  <a:srgbClr val="192F27"/>
                </a:solidFill>
                <a:latin typeface="MiSans Medium" pitchFamily="2" charset="-122"/>
                <a:ea typeface="MiSans Medium" pitchFamily="2" charset="-122"/>
              </a:rPr>
              <a:t>腾讯大厦</a:t>
            </a:r>
            <a:endParaRPr lang="en-US" sz="750" dirty="0"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370513" y="3331059"/>
            <a:ext cx="2911686" cy="0"/>
          </a:xfrm>
          <a:prstGeom prst="line">
            <a:avLst/>
          </a:prstGeom>
          <a:solidFill>
            <a:srgbClr val="F7F7F5"/>
          </a:solidFill>
          <a:ln w="5292">
            <a:solidFill>
              <a:srgbClr val="192F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5473458" y="2539860"/>
            <a:ext cx="2808722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192F27"/>
                </a:solidFill>
                <a:latin typeface="MiSans Medium" pitchFamily="2" charset="-122"/>
                <a:ea typeface="MiSans Medium" pitchFamily="2" charset="-122"/>
                <a:cs typeface="Geist Mono" pitchFamily="34" charset="-120"/>
              </a:rPr>
              <a:t>地址</a:t>
            </a:r>
            <a:endParaRPr lang="en-US" sz="900" dirty="0">
              <a:latin typeface="MiSans Medium" pitchFamily="2" charset="-122"/>
              <a:ea typeface="MiSans Medium" pitchFamily="2" charset="-122"/>
            </a:endParaRPr>
          </a:p>
        </p:txBody>
      </p:sp>
      <p:pic>
        <p:nvPicPr>
          <p:cNvPr id="7" name="Image 0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70513" y="2593230"/>
            <a:ext cx="76200" cy="76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70513" y="3689081"/>
            <a:ext cx="2911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125"/>
              </a:lnSpc>
            </a:pPr>
            <a:r>
              <a:rPr lang="en-US" sz="800" kern="0" spc="-12" dirty="0">
                <a:solidFill>
                  <a:srgbClr val="192F27"/>
                </a:solidFill>
                <a:latin typeface="MiSans Medium" pitchFamily="2" charset="-122"/>
                <a:ea typeface="MiSans Medium" pitchFamily="2" charset="-122"/>
                <a:cs typeface="Geist Mono" pitchFamily="34" charset="-120"/>
              </a:rPr>
              <a:t>very@nice.email</a:t>
            </a:r>
            <a:endParaRPr lang="en-US" sz="750" dirty="0"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370513" y="3971639"/>
            <a:ext cx="2911686" cy="0"/>
          </a:xfrm>
          <a:prstGeom prst="line">
            <a:avLst/>
          </a:prstGeom>
          <a:solidFill>
            <a:srgbClr val="F7F7F5"/>
          </a:solidFill>
          <a:ln w="5292">
            <a:solidFill>
              <a:srgbClr val="192F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5473458" y="3451184"/>
            <a:ext cx="2808610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192F27"/>
                </a:solidFill>
                <a:latin typeface="MiSans Medium" pitchFamily="2" charset="-122"/>
                <a:ea typeface="MiSans Medium" pitchFamily="2" charset="-122"/>
                <a:cs typeface="Geist Mono" pitchFamily="34" charset="-120"/>
              </a:rPr>
              <a:t>邮箱</a:t>
            </a:r>
            <a:endParaRPr lang="en-US" sz="900" dirty="0">
              <a:latin typeface="MiSans Medium" pitchFamily="2" charset="-122"/>
              <a:ea typeface="MiSans Medium" pitchFamily="2" charset="-122"/>
            </a:endParaRPr>
          </a:p>
        </p:txBody>
      </p:sp>
      <p:pic>
        <p:nvPicPr>
          <p:cNvPr id="11" name="Image 1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70513" y="3504554"/>
            <a:ext cx="76200" cy="76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370513" y="4641490"/>
            <a:ext cx="2911686" cy="0"/>
          </a:xfrm>
          <a:prstGeom prst="line">
            <a:avLst/>
          </a:prstGeom>
          <a:solidFill>
            <a:srgbClr val="F7F7F5"/>
          </a:solidFill>
          <a:ln w="5292">
            <a:solidFill>
              <a:srgbClr val="192F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5473458" y="4121035"/>
            <a:ext cx="2808610" cy="18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192F27"/>
                </a:solidFill>
                <a:latin typeface="MiSans Medium" pitchFamily="2" charset="-122"/>
                <a:ea typeface="MiSans Medium" pitchFamily="2" charset="-122"/>
                <a:cs typeface="Geist Mono" pitchFamily="34" charset="-120"/>
              </a:rPr>
              <a:t>电话</a:t>
            </a:r>
            <a:endParaRPr lang="en-US" sz="900" dirty="0">
              <a:latin typeface="MiSans Medium" pitchFamily="2" charset="-122"/>
              <a:ea typeface="MiSans Medium" pitchFamily="2" charset="-122"/>
            </a:endParaRPr>
          </a:p>
        </p:txBody>
      </p:sp>
      <p:pic>
        <p:nvPicPr>
          <p:cNvPr id="14" name="Image 2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70513" y="4174405"/>
            <a:ext cx="76200" cy="76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70513" y="4359116"/>
            <a:ext cx="29116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125"/>
              </a:lnSpc>
            </a:pPr>
            <a:r>
              <a:rPr lang="en-US" sz="800" kern="0" spc="-12" dirty="0">
                <a:solidFill>
                  <a:srgbClr val="192F27"/>
                </a:solidFill>
                <a:latin typeface="MiSans Medium" pitchFamily="2" charset="-122"/>
                <a:ea typeface="MiSans Medium" pitchFamily="2" charset="-122"/>
                <a:cs typeface="Geist Mono" pitchFamily="34" charset="-120"/>
              </a:rPr>
              <a:t>+1 800 314 159 265</a:t>
            </a:r>
            <a:endParaRPr lang="en-US" sz="750" dirty="0">
              <a:latin typeface="MiSans Medium" pitchFamily="2" charset="-122"/>
              <a:ea typeface="MiSans Medium" pitchFamily="2" charset="-122"/>
            </a:endParaRPr>
          </a:p>
        </p:txBody>
      </p:sp>
      <p:pic>
        <p:nvPicPr>
          <p:cNvPr id="16" name="Image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5000" contrast="10000"/>
                    </a14:imgEffect>
                  </a14:imgLayer>
                </a14:imgProps>
              </a:ext>
            </a:extLst>
          </a:blip>
          <a:srcRect l="23956" r="23956"/>
          <a:stretch/>
        </p:blipFill>
        <p:spPr>
          <a:xfrm>
            <a:off x="114300" y="114300"/>
            <a:ext cx="4410075" cy="4762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70513" y="4922527"/>
            <a:ext cx="2157412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ABD02DE6-9DEC-CE31-E5C3-C59E2FC08C00}"/>
              </a:ext>
            </a:extLst>
          </p:cNvPr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dirty="0">
                <a:solidFill>
                  <a:srgbClr val="192F27"/>
                </a:solidFill>
                <a:latin typeface="MiSans ExtraLight" pitchFamily="2" charset="-122"/>
                <a:ea typeface="MiSans ExtraLight" pitchFamily="2" charset="-122"/>
                <a:cs typeface="Geist" pitchFamily="34" charset="-120"/>
              </a:rPr>
              <a:t>2026-06-01</a:t>
            </a:r>
            <a:endParaRPr lang="en-US" sz="525" dirty="0">
              <a:latin typeface="MiSans ExtraLight" pitchFamily="2" charset="-122"/>
              <a:ea typeface="MiSans ExtraLight" pitchFamily="2" charset="-122"/>
            </a:endParaRPr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5A5F08AF-8162-CA2C-6ACD-3048A13251B8}"/>
              </a:ext>
            </a:extLst>
          </p:cNvPr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192F27"/>
                </a:solidFill>
                <a:latin typeface="MiSans ExtraLight" pitchFamily="2" charset="-122"/>
                <a:ea typeface="MiSans ExtraLight" pitchFamily="2" charset="-122"/>
                <a:cs typeface="Geist" pitchFamily="34" charset="-120"/>
              </a:rPr>
              <a:t>AI时代的高效工作方式</a:t>
            </a:r>
            <a:endParaRPr lang="en-US" sz="525" dirty="0">
              <a:latin typeface="MiSans ExtraLight" pitchFamily="2" charset="-122"/>
              <a:ea typeface="MiSans ExtraLight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598</Words>
  <Application>Microsoft Macintosh PowerPoint</Application>
  <PresentationFormat>全屏显示(16:9)</PresentationFormat>
  <Paragraphs>151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FontName</vt:lpstr>
      <vt:lpstr>Microsoft YaHei Light</vt:lpstr>
      <vt:lpstr>MiSans</vt:lpstr>
      <vt:lpstr>MiSans Demibold</vt:lpstr>
      <vt:lpstr>MiSans ExtraLight</vt:lpstr>
      <vt:lpstr>MiSans Light</vt:lpstr>
      <vt:lpstr>MiSans Medium</vt:lpstr>
      <vt:lpstr>MiSans Normal</vt:lpstr>
      <vt:lpstr>MiSans Semibold</vt:lpstr>
      <vt:lpstr>MiSans Thin</vt:lpstr>
      <vt:lpstr>Arial</vt:lpstr>
      <vt:lpstr>TCloud Number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时代的高效工作方式</dc:title>
  <dc:subject>PptxGenJS Presentation</dc:subject>
  <dc:creator>Pitch Software GmbH</dc:creator>
  <cp:lastModifiedBy>T171376</cp:lastModifiedBy>
  <cp:revision>10</cp:revision>
  <dcterms:created xsi:type="dcterms:W3CDTF">2026-06-01T16:27:52Z</dcterms:created>
  <dcterms:modified xsi:type="dcterms:W3CDTF">2026-06-11T02:46:31Z</dcterms:modified>
</cp:coreProperties>
</file>