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747775">
              <a:alpha val="100000"/>
            </a:srgbClr>
          </p15:clr>
        </p15:guide>
        <p15:guide id="2" orient="horz" pos="4320">
          <p15:clr>
            <a:srgbClr val="747775">
              <a:alpha val="100000"/>
            </a:srgbClr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4DFF"/>
    <a:srgbClr val="262626"/>
    <a:srgbClr val="FD6450"/>
    <a:srgbClr val="00A8C6"/>
    <a:srgbClr val="FF2300"/>
    <a:srgbClr val="384831"/>
    <a:srgbClr val="D9CCFF"/>
    <a:srgbClr val="F1EDFF"/>
    <a:srgbClr val="101010"/>
    <a:srgbClr val="FDFA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1" d="100"/>
          <a:sy n="121" d="100"/>
        </p:scale>
        <p:origin x="736" y="168"/>
      </p:cViewPr>
      <p:guideLst>
        <p:guide pos="2880"/>
        <p:guide orient="horz" pos="432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894018716972645E-2"/>
          <c:y val="0"/>
          <c:w val="0.95821196256605468"/>
          <c:h val="0.79779047029061989"/>
        </c:manualLayout>
      </c:layout>
      <c:lineChart>
        <c:grouping val="standard"/>
        <c:varyColors val="0"/>
        <c:ser>
          <c:idx val="0"/>
          <c:order val="0"/>
          <c:tx>
            <c:v>AI使用率</c:v>
          </c:tx>
          <c:spPr>
            <a:ln w="19050" cap="rnd" cmpd="sng">
              <a:solidFill>
                <a:srgbClr val="7C4DFF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7C4DFF"/>
              </a:solidFill>
              <a:ln w="19050">
                <a:solidFill>
                  <a:srgbClr val="7C4DFF"/>
                </a:solidFill>
              </a:ln>
            </c:spPr>
          </c:marker>
          <c:dLbls>
            <c:dLbl>
              <c:idx val="0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A33D6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9C-ED49-BA69-850680F178B0}"/>
                </c:ext>
              </c:extLst>
            </c:dLbl>
            <c:dLbl>
              <c:idx val="1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A33D6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9C-ED49-BA69-850680F178B0}"/>
                </c:ext>
              </c:extLst>
            </c:dLbl>
            <c:dLbl>
              <c:idx val="2"/>
              <c:layout>
                <c:manualLayout>
                  <c:x val="-1.6022600000000001E-3"/>
                  <c:y val="-8.3170499999999994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A33D6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A9C-ED49-BA69-850680F178B0}"/>
                </c:ext>
              </c:extLst>
            </c:dLbl>
            <c:dLbl>
              <c:idx val="3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A33D6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A9C-ED49-BA69-850680F178B0}"/>
                </c:ext>
              </c:extLst>
            </c:dLbl>
            <c:dLbl>
              <c:idx val="4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5A33D6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A9C-ED49-BA69-850680F17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5A9C-ED49-BA69-850680F17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utoShape 2"/>
          <p:cNvSpPr/>
          <p:nvPr/>
        </p:nvSpPr>
        <p:spPr>
          <a:xfrm>
            <a:off x="680720" y="608330"/>
            <a:ext cx="5345762" cy="17691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u="none" strike="noStrike" dirty="0" err="1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AI时代的高效</a:t>
            </a:r>
            <a:endParaRPr lang="en-US" sz="1100" b="1" dirty="0">
              <a:solidFill>
                <a:srgbClr val="7C4DFF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u="none" strike="noStrike" dirty="0" err="1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工作方式</a:t>
            </a:r>
            <a:endParaRPr b="1" dirty="0">
              <a:solidFill>
                <a:srgbClr val="7C4DFF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2000" b="0" i="0" u="none" strike="noStrike" dirty="0">
              <a:solidFill>
                <a:srgbClr val="505050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2000" b="0" i="0" u="none" strike="noStrike" dirty="0" err="1">
                <a:solidFill>
                  <a:srgbClr val="7C4DFF"/>
                </a:solidFill>
                <a:latin typeface="PingFang SC"/>
                <a:ea typeface="PingFang SC"/>
                <a:cs typeface="Arial"/>
                <a:sym typeface="Arial"/>
              </a:rPr>
              <a:t>从工具使用到流程重构</a:t>
            </a:r>
            <a:endParaRPr dirty="0">
              <a:solidFill>
                <a:srgbClr val="7C4DFF"/>
              </a:solidFill>
            </a:endParaRPr>
          </a:p>
        </p:txBody>
      </p:sp>
      <p:sp>
        <p:nvSpPr>
          <p:cNvPr id="66" name="AutoShape 7"/>
          <p:cNvSpPr/>
          <p:nvPr/>
        </p:nvSpPr>
        <p:spPr>
          <a:xfrm>
            <a:off x="7053769" y="5205730"/>
            <a:ext cx="2209800" cy="3708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核心叙事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7" name="AutoShape 8"/>
          <p:cNvSpPr/>
          <p:nvPr/>
        </p:nvSpPr>
        <p:spPr>
          <a:xfrm>
            <a:off x="7053769" y="5692140"/>
            <a:ext cx="418084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这套内容围绕一个普世性话题展开：AI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不只是提高单点任务效率，而是在改变个人、团队与组织的工作方式。效率提升是系统升级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8" name="AutoShape 9"/>
          <p:cNvSpPr/>
          <p:nvPr/>
        </p:nvSpPr>
        <p:spPr>
          <a:xfrm rot="2700000">
            <a:off x="2307177" y="5708689"/>
            <a:ext cx="644058" cy="644058"/>
          </a:xfrm>
          <a:prstGeom prst="roundRect">
            <a:avLst>
              <a:gd name="adj" fmla="val 50000"/>
            </a:avLst>
          </a:prstGeom>
          <a:solidFill>
            <a:srgbClr val="FD645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69" name="AutoShape 11"/>
          <p:cNvSpPr/>
          <p:nvPr/>
        </p:nvSpPr>
        <p:spPr>
          <a:xfrm>
            <a:off x="1365250" y="5736590"/>
            <a:ext cx="642620" cy="641350"/>
          </a:xfrm>
          <a:prstGeom prst="roundRect">
            <a:avLst>
              <a:gd name="adj" fmla="val 27721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70" name="AutoShape 12"/>
          <p:cNvSpPr/>
          <p:nvPr/>
        </p:nvSpPr>
        <p:spPr>
          <a:xfrm>
            <a:off x="687070" y="5083810"/>
            <a:ext cx="651510" cy="1282700"/>
          </a:xfrm>
          <a:prstGeom prst="roundRect">
            <a:avLst>
              <a:gd name="adj" fmla="val 23391"/>
            </a:avLst>
          </a:prstGeom>
          <a:solidFill>
            <a:srgbClr val="7C4D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71" name="文本框 70"/>
          <p:cNvSpPr txBox="1"/>
          <p:nvPr/>
        </p:nvSpPr>
        <p:spPr>
          <a:xfrm>
            <a:off x="1206379" y="3553572"/>
            <a:ext cx="177800" cy="3048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2" name="缺角矩形 71"/>
          <p:cNvSpPr/>
          <p:nvPr/>
        </p:nvSpPr>
        <p:spPr>
          <a:xfrm rot="1680000">
            <a:off x="1587755" y="5067524"/>
            <a:ext cx="644713" cy="644713"/>
          </a:xfrm>
          <a:prstGeom prst="plaque">
            <a:avLst>
              <a:gd name="adj" fmla="val 37317"/>
            </a:avLst>
          </a:prstGeom>
          <a:solidFill>
            <a:srgbClr val="00A8C6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3" name="折角形 72"/>
          <p:cNvSpPr/>
          <p:nvPr/>
        </p:nvSpPr>
        <p:spPr>
          <a:xfrm rot="360000">
            <a:off x="7824593" y="1848250"/>
            <a:ext cx="1732850" cy="1732850"/>
          </a:xfrm>
          <a:prstGeom prst="foldedCorner">
            <a:avLst>
              <a:gd name="adj" fmla="val 31569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i="0" strike="noStrike">
              <a:solidFill>
                <a:schemeClr val="bg1">
                  <a:lumMod val="85000"/>
                  <a:alpha val="100000"/>
                </a:schemeClr>
              </a:solidFill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i="0" strike="noStrike">
              <a:solidFill>
                <a:schemeClr val="bg1">
                  <a:lumMod val="85000"/>
                  <a:alpha val="100000"/>
                </a:schemeClr>
              </a:solidFill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i="0" strike="noStrike">
                <a:solidFill>
                  <a:schemeClr val="bg1">
                    <a:lumMod val="85000"/>
                    <a:alpha val="100000"/>
                  </a:schemeClr>
                </a:solidFill>
                <a:latin typeface="Courier New"/>
                <a:ea typeface="Courier New"/>
                <a:cs typeface="Arial"/>
                <a:sym typeface="Arial"/>
              </a:rPr>
              <a:t>efficiency</a:t>
            </a:r>
            <a:endParaRPr/>
          </a:p>
        </p:txBody>
      </p:sp>
      <p:sp>
        <p:nvSpPr>
          <p:cNvPr id="74" name="折角形 73"/>
          <p:cNvSpPr/>
          <p:nvPr/>
        </p:nvSpPr>
        <p:spPr>
          <a:xfrm rot="21060000">
            <a:off x="6833296" y="626460"/>
            <a:ext cx="1732850" cy="1732850"/>
          </a:xfrm>
          <a:prstGeom prst="foldedCorner">
            <a:avLst/>
          </a:prstGeom>
          <a:solidFill>
            <a:schemeClr val="bg1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>
                <a:latin typeface="Courier New"/>
                <a:ea typeface="Courier New"/>
                <a:cs typeface="Arial"/>
                <a:sym typeface="Arial"/>
              </a:rPr>
              <a:t>Workflow</a:t>
            </a:r>
            <a:endParaRPr/>
          </a:p>
        </p:txBody>
      </p:sp>
      <p:sp>
        <p:nvSpPr>
          <p:cNvPr id="75" name="折角形 74"/>
          <p:cNvSpPr/>
          <p:nvPr/>
        </p:nvSpPr>
        <p:spPr>
          <a:xfrm rot="240000">
            <a:off x="9737790" y="1122144"/>
            <a:ext cx="1732850" cy="1732850"/>
          </a:xfrm>
          <a:prstGeom prst="foldedCorner">
            <a:avLst>
              <a:gd name="adj" fmla="val 0"/>
            </a:avLst>
          </a:prstGeom>
          <a:solidFill>
            <a:srgbClr val="00A8C6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i="0" strike="noStrike">
                <a:solidFill>
                  <a:schemeClr val="bg1">
                    <a:alpha val="100000"/>
                  </a:schemeClr>
                </a:solidFill>
                <a:latin typeface="Courier New"/>
                <a:ea typeface="Courier New"/>
                <a:cs typeface="Arial"/>
                <a:sym typeface="Arial"/>
              </a:rPr>
              <a:t>Automation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AutoShape 3"/>
          <p:cNvSpPr/>
          <p:nvPr/>
        </p:nvSpPr>
        <p:spPr>
          <a:xfrm>
            <a:off x="5637597" y="573131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5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所有人的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5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工作方式升级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5637597" y="4096659"/>
            <a:ext cx="2460657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 dirty="0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3亿岗位面临</a:t>
            </a:r>
            <a:endParaRPr lang="en-US" sz="1100" dirty="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 dirty="0" err="1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重新拆解与重组</a:t>
            </a:r>
            <a:endParaRPr dirty="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0" name="AutoShape 5"/>
          <p:cNvSpPr/>
          <p:nvPr/>
        </p:nvSpPr>
        <p:spPr>
          <a:xfrm>
            <a:off x="5637597" y="4986929"/>
            <a:ext cx="25146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这并不意味着岗位会消失，而是从写作、检索到数据分析，大量工作正在被提效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1" name="AutoShape 6"/>
          <p:cNvSpPr/>
          <p:nvPr/>
        </p:nvSpPr>
        <p:spPr>
          <a:xfrm>
            <a:off x="5637597" y="6068969"/>
            <a:ext cx="25146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Source: Goldman Sachs, 2023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2" name="AutoShape 7"/>
          <p:cNvSpPr/>
          <p:nvPr/>
        </p:nvSpPr>
        <p:spPr>
          <a:xfrm>
            <a:off x="8798928" y="4096659"/>
            <a:ext cx="251460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新一代通用</a:t>
            </a:r>
            <a:endParaRPr lang="en-US" sz="110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工作基础设施</a:t>
            </a:r>
            <a:endParaRPr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3" name="AutoShape 8"/>
          <p:cNvSpPr/>
          <p:nvPr/>
        </p:nvSpPr>
        <p:spPr>
          <a:xfrm>
            <a:off x="8798928" y="4986929"/>
            <a:ext cx="25146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正在嵌入真实工作流，成为日常客户沟通、知识管理与业务闭环的基础。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4" name="AutoShape 9"/>
          <p:cNvSpPr/>
          <p:nvPr/>
        </p:nvSpPr>
        <p:spPr>
          <a:xfrm>
            <a:off x="8798928" y="6068969"/>
            <a:ext cx="25146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不再是少数人的工具</a:t>
            </a:r>
            <a:endParaRPr lang="en-US" sz="1100">
              <a:solidFill>
                <a:schemeClr val="tx1">
                  <a:lumMod val="65000"/>
                  <a:lumOff val="3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85" name="Connector 10"/>
          <p:cNvCxnSpPr/>
          <p:nvPr/>
        </p:nvCxnSpPr>
        <p:spPr>
          <a:xfrm>
            <a:off x="5643312" y="5821316"/>
            <a:ext cx="245494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294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86" name="Connector 11"/>
          <p:cNvCxnSpPr/>
          <p:nvPr/>
        </p:nvCxnSpPr>
        <p:spPr>
          <a:xfrm>
            <a:off x="8790673" y="5845446"/>
            <a:ext cx="245621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294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A156AAAE-6118-19A1-3909-24C1CD34E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9557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712470" y="1271270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影响深远的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关键数据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9" name="AutoShape 3"/>
          <p:cNvSpPr/>
          <p:nvPr/>
        </p:nvSpPr>
        <p:spPr>
          <a:xfrm>
            <a:off x="7546340" y="665480"/>
            <a:ext cx="392303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从高盛到麦肯锡的全球调研数据表明，AI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的影响范围极其广泛，且正在快速渗透到企业的核心工作流中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0" name="AutoShape 4"/>
          <p:cNvSpPr/>
          <p:nvPr/>
        </p:nvSpPr>
        <p:spPr>
          <a:xfrm>
            <a:off x="712470" y="4147820"/>
            <a:ext cx="2534920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7C4DFF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3亿</a:t>
            </a:r>
            <a:endParaRPr lang="en-US" sz="8000" dirty="0">
              <a:solidFill>
                <a:srgbClr val="7C4DFF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sp>
        <p:nvSpPr>
          <p:cNvPr id="91" name="AutoShape 5"/>
          <p:cNvSpPr/>
          <p:nvPr/>
        </p:nvSpPr>
        <p:spPr>
          <a:xfrm>
            <a:off x="4810125" y="4147820"/>
            <a:ext cx="2521617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7C4DFF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72%</a:t>
            </a:r>
            <a:endParaRPr lang="en-US" sz="8000" dirty="0">
              <a:solidFill>
                <a:srgbClr val="7C4DFF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sp>
        <p:nvSpPr>
          <p:cNvPr id="92" name="AutoShape 6"/>
          <p:cNvSpPr/>
          <p:nvPr/>
        </p:nvSpPr>
        <p:spPr>
          <a:xfrm>
            <a:off x="8944611" y="4147820"/>
            <a:ext cx="2522887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7C4DFF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88%</a:t>
            </a:r>
            <a:endParaRPr lang="en-US" sz="8000" dirty="0">
              <a:solidFill>
                <a:srgbClr val="7C4DFF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cxnSp>
        <p:nvCxnSpPr>
          <p:cNvPr id="93" name="Connector 7"/>
          <p:cNvCxnSpPr/>
          <p:nvPr/>
        </p:nvCxnSpPr>
        <p:spPr>
          <a:xfrm>
            <a:off x="710565" y="5558787"/>
            <a:ext cx="25298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C4DFF"/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94" name="Connector 8"/>
          <p:cNvCxnSpPr/>
          <p:nvPr/>
        </p:nvCxnSpPr>
        <p:spPr>
          <a:xfrm>
            <a:off x="4810125" y="5558787"/>
            <a:ext cx="252860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C4DFF"/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95" name="Connector 9"/>
          <p:cNvCxnSpPr/>
          <p:nvPr/>
        </p:nvCxnSpPr>
        <p:spPr>
          <a:xfrm>
            <a:off x="8951563" y="5558787"/>
            <a:ext cx="25298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C4DFF"/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96" name="AutoShape 10"/>
          <p:cNvSpPr/>
          <p:nvPr/>
        </p:nvSpPr>
        <p:spPr>
          <a:xfrm>
            <a:off x="718820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全职岗位内容受影响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7" name="AutoShape 11"/>
          <p:cNvSpPr/>
          <p:nvPr/>
        </p:nvSpPr>
        <p:spPr>
          <a:xfrm>
            <a:off x="4810760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组织已在职能中使用 AI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8" name="AutoShape 12"/>
          <p:cNvSpPr/>
          <p:nvPr/>
        </p:nvSpPr>
        <p:spPr>
          <a:xfrm>
            <a:off x="8952865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2025年常规使用比例预测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9" name="AutoShape 13"/>
          <p:cNvSpPr/>
          <p:nvPr/>
        </p:nvSpPr>
        <p:spPr>
          <a:xfrm>
            <a:off x="7546340" y="1724660"/>
            <a:ext cx="3923030" cy="9537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</a:t>
            </a: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采用已经过了尝鲜期，正在进入主流。下一阶段的竞争重点，不是谁先使用，而是谁能更快完成规模化落地与系统集成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0" name="AutoShape 14"/>
          <p:cNvSpPr/>
          <p:nvPr/>
        </p:nvSpPr>
        <p:spPr>
          <a:xfrm>
            <a:off x="712470" y="665480"/>
            <a:ext cx="1932940" cy="355600"/>
          </a:xfrm>
          <a:prstGeom prst="roundRect">
            <a:avLst>
              <a:gd name="adj" fmla="val 16666"/>
            </a:avLst>
          </a:prstGeom>
          <a:solidFill>
            <a:srgbClr val="7C4D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Global Survey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AutoShape 2"/>
          <p:cNvSpPr/>
          <p:nvPr/>
        </p:nvSpPr>
        <p:spPr>
          <a:xfrm>
            <a:off x="698500" y="457200"/>
            <a:ext cx="4749800" cy="622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500" i="0" u="none" strike="noStrike" dirty="0">
                <a:solidFill>
                  <a:srgbClr val="262626"/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 </a:t>
            </a:r>
            <a:r>
              <a:rPr lang="en-US" sz="3500" i="0" u="none" strike="noStrike" dirty="0" err="1">
                <a:solidFill>
                  <a:srgbClr val="262626"/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落地场景四象限</a:t>
            </a:r>
            <a:endParaRPr dirty="0">
              <a:solidFill>
                <a:srgbClr val="262626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3" name="AutoShape 3"/>
          <p:cNvSpPr/>
          <p:nvPr/>
        </p:nvSpPr>
        <p:spPr>
          <a:xfrm>
            <a:off x="69850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7C4D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7C4DFF"/>
              </a:solidFill>
              <a:highlight>
                <a:srgbClr val="485546">
                  <a:alpha val="100000"/>
                </a:srgbClr>
              </a:highlight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104" name="AutoShape 4"/>
          <p:cNvSpPr/>
          <p:nvPr/>
        </p:nvSpPr>
        <p:spPr>
          <a:xfrm>
            <a:off x="89535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 dirty="0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01</a:t>
            </a:r>
            <a:endParaRPr lang="en-US" sz="1100" dirty="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89535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低难度</a:t>
            </a:r>
            <a:r>
              <a:rPr lang="en-US" sz="1800" b="1" u="none" strike="noStrike" dirty="0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 / </a:t>
            </a: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高收益</a:t>
            </a:r>
            <a:endParaRPr lang="en-US" sz="1100" b="1" dirty="0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89535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会议纪要、文档总结、邮件草稿、资料初筛。优先落地这些场景以快速见效</a:t>
            </a:r>
            <a:r>
              <a:rPr lang="en-US" sz="1200" b="0" i="0" u="none" strike="noStrike" dirty="0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42265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00A8C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08" name="AutoShape 8"/>
          <p:cNvSpPr/>
          <p:nvPr/>
        </p:nvSpPr>
        <p:spPr>
          <a:xfrm>
            <a:off x="361950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02</a:t>
            </a:r>
            <a:endParaRPr lang="en-US" sz="110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362077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高难度 / 高收益</a:t>
            </a:r>
            <a:endParaRPr lang="en-US" sz="1100" b="1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0" name="AutoShape 10"/>
          <p:cNvSpPr/>
          <p:nvPr/>
        </p:nvSpPr>
        <p:spPr>
          <a:xfrm>
            <a:off x="361950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自动化工作流、智能客服、数据分析助手、知识库问答。需要逐步推进系统化能力。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1" name="AutoShape 11"/>
          <p:cNvSpPr/>
          <p:nvPr/>
        </p:nvSpPr>
        <p:spPr>
          <a:xfrm>
            <a:off x="614807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D9CC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12" name="AutoShape 12"/>
          <p:cNvSpPr/>
          <p:nvPr/>
        </p:nvSpPr>
        <p:spPr>
          <a:xfrm>
            <a:off x="634492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03</a:t>
            </a:r>
            <a:endParaRPr lang="en-US" sz="110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634492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1" u="none" strike="noStrike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低难度 / 低收益</a:t>
            </a:r>
            <a:endParaRPr lang="en-US" sz="1100" b="1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4" name="AutoShape 14"/>
          <p:cNvSpPr/>
          <p:nvPr/>
        </p:nvSpPr>
        <p:spPr>
          <a:xfrm>
            <a:off x="630428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简单润色、格式整理、低价值摘要。这些任务适合偶尔辅助，但不具备规模价值。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5" name="AutoShape 15"/>
          <p:cNvSpPr/>
          <p:nvPr/>
        </p:nvSpPr>
        <p:spPr>
          <a:xfrm>
            <a:off x="887349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16" name="AutoShape 16"/>
          <p:cNvSpPr/>
          <p:nvPr/>
        </p:nvSpPr>
        <p:spPr>
          <a:xfrm>
            <a:off x="907034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 dirty="0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04</a:t>
            </a:r>
            <a:endParaRPr lang="en-US" sz="1100" dirty="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17" name="AutoShape 17"/>
          <p:cNvSpPr/>
          <p:nvPr/>
        </p:nvSpPr>
        <p:spPr>
          <a:xfrm>
            <a:off x="907034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高难度</a:t>
            </a:r>
            <a:r>
              <a:rPr lang="en-US" sz="1800" b="1" u="none" strike="noStrike" dirty="0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 / </a:t>
            </a: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低收益</a:t>
            </a:r>
            <a:endParaRPr lang="en-US" sz="1100" b="1" dirty="0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8" name="AutoShape 18"/>
          <p:cNvSpPr/>
          <p:nvPr/>
        </p:nvSpPr>
        <p:spPr>
          <a:xfrm>
            <a:off x="902589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过度定制、目标不清的 AI 系统、缺少业务闭环的复杂方案。应尽量避免在此投入。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AutoShape 3"/>
          <p:cNvSpPr/>
          <p:nvPr/>
        </p:nvSpPr>
        <p:spPr>
          <a:xfrm>
            <a:off x="712470" y="4458970"/>
            <a:ext cx="456311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不仅是利用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替代个人的单点任务，更重要的是将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嵌入组织的系统流程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2" name="AutoShape 4"/>
          <p:cNvSpPr/>
          <p:nvPr/>
        </p:nvSpPr>
        <p:spPr>
          <a:xfrm>
            <a:off x="712470" y="5387340"/>
            <a:ext cx="456311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个人的启动速度提升，与组织的知识复用能力结合，才能最大化技术带来的红利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3" name="AutoShape 5"/>
          <p:cNvSpPr/>
          <p:nvPr/>
        </p:nvSpPr>
        <p:spPr>
          <a:xfrm>
            <a:off x="5844540" y="0"/>
            <a:ext cx="6347460" cy="6858000"/>
          </a:xfrm>
          <a:prstGeom prst="roundRect">
            <a:avLst>
              <a:gd name="adj" fmla="val 0"/>
            </a:avLst>
          </a:prstGeom>
          <a:solidFill>
            <a:srgbClr val="F1ED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4" name="AutoShape 8"/>
          <p:cNvSpPr/>
          <p:nvPr/>
        </p:nvSpPr>
        <p:spPr>
          <a:xfrm>
            <a:off x="6650990" y="2420620"/>
            <a:ext cx="479552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写作、搜索、总结、计划、学习、时间管理。重点强调个体的启动速度、信息处理速度与输出速度。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6650990" y="2039620"/>
            <a:ext cx="479552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个人效率升级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6" name="AutoShape 10"/>
          <p:cNvSpPr/>
          <p:nvPr/>
        </p:nvSpPr>
        <p:spPr>
          <a:xfrm>
            <a:off x="6650990" y="5566410"/>
            <a:ext cx="479552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流程自动化、知识库建设、跨部门协作、数据辅助决策。重点强调团队协同与资产复用能力。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7" name="AutoShape 11"/>
          <p:cNvSpPr/>
          <p:nvPr/>
        </p:nvSpPr>
        <p:spPr>
          <a:xfrm>
            <a:off x="6650990" y="5185410"/>
            <a:ext cx="479552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组织效率升级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8" name="折角形 127"/>
          <p:cNvSpPr/>
          <p:nvPr/>
        </p:nvSpPr>
        <p:spPr>
          <a:xfrm rot="21360000">
            <a:off x="6548950" y="637099"/>
            <a:ext cx="1179923" cy="1179923"/>
          </a:xfrm>
          <a:prstGeom prst="foldedCorner">
            <a:avLst/>
          </a:prstGeom>
          <a:solidFill>
            <a:srgbClr val="7C4DFF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latin typeface="FZLanTingHeiS Bold" panose="02000500000000000000" pitchFamily="2" charset="-122"/>
              <a:ea typeface="FZLanTingHeiS Bold" panose="02000500000000000000" pitchFamily="2" charset="-122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latin typeface="Courier New" panose="02070309020205020404" pitchFamily="49" charset="0"/>
                <a:ea typeface="FZLanTingHeiS Bold" panose="02000500000000000000" pitchFamily="2" charset="-122"/>
                <a:cs typeface="Courier New" panose="02070309020205020404" pitchFamily="49" charset="0"/>
                <a:sym typeface="Arial"/>
              </a:rPr>
              <a:t>Personal</a:t>
            </a:r>
            <a:endParaRPr dirty="0">
              <a:latin typeface="Courier New" panose="02070309020205020404" pitchFamily="49" charset="0"/>
              <a:ea typeface="FZLanTingHeiS" panose="02000500000000000000" pitchFamily="2" charset="-122"/>
              <a:cs typeface="Courier New" panose="02070309020205020404" pitchFamily="49" charset="0"/>
            </a:endParaRPr>
          </a:p>
        </p:txBody>
      </p:sp>
      <p:sp>
        <p:nvSpPr>
          <p:cNvPr id="129" name="折角形 128"/>
          <p:cNvSpPr/>
          <p:nvPr/>
        </p:nvSpPr>
        <p:spPr>
          <a:xfrm rot="240000">
            <a:off x="6594260" y="3746437"/>
            <a:ext cx="1179923" cy="1179923"/>
          </a:xfrm>
          <a:prstGeom prst="foldedCorner">
            <a:avLst/>
          </a:prstGeom>
          <a:solidFill>
            <a:srgbClr val="FD6450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latin typeface="FZLanTingHeiS Bold" panose="02000500000000000000" pitchFamily="2" charset="-122"/>
              <a:ea typeface="FZLanTingHeiS Bold" panose="02000500000000000000" pitchFamily="2" charset="-122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latin typeface="Courier New" panose="02070309020205020404" pitchFamily="49" charset="0"/>
                <a:ea typeface="FZLanTingHeiS Bold" panose="02000500000000000000" pitchFamily="2" charset="-122"/>
                <a:cs typeface="Courier New" panose="02070309020205020404" pitchFamily="49" charset="0"/>
                <a:sym typeface="Arial"/>
              </a:rPr>
              <a:t>TEAM</a:t>
            </a:r>
            <a:endParaRPr dirty="0">
              <a:latin typeface="Courier New" panose="02070309020205020404" pitchFamily="49" charset="0"/>
              <a:ea typeface="FZLanTingHeiS" panose="02000500000000000000" pitchFamily="2" charset="-122"/>
              <a:cs typeface="Courier New" panose="02070309020205020404" pitchFamily="49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7F54F61-221F-B431-E18D-B40078B9BDE2}"/>
              </a:ext>
            </a:extLst>
          </p:cNvPr>
          <p:cNvSpPr/>
          <p:nvPr/>
        </p:nvSpPr>
        <p:spPr>
          <a:xfrm>
            <a:off x="712470" y="580433"/>
            <a:ext cx="4563109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b="1" i="0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个人与组织的</a:t>
            </a:r>
          </a:p>
          <a:p>
            <a:pPr>
              <a:buClr>
                <a:srgbClr val="000000">
                  <a:alpha val="100000"/>
                </a:srgbClr>
              </a:buClr>
            </a:pPr>
            <a:r>
              <a:rPr lang="zh-CN" altLang="en-US" sz="4000" b="1" i="0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效率双升级</a:t>
            </a:r>
          </a:p>
          <a:p>
            <a:pPr>
              <a:buClr>
                <a:srgbClr val="000000">
                  <a:alpha val="100000"/>
                </a:srgbClr>
              </a:buClr>
            </a:pP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2"/>
          <p:cNvSpPr/>
          <p:nvPr/>
        </p:nvSpPr>
        <p:spPr>
          <a:xfrm>
            <a:off x="702310" y="567385"/>
            <a:ext cx="7954010" cy="1348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工作流重构的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四个核心阶段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132" name="Connector 3"/>
          <p:cNvCxnSpPr/>
          <p:nvPr/>
        </p:nvCxnSpPr>
        <p:spPr>
          <a:xfrm>
            <a:off x="705485" y="3008629"/>
            <a:ext cx="107569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3" name="Connector 4"/>
          <p:cNvCxnSpPr/>
          <p:nvPr/>
        </p:nvCxnSpPr>
        <p:spPr>
          <a:xfrm rot="5400000">
            <a:off x="1288730" y="4934594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4" name="Connector 5"/>
          <p:cNvCxnSpPr/>
          <p:nvPr/>
        </p:nvCxnSpPr>
        <p:spPr>
          <a:xfrm rot="5400000">
            <a:off x="4085747" y="493364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5" name="Connector 6"/>
          <p:cNvCxnSpPr/>
          <p:nvPr/>
        </p:nvCxnSpPr>
        <p:spPr>
          <a:xfrm rot="5400000">
            <a:off x="6882765" y="493364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36" name="AutoShape 7"/>
          <p:cNvSpPr/>
          <p:nvPr/>
        </p:nvSpPr>
        <p:spPr>
          <a:xfrm>
            <a:off x="902970" y="4201792"/>
            <a:ext cx="2033382" cy="6629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01 任务识别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7" name="AutoShape 8"/>
          <p:cNvSpPr/>
          <p:nvPr/>
        </p:nvSpPr>
        <p:spPr>
          <a:xfrm>
            <a:off x="902970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判断哪些工作适合交给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AI：重复性高、规则明确、信息密集、反馈周期短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8" name="AutoShape 9"/>
          <p:cNvSpPr/>
          <p:nvPr/>
        </p:nvSpPr>
        <p:spPr>
          <a:xfrm>
            <a:off x="3518423" y="4201792"/>
            <a:ext cx="1859280" cy="6896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02 工具协作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9" name="AutoShape 10"/>
          <p:cNvSpPr/>
          <p:nvPr/>
        </p:nvSpPr>
        <p:spPr>
          <a:xfrm>
            <a:off x="3518423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让 AI 参与搜索、分析、生成、复盘，把工具嵌入真实工作流，而不是停留在尝鲜。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0" name="AutoShape 11"/>
          <p:cNvSpPr/>
          <p:nvPr/>
        </p:nvSpPr>
        <p:spPr>
          <a:xfrm>
            <a:off x="6405407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03 流程沉淀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1" name="AutoShape 12"/>
          <p:cNvSpPr/>
          <p:nvPr/>
        </p:nvSpPr>
        <p:spPr>
          <a:xfrm>
            <a:off x="6405407" y="5191760"/>
            <a:ext cx="213360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把一次性提效变成可复用的标准操作流程 (SOP)，降低跨团队的协作门槛。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2" name="AutoShape 13"/>
          <p:cNvSpPr/>
          <p:nvPr/>
        </p:nvSpPr>
        <p:spPr>
          <a:xfrm>
            <a:off x="9203690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04 持续迭代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3" name="AutoShape 14"/>
          <p:cNvSpPr/>
          <p:nvPr/>
        </p:nvSpPr>
        <p:spPr>
          <a:xfrm>
            <a:off x="9203690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让团队能够复制、训练、优化这套新流程，并基于反馈持续迭代最佳实践。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4" name="AutoShape 15"/>
          <p:cNvSpPr/>
          <p:nvPr/>
        </p:nvSpPr>
        <p:spPr>
          <a:xfrm>
            <a:off x="902970" y="3286760"/>
            <a:ext cx="662940" cy="662940"/>
          </a:xfrm>
          <a:prstGeom prst="ellipse">
            <a:avLst/>
          </a:prstGeom>
          <a:solidFill>
            <a:srgbClr val="FD645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5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51560" y="3456940"/>
            <a:ext cx="347980" cy="347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6" name="AutoShape 17"/>
          <p:cNvSpPr/>
          <p:nvPr/>
        </p:nvSpPr>
        <p:spPr>
          <a:xfrm>
            <a:off x="3518423" y="3249291"/>
            <a:ext cx="662940" cy="662940"/>
          </a:xfrm>
          <a:prstGeom prst="ellipse">
            <a:avLst/>
          </a:prstGeom>
          <a:solidFill>
            <a:srgbClr val="00A8C6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78443" y="3420741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8" name="AutoShape 19"/>
          <p:cNvSpPr/>
          <p:nvPr/>
        </p:nvSpPr>
        <p:spPr>
          <a:xfrm>
            <a:off x="6405407" y="3286760"/>
            <a:ext cx="662940" cy="662940"/>
          </a:xfrm>
          <a:prstGeom prst="ellipse">
            <a:avLst/>
          </a:prstGeom>
          <a:solidFill>
            <a:srgbClr val="7C4D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9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65427" y="34455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0" name="AutoShape 21"/>
          <p:cNvSpPr/>
          <p:nvPr/>
        </p:nvSpPr>
        <p:spPr>
          <a:xfrm>
            <a:off x="9203690" y="3286760"/>
            <a:ext cx="662940" cy="662940"/>
          </a:xfrm>
          <a:prstGeom prst="ellipse">
            <a:avLst/>
          </a:prstGeom>
          <a:solidFill>
            <a:srgbClr val="38483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51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363710" y="34582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Connector 2"/>
          <p:cNvCxnSpPr/>
          <p:nvPr/>
        </p:nvCxnSpPr>
        <p:spPr>
          <a:xfrm>
            <a:off x="-1905" y="3354069"/>
            <a:ext cx="1219327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lumMod val="95000"/>
                <a:lumOff val="5000"/>
                <a:alpha val="10027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54" name="Connector 3"/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55" name="AutoShape 4"/>
          <p:cNvSpPr/>
          <p:nvPr/>
        </p:nvSpPr>
        <p:spPr>
          <a:xfrm>
            <a:off x="712470" y="1029970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AI赋能的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六大应用场景</a:t>
            </a:r>
            <a:endParaRPr dirty="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6" name="AutoShape 5"/>
          <p:cNvSpPr/>
          <p:nvPr/>
        </p:nvSpPr>
        <p:spPr>
          <a:xfrm>
            <a:off x="712470" y="462280"/>
            <a:ext cx="1424940" cy="355600"/>
          </a:xfrm>
          <a:prstGeom prst="roundRect">
            <a:avLst>
              <a:gd name="adj" fmla="val 16666"/>
            </a:avLst>
          </a:prstGeom>
          <a:solidFill>
            <a:srgbClr val="FD645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Scenarios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7" name="AutoShape 6"/>
          <p:cNvSpPr/>
          <p:nvPr/>
        </p:nvSpPr>
        <p:spPr>
          <a:xfrm>
            <a:off x="712470" y="3751580"/>
            <a:ext cx="42037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1</a:t>
            </a:r>
            <a:endParaRPr lang="en-US" sz="1100" dirty="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8" name="AutoShape 7"/>
          <p:cNvSpPr/>
          <p:nvPr/>
        </p:nvSpPr>
        <p:spPr>
          <a:xfrm>
            <a:off x="1268730" y="381127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内容生成：降低启动成本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9" name="AutoShape 8"/>
          <p:cNvSpPr/>
          <p:nvPr/>
        </p:nvSpPr>
        <p:spPr>
          <a:xfrm>
            <a:off x="712470" y="457327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2</a:t>
            </a:r>
            <a:endParaRPr lang="en-US" sz="110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0" name="AutoShape 9"/>
          <p:cNvSpPr/>
          <p:nvPr/>
        </p:nvSpPr>
        <p:spPr>
          <a:xfrm>
            <a:off x="1268730" y="463296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数据分析：提炼趋势异常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1" name="AutoShape 10"/>
          <p:cNvSpPr/>
          <p:nvPr/>
        </p:nvSpPr>
        <p:spPr>
          <a:xfrm>
            <a:off x="712470" y="539623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3</a:t>
            </a:r>
            <a:endParaRPr lang="en-US" sz="110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2" name="AutoShape 11"/>
          <p:cNvSpPr/>
          <p:nvPr/>
        </p:nvSpPr>
        <p:spPr>
          <a:xfrm>
            <a:off x="1268730" y="545592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客户沟通：辅助自动回复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3" name="AutoShape 12"/>
          <p:cNvSpPr/>
          <p:nvPr/>
        </p:nvSpPr>
        <p:spPr>
          <a:xfrm>
            <a:off x="6623050" y="375158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4</a:t>
            </a:r>
            <a:endParaRPr lang="en-US" sz="110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4" name="AutoShape 13"/>
          <p:cNvSpPr/>
          <p:nvPr/>
        </p:nvSpPr>
        <p:spPr>
          <a:xfrm>
            <a:off x="7178040" y="381127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项目管理：拆解追踪风险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5" name="AutoShape 14"/>
          <p:cNvSpPr/>
          <p:nvPr/>
        </p:nvSpPr>
        <p:spPr>
          <a:xfrm>
            <a:off x="6623050" y="457327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5</a:t>
            </a:r>
            <a:endParaRPr lang="en-US" sz="110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6" name="AutoShape 15"/>
          <p:cNvSpPr/>
          <p:nvPr/>
        </p:nvSpPr>
        <p:spPr>
          <a:xfrm>
            <a:off x="7178040" y="463296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知识沉淀：构建可检索资产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7" name="AutoShape 16"/>
          <p:cNvSpPr/>
          <p:nvPr/>
        </p:nvSpPr>
        <p:spPr>
          <a:xfrm>
            <a:off x="6623050" y="539623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6</a:t>
            </a:r>
            <a:endParaRPr lang="en-US" sz="110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8" name="AutoShape 17"/>
          <p:cNvSpPr/>
          <p:nvPr/>
        </p:nvSpPr>
        <p:spPr>
          <a:xfrm>
            <a:off x="7178040" y="545592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个人学习：生成学习路径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Connector 2"/>
          <p:cNvCxnSpPr/>
          <p:nvPr/>
        </p:nvCxnSpPr>
        <p:spPr>
          <a:xfrm>
            <a:off x="705485" y="212343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1" name="Connector 3"/>
          <p:cNvCxnSpPr/>
          <p:nvPr/>
        </p:nvCxnSpPr>
        <p:spPr>
          <a:xfrm>
            <a:off x="705485" y="314832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2" name="Connector 4"/>
          <p:cNvCxnSpPr/>
          <p:nvPr/>
        </p:nvCxnSpPr>
        <p:spPr>
          <a:xfrm>
            <a:off x="705485" y="417321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3" name="Connector 5"/>
          <p:cNvCxnSpPr/>
          <p:nvPr/>
        </p:nvCxnSpPr>
        <p:spPr>
          <a:xfrm>
            <a:off x="705485" y="519937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4" name="Connector 6"/>
          <p:cNvCxnSpPr/>
          <p:nvPr/>
        </p:nvCxnSpPr>
        <p:spPr>
          <a:xfrm>
            <a:off x="705485" y="622426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75" name="AutoShape 7"/>
          <p:cNvSpPr/>
          <p:nvPr/>
        </p:nvSpPr>
        <p:spPr>
          <a:xfrm>
            <a:off x="699770" y="463550"/>
            <a:ext cx="9660890" cy="887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i="0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</a:t>
            </a:r>
            <a:r>
              <a:rPr lang="en-US" sz="4000" b="1" i="0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i="0" u="none" strike="noStrike" dirty="0">
                <a:solidFill>
                  <a:srgbClr val="7C4D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sz="4000" b="1" i="0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AI </a:t>
            </a:r>
            <a:r>
              <a:rPr lang="en-US" sz="4000" b="1" i="0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6" name="AutoShape 8"/>
          <p:cNvSpPr/>
          <p:nvPr/>
        </p:nvSpPr>
        <p:spPr>
          <a:xfrm>
            <a:off x="2058670" y="2426352"/>
            <a:ext cx="799845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会议纪要：从“人工记录整理”升级为“自动转写与摘要</a:t>
            </a:r>
            <a:r>
              <a:rPr lang="en-US" sz="200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”。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7" name="AutoShape 9"/>
          <p:cNvSpPr/>
          <p:nvPr/>
        </p:nvSpPr>
        <p:spPr>
          <a:xfrm>
            <a:off x="2058670" y="3477878"/>
            <a:ext cx="799845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市场调研：从“手动搜索资料”升级为“快速汇总多来源信息”。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8" name="AutoShape 10"/>
          <p:cNvSpPr/>
          <p:nvPr/>
        </p:nvSpPr>
        <p:spPr>
          <a:xfrm>
            <a:off x="2058670" y="4477401"/>
            <a:ext cx="7854950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文案撰写：从“从零起草”升级为“先生成初稿再修改”。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9" name="AutoShape 11"/>
          <p:cNvSpPr/>
          <p:nvPr/>
        </p:nvSpPr>
        <p:spPr>
          <a:xfrm>
            <a:off x="2058670" y="5515609"/>
            <a:ext cx="7854950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知识管理：从“依赖个人经验”升级为“自动归档与智能问答”。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缺角矩形 1">
            <a:extLst>
              <a:ext uri="{FF2B5EF4-FFF2-40B4-BE49-F238E27FC236}">
                <a16:creationId xmlns:a16="http://schemas.microsoft.com/office/drawing/2014/main" id="{DA04A13B-516A-F9A9-32DC-86BD7FD0227D}"/>
              </a:ext>
            </a:extLst>
          </p:cNvPr>
          <p:cNvSpPr/>
          <p:nvPr/>
        </p:nvSpPr>
        <p:spPr>
          <a:xfrm rot="1800000">
            <a:off x="1124787" y="2484618"/>
            <a:ext cx="313962" cy="313962"/>
          </a:xfrm>
          <a:prstGeom prst="plaque">
            <a:avLst>
              <a:gd name="adj" fmla="val 37317"/>
            </a:avLst>
          </a:prstGeom>
          <a:solidFill>
            <a:srgbClr val="00A8C6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" name="缺角矩形 2">
            <a:extLst>
              <a:ext uri="{FF2B5EF4-FFF2-40B4-BE49-F238E27FC236}">
                <a16:creationId xmlns:a16="http://schemas.microsoft.com/office/drawing/2014/main" id="{7A507D02-BDBC-0C3D-E52E-E41E8C53EDB1}"/>
              </a:ext>
            </a:extLst>
          </p:cNvPr>
          <p:cNvSpPr/>
          <p:nvPr/>
        </p:nvSpPr>
        <p:spPr>
          <a:xfrm rot="1800000">
            <a:off x="1124787" y="3531198"/>
            <a:ext cx="313962" cy="313962"/>
          </a:xfrm>
          <a:prstGeom prst="plaque">
            <a:avLst>
              <a:gd name="adj" fmla="val 37317"/>
            </a:avLst>
          </a:prstGeom>
          <a:solidFill>
            <a:srgbClr val="D9CCFF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" name="缺角矩形 3">
            <a:extLst>
              <a:ext uri="{FF2B5EF4-FFF2-40B4-BE49-F238E27FC236}">
                <a16:creationId xmlns:a16="http://schemas.microsoft.com/office/drawing/2014/main" id="{6FF4F3DA-548A-E716-9A9E-CA2ABCB54786}"/>
              </a:ext>
            </a:extLst>
          </p:cNvPr>
          <p:cNvSpPr/>
          <p:nvPr/>
        </p:nvSpPr>
        <p:spPr>
          <a:xfrm rot="1800000">
            <a:off x="1124786" y="4522985"/>
            <a:ext cx="313962" cy="313962"/>
          </a:xfrm>
          <a:prstGeom prst="plaque">
            <a:avLst>
              <a:gd name="adj" fmla="val 37317"/>
            </a:avLst>
          </a:prstGeom>
          <a:solidFill>
            <a:srgbClr val="FD6450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" name="缺角矩形 4">
            <a:extLst>
              <a:ext uri="{FF2B5EF4-FFF2-40B4-BE49-F238E27FC236}">
                <a16:creationId xmlns:a16="http://schemas.microsoft.com/office/drawing/2014/main" id="{27A85E38-79CA-EDEA-12DF-C18E704FCE00}"/>
              </a:ext>
            </a:extLst>
          </p:cNvPr>
          <p:cNvSpPr/>
          <p:nvPr/>
        </p:nvSpPr>
        <p:spPr>
          <a:xfrm rot="1800000">
            <a:off x="1124785" y="5561192"/>
            <a:ext cx="313962" cy="313962"/>
          </a:xfrm>
          <a:prstGeom prst="plaque">
            <a:avLst>
              <a:gd name="adj" fmla="val 37317"/>
            </a:avLst>
          </a:prstGeom>
          <a:solidFill>
            <a:srgbClr val="7C4DFF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6A84C013-E44C-238C-B599-C9D3B01EAC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2275828"/>
              </p:ext>
            </p:extLst>
          </p:nvPr>
        </p:nvGraphicFramePr>
        <p:xfrm>
          <a:off x="699770" y="1773674"/>
          <a:ext cx="10855975" cy="4064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6725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77710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78696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524646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719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场景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传统方式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AI </a:t>
                      </a: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辅助方式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提效价值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会议纪要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人工记录整理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自动转写与摘要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7C4D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节省整理时间</a:t>
                      </a:r>
                      <a:endParaRPr lang="en-US" sz="1100" b="0" dirty="0">
                        <a:solidFill>
                          <a:srgbClr val="7C4D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市场调研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手动搜索资料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快速汇总多来源信息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7C4D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提升信息密度</a:t>
                      </a:r>
                      <a:endParaRPr lang="en-US" sz="1100" b="0" dirty="0">
                        <a:solidFill>
                          <a:srgbClr val="7C4D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文案撰写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从零起草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先生成初稿再修改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7C4D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降低启动成本</a:t>
                      </a:r>
                      <a:endParaRPr lang="en-US" sz="1100" b="0" dirty="0">
                        <a:solidFill>
                          <a:srgbClr val="7C4D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数据分析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手动筛选图表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自动提炼趋势与异常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7C4D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辅助判断</a:t>
                      </a:r>
                      <a:endParaRPr lang="en-US" sz="1100" b="0" dirty="0">
                        <a:solidFill>
                          <a:srgbClr val="7C4D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知识管理</a:t>
                      </a:r>
                      <a:endParaRPr lang="en-US" sz="1100" b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依赖个人经验查找</a:t>
                      </a:r>
                      <a:endParaRPr lang="en-US" sz="1100" b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7C4DFF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提高复用率</a:t>
                      </a:r>
                      <a:endParaRPr lang="en-US" sz="1100" b="0" dirty="0">
                        <a:solidFill>
                          <a:srgbClr val="7C4DFF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3" name="AutoShape 7">
            <a:extLst>
              <a:ext uri="{FF2B5EF4-FFF2-40B4-BE49-F238E27FC236}">
                <a16:creationId xmlns:a16="http://schemas.microsoft.com/office/drawing/2014/main" id="{A9A2E05B-FFF3-809E-CD3B-106FAFFD4A88}"/>
              </a:ext>
            </a:extLst>
          </p:cNvPr>
          <p:cNvSpPr/>
          <p:nvPr/>
        </p:nvSpPr>
        <p:spPr>
          <a:xfrm>
            <a:off x="699770" y="463550"/>
            <a:ext cx="9660890" cy="887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u="none" strike="noStrike" dirty="0">
                <a:solidFill>
                  <a:srgbClr val="7C4D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b="1" u="none" strike="noStrike" dirty="0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 </a:t>
            </a:r>
            <a:r>
              <a:rPr lang="en-US" sz="40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  <a:endParaRPr lang="en-US" sz="1100" b="1" dirty="0">
              <a:solidFill>
                <a:schemeClr val="tx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8493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42760" y="610870"/>
            <a:ext cx="4686300" cy="1332230"/>
          </a:xfrm>
          <a:prstGeom prst="roundRect">
            <a:avLst>
              <a:gd name="adj" fmla="val 0"/>
            </a:avLst>
          </a:prstGeom>
          <a:solidFill>
            <a:srgbClr val="F7F7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56450" y="122301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麦肯锡全球调研显示，72%的受访组织已在至少一个业务职能中使用 AI，标志着初步普及。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56450" y="84582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 dirty="0" err="1">
                <a:solidFill>
                  <a:srgbClr val="7C4DFF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广泛普及</a:t>
            </a:r>
            <a:endParaRPr lang="en-US" sz="1100" dirty="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" name="AutoShape 6"/>
          <p:cNvSpPr/>
          <p:nvPr/>
        </p:nvSpPr>
        <p:spPr>
          <a:xfrm>
            <a:off x="476250" y="509270"/>
            <a:ext cx="5080000" cy="6972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AI 已进入主流工作流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" name="AutoShape 7"/>
          <p:cNvSpPr/>
          <p:nvPr/>
        </p:nvSpPr>
        <p:spPr>
          <a:xfrm>
            <a:off x="476250" y="1276985"/>
            <a:ext cx="5348115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AI正从技术工具扩展至营销、产品、IT、运营等日常业务场景，应用已过尝鲜阶段，但多职能协同的深度整合仍不普遍。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7" name="AutoShape 8"/>
          <p:cNvSpPr/>
          <p:nvPr/>
        </p:nvSpPr>
        <p:spPr>
          <a:xfrm>
            <a:off x="6842760" y="2114550"/>
            <a:ext cx="4686300" cy="1332230"/>
          </a:xfrm>
          <a:prstGeom prst="roundRect">
            <a:avLst>
              <a:gd name="adj" fmla="val 0"/>
            </a:avLst>
          </a:prstGeom>
          <a:solidFill>
            <a:srgbClr val="F7F7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" name="AutoShape 9"/>
          <p:cNvSpPr/>
          <p:nvPr/>
        </p:nvSpPr>
        <p:spPr>
          <a:xfrm>
            <a:off x="7156450" y="272669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尽管单点普及率高，但仅有 15% 的组织能够在 4 个及以上的核心职能中深度采用 AI。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" name="AutoShape 10"/>
          <p:cNvSpPr/>
          <p:nvPr/>
        </p:nvSpPr>
        <p:spPr>
          <a:xfrm>
            <a:off x="7156450" y="234950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rgbClr val="7C4DFF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深度应用不足</a:t>
            </a:r>
            <a:endParaRPr lang="en-US" sz="110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" name="AutoShape 11"/>
          <p:cNvSpPr/>
          <p:nvPr/>
        </p:nvSpPr>
        <p:spPr>
          <a:xfrm>
            <a:off x="6842760" y="3619500"/>
            <a:ext cx="4686300" cy="1332230"/>
          </a:xfrm>
          <a:prstGeom prst="roundRect">
            <a:avLst>
              <a:gd name="adj" fmla="val 0"/>
            </a:avLst>
          </a:prstGeom>
          <a:solidFill>
            <a:srgbClr val="F7F7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" name="AutoShape 12"/>
          <p:cNvSpPr/>
          <p:nvPr/>
        </p:nvSpPr>
        <p:spPr>
          <a:xfrm>
            <a:off x="7156450" y="423037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真正深入多职能协同的组织还在少数，跨部门的流程改造将是效率升级的最大难点。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" name="AutoShape 13"/>
          <p:cNvSpPr/>
          <p:nvPr/>
        </p:nvSpPr>
        <p:spPr>
          <a:xfrm>
            <a:off x="7156450" y="385318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rgbClr val="7C4DFF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协同挑战</a:t>
            </a:r>
            <a:endParaRPr lang="en-US" sz="110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" name="AutoShape 14"/>
          <p:cNvSpPr/>
          <p:nvPr/>
        </p:nvSpPr>
        <p:spPr>
          <a:xfrm>
            <a:off x="7129780" y="5247640"/>
            <a:ext cx="406400" cy="406400"/>
          </a:xfrm>
          <a:prstGeom prst="ellipse">
            <a:avLst/>
          </a:prstGeom>
          <a:solidFill>
            <a:srgbClr val="9A74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31380" y="5349240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6"/>
          <p:cNvSpPr/>
          <p:nvPr/>
        </p:nvSpPr>
        <p:spPr>
          <a:xfrm>
            <a:off x="7710170" y="5311140"/>
            <a:ext cx="400431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72% 的组织正在尝试拥抱 AI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" name="AutoShape 17"/>
          <p:cNvSpPr/>
          <p:nvPr/>
        </p:nvSpPr>
        <p:spPr>
          <a:xfrm>
            <a:off x="7129780" y="5876290"/>
            <a:ext cx="406400" cy="406400"/>
          </a:xfrm>
          <a:prstGeom prst="ellipse">
            <a:avLst/>
          </a:prstGeom>
          <a:solidFill>
            <a:srgbClr val="7C4D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31380" y="5977890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9"/>
          <p:cNvSpPr/>
          <p:nvPr/>
        </p:nvSpPr>
        <p:spPr>
          <a:xfrm>
            <a:off x="7710170" y="5952490"/>
            <a:ext cx="400431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多职能协同将是下一阶段重点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546028" y="5247640"/>
            <a:ext cx="55092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*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受访组织在不同数量业务职能中使用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AI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的比例（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%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）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75164" y="2349500"/>
            <a:ext cx="5616086" cy="2722312"/>
            <a:chOff x="730250" y="1469958"/>
            <a:chExt cx="4303749" cy="2086176"/>
          </a:xfrm>
        </p:grpSpPr>
        <p:sp>
          <p:nvSpPr>
            <p:cNvPr id="21" name="AutoShape 15"/>
            <p:cNvSpPr/>
            <p:nvPr/>
          </p:nvSpPr>
          <p:spPr>
            <a:xfrm>
              <a:off x="730250" y="1485833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1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730250" y="2100446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2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3" name="AutoShape 15"/>
            <p:cNvSpPr/>
            <p:nvPr/>
          </p:nvSpPr>
          <p:spPr>
            <a:xfrm>
              <a:off x="730250" y="2669540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3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4" name="AutoShape 15"/>
            <p:cNvSpPr/>
            <p:nvPr/>
          </p:nvSpPr>
          <p:spPr>
            <a:xfrm>
              <a:off x="730250" y="3238634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4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14709" y="1501709"/>
              <a:ext cx="3008312" cy="285749"/>
            </a:xfrm>
            <a:prstGeom prst="rect">
              <a:avLst/>
            </a:prstGeom>
            <a:solidFill>
              <a:srgbClr val="00A8C6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highlight>
                  <a:srgbClr val="3F83E6">
                    <a:alpha val="10000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4709" y="2132197"/>
              <a:ext cx="2298700" cy="285749"/>
            </a:xfrm>
            <a:prstGeom prst="rect">
              <a:avLst/>
            </a:prstGeom>
            <a:solidFill>
              <a:srgbClr val="5A33D6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10105" y="2685416"/>
              <a:ext cx="1210789" cy="285749"/>
            </a:xfrm>
            <a:prstGeom prst="rect">
              <a:avLst/>
            </a:prstGeom>
            <a:solidFill>
              <a:srgbClr val="9A74FF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10106" y="3254510"/>
              <a:ext cx="605393" cy="285749"/>
            </a:xfrm>
            <a:prstGeom prst="rect">
              <a:avLst/>
            </a:prstGeom>
            <a:solidFill>
              <a:srgbClr val="4D5B49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9" name="AutoShape 15"/>
            <p:cNvSpPr/>
            <p:nvPr/>
          </p:nvSpPr>
          <p:spPr>
            <a:xfrm>
              <a:off x="4471693" y="1469958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72%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0" name="AutoShape 15"/>
            <p:cNvSpPr/>
            <p:nvPr/>
          </p:nvSpPr>
          <p:spPr>
            <a:xfrm>
              <a:off x="3762081" y="2100446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50%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1" name="AutoShape 15"/>
            <p:cNvSpPr/>
            <p:nvPr/>
          </p:nvSpPr>
          <p:spPr>
            <a:xfrm>
              <a:off x="2664962" y="2653665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27%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2" name="AutoShape 15"/>
            <p:cNvSpPr/>
            <p:nvPr/>
          </p:nvSpPr>
          <p:spPr>
            <a:xfrm>
              <a:off x="2059568" y="3238634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15%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2"/>
          <p:cNvSpPr/>
          <p:nvPr/>
        </p:nvSpPr>
        <p:spPr>
          <a:xfrm>
            <a:off x="7448550" y="0"/>
            <a:ext cx="474345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5" name="AutoShape 3"/>
          <p:cNvSpPr/>
          <p:nvPr/>
        </p:nvSpPr>
        <p:spPr>
          <a:xfrm>
            <a:off x="482600" y="1800860"/>
            <a:ext cx="5910580" cy="65277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AI使用率加速上升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6" name="AutoShape 4"/>
          <p:cNvSpPr/>
          <p:nvPr/>
        </p:nvSpPr>
        <p:spPr>
          <a:xfrm>
            <a:off x="482600" y="477520"/>
            <a:ext cx="3437890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b="1" i="0" u="none" strike="noStrike" dirty="0">
                <a:solidFill>
                  <a:srgbClr val="7C4D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88%</a:t>
            </a:r>
            <a:endParaRPr lang="en-US" sz="1100" dirty="0">
              <a:solidFill>
                <a:srgbClr val="7C4DFF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8473440" y="55372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使用率在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2023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年后明显加速，生成式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正在推动组织采用进入新阶段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8" name="AutoShape 6"/>
          <p:cNvSpPr/>
          <p:nvPr/>
        </p:nvSpPr>
        <p:spPr>
          <a:xfrm>
            <a:off x="8473440" y="148717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采用率提升不等于价值兑现，真正的差距在于是否把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嵌入核心工作流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9" name="AutoShape 7"/>
          <p:cNvSpPr/>
          <p:nvPr/>
        </p:nvSpPr>
        <p:spPr>
          <a:xfrm>
            <a:off x="8473440" y="242697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从单点工具到跨职能协作，AI 的价值正在从"个人提效"转向"流程重构"。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8473440" y="334518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下一阶段的竞争重点，不是谁先使用 AI，而是谁能更快完成规模化落地。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1" name="AutoShape 9"/>
          <p:cNvSpPr/>
          <p:nvPr/>
        </p:nvSpPr>
        <p:spPr>
          <a:xfrm>
            <a:off x="9988550" y="6021070"/>
            <a:ext cx="1485900" cy="355600"/>
          </a:xfrm>
          <a:prstGeom prst="roundRect">
            <a:avLst>
              <a:gd name="adj" fmla="val 16666"/>
            </a:avLst>
          </a:prstGeom>
          <a:solidFill>
            <a:srgbClr val="7C4DFF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 dirty="0">
                <a:solidFill>
                  <a:schemeClr val="bg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Trend</a:t>
            </a:r>
            <a:endParaRPr lang="en-US" sz="1100" dirty="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2" name="AutoShape 10"/>
          <p:cNvSpPr/>
          <p:nvPr/>
        </p:nvSpPr>
        <p:spPr>
          <a:xfrm>
            <a:off x="8047990" y="1504950"/>
            <a:ext cx="203200" cy="203200"/>
          </a:xfrm>
          <a:prstGeom prst="ellipse">
            <a:avLst/>
          </a:prstGeom>
          <a:solidFill>
            <a:srgbClr val="D9CC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3" name="AutoShape 11"/>
          <p:cNvSpPr/>
          <p:nvPr/>
        </p:nvSpPr>
        <p:spPr>
          <a:xfrm>
            <a:off x="8047990" y="2453640"/>
            <a:ext cx="203200" cy="203200"/>
          </a:xfrm>
          <a:prstGeom prst="ellipse">
            <a:avLst/>
          </a:prstGeom>
          <a:solidFill>
            <a:srgbClr val="F9521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8047990" y="3365500"/>
            <a:ext cx="203200" cy="203200"/>
          </a:xfrm>
          <a:prstGeom prst="ellipse">
            <a:avLst/>
          </a:prstGeom>
          <a:solidFill>
            <a:srgbClr val="7C4DFF"/>
          </a:solidFill>
          <a:ln w="25400" cap="flat" cmpd="sng">
            <a:solidFill>
              <a:srgbClr val="7C4DFF"/>
            </a:solidFill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49" name="直线箭头连接符 48"/>
          <p:cNvCxnSpPr/>
          <p:nvPr/>
        </p:nvCxnSpPr>
        <p:spPr>
          <a:xfrm>
            <a:off x="3690589" y="2783781"/>
            <a:ext cx="21166" cy="3048073"/>
          </a:xfrm>
          <a:prstGeom prst="straightConnector1">
            <a:avLst/>
          </a:prstGeom>
          <a:ln w="12700">
            <a:solidFill>
              <a:schemeClr val="bg1">
                <a:lumMod val="75000"/>
                <a:alpha val="100000"/>
              </a:schemeClr>
            </a:solidFill>
            <a:prstDash val="sysDot"/>
          </a:ln>
        </p:spPr>
      </p:cxnSp>
      <p:graphicFrame>
        <p:nvGraphicFramePr>
          <p:cNvPr id="50" name="50"/>
          <p:cNvGraphicFramePr/>
          <p:nvPr>
            <p:extLst>
              <p:ext uri="{D42A27DB-BD31-4B8C-83A1-F6EECF244321}">
                <p14:modId xmlns:p14="http://schemas.microsoft.com/office/powerpoint/2010/main" val="4274769603"/>
              </p:ext>
            </p:extLst>
          </p:nvPr>
        </p:nvGraphicFramePr>
        <p:xfrm>
          <a:off x="370810" y="2555240"/>
          <a:ext cx="6686124" cy="3977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690589" y="2706370"/>
            <a:ext cx="1052861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1">
                <a:solidFill>
                  <a:srgbClr val="5A33D6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23</a:t>
            </a:r>
            <a:r>
              <a:rPr lang="zh-CN" sz="1200" b="1">
                <a:solidFill>
                  <a:srgbClr val="5A33D6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年后加速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1">
                <a:solidFill>
                  <a:srgbClr val="5A33D6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+33%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10">
            <a:extLst>
              <a:ext uri="{FF2B5EF4-FFF2-40B4-BE49-F238E27FC236}">
                <a16:creationId xmlns:a16="http://schemas.microsoft.com/office/drawing/2014/main" id="{15E18008-8B32-E116-D8BA-C56629EDB641}"/>
              </a:ext>
            </a:extLst>
          </p:cNvPr>
          <p:cNvSpPr/>
          <p:nvPr/>
        </p:nvSpPr>
        <p:spPr>
          <a:xfrm>
            <a:off x="8047990" y="650875"/>
            <a:ext cx="203200" cy="203200"/>
          </a:xfrm>
          <a:prstGeom prst="ellipse">
            <a:avLst/>
          </a:prstGeom>
          <a:solidFill>
            <a:srgbClr val="00A8C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折角形 52"/>
          <p:cNvSpPr/>
          <p:nvPr/>
        </p:nvSpPr>
        <p:spPr>
          <a:xfrm rot="21060000">
            <a:off x="750920" y="822662"/>
            <a:ext cx="1732850" cy="1732850"/>
          </a:xfrm>
          <a:prstGeom prst="foldedCorner">
            <a:avLst/>
          </a:prstGeom>
          <a:solidFill>
            <a:srgbClr val="7C4DFF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 dirty="0">
              <a:solidFill>
                <a:schemeClr val="bg1"/>
              </a:solidFill>
              <a:latin typeface="Courier New" panose="02070309020205020404" pitchFamily="49" charset="0"/>
              <a:ea typeface="FZLanTingHeiS Bold" panose="02000500000000000000" pitchFamily="2" charset="-122"/>
              <a:cs typeface="Courier New" panose="02070309020205020404" pitchFamily="49" charset="0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solidFill>
                  <a:schemeClr val="bg1"/>
                </a:solidFill>
                <a:latin typeface="Courier New" panose="02070309020205020404" pitchFamily="49" charset="0"/>
                <a:ea typeface="FZLanTingHeiS Bold" panose="02000500000000000000" pitchFamily="2" charset="-122"/>
                <a:cs typeface="Courier New" panose="02070309020205020404" pitchFamily="49" charset="0"/>
                <a:sym typeface="Arial"/>
              </a:rPr>
              <a:t>Thanks!</a:t>
            </a:r>
            <a:endParaRPr dirty="0">
              <a:solidFill>
                <a:schemeClr val="bg1"/>
              </a:solidFill>
              <a:latin typeface="Courier New" panose="02070309020205020404" pitchFamily="49" charset="0"/>
              <a:ea typeface="FZLanTingHeiS" panose="02000500000000000000" pitchFamily="2" charset="-122"/>
              <a:cs typeface="Courier New" panose="02070309020205020404" pitchFamily="49" charset="0"/>
            </a:endParaRPr>
          </a:p>
        </p:txBody>
      </p:sp>
      <p:sp>
        <p:nvSpPr>
          <p:cNvPr id="54" name="AutoShape 2"/>
          <p:cNvSpPr/>
          <p:nvPr/>
        </p:nvSpPr>
        <p:spPr>
          <a:xfrm>
            <a:off x="721360" y="5436870"/>
            <a:ext cx="44831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感谢聆听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5" name="AutoShape 3"/>
          <p:cNvSpPr/>
          <p:nvPr/>
        </p:nvSpPr>
        <p:spPr>
          <a:xfrm>
            <a:off x="8956040" y="3580130"/>
            <a:ext cx="1466850" cy="355600"/>
          </a:xfrm>
          <a:prstGeom prst="roundRect">
            <a:avLst>
              <a:gd name="adj" fmla="val 16666"/>
            </a:avLst>
          </a:prstGeom>
          <a:solidFill>
            <a:srgbClr val="FD6450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Conclusion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6" name="AutoShape 4"/>
          <p:cNvSpPr/>
          <p:nvPr/>
        </p:nvSpPr>
        <p:spPr>
          <a:xfrm>
            <a:off x="8956040" y="2641600"/>
            <a:ext cx="2921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效率提升不只是用了什么工具。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更是任务拆解与工具协作的升级。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是沉淀可复用流程的系统工程。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7" name="AutoShape 5"/>
          <p:cNvSpPr/>
          <p:nvPr/>
        </p:nvSpPr>
        <p:spPr>
          <a:xfrm>
            <a:off x="8956040" y="1854200"/>
            <a:ext cx="251460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重新定义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效率标准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8" name="AutoShape 6"/>
          <p:cNvSpPr/>
          <p:nvPr/>
        </p:nvSpPr>
        <p:spPr>
          <a:xfrm>
            <a:off x="8956040" y="5755640"/>
            <a:ext cx="2921000" cy="86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期待与您在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AI </a:t>
            </a: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时代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共同重构更高效的工作方式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9" name="AutoShape 7"/>
          <p:cNvSpPr/>
          <p:nvPr/>
        </p:nvSpPr>
        <p:spPr>
          <a:xfrm rot="2700000">
            <a:off x="3641365" y="2084705"/>
            <a:ext cx="251460" cy="251460"/>
          </a:xfrm>
          <a:prstGeom prst="roundRect">
            <a:avLst>
              <a:gd name="adj" fmla="val 60605"/>
            </a:avLst>
          </a:prstGeom>
          <a:solidFill>
            <a:srgbClr val="FD6450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0" name="AutoShape 8"/>
          <p:cNvSpPr/>
          <p:nvPr/>
        </p:nvSpPr>
        <p:spPr>
          <a:xfrm>
            <a:off x="479363" y="832867"/>
            <a:ext cx="293370" cy="293370"/>
          </a:xfrm>
          <a:prstGeom prst="ellipse">
            <a:avLst/>
          </a:prstGeom>
          <a:solidFill>
            <a:srgbClr val="00A8C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1" name="AutoShape 9"/>
          <p:cNvSpPr/>
          <p:nvPr/>
        </p:nvSpPr>
        <p:spPr>
          <a:xfrm>
            <a:off x="984250" y="277241"/>
            <a:ext cx="293370" cy="293370"/>
          </a:xfrm>
          <a:prstGeom prst="roundRect">
            <a:avLst>
              <a:gd name="adj" fmla="val 90908"/>
            </a:avLst>
          </a:prstGeom>
          <a:solidFill>
            <a:srgbClr val="C6B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2" name="AutoShape 10"/>
          <p:cNvSpPr/>
          <p:nvPr/>
        </p:nvSpPr>
        <p:spPr>
          <a:xfrm>
            <a:off x="721360" y="4820431"/>
            <a:ext cx="819150" cy="293370"/>
          </a:xfrm>
          <a:prstGeom prst="roundRect">
            <a:avLst>
              <a:gd name="adj" fmla="val 111004"/>
            </a:avLst>
          </a:prstGeom>
          <a:solidFill>
            <a:srgbClr val="00A8C6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3" name="AutoShape 7"/>
          <p:cNvSpPr/>
          <p:nvPr/>
        </p:nvSpPr>
        <p:spPr>
          <a:xfrm rot="2700000">
            <a:off x="8652501" y="1475731"/>
            <a:ext cx="251460" cy="251460"/>
          </a:xfrm>
          <a:prstGeom prst="roundRect">
            <a:avLst>
              <a:gd name="adj" fmla="val 60605"/>
            </a:avLst>
          </a:prstGeom>
          <a:solidFill>
            <a:srgbClr val="7C4DF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 cap="non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 b="0" i="0" u="none" strike="noStrike" cap="none">
              <a:solidFill>
                <a:srgbClr val="000000"/>
              </a:solidFill>
              <a:latin typeface="FZLanTingHeiS" panose="02000500000000000000" pitchFamily="2" charset="-122"/>
              <a:ea typeface="FZLanTingHeiS" panose="02000500000000000000" pitchFamily="2" charset="-122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534</Words>
  <Application>Microsoft Macintosh PowerPoint</Application>
  <PresentationFormat>宽屏</PresentationFormat>
  <Paragraphs>200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SimHei</vt:lpstr>
      <vt:lpstr>FZLanTingHeiS</vt:lpstr>
      <vt:lpstr>FZLanTingHeiS Bold</vt:lpstr>
      <vt:lpstr>FZLanTingHeiS Extralight</vt:lpstr>
      <vt:lpstr>FZLanTingHeiS Light</vt:lpstr>
      <vt:lpstr>FZLanTingHeiS SemiBold</vt:lpstr>
      <vt:lpstr>PingFang SC</vt:lpstr>
      <vt:lpstr>Arial</vt:lpstr>
      <vt:lpstr>Courier New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7</cp:revision>
  <dcterms:created xsi:type="dcterms:W3CDTF">2026-05-27T19:33:57Z</dcterms:created>
  <dcterms:modified xsi:type="dcterms:W3CDTF">2026-05-28T12:58:14Z</dcterms:modified>
</cp:coreProperties>
</file>