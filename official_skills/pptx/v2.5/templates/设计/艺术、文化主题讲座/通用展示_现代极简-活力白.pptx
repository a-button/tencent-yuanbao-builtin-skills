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520F"/>
    <a:srgbClr val="4983E2"/>
    <a:srgbClr val="F9BD2B"/>
    <a:srgbClr val="F9B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1536" y="616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2">
                  <a:alpha val="100000"/>
                </a:schemeClr>
              </a:solidFill>
              <a:ln w="19050">
                <a:solidFill>
                  <a:schemeClr val="accent2">
                    <a:alpha val="100000"/>
                  </a:schemeClr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7053769" y="5205730"/>
            <a:ext cx="2209800" cy="3708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核心叙事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7053769" y="5692140"/>
            <a:ext cx="418084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这套内容围绕一个普世性话题展开：AI 不只是提高单点任务效率，而是在改变个人、团队与组织的工作方式。效率提升是系统升级。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8" name="AutoShape 9"/>
          <p:cNvSpPr/>
          <p:nvPr/>
        </p:nvSpPr>
        <p:spPr>
          <a:xfrm rot="2700000">
            <a:off x="2307177" y="5708689"/>
            <a:ext cx="644058" cy="644058"/>
          </a:xfrm>
          <a:prstGeom prst="roundRect">
            <a:avLst>
              <a:gd name="adj" fmla="val 50000"/>
            </a:avLst>
          </a:prstGeom>
          <a:solidFill>
            <a:srgbClr val="4D5B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69" name="AutoShape 11"/>
          <p:cNvSpPr/>
          <p:nvPr/>
        </p:nvSpPr>
        <p:spPr>
          <a:xfrm>
            <a:off x="1365250" y="5736590"/>
            <a:ext cx="642620" cy="641350"/>
          </a:xfrm>
          <a:prstGeom prst="roundRect">
            <a:avLst>
              <a:gd name="adj" fmla="val 27721"/>
            </a:avLst>
          </a:prstGeom>
          <a:solidFill>
            <a:srgbClr val="FC724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0" name="AutoShape 12"/>
          <p:cNvSpPr/>
          <p:nvPr/>
        </p:nvSpPr>
        <p:spPr>
          <a:xfrm>
            <a:off x="687070" y="5083810"/>
            <a:ext cx="651510" cy="1282700"/>
          </a:xfrm>
          <a:prstGeom prst="roundRect">
            <a:avLst>
              <a:gd name="adj" fmla="val 23391"/>
            </a:avLst>
          </a:prstGeom>
          <a:solidFill>
            <a:srgbClr val="4884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1" name="文本框 70"/>
          <p:cNvSpPr txBox="1"/>
          <p:nvPr/>
        </p:nvSpPr>
        <p:spPr>
          <a:xfrm>
            <a:off x="1206379" y="3553572"/>
            <a:ext cx="177800" cy="3048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2" name="缺角矩形 71"/>
          <p:cNvSpPr/>
          <p:nvPr/>
        </p:nvSpPr>
        <p:spPr>
          <a:xfrm rot="1680000">
            <a:off x="1587755" y="5067524"/>
            <a:ext cx="644713" cy="644713"/>
          </a:xfrm>
          <a:prstGeom prst="plaque">
            <a:avLst>
              <a:gd name="adj" fmla="val 37317"/>
            </a:avLst>
          </a:prstGeom>
          <a:solidFill>
            <a:srgbClr val="F9B964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折角形 72"/>
          <p:cNvSpPr/>
          <p:nvPr/>
        </p:nvSpPr>
        <p:spPr>
          <a:xfrm rot="360000">
            <a:off x="7824593" y="1848250"/>
            <a:ext cx="1732850" cy="1732850"/>
          </a:xfrm>
          <a:prstGeom prst="foldedCorner">
            <a:avLst>
              <a:gd name="adj" fmla="val 31569"/>
            </a:avLst>
          </a:prstGeom>
          <a:solidFill>
            <a:srgbClr val="4D5B4B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74" name="折角形 73"/>
          <p:cNvSpPr/>
          <p:nvPr/>
        </p:nvSpPr>
        <p:spPr>
          <a:xfrm rot="21060000">
            <a:off x="6833296" y="626460"/>
            <a:ext cx="1732850" cy="1732850"/>
          </a:xfrm>
          <a:prstGeom prst="foldedCorner">
            <a:avLst/>
          </a:prstGeom>
          <a:solidFill>
            <a:srgbClr val="F9B964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>
                <a:latin typeface="Courier New"/>
                <a:ea typeface="Courier New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75" name="折角形 74"/>
          <p:cNvSpPr/>
          <p:nvPr/>
        </p:nvSpPr>
        <p:spPr>
          <a:xfrm rot="240000">
            <a:off x="9737790" y="1122144"/>
            <a:ext cx="1732850" cy="1732850"/>
          </a:xfrm>
          <a:prstGeom prst="foldedCorner">
            <a:avLst>
              <a:gd name="adj" fmla="val 0"/>
            </a:avLst>
          </a:prstGeom>
          <a:solidFill>
            <a:srgbClr val="4884E2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680720" y="608330"/>
            <a:ext cx="5345762" cy="17691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AI时代的高效</a:t>
            </a: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工作方式</a:t>
            </a:r>
            <a:endParaRPr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2000" b="0" i="0" u="none" strike="noStrike" dirty="0">
              <a:solidFill>
                <a:schemeClr val="tx1"/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2000" b="0" i="0" u="none" strike="noStrike" dirty="0" err="1">
                <a:solidFill>
                  <a:schemeClr val="tx1"/>
                </a:solidFill>
                <a:latin typeface="PingFang SC"/>
                <a:ea typeface="PingFang SC"/>
                <a:cs typeface="Arial"/>
                <a:sym typeface="Arial"/>
              </a:rPr>
              <a:t>从工具使用到流程重构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3"/>
          <p:cNvSpPr/>
          <p:nvPr/>
        </p:nvSpPr>
        <p:spPr>
          <a:xfrm>
            <a:off x="5637597" y="573131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5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所有人的</a:t>
            </a: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5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工作方式升级</a:t>
            </a:r>
            <a:endParaRPr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096659"/>
            <a:ext cx="2460657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3亿岗位面临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重新拆解与重组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7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这并不意味着岗位会消失，而是从写作、检索到数据分析，大量工作正在被提效。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7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94969B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Source: Goldman Sachs, 2023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798928" y="4096659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新一代通用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工作基础设施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798928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正在嵌入真实工作流，成为日常客户沟通、知识管理与业务闭环的基础。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798928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94969B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不再是少数人的工具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85" name="Connector 10"/>
          <p:cNvCxnSpPr/>
          <p:nvPr/>
        </p:nvCxnSpPr>
        <p:spPr>
          <a:xfrm>
            <a:off x="5643312" y="5821316"/>
            <a:ext cx="24549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86" name="Connector 11"/>
          <p:cNvCxnSpPr/>
          <p:nvPr/>
        </p:nvCxnSpPr>
        <p:spPr>
          <a:xfrm>
            <a:off x="8790673" y="5845446"/>
            <a:ext cx="24562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3A116497-96BC-B0E7-8C59-252E4E2C8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5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712470" y="12712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影响深远的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关键数据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7546340" y="665480"/>
            <a:ext cx="392303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94969B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从高盛到麦肯锡的全球调研数据表明，AI 的影响范围极其广泛，且正在快速渗透到企业的核心工作流中。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93" name="Connector 7"/>
          <p:cNvCxnSpPr/>
          <p:nvPr/>
        </p:nvCxnSpPr>
        <p:spPr>
          <a:xfrm>
            <a:off x="710565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4" name="Connector 8"/>
          <p:cNvCxnSpPr/>
          <p:nvPr/>
        </p:nvCxnSpPr>
        <p:spPr>
          <a:xfrm>
            <a:off x="4810125" y="5558787"/>
            <a:ext cx="25286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5" name="Connector 9"/>
          <p:cNvCxnSpPr/>
          <p:nvPr/>
        </p:nvCxnSpPr>
        <p:spPr>
          <a:xfrm>
            <a:off x="8951563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96" name="AutoShape 10"/>
          <p:cNvSpPr/>
          <p:nvPr/>
        </p:nvSpPr>
        <p:spPr>
          <a:xfrm>
            <a:off x="71882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50505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全职岗位内容受影响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7" name="AutoShape 11"/>
          <p:cNvSpPr/>
          <p:nvPr/>
        </p:nvSpPr>
        <p:spPr>
          <a:xfrm>
            <a:off x="481076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50505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组织已在职能中使用 AI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8" name="AutoShape 12"/>
          <p:cNvSpPr/>
          <p:nvPr/>
        </p:nvSpPr>
        <p:spPr>
          <a:xfrm>
            <a:off x="8952865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50505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2025年常规使用比例预测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9" name="AutoShape 13"/>
          <p:cNvSpPr/>
          <p:nvPr/>
        </p:nvSpPr>
        <p:spPr>
          <a:xfrm>
            <a:off x="7546340" y="1724660"/>
            <a:ext cx="3923030" cy="953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94969B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采用已经过了尝鲜期，正在进入主流。下一阶段的竞争重点，不是谁先使用，而是谁能更快完成规模化落地与系统集成。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0" name="AutoShape 14"/>
          <p:cNvSpPr/>
          <p:nvPr/>
        </p:nvSpPr>
        <p:spPr>
          <a:xfrm>
            <a:off x="712470" y="665480"/>
            <a:ext cx="1932940" cy="355600"/>
          </a:xfrm>
          <a:prstGeom prst="roundRect">
            <a:avLst>
              <a:gd name="adj" fmla="val 16666"/>
            </a:avLst>
          </a:prstGeom>
          <a:solidFill>
            <a:srgbClr val="4D5B4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Global Survey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77BFEFF5-020C-7C12-5D26-70EF5755F41B}"/>
              </a:ext>
            </a:extLst>
          </p:cNvPr>
          <p:cNvSpPr/>
          <p:nvPr/>
        </p:nvSpPr>
        <p:spPr>
          <a:xfrm>
            <a:off x="712470" y="4147820"/>
            <a:ext cx="253492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4983E2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3亿</a:t>
            </a:r>
            <a:endParaRPr lang="en-US" sz="8000" dirty="0">
              <a:solidFill>
                <a:srgbClr val="4983E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90170149-6351-9F75-8D28-F911F6F1BD2D}"/>
              </a:ext>
            </a:extLst>
          </p:cNvPr>
          <p:cNvSpPr/>
          <p:nvPr/>
        </p:nvSpPr>
        <p:spPr>
          <a:xfrm>
            <a:off x="4810125" y="4147820"/>
            <a:ext cx="252161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F9BA63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72%</a:t>
            </a:r>
            <a:endParaRPr lang="en-US" sz="8000" dirty="0">
              <a:solidFill>
                <a:srgbClr val="F9BA63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6472047E-A44C-9B47-7BF6-073ABD936DDC}"/>
              </a:ext>
            </a:extLst>
          </p:cNvPr>
          <p:cNvSpPr/>
          <p:nvPr/>
        </p:nvSpPr>
        <p:spPr>
          <a:xfrm>
            <a:off x="8944611" y="4147820"/>
            <a:ext cx="252288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FE4B24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88%</a:t>
            </a:r>
            <a:endParaRPr lang="en-US" sz="8000" dirty="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AutoShape 3"/>
          <p:cNvSpPr/>
          <p:nvPr/>
        </p:nvSpPr>
        <p:spPr>
          <a:xfrm>
            <a:off x="69850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4884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  <a:highlight>
                <a:srgbClr val="485546">
                  <a:alpha val="100000"/>
                </a:srgbClr>
              </a:highlight>
              <a:latin typeface="FZLanTingHeiS" panose="02000500000000000000" pitchFamily="2" charset="-122"/>
              <a:ea typeface="FZLanTingHeiS" panose="02000500000000000000" pitchFamily="2" charset="-122"/>
              <a:sym typeface="Arial"/>
            </a:endParaRPr>
          </a:p>
        </p:txBody>
      </p:sp>
      <p:sp>
        <p:nvSpPr>
          <p:cNvPr id="104" name="AutoShape 4"/>
          <p:cNvSpPr/>
          <p:nvPr/>
        </p:nvSpPr>
        <p:spPr>
          <a:xfrm>
            <a:off x="89535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i="0" u="none" strike="noStrike" dirty="0">
                <a:solidFill>
                  <a:srgbClr val="2B2F36">
                    <a:alpha val="3098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01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89535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低难度 / 高收益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89535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会议纪要、文档总结、邮件草稿、资料初筛。优先落地这些场景以快速见效。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42265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EC6D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8" name="AutoShape 8"/>
          <p:cNvSpPr/>
          <p:nvPr/>
        </p:nvSpPr>
        <p:spPr>
          <a:xfrm>
            <a:off x="361950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i="0" u="none" strike="noStrike">
                <a:solidFill>
                  <a:srgbClr val="2B2F36">
                    <a:alpha val="3098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02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62077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高难度 / 高收益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61950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14807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F9B9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2" name="AutoShape 12"/>
          <p:cNvSpPr/>
          <p:nvPr/>
        </p:nvSpPr>
        <p:spPr>
          <a:xfrm>
            <a:off x="634492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i="0" u="none" strike="noStrike">
                <a:solidFill>
                  <a:srgbClr val="2B2F36">
                    <a:alpha val="3098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03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34492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低难度 / 低收益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30428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887349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5F73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6" name="AutoShape 16"/>
          <p:cNvSpPr/>
          <p:nvPr/>
        </p:nvSpPr>
        <p:spPr>
          <a:xfrm>
            <a:off x="907034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i="0" u="none" strike="noStrike">
                <a:solidFill>
                  <a:srgbClr val="2B2F36">
                    <a:alpha val="3098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04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07034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高难度 / 低收益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02589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过度定制、目标不清的 AI 系统、缺少业务闭环的复杂方案。应尽量避免在此投入。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defRPr/>
            </a:pPr>
            <a:r>
              <a:rPr lang="en-US" sz="4000" b="1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4000" b="1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落地场景四象限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3"/>
          <p:cNvSpPr/>
          <p:nvPr/>
        </p:nvSpPr>
        <p:spPr>
          <a:xfrm>
            <a:off x="712470" y="445897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不仅是利用 AI 替代个人的单点任务，更重要的是将 AI 嵌入组织的系统流程。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712470" y="538734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个人的启动速度提升，与组织的知识复用能力结合，才能最大化技术带来的红利。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3" name="AutoShape 5"/>
          <p:cNvSpPr/>
          <p:nvPr/>
        </p:nvSpPr>
        <p:spPr>
          <a:xfrm>
            <a:off x="5844540" y="0"/>
            <a:ext cx="6347460" cy="6858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4" name="AutoShape 8"/>
          <p:cNvSpPr/>
          <p:nvPr/>
        </p:nvSpPr>
        <p:spPr>
          <a:xfrm>
            <a:off x="6650990" y="242062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写作、搜索、总结、计划、学习、时间管理。重点强调个体的启动速度、信息处理速度与输出速度。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6650990" y="203962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个人效率升级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6650990" y="556641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流程自动化、知识库建设、跨部门协作、数据辅助决策。重点强调团队协同与资产复用能力。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6650990" y="518541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组织效率升级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8" name="折角形 127"/>
          <p:cNvSpPr/>
          <p:nvPr/>
        </p:nvSpPr>
        <p:spPr>
          <a:xfrm rot="21360000">
            <a:off x="6548950" y="637099"/>
            <a:ext cx="1179923" cy="1179923"/>
          </a:xfrm>
          <a:prstGeom prst="foldedCorner">
            <a:avLst/>
          </a:prstGeom>
          <a:solidFill>
            <a:srgbClr val="F9B964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Personal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129" name="折角形 128"/>
          <p:cNvSpPr/>
          <p:nvPr/>
        </p:nvSpPr>
        <p:spPr>
          <a:xfrm rot="240000">
            <a:off x="6594260" y="3746437"/>
            <a:ext cx="1179923" cy="1179923"/>
          </a:xfrm>
          <a:prstGeom prst="foldedCorner">
            <a:avLst/>
          </a:prstGeom>
          <a:solidFill>
            <a:srgbClr val="4884E2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TEAM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712470" y="580433"/>
            <a:ext cx="4563109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b="1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b="1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702310" y="567385"/>
            <a:ext cx="7954010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工作流重构的</a:t>
            </a:r>
            <a:endParaRPr lang="en-US" sz="1100" dirty="0"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四个核心阶段</a:t>
            </a:r>
            <a:endParaRPr dirty="0"/>
          </a:p>
        </p:txBody>
      </p:sp>
      <p:cxnSp>
        <p:nvCxnSpPr>
          <p:cNvPr id="132" name="Connector 3"/>
          <p:cNvCxnSpPr/>
          <p:nvPr/>
        </p:nvCxnSpPr>
        <p:spPr>
          <a:xfrm>
            <a:off x="705485" y="3008629"/>
            <a:ext cx="107569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288730" y="4934594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085747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6882765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902970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01 任务识别</a:t>
            </a:r>
            <a:endParaRPr lang="en-US" sz="1100"/>
          </a:p>
        </p:txBody>
      </p:sp>
      <p:sp>
        <p:nvSpPr>
          <p:cNvPr id="137" name="AutoShape 8"/>
          <p:cNvSpPr/>
          <p:nvPr/>
        </p:nvSpPr>
        <p:spPr>
          <a:xfrm>
            <a:off x="90297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PingFang SC"/>
                <a:ea typeface="PingFang SC"/>
              </a:rPr>
              <a:t>判断哪些工作适合交给 AI：重复性高、规则明确、信息密集、反馈周期短。</a:t>
            </a:r>
            <a:endParaRPr lang="en-US" sz="1100"/>
          </a:p>
        </p:txBody>
      </p:sp>
      <p:sp>
        <p:nvSpPr>
          <p:cNvPr id="138" name="AutoShape 9"/>
          <p:cNvSpPr/>
          <p:nvPr/>
        </p:nvSpPr>
        <p:spPr>
          <a:xfrm>
            <a:off x="3518423" y="4201792"/>
            <a:ext cx="1859280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02 工具协作</a:t>
            </a:r>
            <a:endParaRPr lang="en-US" sz="1100"/>
          </a:p>
        </p:txBody>
      </p:sp>
      <p:sp>
        <p:nvSpPr>
          <p:cNvPr id="139" name="AutoShape 10"/>
          <p:cNvSpPr/>
          <p:nvPr/>
        </p:nvSpPr>
        <p:spPr>
          <a:xfrm>
            <a:off x="3518423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PingFang SC"/>
                <a:ea typeface="PingFang SC"/>
              </a:rPr>
              <a:t>让 AI 参与搜索、分析、生成、复盘，把工具嵌入真实工作流，而不是停留在尝鲜。</a:t>
            </a:r>
            <a:endParaRPr lang="en-US" sz="1100"/>
          </a:p>
        </p:txBody>
      </p:sp>
      <p:sp>
        <p:nvSpPr>
          <p:cNvPr id="140" name="AutoShape 11"/>
          <p:cNvSpPr/>
          <p:nvPr/>
        </p:nvSpPr>
        <p:spPr>
          <a:xfrm>
            <a:off x="6405407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03 流程沉淀</a:t>
            </a:r>
            <a:endParaRPr lang="en-US" sz="1100"/>
          </a:p>
        </p:txBody>
      </p:sp>
      <p:sp>
        <p:nvSpPr>
          <p:cNvPr id="141" name="AutoShape 12"/>
          <p:cNvSpPr/>
          <p:nvPr/>
        </p:nvSpPr>
        <p:spPr>
          <a:xfrm>
            <a:off x="6405407" y="5191760"/>
            <a:ext cx="21336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PingFang SC"/>
                <a:ea typeface="PingFang SC"/>
              </a:rPr>
              <a:t>把一次性提效变成可复用的标准操作流程 (SOP)，降低跨团队的协作门槛。</a:t>
            </a:r>
            <a:endParaRPr lang="en-US" sz="1100"/>
          </a:p>
        </p:txBody>
      </p:sp>
      <p:sp>
        <p:nvSpPr>
          <p:cNvPr id="142" name="AutoShape 13"/>
          <p:cNvSpPr/>
          <p:nvPr/>
        </p:nvSpPr>
        <p:spPr>
          <a:xfrm>
            <a:off x="9203690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04 持续迭代</a:t>
            </a:r>
            <a:endParaRPr lang="en-US" sz="1100"/>
          </a:p>
        </p:txBody>
      </p:sp>
      <p:sp>
        <p:nvSpPr>
          <p:cNvPr id="143" name="AutoShape 14"/>
          <p:cNvSpPr/>
          <p:nvPr/>
        </p:nvSpPr>
        <p:spPr>
          <a:xfrm>
            <a:off x="920369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PingFang SC"/>
                <a:ea typeface="PingFang SC"/>
              </a:rPr>
              <a:t>让团队能够复制、训练、优化这套新流程，并基于反馈持续迭代最佳实践。</a:t>
            </a:r>
            <a:endParaRPr lang="en-US" sz="1100"/>
          </a:p>
        </p:txBody>
      </p:sp>
      <p:sp>
        <p:nvSpPr>
          <p:cNvPr id="144" name="AutoShape 15"/>
          <p:cNvSpPr/>
          <p:nvPr/>
        </p:nvSpPr>
        <p:spPr>
          <a:xfrm>
            <a:off x="902970" y="3286760"/>
            <a:ext cx="662940" cy="662940"/>
          </a:xfrm>
          <a:prstGeom prst="ellipse">
            <a:avLst/>
          </a:prstGeom>
          <a:solidFill>
            <a:srgbClr val="FDB3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1560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518423" y="3249291"/>
            <a:ext cx="662940" cy="662940"/>
          </a:xfrm>
          <a:prstGeom prst="ellipse">
            <a:avLst/>
          </a:prstGeom>
          <a:solidFill>
            <a:srgbClr val="408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78443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405407" y="3286760"/>
            <a:ext cx="662940" cy="662940"/>
          </a:xfrm>
          <a:prstGeom prst="ellipse">
            <a:avLst/>
          </a:prstGeom>
          <a:solidFill>
            <a:srgbClr val="F9521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65427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203690" y="3286760"/>
            <a:ext cx="662940" cy="662940"/>
          </a:xfrm>
          <a:prstGeom prst="ellipse">
            <a:avLst/>
          </a:prstGeom>
          <a:solidFill>
            <a:srgbClr val="4D5B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63710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Connector 2"/>
          <p:cNvCxnSpPr/>
          <p:nvPr/>
        </p:nvCxnSpPr>
        <p:spPr>
          <a:xfrm>
            <a:off x="-1905" y="3354069"/>
            <a:ext cx="121932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5" name="AutoShape 4"/>
          <p:cNvSpPr/>
          <p:nvPr/>
        </p:nvSpPr>
        <p:spPr>
          <a:xfrm>
            <a:off x="712470" y="10299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 </a:t>
            </a:r>
            <a:r>
              <a:rPr lang="en-US" sz="40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赋能的</a:t>
            </a: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六大应用场景</a:t>
            </a:r>
            <a:endParaRPr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156" name="AutoShape 5"/>
          <p:cNvSpPr/>
          <p:nvPr/>
        </p:nvSpPr>
        <p:spPr>
          <a:xfrm>
            <a:off x="712470" y="462280"/>
            <a:ext cx="1424940" cy="355600"/>
          </a:xfrm>
          <a:prstGeom prst="roundRect">
            <a:avLst>
              <a:gd name="adj" fmla="val 16666"/>
            </a:avLst>
          </a:prstGeom>
          <a:solidFill>
            <a:srgbClr val="3E81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Scenarios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7" name="AutoShape 6"/>
          <p:cNvSpPr/>
          <p:nvPr/>
        </p:nvSpPr>
        <p:spPr>
          <a:xfrm>
            <a:off x="712470" y="3751580"/>
            <a:ext cx="42037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FAFAF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/>
          <p:cNvSpPr/>
          <p:nvPr/>
        </p:nvSpPr>
        <p:spPr>
          <a:xfrm>
            <a:off x="126873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内容生成：降低启动成本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9" name="AutoShape 8"/>
          <p:cNvSpPr/>
          <p:nvPr/>
        </p:nvSpPr>
        <p:spPr>
          <a:xfrm>
            <a:off x="71247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FAFAF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/>
          <p:cNvSpPr/>
          <p:nvPr/>
        </p:nvSpPr>
        <p:spPr>
          <a:xfrm>
            <a:off x="126873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数据分析：提炼趋势异常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1" name="AutoShape 10"/>
          <p:cNvSpPr/>
          <p:nvPr/>
        </p:nvSpPr>
        <p:spPr>
          <a:xfrm>
            <a:off x="71247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FAFAF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/>
          <p:cNvSpPr/>
          <p:nvPr/>
        </p:nvSpPr>
        <p:spPr>
          <a:xfrm>
            <a:off x="126873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客户沟通：辅助自动回复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3" name="AutoShape 12"/>
          <p:cNvSpPr/>
          <p:nvPr/>
        </p:nvSpPr>
        <p:spPr>
          <a:xfrm>
            <a:off x="6623050" y="375158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FAFAF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/>
          <p:cNvSpPr/>
          <p:nvPr/>
        </p:nvSpPr>
        <p:spPr>
          <a:xfrm>
            <a:off x="717804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项目管理：拆解追踪风险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5" name="AutoShape 14"/>
          <p:cNvSpPr/>
          <p:nvPr/>
        </p:nvSpPr>
        <p:spPr>
          <a:xfrm>
            <a:off x="662305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FAFAF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/>
          <p:cNvSpPr/>
          <p:nvPr/>
        </p:nvSpPr>
        <p:spPr>
          <a:xfrm>
            <a:off x="717804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知识沉淀：构建可检索资产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7" name="AutoShape 16"/>
          <p:cNvSpPr/>
          <p:nvPr/>
        </p:nvSpPr>
        <p:spPr>
          <a:xfrm>
            <a:off x="662305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FAFAF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/>
          <p:cNvSpPr/>
          <p:nvPr/>
        </p:nvSpPr>
        <p:spPr>
          <a:xfrm>
            <a:off x="717804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个人学习：生成学习路径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Connector 2"/>
          <p:cNvCxnSpPr/>
          <p:nvPr/>
        </p:nvCxnSpPr>
        <p:spPr>
          <a:xfrm>
            <a:off x="705485" y="212343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1" name="Connector 3"/>
          <p:cNvCxnSpPr/>
          <p:nvPr/>
        </p:nvCxnSpPr>
        <p:spPr>
          <a:xfrm>
            <a:off x="705485" y="314832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705485" y="417321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705485" y="519937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705485" y="622426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5" name="AutoShape 7"/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u="none" strike="noStrike" dirty="0">
                <a:solidFill>
                  <a:srgbClr val="4983E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en-US" sz="4000" b="1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176" name="AutoShape 8"/>
          <p:cNvSpPr/>
          <p:nvPr/>
        </p:nvSpPr>
        <p:spPr>
          <a:xfrm>
            <a:off x="2058670" y="2426352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会议纪要：从“人工记录整理”升级为“自动转写与摘要”。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2058670" y="3477878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市场调研：从“手动搜索资料”升级为“快速汇总多来源信息”。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2058670" y="4477401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文案撰写：从“从零起草”升级为“先生成初稿再修改”。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2058670" y="5515609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知识管理：从“依赖个人经验”升级为“自动归档与智能问答”。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80" name="Connector 12"/>
          <p:cNvCxnSpPr/>
          <p:nvPr/>
        </p:nvCxnSpPr>
        <p:spPr>
          <a:xfrm rot="-176140">
            <a:off x="1155228" y="2635250"/>
            <a:ext cx="2476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E7AC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1" name="Connector 13"/>
          <p:cNvCxnSpPr/>
          <p:nvPr/>
        </p:nvCxnSpPr>
        <p:spPr>
          <a:xfrm rot="5223859">
            <a:off x="1155065" y="2635413"/>
            <a:ext cx="2476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E7AC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2" name="Connector 14"/>
          <p:cNvCxnSpPr/>
          <p:nvPr/>
        </p:nvCxnSpPr>
        <p:spPr>
          <a:xfrm rot="2524005">
            <a:off x="1154628" y="2634916"/>
            <a:ext cx="24785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E7AC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3" name="Connector 15"/>
          <p:cNvCxnSpPr/>
          <p:nvPr/>
        </p:nvCxnSpPr>
        <p:spPr>
          <a:xfrm rot="7924005">
            <a:off x="1155297" y="2634916"/>
            <a:ext cx="24785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E7AC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4" name="Connector 16"/>
          <p:cNvCxnSpPr/>
          <p:nvPr/>
        </p:nvCxnSpPr>
        <p:spPr>
          <a:xfrm rot="-176140">
            <a:off x="1155228" y="3661410"/>
            <a:ext cx="2476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6AE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5" name="Connector 17"/>
          <p:cNvCxnSpPr/>
          <p:nvPr/>
        </p:nvCxnSpPr>
        <p:spPr>
          <a:xfrm rot="5223859">
            <a:off x="1155065" y="3660303"/>
            <a:ext cx="2476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6AE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6" name="Connector 18"/>
          <p:cNvCxnSpPr/>
          <p:nvPr/>
        </p:nvCxnSpPr>
        <p:spPr>
          <a:xfrm rot="2524005">
            <a:off x="1154628" y="3661076"/>
            <a:ext cx="24785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6AE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7" name="Connector 19"/>
          <p:cNvCxnSpPr/>
          <p:nvPr/>
        </p:nvCxnSpPr>
        <p:spPr>
          <a:xfrm rot="7924005">
            <a:off x="1155297" y="3661076"/>
            <a:ext cx="24785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6AE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8" name="Connector 20"/>
          <p:cNvCxnSpPr/>
          <p:nvPr/>
        </p:nvCxnSpPr>
        <p:spPr>
          <a:xfrm rot="-171744">
            <a:off x="1148874" y="468630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7245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89" name="Connector 21"/>
          <p:cNvCxnSpPr/>
          <p:nvPr/>
        </p:nvCxnSpPr>
        <p:spPr>
          <a:xfrm rot="5228255">
            <a:off x="1148080" y="468582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7245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90" name="Connector 22"/>
          <p:cNvCxnSpPr/>
          <p:nvPr/>
        </p:nvCxnSpPr>
        <p:spPr>
          <a:xfrm rot="2540499">
            <a:off x="1148308" y="4685962"/>
            <a:ext cx="2541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7245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91" name="Connector 23"/>
          <p:cNvCxnSpPr/>
          <p:nvPr/>
        </p:nvCxnSpPr>
        <p:spPr>
          <a:xfrm rot="7916204">
            <a:off x="1148979" y="4685962"/>
            <a:ext cx="2541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7245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92" name="Connector 24"/>
          <p:cNvCxnSpPr/>
          <p:nvPr/>
        </p:nvCxnSpPr>
        <p:spPr>
          <a:xfrm rot="-171744">
            <a:off x="1155224" y="571119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D5B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93" name="Connector 25"/>
          <p:cNvCxnSpPr/>
          <p:nvPr/>
        </p:nvCxnSpPr>
        <p:spPr>
          <a:xfrm rot="5228255">
            <a:off x="1154430" y="571071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D5B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94" name="Connector 26"/>
          <p:cNvCxnSpPr/>
          <p:nvPr/>
        </p:nvCxnSpPr>
        <p:spPr>
          <a:xfrm rot="2516204">
            <a:off x="1154020" y="5711489"/>
            <a:ext cx="2541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D5B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195" name="Connector 27"/>
          <p:cNvCxnSpPr/>
          <p:nvPr/>
        </p:nvCxnSpPr>
        <p:spPr>
          <a:xfrm rot="7940499">
            <a:off x="1154697" y="5711489"/>
            <a:ext cx="2541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D5B49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37" name="AutoShape 7">
            <a:extLst>
              <a:ext uri="{FF2B5EF4-FFF2-40B4-BE49-F238E27FC236}">
                <a16:creationId xmlns:a16="http://schemas.microsoft.com/office/drawing/2014/main" id="{6011F66A-163C-1A65-4283-8595F363AECB}"/>
              </a:ext>
            </a:extLst>
          </p:cNvPr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u="none" strike="noStrike" dirty="0">
                <a:solidFill>
                  <a:srgbClr val="F9520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309238"/>
              </p:ext>
            </p:extLst>
          </p:nvPr>
        </p:nvGraphicFramePr>
        <p:xfrm>
          <a:off x="699770" y="1773674"/>
          <a:ext cx="10855975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6725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77710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78696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524646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9520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F9520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9520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F9520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9520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F9520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9520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F9520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9520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F9520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42760" y="463550"/>
            <a:ext cx="4686300" cy="1332230"/>
          </a:xfrm>
          <a:prstGeom prst="roundRect">
            <a:avLst>
              <a:gd name="adj" fmla="val 11037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50" y="108331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麦肯锡全球调研显示，72%的受访组织已在至少一个业务职能中使用 AI，标志着初步普及。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50" y="7061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广泛普及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7"/>
          <p:cNvSpPr/>
          <p:nvPr/>
        </p:nvSpPr>
        <p:spPr>
          <a:xfrm>
            <a:off x="662940" y="1276985"/>
            <a:ext cx="549148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AI正从技术工具扩展至营销、产品、IT、运营等日常业务场景，应用已过尝鲜阶段，但多职能协同的深度整合仍不普遍</a:t>
            </a:r>
            <a:r>
              <a:rPr lang="en-US" sz="14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。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" name="AutoShape 8"/>
          <p:cNvSpPr/>
          <p:nvPr/>
        </p:nvSpPr>
        <p:spPr>
          <a:xfrm>
            <a:off x="6842760" y="1967230"/>
            <a:ext cx="4686300" cy="1332230"/>
          </a:xfrm>
          <a:prstGeom prst="roundRect">
            <a:avLst>
              <a:gd name="adj" fmla="val 11037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50" y="2635885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尽管单点普及率高，但仅有 15% 的组织能够在 4 个及以上的核心职能中深度采用 AI。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50" y="2258695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深度应用不足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" name="AutoShape 11"/>
          <p:cNvSpPr/>
          <p:nvPr/>
        </p:nvSpPr>
        <p:spPr>
          <a:xfrm>
            <a:off x="6842760" y="3472180"/>
            <a:ext cx="4686300" cy="1332230"/>
          </a:xfrm>
          <a:prstGeom prst="roundRect">
            <a:avLst>
              <a:gd name="adj" fmla="val 11037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50" y="4093845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真正深入多职能协同的组织还在少数，跨部门的流程改造将是效率升级的最大难点。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50" y="3716655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协同挑战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" name="AutoShape 14"/>
          <p:cNvSpPr/>
          <p:nvPr/>
        </p:nvSpPr>
        <p:spPr>
          <a:xfrm>
            <a:off x="7129780" y="5247640"/>
            <a:ext cx="406400" cy="406400"/>
          </a:xfrm>
          <a:prstGeom prst="ellipse">
            <a:avLst/>
          </a:prstGeom>
          <a:solidFill>
            <a:srgbClr val="FDB3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31380" y="534924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6"/>
          <p:cNvSpPr/>
          <p:nvPr/>
        </p:nvSpPr>
        <p:spPr>
          <a:xfrm>
            <a:off x="7710170" y="531114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72% 的组织正在尝试拥抱 AI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17"/>
          <p:cNvSpPr/>
          <p:nvPr/>
        </p:nvSpPr>
        <p:spPr>
          <a:xfrm>
            <a:off x="7129780" y="5876290"/>
            <a:ext cx="406400" cy="406400"/>
          </a:xfrm>
          <a:prstGeom prst="ellipse">
            <a:avLst/>
          </a:prstGeom>
          <a:solidFill>
            <a:srgbClr val="4285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31380" y="597789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9"/>
          <p:cNvSpPr/>
          <p:nvPr/>
        </p:nvSpPr>
        <p:spPr>
          <a:xfrm>
            <a:off x="7710170" y="595249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多职能协同将是下一阶段重点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662940" y="5379408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*</a:t>
            </a:r>
            <a:r>
              <a:rPr lang="zh-CN" sz="1200" b="0" i="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受访组织在不同数量业务职能中使用</a:t>
            </a:r>
            <a:r>
              <a:rPr lang="en-US" sz="1200" b="0" i="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AI</a:t>
            </a:r>
            <a:r>
              <a:rPr lang="zh-CN" sz="1200" b="0" i="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的比例（</a:t>
            </a:r>
            <a:r>
              <a:rPr lang="en-US" sz="1200" b="0" i="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%</a:t>
            </a:r>
            <a:r>
              <a:rPr lang="zh-CN" sz="1200" b="0" i="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）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99770" y="2349500"/>
            <a:ext cx="5616086" cy="2722312"/>
            <a:chOff x="730250" y="1469958"/>
            <a:chExt cx="4303749" cy="2086176"/>
          </a:xfrm>
        </p:grpSpPr>
        <p:sp>
          <p:nvSpPr>
            <p:cNvPr id="21" name="AutoShape 15"/>
            <p:cNvSpPr/>
            <p:nvPr/>
          </p:nvSpPr>
          <p:spPr>
            <a:xfrm>
              <a:off x="730250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730250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730250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730250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3F83E6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3F83E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F95210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FDB33C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rgbClr val="4D5B49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71693" y="14699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72%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62081" y="21004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50%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64962" y="26536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27%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59568" y="32386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15%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</p:grpSp>
      <p:sp>
        <p:nvSpPr>
          <p:cNvPr id="33" name="AutoShape 7">
            <a:extLst>
              <a:ext uri="{FF2B5EF4-FFF2-40B4-BE49-F238E27FC236}">
                <a16:creationId xmlns:a16="http://schemas.microsoft.com/office/drawing/2014/main" id="{D2D64EC0-A54D-DB32-719F-DDAB8E88AE5E}"/>
              </a:ext>
            </a:extLst>
          </p:cNvPr>
          <p:cNvSpPr/>
          <p:nvPr/>
        </p:nvSpPr>
        <p:spPr>
          <a:xfrm>
            <a:off x="699770" y="463550"/>
            <a:ext cx="5491480" cy="8134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defRPr/>
            </a:pPr>
            <a:r>
              <a:rPr 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已进入主流</a:t>
            </a:r>
            <a:r>
              <a:rPr lang="zh-CN" altLang="en-US" sz="4000" b="1" u="none" strike="noStrike" dirty="0">
                <a:solidFill>
                  <a:srgbClr val="F9520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工作流</a:t>
            </a:r>
          </a:p>
          <a:p>
            <a:pPr>
              <a:defRPr/>
            </a:pP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673072"/>
            <a:ext cx="5910580" cy="65277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 </a:t>
            </a:r>
            <a:r>
              <a:rPr lang="en-US" sz="400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使用率加速上升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477520"/>
            <a:ext cx="343789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FA5415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88%</a:t>
            </a:r>
            <a:endParaRPr lang="en-US" sz="8000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55372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使用率在 2023 年后明显加速，生成式 AI 正在推动组织采用进入新阶段。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14871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24269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334518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1" name="AutoShape 9"/>
          <p:cNvSpPr/>
          <p:nvPr/>
        </p:nvSpPr>
        <p:spPr>
          <a:xfrm>
            <a:off x="9988550" y="6021070"/>
            <a:ext cx="1485900" cy="355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1504950"/>
            <a:ext cx="203200" cy="203200"/>
          </a:xfrm>
          <a:prstGeom prst="ellipse">
            <a:avLst/>
          </a:prstGeom>
          <a:solidFill>
            <a:srgbClr val="408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2453640"/>
            <a:ext cx="203200" cy="203200"/>
          </a:xfrm>
          <a:prstGeom prst="ellipse">
            <a:avLst/>
          </a:prstGeom>
          <a:solidFill>
            <a:srgbClr val="F9521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3365500"/>
            <a:ext cx="203200" cy="203200"/>
          </a:xfrm>
          <a:prstGeom prst="ellipse">
            <a:avLst/>
          </a:prstGeom>
          <a:solidFill>
            <a:srgbClr val="4D5B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5" name="Connector 13"/>
          <p:cNvCxnSpPr/>
          <p:nvPr/>
        </p:nvCxnSpPr>
        <p:spPr>
          <a:xfrm rot="-177962">
            <a:off x="8023389" y="674370"/>
            <a:ext cx="24511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A61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46" name="Connector 14"/>
          <p:cNvCxnSpPr/>
          <p:nvPr/>
        </p:nvCxnSpPr>
        <p:spPr>
          <a:xfrm rot="5222953">
            <a:off x="8022590" y="673899"/>
            <a:ext cx="24638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A61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47" name="Connector 15"/>
          <p:cNvCxnSpPr/>
          <p:nvPr/>
        </p:nvCxnSpPr>
        <p:spPr>
          <a:xfrm rot="2521421">
            <a:off x="8023316" y="674038"/>
            <a:ext cx="2442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A61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48" name="Connector 16"/>
          <p:cNvCxnSpPr/>
          <p:nvPr/>
        </p:nvCxnSpPr>
        <p:spPr>
          <a:xfrm rot="7909483">
            <a:off x="8023530" y="673401"/>
            <a:ext cx="2451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A61F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49" name="直线箭头连接符 48"/>
          <p:cNvCxnSpPr/>
          <p:nvPr/>
        </p:nvCxnSpPr>
        <p:spPr>
          <a:xfrm>
            <a:off x="3690589" y="27837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3990954443"/>
              </p:ext>
            </p:extLst>
          </p:nvPr>
        </p:nvGraphicFramePr>
        <p:xfrm>
          <a:off x="370810" y="2555240"/>
          <a:ext cx="6686124" cy="3977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F9521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23</a:t>
            </a:r>
            <a:r>
              <a:rPr lang="zh-CN" sz="1200" b="1">
                <a:solidFill>
                  <a:srgbClr val="F9521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年后加速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F9521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+33%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折角形 52"/>
          <p:cNvSpPr/>
          <p:nvPr/>
        </p:nvSpPr>
        <p:spPr>
          <a:xfrm rot="21060000">
            <a:off x="750920" y="822662"/>
            <a:ext cx="1732850" cy="1732850"/>
          </a:xfrm>
          <a:prstGeom prst="foldedCorner">
            <a:avLst/>
          </a:prstGeom>
          <a:solidFill>
            <a:srgbClr val="F9B964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/>
                <a:ea typeface="Courier New"/>
                <a:cs typeface="Arial"/>
                <a:sym typeface="Arial"/>
              </a:rPr>
              <a:t>Thanks!</a:t>
            </a:r>
            <a:endParaRPr dirty="0"/>
          </a:p>
        </p:txBody>
      </p:sp>
      <p:sp>
        <p:nvSpPr>
          <p:cNvPr id="54" name="AutoShape 2"/>
          <p:cNvSpPr/>
          <p:nvPr/>
        </p:nvSpPr>
        <p:spPr>
          <a:xfrm>
            <a:off x="721360" y="5436870"/>
            <a:ext cx="4483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0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感谢聆听</a:t>
            </a: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55" name="AutoShape 3"/>
          <p:cNvSpPr/>
          <p:nvPr/>
        </p:nvSpPr>
        <p:spPr>
          <a:xfrm>
            <a:off x="8956040" y="3580130"/>
            <a:ext cx="1466850" cy="355600"/>
          </a:xfrm>
          <a:prstGeom prst="roundRect">
            <a:avLst>
              <a:gd name="adj" fmla="val 16666"/>
            </a:avLst>
          </a:prstGeom>
          <a:solidFill>
            <a:srgbClr val="F8B8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Conclusion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6" name="AutoShape 4"/>
          <p:cNvSpPr/>
          <p:nvPr/>
        </p:nvSpPr>
        <p:spPr>
          <a:xfrm>
            <a:off x="8956040" y="2641600"/>
            <a:ext cx="2921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效率提升不只是用了什么工具。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更是任务拆解与工具协作的升级。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是沉淀可复用流程的系统工程。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7" name="AutoShape 5"/>
          <p:cNvSpPr/>
          <p:nvPr/>
        </p:nvSpPr>
        <p:spPr>
          <a:xfrm>
            <a:off x="8956040" y="1854200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重新定义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效率标准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8" name="AutoShape 6"/>
          <p:cNvSpPr/>
          <p:nvPr/>
        </p:nvSpPr>
        <p:spPr>
          <a:xfrm>
            <a:off x="8956040" y="5755640"/>
            <a:ext cx="2921000" cy="86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期待与您在 AI 时代，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共同重构更高效的工作方式。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9" name="AutoShape 7"/>
          <p:cNvSpPr/>
          <p:nvPr/>
        </p:nvSpPr>
        <p:spPr>
          <a:xfrm rot="2700000">
            <a:off x="3641365" y="2084705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4D5B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0" name="AutoShape 8"/>
          <p:cNvSpPr/>
          <p:nvPr/>
        </p:nvSpPr>
        <p:spPr>
          <a:xfrm>
            <a:off x="479363" y="832867"/>
            <a:ext cx="293370" cy="293370"/>
          </a:xfrm>
          <a:prstGeom prst="ellipse">
            <a:avLst/>
          </a:prstGeom>
          <a:solidFill>
            <a:srgbClr val="FA704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1" name="AutoShape 9"/>
          <p:cNvSpPr/>
          <p:nvPr/>
        </p:nvSpPr>
        <p:spPr>
          <a:xfrm>
            <a:off x="984250" y="277241"/>
            <a:ext cx="293370" cy="293370"/>
          </a:xfrm>
          <a:prstGeom prst="roundRect">
            <a:avLst>
              <a:gd name="adj" fmla="val 90908"/>
            </a:avLst>
          </a:prstGeom>
          <a:solidFill>
            <a:srgbClr val="F9B9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2" name="AutoShape 10"/>
          <p:cNvSpPr/>
          <p:nvPr/>
        </p:nvSpPr>
        <p:spPr>
          <a:xfrm>
            <a:off x="721360" y="4820431"/>
            <a:ext cx="819150" cy="293370"/>
          </a:xfrm>
          <a:prstGeom prst="roundRect">
            <a:avLst>
              <a:gd name="adj" fmla="val 111004"/>
            </a:avLst>
          </a:prstGeom>
          <a:solidFill>
            <a:srgbClr val="4884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3" name="AutoShape 7"/>
          <p:cNvSpPr/>
          <p:nvPr/>
        </p:nvSpPr>
        <p:spPr>
          <a:xfrm rot="2700000">
            <a:off x="8652501" y="1475731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E946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 cap="non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b="0" i="0" u="none" strike="noStrike" cap="none">
              <a:solidFill>
                <a:srgbClr val="000000"/>
              </a:solidFill>
              <a:latin typeface="FZLanTingHeiS" panose="02000500000000000000" pitchFamily="2" charset="-122"/>
              <a:ea typeface="FZLanTingHeiS" panose="02000500000000000000" pitchFamily="2" charset="-122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546</Words>
  <Application>Microsoft Macintosh PowerPoint</Application>
  <PresentationFormat>宽屏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SimHei</vt:lpstr>
      <vt:lpstr>FZLanTingHeiS</vt:lpstr>
      <vt:lpstr>FZLanTingHeiS Bold</vt:lpstr>
      <vt:lpstr>PingFang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6</cp:revision>
  <dcterms:created xsi:type="dcterms:W3CDTF">2026-05-27T19:33:57Z</dcterms:created>
  <dcterms:modified xsi:type="dcterms:W3CDTF">2026-05-28T12:59:54Z</dcterms:modified>
</cp:coreProperties>
</file>