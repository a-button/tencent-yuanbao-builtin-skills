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5"/>
    <p:restoredTop sz="96263"/>
  </p:normalViewPr>
  <p:slideViewPr>
    <p:cSldViewPr snapToGrid="0">
      <p:cViewPr>
        <p:scale>
          <a:sx n="95" d="100"/>
          <a:sy n="95" d="100"/>
        </p:scale>
        <p:origin x="3728" y="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C5857205-6CEE-47E3-B690-C15F6125D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825" y="292632"/>
            <a:ext cx="5829935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3000" b="0" i="0">
                <a:solidFill>
                  <a:srgbClr val="202124"/>
                </a:solidFill>
                <a:latin typeface="MiSans Medium"/>
                <a:ea typeface="MiSans Medium"/>
                <a:cs typeface="MiSans Medium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CB6B403D-42A3-40EA-B1B8-192735E47A4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1600" b="0" i="0">
                <a:solidFill>
                  <a:schemeClr val="tx1"/>
                </a:solidFill>
                <a:latin typeface="MiSans Medium"/>
                <a:ea typeface="MiSans Medium"/>
                <a:cs typeface="MiSans Medium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3784951-935E-4CD5-A6BA-7592F24AC6A1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>
              <a:buNone/>
              <a:defRPr sz="700" b="0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12700"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E4F55A15-CA6B-4A47-888B-33710E1668BE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70FCA-C5B7-4494-41EA-6EE731A9E560}" type="datetimeFigureOut">
              <a:t>2026/6/2</a:t>
            </a:fld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167855D-C676-4DB4-BC6C-A805F2CAAEFD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615E2312-9C15-4C12-8D8D-F03AC986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3000" b="0" i="0">
                <a:solidFill>
                  <a:srgbClr val="202124"/>
                </a:solidFill>
                <a:latin typeface="MiSans Medium"/>
                <a:ea typeface="MiSans Medium"/>
                <a:cs typeface="MiSans Medium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628100E-88EF-4D06-B2AA-76754F889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buNone/>
              <a:defRPr sz="1600" b="0" i="0">
                <a:solidFill>
                  <a:schemeClr val="tx1"/>
                </a:solidFill>
                <a:latin typeface="MiSans Medium"/>
                <a:ea typeface="MiSans Medium"/>
                <a:cs typeface="MiSans Medium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9C543C99-86CA-4D99-8613-CB34E9D2EDD4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>
              <a:buNone/>
              <a:defRPr sz="700" b="0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12700"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E605E44C-8C08-4182-98B7-B29448055C3E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70FCA-C5B7-4494-41EA-6EE731A9E560}" type="datetimeFigureOut">
              <a:t>2026/6/2</a:t>
            </a:fld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AF8B476-0C9C-41FF-8B2F-503E3A7B8562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g object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146" y="1"/>
            <a:ext cx="2550853" cy="1461448"/>
          </a:xfrm>
          <a:prstGeom prst="rect">
            <a:avLst/>
          </a:prstGeom>
        </p:spPr>
      </p:pic>
      <p:sp>
        <p:nvSpPr>
          <p:cNvPr id="2" name="Holder 2">
            <a:extLst>
              <a:ext uri="{FF2B5EF4-FFF2-40B4-BE49-F238E27FC236}">
                <a16:creationId xmlns:a16="http://schemas.microsoft.com/office/drawing/2014/main" id="{9BA58594-0ADC-46FD-A424-2FBA3749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3000" b="0" i="0">
                <a:solidFill>
                  <a:srgbClr val="202124"/>
                </a:solidFill>
                <a:latin typeface="MiSans Medium"/>
                <a:ea typeface="MiSans Medium"/>
                <a:cs typeface="MiSans Medium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46E3C8CD-F35E-4279-9860-6C71E6E757D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183005"/>
            <a:ext cx="397764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b="0" i="0">
                <a:latin typeface="MiSans Medium"/>
                <a:ea typeface="MiSans Medium"/>
                <a:cs typeface="MiSans Medium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B97F43C6-90C3-40A7-818E-AB737311DC92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4709160" y="1183005"/>
            <a:ext cx="397764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b="0" i="0">
                <a:latin typeface="MiSans Medium"/>
                <a:ea typeface="MiSans Medium"/>
                <a:cs typeface="MiSans Medium"/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EA43C1A9-1663-413D-9391-73670F1CB5ED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>
              <a:buNone/>
              <a:defRPr sz="700" b="0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12700"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CCB8121C-8C4D-4A81-AA19-76CBC6F39C7E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70FCA-C5B7-4494-41EA-6EE731A9E560}" type="datetimeFigureOut">
              <a:t>2026/6/2</a:t>
            </a:fld>
            <a:endParaRPr/>
          </a:p>
        </p:txBody>
      </p:sp>
      <p:sp>
        <p:nvSpPr>
          <p:cNvPr id="7" name="Holder 7">
            <a:extLst>
              <a:ext uri="{FF2B5EF4-FFF2-40B4-BE49-F238E27FC236}">
                <a16:creationId xmlns:a16="http://schemas.microsoft.com/office/drawing/2014/main" id="{04376FF8-9229-42B7-8399-B1D62372AD10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211C8831-2DA0-48C2-92A4-C9441AD2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3000" b="0" i="0">
                <a:solidFill>
                  <a:srgbClr val="202124"/>
                </a:solidFill>
                <a:latin typeface="MiSans Medium"/>
                <a:ea typeface="MiSans Medium"/>
                <a:cs typeface="MiSans Medium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2F402277-6693-4D4D-B9FE-16A74F1B8EC7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>
              <a:buNone/>
              <a:defRPr sz="700" b="0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12700"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B6F0511F-4E73-4802-9B6C-50EC78DD7181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70FCA-C5B7-4494-41EA-6EE731A9E560}" type="datetimeFigureOut">
              <a:t>2026/6/2</a:t>
            </a:fld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04789BF1-B25B-4272-ABD6-574A14D09356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7085AF9C-BBCA-483C-8ACF-81532AE820D6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>
              <a:buNone/>
              <a:defRPr sz="700" b="0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12700"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EFF88841-2E07-44A5-961B-3542E3F42D3B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70FCA-C5B7-4494-41EA-6EE731A9E560}" type="datetimeFigureOut">
              <a:t>2026/6/2</a:t>
            </a:fld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B2237E80-62B3-4B27-9DF7-DDD073DDDBAB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E4090EAF-F607-4A4D-89E5-ADF15A88B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77445"/>
            <a:ext cx="67056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3000" b="0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E4490648-97C7-4E0D-8FB7-3DA14427A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3575" y="1109853"/>
            <a:ext cx="415417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1600" b="0" i="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A8768F9E-1FDD-43AF-9654-16B6E4EE81F4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1077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700" b="0" i="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12700"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C36DBBD4-65CD-4B1E-A1B8-9F006BB7C2DF}"/>
              </a:ext>
            </a:extLst>
          </p:cNvPr>
          <p:cNvSpPr>
            <a:spLocks noGrp="1"/>
          </p:cNvSpPr>
          <p:nvPr>
            <p:ph type="dt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70FCA-C5B7-4494-41EA-6EE731A9E560}" type="datetimeFigureOut">
              <a:t>2026/6/2</a:t>
            </a:fld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D2923664-7B94-47D7-8A22-79E991779955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buNone/>
        <a:defRPr b="0" i="0">
          <a:latin typeface="MiSans Medium"/>
          <a:ea typeface="MiSans Medium"/>
          <a:cs typeface="MiSans Medium"/>
        </a:defRPr>
      </a:lvl1pPr>
    </p:titleStyle>
    <p:bodyStyle>
      <a:lvl1pPr marL="0">
        <a:buNone/>
        <a:defRPr b="0" i="0">
          <a:latin typeface="MiSans Medium"/>
          <a:ea typeface="MiSans Medium"/>
          <a:cs typeface="MiSans Medium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9F8F13C-0B5D-459A-84DB-FCBC9DA75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DE7D24F-B830-476B-BC58-E24EAAE3CF8D}"/>
              </a:ext>
            </a:extLst>
          </p:cNvPr>
          <p:cNvSpPr>
            <a:spLocks noGrp="1"/>
          </p:cNvSpPr>
          <p:nvPr/>
        </p:nvSpPr>
        <p:spPr>
          <a:xfrm>
            <a:off x="368475" y="292632"/>
            <a:ext cx="4736925" cy="9093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5800">
                <a:solidFill>
                  <a:srgbClr val="FFFFFF"/>
                </a:solidFill>
                <a:latin typeface="MiSans Medium"/>
                <a:ea typeface="MiSans Medium"/>
                <a:cs typeface="MiSans Medium"/>
              </a:rPr>
              <a:t>2026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0D7011D-F411-4AE6-85B3-378915BD2657}"/>
              </a:ext>
            </a:extLst>
          </p:cNvPr>
          <p:cNvSpPr>
            <a:spLocks noGrp="1"/>
          </p:cNvSpPr>
          <p:nvPr/>
        </p:nvSpPr>
        <p:spPr>
          <a:xfrm>
            <a:off x="368474" y="1191928"/>
            <a:ext cx="4556737" cy="102848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4800">
                <a:solidFill>
                  <a:srgbClr val="FFFFFF"/>
                </a:solidFill>
                <a:latin typeface="MiSans Medium"/>
                <a:ea typeface="MiSans Medium"/>
                <a:cs typeface="MiSans Medium"/>
              </a:rPr>
              <a:t>产品规划方案</a:t>
            </a:r>
          </a:p>
          <a:p>
            <a:r>
              <a:rPr sz="1600" b="1">
                <a:solidFill>
                  <a:schemeClr val="bg1"/>
                </a:solidFill>
              </a:rPr>
              <a:t>Product Planning Proposal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A45D615-DAB5-8683-564E-1A536F46AB56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产品规划汇报</a:t>
            </a:r>
          </a:p>
        </p:txBody>
      </p:sp>
      <p:grpSp>
        <p:nvGrpSpPr>
          <p:cNvPr id="4" name="object 8">
            <a:extLst>
              <a:ext uri="{FF2B5EF4-FFF2-40B4-BE49-F238E27FC236}">
                <a16:creationId xmlns:a16="http://schemas.microsoft.com/office/drawing/2014/main" id="{7B886E64-0305-2D65-C53E-1B35991D1093}"/>
              </a:ext>
            </a:extLst>
          </p:cNvPr>
          <p:cNvGrpSpPr/>
          <p:nvPr/>
        </p:nvGrpSpPr>
        <p:grpSpPr>
          <a:xfrm>
            <a:off x="3761491" y="-1179298"/>
            <a:ext cx="5750983" cy="6322797"/>
            <a:chOff x="10429002" y="671183"/>
            <a:chExt cx="9675495" cy="10637520"/>
          </a:xfrm>
        </p:grpSpPr>
        <p:pic>
          <p:nvPicPr>
            <p:cNvPr id="5" name="object 9">
              <a:extLst>
                <a:ext uri="{FF2B5EF4-FFF2-40B4-BE49-F238E27FC236}">
                  <a16:creationId xmlns:a16="http://schemas.microsoft.com/office/drawing/2014/main" id="{66A461B9-1663-8836-CD54-4222901BB7D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29002" y="671183"/>
              <a:ext cx="9675098" cy="10637372"/>
            </a:xfrm>
            <a:prstGeom prst="rect">
              <a:avLst/>
            </a:prstGeom>
          </p:spPr>
        </p:pic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1785B829-DC35-49E8-E0C0-070CEE88306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45175" y="10760882"/>
              <a:ext cx="868897" cy="1538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714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">
            <a:extLst>
              <a:ext uri="{FF2B5EF4-FFF2-40B4-BE49-F238E27FC236}">
                <a16:creationId xmlns:a16="http://schemas.microsoft.com/office/drawing/2014/main" id="{9F335AC6-07CD-3D12-B774-8F1050DA7080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6EA2142-0B13-4DFF-97BA-24DB9C0FBEC9}"/>
              </a:ext>
            </a:extLst>
          </p:cNvPr>
          <p:cNvSpPr>
            <a:spLocks noGrp="1"/>
          </p:cNvSpPr>
          <p:nvPr/>
        </p:nvSpPr>
        <p:spPr>
          <a:xfrm>
            <a:off x="8847744" y="4845983"/>
            <a:ext cx="73660" cy="23876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目录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34CB0EF-BEEE-42B6-915F-BFF0D9F634F1}"/>
              </a:ext>
            </a:extLst>
          </p:cNvPr>
          <p:cNvSpPr>
            <a:spLocks noGrp="1"/>
          </p:cNvSpPr>
          <p:nvPr/>
        </p:nvSpPr>
        <p:spPr>
          <a:xfrm>
            <a:off x="207667" y="4845983"/>
            <a:ext cx="812165" cy="228268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7CD9264-D50E-4855-A57C-C1442EB1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724" y="512125"/>
            <a:ext cx="3732876" cy="57404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3600" b="1">
                <a:solidFill>
                  <a:schemeClr val="bg1"/>
                </a:solidFill>
                <a:latin typeface="MiSans"/>
                <a:ea typeface="MiSans"/>
                <a:cs typeface="MiSans"/>
              </a:rPr>
              <a:t>规划概要</a:t>
            </a:r>
          </a:p>
        </p:txBody>
      </p:sp>
      <p:pic>
        <p:nvPicPr>
          <p:cNvPr id="34" name="objec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831" y="2356750"/>
            <a:ext cx="194213" cy="253011"/>
          </a:xfrm>
          <a:prstGeom prst="rect">
            <a:avLst/>
          </a:prstGeom>
        </p:spPr>
      </p:pic>
      <p:pic>
        <p:nvPicPr>
          <p:cNvPr id="35" name="object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038" y="2356750"/>
            <a:ext cx="155667" cy="247614"/>
          </a:xfrm>
          <a:prstGeom prst="rect">
            <a:avLst/>
          </a:prstGeom>
        </p:spPr>
      </p:pic>
      <p:pic>
        <p:nvPicPr>
          <p:cNvPr id="36" name="object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804" y="4231334"/>
            <a:ext cx="179675" cy="242219"/>
          </a:xfrm>
          <a:prstGeom prst="rect">
            <a:avLst/>
          </a:prstGeom>
        </p:spPr>
      </p:pic>
      <p:pic>
        <p:nvPicPr>
          <p:cNvPr id="37" name="object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831" y="4225938"/>
            <a:ext cx="194213" cy="253011"/>
          </a:xfrm>
          <a:prstGeom prst="rect">
            <a:avLst/>
          </a:prstGeom>
        </p:spPr>
      </p:pic>
      <p:pic>
        <p:nvPicPr>
          <p:cNvPr id="38" name="object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831" y="3291344"/>
            <a:ext cx="194213" cy="253010"/>
          </a:xfrm>
          <a:prstGeom prst="rect">
            <a:avLst/>
          </a:prstGeom>
        </p:spPr>
      </p:pic>
      <p:pic>
        <p:nvPicPr>
          <p:cNvPr id="39" name="object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8822" y="3291344"/>
            <a:ext cx="164037" cy="253010"/>
          </a:xfrm>
          <a:prstGeom prst="rect">
            <a:avLst/>
          </a:prstGeom>
        </p:spPr>
      </p:pic>
      <p:sp>
        <p:nvSpPr>
          <p:cNvPr id="18" name="object 18">
            <a:extLst>
              <a:ext uri="{FF2B5EF4-FFF2-40B4-BE49-F238E27FC236}">
                <a16:creationId xmlns:a16="http://schemas.microsoft.com/office/drawing/2014/main" id="{D2609CCF-4330-4D32-81D5-E7F3C57BE59C}"/>
              </a:ext>
            </a:extLst>
          </p:cNvPr>
          <p:cNvSpPr>
            <a:spLocks noGrp="1"/>
          </p:cNvSpPr>
          <p:nvPr/>
        </p:nvSpPr>
        <p:spPr>
          <a:xfrm>
            <a:off x="2927774" y="2950580"/>
            <a:ext cx="5080000" cy="0"/>
          </a:xfrm>
          <a:custGeom>
            <a:avLst/>
            <a:gdLst/>
            <a:ahLst/>
            <a:cxnLst/>
            <a:rect l="l" t="t" r="r" b="b"/>
            <a:pathLst>
              <a:path w="5080000">
                <a:moveTo>
                  <a:pt x="0" y="0"/>
                </a:moveTo>
                <a:lnTo>
                  <a:pt x="5079899" y="0"/>
                </a:lnTo>
              </a:path>
            </a:pathLst>
          </a:custGeom>
          <a:ln w="9524">
            <a:solidFill>
              <a:srgbClr val="5F6368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240D9D4-20F9-452F-BABE-F13FC4836242}"/>
              </a:ext>
            </a:extLst>
          </p:cNvPr>
          <p:cNvSpPr>
            <a:spLocks noGrp="1"/>
          </p:cNvSpPr>
          <p:nvPr/>
        </p:nvSpPr>
        <p:spPr>
          <a:xfrm>
            <a:off x="2927774" y="3885174"/>
            <a:ext cx="5080000" cy="0"/>
          </a:xfrm>
          <a:custGeom>
            <a:avLst/>
            <a:gdLst/>
            <a:ahLst/>
            <a:cxnLst/>
            <a:rect l="l" t="t" r="r" b="b"/>
            <a:pathLst>
              <a:path w="5080000">
                <a:moveTo>
                  <a:pt x="0" y="0"/>
                </a:moveTo>
                <a:lnTo>
                  <a:pt x="5079899" y="0"/>
                </a:lnTo>
              </a:path>
            </a:pathLst>
          </a:custGeom>
          <a:ln w="9524">
            <a:solidFill>
              <a:srgbClr val="5F6368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8A2DC5E-8C59-48B8-B7C8-F76E67952306}"/>
              </a:ext>
            </a:extLst>
          </p:cNvPr>
          <p:cNvSpPr>
            <a:spLocks noGrp="1"/>
          </p:cNvSpPr>
          <p:nvPr/>
        </p:nvSpPr>
        <p:spPr>
          <a:xfrm>
            <a:off x="4136886" y="1578902"/>
            <a:ext cx="2497455" cy="261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5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市场与用户洞察</a:t>
            </a:r>
          </a:p>
        </p:txBody>
      </p:sp>
      <p:pic>
        <p:nvPicPr>
          <p:cNvPr id="43" name="object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542" y="0"/>
            <a:ext cx="3035457" cy="1131541"/>
          </a:xfrm>
          <a:prstGeom prst="rect">
            <a:avLst/>
          </a:prstGeom>
        </p:spPr>
      </p:pic>
      <p:pic>
        <p:nvPicPr>
          <p:cNvPr id="44" name="object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831" y="1592200"/>
            <a:ext cx="194213" cy="253011"/>
          </a:xfrm>
          <a:prstGeom prst="rect">
            <a:avLst/>
          </a:prstGeom>
        </p:spPr>
      </p:pic>
      <p:pic>
        <p:nvPicPr>
          <p:cNvPr id="45" name="object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9152" y="1597597"/>
            <a:ext cx="101483" cy="242218"/>
          </a:xfrm>
          <a:prstGeom prst="rect">
            <a:avLst/>
          </a:prstGeom>
        </p:spPr>
      </p:pic>
      <p:sp>
        <p:nvSpPr>
          <p:cNvPr id="29" name="object 29">
            <a:extLst>
              <a:ext uri="{FF2B5EF4-FFF2-40B4-BE49-F238E27FC236}">
                <a16:creationId xmlns:a16="http://schemas.microsoft.com/office/drawing/2014/main" id="{0D82BCF2-8AA4-4554-8294-CE18DBD3B350}"/>
              </a:ext>
            </a:extLst>
          </p:cNvPr>
          <p:cNvSpPr>
            <a:spLocks noGrp="1"/>
          </p:cNvSpPr>
          <p:nvPr/>
        </p:nvSpPr>
        <p:spPr>
          <a:xfrm>
            <a:off x="2927774" y="2097074"/>
            <a:ext cx="5080000" cy="0"/>
          </a:xfrm>
          <a:custGeom>
            <a:avLst/>
            <a:gdLst/>
            <a:ahLst/>
            <a:cxnLst/>
            <a:rect l="l" t="t" r="r" b="b"/>
            <a:pathLst>
              <a:path w="5080000">
                <a:moveTo>
                  <a:pt x="0" y="0"/>
                </a:moveTo>
                <a:lnTo>
                  <a:pt x="5079899" y="0"/>
                </a:lnTo>
              </a:path>
            </a:pathLst>
          </a:custGeom>
          <a:ln w="9524">
            <a:solidFill>
              <a:srgbClr val="5F6368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AEDBE0DD-7466-3E25-F52B-777342CCC880}"/>
              </a:ext>
            </a:extLst>
          </p:cNvPr>
          <p:cNvSpPr>
            <a:spLocks noGrp="1"/>
          </p:cNvSpPr>
          <p:nvPr/>
        </p:nvSpPr>
        <p:spPr>
          <a:xfrm>
            <a:off x="4136885" y="2363896"/>
            <a:ext cx="2497455" cy="261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5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产品定位与价值主张</a:t>
            </a:r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156C8626-302E-2F6D-E563-7115703FD8FF}"/>
              </a:ext>
            </a:extLst>
          </p:cNvPr>
          <p:cNvSpPr>
            <a:spLocks noGrp="1"/>
          </p:cNvSpPr>
          <p:nvPr/>
        </p:nvSpPr>
        <p:spPr>
          <a:xfrm>
            <a:off x="4136885" y="3297751"/>
            <a:ext cx="2497455" cy="261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5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路线图与里程碑</a:t>
            </a:r>
          </a:p>
        </p:txBody>
      </p:sp>
      <p:sp>
        <p:nvSpPr>
          <p:cNvPr id="4" name="object 22">
            <a:extLst>
              <a:ext uri="{FF2B5EF4-FFF2-40B4-BE49-F238E27FC236}">
                <a16:creationId xmlns:a16="http://schemas.microsoft.com/office/drawing/2014/main" id="{79D7FB13-F6CC-8B39-5EDB-9964DDC0D8A4}"/>
              </a:ext>
            </a:extLst>
          </p:cNvPr>
          <p:cNvSpPr>
            <a:spLocks noGrp="1"/>
          </p:cNvSpPr>
          <p:nvPr/>
        </p:nvSpPr>
        <p:spPr>
          <a:xfrm>
            <a:off x="4136885" y="4231606"/>
            <a:ext cx="2497455" cy="261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5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资源与风险计划</a:t>
            </a:r>
          </a:p>
        </p:txBody>
      </p:sp>
    </p:spTree>
    <p:extLst>
      <p:ext uri="{BB962C8B-B14F-4D97-AF65-F5344CB8AC3E}">
        <p14:creationId xmlns:p14="http://schemas.microsoft.com/office/powerpoint/2010/main" val="167906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EE17C472-8279-4419-B620-5597AA21C5BB}"/>
              </a:ext>
            </a:extLst>
          </p:cNvPr>
          <p:cNvSpPr>
            <a:spLocks noGrp="1"/>
          </p:cNvSpPr>
          <p:nvPr/>
        </p:nvSpPr>
        <p:spPr>
          <a:xfrm>
            <a:off x="8429529" y="155569"/>
            <a:ext cx="492125" cy="1320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>
                <a:solidFill>
                  <a:srgbClr val="FFFFFF"/>
                </a:solidFill>
                <a:latin typeface="MiSans Medium"/>
                <a:ea typeface="MiSans Medium"/>
                <a:cs typeface="MiSans Medium"/>
              </a:rPr>
              <a:t>内部资料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C248317-7338-417F-9A36-7789B794C4FF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AE22FBE-8017-4B2C-9667-257C1915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25" y="416562"/>
            <a:ext cx="7883525" cy="188849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6100">
                <a:solidFill>
                  <a:srgbClr val="FFFFFF"/>
                </a:solidFill>
              </a:rPr>
              <a:t>01.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  <a:buNone/>
            </a:pPr>
            <a:r>
              <a:rPr sz="6100">
                <a:solidFill>
                  <a:srgbClr val="FFFFFF"/>
                </a:solidFill>
              </a:rPr>
              <a:t>规划目标与总体思路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9E5A298-D5B7-49B1-81A6-8EBD3369E62E}"/>
              </a:ext>
            </a:extLst>
          </p:cNvPr>
          <p:cNvSpPr>
            <a:spLocks noGrp="1"/>
          </p:cNvSpPr>
          <p:nvPr/>
        </p:nvSpPr>
        <p:spPr>
          <a:xfrm>
            <a:off x="295250" y="3483008"/>
            <a:ext cx="7019950" cy="7569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600">
                <a:solidFill>
                  <a:srgbClr val="F7F9FA"/>
                </a:solidFill>
                <a:latin typeface="MiSans Medium"/>
                <a:ea typeface="MiSans Medium"/>
                <a:cs typeface="MiSans Medium"/>
              </a:rPr>
              <a:t>本方案围绕目标用户、核心场景与商业目标，规划产品从需求验证到规模化增长的完整路径。通过统一目标、能力边界、版本节奏和衡量指标，确保产品投入聚焦、交付可控、价值可量化。</a:t>
            </a:r>
          </a:p>
        </p:txBody>
      </p:sp>
    </p:spTree>
    <p:extLst>
      <p:ext uri="{BB962C8B-B14F-4D97-AF65-F5344CB8AC3E}">
        <p14:creationId xmlns:p14="http://schemas.microsoft.com/office/powerpoint/2010/main" val="1264173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2">
            <a:extLst>
              <a:ext uri="{FF2B5EF4-FFF2-40B4-BE49-F238E27FC236}">
                <a16:creationId xmlns:a16="http://schemas.microsoft.com/office/drawing/2014/main" id="{E89972AA-0879-E120-FCA1-DDED822E6E9D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20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721" y="0"/>
            <a:ext cx="2429277" cy="215837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BAF4031-F046-432D-9C63-E3B861403329}"/>
              </a:ext>
            </a:extLst>
          </p:cNvPr>
          <p:cNvSpPr>
            <a:spLocks noGrp="1"/>
          </p:cNvSpPr>
          <p:nvPr/>
        </p:nvSpPr>
        <p:spPr>
          <a:xfrm>
            <a:off x="8429529" y="155569"/>
            <a:ext cx="492125" cy="1320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内部资料</a:t>
            </a:r>
          </a:p>
        </p:txBody>
      </p:sp>
      <p:pic>
        <p:nvPicPr>
          <p:cNvPr id="22" name="object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097" y="999098"/>
            <a:ext cx="4884675" cy="37707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CD181D6-7C2E-4777-95D3-94139A631C8A}"/>
              </a:ext>
            </a:extLst>
          </p:cNvPr>
          <p:cNvSpPr>
            <a:spLocks noGrp="1"/>
          </p:cNvSpPr>
          <p:nvPr/>
        </p:nvSpPr>
        <p:spPr>
          <a:xfrm>
            <a:off x="4103849" y="997324"/>
            <a:ext cx="4818380" cy="3704590"/>
          </a:xfrm>
          <a:custGeom>
            <a:avLst/>
            <a:gdLst/>
            <a:ahLst/>
            <a:cxnLst/>
            <a:rect l="l" t="t" r="r" b="b"/>
            <a:pathLst>
              <a:path w="4818380" h="3704590">
                <a:moveTo>
                  <a:pt x="4708432" y="3704099"/>
                </a:moveTo>
                <a:lnTo>
                  <a:pt x="109567" y="3704099"/>
                </a:lnTo>
                <a:lnTo>
                  <a:pt x="66918" y="3695489"/>
                </a:lnTo>
                <a:lnTo>
                  <a:pt x="32091" y="3672008"/>
                </a:lnTo>
                <a:lnTo>
                  <a:pt x="8610" y="3637181"/>
                </a:lnTo>
                <a:lnTo>
                  <a:pt x="0" y="3594532"/>
                </a:lnTo>
                <a:lnTo>
                  <a:pt x="0" y="109567"/>
                </a:lnTo>
                <a:lnTo>
                  <a:pt x="8610" y="66918"/>
                </a:lnTo>
                <a:lnTo>
                  <a:pt x="32091" y="32091"/>
                </a:lnTo>
                <a:lnTo>
                  <a:pt x="66918" y="8610"/>
                </a:lnTo>
                <a:lnTo>
                  <a:pt x="109567" y="0"/>
                </a:lnTo>
                <a:lnTo>
                  <a:pt x="4708432" y="0"/>
                </a:lnTo>
                <a:lnTo>
                  <a:pt x="4750362" y="8340"/>
                </a:lnTo>
                <a:lnTo>
                  <a:pt x="4785908" y="32091"/>
                </a:lnTo>
                <a:lnTo>
                  <a:pt x="4809659" y="67637"/>
                </a:lnTo>
                <a:lnTo>
                  <a:pt x="4817999" y="109567"/>
                </a:lnTo>
                <a:lnTo>
                  <a:pt x="4817999" y="3594532"/>
                </a:lnTo>
                <a:lnTo>
                  <a:pt x="4809389" y="3637181"/>
                </a:lnTo>
                <a:lnTo>
                  <a:pt x="4785908" y="3672008"/>
                </a:lnTo>
                <a:lnTo>
                  <a:pt x="4751081" y="3695489"/>
                </a:lnTo>
                <a:lnTo>
                  <a:pt x="4708432" y="3704099"/>
                </a:lnTo>
                <a:close/>
              </a:path>
            </a:pathLst>
          </a:custGeom>
          <a:solidFill>
            <a:srgbClr val="2C2D3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2DFA572-88EE-44AE-96BC-CD3E71F64949}"/>
              </a:ext>
            </a:extLst>
          </p:cNvPr>
          <p:cNvSpPr>
            <a:spLocks noGrp="1"/>
          </p:cNvSpPr>
          <p:nvPr/>
        </p:nvSpPr>
        <p:spPr>
          <a:xfrm>
            <a:off x="4103849" y="997324"/>
            <a:ext cx="4818380" cy="3704590"/>
          </a:xfrm>
          <a:custGeom>
            <a:avLst/>
            <a:gdLst/>
            <a:ahLst/>
            <a:cxnLst/>
            <a:rect l="l" t="t" r="r" b="b"/>
            <a:pathLst>
              <a:path w="4818380" h="3704590">
                <a:moveTo>
                  <a:pt x="0" y="109567"/>
                </a:moveTo>
                <a:lnTo>
                  <a:pt x="8610" y="66918"/>
                </a:lnTo>
                <a:lnTo>
                  <a:pt x="32091" y="32091"/>
                </a:lnTo>
                <a:lnTo>
                  <a:pt x="66918" y="8610"/>
                </a:lnTo>
                <a:lnTo>
                  <a:pt x="109567" y="0"/>
                </a:lnTo>
                <a:lnTo>
                  <a:pt x="4708432" y="0"/>
                </a:lnTo>
                <a:lnTo>
                  <a:pt x="4750362" y="8340"/>
                </a:lnTo>
                <a:lnTo>
                  <a:pt x="4785908" y="32091"/>
                </a:lnTo>
                <a:lnTo>
                  <a:pt x="4809659" y="67637"/>
                </a:lnTo>
                <a:lnTo>
                  <a:pt x="4817999" y="109567"/>
                </a:lnTo>
                <a:lnTo>
                  <a:pt x="4817999" y="3594532"/>
                </a:lnTo>
                <a:lnTo>
                  <a:pt x="4809389" y="3637181"/>
                </a:lnTo>
                <a:lnTo>
                  <a:pt x="4785908" y="3672008"/>
                </a:lnTo>
                <a:lnTo>
                  <a:pt x="4751081" y="3695489"/>
                </a:lnTo>
                <a:lnTo>
                  <a:pt x="4708432" y="3704099"/>
                </a:lnTo>
                <a:lnTo>
                  <a:pt x="109567" y="3704099"/>
                </a:lnTo>
                <a:lnTo>
                  <a:pt x="66918" y="3695489"/>
                </a:lnTo>
                <a:lnTo>
                  <a:pt x="32091" y="3672008"/>
                </a:lnTo>
                <a:lnTo>
                  <a:pt x="8610" y="3637181"/>
                </a:lnTo>
                <a:lnTo>
                  <a:pt x="0" y="3594532"/>
                </a:lnTo>
                <a:lnTo>
                  <a:pt x="0" y="109567"/>
                </a:lnTo>
                <a:close/>
              </a:path>
            </a:pathLst>
          </a:custGeom>
          <a:ln w="9524">
            <a:solidFill>
              <a:srgbClr val="EA4335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25" name="object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2041037"/>
            <a:ext cx="201167" cy="160019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E8F2D20C-DE25-4E5C-AB26-48A0CB194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77445"/>
            <a:ext cx="6705600" cy="48260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dirty="0" err="1">
                <a:solidFill>
                  <a:schemeClr val="bg1"/>
                </a:solidFill>
              </a:rPr>
              <a:t>产品规划全景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7" name="object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89749"/>
            <a:ext cx="1705267" cy="2557912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61DE5872-C96D-46D2-8A85-F85991C65613}"/>
              </a:ext>
            </a:extLst>
          </p:cNvPr>
          <p:cNvSpPr>
            <a:spLocks noGrp="1"/>
          </p:cNvSpPr>
          <p:nvPr/>
        </p:nvSpPr>
        <p:spPr>
          <a:xfrm>
            <a:off x="2429982" y="2001996"/>
            <a:ext cx="718185" cy="2235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>
                <a:solidFill>
                  <a:srgbClr val="EA4335"/>
                </a:solidFill>
                <a:latin typeface="MiSans Medium"/>
                <a:ea typeface="MiSans Medium"/>
                <a:cs typeface="MiSans Medium"/>
              </a:rPr>
              <a:t>用户场景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EBFE607-E64D-4153-84EC-257FC84379FA}"/>
              </a:ext>
            </a:extLst>
          </p:cNvPr>
          <p:cNvSpPr>
            <a:spLocks noGrp="1"/>
          </p:cNvSpPr>
          <p:nvPr/>
        </p:nvSpPr>
        <p:spPr>
          <a:xfrm>
            <a:off x="2432164" y="2501078"/>
            <a:ext cx="1128633" cy="2235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核心能力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9FB26FC-C41C-416B-A464-61CD908C30C8}"/>
              </a:ext>
            </a:extLst>
          </p:cNvPr>
          <p:cNvSpPr>
            <a:spLocks noGrp="1"/>
          </p:cNvSpPr>
          <p:nvPr/>
        </p:nvSpPr>
        <p:spPr>
          <a:xfrm>
            <a:off x="2429982" y="2979120"/>
            <a:ext cx="1173480" cy="412934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数据智能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E7D5859-B4F1-43B2-9EF2-31F3A9A887BC}"/>
              </a:ext>
            </a:extLst>
          </p:cNvPr>
          <p:cNvSpPr>
            <a:spLocks noGrp="1"/>
          </p:cNvSpPr>
          <p:nvPr/>
        </p:nvSpPr>
        <p:spPr>
          <a:xfrm>
            <a:off x="2427800" y="3648376"/>
            <a:ext cx="1594256" cy="2235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技术底座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A32025E-B39E-4B09-A825-D39FC0EEF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3575" y="1109853"/>
            <a:ext cx="4154170" cy="1182367"/>
          </a:xfrm>
          <a:prstGeom prst="rect">
            <a:avLst/>
          </a:prstGeom>
        </p:spPr>
        <p:txBody>
          <a:bodyPr vert="horz" wrap="square" lIns="0" tIns="14859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  <a:buNone/>
            </a:pPr>
            <a:r>
              <a:rPr>
                <a:solidFill>
                  <a:schemeClr val="bg1"/>
                </a:solidFill>
              </a:rPr>
              <a:t>规划重点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None/>
            </a:pPr>
            <a:r>
              <a:rPr sz="1200">
                <a:solidFill>
                  <a:srgbClr val="EA4335"/>
                </a:solidFill>
              </a:rPr>
              <a:t>目标用户与关键任务</a:t>
            </a:r>
          </a:p>
          <a:p>
            <a:pPr marL="12700">
              <a:lnSpc>
                <a:spcPct val="114999"/>
              </a:lnSpc>
              <a:spcBef>
                <a:spcPts val="45"/>
              </a:spcBef>
              <a:buNone/>
            </a:pPr>
            <a:r>
              <a:rPr sz="1000">
                <a:solidFill>
                  <a:schemeClr val="bg1"/>
                </a:solidFill>
              </a:rPr>
              <a:t>聚焦高频、高价值、可规模复制的业务场景，优先解决用户在效率、协同、决策中的核心痛点。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52C38F1-99F9-4A0C-BC53-A484A95DF3DB}"/>
              </a:ext>
            </a:extLst>
          </p:cNvPr>
          <p:cNvSpPr>
            <a:spLocks noGrp="1"/>
          </p:cNvSpPr>
          <p:nvPr/>
        </p:nvSpPr>
        <p:spPr>
          <a:xfrm>
            <a:off x="4333575" y="2258847"/>
            <a:ext cx="4078604" cy="631822"/>
          </a:xfrm>
          <a:prstGeom prst="rect">
            <a:avLst/>
          </a:prstGeom>
        </p:spPr>
        <p:txBody>
          <a:bodyPr vert="horz" wrap="square" lIns="0" tIns="4635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buNone/>
            </a:pPr>
            <a:r>
              <a:rPr sz="1200">
                <a:solidFill>
                  <a:srgbClr val="EA4335"/>
                </a:solidFill>
                <a:latin typeface="MiSans Medium"/>
                <a:ea typeface="MiSans Medium"/>
                <a:cs typeface="MiSans Medium"/>
              </a:rPr>
              <a:t>体验与流程</a:t>
            </a:r>
          </a:p>
          <a:p>
            <a:pPr marL="12700">
              <a:lnSpc>
                <a:spcPct val="114999"/>
              </a:lnSpc>
              <a:spcBef>
                <a:spcPts val="45"/>
              </a:spcBef>
              <a:buNone/>
            </a:pPr>
            <a:r>
              <a:rPr sz="10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围绕端到端任务闭环设计产品流程，减少切换成本，提升任务完成率与使用留存。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8A2A20BB-BA33-4D24-8E6F-AE1CF73C14C4}"/>
              </a:ext>
            </a:extLst>
          </p:cNvPr>
          <p:cNvSpPr>
            <a:spLocks noGrp="1"/>
          </p:cNvSpPr>
          <p:nvPr/>
        </p:nvSpPr>
        <p:spPr>
          <a:xfrm>
            <a:off x="4333575" y="2959886"/>
            <a:ext cx="3884295" cy="631822"/>
          </a:xfrm>
          <a:prstGeom prst="rect">
            <a:avLst/>
          </a:prstGeom>
        </p:spPr>
        <p:txBody>
          <a:bodyPr vert="horz" wrap="square" lIns="0" tIns="4635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buNone/>
            </a:pPr>
            <a:r>
              <a:rPr sz="1200">
                <a:solidFill>
                  <a:srgbClr val="EA4335"/>
                </a:solidFill>
                <a:latin typeface="MiSans Medium"/>
                <a:ea typeface="MiSans Medium"/>
                <a:cs typeface="MiSans Medium"/>
              </a:rPr>
              <a:t>平台能力</a:t>
            </a:r>
          </a:p>
          <a:p>
            <a:pPr marL="12700">
              <a:lnSpc>
                <a:spcPct val="114999"/>
              </a:lnSpc>
              <a:spcBef>
                <a:spcPts val="45"/>
              </a:spcBef>
              <a:buNone/>
            </a:pPr>
            <a:r>
              <a:rPr sz="10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沉淀权限、数据、配置、自动化与集成能力，支持后续多场景扩展和快速迭代。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FFBF895-F358-4097-8A0E-7DD0DAF3CB16}"/>
              </a:ext>
            </a:extLst>
          </p:cNvPr>
          <p:cNvSpPr>
            <a:spLocks noGrp="1"/>
          </p:cNvSpPr>
          <p:nvPr/>
        </p:nvSpPr>
        <p:spPr>
          <a:xfrm>
            <a:off x="4333575" y="3695979"/>
            <a:ext cx="4151629" cy="774065"/>
          </a:xfrm>
          <a:prstGeom prst="rect">
            <a:avLst/>
          </a:prstGeom>
        </p:spPr>
        <p:txBody>
          <a:bodyPr vert="horz" wrap="square" lIns="0" tIns="4635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buNone/>
            </a:pPr>
            <a:r>
              <a:rPr sz="1200">
                <a:solidFill>
                  <a:srgbClr val="EA4335"/>
                </a:solidFill>
                <a:latin typeface="MiSans Medium"/>
                <a:ea typeface="MiSans Medium"/>
                <a:cs typeface="MiSans Medium"/>
              </a:rPr>
              <a:t>增长与运营</a:t>
            </a:r>
          </a:p>
          <a:p>
            <a:pPr marL="12700">
              <a:lnSpc>
                <a:spcPct val="114999"/>
              </a:lnSpc>
              <a:spcBef>
                <a:spcPts val="45"/>
              </a:spcBef>
              <a:buNone/>
            </a:pPr>
            <a:r>
              <a:rPr sz="10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建立试点、反馈、复盘和规模化机制，用数据持续校准产品方向与商业价值。</a:t>
            </a:r>
          </a:p>
        </p:txBody>
      </p:sp>
    </p:spTree>
    <p:extLst>
      <p:ext uri="{BB962C8B-B14F-4D97-AF65-F5344CB8AC3E}">
        <p14:creationId xmlns:p14="http://schemas.microsoft.com/office/powerpoint/2010/main" val="193880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5286E5C0-18F4-2DE2-CE96-B5650C33B47E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13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229" y="0"/>
            <a:ext cx="1912770" cy="135084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834FDAC5-7C76-4043-9BFD-AE86F681A937}"/>
              </a:ext>
            </a:extLst>
          </p:cNvPr>
          <p:cNvSpPr>
            <a:spLocks noGrp="1"/>
          </p:cNvSpPr>
          <p:nvPr/>
        </p:nvSpPr>
        <p:spPr>
          <a:xfrm>
            <a:off x="8429529" y="155569"/>
            <a:ext cx="492125" cy="1320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内部资料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C52D10E-583E-421B-8C70-4FD2499AB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77445"/>
            <a:ext cx="6705600" cy="48260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>
                <a:solidFill>
                  <a:schemeClr val="bg1"/>
                </a:solidFill>
              </a:rPr>
              <a:t>核心能力规划</a:t>
            </a:r>
          </a:p>
        </p:txBody>
      </p:sp>
      <p:pic>
        <p:nvPicPr>
          <p:cNvPr id="16" name="object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097" y="999098"/>
            <a:ext cx="4884675" cy="377077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EE8A43E7-48E0-4370-8BD9-0B9D7B8837AD}"/>
              </a:ext>
            </a:extLst>
          </p:cNvPr>
          <p:cNvSpPr>
            <a:spLocks noGrp="1"/>
          </p:cNvSpPr>
          <p:nvPr/>
        </p:nvSpPr>
        <p:spPr>
          <a:xfrm>
            <a:off x="4103849" y="997324"/>
            <a:ext cx="4818380" cy="3704590"/>
          </a:xfrm>
          <a:custGeom>
            <a:avLst/>
            <a:gdLst/>
            <a:ahLst/>
            <a:cxnLst/>
            <a:rect l="l" t="t" r="r" b="b"/>
            <a:pathLst>
              <a:path w="4818380" h="3704590">
                <a:moveTo>
                  <a:pt x="4708432" y="3704099"/>
                </a:moveTo>
                <a:lnTo>
                  <a:pt x="109567" y="3704099"/>
                </a:lnTo>
                <a:lnTo>
                  <a:pt x="66918" y="3695489"/>
                </a:lnTo>
                <a:lnTo>
                  <a:pt x="32091" y="3672008"/>
                </a:lnTo>
                <a:lnTo>
                  <a:pt x="8610" y="3637181"/>
                </a:lnTo>
                <a:lnTo>
                  <a:pt x="0" y="3594532"/>
                </a:lnTo>
                <a:lnTo>
                  <a:pt x="0" y="109567"/>
                </a:lnTo>
                <a:lnTo>
                  <a:pt x="8610" y="66918"/>
                </a:lnTo>
                <a:lnTo>
                  <a:pt x="32091" y="32091"/>
                </a:lnTo>
                <a:lnTo>
                  <a:pt x="66918" y="8610"/>
                </a:lnTo>
                <a:lnTo>
                  <a:pt x="109567" y="0"/>
                </a:lnTo>
                <a:lnTo>
                  <a:pt x="4708432" y="0"/>
                </a:lnTo>
                <a:lnTo>
                  <a:pt x="4750362" y="8340"/>
                </a:lnTo>
                <a:lnTo>
                  <a:pt x="4785908" y="32091"/>
                </a:lnTo>
                <a:lnTo>
                  <a:pt x="4809659" y="67637"/>
                </a:lnTo>
                <a:lnTo>
                  <a:pt x="4817999" y="109567"/>
                </a:lnTo>
                <a:lnTo>
                  <a:pt x="4817999" y="3594532"/>
                </a:lnTo>
                <a:lnTo>
                  <a:pt x="4809389" y="3637181"/>
                </a:lnTo>
                <a:lnTo>
                  <a:pt x="4785908" y="3672008"/>
                </a:lnTo>
                <a:lnTo>
                  <a:pt x="4751081" y="3695489"/>
                </a:lnTo>
                <a:lnTo>
                  <a:pt x="4708432" y="3704099"/>
                </a:lnTo>
                <a:close/>
              </a:path>
            </a:pathLst>
          </a:custGeom>
          <a:solidFill>
            <a:srgbClr val="2C2D3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8D41D2E-FE4E-49FF-B407-2C2C5D58C151}"/>
              </a:ext>
            </a:extLst>
          </p:cNvPr>
          <p:cNvSpPr>
            <a:spLocks noGrp="1"/>
          </p:cNvSpPr>
          <p:nvPr/>
        </p:nvSpPr>
        <p:spPr>
          <a:xfrm>
            <a:off x="4103849" y="997324"/>
            <a:ext cx="4818380" cy="3704590"/>
          </a:xfrm>
          <a:custGeom>
            <a:avLst/>
            <a:gdLst/>
            <a:ahLst/>
            <a:cxnLst/>
            <a:rect l="l" t="t" r="r" b="b"/>
            <a:pathLst>
              <a:path w="4818380" h="3704590">
                <a:moveTo>
                  <a:pt x="0" y="109567"/>
                </a:moveTo>
                <a:lnTo>
                  <a:pt x="8610" y="66918"/>
                </a:lnTo>
                <a:lnTo>
                  <a:pt x="32091" y="32091"/>
                </a:lnTo>
                <a:lnTo>
                  <a:pt x="66918" y="8610"/>
                </a:lnTo>
                <a:lnTo>
                  <a:pt x="109567" y="0"/>
                </a:lnTo>
                <a:lnTo>
                  <a:pt x="4708432" y="0"/>
                </a:lnTo>
                <a:lnTo>
                  <a:pt x="4750362" y="8340"/>
                </a:lnTo>
                <a:lnTo>
                  <a:pt x="4785908" y="32091"/>
                </a:lnTo>
                <a:lnTo>
                  <a:pt x="4809659" y="67637"/>
                </a:lnTo>
                <a:lnTo>
                  <a:pt x="4817999" y="109567"/>
                </a:lnTo>
                <a:lnTo>
                  <a:pt x="4817999" y="3594532"/>
                </a:lnTo>
                <a:lnTo>
                  <a:pt x="4809389" y="3637181"/>
                </a:lnTo>
                <a:lnTo>
                  <a:pt x="4785908" y="3672008"/>
                </a:lnTo>
                <a:lnTo>
                  <a:pt x="4751081" y="3695489"/>
                </a:lnTo>
                <a:lnTo>
                  <a:pt x="4708432" y="3704099"/>
                </a:lnTo>
                <a:lnTo>
                  <a:pt x="109567" y="3704099"/>
                </a:lnTo>
                <a:lnTo>
                  <a:pt x="66918" y="3695489"/>
                </a:lnTo>
                <a:lnTo>
                  <a:pt x="32091" y="3672008"/>
                </a:lnTo>
                <a:lnTo>
                  <a:pt x="8610" y="3637181"/>
                </a:lnTo>
                <a:lnTo>
                  <a:pt x="0" y="3594532"/>
                </a:lnTo>
                <a:lnTo>
                  <a:pt x="0" y="109567"/>
                </a:lnTo>
                <a:close/>
              </a:path>
            </a:pathLst>
          </a:custGeom>
          <a:ln w="9524">
            <a:solidFill>
              <a:srgbClr val="FABB04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7AB021C-C03D-4DBC-A50D-637945BC8B14}"/>
              </a:ext>
            </a:extLst>
          </p:cNvPr>
          <p:cNvSpPr>
            <a:spLocks noGrp="1"/>
          </p:cNvSpPr>
          <p:nvPr/>
        </p:nvSpPr>
        <p:spPr>
          <a:xfrm>
            <a:off x="4333575" y="1109853"/>
            <a:ext cx="4248785" cy="3497111"/>
          </a:xfrm>
          <a:prstGeom prst="rect">
            <a:avLst/>
          </a:prstGeom>
        </p:spPr>
        <p:txBody>
          <a:bodyPr vert="horz" wrap="square" lIns="0" tIns="14859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  <a:buNone/>
            </a:pPr>
            <a:r>
              <a:rPr sz="16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能力设计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None/>
            </a:pPr>
            <a:r>
              <a:rPr sz="1200">
                <a:solidFill>
                  <a:srgbClr val="34A853"/>
                </a:solidFill>
                <a:latin typeface="MiSans Medium"/>
                <a:ea typeface="MiSans Medium"/>
                <a:cs typeface="MiSans Medium"/>
              </a:rPr>
              <a:t>需求洞察与场景建模</a:t>
            </a:r>
          </a:p>
          <a:p>
            <a:pPr marL="12700">
              <a:lnSpc>
                <a:spcPct val="114999"/>
              </a:lnSpc>
              <a:spcBef>
                <a:spcPts val="45"/>
              </a:spcBef>
              <a:buNone/>
            </a:pPr>
            <a:r>
              <a:rPr sz="10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通过访谈、数据分析和业务流程梳理，识别优先级最高的目标场景，形成可验证的产品假设。</a:t>
            </a:r>
          </a:p>
          <a:p>
            <a:pPr>
              <a:lnSpc>
                <a:spcPct val="100000"/>
              </a:lnSpc>
              <a:spcBef>
                <a:spcPts val="55"/>
              </a:spcBef>
              <a:buNone/>
            </a:pPr>
            <a:endParaRPr sz="1000">
              <a:solidFill>
                <a:schemeClr val="bg1"/>
              </a:solidFill>
              <a:latin typeface="MiSans Medium"/>
              <a:ea typeface="MiSans Medium"/>
              <a:cs typeface="MiSans Medium"/>
            </a:endParaRPr>
          </a:p>
          <a:p>
            <a:pPr marL="12700">
              <a:lnSpc>
                <a:spcPct val="100000"/>
              </a:lnSpc>
              <a:buNone/>
            </a:pPr>
            <a:r>
              <a:rPr sz="1200">
                <a:solidFill>
                  <a:srgbClr val="34A853"/>
                </a:solidFill>
                <a:latin typeface="MiSans Medium"/>
                <a:ea typeface="MiSans Medium"/>
                <a:cs typeface="MiSans Medium"/>
              </a:rPr>
              <a:t>MVP 与体验闭环</a:t>
            </a:r>
          </a:p>
          <a:p>
            <a:pPr marL="12700">
              <a:lnSpc>
                <a:spcPct val="114999"/>
              </a:lnSpc>
              <a:spcBef>
                <a:spcPts val="45"/>
              </a:spcBef>
              <a:buNone/>
            </a:pPr>
            <a:r>
              <a:rPr sz="10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以最小可用版本验证核心价值，覆盖发现、使用、反馈和运营触达的完整链路。</a:t>
            </a:r>
          </a:p>
          <a:p>
            <a:pPr>
              <a:lnSpc>
                <a:spcPct val="100000"/>
              </a:lnSpc>
              <a:spcBef>
                <a:spcPts val="50"/>
              </a:spcBef>
              <a:buNone/>
            </a:pPr>
            <a:endParaRPr sz="1000">
              <a:solidFill>
                <a:schemeClr val="bg1"/>
              </a:solidFill>
              <a:latin typeface="MiSans Medium"/>
              <a:ea typeface="MiSans Medium"/>
              <a:cs typeface="MiSans Medium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None/>
            </a:pPr>
            <a:r>
              <a:rPr sz="1200">
                <a:solidFill>
                  <a:srgbClr val="34A853"/>
                </a:solidFill>
                <a:latin typeface="MiSans Medium"/>
                <a:ea typeface="MiSans Medium"/>
                <a:cs typeface="MiSans Medium"/>
              </a:rPr>
              <a:t>产品能力矩阵</a:t>
            </a:r>
          </a:p>
          <a:p>
            <a:pPr marL="240029" indent="-126364">
              <a:lnSpc>
                <a:spcPct val="100000"/>
              </a:lnSpc>
              <a:spcBef>
                <a:spcPts val="220"/>
              </a:spcBef>
              <a:buChar char="●"/>
            </a:pPr>
            <a:r>
              <a:rPr sz="10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场景入口与任务流程</a:t>
            </a:r>
          </a:p>
          <a:p>
            <a:pPr marL="240029" indent="-126364">
              <a:lnSpc>
                <a:spcPct val="100000"/>
              </a:lnSpc>
              <a:spcBef>
                <a:spcPts val="180"/>
              </a:spcBef>
              <a:buChar char="●"/>
            </a:pPr>
            <a:r>
              <a:rPr sz="10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数据看板与指标追踪</a:t>
            </a:r>
          </a:p>
          <a:p>
            <a:pPr marL="240029" indent="-126364">
              <a:lnSpc>
                <a:spcPct val="100000"/>
              </a:lnSpc>
              <a:spcBef>
                <a:spcPts val="180"/>
              </a:spcBef>
              <a:buChar char="●"/>
            </a:pPr>
            <a:r>
              <a:rPr sz="10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权限、配置与协同机制</a:t>
            </a:r>
          </a:p>
          <a:p>
            <a:pPr marL="240029" indent="-126364">
              <a:lnSpc>
                <a:spcPct val="100000"/>
              </a:lnSpc>
              <a:spcBef>
                <a:spcPts val="180"/>
              </a:spcBef>
              <a:buChar char="●"/>
            </a:pPr>
            <a:r>
              <a:rPr sz="10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自动化提醒与规则引擎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19C81D1-01C8-44F7-9995-2F70E87F323C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6364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pic>
        <p:nvPicPr>
          <p:cNvPr id="21" name="object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2041037"/>
            <a:ext cx="201167" cy="160019"/>
          </a:xfrm>
          <a:prstGeom prst="rect">
            <a:avLst/>
          </a:prstGeom>
        </p:spPr>
      </p:pic>
      <p:pic>
        <p:nvPicPr>
          <p:cNvPr id="22" name="object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89749"/>
            <a:ext cx="1705267" cy="2557912"/>
          </a:xfrm>
          <a:prstGeom prst="rect">
            <a:avLst/>
          </a:prstGeom>
        </p:spPr>
      </p:pic>
      <p:sp>
        <p:nvSpPr>
          <p:cNvPr id="15" name="object 11">
            <a:extLst>
              <a:ext uri="{FF2B5EF4-FFF2-40B4-BE49-F238E27FC236}">
                <a16:creationId xmlns:a16="http://schemas.microsoft.com/office/drawing/2014/main" id="{C791B2B2-D67D-DEEE-CEB9-1D28905DB4F3}"/>
              </a:ext>
            </a:extLst>
          </p:cNvPr>
          <p:cNvSpPr>
            <a:spLocks noGrp="1"/>
          </p:cNvSpPr>
          <p:nvPr/>
        </p:nvSpPr>
        <p:spPr>
          <a:xfrm>
            <a:off x="2429982" y="2001996"/>
            <a:ext cx="718185" cy="2235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>
                <a:solidFill>
                  <a:srgbClr val="34A853"/>
                </a:solidFill>
                <a:latin typeface="MiSans Medium"/>
                <a:ea typeface="MiSans Medium"/>
                <a:cs typeface="MiSans Medium"/>
              </a:rPr>
              <a:t>用户场景</a:t>
            </a:r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D1D9C81E-B04A-D789-29E9-9391B76BB76A}"/>
              </a:ext>
            </a:extLst>
          </p:cNvPr>
          <p:cNvSpPr>
            <a:spLocks noGrp="1"/>
          </p:cNvSpPr>
          <p:nvPr/>
        </p:nvSpPr>
        <p:spPr>
          <a:xfrm>
            <a:off x="2432164" y="2501078"/>
            <a:ext cx="1128633" cy="2235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核心能力</a:t>
            </a: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13CA7F3D-2301-48D3-65DE-C81EF3B3D0DE}"/>
              </a:ext>
            </a:extLst>
          </p:cNvPr>
          <p:cNvSpPr>
            <a:spLocks noGrp="1"/>
          </p:cNvSpPr>
          <p:nvPr/>
        </p:nvSpPr>
        <p:spPr>
          <a:xfrm>
            <a:off x="2429982" y="2979120"/>
            <a:ext cx="1173480" cy="412934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数据智能</a:t>
            </a: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83324920-85DE-4663-B71C-9B14BB594F13}"/>
              </a:ext>
            </a:extLst>
          </p:cNvPr>
          <p:cNvSpPr>
            <a:spLocks noGrp="1"/>
          </p:cNvSpPr>
          <p:nvPr/>
        </p:nvSpPr>
        <p:spPr>
          <a:xfrm>
            <a:off x="2427800" y="3648376"/>
            <a:ext cx="1594256" cy="2235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技术底座</a:t>
            </a:r>
          </a:p>
        </p:txBody>
      </p:sp>
    </p:spTree>
    <p:extLst>
      <p:ext uri="{BB962C8B-B14F-4D97-AF65-F5344CB8AC3E}">
        <p14:creationId xmlns:p14="http://schemas.microsoft.com/office/powerpoint/2010/main" val="1643518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BE476F9D-3457-0D9D-5BA8-6BEDAAF2F74C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11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7750"/>
            <a:ext cx="916208" cy="3072296"/>
          </a:xfrm>
          <a:prstGeom prst="rect">
            <a:avLst/>
          </a:prstGeom>
        </p:spPr>
      </p:pic>
      <p:pic>
        <p:nvPicPr>
          <p:cNvPr id="12" name="objec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250" y="0"/>
            <a:ext cx="4593024" cy="3262351"/>
          </a:xfrm>
          <a:prstGeom prst="rect">
            <a:avLst/>
          </a:prstGeom>
        </p:spPr>
      </p:pic>
      <p:pic>
        <p:nvPicPr>
          <p:cNvPr id="13" name="object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475" y="4210050"/>
            <a:ext cx="2745524" cy="93344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F5C0EBD-0B9D-4CB3-B3D3-040A951F970A}"/>
              </a:ext>
            </a:extLst>
          </p:cNvPr>
          <p:cNvSpPr>
            <a:spLocks noGrp="1"/>
          </p:cNvSpPr>
          <p:nvPr/>
        </p:nvSpPr>
        <p:spPr>
          <a:xfrm>
            <a:off x="8429529" y="155569"/>
            <a:ext cx="492125" cy="1320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内部资料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E86CCE0-E5CA-4636-870D-056D9B43E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77445"/>
            <a:ext cx="8477154" cy="48260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>
                <a:solidFill>
                  <a:schemeClr val="bg1"/>
                </a:solidFill>
              </a:rPr>
              <a:t>目标客群与典型场景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256D9B4-1280-47B1-B7DA-30329B7BA81D}"/>
              </a:ext>
            </a:extLst>
          </p:cNvPr>
          <p:cNvSpPr>
            <a:spLocks noGrp="1"/>
          </p:cNvSpPr>
          <p:nvPr/>
        </p:nvSpPr>
        <p:spPr>
          <a:xfrm>
            <a:off x="3411125" y="4483132"/>
            <a:ext cx="2237105" cy="69596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2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更多场景持续拓展…</a:t>
            </a:r>
          </a:p>
        </p:txBody>
      </p:sp>
      <p:pic>
        <p:nvPicPr>
          <p:cNvPr id="17" name="object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75" y="1129588"/>
            <a:ext cx="8700598" cy="3416297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30F5E7EF-4552-49A1-BE4B-BA1ACA69816A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</p:spTree>
    <p:extLst>
      <p:ext uri="{BB962C8B-B14F-4D97-AF65-F5344CB8AC3E}">
        <p14:creationId xmlns:p14="http://schemas.microsoft.com/office/powerpoint/2010/main" val="1577395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7985687-0F21-4133-A7B7-2CB2C2D1A07A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451A5E2-8AA9-4C12-A710-9849DE0A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25" y="734529"/>
            <a:ext cx="6096635" cy="299720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6500">
                <a:solidFill>
                  <a:srgbClr val="FFFFFF"/>
                </a:solidFill>
              </a:rPr>
              <a:t>产品规划汇报重点</a:t>
            </a:r>
          </a:p>
        </p:txBody>
      </p:sp>
    </p:spTree>
    <p:extLst>
      <p:ext uri="{BB962C8B-B14F-4D97-AF65-F5344CB8AC3E}">
        <p14:creationId xmlns:p14="http://schemas.microsoft.com/office/powerpoint/2010/main" val="85289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2">
            <a:extLst>
              <a:ext uri="{FF2B5EF4-FFF2-40B4-BE49-F238E27FC236}">
                <a16:creationId xmlns:a16="http://schemas.microsoft.com/office/drawing/2014/main" id="{3EB8BFF6-545A-67D2-229A-84DCF4688CB4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F3478E1-37E4-420E-AF80-6587A14BC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37402"/>
            <a:ext cx="8462416" cy="1057275"/>
          </a:xfrm>
          <a:prstGeom prst="rect">
            <a:avLst/>
          </a:prstGeom>
        </p:spPr>
        <p:txBody>
          <a:bodyPr vert="horz" wrap="square" lIns="0" tIns="5461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  <a:buNone/>
            </a:pPr>
            <a:r>
              <a:rPr>
                <a:solidFill>
                  <a:schemeClr val="bg1"/>
                </a:solidFill>
              </a:rPr>
              <a:t>产品机会</a:t>
            </a:r>
          </a:p>
          <a:p>
            <a:pPr marL="12700">
              <a:lnSpc>
                <a:spcPts val="1930"/>
              </a:lnSpc>
              <a:spcBef>
                <a:spcPts val="5"/>
              </a:spcBef>
              <a:buNone/>
            </a:pPr>
            <a:r>
              <a:rPr sz="1400">
                <a:solidFill>
                  <a:schemeClr val="bg1"/>
                </a:solidFill>
              </a:rPr>
              <a:t>围绕用户需求、业务目标与组织能力，明确本阶段最值得投入的产品方向，并建立从需求验证到规模化增长的路线。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9E8F61F-98AC-4503-B939-0445454F45E4}"/>
              </a:ext>
            </a:extLst>
          </p:cNvPr>
          <p:cNvSpPr>
            <a:spLocks noGrp="1"/>
          </p:cNvSpPr>
          <p:nvPr/>
        </p:nvSpPr>
        <p:spPr>
          <a:xfrm>
            <a:off x="222517" y="1897091"/>
            <a:ext cx="1388110" cy="1936750"/>
          </a:xfrm>
          <a:custGeom>
            <a:avLst/>
            <a:gdLst/>
            <a:ahLst/>
            <a:cxnLst/>
            <a:rect l="l" t="t" r="r" b="b"/>
            <a:pathLst>
              <a:path w="1388110" h="1936750">
                <a:moveTo>
                  <a:pt x="1335490" y="1936200"/>
                </a:moveTo>
                <a:lnTo>
                  <a:pt x="52608" y="1936200"/>
                </a:lnTo>
                <a:lnTo>
                  <a:pt x="32131" y="1932065"/>
                </a:lnTo>
                <a:lnTo>
                  <a:pt x="15408" y="1920791"/>
                </a:lnTo>
                <a:lnTo>
                  <a:pt x="4134" y="1904068"/>
                </a:lnTo>
                <a:lnTo>
                  <a:pt x="0" y="1883591"/>
                </a:lnTo>
                <a:lnTo>
                  <a:pt x="0" y="52608"/>
                </a:lnTo>
                <a:lnTo>
                  <a:pt x="4134" y="32131"/>
                </a:lnTo>
                <a:lnTo>
                  <a:pt x="15408" y="15408"/>
                </a:lnTo>
                <a:lnTo>
                  <a:pt x="32131" y="4134"/>
                </a:lnTo>
                <a:lnTo>
                  <a:pt x="52608" y="0"/>
                </a:lnTo>
                <a:lnTo>
                  <a:pt x="1335490" y="0"/>
                </a:lnTo>
                <a:lnTo>
                  <a:pt x="1372691" y="15408"/>
                </a:lnTo>
                <a:lnTo>
                  <a:pt x="1388099" y="52608"/>
                </a:lnTo>
                <a:lnTo>
                  <a:pt x="1388099" y="1883591"/>
                </a:lnTo>
                <a:lnTo>
                  <a:pt x="1383965" y="1904068"/>
                </a:lnTo>
                <a:lnTo>
                  <a:pt x="1372691" y="1920791"/>
                </a:lnTo>
                <a:lnTo>
                  <a:pt x="1355968" y="1932065"/>
                </a:lnTo>
                <a:lnTo>
                  <a:pt x="1335490" y="1936200"/>
                </a:lnTo>
                <a:close/>
              </a:path>
            </a:pathLst>
          </a:custGeom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9EE8DF5-CA6E-4F90-8EE8-455192AF595F}"/>
              </a:ext>
            </a:extLst>
          </p:cNvPr>
          <p:cNvSpPr>
            <a:spLocks noGrp="1"/>
          </p:cNvSpPr>
          <p:nvPr/>
        </p:nvSpPr>
        <p:spPr>
          <a:xfrm>
            <a:off x="299469" y="3390151"/>
            <a:ext cx="1195276" cy="2082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市场趋势</a:t>
            </a:r>
          </a:p>
        </p:txBody>
      </p:sp>
      <p:pic>
        <p:nvPicPr>
          <p:cNvPr id="58" name="object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23" y="1472124"/>
            <a:ext cx="1388099" cy="1493099"/>
          </a:xfrm>
          <a:prstGeom prst="rect">
            <a:avLst/>
          </a:prstGeom>
        </p:spPr>
      </p:pic>
      <p:pic>
        <p:nvPicPr>
          <p:cNvPr id="59" name="object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23" y="2801506"/>
            <a:ext cx="344699" cy="344699"/>
          </a:xfrm>
          <a:prstGeom prst="rect">
            <a:avLst/>
          </a:prstGeom>
        </p:spPr>
      </p:pic>
      <p:pic>
        <p:nvPicPr>
          <p:cNvPr id="60" name="object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373" y="2905284"/>
            <a:ext cx="185799" cy="137143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FC0299C5-80C4-45AD-8ED3-B324EDA796B0}"/>
              </a:ext>
            </a:extLst>
          </p:cNvPr>
          <p:cNvSpPr>
            <a:spLocks noGrp="1"/>
          </p:cNvSpPr>
          <p:nvPr/>
        </p:nvSpPr>
        <p:spPr>
          <a:xfrm>
            <a:off x="3148174" y="1897091"/>
            <a:ext cx="1388110" cy="1936750"/>
          </a:xfrm>
          <a:custGeom>
            <a:avLst/>
            <a:gdLst/>
            <a:ahLst/>
            <a:cxnLst/>
            <a:rect l="l" t="t" r="r" b="b"/>
            <a:pathLst>
              <a:path w="1388110" h="1936750">
                <a:moveTo>
                  <a:pt x="1335490" y="1936200"/>
                </a:moveTo>
                <a:lnTo>
                  <a:pt x="52608" y="1936200"/>
                </a:lnTo>
                <a:lnTo>
                  <a:pt x="32131" y="1932065"/>
                </a:lnTo>
                <a:lnTo>
                  <a:pt x="15408" y="1920791"/>
                </a:lnTo>
                <a:lnTo>
                  <a:pt x="4134" y="1904068"/>
                </a:lnTo>
                <a:lnTo>
                  <a:pt x="0" y="1883591"/>
                </a:lnTo>
                <a:lnTo>
                  <a:pt x="0" y="52608"/>
                </a:lnTo>
                <a:lnTo>
                  <a:pt x="4134" y="32131"/>
                </a:lnTo>
                <a:lnTo>
                  <a:pt x="15408" y="15408"/>
                </a:lnTo>
                <a:lnTo>
                  <a:pt x="32131" y="4134"/>
                </a:lnTo>
                <a:lnTo>
                  <a:pt x="52608" y="0"/>
                </a:lnTo>
                <a:lnTo>
                  <a:pt x="1335490" y="0"/>
                </a:lnTo>
                <a:lnTo>
                  <a:pt x="1372691" y="15408"/>
                </a:lnTo>
                <a:lnTo>
                  <a:pt x="1388099" y="52608"/>
                </a:lnTo>
                <a:lnTo>
                  <a:pt x="1388099" y="1883591"/>
                </a:lnTo>
                <a:lnTo>
                  <a:pt x="1383965" y="1904068"/>
                </a:lnTo>
                <a:lnTo>
                  <a:pt x="1372691" y="1920791"/>
                </a:lnTo>
                <a:lnTo>
                  <a:pt x="1355968" y="1932065"/>
                </a:lnTo>
                <a:lnTo>
                  <a:pt x="1335490" y="1936200"/>
                </a:lnTo>
                <a:close/>
              </a:path>
            </a:pathLst>
          </a:custGeom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62" name="object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8258" y="1472112"/>
            <a:ext cx="1388100" cy="1493100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19871FBE-57C4-438C-B8A8-99FEB92DBB88}"/>
              </a:ext>
            </a:extLst>
          </p:cNvPr>
          <p:cNvSpPr>
            <a:spLocks noGrp="1"/>
          </p:cNvSpPr>
          <p:nvPr/>
        </p:nvSpPr>
        <p:spPr>
          <a:xfrm>
            <a:off x="3520378" y="3414217"/>
            <a:ext cx="630176" cy="39116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用户需求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9CCB3E3-C916-40BC-AC66-71683B1D0510}"/>
              </a:ext>
            </a:extLst>
          </p:cNvPr>
          <p:cNvSpPr>
            <a:spLocks noGrp="1"/>
          </p:cNvSpPr>
          <p:nvPr/>
        </p:nvSpPr>
        <p:spPr>
          <a:xfrm>
            <a:off x="4613292" y="1897575"/>
            <a:ext cx="1388110" cy="1936750"/>
          </a:xfrm>
          <a:custGeom>
            <a:avLst/>
            <a:gdLst/>
            <a:ahLst/>
            <a:cxnLst/>
            <a:rect l="l" t="t" r="r" b="b"/>
            <a:pathLst>
              <a:path w="1388110" h="1936750">
                <a:moveTo>
                  <a:pt x="1335490" y="1936199"/>
                </a:moveTo>
                <a:lnTo>
                  <a:pt x="52608" y="1936199"/>
                </a:lnTo>
                <a:lnTo>
                  <a:pt x="32131" y="1932065"/>
                </a:lnTo>
                <a:lnTo>
                  <a:pt x="15408" y="1920790"/>
                </a:lnTo>
                <a:lnTo>
                  <a:pt x="4134" y="1904068"/>
                </a:lnTo>
                <a:lnTo>
                  <a:pt x="0" y="1883590"/>
                </a:lnTo>
                <a:lnTo>
                  <a:pt x="0" y="52608"/>
                </a:lnTo>
                <a:lnTo>
                  <a:pt x="4134" y="32131"/>
                </a:lnTo>
                <a:lnTo>
                  <a:pt x="15408" y="15408"/>
                </a:lnTo>
                <a:lnTo>
                  <a:pt x="32131" y="4134"/>
                </a:lnTo>
                <a:lnTo>
                  <a:pt x="52608" y="0"/>
                </a:lnTo>
                <a:lnTo>
                  <a:pt x="1335490" y="0"/>
                </a:lnTo>
                <a:lnTo>
                  <a:pt x="1372691" y="15408"/>
                </a:lnTo>
                <a:lnTo>
                  <a:pt x="1388099" y="52608"/>
                </a:lnTo>
                <a:lnTo>
                  <a:pt x="1388099" y="1883590"/>
                </a:lnTo>
                <a:lnTo>
                  <a:pt x="1383965" y="1904068"/>
                </a:lnTo>
                <a:lnTo>
                  <a:pt x="1372691" y="1920790"/>
                </a:lnTo>
                <a:lnTo>
                  <a:pt x="1355968" y="1932065"/>
                </a:lnTo>
                <a:lnTo>
                  <a:pt x="1335490" y="1936199"/>
                </a:lnTo>
                <a:close/>
              </a:path>
            </a:pathLst>
          </a:custGeom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65" name="object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318" y="1472638"/>
            <a:ext cx="1388099" cy="1493099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382986DD-5C13-4862-A6E3-829B4EA8279E}"/>
              </a:ext>
            </a:extLst>
          </p:cNvPr>
          <p:cNvSpPr>
            <a:spLocks noGrp="1"/>
          </p:cNvSpPr>
          <p:nvPr/>
        </p:nvSpPr>
        <p:spPr>
          <a:xfrm>
            <a:off x="4932329" y="3390151"/>
            <a:ext cx="750035" cy="2082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风险合规</a:t>
            </a: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B70D866-3845-40E5-A5CA-3C449E11E10E}"/>
              </a:ext>
            </a:extLst>
          </p:cNvPr>
          <p:cNvSpPr>
            <a:spLocks noGrp="1"/>
          </p:cNvSpPr>
          <p:nvPr/>
        </p:nvSpPr>
        <p:spPr>
          <a:xfrm>
            <a:off x="6072550" y="1897092"/>
            <a:ext cx="1390650" cy="1936750"/>
          </a:xfrm>
          <a:custGeom>
            <a:avLst/>
            <a:gdLst/>
            <a:ahLst/>
            <a:cxnLst/>
            <a:rect l="l" t="t" r="r" b="b"/>
            <a:pathLst>
              <a:path w="1390650" h="1936750">
                <a:moveTo>
                  <a:pt x="1337510" y="1936200"/>
                </a:moveTo>
                <a:lnTo>
                  <a:pt x="52688" y="1936200"/>
                </a:lnTo>
                <a:lnTo>
                  <a:pt x="32179" y="1932059"/>
                </a:lnTo>
                <a:lnTo>
                  <a:pt x="15432" y="1920768"/>
                </a:lnTo>
                <a:lnTo>
                  <a:pt x="4140" y="1904020"/>
                </a:lnTo>
                <a:lnTo>
                  <a:pt x="0" y="1883511"/>
                </a:lnTo>
                <a:lnTo>
                  <a:pt x="0" y="52688"/>
                </a:lnTo>
                <a:lnTo>
                  <a:pt x="4140" y="32179"/>
                </a:lnTo>
                <a:lnTo>
                  <a:pt x="15432" y="15432"/>
                </a:lnTo>
                <a:lnTo>
                  <a:pt x="32179" y="4140"/>
                </a:lnTo>
                <a:lnTo>
                  <a:pt x="52688" y="0"/>
                </a:lnTo>
                <a:lnTo>
                  <a:pt x="1337510" y="0"/>
                </a:lnTo>
                <a:lnTo>
                  <a:pt x="1374767" y="15432"/>
                </a:lnTo>
                <a:lnTo>
                  <a:pt x="1390199" y="52688"/>
                </a:lnTo>
                <a:lnTo>
                  <a:pt x="1390199" y="1883511"/>
                </a:lnTo>
                <a:lnTo>
                  <a:pt x="1386059" y="1904020"/>
                </a:lnTo>
                <a:lnTo>
                  <a:pt x="1374767" y="1920768"/>
                </a:lnTo>
                <a:lnTo>
                  <a:pt x="1358019" y="1932059"/>
                </a:lnTo>
                <a:lnTo>
                  <a:pt x="1337510" y="1936200"/>
                </a:lnTo>
                <a:close/>
              </a:path>
            </a:pathLst>
          </a:custGeom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68" name="object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3859" y="1471610"/>
            <a:ext cx="1390199" cy="1493099"/>
          </a:xfrm>
          <a:prstGeom prst="rect">
            <a:avLst/>
          </a:prstGeom>
        </p:spPr>
      </p:pic>
      <p:sp>
        <p:nvSpPr>
          <p:cNvPr id="23" name="object 23">
            <a:extLst>
              <a:ext uri="{FF2B5EF4-FFF2-40B4-BE49-F238E27FC236}">
                <a16:creationId xmlns:a16="http://schemas.microsoft.com/office/drawing/2014/main" id="{318FE34F-7422-4DD4-9827-DB1892EEAF10}"/>
              </a:ext>
            </a:extLst>
          </p:cNvPr>
          <p:cNvSpPr>
            <a:spLocks noGrp="1"/>
          </p:cNvSpPr>
          <p:nvPr/>
        </p:nvSpPr>
        <p:spPr>
          <a:xfrm>
            <a:off x="6203069" y="3290492"/>
            <a:ext cx="1090523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indent="12065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场景与应用</a:t>
            </a: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883AB7E-E676-46D6-8E97-C01E0115C7EC}"/>
              </a:ext>
            </a:extLst>
          </p:cNvPr>
          <p:cNvSpPr>
            <a:spLocks noGrp="1"/>
          </p:cNvSpPr>
          <p:nvPr/>
        </p:nvSpPr>
        <p:spPr>
          <a:xfrm>
            <a:off x="1685297" y="1897092"/>
            <a:ext cx="1388110" cy="1936750"/>
          </a:xfrm>
          <a:custGeom>
            <a:avLst/>
            <a:gdLst/>
            <a:ahLst/>
            <a:cxnLst/>
            <a:rect l="l" t="t" r="r" b="b"/>
            <a:pathLst>
              <a:path w="1388110" h="1936750">
                <a:moveTo>
                  <a:pt x="1335490" y="1936200"/>
                </a:moveTo>
                <a:lnTo>
                  <a:pt x="52608" y="1936200"/>
                </a:lnTo>
                <a:lnTo>
                  <a:pt x="32131" y="1932065"/>
                </a:lnTo>
                <a:lnTo>
                  <a:pt x="15408" y="1920791"/>
                </a:lnTo>
                <a:lnTo>
                  <a:pt x="4134" y="1904068"/>
                </a:lnTo>
                <a:lnTo>
                  <a:pt x="0" y="1883591"/>
                </a:lnTo>
                <a:lnTo>
                  <a:pt x="0" y="52608"/>
                </a:lnTo>
                <a:lnTo>
                  <a:pt x="4134" y="32131"/>
                </a:lnTo>
                <a:lnTo>
                  <a:pt x="15408" y="15408"/>
                </a:lnTo>
                <a:lnTo>
                  <a:pt x="32131" y="4134"/>
                </a:lnTo>
                <a:lnTo>
                  <a:pt x="52608" y="0"/>
                </a:lnTo>
                <a:lnTo>
                  <a:pt x="1335490" y="0"/>
                </a:lnTo>
                <a:lnTo>
                  <a:pt x="1372691" y="15408"/>
                </a:lnTo>
                <a:lnTo>
                  <a:pt x="1388099" y="52608"/>
                </a:lnTo>
                <a:lnTo>
                  <a:pt x="1388099" y="1883591"/>
                </a:lnTo>
                <a:lnTo>
                  <a:pt x="1383965" y="1904068"/>
                </a:lnTo>
                <a:lnTo>
                  <a:pt x="1372691" y="1920791"/>
                </a:lnTo>
                <a:lnTo>
                  <a:pt x="1355968" y="1932065"/>
                </a:lnTo>
                <a:lnTo>
                  <a:pt x="1335490" y="1936200"/>
                </a:lnTo>
                <a:close/>
              </a:path>
            </a:pathLst>
          </a:custGeom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71" name="object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5224" y="1466787"/>
            <a:ext cx="1388099" cy="1493099"/>
          </a:xfrm>
          <a:prstGeom prst="rect">
            <a:avLst/>
          </a:prstGeom>
        </p:spPr>
      </p:pic>
      <p:sp>
        <p:nvSpPr>
          <p:cNvPr id="27" name="object 27">
            <a:extLst>
              <a:ext uri="{FF2B5EF4-FFF2-40B4-BE49-F238E27FC236}">
                <a16:creationId xmlns:a16="http://schemas.microsoft.com/office/drawing/2014/main" id="{9C2C4851-C622-47B2-B895-01AFB837B65F}"/>
              </a:ext>
            </a:extLst>
          </p:cNvPr>
          <p:cNvSpPr>
            <a:spLocks noGrp="1"/>
          </p:cNvSpPr>
          <p:nvPr/>
        </p:nvSpPr>
        <p:spPr>
          <a:xfrm>
            <a:off x="1923265" y="3418704"/>
            <a:ext cx="861730" cy="2082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研发效率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584B241-87EB-4BF6-AA58-A0B8EB7CCA47}"/>
              </a:ext>
            </a:extLst>
          </p:cNvPr>
          <p:cNvSpPr>
            <a:spLocks noGrp="1"/>
          </p:cNvSpPr>
          <p:nvPr/>
        </p:nvSpPr>
        <p:spPr>
          <a:xfrm>
            <a:off x="7531462" y="1897576"/>
            <a:ext cx="1390650" cy="1936750"/>
          </a:xfrm>
          <a:custGeom>
            <a:avLst/>
            <a:gdLst/>
            <a:ahLst/>
            <a:cxnLst/>
            <a:rect l="l" t="t" r="r" b="b"/>
            <a:pathLst>
              <a:path w="1390650" h="1936750">
                <a:moveTo>
                  <a:pt x="1337510" y="1936199"/>
                </a:moveTo>
                <a:lnTo>
                  <a:pt x="52688" y="1936199"/>
                </a:lnTo>
                <a:lnTo>
                  <a:pt x="32179" y="1932059"/>
                </a:lnTo>
                <a:lnTo>
                  <a:pt x="15431" y="1920767"/>
                </a:lnTo>
                <a:lnTo>
                  <a:pt x="4140" y="1904020"/>
                </a:lnTo>
                <a:lnTo>
                  <a:pt x="0" y="1883511"/>
                </a:lnTo>
                <a:lnTo>
                  <a:pt x="0" y="52688"/>
                </a:lnTo>
                <a:lnTo>
                  <a:pt x="4140" y="32179"/>
                </a:lnTo>
                <a:lnTo>
                  <a:pt x="15431" y="15432"/>
                </a:lnTo>
                <a:lnTo>
                  <a:pt x="32179" y="4140"/>
                </a:lnTo>
                <a:lnTo>
                  <a:pt x="52688" y="0"/>
                </a:lnTo>
                <a:lnTo>
                  <a:pt x="1337510" y="0"/>
                </a:lnTo>
                <a:lnTo>
                  <a:pt x="1374767" y="15431"/>
                </a:lnTo>
                <a:lnTo>
                  <a:pt x="1390199" y="52688"/>
                </a:lnTo>
                <a:lnTo>
                  <a:pt x="1390199" y="1883511"/>
                </a:lnTo>
                <a:lnTo>
                  <a:pt x="1386059" y="1904020"/>
                </a:lnTo>
                <a:lnTo>
                  <a:pt x="1374767" y="1920767"/>
                </a:lnTo>
                <a:lnTo>
                  <a:pt x="1358019" y="1932059"/>
                </a:lnTo>
                <a:lnTo>
                  <a:pt x="1337510" y="1936199"/>
                </a:lnTo>
                <a:close/>
              </a:path>
            </a:pathLst>
          </a:custGeom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74" name="object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1469" y="1472626"/>
            <a:ext cx="1390199" cy="1493099"/>
          </a:xfrm>
          <a:prstGeom prst="rect">
            <a:avLst/>
          </a:prstGeom>
        </p:spPr>
      </p:pic>
      <p:sp>
        <p:nvSpPr>
          <p:cNvPr id="31" name="object 31">
            <a:extLst>
              <a:ext uri="{FF2B5EF4-FFF2-40B4-BE49-F238E27FC236}">
                <a16:creationId xmlns:a16="http://schemas.microsoft.com/office/drawing/2014/main" id="{ED40E8C0-15F8-4257-BE48-3244D4CF3215}"/>
              </a:ext>
            </a:extLst>
          </p:cNvPr>
          <p:cNvSpPr>
            <a:spLocks noGrp="1"/>
          </p:cNvSpPr>
          <p:nvPr/>
        </p:nvSpPr>
        <p:spPr>
          <a:xfrm>
            <a:off x="7664366" y="3297818"/>
            <a:ext cx="1105332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indent="135255"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运营增长</a:t>
            </a: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EF0C0B73-D00D-4B07-88A5-A7CD67F55298}"/>
              </a:ext>
            </a:extLst>
          </p:cNvPr>
          <p:cNvSpPr>
            <a:spLocks noGrp="1"/>
          </p:cNvSpPr>
          <p:nvPr/>
        </p:nvSpPr>
        <p:spPr>
          <a:xfrm>
            <a:off x="241211" y="4365955"/>
            <a:ext cx="8669655" cy="412115"/>
          </a:xfrm>
          <a:custGeom>
            <a:avLst/>
            <a:gdLst/>
            <a:ahLst/>
            <a:cxnLst/>
            <a:rect l="l" t="t" r="r" b="b"/>
            <a:pathLst>
              <a:path w="8669655" h="412114">
                <a:moveTo>
                  <a:pt x="8669452" y="93916"/>
                </a:moveTo>
                <a:lnTo>
                  <a:pt x="8653678" y="41808"/>
                </a:lnTo>
                <a:lnTo>
                  <a:pt x="8611476" y="7150"/>
                </a:lnTo>
                <a:lnTo>
                  <a:pt x="8575523" y="0"/>
                </a:lnTo>
                <a:lnTo>
                  <a:pt x="93929" y="0"/>
                </a:lnTo>
                <a:lnTo>
                  <a:pt x="57365" y="7378"/>
                </a:lnTo>
                <a:lnTo>
                  <a:pt x="27520" y="27508"/>
                </a:lnTo>
                <a:lnTo>
                  <a:pt x="7391" y="57365"/>
                </a:lnTo>
                <a:lnTo>
                  <a:pt x="0" y="93916"/>
                </a:lnTo>
                <a:lnTo>
                  <a:pt x="0" y="317665"/>
                </a:lnTo>
                <a:lnTo>
                  <a:pt x="7391" y="354228"/>
                </a:lnTo>
                <a:lnTo>
                  <a:pt x="27520" y="384086"/>
                </a:lnTo>
                <a:lnTo>
                  <a:pt x="57365" y="404215"/>
                </a:lnTo>
                <a:lnTo>
                  <a:pt x="93929" y="411594"/>
                </a:lnTo>
                <a:lnTo>
                  <a:pt x="8575523" y="411594"/>
                </a:lnTo>
                <a:lnTo>
                  <a:pt x="8612086" y="404215"/>
                </a:lnTo>
                <a:lnTo>
                  <a:pt x="8641944" y="384086"/>
                </a:lnTo>
                <a:lnTo>
                  <a:pt x="8662073" y="354228"/>
                </a:lnTo>
                <a:lnTo>
                  <a:pt x="8669452" y="317665"/>
                </a:lnTo>
                <a:lnTo>
                  <a:pt x="8669452" y="93916"/>
                </a:lnTo>
                <a:close/>
              </a:path>
            </a:pathLst>
          </a:custGeom>
          <a:solidFill>
            <a:srgbClr val="2C2D31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77" name="object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6924" y="2801506"/>
            <a:ext cx="344699" cy="344699"/>
          </a:xfrm>
          <a:prstGeom prst="rect">
            <a:avLst/>
          </a:prstGeom>
        </p:spPr>
      </p:pic>
      <p:pic>
        <p:nvPicPr>
          <p:cNvPr id="78" name="object 3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9728" y="2902218"/>
            <a:ext cx="179092" cy="143275"/>
          </a:xfrm>
          <a:prstGeom prst="rect">
            <a:avLst/>
          </a:prstGeom>
        </p:spPr>
      </p:pic>
      <p:pic>
        <p:nvPicPr>
          <p:cNvPr id="79" name="object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958" y="2801506"/>
            <a:ext cx="344699" cy="344699"/>
          </a:xfrm>
          <a:prstGeom prst="rect">
            <a:avLst/>
          </a:prstGeom>
        </p:spPr>
      </p:pic>
      <p:pic>
        <p:nvPicPr>
          <p:cNvPr id="80" name="object 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3707" y="2868605"/>
            <a:ext cx="257201" cy="248602"/>
          </a:xfrm>
          <a:prstGeom prst="rect">
            <a:avLst/>
          </a:prstGeom>
        </p:spPr>
      </p:pic>
      <p:pic>
        <p:nvPicPr>
          <p:cNvPr id="81" name="object 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0857" y="2906705"/>
            <a:ext cx="142901" cy="134302"/>
          </a:xfrm>
          <a:prstGeom prst="rect">
            <a:avLst/>
          </a:prstGeom>
        </p:spPr>
      </p:pic>
      <p:pic>
        <p:nvPicPr>
          <p:cNvPr id="82" name="object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018" y="2801506"/>
            <a:ext cx="344699" cy="344699"/>
          </a:xfrm>
          <a:prstGeom prst="rect">
            <a:avLst/>
          </a:prstGeom>
        </p:spPr>
      </p:pic>
      <p:pic>
        <p:nvPicPr>
          <p:cNvPr id="83" name="object 4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4286" y="2887838"/>
            <a:ext cx="146163" cy="172034"/>
          </a:xfrm>
          <a:prstGeom prst="rect">
            <a:avLst/>
          </a:prstGeom>
        </p:spPr>
      </p:pic>
      <p:pic>
        <p:nvPicPr>
          <p:cNvPr id="84" name="object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609" y="2801506"/>
            <a:ext cx="344699" cy="344699"/>
          </a:xfrm>
          <a:prstGeom prst="rect">
            <a:avLst/>
          </a:prstGeom>
        </p:spPr>
      </p:pic>
      <p:pic>
        <p:nvPicPr>
          <p:cNvPr id="85" name="object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8668" y="2893701"/>
            <a:ext cx="160471" cy="160310"/>
          </a:xfrm>
          <a:prstGeom prst="rect">
            <a:avLst/>
          </a:prstGeom>
        </p:spPr>
      </p:pic>
      <p:pic>
        <p:nvPicPr>
          <p:cNvPr id="86" name="object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220" y="2801506"/>
            <a:ext cx="344699" cy="344699"/>
          </a:xfrm>
          <a:prstGeom prst="rect">
            <a:avLst/>
          </a:prstGeom>
        </p:spPr>
      </p:pic>
      <p:pic>
        <p:nvPicPr>
          <p:cNvPr id="87" name="object 4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3425" y="2913654"/>
            <a:ext cx="206313" cy="120407"/>
          </a:xfrm>
          <a:prstGeom prst="rect">
            <a:avLst/>
          </a:prstGeom>
        </p:spPr>
      </p:pic>
      <p:sp>
        <p:nvSpPr>
          <p:cNvPr id="49" name="object 49">
            <a:extLst>
              <a:ext uri="{FF2B5EF4-FFF2-40B4-BE49-F238E27FC236}">
                <a16:creationId xmlns:a16="http://schemas.microsoft.com/office/drawing/2014/main" id="{E7820493-1EA6-4EFA-9731-2CD9784F2A5F}"/>
              </a:ext>
            </a:extLst>
          </p:cNvPr>
          <p:cNvSpPr>
            <a:spLocks noGrp="1"/>
          </p:cNvSpPr>
          <p:nvPr/>
        </p:nvSpPr>
        <p:spPr>
          <a:xfrm>
            <a:off x="237261" y="3894073"/>
            <a:ext cx="8669655" cy="412115"/>
          </a:xfrm>
          <a:custGeom>
            <a:avLst/>
            <a:gdLst/>
            <a:ahLst/>
            <a:cxnLst/>
            <a:rect l="l" t="t" r="r" b="b"/>
            <a:pathLst>
              <a:path w="8669655" h="412114">
                <a:moveTo>
                  <a:pt x="8669452" y="93929"/>
                </a:moveTo>
                <a:lnTo>
                  <a:pt x="8653678" y="41821"/>
                </a:lnTo>
                <a:lnTo>
                  <a:pt x="8611476" y="7150"/>
                </a:lnTo>
                <a:lnTo>
                  <a:pt x="8575523" y="0"/>
                </a:lnTo>
                <a:lnTo>
                  <a:pt x="93929" y="0"/>
                </a:lnTo>
                <a:lnTo>
                  <a:pt x="57365" y="7378"/>
                </a:lnTo>
                <a:lnTo>
                  <a:pt x="27520" y="27508"/>
                </a:lnTo>
                <a:lnTo>
                  <a:pt x="7391" y="57365"/>
                </a:lnTo>
                <a:lnTo>
                  <a:pt x="0" y="93929"/>
                </a:lnTo>
                <a:lnTo>
                  <a:pt x="0" y="317677"/>
                </a:lnTo>
                <a:lnTo>
                  <a:pt x="7391" y="354228"/>
                </a:lnTo>
                <a:lnTo>
                  <a:pt x="27520" y="384086"/>
                </a:lnTo>
                <a:lnTo>
                  <a:pt x="57365" y="404215"/>
                </a:lnTo>
                <a:lnTo>
                  <a:pt x="93929" y="411594"/>
                </a:lnTo>
                <a:lnTo>
                  <a:pt x="8575523" y="411594"/>
                </a:lnTo>
                <a:lnTo>
                  <a:pt x="8612086" y="404215"/>
                </a:lnTo>
                <a:lnTo>
                  <a:pt x="8641944" y="384086"/>
                </a:lnTo>
                <a:lnTo>
                  <a:pt x="8662073" y="354228"/>
                </a:lnTo>
                <a:lnTo>
                  <a:pt x="8669452" y="317677"/>
                </a:lnTo>
                <a:lnTo>
                  <a:pt x="8669452" y="93929"/>
                </a:lnTo>
                <a:close/>
              </a:path>
            </a:pathLst>
          </a:custGeom>
          <a:solidFill>
            <a:srgbClr val="2C2D3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7C9DC621-646C-4550-8DFB-22A6C0EC9FD1}"/>
              </a:ext>
            </a:extLst>
          </p:cNvPr>
          <p:cNvSpPr>
            <a:spLocks noGrp="1"/>
          </p:cNvSpPr>
          <p:nvPr/>
        </p:nvSpPr>
        <p:spPr>
          <a:xfrm>
            <a:off x="2593544" y="3998431"/>
            <a:ext cx="3956910" cy="70739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数据能力</a:t>
            </a:r>
          </a:p>
          <a:p>
            <a:pPr>
              <a:lnSpc>
                <a:spcPct val="100000"/>
              </a:lnSpc>
              <a:spcBef>
                <a:spcPts val="810"/>
              </a:spcBef>
              <a:buNone/>
            </a:pPr>
            <a:endParaRPr sz="1200">
              <a:solidFill>
                <a:schemeClr val="bg1"/>
              </a:solidFill>
              <a:latin typeface="MiSans Medium"/>
              <a:ea typeface="MiSans Medium"/>
              <a:cs typeface="MiSans Medium"/>
            </a:endParaRPr>
          </a:p>
          <a:p>
            <a:pPr marL="7620" algn="ctr">
              <a:lnSpc>
                <a:spcPct val="100000"/>
              </a:lnSpc>
              <a:buNone/>
            </a:pPr>
            <a:r>
              <a:rPr sz="120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生态集成</a:t>
            </a: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52FC77CA-E266-45B0-A776-DFA81A7C058B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</p:spTree>
    <p:extLst>
      <p:ext uri="{BB962C8B-B14F-4D97-AF65-F5344CB8AC3E}">
        <p14:creationId xmlns:p14="http://schemas.microsoft.com/office/powerpoint/2010/main" val="704603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">
            <a:extLst>
              <a:ext uri="{FF2B5EF4-FFF2-40B4-BE49-F238E27FC236}">
                <a16:creationId xmlns:a16="http://schemas.microsoft.com/office/drawing/2014/main" id="{57D24755-5071-2764-BE58-C474F13465DE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D79D3008-4F4D-4D3F-91D8-9D6DD2992785}"/>
              </a:ext>
            </a:extLst>
          </p:cNvPr>
          <p:cNvSpPr>
            <a:spLocks noGrp="1"/>
          </p:cNvSpPr>
          <p:nvPr/>
        </p:nvSpPr>
        <p:spPr>
          <a:xfrm>
            <a:off x="8442229" y="171291"/>
            <a:ext cx="466725" cy="10350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ts val="815"/>
              </a:lnSpc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内部资料</a:t>
            </a:r>
          </a:p>
        </p:txBody>
      </p:sp>
      <p:pic>
        <p:nvPicPr>
          <p:cNvPr id="29" name="objec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030" y="0"/>
            <a:ext cx="1903974" cy="1057498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60D0BB0B-6A16-4BCA-B4A2-679ADE4D4F00}"/>
              </a:ext>
            </a:extLst>
          </p:cNvPr>
          <p:cNvSpPr>
            <a:spLocks noGrp="1"/>
          </p:cNvSpPr>
          <p:nvPr/>
        </p:nvSpPr>
        <p:spPr>
          <a:xfrm>
            <a:off x="4080299" y="1046874"/>
            <a:ext cx="5064125" cy="2125980"/>
          </a:xfrm>
          <a:custGeom>
            <a:avLst/>
            <a:gdLst/>
            <a:ahLst/>
            <a:cxnLst/>
            <a:rect l="l" t="t" r="r" b="b"/>
            <a:pathLst>
              <a:path w="5064125" h="2125980">
                <a:moveTo>
                  <a:pt x="5063699" y="2125499"/>
                </a:moveTo>
                <a:lnTo>
                  <a:pt x="115350" y="2125499"/>
                </a:lnTo>
                <a:lnTo>
                  <a:pt x="70451" y="2116435"/>
                </a:lnTo>
                <a:lnTo>
                  <a:pt x="33785" y="2091714"/>
                </a:lnTo>
                <a:lnTo>
                  <a:pt x="9064" y="2055048"/>
                </a:lnTo>
                <a:lnTo>
                  <a:pt x="0" y="2010148"/>
                </a:lnTo>
                <a:lnTo>
                  <a:pt x="0" y="115350"/>
                </a:lnTo>
                <a:lnTo>
                  <a:pt x="8780" y="71208"/>
                </a:lnTo>
                <a:lnTo>
                  <a:pt x="33785" y="33785"/>
                </a:lnTo>
                <a:lnTo>
                  <a:pt x="71207" y="8780"/>
                </a:lnTo>
                <a:lnTo>
                  <a:pt x="115350" y="0"/>
                </a:lnTo>
                <a:lnTo>
                  <a:pt x="5063699" y="0"/>
                </a:lnTo>
                <a:lnTo>
                  <a:pt x="5063699" y="2125499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ADA3843-2F48-4F24-9AB0-5D988209E7D5}"/>
              </a:ext>
            </a:extLst>
          </p:cNvPr>
          <p:cNvSpPr>
            <a:spLocks noGrp="1"/>
          </p:cNvSpPr>
          <p:nvPr/>
        </p:nvSpPr>
        <p:spPr>
          <a:xfrm>
            <a:off x="4194822" y="1364411"/>
            <a:ext cx="3496310" cy="1056005"/>
          </a:xfrm>
          <a:custGeom>
            <a:avLst/>
            <a:gdLst/>
            <a:ahLst/>
            <a:cxnLst/>
            <a:rect l="l" t="t" r="r" b="b"/>
            <a:pathLst>
              <a:path w="3496309" h="1056005">
                <a:moveTo>
                  <a:pt x="440690" y="904671"/>
                </a:moveTo>
                <a:lnTo>
                  <a:pt x="429183" y="846810"/>
                </a:lnTo>
                <a:lnTo>
                  <a:pt x="396405" y="797750"/>
                </a:lnTo>
                <a:lnTo>
                  <a:pt x="347357" y="764984"/>
                </a:lnTo>
                <a:lnTo>
                  <a:pt x="289496" y="753465"/>
                </a:lnTo>
                <a:lnTo>
                  <a:pt x="151193" y="753465"/>
                </a:lnTo>
                <a:lnTo>
                  <a:pt x="103403" y="761174"/>
                </a:lnTo>
                <a:lnTo>
                  <a:pt x="61899" y="782637"/>
                </a:lnTo>
                <a:lnTo>
                  <a:pt x="29171" y="815378"/>
                </a:lnTo>
                <a:lnTo>
                  <a:pt x="7708" y="856881"/>
                </a:lnTo>
                <a:lnTo>
                  <a:pt x="0" y="904671"/>
                </a:lnTo>
                <a:lnTo>
                  <a:pt x="7708" y="952461"/>
                </a:lnTo>
                <a:lnTo>
                  <a:pt x="29171" y="993965"/>
                </a:lnTo>
                <a:lnTo>
                  <a:pt x="61899" y="1026693"/>
                </a:lnTo>
                <a:lnTo>
                  <a:pt x="103403" y="1048156"/>
                </a:lnTo>
                <a:lnTo>
                  <a:pt x="151193" y="1055865"/>
                </a:lnTo>
                <a:lnTo>
                  <a:pt x="289496" y="1055865"/>
                </a:lnTo>
                <a:lnTo>
                  <a:pt x="337286" y="1048156"/>
                </a:lnTo>
                <a:lnTo>
                  <a:pt x="378790" y="1026693"/>
                </a:lnTo>
                <a:lnTo>
                  <a:pt x="411518" y="993965"/>
                </a:lnTo>
                <a:lnTo>
                  <a:pt x="432993" y="952461"/>
                </a:lnTo>
                <a:lnTo>
                  <a:pt x="440690" y="904671"/>
                </a:lnTo>
                <a:close/>
              </a:path>
              <a:path w="3496309" h="1056005">
                <a:moveTo>
                  <a:pt x="944702" y="151193"/>
                </a:moveTo>
                <a:lnTo>
                  <a:pt x="933183" y="93332"/>
                </a:lnTo>
                <a:lnTo>
                  <a:pt x="900404" y="44284"/>
                </a:lnTo>
                <a:lnTo>
                  <a:pt x="851357" y="11506"/>
                </a:lnTo>
                <a:lnTo>
                  <a:pt x="793496" y="0"/>
                </a:lnTo>
                <a:lnTo>
                  <a:pt x="151193" y="0"/>
                </a:lnTo>
                <a:lnTo>
                  <a:pt x="103403" y="7708"/>
                </a:lnTo>
                <a:lnTo>
                  <a:pt x="61899" y="29171"/>
                </a:lnTo>
                <a:lnTo>
                  <a:pt x="29171" y="61899"/>
                </a:lnTo>
                <a:lnTo>
                  <a:pt x="7708" y="103403"/>
                </a:lnTo>
                <a:lnTo>
                  <a:pt x="0" y="151193"/>
                </a:lnTo>
                <a:lnTo>
                  <a:pt x="7708" y="198983"/>
                </a:lnTo>
                <a:lnTo>
                  <a:pt x="29171" y="240487"/>
                </a:lnTo>
                <a:lnTo>
                  <a:pt x="61899" y="273227"/>
                </a:lnTo>
                <a:lnTo>
                  <a:pt x="103403" y="294690"/>
                </a:lnTo>
                <a:lnTo>
                  <a:pt x="151193" y="302399"/>
                </a:lnTo>
                <a:lnTo>
                  <a:pt x="793496" y="302399"/>
                </a:lnTo>
                <a:lnTo>
                  <a:pt x="841286" y="294690"/>
                </a:lnTo>
                <a:lnTo>
                  <a:pt x="882789" y="273227"/>
                </a:lnTo>
                <a:lnTo>
                  <a:pt x="915517" y="240487"/>
                </a:lnTo>
                <a:lnTo>
                  <a:pt x="936993" y="198983"/>
                </a:lnTo>
                <a:lnTo>
                  <a:pt x="944702" y="151193"/>
                </a:lnTo>
                <a:close/>
              </a:path>
              <a:path w="3496309" h="1056005">
                <a:moveTo>
                  <a:pt x="3216821" y="904671"/>
                </a:moveTo>
                <a:lnTo>
                  <a:pt x="3205315" y="846810"/>
                </a:lnTo>
                <a:lnTo>
                  <a:pt x="3172536" y="797750"/>
                </a:lnTo>
                <a:lnTo>
                  <a:pt x="3123488" y="764984"/>
                </a:lnTo>
                <a:lnTo>
                  <a:pt x="3065615" y="753465"/>
                </a:lnTo>
                <a:lnTo>
                  <a:pt x="2596426" y="753465"/>
                </a:lnTo>
                <a:lnTo>
                  <a:pt x="2548636" y="761174"/>
                </a:lnTo>
                <a:lnTo>
                  <a:pt x="2507119" y="782637"/>
                </a:lnTo>
                <a:lnTo>
                  <a:pt x="2474391" y="815378"/>
                </a:lnTo>
                <a:lnTo>
                  <a:pt x="2452928" y="856881"/>
                </a:lnTo>
                <a:lnTo>
                  <a:pt x="2445220" y="904671"/>
                </a:lnTo>
                <a:lnTo>
                  <a:pt x="2452928" y="952461"/>
                </a:lnTo>
                <a:lnTo>
                  <a:pt x="2474391" y="993965"/>
                </a:lnTo>
                <a:lnTo>
                  <a:pt x="2507119" y="1026693"/>
                </a:lnTo>
                <a:lnTo>
                  <a:pt x="2548636" y="1048156"/>
                </a:lnTo>
                <a:lnTo>
                  <a:pt x="2596426" y="1055865"/>
                </a:lnTo>
                <a:lnTo>
                  <a:pt x="3065615" y="1055865"/>
                </a:lnTo>
                <a:lnTo>
                  <a:pt x="3113417" y="1048156"/>
                </a:lnTo>
                <a:lnTo>
                  <a:pt x="3154921" y="1026693"/>
                </a:lnTo>
                <a:lnTo>
                  <a:pt x="3187649" y="993965"/>
                </a:lnTo>
                <a:lnTo>
                  <a:pt x="3209112" y="952461"/>
                </a:lnTo>
                <a:lnTo>
                  <a:pt x="3216821" y="904671"/>
                </a:lnTo>
                <a:close/>
              </a:path>
              <a:path w="3496309" h="1056005">
                <a:moveTo>
                  <a:pt x="3496119" y="151193"/>
                </a:moveTo>
                <a:lnTo>
                  <a:pt x="3484613" y="93332"/>
                </a:lnTo>
                <a:lnTo>
                  <a:pt x="3451834" y="44284"/>
                </a:lnTo>
                <a:lnTo>
                  <a:pt x="3402787" y="11506"/>
                </a:lnTo>
                <a:lnTo>
                  <a:pt x="3344926" y="0"/>
                </a:lnTo>
                <a:lnTo>
                  <a:pt x="2596426" y="0"/>
                </a:lnTo>
                <a:lnTo>
                  <a:pt x="2548636" y="7708"/>
                </a:lnTo>
                <a:lnTo>
                  <a:pt x="2507119" y="29171"/>
                </a:lnTo>
                <a:lnTo>
                  <a:pt x="2474391" y="61899"/>
                </a:lnTo>
                <a:lnTo>
                  <a:pt x="2452928" y="103403"/>
                </a:lnTo>
                <a:lnTo>
                  <a:pt x="2445220" y="151193"/>
                </a:lnTo>
                <a:lnTo>
                  <a:pt x="2452928" y="198983"/>
                </a:lnTo>
                <a:lnTo>
                  <a:pt x="2474391" y="240487"/>
                </a:lnTo>
                <a:lnTo>
                  <a:pt x="2507119" y="273227"/>
                </a:lnTo>
                <a:lnTo>
                  <a:pt x="2548636" y="294690"/>
                </a:lnTo>
                <a:lnTo>
                  <a:pt x="2596426" y="302399"/>
                </a:lnTo>
                <a:lnTo>
                  <a:pt x="3344926" y="302399"/>
                </a:lnTo>
                <a:lnTo>
                  <a:pt x="3392716" y="294690"/>
                </a:lnTo>
                <a:lnTo>
                  <a:pt x="3434219" y="273227"/>
                </a:lnTo>
                <a:lnTo>
                  <a:pt x="3466947" y="240487"/>
                </a:lnTo>
                <a:lnTo>
                  <a:pt x="3488410" y="198983"/>
                </a:lnTo>
                <a:lnTo>
                  <a:pt x="3496119" y="1511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5FF8CD7-4814-4078-834F-C0F6FF606D43}"/>
              </a:ext>
            </a:extLst>
          </p:cNvPr>
          <p:cNvSpPr>
            <a:spLocks noGrp="1"/>
          </p:cNvSpPr>
          <p:nvPr/>
        </p:nvSpPr>
        <p:spPr>
          <a:xfrm>
            <a:off x="4080300" y="3306200"/>
            <a:ext cx="5064125" cy="1837689"/>
          </a:xfrm>
          <a:custGeom>
            <a:avLst/>
            <a:gdLst/>
            <a:ahLst/>
            <a:cxnLst/>
            <a:rect l="l" t="t" r="r" b="b"/>
            <a:pathLst>
              <a:path w="5064125" h="1837689">
                <a:moveTo>
                  <a:pt x="5063699" y="1837199"/>
                </a:moveTo>
                <a:lnTo>
                  <a:pt x="0" y="1837199"/>
                </a:lnTo>
                <a:lnTo>
                  <a:pt x="0" y="174515"/>
                </a:lnTo>
                <a:lnTo>
                  <a:pt x="13284" y="107731"/>
                </a:lnTo>
                <a:lnTo>
                  <a:pt x="51114" y="51114"/>
                </a:lnTo>
                <a:lnTo>
                  <a:pt x="107731" y="13284"/>
                </a:lnTo>
                <a:lnTo>
                  <a:pt x="174515" y="0"/>
                </a:lnTo>
                <a:lnTo>
                  <a:pt x="5063699" y="0"/>
                </a:lnTo>
                <a:lnTo>
                  <a:pt x="5063699" y="1837199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33" name="objec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24" y="1046924"/>
            <a:ext cx="3822299" cy="3641099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8686291D-3BA0-45FE-BEAF-72CD2ED19E1B}"/>
              </a:ext>
            </a:extLst>
          </p:cNvPr>
          <p:cNvSpPr>
            <a:spLocks noGrp="1"/>
          </p:cNvSpPr>
          <p:nvPr/>
        </p:nvSpPr>
        <p:spPr>
          <a:xfrm>
            <a:off x="224174" y="1391049"/>
            <a:ext cx="3740785" cy="3255010"/>
          </a:xfrm>
          <a:custGeom>
            <a:avLst/>
            <a:gdLst/>
            <a:ahLst/>
            <a:cxnLst/>
            <a:rect l="l" t="t" r="r" b="b"/>
            <a:pathLst>
              <a:path w="3740785" h="3255010">
                <a:moveTo>
                  <a:pt x="3618727" y="3254999"/>
                </a:moveTo>
                <a:lnTo>
                  <a:pt x="121671" y="3254999"/>
                </a:lnTo>
                <a:lnTo>
                  <a:pt x="74311" y="3245438"/>
                </a:lnTo>
                <a:lnTo>
                  <a:pt x="35636" y="3219363"/>
                </a:lnTo>
                <a:lnTo>
                  <a:pt x="9561" y="3180688"/>
                </a:lnTo>
                <a:lnTo>
                  <a:pt x="0" y="3133327"/>
                </a:lnTo>
                <a:lnTo>
                  <a:pt x="0" y="121671"/>
                </a:lnTo>
                <a:lnTo>
                  <a:pt x="9561" y="74311"/>
                </a:lnTo>
                <a:lnTo>
                  <a:pt x="35636" y="35636"/>
                </a:lnTo>
                <a:lnTo>
                  <a:pt x="74311" y="9561"/>
                </a:lnTo>
                <a:lnTo>
                  <a:pt x="121671" y="0"/>
                </a:lnTo>
                <a:lnTo>
                  <a:pt x="3618727" y="0"/>
                </a:lnTo>
                <a:lnTo>
                  <a:pt x="3665289" y="9261"/>
                </a:lnTo>
                <a:lnTo>
                  <a:pt x="3704763" y="35636"/>
                </a:lnTo>
                <a:lnTo>
                  <a:pt x="3731138" y="75110"/>
                </a:lnTo>
                <a:lnTo>
                  <a:pt x="3740399" y="121671"/>
                </a:lnTo>
                <a:lnTo>
                  <a:pt x="3740399" y="3133327"/>
                </a:lnTo>
                <a:lnTo>
                  <a:pt x="3730838" y="3180688"/>
                </a:lnTo>
                <a:lnTo>
                  <a:pt x="3704763" y="3219363"/>
                </a:lnTo>
                <a:lnTo>
                  <a:pt x="3666088" y="3245438"/>
                </a:lnTo>
                <a:lnTo>
                  <a:pt x="3618727" y="3254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EB45FE8-F6DD-4BEE-A4DD-9E899C04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77445"/>
            <a:ext cx="6705600" cy="48260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>
                <a:solidFill>
                  <a:schemeClr val="bg1"/>
                </a:solidFill>
              </a:rPr>
              <a:t>关键指标与价值测算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ADAF938-F013-4912-9093-917F581F9F89}"/>
              </a:ext>
            </a:extLst>
          </p:cNvPr>
          <p:cNvSpPr>
            <a:spLocks noGrp="1"/>
          </p:cNvSpPr>
          <p:nvPr/>
        </p:nvSpPr>
        <p:spPr>
          <a:xfrm>
            <a:off x="4229328" y="3408299"/>
            <a:ext cx="4621530" cy="117981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rgbClr val="4285F4"/>
                </a:solidFill>
                <a:latin typeface="MiSans Medium"/>
                <a:ea typeface="MiSans Medium"/>
                <a:cs typeface="MiSans Medium"/>
              </a:rPr>
              <a:t>核心指标</a:t>
            </a:r>
          </a:p>
          <a:p>
            <a:pPr marL="287020" indent="-198755">
              <a:lnSpc>
                <a:spcPct val="100000"/>
              </a:lnSpc>
              <a:spcBef>
                <a:spcPts val="735"/>
              </a:spcBef>
              <a:buChar char="●"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首批试点覆盖 3 个关键业务场景，验证产品价值与流程可行性</a:t>
            </a:r>
          </a:p>
          <a:p>
            <a:pPr marL="286385" indent="-198120">
              <a:lnSpc>
                <a:spcPct val="100000"/>
              </a:lnSpc>
              <a:spcBef>
                <a:spcPts val="600"/>
              </a:spcBef>
              <a:buChar char="●"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MVP 阶段目标：核心任务完成率提升 25%，人工处理时长降低 30%</a:t>
            </a:r>
          </a:p>
          <a:p>
            <a:pPr marL="287020">
              <a:lnSpc>
                <a:spcPct val="100000"/>
              </a:lnSpc>
              <a:buNone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规模化阶段目标：月活使用率达到 60%，关键客户续用率达到 80%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DF7917D-B345-49F2-A0EF-853E2760A61F}"/>
              </a:ext>
            </a:extLst>
          </p:cNvPr>
          <p:cNvSpPr>
            <a:spLocks noGrp="1"/>
          </p:cNvSpPr>
          <p:nvPr/>
        </p:nvSpPr>
        <p:spPr>
          <a:xfrm>
            <a:off x="415308" y="1602724"/>
            <a:ext cx="3371850" cy="2456184"/>
          </a:xfrm>
          <a:prstGeom prst="rect">
            <a:avLst/>
          </a:prstGeom>
        </p:spPr>
        <p:txBody>
          <a:bodyPr vert="horz" wrap="square" lIns="0" tIns="31114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  <a:buNone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价值测算</a:t>
            </a:r>
          </a:p>
          <a:p>
            <a:pPr marL="12700">
              <a:lnSpc>
                <a:spcPct val="114999"/>
              </a:lnSpc>
              <a:buNone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产品价值主要来自效率提升、体验改善与数据沉淀。第一阶段以试点验证为主，重点关注任务完成率、使用频次、反馈质量和问题关闭周期；第二阶段扩大到重点客户或部门，形成可复用流程和配置模板；第三阶段沉淀平台能力，支撑更多场景复制与商业化包装。</a:t>
            </a:r>
          </a:p>
          <a:p>
            <a:pPr marL="12700">
              <a:lnSpc>
                <a:spcPct val="114999"/>
              </a:lnSpc>
              <a:buNone/>
            </a:pPr>
            <a:endParaRPr sz="8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 marL="12700">
              <a:lnSpc>
                <a:spcPct val="114999"/>
              </a:lnSpc>
              <a:spcBef>
                <a:spcPts val="500"/>
              </a:spcBef>
              <a:buNone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衡量方式采用基线对比、用户分层和阶段复盘，避免只看上线数量，而是持续追踪真实使用、业务结果和长期留存。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A371BDC-7CD8-4E8E-AA9D-99D22636D167}"/>
              </a:ext>
            </a:extLst>
          </p:cNvPr>
          <p:cNvSpPr>
            <a:spLocks noGrp="1"/>
          </p:cNvSpPr>
          <p:nvPr/>
        </p:nvSpPr>
        <p:spPr>
          <a:xfrm>
            <a:off x="376775" y="1124029"/>
            <a:ext cx="3367850" cy="2082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rgbClr val="FFFFFF"/>
                </a:solidFill>
                <a:latin typeface="MiSans Medium"/>
                <a:ea typeface="MiSans Medium"/>
                <a:cs typeface="MiSans Medium"/>
              </a:rPr>
              <a:t>产品侧指标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66C1F10-9A93-49A5-A58E-7EFAE7683DEE}"/>
              </a:ext>
            </a:extLst>
          </p:cNvPr>
          <p:cNvSpPr>
            <a:spLocks noGrp="1"/>
          </p:cNvSpPr>
          <p:nvPr/>
        </p:nvSpPr>
        <p:spPr>
          <a:xfrm>
            <a:off x="4220247" y="2454437"/>
            <a:ext cx="2268220" cy="5130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以激活率、留存率、核心任务完成率衡量产品是否真正解决目标用户问题。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58F024E-A6FA-4176-B037-5718A280147F}"/>
              </a:ext>
            </a:extLst>
          </p:cNvPr>
          <p:cNvSpPr>
            <a:spLocks noGrp="1"/>
          </p:cNvSpPr>
          <p:nvPr/>
        </p:nvSpPr>
        <p:spPr>
          <a:xfrm>
            <a:off x="6681136" y="2454437"/>
            <a:ext cx="2133600" cy="505267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以版本交付周期、缺陷关闭周期和需求响应速度衡量研发与交付效率。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EFDB127-8091-465E-A76D-E2F443BABEC6}"/>
              </a:ext>
            </a:extLst>
          </p:cNvPr>
          <p:cNvSpPr>
            <a:spLocks noGrp="1"/>
          </p:cNvSpPr>
          <p:nvPr/>
        </p:nvSpPr>
        <p:spPr>
          <a:xfrm>
            <a:off x="4229328" y="1124027"/>
            <a:ext cx="4838472" cy="2082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200">
                <a:solidFill>
                  <a:srgbClr val="4285F4"/>
                </a:solidFill>
                <a:latin typeface="MiSans Medium"/>
                <a:ea typeface="MiSans Medium"/>
                <a:cs typeface="MiSans Medium"/>
              </a:rPr>
              <a:t>业务侧指标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ED1D922-2E7F-4890-89E1-8D857CA487E0}"/>
              </a:ext>
            </a:extLst>
          </p:cNvPr>
          <p:cNvSpPr>
            <a:spLocks noGrp="1"/>
          </p:cNvSpPr>
          <p:nvPr/>
        </p:nvSpPr>
        <p:spPr>
          <a:xfrm>
            <a:off x="4219325" y="1662160"/>
            <a:ext cx="2228850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试点团队目标：关键流程平均处理时长下降 30%，跨部门沟通成本明显降低。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5429644-16C9-4705-8286-29D4C97AC31A}"/>
              </a:ext>
            </a:extLst>
          </p:cNvPr>
          <p:cNvSpPr>
            <a:spLocks noGrp="1"/>
          </p:cNvSpPr>
          <p:nvPr/>
        </p:nvSpPr>
        <p:spPr>
          <a:xfrm>
            <a:off x="6681125" y="1662160"/>
            <a:ext cx="1734185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客户与商业目标：形成可复用方案包，支撑续费、增购和新客转化。</a:t>
            </a:r>
          </a:p>
        </p:txBody>
      </p:sp>
      <p:pic>
        <p:nvPicPr>
          <p:cNvPr id="45" name="object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474" y="1454450"/>
            <a:ext cx="744599" cy="122299"/>
          </a:xfrm>
          <a:prstGeom prst="rect">
            <a:avLst/>
          </a:prstGeom>
        </p:spPr>
      </p:pic>
      <p:pic>
        <p:nvPicPr>
          <p:cNvPr id="46" name="object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899" y="1428475"/>
            <a:ext cx="885199" cy="174249"/>
          </a:xfrm>
          <a:prstGeom prst="rect">
            <a:avLst/>
          </a:prstGeom>
        </p:spPr>
      </p:pic>
      <p:pic>
        <p:nvPicPr>
          <p:cNvPr id="47" name="object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0299" y="2163000"/>
            <a:ext cx="269749" cy="212149"/>
          </a:xfrm>
          <a:prstGeom prst="rect">
            <a:avLst/>
          </a:prstGeom>
        </p:spPr>
      </p:pic>
      <p:pic>
        <p:nvPicPr>
          <p:cNvPr id="48" name="object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124" y="2206225"/>
            <a:ext cx="537449" cy="125699"/>
          </a:xfrm>
          <a:prstGeom prst="rect">
            <a:avLst/>
          </a:prstGeom>
        </p:spPr>
      </p:pic>
      <p:sp>
        <p:nvSpPr>
          <p:cNvPr id="26" name="object 26">
            <a:extLst>
              <a:ext uri="{FF2B5EF4-FFF2-40B4-BE49-F238E27FC236}">
                <a16:creationId xmlns:a16="http://schemas.microsoft.com/office/drawing/2014/main" id="{9276F60E-428F-4BE1-98E9-1D00D8E82270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</p:spTree>
    <p:extLst>
      <p:ext uri="{BB962C8B-B14F-4D97-AF65-F5344CB8AC3E}">
        <p14:creationId xmlns:p14="http://schemas.microsoft.com/office/powerpoint/2010/main" val="114327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2CB651C-0951-4301-B495-65572A498C7D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FED33F9-4663-4BC6-9AA9-55416FB60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825" y="292632"/>
            <a:ext cx="7943575" cy="2769989"/>
          </a:xfrm>
          <a:prstGeom prst="rect">
            <a:avLst/>
          </a:prstGeom>
        </p:spPr>
        <p:txBody>
          <a:bodyPr vert="horz" wrap="square" lIns="0" tIns="152400" rIns="0" bIns="0">
            <a:spAutoFit/>
          </a:bodyPr>
          <a:lstStyle/>
          <a:p>
            <a:pPr marL="12700">
              <a:lnSpc>
                <a:spcPts val="6750"/>
              </a:lnSpc>
              <a:spcBef>
                <a:spcPts val="1200"/>
              </a:spcBef>
              <a:buNone/>
            </a:pPr>
            <a:r>
              <a:rPr sz="6500">
                <a:solidFill>
                  <a:srgbClr val="FFFFFF"/>
                </a:solidFill>
              </a:rPr>
              <a:t>02.</a:t>
            </a:r>
          </a:p>
          <a:p>
            <a:pPr marL="12700">
              <a:lnSpc>
                <a:spcPts val="6750"/>
              </a:lnSpc>
              <a:spcBef>
                <a:spcPts val="1200"/>
              </a:spcBef>
              <a:buNone/>
            </a:pPr>
            <a:r>
              <a:rPr sz="6500">
                <a:solidFill>
                  <a:srgbClr val="FFFFFF"/>
                </a:solidFill>
              </a:rPr>
              <a:t>路线图与版本节奏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62797DB-30E8-4874-A99D-57DB120C001B}"/>
              </a:ext>
            </a:extLst>
          </p:cNvPr>
          <p:cNvSpPr>
            <a:spLocks noGrp="1"/>
          </p:cNvSpPr>
          <p:nvPr/>
        </p:nvSpPr>
        <p:spPr>
          <a:xfrm>
            <a:off x="209825" y="3166906"/>
            <a:ext cx="7363459" cy="936154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000">
                <a:solidFill>
                  <a:srgbClr val="FFFFFF"/>
                </a:solidFill>
                <a:latin typeface="MiSans Medium"/>
                <a:ea typeface="MiSans Medium"/>
                <a:cs typeface="MiSans Medium"/>
              </a:rPr>
              <a:t>路线图按照“验证核心价值、扩展关键能力、规模化运营”三阶段推进，每个阶段都有清晰交付物、验收指标和复盘机制。</a:t>
            </a:r>
          </a:p>
        </p:txBody>
      </p:sp>
    </p:spTree>
    <p:extLst>
      <p:ext uri="{BB962C8B-B14F-4D97-AF65-F5344CB8AC3E}">
        <p14:creationId xmlns:p14="http://schemas.microsoft.com/office/powerpoint/2010/main" val="267225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9847DD93-2DDF-F5C7-1943-A9C96FAEFFB2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6AC2072-0ABD-4455-9DBB-5CA199281FF8}"/>
              </a:ext>
            </a:extLst>
          </p:cNvPr>
          <p:cNvSpPr>
            <a:spLocks noGrp="1"/>
          </p:cNvSpPr>
          <p:nvPr/>
        </p:nvSpPr>
        <p:spPr>
          <a:xfrm>
            <a:off x="8442229" y="171291"/>
            <a:ext cx="466725" cy="919670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ts val="815"/>
              </a:lnSpc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内部资料</a:t>
            </a: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endParaRPr sz="700">
              <a:solidFill>
                <a:srgbClr val="202124"/>
              </a:solidFill>
              <a:latin typeface="MiSans Medium"/>
              <a:ea typeface="MiSans Medium"/>
              <a:cs typeface="MiSans Medium"/>
            </a:endParaRPr>
          </a:p>
          <a:p>
            <a:pPr algn="r">
              <a:lnSpc>
                <a:spcPct val="100000"/>
              </a:lnSpc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011</a:t>
            </a:r>
          </a:p>
        </p:txBody>
      </p:sp>
      <p:pic>
        <p:nvPicPr>
          <p:cNvPr id="11" name="objec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498" y="0"/>
            <a:ext cx="4235500" cy="5143500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5158C36-C6F7-4F52-BCAA-3C8A74447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62" y="1594559"/>
            <a:ext cx="4720590" cy="1554272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6600" b="1" dirty="0" err="1">
                <a:solidFill>
                  <a:schemeClr val="bg1"/>
                </a:solidFill>
                <a:latin typeface="MiSans"/>
                <a:ea typeface="MiSans"/>
                <a:cs typeface="MiSans"/>
              </a:rPr>
              <a:t>风险保障</a:t>
            </a:r>
            <a:endParaRPr sz="6600" b="1" dirty="0">
              <a:solidFill>
                <a:schemeClr val="bg1"/>
              </a:solidFill>
              <a:latin typeface="MiSans"/>
              <a:ea typeface="MiSans"/>
              <a:cs typeface="MiSans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  <a:buNone/>
            </a:pPr>
            <a:r>
              <a:rPr sz="2000" dirty="0" err="1">
                <a:solidFill>
                  <a:schemeClr val="bg1"/>
                </a:solidFill>
              </a:rPr>
              <a:t>落地可控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3960FB2-181F-4649-862A-F7A11D23BF79}"/>
              </a:ext>
            </a:extLst>
          </p:cNvPr>
          <p:cNvSpPr>
            <a:spLocks noGrp="1"/>
          </p:cNvSpPr>
          <p:nvPr/>
        </p:nvSpPr>
        <p:spPr>
          <a:xfrm>
            <a:off x="207667" y="4849006"/>
            <a:ext cx="930910" cy="225062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</p:spTree>
    <p:extLst>
      <p:ext uri="{BB962C8B-B14F-4D97-AF65-F5344CB8AC3E}">
        <p14:creationId xmlns:p14="http://schemas.microsoft.com/office/powerpoint/2010/main" val="64846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BEA905A1-1A6D-4033-B8BC-7982C643CC7A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4A8B206-6CD3-4B10-9E23-C33412D05CD3}"/>
              </a:ext>
            </a:extLst>
          </p:cNvPr>
          <p:cNvSpPr>
            <a:spLocks noGrp="1"/>
          </p:cNvSpPr>
          <p:nvPr/>
        </p:nvSpPr>
        <p:spPr>
          <a:xfrm>
            <a:off x="209825" y="4543161"/>
            <a:ext cx="4119245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800" dirty="0" err="1">
                <a:solidFill>
                  <a:srgbClr val="F7F9FA"/>
                </a:solidFill>
                <a:latin typeface="MiSans Medium"/>
                <a:ea typeface="MiSans Medium"/>
                <a:cs typeface="MiSans Medium"/>
              </a:rPr>
              <a:t>说明：本方案用于产品规划汇报，后续将结合试点反馈与资源评审持续更新</a:t>
            </a:r>
            <a:r>
              <a:rPr sz="800" dirty="0">
                <a:solidFill>
                  <a:srgbClr val="F7F9FA"/>
                </a:solidFill>
                <a:latin typeface="MiSans Medium"/>
                <a:ea typeface="MiSans Medium"/>
                <a:cs typeface="MiSans Medium"/>
              </a:rPr>
              <a:t>。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6991E6C-CB36-4771-AEB7-3DAE3A9DE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62" y="-306329"/>
            <a:ext cx="4333240" cy="4490717"/>
          </a:xfrm>
          <a:prstGeom prst="rect">
            <a:avLst/>
          </a:prstGeom>
        </p:spPr>
        <p:txBody>
          <a:bodyPr vert="horz" wrap="square" lIns="0" tIns="60071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4730"/>
              </a:spcBef>
              <a:buNone/>
            </a:pPr>
            <a:r>
              <a:rPr sz="7200" dirty="0">
                <a:solidFill>
                  <a:srgbClr val="F7F9FA"/>
                </a:solidFill>
              </a:rPr>
              <a:t>03. </a:t>
            </a:r>
            <a:br>
              <a:rPr lang="en-US" sz="7200" dirty="0">
                <a:solidFill>
                  <a:srgbClr val="F7F9FA"/>
                </a:solidFill>
              </a:rPr>
            </a:br>
            <a:r>
              <a:rPr sz="7200" dirty="0" err="1">
                <a:solidFill>
                  <a:srgbClr val="F7F9FA"/>
                </a:solidFill>
              </a:rPr>
              <a:t>投入与</a:t>
            </a:r>
            <a:br>
              <a:rPr lang="en-US" sz="7200" dirty="0">
                <a:solidFill>
                  <a:srgbClr val="F7F9FA"/>
                </a:solidFill>
              </a:rPr>
            </a:br>
            <a:r>
              <a:rPr sz="7200" dirty="0" err="1">
                <a:solidFill>
                  <a:srgbClr val="F7F9FA"/>
                </a:solidFill>
              </a:rPr>
              <a:t>落地计划</a:t>
            </a:r>
            <a:endParaRPr sz="7200" dirty="0">
              <a:solidFill>
                <a:srgbClr val="F7F9FA"/>
              </a:solidFill>
            </a:endParaRPr>
          </a:p>
          <a:p>
            <a:pPr marL="12700">
              <a:lnSpc>
                <a:spcPct val="116100"/>
              </a:lnSpc>
              <a:spcBef>
                <a:spcPts val="635"/>
              </a:spcBef>
              <a:buNone/>
            </a:pPr>
            <a:r>
              <a:rPr sz="1400" dirty="0" err="1">
                <a:solidFill>
                  <a:srgbClr val="FFFFFF"/>
                </a:solidFill>
              </a:rPr>
              <a:t>围绕团队、资源、协同与发布节奏制定推进路径，确保规划从方案进入执行</a:t>
            </a:r>
            <a:r>
              <a:rPr sz="1400" dirty="0">
                <a:solidFill>
                  <a:srgbClr val="FFFFFF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09102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B9AB077D-8FDD-DA18-66E6-0F922DBB819E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6FDD008-983C-49A9-B5C6-4EC592336470}"/>
              </a:ext>
            </a:extLst>
          </p:cNvPr>
          <p:cNvSpPr>
            <a:spLocks noGrp="1"/>
          </p:cNvSpPr>
          <p:nvPr/>
        </p:nvSpPr>
        <p:spPr>
          <a:xfrm>
            <a:off x="8747426" y="4861706"/>
            <a:ext cx="161290" cy="205184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>
              <a:lnSpc>
                <a:spcPts val="815"/>
              </a:lnSpc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013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8C7E40F-964C-475F-9112-9A99A338E0F8}"/>
              </a:ext>
            </a:extLst>
          </p:cNvPr>
          <p:cNvSpPr>
            <a:spLocks noGrp="1"/>
          </p:cNvSpPr>
          <p:nvPr/>
        </p:nvSpPr>
        <p:spPr>
          <a:xfrm>
            <a:off x="8429529" y="155569"/>
            <a:ext cx="492125" cy="1320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7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内部资料</a:t>
            </a:r>
          </a:p>
        </p:txBody>
      </p:sp>
      <p:pic>
        <p:nvPicPr>
          <p:cNvPr id="15" name="objec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831" y="2561875"/>
            <a:ext cx="3706168" cy="258162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D6B103F-47E8-424E-BAD6-32D422B1B0D1}"/>
              </a:ext>
            </a:extLst>
          </p:cNvPr>
          <p:cNvSpPr>
            <a:spLocks noGrp="1"/>
          </p:cNvSpPr>
          <p:nvPr/>
        </p:nvSpPr>
        <p:spPr>
          <a:xfrm>
            <a:off x="4610124" y="460250"/>
            <a:ext cx="4077335" cy="4227830"/>
          </a:xfrm>
          <a:custGeom>
            <a:avLst/>
            <a:gdLst/>
            <a:ahLst/>
            <a:cxnLst/>
            <a:rect l="l" t="t" r="r" b="b"/>
            <a:pathLst>
              <a:path w="4077334" h="4227830">
                <a:moveTo>
                  <a:pt x="3841716" y="4227599"/>
                </a:moveTo>
                <a:lnTo>
                  <a:pt x="235283" y="4227599"/>
                </a:lnTo>
                <a:lnTo>
                  <a:pt x="187865" y="4222819"/>
                </a:lnTo>
                <a:lnTo>
                  <a:pt x="143700" y="4209110"/>
                </a:lnTo>
                <a:lnTo>
                  <a:pt x="103734" y="4187417"/>
                </a:lnTo>
                <a:lnTo>
                  <a:pt x="68913" y="4158686"/>
                </a:lnTo>
                <a:lnTo>
                  <a:pt x="40182" y="4123865"/>
                </a:lnTo>
                <a:lnTo>
                  <a:pt x="18489" y="4083899"/>
                </a:lnTo>
                <a:lnTo>
                  <a:pt x="4780" y="4039734"/>
                </a:lnTo>
                <a:lnTo>
                  <a:pt x="0" y="3992316"/>
                </a:lnTo>
                <a:lnTo>
                  <a:pt x="0" y="235283"/>
                </a:lnTo>
                <a:lnTo>
                  <a:pt x="4780" y="187865"/>
                </a:lnTo>
                <a:lnTo>
                  <a:pt x="18489" y="143700"/>
                </a:lnTo>
                <a:lnTo>
                  <a:pt x="40182" y="103734"/>
                </a:lnTo>
                <a:lnTo>
                  <a:pt x="68913" y="68912"/>
                </a:lnTo>
                <a:lnTo>
                  <a:pt x="103734" y="40182"/>
                </a:lnTo>
                <a:lnTo>
                  <a:pt x="143700" y="18489"/>
                </a:lnTo>
                <a:lnTo>
                  <a:pt x="187865" y="4780"/>
                </a:lnTo>
                <a:lnTo>
                  <a:pt x="235283" y="0"/>
                </a:lnTo>
                <a:lnTo>
                  <a:pt x="3841716" y="0"/>
                </a:lnTo>
                <a:lnTo>
                  <a:pt x="3887832" y="4562"/>
                </a:lnTo>
                <a:lnTo>
                  <a:pt x="3931755" y="17909"/>
                </a:lnTo>
                <a:lnTo>
                  <a:pt x="3972251" y="39530"/>
                </a:lnTo>
                <a:lnTo>
                  <a:pt x="4008086" y="68912"/>
                </a:lnTo>
                <a:lnTo>
                  <a:pt x="4037469" y="104748"/>
                </a:lnTo>
                <a:lnTo>
                  <a:pt x="4059089" y="145244"/>
                </a:lnTo>
                <a:lnTo>
                  <a:pt x="4072437" y="189167"/>
                </a:lnTo>
                <a:lnTo>
                  <a:pt x="4076999" y="235283"/>
                </a:lnTo>
                <a:lnTo>
                  <a:pt x="4076999" y="3992316"/>
                </a:lnTo>
                <a:lnTo>
                  <a:pt x="4072219" y="4039734"/>
                </a:lnTo>
                <a:lnTo>
                  <a:pt x="4058510" y="4083899"/>
                </a:lnTo>
                <a:lnTo>
                  <a:pt x="4036817" y="4123865"/>
                </a:lnTo>
                <a:lnTo>
                  <a:pt x="4008087" y="4158686"/>
                </a:lnTo>
                <a:lnTo>
                  <a:pt x="3973265" y="4187417"/>
                </a:lnTo>
                <a:lnTo>
                  <a:pt x="3933299" y="4209110"/>
                </a:lnTo>
                <a:lnTo>
                  <a:pt x="3889134" y="4222819"/>
                </a:lnTo>
                <a:lnTo>
                  <a:pt x="3841716" y="4227599"/>
                </a:lnTo>
                <a:close/>
              </a:path>
            </a:pathLst>
          </a:custGeom>
          <a:solidFill>
            <a:srgbClr val="2C2D3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D0E0585-C1CE-4777-81CC-AF532F48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25" y="332975"/>
            <a:ext cx="3738245" cy="246926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 err="1">
                <a:solidFill>
                  <a:schemeClr val="bg1"/>
                </a:solidFill>
              </a:rPr>
              <a:t>启动试点与首批发布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05C5E61-0979-4BF1-A2A8-8330814BBF09}"/>
              </a:ext>
            </a:extLst>
          </p:cNvPr>
          <p:cNvSpPr>
            <a:spLocks noGrp="1"/>
          </p:cNvSpPr>
          <p:nvPr/>
        </p:nvSpPr>
        <p:spPr>
          <a:xfrm>
            <a:off x="4933037" y="837010"/>
            <a:ext cx="3496492" cy="140102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buNone/>
            </a:pPr>
            <a:r>
              <a:rPr sz="1400" dirty="0" err="1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以真实场景验证产品价值</a:t>
            </a:r>
            <a:endParaRPr sz="1400" dirty="0">
              <a:solidFill>
                <a:schemeClr val="bg1"/>
              </a:solidFill>
              <a:latin typeface="MiSans Medium"/>
              <a:ea typeface="MiSans Medium"/>
              <a:cs typeface="MiSans Medium"/>
            </a:endParaRPr>
          </a:p>
          <a:p>
            <a:pPr marL="12700">
              <a:lnSpc>
                <a:spcPct val="150000"/>
              </a:lnSpc>
              <a:spcBef>
                <a:spcPts val="1300"/>
              </a:spcBef>
              <a:buNone/>
            </a:pPr>
            <a:r>
              <a:rPr sz="1000" dirty="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选择目标清晰、反馈及时、数据可追踪的业务团队作为首批试点对象。试点周期聚焦核心流程闭环，收集使用数据、用户反馈和运营问题，形成版本迭代清单，并在评审后扩大到更多场景。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5821C82-0B73-43C4-AEB2-487B45DB633A}"/>
              </a:ext>
            </a:extLst>
          </p:cNvPr>
          <p:cNvSpPr>
            <a:spLocks noGrp="1"/>
          </p:cNvSpPr>
          <p:nvPr/>
        </p:nvSpPr>
        <p:spPr>
          <a:xfrm>
            <a:off x="4933037" y="2614795"/>
            <a:ext cx="3496492" cy="167789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buNone/>
            </a:pPr>
            <a:r>
              <a:rPr sz="1400" dirty="0" err="1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试点资源安排</a:t>
            </a:r>
            <a:endParaRPr sz="1400" dirty="0">
              <a:solidFill>
                <a:schemeClr val="bg1"/>
              </a:solidFill>
              <a:latin typeface="MiSans Medium"/>
              <a:ea typeface="MiSans Medium"/>
              <a:cs typeface="MiSans Medium"/>
            </a:endParaRPr>
          </a:p>
          <a:p>
            <a:pPr marL="12700">
              <a:lnSpc>
                <a:spcPct val="150000"/>
              </a:lnSpc>
              <a:spcBef>
                <a:spcPts val="1200"/>
              </a:spcBef>
              <a:buNone/>
            </a:pPr>
            <a:r>
              <a:rPr sz="1000" dirty="0" err="1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产品、研发、设计、运营共同参与，明确负责人和周例会节奏</a:t>
            </a:r>
            <a:r>
              <a:rPr sz="1000" dirty="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。</a:t>
            </a:r>
          </a:p>
          <a:p>
            <a:pPr marL="12700">
              <a:lnSpc>
                <a:spcPct val="150000"/>
              </a:lnSpc>
              <a:spcBef>
                <a:spcPts val="1190"/>
              </a:spcBef>
              <a:buNone/>
            </a:pPr>
            <a:r>
              <a:rPr sz="800" dirty="0" err="1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交付物包括试点方案、版本清单、指标看板、问题清单和复盘报告</a:t>
            </a:r>
            <a:r>
              <a:rPr sz="800" dirty="0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。</a:t>
            </a:r>
          </a:p>
          <a:p>
            <a:pPr>
              <a:lnSpc>
                <a:spcPct val="150000"/>
              </a:lnSpc>
              <a:spcBef>
                <a:spcPts val="315"/>
              </a:spcBef>
              <a:buNone/>
            </a:pPr>
            <a:endParaRPr sz="800" dirty="0">
              <a:solidFill>
                <a:schemeClr val="bg1"/>
              </a:solidFill>
              <a:latin typeface="MiSans Medium"/>
              <a:ea typeface="MiSans Medium"/>
              <a:cs typeface="MiSans Medium"/>
            </a:endParaRPr>
          </a:p>
          <a:p>
            <a:pPr marL="12700">
              <a:lnSpc>
                <a:spcPct val="150000"/>
              </a:lnSpc>
              <a:buNone/>
            </a:pPr>
            <a:r>
              <a:rPr sz="800" dirty="0" err="1">
                <a:solidFill>
                  <a:schemeClr val="bg1"/>
                </a:solidFill>
                <a:latin typeface="MiSans Medium"/>
                <a:ea typeface="MiSans Medium"/>
                <a:cs typeface="MiSans Medium"/>
              </a:rPr>
              <a:t>下一步：完成试点范围确认与版本排期</a:t>
            </a:r>
            <a:endParaRPr sz="800" dirty="0">
              <a:solidFill>
                <a:schemeClr val="bg1"/>
              </a:solidFill>
              <a:latin typeface="MiSans Medium"/>
              <a:ea typeface="MiSans Medium"/>
              <a:cs typeface="MiSans Medium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39C36AC-895A-4F9E-B46F-EC0653DBEAE1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207667" y="4819786"/>
            <a:ext cx="925871" cy="445770"/>
          </a:xfrm>
          <a:prstGeom prst="rect">
            <a:avLst/>
          </a:prstGeom>
        </p:spPr>
        <p:txBody>
          <a:bodyPr vert="horz" wrap="square" lIns="0" tIns="952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buNone/>
            </a:pPr>
            <a:r>
              <a:rPr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  <p:pic>
        <p:nvPicPr>
          <p:cNvPr id="13" name="object 9">
            <a:extLst>
              <a:ext uri="{FF2B5EF4-FFF2-40B4-BE49-F238E27FC236}">
                <a16:creationId xmlns:a16="http://schemas.microsoft.com/office/drawing/2014/main" id="{06046066-A019-AAB0-63E3-F6BB8C435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30" y="1140439"/>
            <a:ext cx="3045749" cy="32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75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834743EF-FB5A-50BE-3F2D-ACAFABDFD88C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124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D952953-8D65-1557-3C60-D36780824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498" y="0"/>
            <a:ext cx="4235500" cy="514350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E4ED49F-C56B-4932-96EF-AF0F6CC1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448" y="2040560"/>
            <a:ext cx="4070437" cy="78740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5000" b="1" dirty="0" err="1">
                <a:solidFill>
                  <a:schemeClr val="bg1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谢谢</a:t>
            </a:r>
            <a:r>
              <a:rPr sz="5000" b="1" dirty="0">
                <a:solidFill>
                  <a:schemeClr val="bg1"/>
                </a:solidFill>
                <a:latin typeface="MiSans" pitchFamily="2" charset="-128"/>
                <a:ea typeface="MiSans" pitchFamily="2" charset="-128"/>
                <a:cs typeface="MiSans" pitchFamily="2" charset="-128"/>
              </a:rPr>
              <a:t> / Q&amp;A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65C8970-4C9E-4EAB-B0DE-9AE83278EA18}"/>
              </a:ext>
            </a:extLst>
          </p:cNvPr>
          <p:cNvSpPr>
            <a:spLocks noGrp="1"/>
          </p:cNvSpPr>
          <p:nvPr/>
        </p:nvSpPr>
        <p:spPr>
          <a:xfrm>
            <a:off x="4303972" y="4845565"/>
            <a:ext cx="1715827" cy="139700"/>
          </a:xfrm>
          <a:prstGeom prst="rect">
            <a:avLst/>
          </a:prstGeom>
        </p:spPr>
        <p:txBody>
          <a:bodyPr vert="horz" wrap="square" lIns="0" tIns="889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  <a:buNone/>
            </a:pPr>
            <a:r>
              <a:rPr sz="800">
                <a:solidFill>
                  <a:srgbClr val="202124"/>
                </a:solidFill>
                <a:latin typeface="MiSans Medium"/>
                <a:ea typeface="MiSans Medium"/>
                <a:cs typeface="MiSans Medium"/>
              </a:rPr>
              <a:t>产品规划方案</a:t>
            </a:r>
          </a:p>
        </p:txBody>
      </p:sp>
    </p:spTree>
    <p:extLst>
      <p:ext uri="{BB962C8B-B14F-4D97-AF65-F5344CB8AC3E}">
        <p14:creationId xmlns:p14="http://schemas.microsoft.com/office/powerpoint/2010/main" val="31370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319</Words>
  <Application>Microsoft Macintosh PowerPoint</Application>
  <DocSecurity>0</DocSecurity>
  <PresentationFormat>全屏显示(16:9)</PresentationFormat>
  <Paragraphs>153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MiSans</vt:lpstr>
      <vt:lpstr>MiSans Medium</vt:lpstr>
      <vt:lpstr>Calibri</vt:lpstr>
      <vt:lpstr>Office Theme</vt:lpstr>
      <vt:lpstr>PowerPoint 演示文稿</vt:lpstr>
      <vt:lpstr>规划概要</vt:lpstr>
      <vt:lpstr>01. 规划目标与总体思路</vt:lpstr>
      <vt:lpstr>产品规划全景</vt:lpstr>
      <vt:lpstr>核心能力规划</vt:lpstr>
      <vt:lpstr>目标客群与典型场景</vt:lpstr>
      <vt:lpstr>产品规划汇报重点</vt:lpstr>
      <vt:lpstr>产品机会 围绕用户需求、业务目标与组织能力，明确本阶段最值得投入的产品方向，并建立从需求验证到规模化增长的路线。</vt:lpstr>
      <vt:lpstr>关键指标与价值测算</vt:lpstr>
      <vt:lpstr>02. 路线图与版本节奏</vt:lpstr>
      <vt:lpstr>风险保障 落地可控</vt:lpstr>
      <vt:lpstr>03.  投入与 落地计划 围绕团队、资源、协同与发布节奏制定推进路径，确保规划从方案进入执行。</vt:lpstr>
      <vt:lpstr>启动试点与首批发布</vt:lpstr>
      <vt:lpstr>谢谢 /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Peter</cp:lastModifiedBy>
  <cp:revision>2</cp:revision>
  <dcterms:created xsi:type="dcterms:W3CDTF">2026-06-02T13:20:37Z</dcterms:created>
  <dcterms:modified xsi:type="dcterms:W3CDTF">2026-06-02T13:43:17Z</dcterms:modified>
</cp:coreProperties>
</file>