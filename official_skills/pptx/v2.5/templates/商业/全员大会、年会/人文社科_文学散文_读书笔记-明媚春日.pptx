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63D"/>
    <a:srgbClr val="947765"/>
    <a:srgbClr val="A88771"/>
    <a:srgbClr val="2B1A14"/>
    <a:srgbClr val="E7603B"/>
    <a:srgbClr val="503024"/>
    <a:srgbClr val="5D2F1D"/>
    <a:srgbClr val="694E44"/>
    <a:srgbClr val="5A4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49"/>
    <p:restoredTop sz="97036"/>
  </p:normalViewPr>
  <p:slideViewPr>
    <p:cSldViewPr snapToGrid="0" snapToObjects="1">
      <p:cViewPr varScale="1">
        <p:scale>
          <a:sx n="141" d="100"/>
          <a:sy n="141" d="100"/>
        </p:scale>
        <p:origin x="200" y="6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C97A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71-F346-9552-6C7D44EBA8F1}"/>
              </c:ext>
            </c:extLst>
          </c:dPt>
          <c:dPt>
            <c:idx val="1"/>
            <c:invertIfNegative val="0"/>
            <c:bubble3D val="0"/>
            <c:spPr>
              <a:solidFill>
                <a:srgbClr val="503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71-F346-9552-6C7D44EBA8F1}"/>
              </c:ext>
            </c:extLst>
          </c:dPt>
          <c:dPt>
            <c:idx val="2"/>
            <c:invertIfNegative val="0"/>
            <c:bubble3D val="0"/>
            <c:spPr>
              <a:solidFill>
                <a:srgbClr val="694E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71-F346-9552-6C7D44EBA8F1}"/>
              </c:ext>
            </c:extLst>
          </c:dPt>
          <c:dPt>
            <c:idx val="3"/>
            <c:invertIfNegative val="0"/>
            <c:bubble3D val="0"/>
            <c:spPr>
              <a:solidFill>
                <a:srgbClr val="A887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71-F346-9552-6C7D44EBA8F1}"/>
              </c:ext>
            </c:extLst>
          </c:dPt>
          <c:cat>
            <c:strRef>
              <c:f>Sheet1!$A$2:$A$5</c:f>
              <c:strCache>
                <c:ptCount val="4"/>
                <c:pt idx="0">
                  <c:v>4个及以上业务职能使用AI</c:v>
                </c:pt>
                <c:pt idx="1">
                  <c:v>3个及以上业务职能使用AI</c:v>
                </c:pt>
                <c:pt idx="2">
                  <c:v>2个及以上业务职能使用AI</c:v>
                </c:pt>
                <c:pt idx="3">
                  <c:v>至少1个业务职能使用AI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27</c:v>
                </c:pt>
                <c:pt idx="2">
                  <c:v>50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71-F346-9552-6C7D44EBA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BCBC4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low"/>
        <c:spPr>
          <a:ln w="6350" cap="flat">
            <a:solidFill>
              <a:srgbClr val="2B1F1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F1A"/>
                </a:solidFill>
                <a:latin typeface="Geist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2.557754813099114E-2"/>
          <c:y val="2.318840579710145E-2"/>
          <c:w val="0.92140999036969717"/>
          <c:h val="0.12463859408878238"/>
        </c:manualLayout>
      </c:layout>
      <c:overlay val="0"/>
      <c:txPr>
        <a:bodyPr/>
        <a:lstStyle/>
        <a:p>
          <a:pPr>
            <a:defRPr sz="800" b="0" i="0">
              <a:solidFill>
                <a:srgbClr val="2B1F1A"/>
              </a:solidFill>
              <a:latin typeface="MiSans Light" pitchFamily="2" charset="-122"/>
              <a:ea typeface="MiSans Light" pitchFamily="2" charset="-122"/>
              <a:cs typeface="Geist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AI使用率</c:v>
                </c:pt>
              </c:strCache>
            </c:strRef>
          </c:tx>
          <c:spPr>
            <a:ln w="25400" cap="flat">
              <a:solidFill>
                <a:srgbClr val="C97A4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7A40"/>
              </a:solidFill>
              <a:ln w="9525" cap="flat">
                <a:solidFill>
                  <a:srgbClr val="C97A4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50</c:v>
                </c:pt>
                <c:pt idx="2">
                  <c:v>55</c:v>
                </c:pt>
                <c:pt idx="3">
                  <c:v>78</c:v>
                </c:pt>
                <c:pt idx="4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683-0B4C-AAC7-32198802A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6350" cap="flat">
            <a:solidFill>
              <a:srgbClr val="2B1F1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F1A"/>
                </a:solidFill>
                <a:latin typeface="Geist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BCBC4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nextTo"/>
        <c:spPr>
          <a:ln w="6350" cap="flat">
            <a:solidFill>
              <a:srgbClr val="2B1F1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F1A"/>
                </a:solidFill>
                <a:latin typeface="Geist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 b="0" i="0">
              <a:solidFill>
                <a:srgbClr val="2B1F1A"/>
              </a:solidFill>
              <a:latin typeface="MiSans" pitchFamily="2" charset="-122"/>
              <a:ea typeface="MiSans" pitchFamily="2" charset="-122"/>
              <a:cs typeface="Geist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84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26550993-89B0-8A2D-DAE8-F8B711194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"/>
            <a:ext cx="9144000" cy="51434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25610" y="1760963"/>
            <a:ext cx="5892775" cy="1621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kern="0" dirty="0" err="1">
                <a:solidFill>
                  <a:srgbClr val="FFF8F1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AI时代的高效</a:t>
            </a:r>
            <a:endParaRPr lang="en-US" sz="4800" b="1" kern="0" dirty="0">
              <a:solidFill>
                <a:srgbClr val="FFF8F1"/>
              </a:solidFill>
              <a:latin typeface="MiSans" pitchFamily="2" charset="-122"/>
              <a:ea typeface="MiSans" pitchFamily="2" charset="-122"/>
              <a:cs typeface="Geist" pitchFamily="34" charset="-120"/>
            </a:endParaRPr>
          </a:p>
          <a:p>
            <a:pPr algn="ctr"/>
            <a:r>
              <a:rPr lang="en-US" sz="4800" b="1" kern="0" dirty="0" err="1">
                <a:solidFill>
                  <a:srgbClr val="FFF8F1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工作方式</a:t>
            </a:r>
            <a:endParaRPr lang="en-US" sz="480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D40EE1-9798-EBB7-7033-EB3B513B64E5}"/>
              </a:ext>
            </a:extLst>
          </p:cNvPr>
          <p:cNvSpPr txBox="1"/>
          <p:nvPr/>
        </p:nvSpPr>
        <p:spPr>
          <a:xfrm>
            <a:off x="455340" y="4596833"/>
            <a:ext cx="8233317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000" u="none" strike="noStrike" dirty="0" err="1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altLang="zh-CN" sz="1000" dirty="0">
              <a:solidFill>
                <a:schemeClr val="bg1"/>
              </a:soli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692AB1D-F367-7455-9648-387CC887536C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chemeClr val="bg1">
                    <a:lumMod val="95000"/>
                  </a:scheme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solidFill>
                <a:schemeClr val="bg1">
                  <a:lumMod val="95000"/>
                </a:schemeClr>
              </a:soli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695182-4A31-B128-8F5F-173CF80C3597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chemeClr val="bg1">
                    <a:lumMod val="95000"/>
                  </a:scheme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solidFill>
                <a:schemeClr val="bg1">
                  <a:lumMod val="95000"/>
                </a:schemeClr>
              </a:soli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70406FD-E64E-97B8-3032-E19255381754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chemeClr val="bg1">
                    <a:lumMod val="95000"/>
                  </a:scheme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solidFill>
                <a:schemeClr val="bg1">
                  <a:lumMod val="95000"/>
                </a:schemeClr>
              </a:soli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F6CF5CE-DD07-6558-8FCC-7A9FC32E0248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chemeClr val="bg1">
                <a:alpha val="20000"/>
              </a:scheme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 t="1741" b="1741"/>
          <a:stretch/>
        </p:blipFill>
        <p:spPr>
          <a:xfrm>
            <a:off x="6083300" y="795337"/>
            <a:ext cx="2871788" cy="415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8920" y="1097756"/>
            <a:ext cx="4024660" cy="61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kern="0" spc="300" dirty="0">
                <a:solidFill>
                  <a:srgbClr val="EA663D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3</a:t>
            </a:r>
            <a:r>
              <a:rPr lang="en-US" sz="3800" b="1" kern="0" spc="3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亿</a:t>
            </a:r>
            <a:endParaRPr lang="en-US" sz="3750" b="1" spc="3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368901" y="1709840"/>
            <a:ext cx="4024660" cy="23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不是少数人的工具，而是所有人的工作方式升级</a:t>
            </a:r>
            <a:endParaRPr lang="en-US" sz="10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8921" y="2307430"/>
            <a:ext cx="4024626" cy="229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高盛研究预计，生成式 AI 可能使相当于 3 亿个全职岗位的工作内容暴露于自动化影响之下。这并不意味着 3 亿个岗位会消失，而是意味着大量工作正在被重新拆解、重组与提效。从写作、检索、会议纪要，到数据分析、客户沟通、知识管理，AI 正在成为新一代通用工作基础设施。</a:t>
            </a:r>
            <a:endParaRPr lang="en-US" sz="1000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68901" y="869678"/>
            <a:ext cx="4343400" cy="101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2800" kern="0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核心</a:t>
            </a:r>
            <a:r>
              <a:rPr lang="en-US" sz="2800" kern="0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叙事：</a:t>
            </a:r>
            <a:endParaRPr lang="en-US" sz="2800" dirty="0">
              <a:latin typeface="MiSans Semibold" pitchFamily="2" charset="-122"/>
              <a:ea typeface="MiSans Semibold" pitchFamily="2" charset="-122"/>
            </a:endParaRPr>
          </a:p>
          <a:p>
            <a:pPr algn="l">
              <a:lnSpc>
                <a:spcPts val="4050"/>
              </a:lnSpc>
            </a:pPr>
            <a:r>
              <a:rPr lang="en-US" sz="2800" kern="0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工具到流程重构</a:t>
            </a:r>
            <a:endParaRPr lang="en-US" sz="28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8902" y="2307430"/>
            <a:ext cx="4262572" cy="1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这套内容围绕一个普世性话题展开：AI </a:t>
            </a:r>
            <a:r>
              <a:rPr lang="en-US" sz="1000" dirty="0" err="1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不只是提高单点任务效率，而是在改变个人</a:t>
            </a:r>
            <a:r>
              <a:rPr lang="en-US" sz="10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、</a:t>
            </a:r>
            <a:r>
              <a:rPr lang="en-US" altLang="zh-CN" sz="10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 </a:t>
            </a:r>
            <a:r>
              <a:rPr lang="en-US" altLang="zh-CN" sz="1000" dirty="0" err="1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团队与组织的工作方式。效率提升不只是用了什么工具，而是任务拆解、工具协作、流程沉淀的系统升级</a:t>
            </a:r>
            <a:r>
              <a:rPr lang="en-US" altLang="zh-CN" sz="10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。 </a:t>
            </a:r>
            <a:r>
              <a:rPr lang="en-US" altLang="zh-CN" sz="1000" dirty="0" err="1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团队与组织的工作方式。效率提升不只是用了什么工具，而是任务拆解、工具协作、流程沉淀的系统升级</a:t>
            </a:r>
            <a:r>
              <a:rPr lang="en-US" altLang="zh-CN" sz="10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</a:rPr>
              <a:t>。</a:t>
            </a:r>
            <a:endParaRPr lang="en-US" sz="1000" dirty="0">
              <a:solidFill>
                <a:srgbClr val="2B1F1A"/>
              </a:solidFill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 t="15398" b="15398"/>
          <a:stretch/>
        </p:blipFill>
        <p:spPr>
          <a:xfrm>
            <a:off x="6083300" y="2307431"/>
            <a:ext cx="2870200" cy="264556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A9A5B07-4B83-5F88-4AFA-8F24652B61CD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5C8FAF1-51BE-E9AB-F743-93A459CE97DC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C62CA9-AD58-CECC-6092-D05839C0F3B4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6438613-A250-1E5A-8C3A-E2B460091114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4610100" y="795337"/>
            <a:ext cx="4343400" cy="2040731"/>
          </a:xfrm>
          <a:prstGeom prst="roundRect">
            <a:avLst>
              <a:gd name="adj" fmla="val 6557"/>
            </a:avLst>
          </a:prstGeom>
          <a:solidFill>
            <a:srgbClr val="FFEDDE"/>
          </a:solidFill>
          <a:ln/>
        </p:spPr>
        <p:txBody>
          <a:bodyPr wrap="square" lIns="241300" tIns="240920" rIns="241300" bIns="240920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10100" y="2912269"/>
            <a:ext cx="4343400" cy="2040731"/>
          </a:xfrm>
          <a:prstGeom prst="roundRect">
            <a:avLst>
              <a:gd name="adj" fmla="val 7286"/>
            </a:avLst>
          </a:prstGeom>
          <a:solidFill>
            <a:srgbClr val="FFEDDE"/>
          </a:solidFill>
          <a:ln/>
        </p:spPr>
        <p:txBody>
          <a:bodyPr wrap="square" lIns="241300" tIns="240920" rIns="241300" bIns="240920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8901" y="2176117"/>
            <a:ext cx="2767999" cy="998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050"/>
              </a:lnSpc>
            </a:pPr>
            <a:r>
              <a:rPr lang="en-US" sz="2800" kern="0" dirty="0" err="1">
                <a:solidFill>
                  <a:srgbClr val="2B1A14"/>
                </a:solidFill>
                <a:latin typeface="MiSans Semibold" pitchFamily="2" charset="-122"/>
                <a:ea typeface="MiSans Semibold" pitchFamily="2" charset="-122"/>
              </a:rPr>
              <a:t>效率升级的</a:t>
            </a:r>
            <a:endParaRPr lang="en-US" sz="2800" kern="0" dirty="0">
              <a:solidFill>
                <a:srgbClr val="2B1A14"/>
              </a:solidFill>
              <a:latin typeface="MiSans Semibold" pitchFamily="2" charset="-122"/>
              <a:ea typeface="MiSans Semibold" pitchFamily="2" charset="-122"/>
            </a:endParaRPr>
          </a:p>
          <a:p>
            <a:pPr>
              <a:lnSpc>
                <a:spcPts val="4050"/>
              </a:lnSpc>
            </a:pPr>
            <a:r>
              <a:rPr lang="en-US" sz="2800" kern="0" dirty="0" err="1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</a:rPr>
              <a:t>两个</a:t>
            </a:r>
            <a:r>
              <a:rPr lang="en-US" sz="2800" kern="0" dirty="0" err="1">
                <a:solidFill>
                  <a:srgbClr val="2B1A14"/>
                </a:solidFill>
                <a:latin typeface="MiSans Semibold" pitchFamily="2" charset="-122"/>
                <a:ea typeface="MiSans Semibold" pitchFamily="2" charset="-122"/>
              </a:rPr>
              <a:t>维度</a:t>
            </a:r>
            <a:endParaRPr lang="en-US" sz="2800" kern="0" dirty="0">
              <a:solidFill>
                <a:srgbClr val="2B1A14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00600" y="1014412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00600" y="1571855"/>
            <a:ext cx="3843654" cy="1073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1350"/>
              </a:lnSpc>
            </a:pP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写作、搜索、总结、计划、学习、时间管理。重点强调个体的启动速度、信息处理速度与输出速度。写作、搜索、总结、计划、学习、时间管理。重点强调个体的启动速度、信息处理速度与输出速度。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72050" y="985837"/>
            <a:ext cx="3390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个人效率升级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00600" y="3136106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00600" y="3735421"/>
            <a:ext cx="3843654" cy="10270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1350"/>
              </a:lnSpc>
            </a:pP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流程自动化、知识库建设、跨部门协作、数据辅助决策。重点强调团队协同与复用能力。流程自动化、知识库建设、跨部门协作、数据辅助决策。重点强调团队协同与复用能力。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72050" y="3102769"/>
            <a:ext cx="3390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组织效率升级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6F4BE9A-E7BF-43DC-8195-271AF50B5D49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46E260-6A2E-3C0D-FC41-77D638A7ADD0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1F51AC-D6EE-FA8F-42FA-54AD46900471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E6A68E-02FB-06DB-EEDD-DBD95FAB4C84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4610100" y="492919"/>
            <a:ext cx="4343400" cy="1435894"/>
          </a:xfrm>
          <a:prstGeom prst="roundRect">
            <a:avLst>
              <a:gd name="adj" fmla="val 10614"/>
            </a:avLst>
          </a:prstGeom>
          <a:solidFill>
            <a:srgbClr val="FFEDDE"/>
          </a:solidFill>
          <a:ln/>
        </p:spPr>
        <p:txBody>
          <a:bodyPr wrap="square" lIns="241300" tIns="169515" rIns="241300" bIns="169515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10100" y="2005013"/>
            <a:ext cx="4343400" cy="1435894"/>
          </a:xfrm>
          <a:prstGeom prst="roundRect">
            <a:avLst>
              <a:gd name="adj" fmla="val 10614"/>
            </a:avLst>
          </a:prstGeom>
          <a:solidFill>
            <a:srgbClr val="FFEDDE"/>
          </a:solidFill>
          <a:ln/>
        </p:spPr>
        <p:txBody>
          <a:bodyPr wrap="square" lIns="241300" tIns="169515" rIns="241300" bIns="169515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10100" y="3517106"/>
            <a:ext cx="4343400" cy="1435894"/>
          </a:xfrm>
          <a:prstGeom prst="roundRect">
            <a:avLst>
              <a:gd name="adj" fmla="val 10614"/>
            </a:avLst>
          </a:prstGeom>
          <a:solidFill>
            <a:srgbClr val="FFEDDE"/>
          </a:solidFill>
          <a:ln/>
        </p:spPr>
        <p:txBody>
          <a:bodyPr wrap="square" lIns="241300" tIns="169515" rIns="241300" bIns="169515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8901" y="2328985"/>
            <a:ext cx="4343400" cy="49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750"/>
              </a:lnSpc>
            </a:pPr>
            <a:r>
              <a:rPr lang="en-US" sz="3200" kern="0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</a:rPr>
              <a:t>AI </a:t>
            </a:r>
            <a:r>
              <a:rPr lang="en-US" sz="3200" kern="0" dirty="0" err="1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</a:rPr>
              <a:t>提效</a:t>
            </a:r>
            <a:r>
              <a:rPr lang="en-US" sz="3200" kern="0" dirty="0" err="1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</a:rPr>
              <a:t>三步法</a:t>
            </a:r>
            <a:endParaRPr lang="en-US" sz="3200" kern="0" dirty="0">
              <a:solidFill>
                <a:srgbClr val="EA663D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71745" y="659435"/>
            <a:ext cx="3505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 Demibold" pitchFamily="2" charset="-122"/>
                <a:ea typeface="MiSans Demibold" pitchFamily="2" charset="-122"/>
                <a:cs typeface="Geist Mono" pitchFamily="34" charset="-120"/>
              </a:rPr>
              <a:t>01 任务识别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00600" y="1102468"/>
            <a:ext cx="3815576" cy="6358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135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判断哪些工作适合交给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AI：重复性高、规则明确、信息密集、反馈周期短判断哪些工作适合交给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AI：重复性高、规则明确、信息密集、反馈周期短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。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71745" y="2173910"/>
            <a:ext cx="3505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 Demibold" pitchFamily="2" charset="-122"/>
                <a:ea typeface="MiSans Demibold" pitchFamily="2" charset="-122"/>
                <a:cs typeface="Geist Mono" pitchFamily="34" charset="-120"/>
              </a:rPr>
              <a:t>02 工具协作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00600" y="2571750"/>
            <a:ext cx="381557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135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让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AI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参与搜索、分析、生成、复盘，把工具嵌入真实工作流，而不是停留在尝鲜。让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AI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参与搜索、分析、生成、复盘，把工具嵌入真实工作流，而不是停留在尝鲜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。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71745" y="3688385"/>
            <a:ext cx="3505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 Demibold" pitchFamily="2" charset="-122"/>
                <a:ea typeface="MiSans Demibold" pitchFamily="2" charset="-122"/>
                <a:cs typeface="Geist Mono" pitchFamily="34" charset="-120"/>
              </a:rPr>
              <a:t>03 流程沉淀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00600" y="4124528"/>
            <a:ext cx="3815576" cy="6379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135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把一次性提效变成可复用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SOP，让团队能够复制、训练、优化并持续迭代把一次性提效变成可复用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SOP，让团队能够复制、训练、优化并持续迭代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。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00600" y="690391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00600" y="2207247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00600" y="3719360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A9D5803-D4F3-63B4-53BE-B11BBBFE4E00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A0D5FAF-68CB-AAFA-01C0-7E6BFBC11324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379A486-C38D-2514-7E08-1D3823149332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9502E082-5E45-65FE-A2CF-5601482BDC94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343877" y="696913"/>
            <a:ext cx="6202872" cy="43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zh-CN" altLang="en-US" sz="3000" kern="0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sym typeface="SimHei"/>
              </a:rPr>
              <a:t>先打高</a:t>
            </a:r>
            <a:r>
              <a:rPr lang="en-US" altLang="zh-CN" sz="3000" kern="0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sym typeface="SimHei"/>
              </a:rPr>
              <a:t>ROI</a:t>
            </a:r>
            <a:r>
              <a:rPr lang="zh-CN" altLang="en-US" sz="3000" kern="0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sym typeface="SimHei"/>
              </a:rPr>
              <a:t>  再筑高壁垒</a:t>
            </a:r>
            <a:endParaRPr lang="en-US" sz="3000" kern="0" dirty="0">
              <a:solidFill>
                <a:srgbClr val="2B1F1A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2436" y="1250665"/>
            <a:ext cx="7005754" cy="142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kern="0" spc="-24" dirty="0">
                <a:solidFill>
                  <a:srgbClr val="947765"/>
                </a:solidFill>
                <a:latin typeface="MiSans Light" pitchFamily="2" charset="-122"/>
                <a:ea typeface="MiSans Light" pitchFamily="2" charset="-122"/>
                <a:cs typeface="Geist Mono" pitchFamily="34" charset="-120"/>
              </a:rPr>
              <a:t>优先做低难度、高收益的场景，再逐步推进高难度、高收益的系统化能力</a:t>
            </a:r>
            <a:endParaRPr lang="en-US" sz="900" dirty="0">
              <a:solidFill>
                <a:srgbClr val="947765"/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 rot="5400000">
            <a:off x="3171093" y="3204851"/>
            <a:ext cx="2548442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 flipV="1">
            <a:off x="845151" y="3171824"/>
            <a:ext cx="7395594" cy="65161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68901" y="3171824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A88771"/>
                </a:solidFill>
                <a:latin typeface="MiSans Light" pitchFamily="2" charset="-122"/>
                <a:ea typeface="MiSans Light" pitchFamily="2" charset="-122"/>
                <a:cs typeface="Geist Mono" pitchFamily="34" charset="-120"/>
              </a:rPr>
              <a:t>低难度</a:t>
            </a:r>
            <a:endParaRPr lang="en-US" sz="900" dirty="0">
              <a:solidFill>
                <a:srgbClr val="A88771"/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40751" y="3105149"/>
            <a:ext cx="47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900" kern="0" spc="-24" dirty="0">
                <a:solidFill>
                  <a:srgbClr val="A88771"/>
                </a:solidFill>
                <a:latin typeface="MiSans Light" pitchFamily="2" charset="-122"/>
                <a:ea typeface="MiSans Light" pitchFamily="2" charset="-122"/>
                <a:cs typeface="Geist Mono" pitchFamily="34" charset="-120"/>
              </a:rPr>
              <a:t>高难度</a:t>
            </a:r>
            <a:endParaRPr lang="en-US" sz="900" dirty="0">
              <a:solidFill>
                <a:srgbClr val="A88771"/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59563" y="1714500"/>
            <a:ext cx="57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kern="0" spc="-24" dirty="0">
                <a:solidFill>
                  <a:srgbClr val="A88771"/>
                </a:solidFill>
                <a:latin typeface="MiSans Light" pitchFamily="2" charset="-122"/>
                <a:ea typeface="MiSans Light" pitchFamily="2" charset="-122"/>
                <a:cs typeface="Geist Mono" pitchFamily="34" charset="-120"/>
              </a:rPr>
              <a:t>高收益</a:t>
            </a:r>
            <a:endParaRPr lang="en-US" sz="900" dirty="0">
              <a:solidFill>
                <a:srgbClr val="A88771"/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59563" y="4619625"/>
            <a:ext cx="57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kern="0" spc="-24" dirty="0">
                <a:solidFill>
                  <a:srgbClr val="A88771"/>
                </a:solidFill>
                <a:latin typeface="MiSans Light" pitchFamily="2" charset="-122"/>
                <a:ea typeface="MiSans Light" pitchFamily="2" charset="-122"/>
                <a:cs typeface="Geist Mono" pitchFamily="34" charset="-120"/>
              </a:rPr>
              <a:t>低收益</a:t>
            </a:r>
            <a:endParaRPr lang="en-US" sz="900" dirty="0">
              <a:solidFill>
                <a:srgbClr val="A88771"/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8901" y="1951365"/>
            <a:ext cx="1905000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000" kern="0" spc="-36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I 低/高</a:t>
            </a:r>
            <a:endParaRPr lang="en-US" sz="2000" dirty="0">
              <a:solidFill>
                <a:srgbClr val="EA663D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68900" y="2351591"/>
            <a:ext cx="3230779" cy="68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会议纪要、文档总结、邮件草稿、资料初筛会议纪要、文档总结、邮件草稿、资料初筛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90947" y="1955645"/>
            <a:ext cx="1905000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000" kern="0" spc="-36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II 高/高</a:t>
            </a:r>
            <a:endParaRPr lang="en-US" sz="2000" dirty="0">
              <a:solidFill>
                <a:srgbClr val="EA663D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90946" y="2350803"/>
            <a:ext cx="2949785" cy="616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自动化工作流、智能客服、数据分析助手、知识库问答自动化工作流、智能客服、数据分析助手、知识库问答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8901" y="3561883"/>
            <a:ext cx="1905000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000" kern="0" spc="-36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III 低/低</a:t>
            </a:r>
            <a:endParaRPr lang="en-US" sz="2000" dirty="0">
              <a:solidFill>
                <a:srgbClr val="EA663D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8900" y="3957151"/>
            <a:ext cx="3230770" cy="63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自动化工作流、智能客服、数据分析助手、知识库问答自动化工作流、智能客服、数据分析助手、知识库问答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290947" y="3561882"/>
            <a:ext cx="1905000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000" kern="0" spc="-36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IV 高/低</a:t>
            </a:r>
            <a:endParaRPr lang="en-US" sz="2000" dirty="0">
              <a:solidFill>
                <a:srgbClr val="EA663D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290947" y="3957150"/>
            <a:ext cx="2949796" cy="63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过度定制、目标不清的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AI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系统、缺少业务闭环的复杂方案过度定制、目标不清的</a:t>
            </a:r>
            <a:r>
              <a:rPr lang="en-US" altLang="zh-CN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 AI </a:t>
            </a:r>
            <a:r>
              <a:rPr lang="en-US" altLang="zh-CN" sz="900" dirty="0" err="1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系统、缺少业务闭环的复杂方案</a:t>
            </a:r>
            <a:endParaRPr lang="en-US" altLang="zh-CN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1CE6817-A825-5EF7-903C-FC7B2D3F46C5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4E1B729-97F3-3C6B-0606-B5FD521C8032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F4B4E82-E22D-AD66-9DFB-1BA9F42231C8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3B7184E9-E434-5E01-FE95-2D662CB45F1E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90556" y="795337"/>
            <a:ext cx="876292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50"/>
              </a:lnSpc>
            </a:pPr>
            <a:r>
              <a:rPr lang="en-US" sz="3200" kern="0" spc="-48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AI </a:t>
            </a:r>
            <a:r>
              <a:rPr lang="en-US" altLang="zh-CN" sz="3200" kern="0" spc="-48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</a:rPr>
              <a:t>6</a:t>
            </a:r>
            <a:r>
              <a:rPr lang="en-US" sz="3200" kern="0" spc="-48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</a:rPr>
              <a:t>大</a:t>
            </a:r>
            <a:r>
              <a:rPr lang="en-US" sz="3200" kern="0" spc="-48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</a:rPr>
              <a:t>应用场景</a:t>
            </a:r>
          </a:p>
        </p:txBody>
      </p:sp>
      <p:sp>
        <p:nvSpPr>
          <p:cNvPr id="6" name="Text 3"/>
          <p:cNvSpPr/>
          <p:nvPr/>
        </p:nvSpPr>
        <p:spPr>
          <a:xfrm>
            <a:off x="190543" y="2083192"/>
            <a:ext cx="2870113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01 内容生成</a:t>
            </a:r>
            <a:endParaRPr lang="en-US" sz="1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8685" y="2404411"/>
            <a:ext cx="2753780" cy="53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80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从空白页到初稿，降低启动成本。让 AI 帮助撰写文案、报告、邮件等内容，快速形成初稿再进行修改。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 t="21116" b="21116"/>
          <a:stretch/>
        </p:blipFill>
        <p:spPr>
          <a:xfrm>
            <a:off x="190501" y="3016354"/>
            <a:ext cx="2870200" cy="19318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36961" y="2083192"/>
            <a:ext cx="2870076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02 数据分析</a:t>
            </a:r>
            <a:endParaRPr lang="en-US" sz="1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222110" y="2402125"/>
            <a:ext cx="2699779" cy="53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80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从表格与文本中提炼趋势、异常和洞察。让 AI 辅助识别数据规律，生成可视化报告与分析结论。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 t="27086" b="27086"/>
          <a:stretch/>
        </p:blipFill>
        <p:spPr>
          <a:xfrm>
            <a:off x="3136900" y="3016354"/>
            <a:ext cx="2870200" cy="19318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3304" y="2078429"/>
            <a:ext cx="287018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03 客户沟通</a:t>
            </a:r>
            <a:endParaRPr lang="en-US" sz="1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83767" y="2402125"/>
            <a:ext cx="2668860" cy="53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80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辅助撰写回复、FAQ、跟进记录与服务摘要。提升客户响应效率，降低沟通成本。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2"/>
          <p:cNvPicPr>
            <a:picLocks noChangeAspect="1"/>
          </p:cNvPicPr>
          <p:nvPr/>
        </p:nvPicPr>
        <p:blipFill>
          <a:blip r:embed="rId5"/>
          <a:srcRect t="19675" b="19675"/>
          <a:stretch/>
        </p:blipFill>
        <p:spPr>
          <a:xfrm>
            <a:off x="6083299" y="3017182"/>
            <a:ext cx="2870202" cy="1935819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E4B803D5-7137-5F19-B745-0F81563409E9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06FF9C8-DDFF-2E99-D96A-FC86C883A1A8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725E7259-3864-6D28-9A74-A2241B3944DA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A53AD0D4-25E7-A4F9-C8EE-0EFEE5D0353C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 t="8462" b="8462"/>
          <a:stretch/>
        </p:blipFill>
        <p:spPr>
          <a:xfrm>
            <a:off x="190500" y="3016352"/>
            <a:ext cx="2870200" cy="1931885"/>
          </a:xfrm>
          <a:prstGeom prst="rect">
            <a:avLst/>
          </a:prstGeom>
        </p:spPr>
      </p:pic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 t="21289" b="21289"/>
          <a:stretch/>
        </p:blipFill>
        <p:spPr>
          <a:xfrm>
            <a:off x="3136899" y="3016352"/>
            <a:ext cx="2870200" cy="1931885"/>
          </a:xfrm>
          <a:prstGeom prst="rect">
            <a:avLst/>
          </a:prstGeom>
        </p:spPr>
      </p:pic>
      <p:pic>
        <p:nvPicPr>
          <p:cNvPr id="14" name="Image 2"/>
          <p:cNvPicPr>
            <a:picLocks noChangeAspect="1"/>
          </p:cNvPicPr>
          <p:nvPr/>
        </p:nvPicPr>
        <p:blipFill>
          <a:blip r:embed="rId5"/>
          <a:srcRect t="27032" b="27032"/>
          <a:stretch/>
        </p:blipFill>
        <p:spPr>
          <a:xfrm>
            <a:off x="6083298" y="3017181"/>
            <a:ext cx="2870202" cy="193582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E7707D98-7063-D059-5317-C2E8F27BBE06}"/>
              </a:ext>
            </a:extLst>
          </p:cNvPr>
          <p:cNvSpPr/>
          <p:nvPr/>
        </p:nvSpPr>
        <p:spPr>
          <a:xfrm>
            <a:off x="190543" y="2083192"/>
            <a:ext cx="2870113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0</a:t>
            </a:r>
            <a:r>
              <a:rPr lang="en-US" altLang="zh-CN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4</a:t>
            </a:r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 内容生成</a:t>
            </a:r>
            <a:endParaRPr lang="en-US" sz="1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9619BC5-89D9-E8D4-5E08-F5B1B4447D54}"/>
              </a:ext>
            </a:extLst>
          </p:cNvPr>
          <p:cNvSpPr/>
          <p:nvPr/>
        </p:nvSpPr>
        <p:spPr>
          <a:xfrm>
            <a:off x="248685" y="2404411"/>
            <a:ext cx="2753780" cy="53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80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从空白页到初稿，降低启动成本。让 AI 帮助撰写文案、报告、邮件等内容，快速形成初稿再进行修改。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659F537-6D67-DCC7-ACA3-50132650E977}"/>
              </a:ext>
            </a:extLst>
          </p:cNvPr>
          <p:cNvSpPr/>
          <p:nvPr/>
        </p:nvSpPr>
        <p:spPr>
          <a:xfrm>
            <a:off x="3136961" y="2083192"/>
            <a:ext cx="2870076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0</a:t>
            </a:r>
            <a:r>
              <a:rPr lang="en-US" altLang="zh-CN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5</a:t>
            </a:r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 数据分析</a:t>
            </a:r>
            <a:endParaRPr lang="en-US" sz="1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12D7D45-1D28-895D-678C-CF807B6A55AE}"/>
              </a:ext>
            </a:extLst>
          </p:cNvPr>
          <p:cNvSpPr/>
          <p:nvPr/>
        </p:nvSpPr>
        <p:spPr>
          <a:xfrm>
            <a:off x="3222110" y="2402125"/>
            <a:ext cx="2699779" cy="53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80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从表格与文本中提炼趋势、异常和洞察。让 AI 辅助识别数据规律，生成可视化报告与分析结论。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5B4582B-62EF-04D3-318E-793E6F4CFDE3}"/>
              </a:ext>
            </a:extLst>
          </p:cNvPr>
          <p:cNvSpPr/>
          <p:nvPr/>
        </p:nvSpPr>
        <p:spPr>
          <a:xfrm>
            <a:off x="6083304" y="2078429"/>
            <a:ext cx="287018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0</a:t>
            </a:r>
            <a:r>
              <a:rPr lang="en-US" altLang="zh-CN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6</a:t>
            </a:r>
            <a:r>
              <a:rPr lang="en-US" sz="14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 客户沟通</a:t>
            </a:r>
            <a:endParaRPr lang="en-US" sz="1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C169CEA-19FB-C797-130C-A8C11836465A}"/>
              </a:ext>
            </a:extLst>
          </p:cNvPr>
          <p:cNvSpPr/>
          <p:nvPr/>
        </p:nvSpPr>
        <p:spPr>
          <a:xfrm>
            <a:off x="6183767" y="2402125"/>
            <a:ext cx="2668860" cy="53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80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辅助撰写回复、FAQ、跟进记录与服务摘要。提升客户响应效率，降低沟通成本。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BDDEA2EF-B57C-386B-8D3F-9D6AE7FDD6FE}"/>
              </a:ext>
            </a:extLst>
          </p:cNvPr>
          <p:cNvSpPr/>
          <p:nvPr/>
        </p:nvSpPr>
        <p:spPr>
          <a:xfrm>
            <a:off x="190556" y="795337"/>
            <a:ext cx="876292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50"/>
              </a:lnSpc>
            </a:pPr>
            <a:r>
              <a:rPr lang="en-US" sz="3200" kern="0" spc="-48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AI </a:t>
            </a:r>
            <a:r>
              <a:rPr lang="en-US" altLang="zh-CN" sz="3200" kern="0" spc="-48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</a:rPr>
              <a:t>6</a:t>
            </a:r>
            <a:r>
              <a:rPr lang="en-US" sz="3200" kern="0" spc="-48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</a:rPr>
              <a:t>大</a:t>
            </a:r>
            <a:r>
              <a:rPr lang="en-US" sz="3200" kern="0" spc="-48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</a:rPr>
              <a:t>应用场景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B01909C-287B-1966-AFD8-63F862ECA55B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C4E460-2435-F30B-C2CA-C1E095DF0618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B0FD2BD-8EC6-1121-E22C-4ADF9BA4B950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6E73037-F6B3-0D2E-8FF3-C8437438EF9B}"/>
              </a:ext>
            </a:extLst>
          </p:cNvPr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87B64F3-121F-88AB-D776-2CB1D5D742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2"/>
            <a:ext cx="9144000" cy="51434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b="0" kern="0" dirty="0">
                <a:solidFill>
                  <a:srgbClr val="FFF8F1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YUANBAO</a:t>
            </a:r>
          </a:p>
          <a:p>
            <a:pPr algn="l">
              <a:lnSpc>
                <a:spcPts val="750"/>
              </a:lnSpc>
            </a:pP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b="0" kern="0" dirty="0">
                <a:solidFill>
                  <a:srgbClr val="FFF8F1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AI时代的高效工作方式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b="0" kern="0" dirty="0">
                <a:solidFill>
                  <a:srgbClr val="FFF8F1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2026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FFF8F1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190500" y="4810125"/>
            <a:ext cx="5816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125"/>
              </a:lnSpc>
            </a:pPr>
            <a:r>
              <a:rPr lang="en-US" sz="900" kern="0" spc="-24" dirty="0">
                <a:solidFill>
                  <a:srgbClr val="FFF8F1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传统方式 VS AI 辅助方式对比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30376"/>
              </p:ext>
            </p:extLst>
          </p:nvPr>
        </p:nvGraphicFramePr>
        <p:xfrm>
          <a:off x="190500" y="996950"/>
          <a:ext cx="8715376" cy="3092448"/>
        </p:xfrm>
        <a:graphic>
          <a:graphicData uri="http://schemas.openxmlformats.org/drawingml/2006/table">
            <a:tbl>
              <a:tblPr/>
              <a:tblGrid>
                <a:gridCol w="217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8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Semibold" pitchFamily="2" charset="-122"/>
                          <a:ea typeface="MiSans Semibold" pitchFamily="2" charset="-122"/>
                          <a:cs typeface="Geist" pitchFamily="34" charset="-120"/>
                        </a:rPr>
                        <a:t>场景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Semibold" pitchFamily="2" charset="-122"/>
                        <a:ea typeface="MiSans Semibold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Semibold" pitchFamily="2" charset="-122"/>
                          <a:ea typeface="MiSans Semibold" pitchFamily="2" charset="-122"/>
                          <a:cs typeface="Geist" pitchFamily="34" charset="-120"/>
                        </a:rPr>
                        <a:t>传统方式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Semibold" pitchFamily="2" charset="-122"/>
                        <a:ea typeface="MiSans Semibold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Semibold" pitchFamily="2" charset="-122"/>
                          <a:ea typeface="MiSans Semibold" pitchFamily="2" charset="-122"/>
                          <a:cs typeface="Geist" pitchFamily="34" charset="-120"/>
                        </a:rPr>
                        <a:t>AI 辅助方式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Semibold" pitchFamily="2" charset="-122"/>
                        <a:ea typeface="MiSans Semibold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Semibold" pitchFamily="2" charset="-122"/>
                          <a:ea typeface="MiSans Semibold" pitchFamily="2" charset="-122"/>
                          <a:cs typeface="Geist" pitchFamily="34" charset="-120"/>
                        </a:rPr>
                        <a:t>提效价值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Semibold" pitchFamily="2" charset="-122"/>
                        <a:ea typeface="MiSans Semibold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会议纪要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人工记录整理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自动转写与摘要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节省整理时间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市场调研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手动搜索资料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快速汇总多来源信息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提升信息密度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文案撰写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从零起草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先生成初稿再修改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降低启动成本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数据分析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手动筛选图表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自动提炼趋势与异常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辅助判断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408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知识管理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依赖个人经验查找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知识库问答与自动归档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dirty="0">
                          <a:solidFill>
                            <a:srgbClr val="503024"/>
                          </a:solidFill>
                          <a:latin typeface="MiSans Normal" pitchFamily="2" charset="-122"/>
                          <a:ea typeface="MiSans Normal" pitchFamily="2" charset="-122"/>
                          <a:cs typeface="Geist" pitchFamily="34" charset="-120"/>
                        </a:rPr>
                        <a:t>提高复用率</a:t>
                      </a:r>
                      <a:endParaRPr lang="en-US" sz="900" b="0" i="0" dirty="0">
                        <a:solidFill>
                          <a:srgbClr val="503024"/>
                        </a:solidFill>
                        <a:latin typeface="MiSans Normal" pitchFamily="2" charset="-122"/>
                        <a:ea typeface="MiSans Normal" pitchFamily="2" charset="-122"/>
                        <a:cs typeface="Geist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1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68901" y="1113277"/>
            <a:ext cx="2381250" cy="76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5400" kern="0" spc="-48" dirty="0">
                <a:solidFill>
                  <a:srgbClr val="C97A40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72%</a:t>
            </a:r>
            <a:endParaRPr lang="en-US" sz="5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8596" y="1969149"/>
            <a:ext cx="3333750" cy="37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0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AI 已进入主流工作流</a:t>
            </a:r>
            <a:endParaRPr lang="en-US" sz="20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8596" y="2629865"/>
            <a:ext cx="3421380" cy="196940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麦肯锡全球调研显示，72% 的受访组织已在至少一个业务职能中使用 AI。AI 不再只是技术团队的工具，而正在进入营销、产品、IT、运营与管理决策等日常工作场景。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AI 采用已经过了尝鲜期，但真正深入多职能协同的组织还在少数。Source: McKinsey Global Survey on AI, 2024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24544" y="1113277"/>
            <a:ext cx="14287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4"/>
              </a:lnSpc>
            </a:pPr>
            <a:r>
              <a:rPr lang="en-US" sz="700" kern="0" spc="-24" dirty="0">
                <a:solidFill>
                  <a:srgbClr val="C97A40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ADOPTION DEPTH / 采用深度</a:t>
            </a:r>
            <a:endParaRPr lang="en-US" sz="675" dirty="0">
              <a:latin typeface="MiSans Medium" pitchFamily="2" charset="-122"/>
              <a:ea typeface="MiSans Medium" pitchFamily="2" charset="-122"/>
            </a:endParaRPr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667851100"/>
              </p:ext>
            </p:extLst>
          </p:nvPr>
        </p:nvGraphicFramePr>
        <p:xfrm>
          <a:off x="4324350" y="1381125"/>
          <a:ext cx="4629138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676FB6D5-E150-4E73-4BB6-9EEA0C2A2BAA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17032FD-0BC8-7EF7-691E-F9C8C8706EE2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E652E28-2374-B78A-26AC-1330A3502D67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b="0" kern="0" dirty="0">
                <a:solidFill>
                  <a:srgbClr val="2B1F1A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AI时代的高效工作方式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b="0" kern="0" dirty="0">
                <a:solidFill>
                  <a:srgbClr val="2B1F1A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2026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512823484"/>
              </p:ext>
            </p:extLst>
          </p:nvPr>
        </p:nvGraphicFramePr>
        <p:xfrm>
          <a:off x="4324350" y="1153954"/>
          <a:ext cx="4629150" cy="3513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b="0" kern="0" dirty="0">
                <a:solidFill>
                  <a:srgbClr val="2B1F1A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YUANBAO</a:t>
            </a:r>
            <a:endParaRPr lang="en-US" sz="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EE7FF0A-750F-84FA-0B38-8481E22F1F5E}"/>
              </a:ext>
            </a:extLst>
          </p:cNvPr>
          <p:cNvSpPr/>
          <p:nvPr/>
        </p:nvSpPr>
        <p:spPr>
          <a:xfrm>
            <a:off x="368595" y="2571750"/>
            <a:ext cx="3400517" cy="20130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5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到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 2025 年，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</a:rPr>
              <a:t>88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% </a:t>
            </a: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的受访组织表示已在至少一个业务职能中常规使用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 AI。AI </a:t>
            </a: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采用不再是线性增长，而是在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 2023 </a:t>
            </a: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年后明显提速，说明生成式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 AI </a:t>
            </a: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正在推动组织采用进入新阶段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。</a:t>
            </a:r>
            <a:endParaRPr lang="en-US" altLang="zh-CN" sz="90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350"/>
              </a:lnSpc>
            </a:pP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</a:rPr>
              <a:t>采用率提升不等于价值兑现</a:t>
            </a: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，真正的差距在于是否把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 AI </a:t>
            </a:r>
            <a:r>
              <a:rPr lang="en-US" altLang="zh-CN" sz="900" dirty="0" err="1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嵌入核心工作流。Source</a:t>
            </a:r>
            <a:r>
              <a:rPr lang="en-US" altLang="zh-CN" sz="900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" pitchFamily="34" charset="-120"/>
              </a:rPr>
              <a:t>: McKinsey Global Survey on the state of AI, 2017-2025</a:t>
            </a:r>
            <a:endParaRPr lang="en-US" altLang="zh-CN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DD3F1A-EF40-3A04-863C-092B8D9F5EBA}"/>
              </a:ext>
            </a:extLst>
          </p:cNvPr>
          <p:cNvSpPr/>
          <p:nvPr/>
        </p:nvSpPr>
        <p:spPr>
          <a:xfrm>
            <a:off x="368901" y="1113277"/>
            <a:ext cx="2381250" cy="76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altLang="zh-CN" sz="5400" kern="0" spc="-48" dirty="0">
                <a:solidFill>
                  <a:srgbClr val="C97A40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88</a:t>
            </a:r>
            <a:r>
              <a:rPr lang="en-US" sz="5400" kern="0" spc="-48" dirty="0">
                <a:solidFill>
                  <a:srgbClr val="C97A40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%</a:t>
            </a:r>
            <a:endParaRPr lang="en-US" sz="54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2A8B879-DCE6-3657-2FD3-B4CA0BDC7B97}"/>
              </a:ext>
            </a:extLst>
          </p:cNvPr>
          <p:cNvSpPr/>
          <p:nvPr/>
        </p:nvSpPr>
        <p:spPr>
          <a:xfrm>
            <a:off x="368596" y="1969149"/>
            <a:ext cx="3333750" cy="37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000" kern="0" spc="-36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AI </a:t>
            </a:r>
            <a:r>
              <a:rPr lang="en-US" sz="2000" kern="0" spc="-36" dirty="0" err="1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使用率加速上升</a:t>
            </a:r>
            <a:endParaRPr lang="en-US" sz="2000" dirty="0">
              <a:latin typeface="MiSans Semibold" pitchFamily="2" charset="-122"/>
              <a:ea typeface="MiSans Semibold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610100" y="492919"/>
            <a:ext cx="4343400" cy="1435894"/>
          </a:xfrm>
          <a:prstGeom prst="roundRect">
            <a:avLst>
              <a:gd name="adj" fmla="val 10614"/>
            </a:avLst>
          </a:prstGeom>
          <a:solidFill>
            <a:srgbClr val="FFEDDE"/>
          </a:solidFill>
          <a:ln/>
        </p:spPr>
        <p:txBody>
          <a:bodyPr wrap="square" lIns="241300" tIns="169515" rIns="241300" bIns="169515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10100" y="2005013"/>
            <a:ext cx="4343400" cy="1435894"/>
          </a:xfrm>
          <a:prstGeom prst="roundRect">
            <a:avLst>
              <a:gd name="adj" fmla="val 10614"/>
            </a:avLst>
          </a:prstGeom>
          <a:solidFill>
            <a:srgbClr val="FFEDDE"/>
          </a:solidFill>
          <a:ln/>
        </p:spPr>
        <p:txBody>
          <a:bodyPr wrap="square" lIns="241300" tIns="169515" rIns="241300" bIns="169515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10100" y="3517106"/>
            <a:ext cx="4343400" cy="1435894"/>
          </a:xfrm>
          <a:prstGeom prst="roundRect">
            <a:avLst>
              <a:gd name="adj" fmla="val 10614"/>
            </a:avLst>
          </a:prstGeom>
          <a:solidFill>
            <a:srgbClr val="FFEDDE"/>
          </a:solidFill>
          <a:ln/>
        </p:spPr>
        <p:txBody>
          <a:bodyPr wrap="square" lIns="241300" tIns="169515" rIns="241300" bIns="169515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8901" y="2164652"/>
            <a:ext cx="4343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750"/>
              </a:lnSpc>
            </a:pPr>
            <a:r>
              <a:rPr lang="en-US" sz="3200" kern="0" spc="-48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AI </a:t>
            </a:r>
            <a:r>
              <a:rPr lang="en-US" sz="3200" kern="0" spc="-48" dirty="0" err="1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</a:rPr>
              <a:t>价值转型</a:t>
            </a:r>
            <a:endParaRPr lang="en-US" sz="3200" kern="0" spc="-48" dirty="0">
              <a:solidFill>
                <a:srgbClr val="2B1F1A"/>
              </a:solidFill>
              <a:latin typeface="MiSans Semibold" pitchFamily="2" charset="-122"/>
              <a:ea typeface="MiSans Semibold" pitchFamily="2" charset="-122"/>
            </a:endParaRPr>
          </a:p>
          <a:p>
            <a:pPr algn="l">
              <a:lnSpc>
                <a:spcPts val="3750"/>
              </a:lnSpc>
            </a:pPr>
            <a:r>
              <a:rPr lang="en-US" sz="3200" kern="0" spc="-48" dirty="0" err="1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四要点</a:t>
            </a:r>
            <a:endParaRPr lang="en-US" sz="3200" dirty="0">
              <a:solidFill>
                <a:srgbClr val="EA663D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00600" y="688010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00601" y="1132652"/>
            <a:ext cx="3706788" cy="6437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AI 使用率在 2023 年后明显加速，</a:t>
            </a:r>
            <a:endParaRPr lang="en-US" sz="900" dirty="0">
              <a:latin typeface="MiSans Light" pitchFamily="2" charset="-122"/>
              <a:ea typeface="MiSans Light" pitchFamily="2" charset="-122"/>
            </a:endParaRPr>
          </a:p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生成式 AI 正在推动组织采用进入新阶段。</a:t>
            </a:r>
            <a:endParaRPr lang="en-US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72050" y="659435"/>
            <a:ext cx="3535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 Demibold" pitchFamily="2" charset="-122"/>
                <a:ea typeface="MiSans Demibold" pitchFamily="2" charset="-122"/>
                <a:cs typeface="Geist Mono" pitchFamily="34" charset="-120"/>
              </a:rPr>
              <a:t>要点01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00600" y="2204961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1" y="2644841"/>
            <a:ext cx="3706788" cy="6437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采用率提升不等于价值兑现，</a:t>
            </a:r>
            <a:endParaRPr lang="en-US" sz="900" dirty="0">
              <a:latin typeface="MiSans Light" pitchFamily="2" charset="-122"/>
              <a:ea typeface="MiSans Light" pitchFamily="2" charset="-122"/>
            </a:endParaRPr>
          </a:p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真正的差距在于是否把 AI 嵌入核心工作流。</a:t>
            </a:r>
            <a:endParaRPr lang="en-US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72050" y="2171624"/>
            <a:ext cx="3535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 Demibold" pitchFamily="2" charset="-122"/>
                <a:ea typeface="MiSans Demibold" pitchFamily="2" charset="-122"/>
                <a:cs typeface="Geist Mono" pitchFamily="34" charset="-120"/>
              </a:rPr>
              <a:t>要点02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00600" y="3717150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1" y="4156953"/>
            <a:ext cx="3706788" cy="6437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 Light" pitchFamily="2" charset="-122"/>
                <a:ea typeface="MiSans Light" pitchFamily="2" charset="-122"/>
                <a:cs typeface="Geist" pitchFamily="34" charset="-120"/>
              </a:rPr>
              <a:t>从单点工具到跨职能协作，AI 价值正在从“个人提效”转向“流程重构”。竞争重点不是谁先用 AI，而是谁能更快完成规模化落地。</a:t>
            </a:r>
            <a:endParaRPr lang="en-US" sz="9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72050" y="3683813"/>
            <a:ext cx="3535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00" kern="0" spc="-24" dirty="0">
                <a:solidFill>
                  <a:srgbClr val="C97A40"/>
                </a:solidFill>
                <a:latin typeface="MiSans Demibold" pitchFamily="2" charset="-122"/>
                <a:ea typeface="MiSans Demibold" pitchFamily="2" charset="-122"/>
                <a:cs typeface="Geist Mono" pitchFamily="34" charset="-120"/>
              </a:rPr>
              <a:t>要点03 &amp; 04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0" y="364560"/>
            <a:ext cx="9144000" cy="0"/>
          </a:xfrm>
          <a:prstGeom prst="line">
            <a:avLst/>
          </a:prstGeom>
          <a:solidFill>
            <a:srgbClr val="C97A40">
              <a:alpha val="20000"/>
            </a:srgbClr>
          </a:solidFill>
          <a:ln w="5292">
            <a:solidFill>
              <a:srgbClr val="2B1F1A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68901" y="1202392"/>
            <a:ext cx="3415079" cy="118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750"/>
              </a:lnSpc>
            </a:pPr>
            <a:r>
              <a:rPr lang="en-US" sz="3200" kern="0" spc="300" dirty="0">
                <a:solidFill>
                  <a:srgbClr val="EA663D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NEXT</a:t>
            </a:r>
            <a:r>
              <a:rPr lang="zh-CN" altLang="en-US" sz="3200" kern="0" spc="300" dirty="0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 </a:t>
            </a:r>
            <a:r>
              <a:rPr lang="en-US" sz="3200" kern="0" spc="300" dirty="0" err="1">
                <a:solidFill>
                  <a:srgbClr val="2B1F1A"/>
                </a:solidFill>
                <a:latin typeface="MiSans Semibold" pitchFamily="2" charset="-122"/>
                <a:ea typeface="MiSans Semibold" pitchFamily="2" charset="-122"/>
                <a:cs typeface="Geist" pitchFamily="34" charset="-120"/>
              </a:rPr>
              <a:t>行动建议</a:t>
            </a:r>
            <a:endParaRPr lang="en-US" sz="3200" spc="3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36306" y="1240555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solidFill>
                <a:srgbClr val="EA663D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712301" y="1154715"/>
            <a:ext cx="3651661" cy="24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识别 — 盘点重复性高、规则明确的任务</a:t>
            </a:r>
            <a:endParaRPr lang="en-US" sz="10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36306" y="1594504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solidFill>
                <a:srgbClr val="EA663D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712301" y="1515713"/>
            <a:ext cx="3651661" cy="24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试点 — 从低难度、高收益的场景开始尝试 AI 辅助</a:t>
            </a:r>
            <a:endParaRPr lang="en-US" sz="10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36306" y="1996936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solidFill>
                <a:srgbClr val="EA663D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712301" y="1910848"/>
            <a:ext cx="3651661" cy="24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嵌入 — 将 AI 工具嵌入真实工作流</a:t>
            </a:r>
            <a:endParaRPr lang="en-US" sz="10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36306" y="2383841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solidFill>
                <a:srgbClr val="EA663D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12301" y="2297753"/>
            <a:ext cx="3651661" cy="24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沉淀 — 把一次性提效变成可复用的 SOP</a:t>
            </a:r>
            <a:endParaRPr lang="en-US" sz="10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36306" y="2774224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solidFill>
                <a:srgbClr val="EA663D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12301" y="2697718"/>
            <a:ext cx="3651661" cy="24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迭代 — 持续优化，从个人提效走向流程重构</a:t>
            </a:r>
            <a:endParaRPr lang="en-US" sz="10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36306" y="3193352"/>
            <a:ext cx="76200" cy="76200"/>
          </a:xfrm>
          <a:prstGeom prst="roundRect">
            <a:avLst>
              <a:gd name="adj" fmla="val -1200000"/>
            </a:avLst>
          </a:prstGeom>
          <a:solidFill>
            <a:srgbClr val="C97A40"/>
          </a:solidFill>
          <a:ln/>
        </p:spPr>
        <p:txBody>
          <a:bodyPr wrap="square" lIns="4233" tIns="8996" rIns="4233" bIns="8996" rtlCol="0" anchor="ctr"/>
          <a:lstStyle/>
          <a:p>
            <a:pPr algn="ctr">
              <a:lnSpc>
                <a:spcPts val="1350"/>
              </a:lnSpc>
            </a:pPr>
            <a:endParaRPr lang="en-US" sz="900" dirty="0">
              <a:solidFill>
                <a:srgbClr val="EA663D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12301" y="3107435"/>
            <a:ext cx="3651661" cy="24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kern="0" spc="-24" dirty="0">
                <a:solidFill>
                  <a:srgbClr val="2B1F1A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立即行动，开启 AI 工作方式升级之旅</a:t>
            </a:r>
            <a:endParaRPr lang="en-US" sz="10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31F57BF-FA7B-3C41-7145-0642EB4DAC87}"/>
              </a:ext>
            </a:extLst>
          </p:cNvPr>
          <p:cNvSpPr/>
          <p:nvPr/>
        </p:nvSpPr>
        <p:spPr>
          <a:xfrm>
            <a:off x="60833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2026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138D8B2-40B4-C68B-036C-13FEA0617843}"/>
              </a:ext>
            </a:extLst>
          </p:cNvPr>
          <p:cNvSpPr/>
          <p:nvPr/>
        </p:nvSpPr>
        <p:spPr>
          <a:xfrm>
            <a:off x="190500" y="152400"/>
            <a:ext cx="2870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YUANBAO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8191D46-C5C5-EBBE-845E-E0917C959727}"/>
              </a:ext>
            </a:extLst>
          </p:cNvPr>
          <p:cNvSpPr/>
          <p:nvPr/>
        </p:nvSpPr>
        <p:spPr>
          <a:xfrm>
            <a:off x="3136900" y="152400"/>
            <a:ext cx="2870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"/>
              </a:lnSpc>
            </a:pPr>
            <a:r>
              <a:rPr lang="en-US" sz="600" kern="0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AI时代的高效工作方式</a:t>
            </a:r>
            <a:endParaRPr lang="en-US" sz="600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D82A239-C4C6-B21B-C2C1-BF0B35EC1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52775" y="190500"/>
            <a:ext cx="2843213" cy="4762500"/>
          </a:xfrm>
          <a:prstGeom prst="roundRect">
            <a:avLst>
              <a:gd name="adj" fmla="val 8835"/>
            </a:avLst>
          </a:prstGeom>
          <a:solidFill>
            <a:srgbClr val="FFF8F1">
              <a:alpha val="75000"/>
            </a:srgbClr>
          </a:solidFill>
          <a:ln/>
        </p:spPr>
        <p:txBody>
          <a:bodyPr wrap="square" lIns="157956" tIns="562240" rIns="157956" bIns="562240" rtlCol="0" anchor="ctr"/>
          <a:lstStyle/>
          <a:p>
            <a:pPr algn="ctr">
              <a:lnSpc>
                <a:spcPts val="1350"/>
              </a:lnSpc>
            </a:pP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3302943" y="720469"/>
            <a:ext cx="2538115" cy="712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solidFill>
                  <a:srgbClr val="2B1F1A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谢谢观看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  <a:p>
            <a:pPr algn="ctr"/>
            <a:r>
              <a:rPr lang="en-US" sz="2400" dirty="0">
                <a:solidFill>
                  <a:srgbClr val="2B1F1A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联系我们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3419531" y="2307431"/>
            <a:ext cx="23097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地址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3419531" y="2493169"/>
            <a:ext cx="23097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900" dirty="0" err="1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这里是您的地址信息xxx省xxx市xxx</a:t>
            </a:r>
            <a:r>
              <a:rPr lang="en-US" sz="9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 </a:t>
            </a:r>
            <a:r>
              <a:rPr lang="en-US" sz="900" dirty="0" err="1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大厦</a:t>
            </a:r>
            <a:r>
              <a:rPr lang="zh-CN" altLang="en-US" sz="9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 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3419531" y="3217069"/>
            <a:ext cx="23097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邮箱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3419475" y="3402806"/>
            <a:ext cx="23098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altLang="zh-CN" sz="9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1234567@yuanbao</a:t>
            </a:r>
            <a:r>
              <a:rPr lang="en-US" sz="9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.email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419531" y="3955066"/>
            <a:ext cx="23097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kern="0" spc="-24" dirty="0">
                <a:solidFill>
                  <a:srgbClr val="2B1F1A">
                    <a:alpha val="40000"/>
                  </a:srgbClr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电话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19494" y="4140803"/>
            <a:ext cx="2309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900" dirty="0">
                <a:solidFill>
                  <a:srgbClr val="2B1F1A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+1 800 314 159 265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662</Words>
  <Application>Microsoft Macintosh PowerPoint</Application>
  <PresentationFormat>全屏显示(16:9)</PresentationFormat>
  <Paragraphs>176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Microsoft YaHei</vt:lpstr>
      <vt:lpstr>Geist Mono</vt:lpstr>
      <vt:lpstr>MiSans</vt:lpstr>
      <vt:lpstr>MiSans Demibold</vt:lpstr>
      <vt:lpstr>MiSans Light</vt:lpstr>
      <vt:lpstr>MiSans Medium</vt:lpstr>
      <vt:lpstr>MiSans Normal</vt:lpstr>
      <vt:lpstr>MiSans Semibold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 高效工作方式</dc:title>
  <dc:subject>PptxGenJS Presentation</dc:subject>
  <dc:creator>Pitch Software GmbH</dc:creator>
  <cp:lastModifiedBy>T171376</cp:lastModifiedBy>
  <cp:revision>15</cp:revision>
  <dcterms:created xsi:type="dcterms:W3CDTF">2026-06-01T15:02:29Z</dcterms:created>
  <dcterms:modified xsi:type="dcterms:W3CDTF">2026-06-16T01:04:10Z</dcterms:modified>
</cp:coreProperties>
</file>